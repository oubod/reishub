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296.xml"/>
  <Override ContentType="application/vnd.openxmlformats-officedocument.presentationml.slide+xml" PartName="/ppt/slides/slide164.xml"/>
  <Override ContentType="application/vnd.openxmlformats-officedocument.presentationml.slide+xml" PartName="/ppt/slides/slide253.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237.xml"/>
  <Override ContentType="application/vnd.openxmlformats-officedocument.presentationml.slide+xml" PartName="/ppt/slides/slide261.xml"/>
  <Override ContentType="application/vnd.openxmlformats-officedocument.presentationml.slide+xml" PartName="/ppt/slides/slide51.xml"/>
  <Override ContentType="application/vnd.openxmlformats-officedocument.presentationml.slide+xml" PartName="/ppt/slides/slide245.xml"/>
  <Override ContentType="application/vnd.openxmlformats-officedocument.presentationml.slide+xml" PartName="/ppt/slides/slide113.xml"/>
  <Override ContentType="application/vnd.openxmlformats-officedocument.presentationml.slide+xml" PartName="/ppt/slides/slide28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281.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76.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65.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57.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249.xml"/>
  <Override ContentType="application/vnd.openxmlformats-officedocument.presentationml.slide+xml" PartName="/ppt/slides/slide195.xml"/>
  <Override ContentType="application/vnd.openxmlformats-officedocument.presentationml.slide+xml" PartName="/ppt/slides/slide272.xml"/>
  <Override ContentType="application/vnd.openxmlformats-officedocument.presentationml.slide+xml" PartName="/ppt/slides/slide59.xml"/>
  <Override ContentType="application/vnd.openxmlformats-officedocument.presentationml.slide+xml" PartName="/ppt/slides/slide285.xml"/>
  <Override ContentType="application/vnd.openxmlformats-officedocument.presentationml.slide+xml" PartName="/ppt/slides/slide89.xml"/>
  <Override ContentType="application/vnd.openxmlformats-officedocument.presentationml.slide+xml" PartName="/ppt/slides/slide242.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68.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244.xml"/>
  <Override ContentType="application/vnd.openxmlformats-officedocument.presentationml.slide+xml" PartName="/ppt/slides/slide52.xml"/>
  <Override ContentType="application/vnd.openxmlformats-officedocument.presentationml.slide+xml" PartName="/ppt/slides/slide287.xml"/>
  <Override ContentType="application/vnd.openxmlformats-officedocument.presentationml.slide+xml" PartName="/ppt/slides/slide270.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297.xml"/>
  <Override ContentType="application/vnd.openxmlformats-officedocument.presentationml.slide+xml" PartName="/ppt/slides/slide34.xml"/>
  <Override ContentType="application/vnd.openxmlformats-officedocument.presentationml.slide+xml" PartName="/ppt/slides/slide25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279.xml"/>
  <Override ContentType="application/vnd.openxmlformats-officedocument.presentationml.slide+xml" PartName="/ppt/slides/slide23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293.xml"/>
  <Override ContentType="application/vnd.openxmlformats-officedocument.presentationml.slide+xml" PartName="/ppt/slides/slide250.xml"/>
  <Override ContentType="application/vnd.openxmlformats-officedocument.presentationml.slide+xml" PartName="/ppt/slides/slide153.xml"/>
  <Override ContentType="application/vnd.openxmlformats-officedocument.presentationml.slide+xml" PartName="/ppt/slides/slide248.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259.xml"/>
  <Override ContentType="application/vnd.openxmlformats-officedocument.presentationml.slide+xml" PartName="/ppt/slides/slide282.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264.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258.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292.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275.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269.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243.xml"/>
  <Override ContentType="application/vnd.openxmlformats-officedocument.presentationml.slide+xml" PartName="/ppt/slides/slide88.xml"/>
  <Override ContentType="application/vnd.openxmlformats-officedocument.presentationml.slide+xml" PartName="/ppt/slides/slide286.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260.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71.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247.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94.xml"/>
  <Override ContentType="application/vnd.openxmlformats-officedocument.presentationml.slide+xml" PartName="/ppt/slides/slide220.xml"/>
  <Override ContentType="application/vnd.openxmlformats-officedocument.presentationml.slide+xml" PartName="/ppt/slides/slide26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235.xml"/>
  <Override ContentType="application/vnd.openxmlformats-officedocument.presentationml.slide+xml" PartName="/ppt/slides/slide278.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25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66.xml"/>
  <Override ContentType="application/vnd.openxmlformats-officedocument.presentationml.slide+xml" PartName="/ppt/slides/slide283.xml"/>
  <Override ContentType="application/vnd.openxmlformats-officedocument.presentationml.slide+xml" PartName="/ppt/slides/slide291.xml"/>
  <Override ContentType="application/vnd.openxmlformats-officedocument.presentationml.slide+xml" PartName="/ppt/slides/slide240.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274.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255.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29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238.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262.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277.xml"/>
  <Override ContentType="application/vnd.openxmlformats-officedocument.presentationml.slide+xml" PartName="/ppt/slides/slide11.xml"/>
  <Override ContentType="application/vnd.openxmlformats-officedocument.presentationml.slide+xml" PartName="/ppt/slides/slide280.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289.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246.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252.xml"/>
  <Override ContentType="application/vnd.openxmlformats-officedocument.presentationml.slide+xml" PartName="/ppt/slides/slide295.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234.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284.xml"/>
  <Override ContentType="application/vnd.openxmlformats-officedocument.presentationml.slide+xml" PartName="/ppt/slides/slide47.xml"/>
  <Override ContentType="application/vnd.openxmlformats-officedocument.presentationml.slide+xml" PartName="/ppt/slides/slide267.xml"/>
  <Override ContentType="application/vnd.openxmlformats-officedocument.presentationml.slide+xml" PartName="/ppt/slides/slide241.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239.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290.xml"/>
  <Override ContentType="application/vnd.openxmlformats-officedocument.presentationml.slide+xml" PartName="/ppt/slides/slide256.xml"/>
  <Override ContentType="application/vnd.openxmlformats-officedocument.presentationml.slide+xml" PartName="/ppt/slides/slide299.xml"/>
  <Override ContentType="application/vnd.openxmlformats-officedocument.presentationml.slide+xml" PartName="/ppt/slides/slide128.xml"/>
  <Override ContentType="application/vnd.openxmlformats-officedocument.presentationml.slide+xml" PartName="/ppt/slides/slide273.xml"/>
  <Override ContentType="application/vnd.openxmlformats-officedocument.presentationml.slide+xml" PartName="/ppt/slides/slide92.xml"/>
  <Override ContentType="application/vnd.openxmlformats-officedocument.presentationml.slide+xml" PartName="/ppt/slides/slide102.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257.xml"/>
  <Override ContentType="application/vnd.openxmlformats-officedocument.presentationml.notesSlide+xml" PartName="/ppt/notesSlides/notesSlide265.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49.xml"/>
  <Override ContentType="application/vnd.openxmlformats-officedocument.presentationml.notesSlide+xml" PartName="/ppt/notesSlides/notesSlide273.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250.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293.xml"/>
  <Override ContentType="application/vnd.openxmlformats-officedocument.presentationml.notesSlide+xml" PartName="/ppt/notesSlides/notesSlide137.xml"/>
  <Override ContentType="application/vnd.openxmlformats-officedocument.presentationml.notesSlide+xml" PartName="/ppt/notesSlides/notesSlide27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81.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261.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70.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296.xml"/>
  <Override ContentType="application/vnd.openxmlformats-officedocument.presentationml.notesSlide+xml" PartName="/ppt/notesSlides/notesSlide253.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23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85.xml"/>
  <Override ContentType="application/vnd.openxmlformats-officedocument.presentationml.notesSlide+xml" PartName="/ppt/notesSlides/notesSlide225.xml"/>
  <Override ContentType="application/vnd.openxmlformats-officedocument.presentationml.notesSlide+xml" PartName="/ppt/notesSlides/notesSlide242.xml"/>
  <Override ContentType="application/vnd.openxmlformats-officedocument.presentationml.notesSlide+xml" PartName="/ppt/notesSlides/notesSlide268.xml"/>
  <Override ContentType="application/vnd.openxmlformats-officedocument.presentationml.notesSlide+xml" PartName="/ppt/notesSlides/notesSlide290.xml"/>
  <Override ContentType="application/vnd.openxmlformats-officedocument.presentationml.notesSlide+xml" PartName="/ppt/notesSlides/notesSlide274.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56.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266.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24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289.xml"/>
  <Override ContentType="application/vnd.openxmlformats-officedocument.presentationml.notesSlide+xml" PartName="/ppt/notesSlides/notesSlide280.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51.xml"/>
  <Override ContentType="application/vnd.openxmlformats-officedocument.presentationml.notesSlide+xml" PartName="/ppt/notesSlides/notesSlide294.xml"/>
  <Override ContentType="application/vnd.openxmlformats-officedocument.presentationml.notesSlide+xml" PartName="/ppt/notesSlides/notesSlide149.xml"/>
  <Override ContentType="application/vnd.openxmlformats-officedocument.presentationml.notesSlide+xml" PartName="/ppt/notesSlides/notesSlide252.xml"/>
  <Override ContentType="application/vnd.openxmlformats-officedocument.presentationml.notesSlide+xml" PartName="/ppt/notesSlides/notesSlide62.xml"/>
  <Override ContentType="application/vnd.openxmlformats-officedocument.presentationml.notesSlide+xml" PartName="/ppt/notesSlides/notesSlide295.xml"/>
  <Override ContentType="application/vnd.openxmlformats-officedocument.presentationml.notesSlide+xml" PartName="/ppt/notesSlides/notesSlide235.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78.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245.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8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262.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284.xml"/>
  <Override ContentType="application/vnd.openxmlformats-officedocument.presentationml.notesSlide+xml" PartName="/ppt/notesSlides/notesSlide128.xml"/>
  <Override ContentType="application/vnd.openxmlformats-officedocument.presentationml.notesSlide+xml" PartName="/ppt/notesSlides/notesSlide267.xml"/>
  <Override ContentType="application/vnd.openxmlformats-officedocument.presentationml.notesSlide+xml" PartName="/ppt/notesSlides/notesSlide224.xml"/>
  <Override ContentType="application/vnd.openxmlformats-officedocument.presentationml.notesSlide+xml" PartName="/ppt/notesSlides/notesSlide241.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299.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291.xml"/>
  <Override ContentType="application/vnd.openxmlformats-officedocument.presentationml.notesSlide+xml" PartName="/ppt/notesSlides/notesSlide50.xml"/>
  <Override ContentType="application/vnd.openxmlformats-officedocument.presentationml.notesSlide+xml" PartName="/ppt/notesSlides/notesSlide239.xml"/>
  <Override ContentType="application/vnd.openxmlformats-officedocument.presentationml.notesSlide+xml" PartName="/ppt/notesSlides/notesSlide24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283.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275.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263.xml"/>
  <Override ContentType="application/vnd.openxmlformats-officedocument.presentationml.notesSlide+xml" PartName="/ppt/notesSlides/notesSlide25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247.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287.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79.xml"/>
  <Override ContentType="application/vnd.openxmlformats-officedocument.presentationml.notesSlide+xml" PartName="/ppt/notesSlides/notesSlide236.xml"/>
  <Override ContentType="application/vnd.openxmlformats-officedocument.presentationml.notesSlide+xml" PartName="/ppt/notesSlides/notesSlide244.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72.xml"/>
  <Override ContentType="application/vnd.openxmlformats-officedocument.presentationml.notesSlide+xml" PartName="/ppt/notesSlides/notesSlide255.xml"/>
  <Override ContentType="application/vnd.openxmlformats-officedocument.presentationml.notesSlide+xml" PartName="/ppt/notesSlides/notesSlide212.xml"/>
  <Override ContentType="application/vnd.openxmlformats-officedocument.presentationml.notesSlide+xml" PartName="/ppt/notesSlides/notesSlide298.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28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248.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258.xml"/>
  <Override ContentType="application/vnd.openxmlformats-officedocument.presentationml.notesSlide+xml" PartName="/ppt/notesSlides/notesSlide169.xml"/>
  <Override ContentType="application/vnd.openxmlformats-officedocument.presentationml.notesSlide+xml" PartName="/ppt/notesSlides/notesSlide292.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276.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233.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264.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260.xml"/>
  <Override ContentType="application/vnd.openxmlformats-officedocument.presentationml.notesSlide+xml" PartName="/ppt/notesSlides/notesSlide70.xml"/>
  <Override ContentType="application/vnd.openxmlformats-officedocument.presentationml.notesSlide+xml" PartName="/ppt/notesSlides/notesSlide243.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69.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71.xml"/>
  <Override ContentType="application/vnd.openxmlformats-officedocument.presentationml.notesSlide+xml" PartName="/ppt/notesSlides/notesSlide237.xml"/>
  <Override ContentType="application/vnd.openxmlformats-officedocument.presentationml.notesSlide+xml" PartName="/ppt/notesSlides/notesSlide297.xml"/>
  <Override ContentType="application/vnd.openxmlformats-officedocument.presentationml.notesSlide+xml" PartName="/ppt/notesSlides/notesSlide211.xml"/>
  <Override ContentType="application/vnd.openxmlformats-officedocument.presentationml.notesSlide+xml" PartName="/ppt/notesSlides/notesSlide254.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286.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Lst>
  <p:sldSz cy="6858000" cx="12192000"/>
  <p:notesSz cx="12192000" cy="6858000"/>
  <p:embeddedFontLst>
    <p:embeddedFont>
      <p:font typeface="Garamond"/>
      <p:regular r:id="rId306"/>
      <p:bold r:id="rId307"/>
      <p:italic r:id="rId308"/>
      <p:boldItalic r:id="rId30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310" roundtripDataSignature="AMtx7mjpnrUiCpiFUECaKeFBLjbPxogJ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C16B6DF-085E-4D25-8193-6A2E42BCCFAC}">
  <a:tblStyle styleId="{0C16B6DF-085E-4D25-8193-6A2E42BCCFAC}"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190" Type="http://schemas.openxmlformats.org/officeDocument/2006/relationships/slide" Target="slides/slide18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194" Type="http://schemas.openxmlformats.org/officeDocument/2006/relationships/slide" Target="slides/slide188.xml"/><Relationship Id="rId43" Type="http://schemas.openxmlformats.org/officeDocument/2006/relationships/slide" Target="slides/slide37.xml"/><Relationship Id="rId193" Type="http://schemas.openxmlformats.org/officeDocument/2006/relationships/slide" Target="slides/slide187.xml"/><Relationship Id="rId46" Type="http://schemas.openxmlformats.org/officeDocument/2006/relationships/slide" Target="slides/slide40.xml"/><Relationship Id="rId192" Type="http://schemas.openxmlformats.org/officeDocument/2006/relationships/slide" Target="slides/slide186.xml"/><Relationship Id="rId45" Type="http://schemas.openxmlformats.org/officeDocument/2006/relationships/slide" Target="slides/slide39.xml"/><Relationship Id="rId191" Type="http://schemas.openxmlformats.org/officeDocument/2006/relationships/slide" Target="slides/slide185.xml"/><Relationship Id="rId48" Type="http://schemas.openxmlformats.org/officeDocument/2006/relationships/slide" Target="slides/slide42.xml"/><Relationship Id="rId187" Type="http://schemas.openxmlformats.org/officeDocument/2006/relationships/slide" Target="slides/slide181.xml"/><Relationship Id="rId47" Type="http://schemas.openxmlformats.org/officeDocument/2006/relationships/slide" Target="slides/slide41.xml"/><Relationship Id="rId186" Type="http://schemas.openxmlformats.org/officeDocument/2006/relationships/slide" Target="slides/slide180.xml"/><Relationship Id="rId185" Type="http://schemas.openxmlformats.org/officeDocument/2006/relationships/slide" Target="slides/slide179.xml"/><Relationship Id="rId49" Type="http://schemas.openxmlformats.org/officeDocument/2006/relationships/slide" Target="slides/slide43.xml"/><Relationship Id="rId184" Type="http://schemas.openxmlformats.org/officeDocument/2006/relationships/slide" Target="slides/slide178.xml"/><Relationship Id="rId189" Type="http://schemas.openxmlformats.org/officeDocument/2006/relationships/slide" Target="slides/slide183.xml"/><Relationship Id="rId188" Type="http://schemas.openxmlformats.org/officeDocument/2006/relationships/slide" Target="slides/slide18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183" Type="http://schemas.openxmlformats.org/officeDocument/2006/relationships/slide" Target="slides/slide177.xml"/><Relationship Id="rId32" Type="http://schemas.openxmlformats.org/officeDocument/2006/relationships/slide" Target="slides/slide26.xml"/><Relationship Id="rId182" Type="http://schemas.openxmlformats.org/officeDocument/2006/relationships/slide" Target="slides/slide176.xml"/><Relationship Id="rId35" Type="http://schemas.openxmlformats.org/officeDocument/2006/relationships/slide" Target="slides/slide29.xml"/><Relationship Id="rId181" Type="http://schemas.openxmlformats.org/officeDocument/2006/relationships/slide" Target="slides/slide175.xml"/><Relationship Id="rId34" Type="http://schemas.openxmlformats.org/officeDocument/2006/relationships/slide" Target="slides/slide28.xml"/><Relationship Id="rId180" Type="http://schemas.openxmlformats.org/officeDocument/2006/relationships/slide" Target="slides/slide174.xml"/><Relationship Id="rId37" Type="http://schemas.openxmlformats.org/officeDocument/2006/relationships/slide" Target="slides/slide31.xml"/><Relationship Id="rId176" Type="http://schemas.openxmlformats.org/officeDocument/2006/relationships/slide" Target="slides/slide170.xml"/><Relationship Id="rId297" Type="http://schemas.openxmlformats.org/officeDocument/2006/relationships/slide" Target="slides/slide291.xml"/><Relationship Id="rId36" Type="http://schemas.openxmlformats.org/officeDocument/2006/relationships/slide" Target="slides/slide30.xml"/><Relationship Id="rId175" Type="http://schemas.openxmlformats.org/officeDocument/2006/relationships/slide" Target="slides/slide169.xml"/><Relationship Id="rId296" Type="http://schemas.openxmlformats.org/officeDocument/2006/relationships/slide" Target="slides/slide290.xml"/><Relationship Id="rId39" Type="http://schemas.openxmlformats.org/officeDocument/2006/relationships/slide" Target="slides/slide33.xml"/><Relationship Id="rId174" Type="http://schemas.openxmlformats.org/officeDocument/2006/relationships/slide" Target="slides/slide168.xml"/><Relationship Id="rId295" Type="http://schemas.openxmlformats.org/officeDocument/2006/relationships/slide" Target="slides/slide289.xml"/><Relationship Id="rId38" Type="http://schemas.openxmlformats.org/officeDocument/2006/relationships/slide" Target="slides/slide32.xml"/><Relationship Id="rId173" Type="http://schemas.openxmlformats.org/officeDocument/2006/relationships/slide" Target="slides/slide167.xml"/><Relationship Id="rId294" Type="http://schemas.openxmlformats.org/officeDocument/2006/relationships/slide" Target="slides/slide288.xml"/><Relationship Id="rId179" Type="http://schemas.openxmlformats.org/officeDocument/2006/relationships/slide" Target="slides/slide173.xml"/><Relationship Id="rId178" Type="http://schemas.openxmlformats.org/officeDocument/2006/relationships/slide" Target="slides/slide172.xml"/><Relationship Id="rId299" Type="http://schemas.openxmlformats.org/officeDocument/2006/relationships/slide" Target="slides/slide293.xml"/><Relationship Id="rId177" Type="http://schemas.openxmlformats.org/officeDocument/2006/relationships/slide" Target="slides/slide171.xml"/><Relationship Id="rId298" Type="http://schemas.openxmlformats.org/officeDocument/2006/relationships/slide" Target="slides/slide29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98" Type="http://schemas.openxmlformats.org/officeDocument/2006/relationships/slide" Target="slides/slide192.xml"/><Relationship Id="rId14" Type="http://schemas.openxmlformats.org/officeDocument/2006/relationships/slide" Target="slides/slide8.xml"/><Relationship Id="rId197" Type="http://schemas.openxmlformats.org/officeDocument/2006/relationships/slide" Target="slides/slide191.xml"/><Relationship Id="rId17" Type="http://schemas.openxmlformats.org/officeDocument/2006/relationships/slide" Target="slides/slide11.xml"/><Relationship Id="rId196" Type="http://schemas.openxmlformats.org/officeDocument/2006/relationships/slide" Target="slides/slide190.xml"/><Relationship Id="rId16" Type="http://schemas.openxmlformats.org/officeDocument/2006/relationships/slide" Target="slides/slide10.xml"/><Relationship Id="rId195" Type="http://schemas.openxmlformats.org/officeDocument/2006/relationships/slide" Target="slides/slide189.xml"/><Relationship Id="rId19" Type="http://schemas.openxmlformats.org/officeDocument/2006/relationships/slide" Target="slides/slide13.xml"/><Relationship Id="rId18" Type="http://schemas.openxmlformats.org/officeDocument/2006/relationships/slide" Target="slides/slide12.xml"/><Relationship Id="rId199" Type="http://schemas.openxmlformats.org/officeDocument/2006/relationships/slide" Target="slides/slide193.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271" Type="http://schemas.openxmlformats.org/officeDocument/2006/relationships/slide" Target="slides/slide265.xml"/><Relationship Id="rId87" Type="http://schemas.openxmlformats.org/officeDocument/2006/relationships/slide" Target="slides/slide81.xml"/><Relationship Id="rId270" Type="http://schemas.openxmlformats.org/officeDocument/2006/relationships/slide" Target="slides/slide264.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tableStyles" Target="tableStyles.xml"/><Relationship Id="rId148" Type="http://schemas.openxmlformats.org/officeDocument/2006/relationships/slide" Target="slides/slide142.xml"/><Relationship Id="rId269" Type="http://schemas.openxmlformats.org/officeDocument/2006/relationships/slide" Target="slides/slide263.xml"/><Relationship Id="rId9" Type="http://schemas.openxmlformats.org/officeDocument/2006/relationships/slide" Target="slides/slide3.xml"/><Relationship Id="rId143" Type="http://schemas.openxmlformats.org/officeDocument/2006/relationships/slide" Target="slides/slide137.xml"/><Relationship Id="rId264" Type="http://schemas.openxmlformats.org/officeDocument/2006/relationships/slide" Target="slides/slide258.xml"/><Relationship Id="rId142" Type="http://schemas.openxmlformats.org/officeDocument/2006/relationships/slide" Target="slides/slide136.xml"/><Relationship Id="rId263" Type="http://schemas.openxmlformats.org/officeDocument/2006/relationships/slide" Target="slides/slide257.xml"/><Relationship Id="rId141" Type="http://schemas.openxmlformats.org/officeDocument/2006/relationships/slide" Target="slides/slide135.xml"/><Relationship Id="rId262" Type="http://schemas.openxmlformats.org/officeDocument/2006/relationships/slide" Target="slides/slide256.xml"/><Relationship Id="rId140" Type="http://schemas.openxmlformats.org/officeDocument/2006/relationships/slide" Target="slides/slide134.xml"/><Relationship Id="rId261" Type="http://schemas.openxmlformats.org/officeDocument/2006/relationships/slide" Target="slides/slide255.xml"/><Relationship Id="rId5" Type="http://schemas.openxmlformats.org/officeDocument/2006/relationships/slideMaster" Target="slideMasters/slideMaster1.xml"/><Relationship Id="rId147" Type="http://schemas.openxmlformats.org/officeDocument/2006/relationships/slide" Target="slides/slide141.xml"/><Relationship Id="rId268" Type="http://schemas.openxmlformats.org/officeDocument/2006/relationships/slide" Target="slides/slide262.xml"/><Relationship Id="rId6" Type="http://schemas.openxmlformats.org/officeDocument/2006/relationships/notesMaster" Target="notesMasters/notesMaster1.xml"/><Relationship Id="rId146" Type="http://schemas.openxmlformats.org/officeDocument/2006/relationships/slide" Target="slides/slide140.xml"/><Relationship Id="rId267" Type="http://schemas.openxmlformats.org/officeDocument/2006/relationships/slide" Target="slides/slide261.xml"/><Relationship Id="rId7" Type="http://schemas.openxmlformats.org/officeDocument/2006/relationships/slide" Target="slides/slide1.xml"/><Relationship Id="rId145" Type="http://schemas.openxmlformats.org/officeDocument/2006/relationships/slide" Target="slides/slide139.xml"/><Relationship Id="rId266" Type="http://schemas.openxmlformats.org/officeDocument/2006/relationships/slide" Target="slides/slide260.xml"/><Relationship Id="rId8" Type="http://schemas.openxmlformats.org/officeDocument/2006/relationships/slide" Target="slides/slide2.xml"/><Relationship Id="rId144" Type="http://schemas.openxmlformats.org/officeDocument/2006/relationships/slide" Target="slides/slide138.xml"/><Relationship Id="rId265" Type="http://schemas.openxmlformats.org/officeDocument/2006/relationships/slide" Target="slides/slide259.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260" Type="http://schemas.openxmlformats.org/officeDocument/2006/relationships/slide" Target="slides/slide254.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259" Type="http://schemas.openxmlformats.org/officeDocument/2006/relationships/slide" Target="slides/slide253.xml"/><Relationship Id="rId137" Type="http://schemas.openxmlformats.org/officeDocument/2006/relationships/slide" Target="slides/slide131.xml"/><Relationship Id="rId258" Type="http://schemas.openxmlformats.org/officeDocument/2006/relationships/slide" Target="slides/slide252.xml"/><Relationship Id="rId132" Type="http://schemas.openxmlformats.org/officeDocument/2006/relationships/slide" Target="slides/slide126.xml"/><Relationship Id="rId253" Type="http://schemas.openxmlformats.org/officeDocument/2006/relationships/slide" Target="slides/slide247.xml"/><Relationship Id="rId131" Type="http://schemas.openxmlformats.org/officeDocument/2006/relationships/slide" Target="slides/slide125.xml"/><Relationship Id="rId252" Type="http://schemas.openxmlformats.org/officeDocument/2006/relationships/slide" Target="slides/slide246.xml"/><Relationship Id="rId130" Type="http://schemas.openxmlformats.org/officeDocument/2006/relationships/slide" Target="slides/slide124.xml"/><Relationship Id="rId251" Type="http://schemas.openxmlformats.org/officeDocument/2006/relationships/slide" Target="slides/slide245.xml"/><Relationship Id="rId250" Type="http://schemas.openxmlformats.org/officeDocument/2006/relationships/slide" Target="slides/slide244.xml"/><Relationship Id="rId136" Type="http://schemas.openxmlformats.org/officeDocument/2006/relationships/slide" Target="slides/slide130.xml"/><Relationship Id="rId257" Type="http://schemas.openxmlformats.org/officeDocument/2006/relationships/slide" Target="slides/slide251.xml"/><Relationship Id="rId135" Type="http://schemas.openxmlformats.org/officeDocument/2006/relationships/slide" Target="slides/slide129.xml"/><Relationship Id="rId256" Type="http://schemas.openxmlformats.org/officeDocument/2006/relationships/slide" Target="slides/slide250.xml"/><Relationship Id="rId134" Type="http://schemas.openxmlformats.org/officeDocument/2006/relationships/slide" Target="slides/slide128.xml"/><Relationship Id="rId255" Type="http://schemas.openxmlformats.org/officeDocument/2006/relationships/slide" Target="slides/slide249.xml"/><Relationship Id="rId133" Type="http://schemas.openxmlformats.org/officeDocument/2006/relationships/slide" Target="slides/slide127.xml"/><Relationship Id="rId254" Type="http://schemas.openxmlformats.org/officeDocument/2006/relationships/slide" Target="slides/slide248.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slide" Target="slides/slide166.xml"/><Relationship Id="rId293" Type="http://schemas.openxmlformats.org/officeDocument/2006/relationships/slide" Target="slides/slide287.xml"/><Relationship Id="rId65" Type="http://schemas.openxmlformats.org/officeDocument/2006/relationships/slide" Target="slides/slide59.xml"/><Relationship Id="rId171" Type="http://schemas.openxmlformats.org/officeDocument/2006/relationships/slide" Target="slides/slide165.xml"/><Relationship Id="rId292" Type="http://schemas.openxmlformats.org/officeDocument/2006/relationships/slide" Target="slides/slide286.xml"/><Relationship Id="rId68" Type="http://schemas.openxmlformats.org/officeDocument/2006/relationships/slide" Target="slides/slide62.xml"/><Relationship Id="rId170" Type="http://schemas.openxmlformats.org/officeDocument/2006/relationships/slide" Target="slides/slide164.xml"/><Relationship Id="rId291" Type="http://schemas.openxmlformats.org/officeDocument/2006/relationships/slide" Target="slides/slide285.xml"/><Relationship Id="rId67" Type="http://schemas.openxmlformats.org/officeDocument/2006/relationships/slide" Target="slides/slide61.xml"/><Relationship Id="rId290" Type="http://schemas.openxmlformats.org/officeDocument/2006/relationships/slide" Target="slides/slide284.xml"/><Relationship Id="rId60" Type="http://schemas.openxmlformats.org/officeDocument/2006/relationships/slide" Target="slides/slide54.xml"/><Relationship Id="rId165" Type="http://schemas.openxmlformats.org/officeDocument/2006/relationships/slide" Target="slides/slide159.xml"/><Relationship Id="rId286" Type="http://schemas.openxmlformats.org/officeDocument/2006/relationships/slide" Target="slides/slide280.xml"/><Relationship Id="rId69" Type="http://schemas.openxmlformats.org/officeDocument/2006/relationships/slide" Target="slides/slide63.xml"/><Relationship Id="rId164" Type="http://schemas.openxmlformats.org/officeDocument/2006/relationships/slide" Target="slides/slide158.xml"/><Relationship Id="rId285" Type="http://schemas.openxmlformats.org/officeDocument/2006/relationships/slide" Target="slides/slide279.xml"/><Relationship Id="rId163" Type="http://schemas.openxmlformats.org/officeDocument/2006/relationships/slide" Target="slides/slide157.xml"/><Relationship Id="rId284" Type="http://schemas.openxmlformats.org/officeDocument/2006/relationships/slide" Target="slides/slide278.xml"/><Relationship Id="rId162" Type="http://schemas.openxmlformats.org/officeDocument/2006/relationships/slide" Target="slides/slide156.xml"/><Relationship Id="rId283" Type="http://schemas.openxmlformats.org/officeDocument/2006/relationships/slide" Target="slides/slide277.xml"/><Relationship Id="rId169" Type="http://schemas.openxmlformats.org/officeDocument/2006/relationships/slide" Target="slides/slide163.xml"/><Relationship Id="rId168" Type="http://schemas.openxmlformats.org/officeDocument/2006/relationships/slide" Target="slides/slide162.xml"/><Relationship Id="rId289" Type="http://schemas.openxmlformats.org/officeDocument/2006/relationships/slide" Target="slides/slide283.xml"/><Relationship Id="rId167" Type="http://schemas.openxmlformats.org/officeDocument/2006/relationships/slide" Target="slides/slide161.xml"/><Relationship Id="rId288" Type="http://schemas.openxmlformats.org/officeDocument/2006/relationships/slide" Target="slides/slide282.xml"/><Relationship Id="rId166" Type="http://schemas.openxmlformats.org/officeDocument/2006/relationships/slide" Target="slides/slide160.xml"/><Relationship Id="rId287" Type="http://schemas.openxmlformats.org/officeDocument/2006/relationships/slide" Target="slides/slide281.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282" Type="http://schemas.openxmlformats.org/officeDocument/2006/relationships/slide" Target="slides/slide276.xml"/><Relationship Id="rId54" Type="http://schemas.openxmlformats.org/officeDocument/2006/relationships/slide" Target="slides/slide48.xml"/><Relationship Id="rId160" Type="http://schemas.openxmlformats.org/officeDocument/2006/relationships/slide" Target="slides/slide154.xml"/><Relationship Id="rId281" Type="http://schemas.openxmlformats.org/officeDocument/2006/relationships/slide" Target="slides/slide275.xml"/><Relationship Id="rId57" Type="http://schemas.openxmlformats.org/officeDocument/2006/relationships/slide" Target="slides/slide51.xml"/><Relationship Id="rId280" Type="http://schemas.openxmlformats.org/officeDocument/2006/relationships/slide" Target="slides/slide274.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275" Type="http://schemas.openxmlformats.org/officeDocument/2006/relationships/slide" Target="slides/slide269.xml"/><Relationship Id="rId58" Type="http://schemas.openxmlformats.org/officeDocument/2006/relationships/slide" Target="slides/slide52.xml"/><Relationship Id="rId153" Type="http://schemas.openxmlformats.org/officeDocument/2006/relationships/slide" Target="slides/slide147.xml"/><Relationship Id="rId274" Type="http://schemas.openxmlformats.org/officeDocument/2006/relationships/slide" Target="slides/slide268.xml"/><Relationship Id="rId152" Type="http://schemas.openxmlformats.org/officeDocument/2006/relationships/slide" Target="slides/slide146.xml"/><Relationship Id="rId273" Type="http://schemas.openxmlformats.org/officeDocument/2006/relationships/slide" Target="slides/slide267.xml"/><Relationship Id="rId151" Type="http://schemas.openxmlformats.org/officeDocument/2006/relationships/slide" Target="slides/slide145.xml"/><Relationship Id="rId272" Type="http://schemas.openxmlformats.org/officeDocument/2006/relationships/slide" Target="slides/slide266.xml"/><Relationship Id="rId158" Type="http://schemas.openxmlformats.org/officeDocument/2006/relationships/slide" Target="slides/slide152.xml"/><Relationship Id="rId279" Type="http://schemas.openxmlformats.org/officeDocument/2006/relationships/slide" Target="slides/slide273.xml"/><Relationship Id="rId157" Type="http://schemas.openxmlformats.org/officeDocument/2006/relationships/slide" Target="slides/slide151.xml"/><Relationship Id="rId278" Type="http://schemas.openxmlformats.org/officeDocument/2006/relationships/slide" Target="slides/slide272.xml"/><Relationship Id="rId156" Type="http://schemas.openxmlformats.org/officeDocument/2006/relationships/slide" Target="slides/slide150.xml"/><Relationship Id="rId277" Type="http://schemas.openxmlformats.org/officeDocument/2006/relationships/slide" Target="slides/slide271.xml"/><Relationship Id="rId155" Type="http://schemas.openxmlformats.org/officeDocument/2006/relationships/slide" Target="slides/slide149.xml"/><Relationship Id="rId276" Type="http://schemas.openxmlformats.org/officeDocument/2006/relationships/slide" Target="slides/slide270.xml"/><Relationship Id="rId107" Type="http://schemas.openxmlformats.org/officeDocument/2006/relationships/slide" Target="slides/slide101.xml"/><Relationship Id="rId228" Type="http://schemas.openxmlformats.org/officeDocument/2006/relationships/slide" Target="slides/slide222.xml"/><Relationship Id="rId106" Type="http://schemas.openxmlformats.org/officeDocument/2006/relationships/slide" Target="slides/slide100.xml"/><Relationship Id="rId227" Type="http://schemas.openxmlformats.org/officeDocument/2006/relationships/slide" Target="slides/slide221.xml"/><Relationship Id="rId105" Type="http://schemas.openxmlformats.org/officeDocument/2006/relationships/slide" Target="slides/slide99.xml"/><Relationship Id="rId226" Type="http://schemas.openxmlformats.org/officeDocument/2006/relationships/slide" Target="slides/slide220.xml"/><Relationship Id="rId104" Type="http://schemas.openxmlformats.org/officeDocument/2006/relationships/slide" Target="slides/slide98.xml"/><Relationship Id="rId225" Type="http://schemas.openxmlformats.org/officeDocument/2006/relationships/slide" Target="slides/slide219.xml"/><Relationship Id="rId109" Type="http://schemas.openxmlformats.org/officeDocument/2006/relationships/slide" Target="slides/slide103.xml"/><Relationship Id="rId108" Type="http://schemas.openxmlformats.org/officeDocument/2006/relationships/slide" Target="slides/slide102.xml"/><Relationship Id="rId229" Type="http://schemas.openxmlformats.org/officeDocument/2006/relationships/slide" Target="slides/slide223.xml"/><Relationship Id="rId220" Type="http://schemas.openxmlformats.org/officeDocument/2006/relationships/slide" Target="slides/slide214.xml"/><Relationship Id="rId103" Type="http://schemas.openxmlformats.org/officeDocument/2006/relationships/slide" Target="slides/slide97.xml"/><Relationship Id="rId224" Type="http://schemas.openxmlformats.org/officeDocument/2006/relationships/slide" Target="slides/slide218.xml"/><Relationship Id="rId102" Type="http://schemas.openxmlformats.org/officeDocument/2006/relationships/slide" Target="slides/slide96.xml"/><Relationship Id="rId223" Type="http://schemas.openxmlformats.org/officeDocument/2006/relationships/slide" Target="slides/slide217.xml"/><Relationship Id="rId101" Type="http://schemas.openxmlformats.org/officeDocument/2006/relationships/slide" Target="slides/slide95.xml"/><Relationship Id="rId222" Type="http://schemas.openxmlformats.org/officeDocument/2006/relationships/slide" Target="slides/slide216.xml"/><Relationship Id="rId100" Type="http://schemas.openxmlformats.org/officeDocument/2006/relationships/slide" Target="slides/slide94.xml"/><Relationship Id="rId221" Type="http://schemas.openxmlformats.org/officeDocument/2006/relationships/slide" Target="slides/slide215.xml"/><Relationship Id="rId217" Type="http://schemas.openxmlformats.org/officeDocument/2006/relationships/slide" Target="slides/slide211.xml"/><Relationship Id="rId216" Type="http://schemas.openxmlformats.org/officeDocument/2006/relationships/slide" Target="slides/slide210.xml"/><Relationship Id="rId215" Type="http://schemas.openxmlformats.org/officeDocument/2006/relationships/slide" Target="slides/slide209.xml"/><Relationship Id="rId214" Type="http://schemas.openxmlformats.org/officeDocument/2006/relationships/slide" Target="slides/slide208.xml"/><Relationship Id="rId219" Type="http://schemas.openxmlformats.org/officeDocument/2006/relationships/slide" Target="slides/slide213.xml"/><Relationship Id="rId218" Type="http://schemas.openxmlformats.org/officeDocument/2006/relationships/slide" Target="slides/slide212.xml"/><Relationship Id="rId213" Type="http://schemas.openxmlformats.org/officeDocument/2006/relationships/slide" Target="slides/slide207.xml"/><Relationship Id="rId212" Type="http://schemas.openxmlformats.org/officeDocument/2006/relationships/slide" Target="slides/slide206.xml"/><Relationship Id="rId211" Type="http://schemas.openxmlformats.org/officeDocument/2006/relationships/slide" Target="slides/slide205.xml"/><Relationship Id="rId210" Type="http://schemas.openxmlformats.org/officeDocument/2006/relationships/slide" Target="slides/slide204.xml"/><Relationship Id="rId129" Type="http://schemas.openxmlformats.org/officeDocument/2006/relationships/slide" Target="slides/slide123.xml"/><Relationship Id="rId128" Type="http://schemas.openxmlformats.org/officeDocument/2006/relationships/slide" Target="slides/slide122.xml"/><Relationship Id="rId249" Type="http://schemas.openxmlformats.org/officeDocument/2006/relationships/slide" Target="slides/slide243.xml"/><Relationship Id="rId127" Type="http://schemas.openxmlformats.org/officeDocument/2006/relationships/slide" Target="slides/slide121.xml"/><Relationship Id="rId248" Type="http://schemas.openxmlformats.org/officeDocument/2006/relationships/slide" Target="slides/slide242.xml"/><Relationship Id="rId126" Type="http://schemas.openxmlformats.org/officeDocument/2006/relationships/slide" Target="slides/slide120.xml"/><Relationship Id="rId247" Type="http://schemas.openxmlformats.org/officeDocument/2006/relationships/slide" Target="slides/slide241.xml"/><Relationship Id="rId121" Type="http://schemas.openxmlformats.org/officeDocument/2006/relationships/slide" Target="slides/slide115.xml"/><Relationship Id="rId242" Type="http://schemas.openxmlformats.org/officeDocument/2006/relationships/slide" Target="slides/slide236.xml"/><Relationship Id="rId120" Type="http://schemas.openxmlformats.org/officeDocument/2006/relationships/slide" Target="slides/slide114.xml"/><Relationship Id="rId241" Type="http://schemas.openxmlformats.org/officeDocument/2006/relationships/slide" Target="slides/slide235.xml"/><Relationship Id="rId240" Type="http://schemas.openxmlformats.org/officeDocument/2006/relationships/slide" Target="slides/slide234.xml"/><Relationship Id="rId125" Type="http://schemas.openxmlformats.org/officeDocument/2006/relationships/slide" Target="slides/slide119.xml"/><Relationship Id="rId246" Type="http://schemas.openxmlformats.org/officeDocument/2006/relationships/slide" Target="slides/slide240.xml"/><Relationship Id="rId124" Type="http://schemas.openxmlformats.org/officeDocument/2006/relationships/slide" Target="slides/slide118.xml"/><Relationship Id="rId245" Type="http://schemas.openxmlformats.org/officeDocument/2006/relationships/slide" Target="slides/slide239.xml"/><Relationship Id="rId123" Type="http://schemas.openxmlformats.org/officeDocument/2006/relationships/slide" Target="slides/slide117.xml"/><Relationship Id="rId244" Type="http://schemas.openxmlformats.org/officeDocument/2006/relationships/slide" Target="slides/slide238.xml"/><Relationship Id="rId122" Type="http://schemas.openxmlformats.org/officeDocument/2006/relationships/slide" Target="slides/slide116.xml"/><Relationship Id="rId243" Type="http://schemas.openxmlformats.org/officeDocument/2006/relationships/slide" Target="slides/slide237.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99" Type="http://schemas.openxmlformats.org/officeDocument/2006/relationships/slide" Target="slides/slide93.xml"/><Relationship Id="rId98" Type="http://schemas.openxmlformats.org/officeDocument/2006/relationships/slide" Target="slides/slide92.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239" Type="http://schemas.openxmlformats.org/officeDocument/2006/relationships/slide" Target="slides/slide233.xml"/><Relationship Id="rId117" Type="http://schemas.openxmlformats.org/officeDocument/2006/relationships/slide" Target="slides/slide111.xml"/><Relationship Id="rId238" Type="http://schemas.openxmlformats.org/officeDocument/2006/relationships/slide" Target="slides/slide232.xml"/><Relationship Id="rId116" Type="http://schemas.openxmlformats.org/officeDocument/2006/relationships/slide" Target="slides/slide110.xml"/><Relationship Id="rId237" Type="http://schemas.openxmlformats.org/officeDocument/2006/relationships/slide" Target="slides/slide231.xml"/><Relationship Id="rId115" Type="http://schemas.openxmlformats.org/officeDocument/2006/relationships/slide" Target="slides/slide109.xml"/><Relationship Id="rId236" Type="http://schemas.openxmlformats.org/officeDocument/2006/relationships/slide" Target="slides/slide230.xml"/><Relationship Id="rId119" Type="http://schemas.openxmlformats.org/officeDocument/2006/relationships/slide" Target="slides/slide113.xml"/><Relationship Id="rId110" Type="http://schemas.openxmlformats.org/officeDocument/2006/relationships/slide" Target="slides/slide104.xml"/><Relationship Id="rId231" Type="http://schemas.openxmlformats.org/officeDocument/2006/relationships/slide" Target="slides/slide225.xml"/><Relationship Id="rId230" Type="http://schemas.openxmlformats.org/officeDocument/2006/relationships/slide" Target="slides/slide224.xml"/><Relationship Id="rId114" Type="http://schemas.openxmlformats.org/officeDocument/2006/relationships/slide" Target="slides/slide108.xml"/><Relationship Id="rId235" Type="http://schemas.openxmlformats.org/officeDocument/2006/relationships/slide" Target="slides/slide229.xml"/><Relationship Id="rId113" Type="http://schemas.openxmlformats.org/officeDocument/2006/relationships/slide" Target="slides/slide107.xml"/><Relationship Id="rId234" Type="http://schemas.openxmlformats.org/officeDocument/2006/relationships/slide" Target="slides/slide228.xml"/><Relationship Id="rId112" Type="http://schemas.openxmlformats.org/officeDocument/2006/relationships/slide" Target="slides/slide106.xml"/><Relationship Id="rId233" Type="http://schemas.openxmlformats.org/officeDocument/2006/relationships/slide" Target="slides/slide227.xml"/><Relationship Id="rId111" Type="http://schemas.openxmlformats.org/officeDocument/2006/relationships/slide" Target="slides/slide105.xml"/><Relationship Id="rId232" Type="http://schemas.openxmlformats.org/officeDocument/2006/relationships/slide" Target="slides/slide226.xml"/><Relationship Id="rId305" Type="http://schemas.openxmlformats.org/officeDocument/2006/relationships/slide" Target="slides/slide299.xml"/><Relationship Id="rId304" Type="http://schemas.openxmlformats.org/officeDocument/2006/relationships/slide" Target="slides/slide298.xml"/><Relationship Id="rId303" Type="http://schemas.openxmlformats.org/officeDocument/2006/relationships/slide" Target="slides/slide297.xml"/><Relationship Id="rId302" Type="http://schemas.openxmlformats.org/officeDocument/2006/relationships/slide" Target="slides/slide296.xml"/><Relationship Id="rId309" Type="http://schemas.openxmlformats.org/officeDocument/2006/relationships/font" Target="fonts/Garamond-boldItalic.fntdata"/><Relationship Id="rId308" Type="http://schemas.openxmlformats.org/officeDocument/2006/relationships/font" Target="fonts/Garamond-italic.fntdata"/><Relationship Id="rId307" Type="http://schemas.openxmlformats.org/officeDocument/2006/relationships/font" Target="fonts/Garamond-bold.fntdata"/><Relationship Id="rId306" Type="http://schemas.openxmlformats.org/officeDocument/2006/relationships/font" Target="fonts/Garamond-regular.fntdata"/><Relationship Id="rId301" Type="http://schemas.openxmlformats.org/officeDocument/2006/relationships/slide" Target="slides/slide295.xml"/><Relationship Id="rId300" Type="http://schemas.openxmlformats.org/officeDocument/2006/relationships/slide" Target="slides/slide294.xml"/><Relationship Id="rId206" Type="http://schemas.openxmlformats.org/officeDocument/2006/relationships/slide" Target="slides/slide200.xml"/><Relationship Id="rId205" Type="http://schemas.openxmlformats.org/officeDocument/2006/relationships/slide" Target="slides/slide199.xml"/><Relationship Id="rId204" Type="http://schemas.openxmlformats.org/officeDocument/2006/relationships/slide" Target="slides/slide198.xml"/><Relationship Id="rId203" Type="http://schemas.openxmlformats.org/officeDocument/2006/relationships/slide" Target="slides/slide197.xml"/><Relationship Id="rId209" Type="http://schemas.openxmlformats.org/officeDocument/2006/relationships/slide" Target="slides/slide203.xml"/><Relationship Id="rId208" Type="http://schemas.openxmlformats.org/officeDocument/2006/relationships/slide" Target="slides/slide202.xml"/><Relationship Id="rId207" Type="http://schemas.openxmlformats.org/officeDocument/2006/relationships/slide" Target="slides/slide201.xml"/><Relationship Id="rId202" Type="http://schemas.openxmlformats.org/officeDocument/2006/relationships/slide" Target="slides/slide196.xml"/><Relationship Id="rId201" Type="http://schemas.openxmlformats.org/officeDocument/2006/relationships/slide" Target="slides/slide195.xml"/><Relationship Id="rId200" Type="http://schemas.openxmlformats.org/officeDocument/2006/relationships/slide" Target="slides/slide194.xml"/><Relationship Id="rId31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3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3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4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4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4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4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4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4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4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4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4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4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4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4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4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4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4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4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4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4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4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4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5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5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5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5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5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5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5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5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5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5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5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5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5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5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5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5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5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5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5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5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6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6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6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6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6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6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6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6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6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6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6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6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6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6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6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6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6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6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6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6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7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7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7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7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7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7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7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7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7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7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7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7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7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7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7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7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7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7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7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7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8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8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8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8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8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8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8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8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8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8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8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8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8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8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8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8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8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8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8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8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9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9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9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9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9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9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9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9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9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9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9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9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9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9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9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9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9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9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9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9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10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0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10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0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p10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0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10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0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10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0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10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0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10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0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10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0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p10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10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p10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0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11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11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p11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11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p11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11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p11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11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p11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1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p11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1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11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1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p11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11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11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11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11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11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12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12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p12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12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p12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12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p12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12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p12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12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p12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12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p12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12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12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12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p12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12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p12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12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p13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13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p13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13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p13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3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p13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13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p13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13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p13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13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p13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13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p13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13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p13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13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p13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13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p14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14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p14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14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p14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14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p14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14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p14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14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p14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14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p14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14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p14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14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p14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14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p14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14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p15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15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3" name="Shape 1243"/>
        <p:cNvGrpSpPr/>
        <p:nvPr/>
      </p:nvGrpSpPr>
      <p:grpSpPr>
        <a:xfrm>
          <a:off x="0" y="0"/>
          <a:ext cx="0" cy="0"/>
          <a:chOff x="0" y="0"/>
          <a:chExt cx="0" cy="0"/>
        </a:xfrm>
      </p:grpSpPr>
      <p:sp>
        <p:nvSpPr>
          <p:cNvPr id="1244" name="Google Shape;1244;p15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15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p15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15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p15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15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p15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15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5" name="Shape 1275"/>
        <p:cNvGrpSpPr/>
        <p:nvPr/>
      </p:nvGrpSpPr>
      <p:grpSpPr>
        <a:xfrm>
          <a:off x="0" y="0"/>
          <a:ext cx="0" cy="0"/>
          <a:chOff x="0" y="0"/>
          <a:chExt cx="0" cy="0"/>
        </a:xfrm>
      </p:grpSpPr>
      <p:sp>
        <p:nvSpPr>
          <p:cNvPr id="1276" name="Google Shape;1276;p15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15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p15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15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1" name="Shape 1291"/>
        <p:cNvGrpSpPr/>
        <p:nvPr/>
      </p:nvGrpSpPr>
      <p:grpSpPr>
        <a:xfrm>
          <a:off x="0" y="0"/>
          <a:ext cx="0" cy="0"/>
          <a:chOff x="0" y="0"/>
          <a:chExt cx="0" cy="0"/>
        </a:xfrm>
      </p:grpSpPr>
      <p:sp>
        <p:nvSpPr>
          <p:cNvPr id="1292" name="Google Shape;1292;p15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15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p15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15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p15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15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p16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16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p16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16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9" name="Shape 1329"/>
        <p:cNvGrpSpPr/>
        <p:nvPr/>
      </p:nvGrpSpPr>
      <p:grpSpPr>
        <a:xfrm>
          <a:off x="0" y="0"/>
          <a:ext cx="0" cy="0"/>
          <a:chOff x="0" y="0"/>
          <a:chExt cx="0" cy="0"/>
        </a:xfrm>
      </p:grpSpPr>
      <p:sp>
        <p:nvSpPr>
          <p:cNvPr id="1330" name="Google Shape;1330;p16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16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p16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16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3" name="Shape 1343"/>
        <p:cNvGrpSpPr/>
        <p:nvPr/>
      </p:nvGrpSpPr>
      <p:grpSpPr>
        <a:xfrm>
          <a:off x="0" y="0"/>
          <a:ext cx="0" cy="0"/>
          <a:chOff x="0" y="0"/>
          <a:chExt cx="0" cy="0"/>
        </a:xfrm>
      </p:grpSpPr>
      <p:sp>
        <p:nvSpPr>
          <p:cNvPr id="1344" name="Google Shape;1344;p16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16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p16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16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6" name="Shape 1356"/>
        <p:cNvGrpSpPr/>
        <p:nvPr/>
      </p:nvGrpSpPr>
      <p:grpSpPr>
        <a:xfrm>
          <a:off x="0" y="0"/>
          <a:ext cx="0" cy="0"/>
          <a:chOff x="0" y="0"/>
          <a:chExt cx="0" cy="0"/>
        </a:xfrm>
      </p:grpSpPr>
      <p:sp>
        <p:nvSpPr>
          <p:cNvPr id="1357" name="Google Shape;1357;p16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16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4" name="Shape 1364"/>
        <p:cNvGrpSpPr/>
        <p:nvPr/>
      </p:nvGrpSpPr>
      <p:grpSpPr>
        <a:xfrm>
          <a:off x="0" y="0"/>
          <a:ext cx="0" cy="0"/>
          <a:chOff x="0" y="0"/>
          <a:chExt cx="0" cy="0"/>
        </a:xfrm>
      </p:grpSpPr>
      <p:sp>
        <p:nvSpPr>
          <p:cNvPr id="1365" name="Google Shape;1365;p16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16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2" name="Shape 1372"/>
        <p:cNvGrpSpPr/>
        <p:nvPr/>
      </p:nvGrpSpPr>
      <p:grpSpPr>
        <a:xfrm>
          <a:off x="0" y="0"/>
          <a:ext cx="0" cy="0"/>
          <a:chOff x="0" y="0"/>
          <a:chExt cx="0" cy="0"/>
        </a:xfrm>
      </p:grpSpPr>
      <p:sp>
        <p:nvSpPr>
          <p:cNvPr id="1373" name="Google Shape;1373;p16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16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0" name="Shape 1380"/>
        <p:cNvGrpSpPr/>
        <p:nvPr/>
      </p:nvGrpSpPr>
      <p:grpSpPr>
        <a:xfrm>
          <a:off x="0" y="0"/>
          <a:ext cx="0" cy="0"/>
          <a:chOff x="0" y="0"/>
          <a:chExt cx="0" cy="0"/>
        </a:xfrm>
      </p:grpSpPr>
      <p:sp>
        <p:nvSpPr>
          <p:cNvPr id="1381" name="Google Shape;1381;p16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16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p17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17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6" name="Shape 1396"/>
        <p:cNvGrpSpPr/>
        <p:nvPr/>
      </p:nvGrpSpPr>
      <p:grpSpPr>
        <a:xfrm>
          <a:off x="0" y="0"/>
          <a:ext cx="0" cy="0"/>
          <a:chOff x="0" y="0"/>
          <a:chExt cx="0" cy="0"/>
        </a:xfrm>
      </p:grpSpPr>
      <p:sp>
        <p:nvSpPr>
          <p:cNvPr id="1397" name="Google Shape;1397;p17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17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4" name="Shape 1404"/>
        <p:cNvGrpSpPr/>
        <p:nvPr/>
      </p:nvGrpSpPr>
      <p:grpSpPr>
        <a:xfrm>
          <a:off x="0" y="0"/>
          <a:ext cx="0" cy="0"/>
          <a:chOff x="0" y="0"/>
          <a:chExt cx="0" cy="0"/>
        </a:xfrm>
      </p:grpSpPr>
      <p:sp>
        <p:nvSpPr>
          <p:cNvPr id="1405" name="Google Shape;1405;p17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17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2" name="Shape 1412"/>
        <p:cNvGrpSpPr/>
        <p:nvPr/>
      </p:nvGrpSpPr>
      <p:grpSpPr>
        <a:xfrm>
          <a:off x="0" y="0"/>
          <a:ext cx="0" cy="0"/>
          <a:chOff x="0" y="0"/>
          <a:chExt cx="0" cy="0"/>
        </a:xfrm>
      </p:grpSpPr>
      <p:sp>
        <p:nvSpPr>
          <p:cNvPr id="1413" name="Google Shape;1413;p17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17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0" name="Shape 1420"/>
        <p:cNvGrpSpPr/>
        <p:nvPr/>
      </p:nvGrpSpPr>
      <p:grpSpPr>
        <a:xfrm>
          <a:off x="0" y="0"/>
          <a:ext cx="0" cy="0"/>
          <a:chOff x="0" y="0"/>
          <a:chExt cx="0" cy="0"/>
        </a:xfrm>
      </p:grpSpPr>
      <p:sp>
        <p:nvSpPr>
          <p:cNvPr id="1421" name="Google Shape;1421;p17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17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8" name="Shape 1428"/>
        <p:cNvGrpSpPr/>
        <p:nvPr/>
      </p:nvGrpSpPr>
      <p:grpSpPr>
        <a:xfrm>
          <a:off x="0" y="0"/>
          <a:ext cx="0" cy="0"/>
          <a:chOff x="0" y="0"/>
          <a:chExt cx="0" cy="0"/>
        </a:xfrm>
      </p:grpSpPr>
      <p:sp>
        <p:nvSpPr>
          <p:cNvPr id="1429" name="Google Shape;1429;p17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17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6" name="Shape 1436"/>
        <p:cNvGrpSpPr/>
        <p:nvPr/>
      </p:nvGrpSpPr>
      <p:grpSpPr>
        <a:xfrm>
          <a:off x="0" y="0"/>
          <a:ext cx="0" cy="0"/>
          <a:chOff x="0" y="0"/>
          <a:chExt cx="0" cy="0"/>
        </a:xfrm>
      </p:grpSpPr>
      <p:sp>
        <p:nvSpPr>
          <p:cNvPr id="1437" name="Google Shape;1437;p17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17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4" name="Shape 1444"/>
        <p:cNvGrpSpPr/>
        <p:nvPr/>
      </p:nvGrpSpPr>
      <p:grpSpPr>
        <a:xfrm>
          <a:off x="0" y="0"/>
          <a:ext cx="0" cy="0"/>
          <a:chOff x="0" y="0"/>
          <a:chExt cx="0" cy="0"/>
        </a:xfrm>
      </p:grpSpPr>
      <p:sp>
        <p:nvSpPr>
          <p:cNvPr id="1445" name="Google Shape;1445;p17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17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2" name="Shape 1452"/>
        <p:cNvGrpSpPr/>
        <p:nvPr/>
      </p:nvGrpSpPr>
      <p:grpSpPr>
        <a:xfrm>
          <a:off x="0" y="0"/>
          <a:ext cx="0" cy="0"/>
          <a:chOff x="0" y="0"/>
          <a:chExt cx="0" cy="0"/>
        </a:xfrm>
      </p:grpSpPr>
      <p:sp>
        <p:nvSpPr>
          <p:cNvPr id="1453" name="Google Shape;1453;p17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17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1" name="Shape 1461"/>
        <p:cNvGrpSpPr/>
        <p:nvPr/>
      </p:nvGrpSpPr>
      <p:grpSpPr>
        <a:xfrm>
          <a:off x="0" y="0"/>
          <a:ext cx="0" cy="0"/>
          <a:chOff x="0" y="0"/>
          <a:chExt cx="0" cy="0"/>
        </a:xfrm>
      </p:grpSpPr>
      <p:sp>
        <p:nvSpPr>
          <p:cNvPr id="1462" name="Google Shape;1462;p17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17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9" name="Shape 1469"/>
        <p:cNvGrpSpPr/>
        <p:nvPr/>
      </p:nvGrpSpPr>
      <p:grpSpPr>
        <a:xfrm>
          <a:off x="0" y="0"/>
          <a:ext cx="0" cy="0"/>
          <a:chOff x="0" y="0"/>
          <a:chExt cx="0" cy="0"/>
        </a:xfrm>
      </p:grpSpPr>
      <p:sp>
        <p:nvSpPr>
          <p:cNvPr id="1470" name="Google Shape;1470;p18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18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6" name="Shape 1476"/>
        <p:cNvGrpSpPr/>
        <p:nvPr/>
      </p:nvGrpSpPr>
      <p:grpSpPr>
        <a:xfrm>
          <a:off x="0" y="0"/>
          <a:ext cx="0" cy="0"/>
          <a:chOff x="0" y="0"/>
          <a:chExt cx="0" cy="0"/>
        </a:xfrm>
      </p:grpSpPr>
      <p:sp>
        <p:nvSpPr>
          <p:cNvPr id="1477" name="Google Shape;1477;p18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18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3" name="Shape 1483"/>
        <p:cNvGrpSpPr/>
        <p:nvPr/>
      </p:nvGrpSpPr>
      <p:grpSpPr>
        <a:xfrm>
          <a:off x="0" y="0"/>
          <a:ext cx="0" cy="0"/>
          <a:chOff x="0" y="0"/>
          <a:chExt cx="0" cy="0"/>
        </a:xfrm>
      </p:grpSpPr>
      <p:sp>
        <p:nvSpPr>
          <p:cNvPr id="1484" name="Google Shape;1484;p18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18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0" name="Shape 1490"/>
        <p:cNvGrpSpPr/>
        <p:nvPr/>
      </p:nvGrpSpPr>
      <p:grpSpPr>
        <a:xfrm>
          <a:off x="0" y="0"/>
          <a:ext cx="0" cy="0"/>
          <a:chOff x="0" y="0"/>
          <a:chExt cx="0" cy="0"/>
        </a:xfrm>
      </p:grpSpPr>
      <p:sp>
        <p:nvSpPr>
          <p:cNvPr id="1491" name="Google Shape;1491;p18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18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7" name="Shape 1497"/>
        <p:cNvGrpSpPr/>
        <p:nvPr/>
      </p:nvGrpSpPr>
      <p:grpSpPr>
        <a:xfrm>
          <a:off x="0" y="0"/>
          <a:ext cx="0" cy="0"/>
          <a:chOff x="0" y="0"/>
          <a:chExt cx="0" cy="0"/>
        </a:xfrm>
      </p:grpSpPr>
      <p:sp>
        <p:nvSpPr>
          <p:cNvPr id="1498" name="Google Shape;1498;p18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18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5" name="Shape 1505"/>
        <p:cNvGrpSpPr/>
        <p:nvPr/>
      </p:nvGrpSpPr>
      <p:grpSpPr>
        <a:xfrm>
          <a:off x="0" y="0"/>
          <a:ext cx="0" cy="0"/>
          <a:chOff x="0" y="0"/>
          <a:chExt cx="0" cy="0"/>
        </a:xfrm>
      </p:grpSpPr>
      <p:sp>
        <p:nvSpPr>
          <p:cNvPr id="1506" name="Google Shape;1506;p18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18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3" name="Shape 1513"/>
        <p:cNvGrpSpPr/>
        <p:nvPr/>
      </p:nvGrpSpPr>
      <p:grpSpPr>
        <a:xfrm>
          <a:off x="0" y="0"/>
          <a:ext cx="0" cy="0"/>
          <a:chOff x="0" y="0"/>
          <a:chExt cx="0" cy="0"/>
        </a:xfrm>
      </p:grpSpPr>
      <p:sp>
        <p:nvSpPr>
          <p:cNvPr id="1514" name="Google Shape;1514;p18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18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0" name="Shape 1520"/>
        <p:cNvGrpSpPr/>
        <p:nvPr/>
      </p:nvGrpSpPr>
      <p:grpSpPr>
        <a:xfrm>
          <a:off x="0" y="0"/>
          <a:ext cx="0" cy="0"/>
          <a:chOff x="0" y="0"/>
          <a:chExt cx="0" cy="0"/>
        </a:xfrm>
      </p:grpSpPr>
      <p:sp>
        <p:nvSpPr>
          <p:cNvPr id="1521" name="Google Shape;1521;p18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18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8" name="Shape 1528"/>
        <p:cNvGrpSpPr/>
        <p:nvPr/>
      </p:nvGrpSpPr>
      <p:grpSpPr>
        <a:xfrm>
          <a:off x="0" y="0"/>
          <a:ext cx="0" cy="0"/>
          <a:chOff x="0" y="0"/>
          <a:chExt cx="0" cy="0"/>
        </a:xfrm>
      </p:grpSpPr>
      <p:sp>
        <p:nvSpPr>
          <p:cNvPr id="1529" name="Google Shape;1529;p18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18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4" name="Shape 1534"/>
        <p:cNvGrpSpPr/>
        <p:nvPr/>
      </p:nvGrpSpPr>
      <p:grpSpPr>
        <a:xfrm>
          <a:off x="0" y="0"/>
          <a:ext cx="0" cy="0"/>
          <a:chOff x="0" y="0"/>
          <a:chExt cx="0" cy="0"/>
        </a:xfrm>
      </p:grpSpPr>
      <p:sp>
        <p:nvSpPr>
          <p:cNvPr id="1535" name="Google Shape;1535;p18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18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2" name="Shape 1542"/>
        <p:cNvGrpSpPr/>
        <p:nvPr/>
      </p:nvGrpSpPr>
      <p:grpSpPr>
        <a:xfrm>
          <a:off x="0" y="0"/>
          <a:ext cx="0" cy="0"/>
          <a:chOff x="0" y="0"/>
          <a:chExt cx="0" cy="0"/>
        </a:xfrm>
      </p:grpSpPr>
      <p:sp>
        <p:nvSpPr>
          <p:cNvPr id="1543" name="Google Shape;1543;p19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19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0" name="Shape 1550"/>
        <p:cNvGrpSpPr/>
        <p:nvPr/>
      </p:nvGrpSpPr>
      <p:grpSpPr>
        <a:xfrm>
          <a:off x="0" y="0"/>
          <a:ext cx="0" cy="0"/>
          <a:chOff x="0" y="0"/>
          <a:chExt cx="0" cy="0"/>
        </a:xfrm>
      </p:grpSpPr>
      <p:sp>
        <p:nvSpPr>
          <p:cNvPr id="1551" name="Google Shape;1551;p19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19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8" name="Shape 1558"/>
        <p:cNvGrpSpPr/>
        <p:nvPr/>
      </p:nvGrpSpPr>
      <p:grpSpPr>
        <a:xfrm>
          <a:off x="0" y="0"/>
          <a:ext cx="0" cy="0"/>
          <a:chOff x="0" y="0"/>
          <a:chExt cx="0" cy="0"/>
        </a:xfrm>
      </p:grpSpPr>
      <p:sp>
        <p:nvSpPr>
          <p:cNvPr id="1559" name="Google Shape;1559;p19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19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6" name="Shape 1566"/>
        <p:cNvGrpSpPr/>
        <p:nvPr/>
      </p:nvGrpSpPr>
      <p:grpSpPr>
        <a:xfrm>
          <a:off x="0" y="0"/>
          <a:ext cx="0" cy="0"/>
          <a:chOff x="0" y="0"/>
          <a:chExt cx="0" cy="0"/>
        </a:xfrm>
      </p:grpSpPr>
      <p:sp>
        <p:nvSpPr>
          <p:cNvPr id="1567" name="Google Shape;1567;p19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19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6" name="Shape 1576"/>
        <p:cNvGrpSpPr/>
        <p:nvPr/>
      </p:nvGrpSpPr>
      <p:grpSpPr>
        <a:xfrm>
          <a:off x="0" y="0"/>
          <a:ext cx="0" cy="0"/>
          <a:chOff x="0" y="0"/>
          <a:chExt cx="0" cy="0"/>
        </a:xfrm>
      </p:grpSpPr>
      <p:sp>
        <p:nvSpPr>
          <p:cNvPr id="1577" name="Google Shape;1577;p19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19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4" name="Shape 1584"/>
        <p:cNvGrpSpPr/>
        <p:nvPr/>
      </p:nvGrpSpPr>
      <p:grpSpPr>
        <a:xfrm>
          <a:off x="0" y="0"/>
          <a:ext cx="0" cy="0"/>
          <a:chOff x="0" y="0"/>
          <a:chExt cx="0" cy="0"/>
        </a:xfrm>
      </p:grpSpPr>
      <p:sp>
        <p:nvSpPr>
          <p:cNvPr id="1585" name="Google Shape;1585;p19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19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1" name="Shape 1591"/>
        <p:cNvGrpSpPr/>
        <p:nvPr/>
      </p:nvGrpSpPr>
      <p:grpSpPr>
        <a:xfrm>
          <a:off x="0" y="0"/>
          <a:ext cx="0" cy="0"/>
          <a:chOff x="0" y="0"/>
          <a:chExt cx="0" cy="0"/>
        </a:xfrm>
      </p:grpSpPr>
      <p:sp>
        <p:nvSpPr>
          <p:cNvPr id="1592" name="Google Shape;1592;p19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19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9" name="Shape 1599"/>
        <p:cNvGrpSpPr/>
        <p:nvPr/>
      </p:nvGrpSpPr>
      <p:grpSpPr>
        <a:xfrm>
          <a:off x="0" y="0"/>
          <a:ext cx="0" cy="0"/>
          <a:chOff x="0" y="0"/>
          <a:chExt cx="0" cy="0"/>
        </a:xfrm>
      </p:grpSpPr>
      <p:sp>
        <p:nvSpPr>
          <p:cNvPr id="1600" name="Google Shape;1600;p19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19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7" name="Shape 1607"/>
        <p:cNvGrpSpPr/>
        <p:nvPr/>
      </p:nvGrpSpPr>
      <p:grpSpPr>
        <a:xfrm>
          <a:off x="0" y="0"/>
          <a:ext cx="0" cy="0"/>
          <a:chOff x="0" y="0"/>
          <a:chExt cx="0" cy="0"/>
        </a:xfrm>
      </p:grpSpPr>
      <p:sp>
        <p:nvSpPr>
          <p:cNvPr id="1608" name="Google Shape;1608;p19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19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5" name="Shape 1615"/>
        <p:cNvGrpSpPr/>
        <p:nvPr/>
      </p:nvGrpSpPr>
      <p:grpSpPr>
        <a:xfrm>
          <a:off x="0" y="0"/>
          <a:ext cx="0" cy="0"/>
          <a:chOff x="0" y="0"/>
          <a:chExt cx="0" cy="0"/>
        </a:xfrm>
      </p:grpSpPr>
      <p:sp>
        <p:nvSpPr>
          <p:cNvPr id="1616" name="Google Shape;1616;p19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19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3" name="Shape 1623"/>
        <p:cNvGrpSpPr/>
        <p:nvPr/>
      </p:nvGrpSpPr>
      <p:grpSpPr>
        <a:xfrm>
          <a:off x="0" y="0"/>
          <a:ext cx="0" cy="0"/>
          <a:chOff x="0" y="0"/>
          <a:chExt cx="0" cy="0"/>
        </a:xfrm>
      </p:grpSpPr>
      <p:sp>
        <p:nvSpPr>
          <p:cNvPr id="1624" name="Google Shape;1624;p20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20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1" name="Shape 1631"/>
        <p:cNvGrpSpPr/>
        <p:nvPr/>
      </p:nvGrpSpPr>
      <p:grpSpPr>
        <a:xfrm>
          <a:off x="0" y="0"/>
          <a:ext cx="0" cy="0"/>
          <a:chOff x="0" y="0"/>
          <a:chExt cx="0" cy="0"/>
        </a:xfrm>
      </p:grpSpPr>
      <p:sp>
        <p:nvSpPr>
          <p:cNvPr id="1632" name="Google Shape;1632;p20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20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8" name="Shape 1638"/>
        <p:cNvGrpSpPr/>
        <p:nvPr/>
      </p:nvGrpSpPr>
      <p:grpSpPr>
        <a:xfrm>
          <a:off x="0" y="0"/>
          <a:ext cx="0" cy="0"/>
          <a:chOff x="0" y="0"/>
          <a:chExt cx="0" cy="0"/>
        </a:xfrm>
      </p:grpSpPr>
      <p:sp>
        <p:nvSpPr>
          <p:cNvPr id="1639" name="Google Shape;1639;p20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20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6" name="Shape 1646"/>
        <p:cNvGrpSpPr/>
        <p:nvPr/>
      </p:nvGrpSpPr>
      <p:grpSpPr>
        <a:xfrm>
          <a:off x="0" y="0"/>
          <a:ext cx="0" cy="0"/>
          <a:chOff x="0" y="0"/>
          <a:chExt cx="0" cy="0"/>
        </a:xfrm>
      </p:grpSpPr>
      <p:sp>
        <p:nvSpPr>
          <p:cNvPr id="1647" name="Google Shape;1647;p20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20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4" name="Shape 1654"/>
        <p:cNvGrpSpPr/>
        <p:nvPr/>
      </p:nvGrpSpPr>
      <p:grpSpPr>
        <a:xfrm>
          <a:off x="0" y="0"/>
          <a:ext cx="0" cy="0"/>
          <a:chOff x="0" y="0"/>
          <a:chExt cx="0" cy="0"/>
        </a:xfrm>
      </p:grpSpPr>
      <p:sp>
        <p:nvSpPr>
          <p:cNvPr id="1655" name="Google Shape;1655;p20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20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2" name="Shape 1662"/>
        <p:cNvGrpSpPr/>
        <p:nvPr/>
      </p:nvGrpSpPr>
      <p:grpSpPr>
        <a:xfrm>
          <a:off x="0" y="0"/>
          <a:ext cx="0" cy="0"/>
          <a:chOff x="0" y="0"/>
          <a:chExt cx="0" cy="0"/>
        </a:xfrm>
      </p:grpSpPr>
      <p:sp>
        <p:nvSpPr>
          <p:cNvPr id="1663" name="Google Shape;1663;p20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20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0" name="Shape 1670"/>
        <p:cNvGrpSpPr/>
        <p:nvPr/>
      </p:nvGrpSpPr>
      <p:grpSpPr>
        <a:xfrm>
          <a:off x="0" y="0"/>
          <a:ext cx="0" cy="0"/>
          <a:chOff x="0" y="0"/>
          <a:chExt cx="0" cy="0"/>
        </a:xfrm>
      </p:grpSpPr>
      <p:sp>
        <p:nvSpPr>
          <p:cNvPr id="1671" name="Google Shape;1671;p20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20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8" name="Shape 1678"/>
        <p:cNvGrpSpPr/>
        <p:nvPr/>
      </p:nvGrpSpPr>
      <p:grpSpPr>
        <a:xfrm>
          <a:off x="0" y="0"/>
          <a:ext cx="0" cy="0"/>
          <a:chOff x="0" y="0"/>
          <a:chExt cx="0" cy="0"/>
        </a:xfrm>
      </p:grpSpPr>
      <p:sp>
        <p:nvSpPr>
          <p:cNvPr id="1679" name="Google Shape;1679;p20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20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6" name="Shape 1686"/>
        <p:cNvGrpSpPr/>
        <p:nvPr/>
      </p:nvGrpSpPr>
      <p:grpSpPr>
        <a:xfrm>
          <a:off x="0" y="0"/>
          <a:ext cx="0" cy="0"/>
          <a:chOff x="0" y="0"/>
          <a:chExt cx="0" cy="0"/>
        </a:xfrm>
      </p:grpSpPr>
      <p:sp>
        <p:nvSpPr>
          <p:cNvPr id="1687" name="Google Shape;1687;p20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20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4" name="Shape 1694"/>
        <p:cNvGrpSpPr/>
        <p:nvPr/>
      </p:nvGrpSpPr>
      <p:grpSpPr>
        <a:xfrm>
          <a:off x="0" y="0"/>
          <a:ext cx="0" cy="0"/>
          <a:chOff x="0" y="0"/>
          <a:chExt cx="0" cy="0"/>
        </a:xfrm>
      </p:grpSpPr>
      <p:sp>
        <p:nvSpPr>
          <p:cNvPr id="1695" name="Google Shape;1695;p20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20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2" name="Shape 1702"/>
        <p:cNvGrpSpPr/>
        <p:nvPr/>
      </p:nvGrpSpPr>
      <p:grpSpPr>
        <a:xfrm>
          <a:off x="0" y="0"/>
          <a:ext cx="0" cy="0"/>
          <a:chOff x="0" y="0"/>
          <a:chExt cx="0" cy="0"/>
        </a:xfrm>
      </p:grpSpPr>
      <p:sp>
        <p:nvSpPr>
          <p:cNvPr id="1703" name="Google Shape;1703;p21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21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0" name="Shape 1710"/>
        <p:cNvGrpSpPr/>
        <p:nvPr/>
      </p:nvGrpSpPr>
      <p:grpSpPr>
        <a:xfrm>
          <a:off x="0" y="0"/>
          <a:ext cx="0" cy="0"/>
          <a:chOff x="0" y="0"/>
          <a:chExt cx="0" cy="0"/>
        </a:xfrm>
      </p:grpSpPr>
      <p:sp>
        <p:nvSpPr>
          <p:cNvPr id="1711" name="Google Shape;1711;p21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21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8" name="Shape 1718"/>
        <p:cNvGrpSpPr/>
        <p:nvPr/>
      </p:nvGrpSpPr>
      <p:grpSpPr>
        <a:xfrm>
          <a:off x="0" y="0"/>
          <a:ext cx="0" cy="0"/>
          <a:chOff x="0" y="0"/>
          <a:chExt cx="0" cy="0"/>
        </a:xfrm>
      </p:grpSpPr>
      <p:sp>
        <p:nvSpPr>
          <p:cNvPr id="1719" name="Google Shape;1719;p21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21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6" name="Shape 1726"/>
        <p:cNvGrpSpPr/>
        <p:nvPr/>
      </p:nvGrpSpPr>
      <p:grpSpPr>
        <a:xfrm>
          <a:off x="0" y="0"/>
          <a:ext cx="0" cy="0"/>
          <a:chOff x="0" y="0"/>
          <a:chExt cx="0" cy="0"/>
        </a:xfrm>
      </p:grpSpPr>
      <p:sp>
        <p:nvSpPr>
          <p:cNvPr id="1727" name="Google Shape;1727;p21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21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3" name="Shape 1733"/>
        <p:cNvGrpSpPr/>
        <p:nvPr/>
      </p:nvGrpSpPr>
      <p:grpSpPr>
        <a:xfrm>
          <a:off x="0" y="0"/>
          <a:ext cx="0" cy="0"/>
          <a:chOff x="0" y="0"/>
          <a:chExt cx="0" cy="0"/>
        </a:xfrm>
      </p:grpSpPr>
      <p:sp>
        <p:nvSpPr>
          <p:cNvPr id="1734" name="Google Shape;1734;p21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21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0" name="Shape 1740"/>
        <p:cNvGrpSpPr/>
        <p:nvPr/>
      </p:nvGrpSpPr>
      <p:grpSpPr>
        <a:xfrm>
          <a:off x="0" y="0"/>
          <a:ext cx="0" cy="0"/>
          <a:chOff x="0" y="0"/>
          <a:chExt cx="0" cy="0"/>
        </a:xfrm>
      </p:grpSpPr>
      <p:sp>
        <p:nvSpPr>
          <p:cNvPr id="1741" name="Google Shape;1741;p21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21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8" name="Shape 1748"/>
        <p:cNvGrpSpPr/>
        <p:nvPr/>
      </p:nvGrpSpPr>
      <p:grpSpPr>
        <a:xfrm>
          <a:off x="0" y="0"/>
          <a:ext cx="0" cy="0"/>
          <a:chOff x="0" y="0"/>
          <a:chExt cx="0" cy="0"/>
        </a:xfrm>
      </p:grpSpPr>
      <p:sp>
        <p:nvSpPr>
          <p:cNvPr id="1749" name="Google Shape;1749;p21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21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6" name="Shape 1756"/>
        <p:cNvGrpSpPr/>
        <p:nvPr/>
      </p:nvGrpSpPr>
      <p:grpSpPr>
        <a:xfrm>
          <a:off x="0" y="0"/>
          <a:ext cx="0" cy="0"/>
          <a:chOff x="0" y="0"/>
          <a:chExt cx="0" cy="0"/>
        </a:xfrm>
      </p:grpSpPr>
      <p:sp>
        <p:nvSpPr>
          <p:cNvPr id="1757" name="Google Shape;1757;p21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21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4" name="Shape 1764"/>
        <p:cNvGrpSpPr/>
        <p:nvPr/>
      </p:nvGrpSpPr>
      <p:grpSpPr>
        <a:xfrm>
          <a:off x="0" y="0"/>
          <a:ext cx="0" cy="0"/>
          <a:chOff x="0" y="0"/>
          <a:chExt cx="0" cy="0"/>
        </a:xfrm>
      </p:grpSpPr>
      <p:sp>
        <p:nvSpPr>
          <p:cNvPr id="1765" name="Google Shape;1765;p21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21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2" name="Shape 1772"/>
        <p:cNvGrpSpPr/>
        <p:nvPr/>
      </p:nvGrpSpPr>
      <p:grpSpPr>
        <a:xfrm>
          <a:off x="0" y="0"/>
          <a:ext cx="0" cy="0"/>
          <a:chOff x="0" y="0"/>
          <a:chExt cx="0" cy="0"/>
        </a:xfrm>
      </p:grpSpPr>
      <p:sp>
        <p:nvSpPr>
          <p:cNvPr id="1773" name="Google Shape;1773;p21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21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0" name="Shape 1780"/>
        <p:cNvGrpSpPr/>
        <p:nvPr/>
      </p:nvGrpSpPr>
      <p:grpSpPr>
        <a:xfrm>
          <a:off x="0" y="0"/>
          <a:ext cx="0" cy="0"/>
          <a:chOff x="0" y="0"/>
          <a:chExt cx="0" cy="0"/>
        </a:xfrm>
      </p:grpSpPr>
      <p:sp>
        <p:nvSpPr>
          <p:cNvPr id="1781" name="Google Shape;1781;p22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22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8" name="Shape 1788"/>
        <p:cNvGrpSpPr/>
        <p:nvPr/>
      </p:nvGrpSpPr>
      <p:grpSpPr>
        <a:xfrm>
          <a:off x="0" y="0"/>
          <a:ext cx="0" cy="0"/>
          <a:chOff x="0" y="0"/>
          <a:chExt cx="0" cy="0"/>
        </a:xfrm>
      </p:grpSpPr>
      <p:sp>
        <p:nvSpPr>
          <p:cNvPr id="1789" name="Google Shape;1789;p22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22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6" name="Shape 1796"/>
        <p:cNvGrpSpPr/>
        <p:nvPr/>
      </p:nvGrpSpPr>
      <p:grpSpPr>
        <a:xfrm>
          <a:off x="0" y="0"/>
          <a:ext cx="0" cy="0"/>
          <a:chOff x="0" y="0"/>
          <a:chExt cx="0" cy="0"/>
        </a:xfrm>
      </p:grpSpPr>
      <p:sp>
        <p:nvSpPr>
          <p:cNvPr id="1797" name="Google Shape;1797;p22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22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4" name="Shape 1804"/>
        <p:cNvGrpSpPr/>
        <p:nvPr/>
      </p:nvGrpSpPr>
      <p:grpSpPr>
        <a:xfrm>
          <a:off x="0" y="0"/>
          <a:ext cx="0" cy="0"/>
          <a:chOff x="0" y="0"/>
          <a:chExt cx="0" cy="0"/>
        </a:xfrm>
      </p:grpSpPr>
      <p:sp>
        <p:nvSpPr>
          <p:cNvPr id="1805" name="Google Shape;1805;p22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22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3" name="Shape 1813"/>
        <p:cNvGrpSpPr/>
        <p:nvPr/>
      </p:nvGrpSpPr>
      <p:grpSpPr>
        <a:xfrm>
          <a:off x="0" y="0"/>
          <a:ext cx="0" cy="0"/>
          <a:chOff x="0" y="0"/>
          <a:chExt cx="0" cy="0"/>
        </a:xfrm>
      </p:grpSpPr>
      <p:sp>
        <p:nvSpPr>
          <p:cNvPr id="1814" name="Google Shape;1814;p22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22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1" name="Shape 1821"/>
        <p:cNvGrpSpPr/>
        <p:nvPr/>
      </p:nvGrpSpPr>
      <p:grpSpPr>
        <a:xfrm>
          <a:off x="0" y="0"/>
          <a:ext cx="0" cy="0"/>
          <a:chOff x="0" y="0"/>
          <a:chExt cx="0" cy="0"/>
        </a:xfrm>
      </p:grpSpPr>
      <p:sp>
        <p:nvSpPr>
          <p:cNvPr id="1822" name="Google Shape;1822;p22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22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9" name="Shape 1829"/>
        <p:cNvGrpSpPr/>
        <p:nvPr/>
      </p:nvGrpSpPr>
      <p:grpSpPr>
        <a:xfrm>
          <a:off x="0" y="0"/>
          <a:ext cx="0" cy="0"/>
          <a:chOff x="0" y="0"/>
          <a:chExt cx="0" cy="0"/>
        </a:xfrm>
      </p:grpSpPr>
      <p:sp>
        <p:nvSpPr>
          <p:cNvPr id="1830" name="Google Shape;1830;p22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22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7" name="Shape 1837"/>
        <p:cNvGrpSpPr/>
        <p:nvPr/>
      </p:nvGrpSpPr>
      <p:grpSpPr>
        <a:xfrm>
          <a:off x="0" y="0"/>
          <a:ext cx="0" cy="0"/>
          <a:chOff x="0" y="0"/>
          <a:chExt cx="0" cy="0"/>
        </a:xfrm>
      </p:grpSpPr>
      <p:sp>
        <p:nvSpPr>
          <p:cNvPr id="1838" name="Google Shape;1838;p22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22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3" name="Shape 1843"/>
        <p:cNvGrpSpPr/>
        <p:nvPr/>
      </p:nvGrpSpPr>
      <p:grpSpPr>
        <a:xfrm>
          <a:off x="0" y="0"/>
          <a:ext cx="0" cy="0"/>
          <a:chOff x="0" y="0"/>
          <a:chExt cx="0" cy="0"/>
        </a:xfrm>
      </p:grpSpPr>
      <p:sp>
        <p:nvSpPr>
          <p:cNvPr id="1844" name="Google Shape;1844;p22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22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9" name="Shape 1849"/>
        <p:cNvGrpSpPr/>
        <p:nvPr/>
      </p:nvGrpSpPr>
      <p:grpSpPr>
        <a:xfrm>
          <a:off x="0" y="0"/>
          <a:ext cx="0" cy="0"/>
          <a:chOff x="0" y="0"/>
          <a:chExt cx="0" cy="0"/>
        </a:xfrm>
      </p:grpSpPr>
      <p:sp>
        <p:nvSpPr>
          <p:cNvPr id="1850" name="Google Shape;1850;p22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22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6" name="Shape 1856"/>
        <p:cNvGrpSpPr/>
        <p:nvPr/>
      </p:nvGrpSpPr>
      <p:grpSpPr>
        <a:xfrm>
          <a:off x="0" y="0"/>
          <a:ext cx="0" cy="0"/>
          <a:chOff x="0" y="0"/>
          <a:chExt cx="0" cy="0"/>
        </a:xfrm>
      </p:grpSpPr>
      <p:sp>
        <p:nvSpPr>
          <p:cNvPr id="1857" name="Google Shape;1857;p23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23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4" name="Shape 1864"/>
        <p:cNvGrpSpPr/>
        <p:nvPr/>
      </p:nvGrpSpPr>
      <p:grpSpPr>
        <a:xfrm>
          <a:off x="0" y="0"/>
          <a:ext cx="0" cy="0"/>
          <a:chOff x="0" y="0"/>
          <a:chExt cx="0" cy="0"/>
        </a:xfrm>
      </p:grpSpPr>
      <p:sp>
        <p:nvSpPr>
          <p:cNvPr id="1865" name="Google Shape;1865;p23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23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2" name="Shape 1872"/>
        <p:cNvGrpSpPr/>
        <p:nvPr/>
      </p:nvGrpSpPr>
      <p:grpSpPr>
        <a:xfrm>
          <a:off x="0" y="0"/>
          <a:ext cx="0" cy="0"/>
          <a:chOff x="0" y="0"/>
          <a:chExt cx="0" cy="0"/>
        </a:xfrm>
      </p:grpSpPr>
      <p:sp>
        <p:nvSpPr>
          <p:cNvPr id="1873" name="Google Shape;1873;p23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23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9" name="Shape 1879"/>
        <p:cNvGrpSpPr/>
        <p:nvPr/>
      </p:nvGrpSpPr>
      <p:grpSpPr>
        <a:xfrm>
          <a:off x="0" y="0"/>
          <a:ext cx="0" cy="0"/>
          <a:chOff x="0" y="0"/>
          <a:chExt cx="0" cy="0"/>
        </a:xfrm>
      </p:grpSpPr>
      <p:sp>
        <p:nvSpPr>
          <p:cNvPr id="1880" name="Google Shape;1880;p23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23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7" name="Shape 1887"/>
        <p:cNvGrpSpPr/>
        <p:nvPr/>
      </p:nvGrpSpPr>
      <p:grpSpPr>
        <a:xfrm>
          <a:off x="0" y="0"/>
          <a:ext cx="0" cy="0"/>
          <a:chOff x="0" y="0"/>
          <a:chExt cx="0" cy="0"/>
        </a:xfrm>
      </p:grpSpPr>
      <p:sp>
        <p:nvSpPr>
          <p:cNvPr id="1888" name="Google Shape;1888;p23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23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4" name="Shape 1894"/>
        <p:cNvGrpSpPr/>
        <p:nvPr/>
      </p:nvGrpSpPr>
      <p:grpSpPr>
        <a:xfrm>
          <a:off x="0" y="0"/>
          <a:ext cx="0" cy="0"/>
          <a:chOff x="0" y="0"/>
          <a:chExt cx="0" cy="0"/>
        </a:xfrm>
      </p:grpSpPr>
      <p:sp>
        <p:nvSpPr>
          <p:cNvPr id="1895" name="Google Shape;1895;p23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23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2" name="Shape 1902"/>
        <p:cNvGrpSpPr/>
        <p:nvPr/>
      </p:nvGrpSpPr>
      <p:grpSpPr>
        <a:xfrm>
          <a:off x="0" y="0"/>
          <a:ext cx="0" cy="0"/>
          <a:chOff x="0" y="0"/>
          <a:chExt cx="0" cy="0"/>
        </a:xfrm>
      </p:grpSpPr>
      <p:sp>
        <p:nvSpPr>
          <p:cNvPr id="1903" name="Google Shape;1903;p23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23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0" name="Shape 1910"/>
        <p:cNvGrpSpPr/>
        <p:nvPr/>
      </p:nvGrpSpPr>
      <p:grpSpPr>
        <a:xfrm>
          <a:off x="0" y="0"/>
          <a:ext cx="0" cy="0"/>
          <a:chOff x="0" y="0"/>
          <a:chExt cx="0" cy="0"/>
        </a:xfrm>
      </p:grpSpPr>
      <p:sp>
        <p:nvSpPr>
          <p:cNvPr id="1911" name="Google Shape;1911;p23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23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8" name="Shape 1918"/>
        <p:cNvGrpSpPr/>
        <p:nvPr/>
      </p:nvGrpSpPr>
      <p:grpSpPr>
        <a:xfrm>
          <a:off x="0" y="0"/>
          <a:ext cx="0" cy="0"/>
          <a:chOff x="0" y="0"/>
          <a:chExt cx="0" cy="0"/>
        </a:xfrm>
      </p:grpSpPr>
      <p:sp>
        <p:nvSpPr>
          <p:cNvPr id="1919" name="Google Shape;1919;p23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23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6" name="Shape 1926"/>
        <p:cNvGrpSpPr/>
        <p:nvPr/>
      </p:nvGrpSpPr>
      <p:grpSpPr>
        <a:xfrm>
          <a:off x="0" y="0"/>
          <a:ext cx="0" cy="0"/>
          <a:chOff x="0" y="0"/>
          <a:chExt cx="0" cy="0"/>
        </a:xfrm>
      </p:grpSpPr>
      <p:sp>
        <p:nvSpPr>
          <p:cNvPr id="1927" name="Google Shape;1927;p23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23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4" name="Shape 1934"/>
        <p:cNvGrpSpPr/>
        <p:nvPr/>
      </p:nvGrpSpPr>
      <p:grpSpPr>
        <a:xfrm>
          <a:off x="0" y="0"/>
          <a:ext cx="0" cy="0"/>
          <a:chOff x="0" y="0"/>
          <a:chExt cx="0" cy="0"/>
        </a:xfrm>
      </p:grpSpPr>
      <p:sp>
        <p:nvSpPr>
          <p:cNvPr id="1935" name="Google Shape;1935;p24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24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0" name="Shape 1940"/>
        <p:cNvGrpSpPr/>
        <p:nvPr/>
      </p:nvGrpSpPr>
      <p:grpSpPr>
        <a:xfrm>
          <a:off x="0" y="0"/>
          <a:ext cx="0" cy="0"/>
          <a:chOff x="0" y="0"/>
          <a:chExt cx="0" cy="0"/>
        </a:xfrm>
      </p:grpSpPr>
      <p:sp>
        <p:nvSpPr>
          <p:cNvPr id="1941" name="Google Shape;1941;p24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24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6" name="Shape 1946"/>
        <p:cNvGrpSpPr/>
        <p:nvPr/>
      </p:nvGrpSpPr>
      <p:grpSpPr>
        <a:xfrm>
          <a:off x="0" y="0"/>
          <a:ext cx="0" cy="0"/>
          <a:chOff x="0" y="0"/>
          <a:chExt cx="0" cy="0"/>
        </a:xfrm>
      </p:grpSpPr>
      <p:sp>
        <p:nvSpPr>
          <p:cNvPr id="1947" name="Google Shape;1947;p24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24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4" name="Shape 1954"/>
        <p:cNvGrpSpPr/>
        <p:nvPr/>
      </p:nvGrpSpPr>
      <p:grpSpPr>
        <a:xfrm>
          <a:off x="0" y="0"/>
          <a:ext cx="0" cy="0"/>
          <a:chOff x="0" y="0"/>
          <a:chExt cx="0" cy="0"/>
        </a:xfrm>
      </p:grpSpPr>
      <p:sp>
        <p:nvSpPr>
          <p:cNvPr id="1955" name="Google Shape;1955;p24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24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2" name="Shape 1962"/>
        <p:cNvGrpSpPr/>
        <p:nvPr/>
      </p:nvGrpSpPr>
      <p:grpSpPr>
        <a:xfrm>
          <a:off x="0" y="0"/>
          <a:ext cx="0" cy="0"/>
          <a:chOff x="0" y="0"/>
          <a:chExt cx="0" cy="0"/>
        </a:xfrm>
      </p:grpSpPr>
      <p:sp>
        <p:nvSpPr>
          <p:cNvPr id="1963" name="Google Shape;1963;p24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24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0" name="Shape 1970"/>
        <p:cNvGrpSpPr/>
        <p:nvPr/>
      </p:nvGrpSpPr>
      <p:grpSpPr>
        <a:xfrm>
          <a:off x="0" y="0"/>
          <a:ext cx="0" cy="0"/>
          <a:chOff x="0" y="0"/>
          <a:chExt cx="0" cy="0"/>
        </a:xfrm>
      </p:grpSpPr>
      <p:sp>
        <p:nvSpPr>
          <p:cNvPr id="1971" name="Google Shape;1971;p24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24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8" name="Shape 1978"/>
        <p:cNvGrpSpPr/>
        <p:nvPr/>
      </p:nvGrpSpPr>
      <p:grpSpPr>
        <a:xfrm>
          <a:off x="0" y="0"/>
          <a:ext cx="0" cy="0"/>
          <a:chOff x="0" y="0"/>
          <a:chExt cx="0" cy="0"/>
        </a:xfrm>
      </p:grpSpPr>
      <p:sp>
        <p:nvSpPr>
          <p:cNvPr id="1979" name="Google Shape;1979;p24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24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6" name="Shape 1986"/>
        <p:cNvGrpSpPr/>
        <p:nvPr/>
      </p:nvGrpSpPr>
      <p:grpSpPr>
        <a:xfrm>
          <a:off x="0" y="0"/>
          <a:ext cx="0" cy="0"/>
          <a:chOff x="0" y="0"/>
          <a:chExt cx="0" cy="0"/>
        </a:xfrm>
      </p:grpSpPr>
      <p:sp>
        <p:nvSpPr>
          <p:cNvPr id="1987" name="Google Shape;1987;p24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24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2" name="Shape 1992"/>
        <p:cNvGrpSpPr/>
        <p:nvPr/>
      </p:nvGrpSpPr>
      <p:grpSpPr>
        <a:xfrm>
          <a:off x="0" y="0"/>
          <a:ext cx="0" cy="0"/>
          <a:chOff x="0" y="0"/>
          <a:chExt cx="0" cy="0"/>
        </a:xfrm>
      </p:grpSpPr>
      <p:sp>
        <p:nvSpPr>
          <p:cNvPr id="1993" name="Google Shape;1993;p24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24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8" name="Shape 1998"/>
        <p:cNvGrpSpPr/>
        <p:nvPr/>
      </p:nvGrpSpPr>
      <p:grpSpPr>
        <a:xfrm>
          <a:off x="0" y="0"/>
          <a:ext cx="0" cy="0"/>
          <a:chOff x="0" y="0"/>
          <a:chExt cx="0" cy="0"/>
        </a:xfrm>
      </p:grpSpPr>
      <p:sp>
        <p:nvSpPr>
          <p:cNvPr id="1999" name="Google Shape;1999;p24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24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6" name="Shape 2006"/>
        <p:cNvGrpSpPr/>
        <p:nvPr/>
      </p:nvGrpSpPr>
      <p:grpSpPr>
        <a:xfrm>
          <a:off x="0" y="0"/>
          <a:ext cx="0" cy="0"/>
          <a:chOff x="0" y="0"/>
          <a:chExt cx="0" cy="0"/>
        </a:xfrm>
      </p:grpSpPr>
      <p:sp>
        <p:nvSpPr>
          <p:cNvPr id="2007" name="Google Shape;2007;p25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25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4" name="Shape 2014"/>
        <p:cNvGrpSpPr/>
        <p:nvPr/>
      </p:nvGrpSpPr>
      <p:grpSpPr>
        <a:xfrm>
          <a:off x="0" y="0"/>
          <a:ext cx="0" cy="0"/>
          <a:chOff x="0" y="0"/>
          <a:chExt cx="0" cy="0"/>
        </a:xfrm>
      </p:grpSpPr>
      <p:sp>
        <p:nvSpPr>
          <p:cNvPr id="2015" name="Google Shape;2015;p25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25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1" name="Shape 2021"/>
        <p:cNvGrpSpPr/>
        <p:nvPr/>
      </p:nvGrpSpPr>
      <p:grpSpPr>
        <a:xfrm>
          <a:off x="0" y="0"/>
          <a:ext cx="0" cy="0"/>
          <a:chOff x="0" y="0"/>
          <a:chExt cx="0" cy="0"/>
        </a:xfrm>
      </p:grpSpPr>
      <p:sp>
        <p:nvSpPr>
          <p:cNvPr id="2022" name="Google Shape;2022;p25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25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9" name="Shape 2029"/>
        <p:cNvGrpSpPr/>
        <p:nvPr/>
      </p:nvGrpSpPr>
      <p:grpSpPr>
        <a:xfrm>
          <a:off x="0" y="0"/>
          <a:ext cx="0" cy="0"/>
          <a:chOff x="0" y="0"/>
          <a:chExt cx="0" cy="0"/>
        </a:xfrm>
      </p:grpSpPr>
      <p:sp>
        <p:nvSpPr>
          <p:cNvPr id="2030" name="Google Shape;2030;p25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25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5" name="Shape 2035"/>
        <p:cNvGrpSpPr/>
        <p:nvPr/>
      </p:nvGrpSpPr>
      <p:grpSpPr>
        <a:xfrm>
          <a:off x="0" y="0"/>
          <a:ext cx="0" cy="0"/>
          <a:chOff x="0" y="0"/>
          <a:chExt cx="0" cy="0"/>
        </a:xfrm>
      </p:grpSpPr>
      <p:sp>
        <p:nvSpPr>
          <p:cNvPr id="2036" name="Google Shape;2036;p25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25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1" name="Shape 2041"/>
        <p:cNvGrpSpPr/>
        <p:nvPr/>
      </p:nvGrpSpPr>
      <p:grpSpPr>
        <a:xfrm>
          <a:off x="0" y="0"/>
          <a:ext cx="0" cy="0"/>
          <a:chOff x="0" y="0"/>
          <a:chExt cx="0" cy="0"/>
        </a:xfrm>
      </p:grpSpPr>
      <p:sp>
        <p:nvSpPr>
          <p:cNvPr id="2042" name="Google Shape;2042;p25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25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9" name="Shape 2049"/>
        <p:cNvGrpSpPr/>
        <p:nvPr/>
      </p:nvGrpSpPr>
      <p:grpSpPr>
        <a:xfrm>
          <a:off x="0" y="0"/>
          <a:ext cx="0" cy="0"/>
          <a:chOff x="0" y="0"/>
          <a:chExt cx="0" cy="0"/>
        </a:xfrm>
      </p:grpSpPr>
      <p:sp>
        <p:nvSpPr>
          <p:cNvPr id="2050" name="Google Shape;2050;p25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25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7" name="Shape 2057"/>
        <p:cNvGrpSpPr/>
        <p:nvPr/>
      </p:nvGrpSpPr>
      <p:grpSpPr>
        <a:xfrm>
          <a:off x="0" y="0"/>
          <a:ext cx="0" cy="0"/>
          <a:chOff x="0" y="0"/>
          <a:chExt cx="0" cy="0"/>
        </a:xfrm>
      </p:grpSpPr>
      <p:sp>
        <p:nvSpPr>
          <p:cNvPr id="2058" name="Google Shape;2058;p25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25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5" name="Shape 2065"/>
        <p:cNvGrpSpPr/>
        <p:nvPr/>
      </p:nvGrpSpPr>
      <p:grpSpPr>
        <a:xfrm>
          <a:off x="0" y="0"/>
          <a:ext cx="0" cy="0"/>
          <a:chOff x="0" y="0"/>
          <a:chExt cx="0" cy="0"/>
        </a:xfrm>
      </p:grpSpPr>
      <p:sp>
        <p:nvSpPr>
          <p:cNvPr id="2066" name="Google Shape;2066;p25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25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3" name="Shape 2073"/>
        <p:cNvGrpSpPr/>
        <p:nvPr/>
      </p:nvGrpSpPr>
      <p:grpSpPr>
        <a:xfrm>
          <a:off x="0" y="0"/>
          <a:ext cx="0" cy="0"/>
          <a:chOff x="0" y="0"/>
          <a:chExt cx="0" cy="0"/>
        </a:xfrm>
      </p:grpSpPr>
      <p:sp>
        <p:nvSpPr>
          <p:cNvPr id="2074" name="Google Shape;2074;p25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25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1" name="Shape 2081"/>
        <p:cNvGrpSpPr/>
        <p:nvPr/>
      </p:nvGrpSpPr>
      <p:grpSpPr>
        <a:xfrm>
          <a:off x="0" y="0"/>
          <a:ext cx="0" cy="0"/>
          <a:chOff x="0" y="0"/>
          <a:chExt cx="0" cy="0"/>
        </a:xfrm>
      </p:grpSpPr>
      <p:sp>
        <p:nvSpPr>
          <p:cNvPr id="2082" name="Google Shape;2082;p26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26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7" name="Shape 2087"/>
        <p:cNvGrpSpPr/>
        <p:nvPr/>
      </p:nvGrpSpPr>
      <p:grpSpPr>
        <a:xfrm>
          <a:off x="0" y="0"/>
          <a:ext cx="0" cy="0"/>
          <a:chOff x="0" y="0"/>
          <a:chExt cx="0" cy="0"/>
        </a:xfrm>
      </p:grpSpPr>
      <p:sp>
        <p:nvSpPr>
          <p:cNvPr id="2088" name="Google Shape;2088;p26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26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3" name="Shape 2093"/>
        <p:cNvGrpSpPr/>
        <p:nvPr/>
      </p:nvGrpSpPr>
      <p:grpSpPr>
        <a:xfrm>
          <a:off x="0" y="0"/>
          <a:ext cx="0" cy="0"/>
          <a:chOff x="0" y="0"/>
          <a:chExt cx="0" cy="0"/>
        </a:xfrm>
      </p:grpSpPr>
      <p:sp>
        <p:nvSpPr>
          <p:cNvPr id="2094" name="Google Shape;2094;p26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26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2" name="Shape 2102"/>
        <p:cNvGrpSpPr/>
        <p:nvPr/>
      </p:nvGrpSpPr>
      <p:grpSpPr>
        <a:xfrm>
          <a:off x="0" y="0"/>
          <a:ext cx="0" cy="0"/>
          <a:chOff x="0" y="0"/>
          <a:chExt cx="0" cy="0"/>
        </a:xfrm>
      </p:grpSpPr>
      <p:sp>
        <p:nvSpPr>
          <p:cNvPr id="2103" name="Google Shape;2103;p26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26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0" name="Shape 2110"/>
        <p:cNvGrpSpPr/>
        <p:nvPr/>
      </p:nvGrpSpPr>
      <p:grpSpPr>
        <a:xfrm>
          <a:off x="0" y="0"/>
          <a:ext cx="0" cy="0"/>
          <a:chOff x="0" y="0"/>
          <a:chExt cx="0" cy="0"/>
        </a:xfrm>
      </p:grpSpPr>
      <p:sp>
        <p:nvSpPr>
          <p:cNvPr id="2111" name="Google Shape;2111;p26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26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6" name="Shape 2116"/>
        <p:cNvGrpSpPr/>
        <p:nvPr/>
      </p:nvGrpSpPr>
      <p:grpSpPr>
        <a:xfrm>
          <a:off x="0" y="0"/>
          <a:ext cx="0" cy="0"/>
          <a:chOff x="0" y="0"/>
          <a:chExt cx="0" cy="0"/>
        </a:xfrm>
      </p:grpSpPr>
      <p:sp>
        <p:nvSpPr>
          <p:cNvPr id="2117" name="Google Shape;2117;p26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26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2" name="Shape 2122"/>
        <p:cNvGrpSpPr/>
        <p:nvPr/>
      </p:nvGrpSpPr>
      <p:grpSpPr>
        <a:xfrm>
          <a:off x="0" y="0"/>
          <a:ext cx="0" cy="0"/>
          <a:chOff x="0" y="0"/>
          <a:chExt cx="0" cy="0"/>
        </a:xfrm>
      </p:grpSpPr>
      <p:sp>
        <p:nvSpPr>
          <p:cNvPr id="2123" name="Google Shape;2123;p26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26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0" name="Shape 2130"/>
        <p:cNvGrpSpPr/>
        <p:nvPr/>
      </p:nvGrpSpPr>
      <p:grpSpPr>
        <a:xfrm>
          <a:off x="0" y="0"/>
          <a:ext cx="0" cy="0"/>
          <a:chOff x="0" y="0"/>
          <a:chExt cx="0" cy="0"/>
        </a:xfrm>
      </p:grpSpPr>
      <p:sp>
        <p:nvSpPr>
          <p:cNvPr id="2131" name="Google Shape;2131;p26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26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8" name="Shape 2138"/>
        <p:cNvGrpSpPr/>
        <p:nvPr/>
      </p:nvGrpSpPr>
      <p:grpSpPr>
        <a:xfrm>
          <a:off x="0" y="0"/>
          <a:ext cx="0" cy="0"/>
          <a:chOff x="0" y="0"/>
          <a:chExt cx="0" cy="0"/>
        </a:xfrm>
      </p:grpSpPr>
      <p:sp>
        <p:nvSpPr>
          <p:cNvPr id="2139" name="Google Shape;2139;p26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26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6" name="Shape 2146"/>
        <p:cNvGrpSpPr/>
        <p:nvPr/>
      </p:nvGrpSpPr>
      <p:grpSpPr>
        <a:xfrm>
          <a:off x="0" y="0"/>
          <a:ext cx="0" cy="0"/>
          <a:chOff x="0" y="0"/>
          <a:chExt cx="0" cy="0"/>
        </a:xfrm>
      </p:grpSpPr>
      <p:sp>
        <p:nvSpPr>
          <p:cNvPr id="2147" name="Google Shape;2147;p26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26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4" name="Shape 2154"/>
        <p:cNvGrpSpPr/>
        <p:nvPr/>
      </p:nvGrpSpPr>
      <p:grpSpPr>
        <a:xfrm>
          <a:off x="0" y="0"/>
          <a:ext cx="0" cy="0"/>
          <a:chOff x="0" y="0"/>
          <a:chExt cx="0" cy="0"/>
        </a:xfrm>
      </p:grpSpPr>
      <p:sp>
        <p:nvSpPr>
          <p:cNvPr id="2155" name="Google Shape;2155;p27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27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0" name="Shape 2160"/>
        <p:cNvGrpSpPr/>
        <p:nvPr/>
      </p:nvGrpSpPr>
      <p:grpSpPr>
        <a:xfrm>
          <a:off x="0" y="0"/>
          <a:ext cx="0" cy="0"/>
          <a:chOff x="0" y="0"/>
          <a:chExt cx="0" cy="0"/>
        </a:xfrm>
      </p:grpSpPr>
      <p:sp>
        <p:nvSpPr>
          <p:cNvPr id="2161" name="Google Shape;2161;p27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27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6" name="Shape 2166"/>
        <p:cNvGrpSpPr/>
        <p:nvPr/>
      </p:nvGrpSpPr>
      <p:grpSpPr>
        <a:xfrm>
          <a:off x="0" y="0"/>
          <a:ext cx="0" cy="0"/>
          <a:chOff x="0" y="0"/>
          <a:chExt cx="0" cy="0"/>
        </a:xfrm>
      </p:grpSpPr>
      <p:sp>
        <p:nvSpPr>
          <p:cNvPr id="2167" name="Google Shape;2167;p27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27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2" name="Shape 2172"/>
        <p:cNvGrpSpPr/>
        <p:nvPr/>
      </p:nvGrpSpPr>
      <p:grpSpPr>
        <a:xfrm>
          <a:off x="0" y="0"/>
          <a:ext cx="0" cy="0"/>
          <a:chOff x="0" y="0"/>
          <a:chExt cx="0" cy="0"/>
        </a:xfrm>
      </p:grpSpPr>
      <p:sp>
        <p:nvSpPr>
          <p:cNvPr id="2173" name="Google Shape;2173;p27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27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0" name="Shape 2180"/>
        <p:cNvGrpSpPr/>
        <p:nvPr/>
      </p:nvGrpSpPr>
      <p:grpSpPr>
        <a:xfrm>
          <a:off x="0" y="0"/>
          <a:ext cx="0" cy="0"/>
          <a:chOff x="0" y="0"/>
          <a:chExt cx="0" cy="0"/>
        </a:xfrm>
      </p:grpSpPr>
      <p:sp>
        <p:nvSpPr>
          <p:cNvPr id="2181" name="Google Shape;2181;p27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27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8" name="Shape 2188"/>
        <p:cNvGrpSpPr/>
        <p:nvPr/>
      </p:nvGrpSpPr>
      <p:grpSpPr>
        <a:xfrm>
          <a:off x="0" y="0"/>
          <a:ext cx="0" cy="0"/>
          <a:chOff x="0" y="0"/>
          <a:chExt cx="0" cy="0"/>
        </a:xfrm>
      </p:grpSpPr>
      <p:sp>
        <p:nvSpPr>
          <p:cNvPr id="2189" name="Google Shape;2189;p27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27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6" name="Shape 2196"/>
        <p:cNvGrpSpPr/>
        <p:nvPr/>
      </p:nvGrpSpPr>
      <p:grpSpPr>
        <a:xfrm>
          <a:off x="0" y="0"/>
          <a:ext cx="0" cy="0"/>
          <a:chOff x="0" y="0"/>
          <a:chExt cx="0" cy="0"/>
        </a:xfrm>
      </p:grpSpPr>
      <p:sp>
        <p:nvSpPr>
          <p:cNvPr id="2197" name="Google Shape;2197;p27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27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2" name="Shape 2202"/>
        <p:cNvGrpSpPr/>
        <p:nvPr/>
      </p:nvGrpSpPr>
      <p:grpSpPr>
        <a:xfrm>
          <a:off x="0" y="0"/>
          <a:ext cx="0" cy="0"/>
          <a:chOff x="0" y="0"/>
          <a:chExt cx="0" cy="0"/>
        </a:xfrm>
      </p:grpSpPr>
      <p:sp>
        <p:nvSpPr>
          <p:cNvPr id="2203" name="Google Shape;2203;p27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27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9" name="Shape 2209"/>
        <p:cNvGrpSpPr/>
        <p:nvPr/>
      </p:nvGrpSpPr>
      <p:grpSpPr>
        <a:xfrm>
          <a:off x="0" y="0"/>
          <a:ext cx="0" cy="0"/>
          <a:chOff x="0" y="0"/>
          <a:chExt cx="0" cy="0"/>
        </a:xfrm>
      </p:grpSpPr>
      <p:sp>
        <p:nvSpPr>
          <p:cNvPr id="2210" name="Google Shape;2210;p27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27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5" name="Shape 2215"/>
        <p:cNvGrpSpPr/>
        <p:nvPr/>
      </p:nvGrpSpPr>
      <p:grpSpPr>
        <a:xfrm>
          <a:off x="0" y="0"/>
          <a:ext cx="0" cy="0"/>
          <a:chOff x="0" y="0"/>
          <a:chExt cx="0" cy="0"/>
        </a:xfrm>
      </p:grpSpPr>
      <p:sp>
        <p:nvSpPr>
          <p:cNvPr id="2216" name="Google Shape;2216;p27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27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3" name="Shape 2223"/>
        <p:cNvGrpSpPr/>
        <p:nvPr/>
      </p:nvGrpSpPr>
      <p:grpSpPr>
        <a:xfrm>
          <a:off x="0" y="0"/>
          <a:ext cx="0" cy="0"/>
          <a:chOff x="0" y="0"/>
          <a:chExt cx="0" cy="0"/>
        </a:xfrm>
      </p:grpSpPr>
      <p:sp>
        <p:nvSpPr>
          <p:cNvPr id="2224" name="Google Shape;2224;p28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28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2" name="Shape 2232"/>
        <p:cNvGrpSpPr/>
        <p:nvPr/>
      </p:nvGrpSpPr>
      <p:grpSpPr>
        <a:xfrm>
          <a:off x="0" y="0"/>
          <a:ext cx="0" cy="0"/>
          <a:chOff x="0" y="0"/>
          <a:chExt cx="0" cy="0"/>
        </a:xfrm>
      </p:grpSpPr>
      <p:sp>
        <p:nvSpPr>
          <p:cNvPr id="2233" name="Google Shape;2233;p28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28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0" name="Shape 2240"/>
        <p:cNvGrpSpPr/>
        <p:nvPr/>
      </p:nvGrpSpPr>
      <p:grpSpPr>
        <a:xfrm>
          <a:off x="0" y="0"/>
          <a:ext cx="0" cy="0"/>
          <a:chOff x="0" y="0"/>
          <a:chExt cx="0" cy="0"/>
        </a:xfrm>
      </p:grpSpPr>
      <p:sp>
        <p:nvSpPr>
          <p:cNvPr id="2241" name="Google Shape;2241;p28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28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6" name="Shape 2246"/>
        <p:cNvGrpSpPr/>
        <p:nvPr/>
      </p:nvGrpSpPr>
      <p:grpSpPr>
        <a:xfrm>
          <a:off x="0" y="0"/>
          <a:ext cx="0" cy="0"/>
          <a:chOff x="0" y="0"/>
          <a:chExt cx="0" cy="0"/>
        </a:xfrm>
      </p:grpSpPr>
      <p:sp>
        <p:nvSpPr>
          <p:cNvPr id="2247" name="Google Shape;2247;p28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28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2" name="Shape 2252"/>
        <p:cNvGrpSpPr/>
        <p:nvPr/>
      </p:nvGrpSpPr>
      <p:grpSpPr>
        <a:xfrm>
          <a:off x="0" y="0"/>
          <a:ext cx="0" cy="0"/>
          <a:chOff x="0" y="0"/>
          <a:chExt cx="0" cy="0"/>
        </a:xfrm>
      </p:grpSpPr>
      <p:sp>
        <p:nvSpPr>
          <p:cNvPr id="2253" name="Google Shape;2253;p28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28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8" name="Shape 2258"/>
        <p:cNvGrpSpPr/>
        <p:nvPr/>
      </p:nvGrpSpPr>
      <p:grpSpPr>
        <a:xfrm>
          <a:off x="0" y="0"/>
          <a:ext cx="0" cy="0"/>
          <a:chOff x="0" y="0"/>
          <a:chExt cx="0" cy="0"/>
        </a:xfrm>
      </p:grpSpPr>
      <p:sp>
        <p:nvSpPr>
          <p:cNvPr id="2259" name="Google Shape;2259;p28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28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6" name="Shape 2266"/>
        <p:cNvGrpSpPr/>
        <p:nvPr/>
      </p:nvGrpSpPr>
      <p:grpSpPr>
        <a:xfrm>
          <a:off x="0" y="0"/>
          <a:ext cx="0" cy="0"/>
          <a:chOff x="0" y="0"/>
          <a:chExt cx="0" cy="0"/>
        </a:xfrm>
      </p:grpSpPr>
      <p:sp>
        <p:nvSpPr>
          <p:cNvPr id="2267" name="Google Shape;2267;p28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28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4" name="Shape 2274"/>
        <p:cNvGrpSpPr/>
        <p:nvPr/>
      </p:nvGrpSpPr>
      <p:grpSpPr>
        <a:xfrm>
          <a:off x="0" y="0"/>
          <a:ext cx="0" cy="0"/>
          <a:chOff x="0" y="0"/>
          <a:chExt cx="0" cy="0"/>
        </a:xfrm>
      </p:grpSpPr>
      <p:sp>
        <p:nvSpPr>
          <p:cNvPr id="2275" name="Google Shape;2275;p28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28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2" name="Shape 2282"/>
        <p:cNvGrpSpPr/>
        <p:nvPr/>
      </p:nvGrpSpPr>
      <p:grpSpPr>
        <a:xfrm>
          <a:off x="0" y="0"/>
          <a:ext cx="0" cy="0"/>
          <a:chOff x="0" y="0"/>
          <a:chExt cx="0" cy="0"/>
        </a:xfrm>
      </p:grpSpPr>
      <p:sp>
        <p:nvSpPr>
          <p:cNvPr id="2283" name="Google Shape;2283;p28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28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8" name="Shape 2288"/>
        <p:cNvGrpSpPr/>
        <p:nvPr/>
      </p:nvGrpSpPr>
      <p:grpSpPr>
        <a:xfrm>
          <a:off x="0" y="0"/>
          <a:ext cx="0" cy="0"/>
          <a:chOff x="0" y="0"/>
          <a:chExt cx="0" cy="0"/>
        </a:xfrm>
      </p:grpSpPr>
      <p:sp>
        <p:nvSpPr>
          <p:cNvPr id="2289" name="Google Shape;2289;p28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28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6" name="Shape 2296"/>
        <p:cNvGrpSpPr/>
        <p:nvPr/>
      </p:nvGrpSpPr>
      <p:grpSpPr>
        <a:xfrm>
          <a:off x="0" y="0"/>
          <a:ext cx="0" cy="0"/>
          <a:chOff x="0" y="0"/>
          <a:chExt cx="0" cy="0"/>
        </a:xfrm>
      </p:grpSpPr>
      <p:sp>
        <p:nvSpPr>
          <p:cNvPr id="2297" name="Google Shape;2297;p29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29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4" name="Shape 2304"/>
        <p:cNvGrpSpPr/>
        <p:nvPr/>
      </p:nvGrpSpPr>
      <p:grpSpPr>
        <a:xfrm>
          <a:off x="0" y="0"/>
          <a:ext cx="0" cy="0"/>
          <a:chOff x="0" y="0"/>
          <a:chExt cx="0" cy="0"/>
        </a:xfrm>
      </p:grpSpPr>
      <p:sp>
        <p:nvSpPr>
          <p:cNvPr id="2305" name="Google Shape;2305;p29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29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2" name="Shape 2312"/>
        <p:cNvGrpSpPr/>
        <p:nvPr/>
      </p:nvGrpSpPr>
      <p:grpSpPr>
        <a:xfrm>
          <a:off x="0" y="0"/>
          <a:ext cx="0" cy="0"/>
          <a:chOff x="0" y="0"/>
          <a:chExt cx="0" cy="0"/>
        </a:xfrm>
      </p:grpSpPr>
      <p:sp>
        <p:nvSpPr>
          <p:cNvPr id="2313" name="Google Shape;2313;p29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29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0" name="Shape 2320"/>
        <p:cNvGrpSpPr/>
        <p:nvPr/>
      </p:nvGrpSpPr>
      <p:grpSpPr>
        <a:xfrm>
          <a:off x="0" y="0"/>
          <a:ext cx="0" cy="0"/>
          <a:chOff x="0" y="0"/>
          <a:chExt cx="0" cy="0"/>
        </a:xfrm>
      </p:grpSpPr>
      <p:sp>
        <p:nvSpPr>
          <p:cNvPr id="2321" name="Google Shape;2321;p29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29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8" name="Shape 2328"/>
        <p:cNvGrpSpPr/>
        <p:nvPr/>
      </p:nvGrpSpPr>
      <p:grpSpPr>
        <a:xfrm>
          <a:off x="0" y="0"/>
          <a:ext cx="0" cy="0"/>
          <a:chOff x="0" y="0"/>
          <a:chExt cx="0" cy="0"/>
        </a:xfrm>
      </p:grpSpPr>
      <p:sp>
        <p:nvSpPr>
          <p:cNvPr id="2329" name="Google Shape;2329;p29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29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4" name="Shape 2334"/>
        <p:cNvGrpSpPr/>
        <p:nvPr/>
      </p:nvGrpSpPr>
      <p:grpSpPr>
        <a:xfrm>
          <a:off x="0" y="0"/>
          <a:ext cx="0" cy="0"/>
          <a:chOff x="0" y="0"/>
          <a:chExt cx="0" cy="0"/>
        </a:xfrm>
      </p:grpSpPr>
      <p:sp>
        <p:nvSpPr>
          <p:cNvPr id="2335" name="Google Shape;2335;p29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29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1" name="Shape 2341"/>
        <p:cNvGrpSpPr/>
        <p:nvPr/>
      </p:nvGrpSpPr>
      <p:grpSpPr>
        <a:xfrm>
          <a:off x="0" y="0"/>
          <a:ext cx="0" cy="0"/>
          <a:chOff x="0" y="0"/>
          <a:chExt cx="0" cy="0"/>
        </a:xfrm>
      </p:grpSpPr>
      <p:sp>
        <p:nvSpPr>
          <p:cNvPr id="2342" name="Google Shape;2342;p29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29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9" name="Shape 2349"/>
        <p:cNvGrpSpPr/>
        <p:nvPr/>
      </p:nvGrpSpPr>
      <p:grpSpPr>
        <a:xfrm>
          <a:off x="0" y="0"/>
          <a:ext cx="0" cy="0"/>
          <a:chOff x="0" y="0"/>
          <a:chExt cx="0" cy="0"/>
        </a:xfrm>
      </p:grpSpPr>
      <p:sp>
        <p:nvSpPr>
          <p:cNvPr id="2350" name="Google Shape;2350;p29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29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7" name="Shape 2357"/>
        <p:cNvGrpSpPr/>
        <p:nvPr/>
      </p:nvGrpSpPr>
      <p:grpSpPr>
        <a:xfrm>
          <a:off x="0" y="0"/>
          <a:ext cx="0" cy="0"/>
          <a:chOff x="0" y="0"/>
          <a:chExt cx="0" cy="0"/>
        </a:xfrm>
      </p:grpSpPr>
      <p:sp>
        <p:nvSpPr>
          <p:cNvPr id="2358" name="Google Shape;2358;p29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29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6" name="Shape 2366"/>
        <p:cNvGrpSpPr/>
        <p:nvPr/>
      </p:nvGrpSpPr>
      <p:grpSpPr>
        <a:xfrm>
          <a:off x="0" y="0"/>
          <a:ext cx="0" cy="0"/>
          <a:chOff x="0" y="0"/>
          <a:chExt cx="0" cy="0"/>
        </a:xfrm>
      </p:grpSpPr>
      <p:sp>
        <p:nvSpPr>
          <p:cNvPr id="2367" name="Google Shape;2367;p29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29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15.png"/><Relationship Id="rId6" Type="http://schemas.openxmlformats.org/officeDocument/2006/relationships/image" Target="../media/image9.jpg"/><Relationship Id="rId7" Type="http://schemas.openxmlformats.org/officeDocument/2006/relationships/image" Target="../media/image17.png"/><Relationship Id="rId8" Type="http://schemas.openxmlformats.org/officeDocument/2006/relationships/image" Target="../media/image8.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301"/>
          <p:cNvSpPr txBox="1"/>
          <p:nvPr>
            <p:ph type="title"/>
          </p:nvPr>
        </p:nvSpPr>
        <p:spPr>
          <a:xfrm>
            <a:off x="802005" y="636905"/>
            <a:ext cx="10587989" cy="167195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600">
                <a:solidFill>
                  <a:srgbClr val="252525"/>
                </a:solidFill>
                <a:latin typeface="Garamond"/>
                <a:ea typeface="Garamond"/>
                <a:cs typeface="Garamond"/>
                <a:sym typeface="Garamon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01"/>
          <p:cNvSpPr txBox="1"/>
          <p:nvPr>
            <p:ph idx="1" type="body"/>
          </p:nvPr>
        </p:nvSpPr>
        <p:spPr>
          <a:xfrm>
            <a:off x="1375028" y="2402586"/>
            <a:ext cx="9363075" cy="308737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1" i="0" sz="2750">
                <a:solidFill>
                  <a:srgbClr val="252525"/>
                </a:solidFill>
                <a:latin typeface="Garamond"/>
                <a:ea typeface="Garamond"/>
                <a:cs typeface="Garamond"/>
                <a:sym typeface="Garamond"/>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 name="Google Shape;18;p30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0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0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lvl1pPr indent="0" lvl="0" marL="133350">
              <a:lnSpc>
                <a:spcPct val="118947"/>
              </a:lnSpc>
              <a:spcBef>
                <a:spcPts val="0"/>
              </a:spcBef>
              <a:buNone/>
              <a:defRPr b="0" i="0" sz="950">
                <a:solidFill>
                  <a:schemeClr val="dk1"/>
                </a:solidFill>
                <a:latin typeface="Garamond"/>
                <a:ea typeface="Garamond"/>
                <a:cs typeface="Garamond"/>
                <a:sym typeface="Garamond"/>
              </a:defRPr>
            </a:lvl1pPr>
            <a:lvl2pPr indent="0" lvl="1" marL="133350">
              <a:lnSpc>
                <a:spcPct val="118947"/>
              </a:lnSpc>
              <a:spcBef>
                <a:spcPts val="0"/>
              </a:spcBef>
              <a:buNone/>
              <a:defRPr b="0" i="0" sz="950">
                <a:solidFill>
                  <a:schemeClr val="dk1"/>
                </a:solidFill>
                <a:latin typeface="Garamond"/>
                <a:ea typeface="Garamond"/>
                <a:cs typeface="Garamond"/>
                <a:sym typeface="Garamond"/>
              </a:defRPr>
            </a:lvl2pPr>
            <a:lvl3pPr indent="0" lvl="2" marL="133350">
              <a:lnSpc>
                <a:spcPct val="118947"/>
              </a:lnSpc>
              <a:spcBef>
                <a:spcPts val="0"/>
              </a:spcBef>
              <a:buNone/>
              <a:defRPr b="0" i="0" sz="950">
                <a:solidFill>
                  <a:schemeClr val="dk1"/>
                </a:solidFill>
                <a:latin typeface="Garamond"/>
                <a:ea typeface="Garamond"/>
                <a:cs typeface="Garamond"/>
                <a:sym typeface="Garamond"/>
              </a:defRPr>
            </a:lvl3pPr>
            <a:lvl4pPr indent="0" lvl="3" marL="133350">
              <a:lnSpc>
                <a:spcPct val="118947"/>
              </a:lnSpc>
              <a:spcBef>
                <a:spcPts val="0"/>
              </a:spcBef>
              <a:buNone/>
              <a:defRPr b="0" i="0" sz="950">
                <a:solidFill>
                  <a:schemeClr val="dk1"/>
                </a:solidFill>
                <a:latin typeface="Garamond"/>
                <a:ea typeface="Garamond"/>
                <a:cs typeface="Garamond"/>
                <a:sym typeface="Garamond"/>
              </a:defRPr>
            </a:lvl4pPr>
            <a:lvl5pPr indent="0" lvl="4" marL="133350">
              <a:lnSpc>
                <a:spcPct val="118947"/>
              </a:lnSpc>
              <a:spcBef>
                <a:spcPts val="0"/>
              </a:spcBef>
              <a:buNone/>
              <a:defRPr b="0" i="0" sz="950">
                <a:solidFill>
                  <a:schemeClr val="dk1"/>
                </a:solidFill>
                <a:latin typeface="Garamond"/>
                <a:ea typeface="Garamond"/>
                <a:cs typeface="Garamond"/>
                <a:sym typeface="Garamond"/>
              </a:defRPr>
            </a:lvl5pPr>
            <a:lvl6pPr indent="0" lvl="5" marL="133350">
              <a:lnSpc>
                <a:spcPct val="118947"/>
              </a:lnSpc>
              <a:spcBef>
                <a:spcPts val="0"/>
              </a:spcBef>
              <a:buNone/>
              <a:defRPr b="0" i="0" sz="950">
                <a:solidFill>
                  <a:schemeClr val="dk1"/>
                </a:solidFill>
                <a:latin typeface="Garamond"/>
                <a:ea typeface="Garamond"/>
                <a:cs typeface="Garamond"/>
                <a:sym typeface="Garamond"/>
              </a:defRPr>
            </a:lvl6pPr>
            <a:lvl7pPr indent="0" lvl="6" marL="133350">
              <a:lnSpc>
                <a:spcPct val="118947"/>
              </a:lnSpc>
              <a:spcBef>
                <a:spcPts val="0"/>
              </a:spcBef>
              <a:buNone/>
              <a:defRPr b="0" i="0" sz="950">
                <a:solidFill>
                  <a:schemeClr val="dk1"/>
                </a:solidFill>
                <a:latin typeface="Garamond"/>
                <a:ea typeface="Garamond"/>
                <a:cs typeface="Garamond"/>
                <a:sym typeface="Garamond"/>
              </a:defRPr>
            </a:lvl7pPr>
            <a:lvl8pPr indent="0" lvl="7" marL="133350">
              <a:lnSpc>
                <a:spcPct val="118947"/>
              </a:lnSpc>
              <a:spcBef>
                <a:spcPts val="0"/>
              </a:spcBef>
              <a:buNone/>
              <a:defRPr b="0" i="0" sz="950">
                <a:solidFill>
                  <a:schemeClr val="dk1"/>
                </a:solidFill>
                <a:latin typeface="Garamond"/>
                <a:ea typeface="Garamond"/>
                <a:cs typeface="Garamond"/>
                <a:sym typeface="Garamond"/>
              </a:defRPr>
            </a:lvl8pPr>
            <a:lvl9pPr indent="0" lvl="8" marL="133350">
              <a:lnSpc>
                <a:spcPct val="118947"/>
              </a:lnSpc>
              <a:spcBef>
                <a:spcPts val="0"/>
              </a:spcBef>
              <a:buNone/>
              <a:defRPr b="0" i="0" sz="950">
                <a:solidFill>
                  <a:schemeClr val="dk1"/>
                </a:solidFill>
                <a:latin typeface="Garamond"/>
                <a:ea typeface="Garamond"/>
                <a:cs typeface="Garamond"/>
                <a:sym typeface="Garamond"/>
              </a:defRPr>
            </a:lvl9pPr>
          </a:lstStyle>
          <a:p>
            <a:pPr indent="0" lvl="0" marL="13335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1" name="Shape 21"/>
        <p:cNvGrpSpPr/>
        <p:nvPr/>
      </p:nvGrpSpPr>
      <p:grpSpPr>
        <a:xfrm>
          <a:off x="0" y="0"/>
          <a:ext cx="0" cy="0"/>
          <a:chOff x="0" y="0"/>
          <a:chExt cx="0" cy="0"/>
        </a:xfrm>
      </p:grpSpPr>
      <p:sp>
        <p:nvSpPr>
          <p:cNvPr id="22" name="Google Shape;22;p30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0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0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lvl1pPr indent="0" lvl="0" marL="133350">
              <a:lnSpc>
                <a:spcPct val="118947"/>
              </a:lnSpc>
              <a:spcBef>
                <a:spcPts val="0"/>
              </a:spcBef>
              <a:buNone/>
              <a:defRPr b="0" i="0" sz="950">
                <a:solidFill>
                  <a:schemeClr val="dk1"/>
                </a:solidFill>
                <a:latin typeface="Garamond"/>
                <a:ea typeface="Garamond"/>
                <a:cs typeface="Garamond"/>
                <a:sym typeface="Garamond"/>
              </a:defRPr>
            </a:lvl1pPr>
            <a:lvl2pPr indent="0" lvl="1" marL="133350">
              <a:lnSpc>
                <a:spcPct val="118947"/>
              </a:lnSpc>
              <a:spcBef>
                <a:spcPts val="0"/>
              </a:spcBef>
              <a:buNone/>
              <a:defRPr b="0" i="0" sz="950">
                <a:solidFill>
                  <a:schemeClr val="dk1"/>
                </a:solidFill>
                <a:latin typeface="Garamond"/>
                <a:ea typeface="Garamond"/>
                <a:cs typeface="Garamond"/>
                <a:sym typeface="Garamond"/>
              </a:defRPr>
            </a:lvl2pPr>
            <a:lvl3pPr indent="0" lvl="2" marL="133350">
              <a:lnSpc>
                <a:spcPct val="118947"/>
              </a:lnSpc>
              <a:spcBef>
                <a:spcPts val="0"/>
              </a:spcBef>
              <a:buNone/>
              <a:defRPr b="0" i="0" sz="950">
                <a:solidFill>
                  <a:schemeClr val="dk1"/>
                </a:solidFill>
                <a:latin typeface="Garamond"/>
                <a:ea typeface="Garamond"/>
                <a:cs typeface="Garamond"/>
                <a:sym typeface="Garamond"/>
              </a:defRPr>
            </a:lvl3pPr>
            <a:lvl4pPr indent="0" lvl="3" marL="133350">
              <a:lnSpc>
                <a:spcPct val="118947"/>
              </a:lnSpc>
              <a:spcBef>
                <a:spcPts val="0"/>
              </a:spcBef>
              <a:buNone/>
              <a:defRPr b="0" i="0" sz="950">
                <a:solidFill>
                  <a:schemeClr val="dk1"/>
                </a:solidFill>
                <a:latin typeface="Garamond"/>
                <a:ea typeface="Garamond"/>
                <a:cs typeface="Garamond"/>
                <a:sym typeface="Garamond"/>
              </a:defRPr>
            </a:lvl4pPr>
            <a:lvl5pPr indent="0" lvl="4" marL="133350">
              <a:lnSpc>
                <a:spcPct val="118947"/>
              </a:lnSpc>
              <a:spcBef>
                <a:spcPts val="0"/>
              </a:spcBef>
              <a:buNone/>
              <a:defRPr b="0" i="0" sz="950">
                <a:solidFill>
                  <a:schemeClr val="dk1"/>
                </a:solidFill>
                <a:latin typeface="Garamond"/>
                <a:ea typeface="Garamond"/>
                <a:cs typeface="Garamond"/>
                <a:sym typeface="Garamond"/>
              </a:defRPr>
            </a:lvl5pPr>
            <a:lvl6pPr indent="0" lvl="5" marL="133350">
              <a:lnSpc>
                <a:spcPct val="118947"/>
              </a:lnSpc>
              <a:spcBef>
                <a:spcPts val="0"/>
              </a:spcBef>
              <a:buNone/>
              <a:defRPr b="0" i="0" sz="950">
                <a:solidFill>
                  <a:schemeClr val="dk1"/>
                </a:solidFill>
                <a:latin typeface="Garamond"/>
                <a:ea typeface="Garamond"/>
                <a:cs typeface="Garamond"/>
                <a:sym typeface="Garamond"/>
              </a:defRPr>
            </a:lvl6pPr>
            <a:lvl7pPr indent="0" lvl="6" marL="133350">
              <a:lnSpc>
                <a:spcPct val="118947"/>
              </a:lnSpc>
              <a:spcBef>
                <a:spcPts val="0"/>
              </a:spcBef>
              <a:buNone/>
              <a:defRPr b="0" i="0" sz="950">
                <a:solidFill>
                  <a:schemeClr val="dk1"/>
                </a:solidFill>
                <a:latin typeface="Garamond"/>
                <a:ea typeface="Garamond"/>
                <a:cs typeface="Garamond"/>
                <a:sym typeface="Garamond"/>
              </a:defRPr>
            </a:lvl7pPr>
            <a:lvl8pPr indent="0" lvl="7" marL="133350">
              <a:lnSpc>
                <a:spcPct val="118947"/>
              </a:lnSpc>
              <a:spcBef>
                <a:spcPts val="0"/>
              </a:spcBef>
              <a:buNone/>
              <a:defRPr b="0" i="0" sz="950">
                <a:solidFill>
                  <a:schemeClr val="dk1"/>
                </a:solidFill>
                <a:latin typeface="Garamond"/>
                <a:ea typeface="Garamond"/>
                <a:cs typeface="Garamond"/>
                <a:sym typeface="Garamond"/>
              </a:defRPr>
            </a:lvl8pPr>
            <a:lvl9pPr indent="0" lvl="8" marL="133350">
              <a:lnSpc>
                <a:spcPct val="118947"/>
              </a:lnSpc>
              <a:spcBef>
                <a:spcPts val="0"/>
              </a:spcBef>
              <a:buNone/>
              <a:defRPr b="0" i="0" sz="950">
                <a:solidFill>
                  <a:schemeClr val="dk1"/>
                </a:solidFill>
                <a:latin typeface="Garamond"/>
                <a:ea typeface="Garamond"/>
                <a:cs typeface="Garamond"/>
                <a:sym typeface="Garamond"/>
              </a:defRPr>
            </a:lvl9pPr>
          </a:lstStyle>
          <a:p>
            <a:pPr indent="0" lvl="0" marL="13335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bg>
      <p:bgPr>
        <a:solidFill>
          <a:schemeClr val="lt1"/>
        </a:solidFill>
      </p:bgPr>
    </p:bg>
    <p:spTree>
      <p:nvGrpSpPr>
        <p:cNvPr id="25" name="Shape 25"/>
        <p:cNvGrpSpPr/>
        <p:nvPr/>
      </p:nvGrpSpPr>
      <p:grpSpPr>
        <a:xfrm>
          <a:off x="0" y="0"/>
          <a:ext cx="0" cy="0"/>
          <a:chOff x="0" y="0"/>
          <a:chExt cx="0" cy="0"/>
        </a:xfrm>
      </p:grpSpPr>
      <p:pic>
        <p:nvPicPr>
          <p:cNvPr id="26" name="Google Shape;26;p303"/>
          <p:cNvPicPr preferRelativeResize="0"/>
          <p:nvPr/>
        </p:nvPicPr>
        <p:blipFill rotWithShape="1">
          <a:blip r:embed="rId2">
            <a:alphaModFix/>
          </a:blip>
          <a:srcRect b="0" l="0" r="0" t="0"/>
          <a:stretch/>
        </p:blipFill>
        <p:spPr>
          <a:xfrm>
            <a:off x="0" y="0"/>
            <a:ext cx="12192000" cy="6857999"/>
          </a:xfrm>
          <a:prstGeom prst="rect">
            <a:avLst/>
          </a:prstGeom>
          <a:noFill/>
          <a:ln>
            <a:noFill/>
          </a:ln>
        </p:spPr>
      </p:pic>
      <p:sp>
        <p:nvSpPr>
          <p:cNvPr id="27" name="Google Shape;27;p303"/>
          <p:cNvSpPr/>
          <p:nvPr/>
        </p:nvSpPr>
        <p:spPr>
          <a:xfrm>
            <a:off x="609599" y="609600"/>
            <a:ext cx="10972800" cy="5638800"/>
          </a:xfrm>
          <a:custGeom>
            <a:rect b="b" l="l" r="r" t="t"/>
            <a:pathLst>
              <a:path extrusionOk="0" h="5638800" w="10972800">
                <a:moveTo>
                  <a:pt x="0" y="5638800"/>
                </a:moveTo>
                <a:lnTo>
                  <a:pt x="10972800" y="5638800"/>
                </a:lnTo>
                <a:lnTo>
                  <a:pt x="10972800" y="0"/>
                </a:lnTo>
                <a:lnTo>
                  <a:pt x="0" y="0"/>
                </a:lnTo>
                <a:lnTo>
                  <a:pt x="0" y="5638800"/>
                </a:lnTo>
                <a:close/>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8" name="Google Shape;28;p303"/>
          <p:cNvPicPr preferRelativeResize="0"/>
          <p:nvPr/>
        </p:nvPicPr>
        <p:blipFill rotWithShape="1">
          <a:blip r:embed="rId3">
            <a:alphaModFix/>
          </a:blip>
          <a:srcRect b="0" l="0" r="0" t="0"/>
          <a:stretch/>
        </p:blipFill>
        <p:spPr>
          <a:xfrm>
            <a:off x="0" y="3152775"/>
            <a:ext cx="761999" cy="609600"/>
          </a:xfrm>
          <a:prstGeom prst="rect">
            <a:avLst/>
          </a:prstGeom>
          <a:noFill/>
          <a:ln>
            <a:noFill/>
          </a:ln>
        </p:spPr>
      </p:pic>
      <p:pic>
        <p:nvPicPr>
          <p:cNvPr id="29" name="Google Shape;29;p303"/>
          <p:cNvPicPr preferRelativeResize="0"/>
          <p:nvPr/>
        </p:nvPicPr>
        <p:blipFill rotWithShape="1">
          <a:blip r:embed="rId4">
            <a:alphaModFix/>
          </a:blip>
          <a:srcRect b="0" l="0" r="0" t="0"/>
          <a:stretch/>
        </p:blipFill>
        <p:spPr>
          <a:xfrm>
            <a:off x="11439525" y="3152775"/>
            <a:ext cx="752475" cy="609600"/>
          </a:xfrm>
          <a:prstGeom prst="rect">
            <a:avLst/>
          </a:prstGeom>
          <a:noFill/>
          <a:ln>
            <a:noFill/>
          </a:ln>
        </p:spPr>
      </p:pic>
      <p:pic>
        <p:nvPicPr>
          <p:cNvPr id="30" name="Google Shape;30;p303"/>
          <p:cNvPicPr preferRelativeResize="0"/>
          <p:nvPr/>
        </p:nvPicPr>
        <p:blipFill rotWithShape="1">
          <a:blip r:embed="rId5">
            <a:alphaModFix/>
          </a:blip>
          <a:srcRect b="0" l="0" r="0" t="0"/>
          <a:stretch/>
        </p:blipFill>
        <p:spPr>
          <a:xfrm>
            <a:off x="7896225" y="0"/>
            <a:ext cx="1314577" cy="1466850"/>
          </a:xfrm>
          <a:prstGeom prst="rect">
            <a:avLst/>
          </a:prstGeom>
          <a:noFill/>
          <a:ln>
            <a:noFill/>
          </a:ln>
        </p:spPr>
      </p:pic>
      <p:pic>
        <p:nvPicPr>
          <p:cNvPr id="31" name="Google Shape;31;p303"/>
          <p:cNvPicPr preferRelativeResize="0"/>
          <p:nvPr/>
        </p:nvPicPr>
        <p:blipFill rotWithShape="1">
          <a:blip r:embed="rId6">
            <a:alphaModFix/>
          </a:blip>
          <a:srcRect b="0" l="0" r="0" t="0"/>
          <a:stretch/>
        </p:blipFill>
        <p:spPr>
          <a:xfrm>
            <a:off x="8105775" y="47625"/>
            <a:ext cx="714375" cy="1028700"/>
          </a:xfrm>
          <a:prstGeom prst="rect">
            <a:avLst/>
          </a:prstGeom>
          <a:noFill/>
          <a:ln>
            <a:noFill/>
          </a:ln>
        </p:spPr>
      </p:pic>
      <p:pic>
        <p:nvPicPr>
          <p:cNvPr id="32" name="Google Shape;32;p303"/>
          <p:cNvPicPr preferRelativeResize="0"/>
          <p:nvPr/>
        </p:nvPicPr>
        <p:blipFill rotWithShape="1">
          <a:blip r:embed="rId7">
            <a:alphaModFix/>
          </a:blip>
          <a:srcRect b="0" l="0" r="0" t="0"/>
          <a:stretch/>
        </p:blipFill>
        <p:spPr>
          <a:xfrm>
            <a:off x="2886074" y="0"/>
            <a:ext cx="1409827" cy="1466850"/>
          </a:xfrm>
          <a:prstGeom prst="rect">
            <a:avLst/>
          </a:prstGeom>
          <a:noFill/>
          <a:ln>
            <a:noFill/>
          </a:ln>
        </p:spPr>
      </p:pic>
      <p:pic>
        <p:nvPicPr>
          <p:cNvPr id="33" name="Google Shape;33;p303"/>
          <p:cNvPicPr preferRelativeResize="0"/>
          <p:nvPr/>
        </p:nvPicPr>
        <p:blipFill rotWithShape="1">
          <a:blip r:embed="rId8">
            <a:alphaModFix/>
          </a:blip>
          <a:srcRect b="0" l="0" r="0" t="0"/>
          <a:stretch/>
        </p:blipFill>
        <p:spPr>
          <a:xfrm>
            <a:off x="3095624" y="66675"/>
            <a:ext cx="809625" cy="1009650"/>
          </a:xfrm>
          <a:prstGeom prst="rect">
            <a:avLst/>
          </a:prstGeom>
          <a:noFill/>
          <a:ln>
            <a:noFill/>
          </a:ln>
        </p:spPr>
      </p:pic>
      <p:sp>
        <p:nvSpPr>
          <p:cNvPr id="34" name="Google Shape;34;p303"/>
          <p:cNvSpPr/>
          <p:nvPr/>
        </p:nvSpPr>
        <p:spPr>
          <a:xfrm>
            <a:off x="727189" y="1073022"/>
            <a:ext cx="10634980" cy="701040"/>
          </a:xfrm>
          <a:custGeom>
            <a:rect b="b" l="l" r="r" t="t"/>
            <a:pathLst>
              <a:path extrusionOk="0" h="701039" w="10634980">
                <a:moveTo>
                  <a:pt x="4982337" y="0"/>
                </a:moveTo>
                <a:lnTo>
                  <a:pt x="0" y="0"/>
                </a:lnTo>
                <a:lnTo>
                  <a:pt x="0" y="701040"/>
                </a:lnTo>
                <a:lnTo>
                  <a:pt x="4982337" y="701040"/>
                </a:lnTo>
                <a:lnTo>
                  <a:pt x="4982337" y="0"/>
                </a:lnTo>
                <a:close/>
              </a:path>
              <a:path extrusionOk="0" h="701039" w="10634980">
                <a:moveTo>
                  <a:pt x="10634612" y="0"/>
                </a:moveTo>
                <a:lnTo>
                  <a:pt x="4982349" y="0"/>
                </a:lnTo>
                <a:lnTo>
                  <a:pt x="4982349" y="701040"/>
                </a:lnTo>
                <a:lnTo>
                  <a:pt x="10634612" y="701040"/>
                </a:lnTo>
                <a:lnTo>
                  <a:pt x="10634612" y="0"/>
                </a:lnTo>
                <a:close/>
              </a:path>
            </a:pathLst>
          </a:custGeom>
          <a:solidFill>
            <a:srgbClr val="A13B3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5" name="Google Shape;35;p303"/>
          <p:cNvSpPr/>
          <p:nvPr/>
        </p:nvSpPr>
        <p:spPr>
          <a:xfrm>
            <a:off x="727189" y="1774062"/>
            <a:ext cx="10634980" cy="2286000"/>
          </a:xfrm>
          <a:custGeom>
            <a:rect b="b" l="l" r="r" t="t"/>
            <a:pathLst>
              <a:path extrusionOk="0" h="2286000" w="10634980">
                <a:moveTo>
                  <a:pt x="4982337" y="0"/>
                </a:moveTo>
                <a:lnTo>
                  <a:pt x="0" y="0"/>
                </a:lnTo>
                <a:lnTo>
                  <a:pt x="0" y="2286000"/>
                </a:lnTo>
                <a:lnTo>
                  <a:pt x="4982337" y="2286000"/>
                </a:lnTo>
                <a:lnTo>
                  <a:pt x="4982337" y="0"/>
                </a:lnTo>
                <a:close/>
              </a:path>
              <a:path extrusionOk="0" h="2286000" w="10634980">
                <a:moveTo>
                  <a:pt x="10634612" y="0"/>
                </a:moveTo>
                <a:lnTo>
                  <a:pt x="4982349" y="0"/>
                </a:lnTo>
                <a:lnTo>
                  <a:pt x="4982349" y="2286000"/>
                </a:lnTo>
                <a:lnTo>
                  <a:pt x="10634612" y="2286000"/>
                </a:lnTo>
                <a:lnTo>
                  <a:pt x="10634612" y="0"/>
                </a:lnTo>
                <a:close/>
              </a:path>
            </a:pathLst>
          </a:custGeom>
          <a:solidFill>
            <a:srgbClr val="DFCEC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6" name="Google Shape;36;p303"/>
          <p:cNvSpPr/>
          <p:nvPr/>
        </p:nvSpPr>
        <p:spPr>
          <a:xfrm>
            <a:off x="727189" y="4060050"/>
            <a:ext cx="10634980" cy="704215"/>
          </a:xfrm>
          <a:custGeom>
            <a:rect b="b" l="l" r="r" t="t"/>
            <a:pathLst>
              <a:path extrusionOk="0" h="704214" w="10634980">
                <a:moveTo>
                  <a:pt x="4982337" y="0"/>
                </a:moveTo>
                <a:lnTo>
                  <a:pt x="0" y="0"/>
                </a:lnTo>
                <a:lnTo>
                  <a:pt x="0" y="703592"/>
                </a:lnTo>
                <a:lnTo>
                  <a:pt x="4982337" y="703592"/>
                </a:lnTo>
                <a:lnTo>
                  <a:pt x="4982337" y="0"/>
                </a:lnTo>
                <a:close/>
              </a:path>
              <a:path extrusionOk="0" h="704214" w="10634980">
                <a:moveTo>
                  <a:pt x="10634612" y="0"/>
                </a:moveTo>
                <a:lnTo>
                  <a:pt x="4982349" y="0"/>
                </a:lnTo>
                <a:lnTo>
                  <a:pt x="4982349" y="703592"/>
                </a:lnTo>
                <a:lnTo>
                  <a:pt x="10634612" y="703592"/>
                </a:lnTo>
                <a:lnTo>
                  <a:pt x="10634612" y="0"/>
                </a:lnTo>
                <a:close/>
              </a:path>
            </a:pathLst>
          </a:custGeom>
          <a:solidFill>
            <a:srgbClr val="EFE8E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7" name="Google Shape;37;p303"/>
          <p:cNvSpPr/>
          <p:nvPr/>
        </p:nvSpPr>
        <p:spPr>
          <a:xfrm>
            <a:off x="727189" y="4763642"/>
            <a:ext cx="10634980" cy="640080"/>
          </a:xfrm>
          <a:custGeom>
            <a:rect b="b" l="l" r="r" t="t"/>
            <a:pathLst>
              <a:path extrusionOk="0" h="640079" w="10634980">
                <a:moveTo>
                  <a:pt x="4982337" y="0"/>
                </a:moveTo>
                <a:lnTo>
                  <a:pt x="0" y="0"/>
                </a:lnTo>
                <a:lnTo>
                  <a:pt x="0" y="640080"/>
                </a:lnTo>
                <a:lnTo>
                  <a:pt x="4982337" y="640080"/>
                </a:lnTo>
                <a:lnTo>
                  <a:pt x="4982337" y="0"/>
                </a:lnTo>
                <a:close/>
              </a:path>
              <a:path extrusionOk="0" h="640079" w="10634980">
                <a:moveTo>
                  <a:pt x="10634612" y="0"/>
                </a:moveTo>
                <a:lnTo>
                  <a:pt x="4982349" y="0"/>
                </a:lnTo>
                <a:lnTo>
                  <a:pt x="4982349" y="640080"/>
                </a:lnTo>
                <a:lnTo>
                  <a:pt x="10634612" y="640080"/>
                </a:lnTo>
                <a:lnTo>
                  <a:pt x="10634612" y="0"/>
                </a:lnTo>
                <a:close/>
              </a:path>
            </a:pathLst>
          </a:custGeom>
          <a:solidFill>
            <a:srgbClr val="DFCEC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8" name="Google Shape;38;p303"/>
          <p:cNvSpPr/>
          <p:nvPr/>
        </p:nvSpPr>
        <p:spPr>
          <a:xfrm>
            <a:off x="727189" y="5403684"/>
            <a:ext cx="10634980" cy="914400"/>
          </a:xfrm>
          <a:custGeom>
            <a:rect b="b" l="l" r="r" t="t"/>
            <a:pathLst>
              <a:path extrusionOk="0" h="914400" w="10634980">
                <a:moveTo>
                  <a:pt x="4982337" y="0"/>
                </a:moveTo>
                <a:lnTo>
                  <a:pt x="0" y="0"/>
                </a:lnTo>
                <a:lnTo>
                  <a:pt x="0" y="914400"/>
                </a:lnTo>
                <a:lnTo>
                  <a:pt x="4982337" y="914400"/>
                </a:lnTo>
                <a:lnTo>
                  <a:pt x="4982337" y="0"/>
                </a:lnTo>
                <a:close/>
              </a:path>
              <a:path extrusionOk="0" h="914400" w="10634980">
                <a:moveTo>
                  <a:pt x="10634612" y="0"/>
                </a:moveTo>
                <a:lnTo>
                  <a:pt x="4982349" y="0"/>
                </a:lnTo>
                <a:lnTo>
                  <a:pt x="4982349" y="914400"/>
                </a:lnTo>
                <a:lnTo>
                  <a:pt x="10634612" y="914400"/>
                </a:lnTo>
                <a:lnTo>
                  <a:pt x="10634612" y="0"/>
                </a:lnTo>
                <a:close/>
              </a:path>
            </a:pathLst>
          </a:custGeom>
          <a:solidFill>
            <a:srgbClr val="EFE8E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9" name="Google Shape;39;p303"/>
          <p:cNvSpPr/>
          <p:nvPr/>
        </p:nvSpPr>
        <p:spPr>
          <a:xfrm>
            <a:off x="5709538" y="1066672"/>
            <a:ext cx="0" cy="5257800"/>
          </a:xfrm>
          <a:custGeom>
            <a:rect b="b" l="l" r="r" t="t"/>
            <a:pathLst>
              <a:path extrusionOk="0" h="5257800" w="120000">
                <a:moveTo>
                  <a:pt x="0" y="0"/>
                </a:moveTo>
                <a:lnTo>
                  <a:pt x="0" y="5257761"/>
                </a:lnTo>
              </a:path>
            </a:pathLst>
          </a:custGeom>
          <a:noFill/>
          <a:ln cap="flat" cmpd="sng" w="12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0" name="Google Shape;40;p303"/>
          <p:cNvSpPr/>
          <p:nvPr/>
        </p:nvSpPr>
        <p:spPr>
          <a:xfrm>
            <a:off x="720839" y="1774063"/>
            <a:ext cx="10647680" cy="0"/>
          </a:xfrm>
          <a:custGeom>
            <a:rect b="b" l="l" r="r" t="t"/>
            <a:pathLst>
              <a:path extrusionOk="0" h="120000" w="10647680">
                <a:moveTo>
                  <a:pt x="0" y="0"/>
                </a:moveTo>
                <a:lnTo>
                  <a:pt x="10647311" y="0"/>
                </a:lnTo>
              </a:path>
            </a:pathLst>
          </a:custGeom>
          <a:noFill/>
          <a:ln cap="flat" cmpd="sng" w="381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1" name="Google Shape;41;p303"/>
          <p:cNvSpPr/>
          <p:nvPr/>
        </p:nvSpPr>
        <p:spPr>
          <a:xfrm>
            <a:off x="720839" y="1066672"/>
            <a:ext cx="10647680" cy="5257800"/>
          </a:xfrm>
          <a:custGeom>
            <a:rect b="b" l="l" r="r" t="t"/>
            <a:pathLst>
              <a:path extrusionOk="0" h="5257800" w="10647680">
                <a:moveTo>
                  <a:pt x="0" y="2993390"/>
                </a:moveTo>
                <a:lnTo>
                  <a:pt x="10647311" y="2993390"/>
                </a:lnTo>
              </a:path>
              <a:path extrusionOk="0" h="5257800" w="10647680">
                <a:moveTo>
                  <a:pt x="0" y="3696970"/>
                </a:moveTo>
                <a:lnTo>
                  <a:pt x="10647311" y="3696970"/>
                </a:lnTo>
              </a:path>
              <a:path extrusionOk="0" h="5257800" w="10647680">
                <a:moveTo>
                  <a:pt x="0" y="4337050"/>
                </a:moveTo>
                <a:lnTo>
                  <a:pt x="10647311" y="4337050"/>
                </a:lnTo>
              </a:path>
              <a:path extrusionOk="0" h="5257800" w="10647680">
                <a:moveTo>
                  <a:pt x="6350" y="0"/>
                </a:moveTo>
                <a:lnTo>
                  <a:pt x="6350" y="5257761"/>
                </a:lnTo>
              </a:path>
              <a:path extrusionOk="0" h="5257800" w="10647680">
                <a:moveTo>
                  <a:pt x="10640961" y="0"/>
                </a:moveTo>
                <a:lnTo>
                  <a:pt x="10640961" y="5257761"/>
                </a:lnTo>
              </a:path>
              <a:path extrusionOk="0" h="5257800" w="10647680">
                <a:moveTo>
                  <a:pt x="0" y="6350"/>
                </a:moveTo>
                <a:lnTo>
                  <a:pt x="10647311" y="6350"/>
                </a:lnTo>
              </a:path>
              <a:path extrusionOk="0" h="5257800" w="10647680">
                <a:moveTo>
                  <a:pt x="0" y="5251411"/>
                </a:moveTo>
                <a:lnTo>
                  <a:pt x="10647311" y="5251411"/>
                </a:lnTo>
              </a:path>
            </a:pathLst>
          </a:custGeom>
          <a:noFill/>
          <a:ln cap="flat" cmpd="sng" w="12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2" name="Google Shape;42;p303"/>
          <p:cNvSpPr txBox="1"/>
          <p:nvPr>
            <p:ph type="title"/>
          </p:nvPr>
        </p:nvSpPr>
        <p:spPr>
          <a:xfrm>
            <a:off x="802005" y="636905"/>
            <a:ext cx="10587989" cy="167195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600">
                <a:solidFill>
                  <a:srgbClr val="252525"/>
                </a:solidFill>
                <a:latin typeface="Garamond"/>
                <a:ea typeface="Garamond"/>
                <a:cs typeface="Garamond"/>
                <a:sym typeface="Garamon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303"/>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4" name="Google Shape;44;p303"/>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5" name="Google Shape;45;p30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30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0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lvl1pPr indent="0" lvl="0" marL="133350">
              <a:lnSpc>
                <a:spcPct val="118947"/>
              </a:lnSpc>
              <a:spcBef>
                <a:spcPts val="0"/>
              </a:spcBef>
              <a:buNone/>
              <a:defRPr b="0" i="0" sz="950">
                <a:solidFill>
                  <a:schemeClr val="dk1"/>
                </a:solidFill>
                <a:latin typeface="Garamond"/>
                <a:ea typeface="Garamond"/>
                <a:cs typeface="Garamond"/>
                <a:sym typeface="Garamond"/>
              </a:defRPr>
            </a:lvl1pPr>
            <a:lvl2pPr indent="0" lvl="1" marL="133350">
              <a:lnSpc>
                <a:spcPct val="118947"/>
              </a:lnSpc>
              <a:spcBef>
                <a:spcPts val="0"/>
              </a:spcBef>
              <a:buNone/>
              <a:defRPr b="0" i="0" sz="950">
                <a:solidFill>
                  <a:schemeClr val="dk1"/>
                </a:solidFill>
                <a:latin typeface="Garamond"/>
                <a:ea typeface="Garamond"/>
                <a:cs typeface="Garamond"/>
                <a:sym typeface="Garamond"/>
              </a:defRPr>
            </a:lvl2pPr>
            <a:lvl3pPr indent="0" lvl="2" marL="133350">
              <a:lnSpc>
                <a:spcPct val="118947"/>
              </a:lnSpc>
              <a:spcBef>
                <a:spcPts val="0"/>
              </a:spcBef>
              <a:buNone/>
              <a:defRPr b="0" i="0" sz="950">
                <a:solidFill>
                  <a:schemeClr val="dk1"/>
                </a:solidFill>
                <a:latin typeface="Garamond"/>
                <a:ea typeface="Garamond"/>
                <a:cs typeface="Garamond"/>
                <a:sym typeface="Garamond"/>
              </a:defRPr>
            </a:lvl3pPr>
            <a:lvl4pPr indent="0" lvl="3" marL="133350">
              <a:lnSpc>
                <a:spcPct val="118947"/>
              </a:lnSpc>
              <a:spcBef>
                <a:spcPts val="0"/>
              </a:spcBef>
              <a:buNone/>
              <a:defRPr b="0" i="0" sz="950">
                <a:solidFill>
                  <a:schemeClr val="dk1"/>
                </a:solidFill>
                <a:latin typeface="Garamond"/>
                <a:ea typeface="Garamond"/>
                <a:cs typeface="Garamond"/>
                <a:sym typeface="Garamond"/>
              </a:defRPr>
            </a:lvl4pPr>
            <a:lvl5pPr indent="0" lvl="4" marL="133350">
              <a:lnSpc>
                <a:spcPct val="118947"/>
              </a:lnSpc>
              <a:spcBef>
                <a:spcPts val="0"/>
              </a:spcBef>
              <a:buNone/>
              <a:defRPr b="0" i="0" sz="950">
                <a:solidFill>
                  <a:schemeClr val="dk1"/>
                </a:solidFill>
                <a:latin typeface="Garamond"/>
                <a:ea typeface="Garamond"/>
                <a:cs typeface="Garamond"/>
                <a:sym typeface="Garamond"/>
              </a:defRPr>
            </a:lvl5pPr>
            <a:lvl6pPr indent="0" lvl="5" marL="133350">
              <a:lnSpc>
                <a:spcPct val="118947"/>
              </a:lnSpc>
              <a:spcBef>
                <a:spcPts val="0"/>
              </a:spcBef>
              <a:buNone/>
              <a:defRPr b="0" i="0" sz="950">
                <a:solidFill>
                  <a:schemeClr val="dk1"/>
                </a:solidFill>
                <a:latin typeface="Garamond"/>
                <a:ea typeface="Garamond"/>
                <a:cs typeface="Garamond"/>
                <a:sym typeface="Garamond"/>
              </a:defRPr>
            </a:lvl6pPr>
            <a:lvl7pPr indent="0" lvl="6" marL="133350">
              <a:lnSpc>
                <a:spcPct val="118947"/>
              </a:lnSpc>
              <a:spcBef>
                <a:spcPts val="0"/>
              </a:spcBef>
              <a:buNone/>
              <a:defRPr b="0" i="0" sz="950">
                <a:solidFill>
                  <a:schemeClr val="dk1"/>
                </a:solidFill>
                <a:latin typeface="Garamond"/>
                <a:ea typeface="Garamond"/>
                <a:cs typeface="Garamond"/>
                <a:sym typeface="Garamond"/>
              </a:defRPr>
            </a:lvl7pPr>
            <a:lvl8pPr indent="0" lvl="7" marL="133350">
              <a:lnSpc>
                <a:spcPct val="118947"/>
              </a:lnSpc>
              <a:spcBef>
                <a:spcPts val="0"/>
              </a:spcBef>
              <a:buNone/>
              <a:defRPr b="0" i="0" sz="950">
                <a:solidFill>
                  <a:schemeClr val="dk1"/>
                </a:solidFill>
                <a:latin typeface="Garamond"/>
                <a:ea typeface="Garamond"/>
                <a:cs typeface="Garamond"/>
                <a:sym typeface="Garamond"/>
              </a:defRPr>
            </a:lvl8pPr>
            <a:lvl9pPr indent="0" lvl="8" marL="133350">
              <a:lnSpc>
                <a:spcPct val="118947"/>
              </a:lnSpc>
              <a:spcBef>
                <a:spcPts val="0"/>
              </a:spcBef>
              <a:buNone/>
              <a:defRPr b="0" i="0" sz="950">
                <a:solidFill>
                  <a:schemeClr val="dk1"/>
                </a:solidFill>
                <a:latin typeface="Garamond"/>
                <a:ea typeface="Garamond"/>
                <a:cs typeface="Garamond"/>
                <a:sym typeface="Garamond"/>
              </a:defRPr>
            </a:lvl9pPr>
          </a:lstStyle>
          <a:p>
            <a:pPr indent="0" lvl="0" marL="13335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solidFill>
          <a:schemeClr val="lt1"/>
        </a:solidFill>
      </p:bgPr>
    </p:bg>
    <p:spTree>
      <p:nvGrpSpPr>
        <p:cNvPr id="48" name="Shape 48"/>
        <p:cNvGrpSpPr/>
        <p:nvPr/>
      </p:nvGrpSpPr>
      <p:grpSpPr>
        <a:xfrm>
          <a:off x="0" y="0"/>
          <a:ext cx="0" cy="0"/>
          <a:chOff x="0" y="0"/>
          <a:chExt cx="0" cy="0"/>
        </a:xfrm>
      </p:grpSpPr>
      <p:pic>
        <p:nvPicPr>
          <p:cNvPr id="49" name="Google Shape;49;p304"/>
          <p:cNvPicPr preferRelativeResize="0"/>
          <p:nvPr/>
        </p:nvPicPr>
        <p:blipFill rotWithShape="1">
          <a:blip r:embed="rId2">
            <a:alphaModFix/>
          </a:blip>
          <a:srcRect b="0" l="0" r="0" t="0"/>
          <a:stretch/>
        </p:blipFill>
        <p:spPr>
          <a:xfrm>
            <a:off x="0" y="0"/>
            <a:ext cx="12192000" cy="6857999"/>
          </a:xfrm>
          <a:prstGeom prst="rect">
            <a:avLst/>
          </a:prstGeom>
          <a:noFill/>
          <a:ln>
            <a:noFill/>
          </a:ln>
        </p:spPr>
      </p:pic>
      <p:sp>
        <p:nvSpPr>
          <p:cNvPr id="50" name="Google Shape;50;p304"/>
          <p:cNvSpPr/>
          <p:nvPr/>
        </p:nvSpPr>
        <p:spPr>
          <a:xfrm>
            <a:off x="609599" y="609600"/>
            <a:ext cx="10972800" cy="5638800"/>
          </a:xfrm>
          <a:custGeom>
            <a:rect b="b" l="l" r="r" t="t"/>
            <a:pathLst>
              <a:path extrusionOk="0" h="5638800" w="10972800">
                <a:moveTo>
                  <a:pt x="0" y="5638800"/>
                </a:moveTo>
                <a:lnTo>
                  <a:pt x="10972800" y="5638800"/>
                </a:lnTo>
                <a:lnTo>
                  <a:pt x="10972800" y="0"/>
                </a:lnTo>
                <a:lnTo>
                  <a:pt x="0" y="0"/>
                </a:lnTo>
                <a:lnTo>
                  <a:pt x="0" y="5638800"/>
                </a:lnTo>
                <a:close/>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51" name="Google Shape;51;p304"/>
          <p:cNvPicPr preferRelativeResize="0"/>
          <p:nvPr/>
        </p:nvPicPr>
        <p:blipFill rotWithShape="1">
          <a:blip r:embed="rId3">
            <a:alphaModFix/>
          </a:blip>
          <a:srcRect b="0" l="0" r="0" t="0"/>
          <a:stretch/>
        </p:blipFill>
        <p:spPr>
          <a:xfrm>
            <a:off x="0" y="3152775"/>
            <a:ext cx="761999" cy="609600"/>
          </a:xfrm>
          <a:prstGeom prst="rect">
            <a:avLst/>
          </a:prstGeom>
          <a:noFill/>
          <a:ln>
            <a:noFill/>
          </a:ln>
        </p:spPr>
      </p:pic>
      <p:pic>
        <p:nvPicPr>
          <p:cNvPr id="52" name="Google Shape;52;p304"/>
          <p:cNvPicPr preferRelativeResize="0"/>
          <p:nvPr/>
        </p:nvPicPr>
        <p:blipFill rotWithShape="1">
          <a:blip r:embed="rId4">
            <a:alphaModFix/>
          </a:blip>
          <a:srcRect b="0" l="0" r="0" t="0"/>
          <a:stretch/>
        </p:blipFill>
        <p:spPr>
          <a:xfrm>
            <a:off x="11439525" y="3152775"/>
            <a:ext cx="752475" cy="609600"/>
          </a:xfrm>
          <a:prstGeom prst="rect">
            <a:avLst/>
          </a:prstGeom>
          <a:noFill/>
          <a:ln>
            <a:noFill/>
          </a:ln>
        </p:spPr>
      </p:pic>
      <p:sp>
        <p:nvSpPr>
          <p:cNvPr id="53" name="Google Shape;53;p304"/>
          <p:cNvSpPr/>
          <p:nvPr/>
        </p:nvSpPr>
        <p:spPr>
          <a:xfrm>
            <a:off x="2009774" y="3714750"/>
            <a:ext cx="8163559" cy="0"/>
          </a:xfrm>
          <a:custGeom>
            <a:rect b="b" l="l" r="r" t="t"/>
            <a:pathLst>
              <a:path extrusionOk="0" h="120000" w="8163559">
                <a:moveTo>
                  <a:pt x="0" y="0"/>
                </a:moveTo>
                <a:lnTo>
                  <a:pt x="8163433"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4" name="Google Shape;54;p304"/>
          <p:cNvSpPr txBox="1"/>
          <p:nvPr>
            <p:ph type="title"/>
          </p:nvPr>
        </p:nvSpPr>
        <p:spPr>
          <a:xfrm>
            <a:off x="802005" y="636905"/>
            <a:ext cx="10587989" cy="167195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600">
                <a:solidFill>
                  <a:srgbClr val="252525"/>
                </a:solidFill>
                <a:latin typeface="Garamond"/>
                <a:ea typeface="Garamond"/>
                <a:cs typeface="Garamond"/>
                <a:sym typeface="Garamon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30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0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30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lvl1pPr indent="0" lvl="0" marL="133350">
              <a:lnSpc>
                <a:spcPct val="118947"/>
              </a:lnSpc>
              <a:spcBef>
                <a:spcPts val="0"/>
              </a:spcBef>
              <a:buNone/>
              <a:defRPr b="0" i="0" sz="950">
                <a:solidFill>
                  <a:schemeClr val="dk1"/>
                </a:solidFill>
                <a:latin typeface="Garamond"/>
                <a:ea typeface="Garamond"/>
                <a:cs typeface="Garamond"/>
                <a:sym typeface="Garamond"/>
              </a:defRPr>
            </a:lvl1pPr>
            <a:lvl2pPr indent="0" lvl="1" marL="133350">
              <a:lnSpc>
                <a:spcPct val="118947"/>
              </a:lnSpc>
              <a:spcBef>
                <a:spcPts val="0"/>
              </a:spcBef>
              <a:buNone/>
              <a:defRPr b="0" i="0" sz="950">
                <a:solidFill>
                  <a:schemeClr val="dk1"/>
                </a:solidFill>
                <a:latin typeface="Garamond"/>
                <a:ea typeface="Garamond"/>
                <a:cs typeface="Garamond"/>
                <a:sym typeface="Garamond"/>
              </a:defRPr>
            </a:lvl2pPr>
            <a:lvl3pPr indent="0" lvl="2" marL="133350">
              <a:lnSpc>
                <a:spcPct val="118947"/>
              </a:lnSpc>
              <a:spcBef>
                <a:spcPts val="0"/>
              </a:spcBef>
              <a:buNone/>
              <a:defRPr b="0" i="0" sz="950">
                <a:solidFill>
                  <a:schemeClr val="dk1"/>
                </a:solidFill>
                <a:latin typeface="Garamond"/>
                <a:ea typeface="Garamond"/>
                <a:cs typeface="Garamond"/>
                <a:sym typeface="Garamond"/>
              </a:defRPr>
            </a:lvl3pPr>
            <a:lvl4pPr indent="0" lvl="3" marL="133350">
              <a:lnSpc>
                <a:spcPct val="118947"/>
              </a:lnSpc>
              <a:spcBef>
                <a:spcPts val="0"/>
              </a:spcBef>
              <a:buNone/>
              <a:defRPr b="0" i="0" sz="950">
                <a:solidFill>
                  <a:schemeClr val="dk1"/>
                </a:solidFill>
                <a:latin typeface="Garamond"/>
                <a:ea typeface="Garamond"/>
                <a:cs typeface="Garamond"/>
                <a:sym typeface="Garamond"/>
              </a:defRPr>
            </a:lvl4pPr>
            <a:lvl5pPr indent="0" lvl="4" marL="133350">
              <a:lnSpc>
                <a:spcPct val="118947"/>
              </a:lnSpc>
              <a:spcBef>
                <a:spcPts val="0"/>
              </a:spcBef>
              <a:buNone/>
              <a:defRPr b="0" i="0" sz="950">
                <a:solidFill>
                  <a:schemeClr val="dk1"/>
                </a:solidFill>
                <a:latin typeface="Garamond"/>
                <a:ea typeface="Garamond"/>
                <a:cs typeface="Garamond"/>
                <a:sym typeface="Garamond"/>
              </a:defRPr>
            </a:lvl5pPr>
            <a:lvl6pPr indent="0" lvl="5" marL="133350">
              <a:lnSpc>
                <a:spcPct val="118947"/>
              </a:lnSpc>
              <a:spcBef>
                <a:spcPts val="0"/>
              </a:spcBef>
              <a:buNone/>
              <a:defRPr b="0" i="0" sz="950">
                <a:solidFill>
                  <a:schemeClr val="dk1"/>
                </a:solidFill>
                <a:latin typeface="Garamond"/>
                <a:ea typeface="Garamond"/>
                <a:cs typeface="Garamond"/>
                <a:sym typeface="Garamond"/>
              </a:defRPr>
            </a:lvl6pPr>
            <a:lvl7pPr indent="0" lvl="6" marL="133350">
              <a:lnSpc>
                <a:spcPct val="118947"/>
              </a:lnSpc>
              <a:spcBef>
                <a:spcPts val="0"/>
              </a:spcBef>
              <a:buNone/>
              <a:defRPr b="0" i="0" sz="950">
                <a:solidFill>
                  <a:schemeClr val="dk1"/>
                </a:solidFill>
                <a:latin typeface="Garamond"/>
                <a:ea typeface="Garamond"/>
                <a:cs typeface="Garamond"/>
                <a:sym typeface="Garamond"/>
              </a:defRPr>
            </a:lvl7pPr>
            <a:lvl8pPr indent="0" lvl="7" marL="133350">
              <a:lnSpc>
                <a:spcPct val="118947"/>
              </a:lnSpc>
              <a:spcBef>
                <a:spcPts val="0"/>
              </a:spcBef>
              <a:buNone/>
              <a:defRPr b="0" i="0" sz="950">
                <a:solidFill>
                  <a:schemeClr val="dk1"/>
                </a:solidFill>
                <a:latin typeface="Garamond"/>
                <a:ea typeface="Garamond"/>
                <a:cs typeface="Garamond"/>
                <a:sym typeface="Garamond"/>
              </a:defRPr>
            </a:lvl8pPr>
            <a:lvl9pPr indent="0" lvl="8" marL="133350">
              <a:lnSpc>
                <a:spcPct val="118947"/>
              </a:lnSpc>
              <a:spcBef>
                <a:spcPts val="0"/>
              </a:spcBef>
              <a:buNone/>
              <a:defRPr b="0" i="0" sz="950">
                <a:solidFill>
                  <a:schemeClr val="dk1"/>
                </a:solidFill>
                <a:latin typeface="Garamond"/>
                <a:ea typeface="Garamond"/>
                <a:cs typeface="Garamond"/>
                <a:sym typeface="Garamond"/>
              </a:defRPr>
            </a:lvl9pPr>
          </a:lstStyle>
          <a:p>
            <a:pPr indent="0" lvl="0" marL="13335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8" name="Shape 58"/>
        <p:cNvGrpSpPr/>
        <p:nvPr/>
      </p:nvGrpSpPr>
      <p:grpSpPr>
        <a:xfrm>
          <a:off x="0" y="0"/>
          <a:ext cx="0" cy="0"/>
          <a:chOff x="0" y="0"/>
          <a:chExt cx="0" cy="0"/>
        </a:xfrm>
      </p:grpSpPr>
      <p:sp>
        <p:nvSpPr>
          <p:cNvPr id="59" name="Google Shape;59;p305"/>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600">
                <a:solidFill>
                  <a:srgbClr val="252525"/>
                </a:solidFill>
                <a:latin typeface="Garamond"/>
                <a:ea typeface="Garamond"/>
                <a:cs typeface="Garamond"/>
                <a:sym typeface="Garamon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05"/>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750">
                <a:solidFill>
                  <a:srgbClr val="252525"/>
                </a:solidFill>
                <a:latin typeface="Garamond"/>
                <a:ea typeface="Garamond"/>
                <a:cs typeface="Garamond"/>
                <a:sym typeface="Garamon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30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30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0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lvl1pPr indent="0" lvl="0" marL="133350">
              <a:lnSpc>
                <a:spcPct val="118947"/>
              </a:lnSpc>
              <a:spcBef>
                <a:spcPts val="0"/>
              </a:spcBef>
              <a:buNone/>
              <a:defRPr b="0" i="0" sz="950">
                <a:solidFill>
                  <a:schemeClr val="dk1"/>
                </a:solidFill>
                <a:latin typeface="Garamond"/>
                <a:ea typeface="Garamond"/>
                <a:cs typeface="Garamond"/>
                <a:sym typeface="Garamond"/>
              </a:defRPr>
            </a:lvl1pPr>
            <a:lvl2pPr indent="0" lvl="1" marL="133350">
              <a:lnSpc>
                <a:spcPct val="118947"/>
              </a:lnSpc>
              <a:spcBef>
                <a:spcPts val="0"/>
              </a:spcBef>
              <a:buNone/>
              <a:defRPr b="0" i="0" sz="950">
                <a:solidFill>
                  <a:schemeClr val="dk1"/>
                </a:solidFill>
                <a:latin typeface="Garamond"/>
                <a:ea typeface="Garamond"/>
                <a:cs typeface="Garamond"/>
                <a:sym typeface="Garamond"/>
              </a:defRPr>
            </a:lvl2pPr>
            <a:lvl3pPr indent="0" lvl="2" marL="133350">
              <a:lnSpc>
                <a:spcPct val="118947"/>
              </a:lnSpc>
              <a:spcBef>
                <a:spcPts val="0"/>
              </a:spcBef>
              <a:buNone/>
              <a:defRPr b="0" i="0" sz="950">
                <a:solidFill>
                  <a:schemeClr val="dk1"/>
                </a:solidFill>
                <a:latin typeface="Garamond"/>
                <a:ea typeface="Garamond"/>
                <a:cs typeface="Garamond"/>
                <a:sym typeface="Garamond"/>
              </a:defRPr>
            </a:lvl3pPr>
            <a:lvl4pPr indent="0" lvl="3" marL="133350">
              <a:lnSpc>
                <a:spcPct val="118947"/>
              </a:lnSpc>
              <a:spcBef>
                <a:spcPts val="0"/>
              </a:spcBef>
              <a:buNone/>
              <a:defRPr b="0" i="0" sz="950">
                <a:solidFill>
                  <a:schemeClr val="dk1"/>
                </a:solidFill>
                <a:latin typeface="Garamond"/>
                <a:ea typeface="Garamond"/>
                <a:cs typeface="Garamond"/>
                <a:sym typeface="Garamond"/>
              </a:defRPr>
            </a:lvl4pPr>
            <a:lvl5pPr indent="0" lvl="4" marL="133350">
              <a:lnSpc>
                <a:spcPct val="118947"/>
              </a:lnSpc>
              <a:spcBef>
                <a:spcPts val="0"/>
              </a:spcBef>
              <a:buNone/>
              <a:defRPr b="0" i="0" sz="950">
                <a:solidFill>
                  <a:schemeClr val="dk1"/>
                </a:solidFill>
                <a:latin typeface="Garamond"/>
                <a:ea typeface="Garamond"/>
                <a:cs typeface="Garamond"/>
                <a:sym typeface="Garamond"/>
              </a:defRPr>
            </a:lvl5pPr>
            <a:lvl6pPr indent="0" lvl="5" marL="133350">
              <a:lnSpc>
                <a:spcPct val="118947"/>
              </a:lnSpc>
              <a:spcBef>
                <a:spcPts val="0"/>
              </a:spcBef>
              <a:buNone/>
              <a:defRPr b="0" i="0" sz="950">
                <a:solidFill>
                  <a:schemeClr val="dk1"/>
                </a:solidFill>
                <a:latin typeface="Garamond"/>
                <a:ea typeface="Garamond"/>
                <a:cs typeface="Garamond"/>
                <a:sym typeface="Garamond"/>
              </a:defRPr>
            </a:lvl6pPr>
            <a:lvl7pPr indent="0" lvl="6" marL="133350">
              <a:lnSpc>
                <a:spcPct val="118947"/>
              </a:lnSpc>
              <a:spcBef>
                <a:spcPts val="0"/>
              </a:spcBef>
              <a:buNone/>
              <a:defRPr b="0" i="0" sz="950">
                <a:solidFill>
                  <a:schemeClr val="dk1"/>
                </a:solidFill>
                <a:latin typeface="Garamond"/>
                <a:ea typeface="Garamond"/>
                <a:cs typeface="Garamond"/>
                <a:sym typeface="Garamond"/>
              </a:defRPr>
            </a:lvl7pPr>
            <a:lvl8pPr indent="0" lvl="7" marL="133350">
              <a:lnSpc>
                <a:spcPct val="118947"/>
              </a:lnSpc>
              <a:spcBef>
                <a:spcPts val="0"/>
              </a:spcBef>
              <a:buNone/>
              <a:defRPr b="0" i="0" sz="950">
                <a:solidFill>
                  <a:schemeClr val="dk1"/>
                </a:solidFill>
                <a:latin typeface="Garamond"/>
                <a:ea typeface="Garamond"/>
                <a:cs typeface="Garamond"/>
                <a:sym typeface="Garamond"/>
              </a:defRPr>
            </a:lvl8pPr>
            <a:lvl9pPr indent="0" lvl="8" marL="133350">
              <a:lnSpc>
                <a:spcPct val="118947"/>
              </a:lnSpc>
              <a:spcBef>
                <a:spcPts val="0"/>
              </a:spcBef>
              <a:buNone/>
              <a:defRPr b="0" i="0" sz="950">
                <a:solidFill>
                  <a:schemeClr val="dk1"/>
                </a:solidFill>
                <a:latin typeface="Garamond"/>
                <a:ea typeface="Garamond"/>
                <a:cs typeface="Garamond"/>
                <a:sym typeface="Garamond"/>
              </a:defRPr>
            </a:lvl9pPr>
          </a:lstStyle>
          <a:p>
            <a:pPr indent="0" lvl="0" marL="133350" rtl="0" algn="l">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slideLayout" Target="../slideLayouts/slideLayout1.xml"/><Relationship Id="rId9" Type="http://schemas.openxmlformats.org/officeDocument/2006/relationships/theme" Target="../theme/theme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300"/>
          <p:cNvPicPr preferRelativeResize="0"/>
          <p:nvPr/>
        </p:nvPicPr>
        <p:blipFill rotWithShape="1">
          <a:blip r:embed="rId1">
            <a:alphaModFix/>
          </a:blip>
          <a:srcRect b="0" l="0" r="0" t="0"/>
          <a:stretch/>
        </p:blipFill>
        <p:spPr>
          <a:xfrm>
            <a:off x="0" y="0"/>
            <a:ext cx="12192000" cy="6857999"/>
          </a:xfrm>
          <a:prstGeom prst="rect">
            <a:avLst/>
          </a:prstGeom>
          <a:noFill/>
          <a:ln>
            <a:noFill/>
          </a:ln>
        </p:spPr>
      </p:pic>
      <p:sp>
        <p:nvSpPr>
          <p:cNvPr id="7" name="Google Shape;7;p300"/>
          <p:cNvSpPr/>
          <p:nvPr/>
        </p:nvSpPr>
        <p:spPr>
          <a:xfrm>
            <a:off x="609599" y="609600"/>
            <a:ext cx="10972800" cy="5638800"/>
          </a:xfrm>
          <a:custGeom>
            <a:rect b="b" l="l" r="r" t="t"/>
            <a:pathLst>
              <a:path extrusionOk="0" h="5638800" w="10972800">
                <a:moveTo>
                  <a:pt x="0" y="5638800"/>
                </a:moveTo>
                <a:lnTo>
                  <a:pt x="10972800" y="5638800"/>
                </a:lnTo>
                <a:lnTo>
                  <a:pt x="10972800" y="0"/>
                </a:lnTo>
                <a:lnTo>
                  <a:pt x="0" y="0"/>
                </a:lnTo>
                <a:lnTo>
                  <a:pt x="0" y="5638800"/>
                </a:lnTo>
                <a:close/>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8" name="Google Shape;8;p300"/>
          <p:cNvPicPr preferRelativeResize="0"/>
          <p:nvPr/>
        </p:nvPicPr>
        <p:blipFill rotWithShape="1">
          <a:blip r:embed="rId2">
            <a:alphaModFix/>
          </a:blip>
          <a:srcRect b="0" l="0" r="0" t="0"/>
          <a:stretch/>
        </p:blipFill>
        <p:spPr>
          <a:xfrm>
            <a:off x="0" y="3152775"/>
            <a:ext cx="761999" cy="609600"/>
          </a:xfrm>
          <a:prstGeom prst="rect">
            <a:avLst/>
          </a:prstGeom>
          <a:noFill/>
          <a:ln>
            <a:noFill/>
          </a:ln>
        </p:spPr>
      </p:pic>
      <p:pic>
        <p:nvPicPr>
          <p:cNvPr id="9" name="Google Shape;9;p300"/>
          <p:cNvPicPr preferRelativeResize="0"/>
          <p:nvPr/>
        </p:nvPicPr>
        <p:blipFill rotWithShape="1">
          <a:blip r:embed="rId3">
            <a:alphaModFix/>
          </a:blip>
          <a:srcRect b="0" l="0" r="0" t="0"/>
          <a:stretch/>
        </p:blipFill>
        <p:spPr>
          <a:xfrm>
            <a:off x="11439525" y="3152775"/>
            <a:ext cx="752475" cy="609600"/>
          </a:xfrm>
          <a:prstGeom prst="rect">
            <a:avLst/>
          </a:prstGeom>
          <a:noFill/>
          <a:ln>
            <a:noFill/>
          </a:ln>
        </p:spPr>
      </p:pic>
      <p:sp>
        <p:nvSpPr>
          <p:cNvPr id="10" name="Google Shape;10;p300"/>
          <p:cNvSpPr txBox="1"/>
          <p:nvPr>
            <p:ph type="title"/>
          </p:nvPr>
        </p:nvSpPr>
        <p:spPr>
          <a:xfrm>
            <a:off x="802005" y="636905"/>
            <a:ext cx="10587989" cy="167195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3600" u="none" cap="none" strike="noStrike">
                <a:solidFill>
                  <a:srgbClr val="252525"/>
                </a:solidFill>
                <a:latin typeface="Garamond"/>
                <a:ea typeface="Garamond"/>
                <a:cs typeface="Garamond"/>
                <a:sym typeface="Garamon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00"/>
          <p:cNvSpPr txBox="1"/>
          <p:nvPr>
            <p:ph idx="1" type="body"/>
          </p:nvPr>
        </p:nvSpPr>
        <p:spPr>
          <a:xfrm>
            <a:off x="1375028" y="2402586"/>
            <a:ext cx="9363075" cy="308737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1" i="0" sz="2750" u="none" cap="none" strike="noStrike">
                <a:solidFill>
                  <a:srgbClr val="252525"/>
                </a:solidFill>
                <a:latin typeface="Garamond"/>
                <a:ea typeface="Garamond"/>
                <a:cs typeface="Garamond"/>
                <a:sym typeface="Garamond"/>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2" name="Google Shape;12;p300"/>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300"/>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30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lvl1pPr indent="0" lvl="0" marL="133350">
              <a:lnSpc>
                <a:spcPct val="118947"/>
              </a:lnSpc>
              <a:spcBef>
                <a:spcPts val="0"/>
              </a:spcBef>
              <a:buNone/>
              <a:defRPr b="0" i="0" sz="950">
                <a:solidFill>
                  <a:schemeClr val="dk1"/>
                </a:solidFill>
                <a:latin typeface="Garamond"/>
                <a:ea typeface="Garamond"/>
                <a:cs typeface="Garamond"/>
                <a:sym typeface="Garamond"/>
              </a:defRPr>
            </a:lvl1pPr>
            <a:lvl2pPr indent="0" lvl="1" marL="133350">
              <a:lnSpc>
                <a:spcPct val="118947"/>
              </a:lnSpc>
              <a:spcBef>
                <a:spcPts val="0"/>
              </a:spcBef>
              <a:buNone/>
              <a:defRPr b="0" i="0" sz="950">
                <a:solidFill>
                  <a:schemeClr val="dk1"/>
                </a:solidFill>
                <a:latin typeface="Garamond"/>
                <a:ea typeface="Garamond"/>
                <a:cs typeface="Garamond"/>
                <a:sym typeface="Garamond"/>
              </a:defRPr>
            </a:lvl2pPr>
            <a:lvl3pPr indent="0" lvl="2" marL="133350">
              <a:lnSpc>
                <a:spcPct val="118947"/>
              </a:lnSpc>
              <a:spcBef>
                <a:spcPts val="0"/>
              </a:spcBef>
              <a:buNone/>
              <a:defRPr b="0" i="0" sz="950">
                <a:solidFill>
                  <a:schemeClr val="dk1"/>
                </a:solidFill>
                <a:latin typeface="Garamond"/>
                <a:ea typeface="Garamond"/>
                <a:cs typeface="Garamond"/>
                <a:sym typeface="Garamond"/>
              </a:defRPr>
            </a:lvl3pPr>
            <a:lvl4pPr indent="0" lvl="3" marL="133350">
              <a:lnSpc>
                <a:spcPct val="118947"/>
              </a:lnSpc>
              <a:spcBef>
                <a:spcPts val="0"/>
              </a:spcBef>
              <a:buNone/>
              <a:defRPr b="0" i="0" sz="950">
                <a:solidFill>
                  <a:schemeClr val="dk1"/>
                </a:solidFill>
                <a:latin typeface="Garamond"/>
                <a:ea typeface="Garamond"/>
                <a:cs typeface="Garamond"/>
                <a:sym typeface="Garamond"/>
              </a:defRPr>
            </a:lvl4pPr>
            <a:lvl5pPr indent="0" lvl="4" marL="133350">
              <a:lnSpc>
                <a:spcPct val="118947"/>
              </a:lnSpc>
              <a:spcBef>
                <a:spcPts val="0"/>
              </a:spcBef>
              <a:buNone/>
              <a:defRPr b="0" i="0" sz="950">
                <a:solidFill>
                  <a:schemeClr val="dk1"/>
                </a:solidFill>
                <a:latin typeface="Garamond"/>
                <a:ea typeface="Garamond"/>
                <a:cs typeface="Garamond"/>
                <a:sym typeface="Garamond"/>
              </a:defRPr>
            </a:lvl5pPr>
            <a:lvl6pPr indent="0" lvl="5" marL="133350">
              <a:lnSpc>
                <a:spcPct val="118947"/>
              </a:lnSpc>
              <a:spcBef>
                <a:spcPts val="0"/>
              </a:spcBef>
              <a:buNone/>
              <a:defRPr b="0" i="0" sz="950">
                <a:solidFill>
                  <a:schemeClr val="dk1"/>
                </a:solidFill>
                <a:latin typeface="Garamond"/>
                <a:ea typeface="Garamond"/>
                <a:cs typeface="Garamond"/>
                <a:sym typeface="Garamond"/>
              </a:defRPr>
            </a:lvl6pPr>
            <a:lvl7pPr indent="0" lvl="6" marL="133350">
              <a:lnSpc>
                <a:spcPct val="118947"/>
              </a:lnSpc>
              <a:spcBef>
                <a:spcPts val="0"/>
              </a:spcBef>
              <a:buNone/>
              <a:defRPr b="0" i="0" sz="950">
                <a:solidFill>
                  <a:schemeClr val="dk1"/>
                </a:solidFill>
                <a:latin typeface="Garamond"/>
                <a:ea typeface="Garamond"/>
                <a:cs typeface="Garamond"/>
                <a:sym typeface="Garamond"/>
              </a:defRPr>
            </a:lvl7pPr>
            <a:lvl8pPr indent="0" lvl="7" marL="133350">
              <a:lnSpc>
                <a:spcPct val="118947"/>
              </a:lnSpc>
              <a:spcBef>
                <a:spcPts val="0"/>
              </a:spcBef>
              <a:buNone/>
              <a:defRPr b="0" i="0" sz="950">
                <a:solidFill>
                  <a:schemeClr val="dk1"/>
                </a:solidFill>
                <a:latin typeface="Garamond"/>
                <a:ea typeface="Garamond"/>
                <a:cs typeface="Garamond"/>
                <a:sym typeface="Garamond"/>
              </a:defRPr>
            </a:lvl8pPr>
            <a:lvl9pPr indent="0" lvl="8" marL="133350">
              <a:lnSpc>
                <a:spcPct val="118947"/>
              </a:lnSpc>
              <a:spcBef>
                <a:spcPts val="0"/>
              </a:spcBef>
              <a:buNone/>
              <a:defRPr b="0" i="0" sz="950">
                <a:solidFill>
                  <a:schemeClr val="dk1"/>
                </a:solidFill>
                <a:latin typeface="Garamond"/>
                <a:ea typeface="Garamond"/>
                <a:cs typeface="Garamond"/>
                <a:sym typeface="Garamond"/>
              </a:defRPr>
            </a:lvl9pPr>
          </a:lstStyle>
          <a:p>
            <a:pPr indent="0" lvl="0" marL="133350" rtl="0" algn="l">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4.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18.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20.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23.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21.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19.jp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 Id="rId3" Type="http://schemas.openxmlformats.org/officeDocument/2006/relationships/image" Target="../media/image24.jp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 Id="rId3" Type="http://schemas.openxmlformats.org/officeDocument/2006/relationships/image" Target="../media/image22.jp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 Id="rId3" Type="http://schemas.openxmlformats.org/officeDocument/2006/relationships/image" Target="../media/image26.jp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9.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1.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3.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4.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5.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6.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8.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9.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0.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1.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3.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4.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5.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6.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8.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9.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2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7" name="Shape 67"/>
        <p:cNvGrpSpPr/>
        <p:nvPr/>
      </p:nvGrpSpPr>
      <p:grpSpPr>
        <a:xfrm>
          <a:off x="0" y="0"/>
          <a:ext cx="0" cy="0"/>
          <a:chOff x="0" y="0"/>
          <a:chExt cx="0" cy="0"/>
        </a:xfrm>
      </p:grpSpPr>
      <p:pic>
        <p:nvPicPr>
          <p:cNvPr id="68" name="Google Shape;68;p1"/>
          <p:cNvPicPr preferRelativeResize="0"/>
          <p:nvPr/>
        </p:nvPicPr>
        <p:blipFill rotWithShape="1">
          <a:blip r:embed="rId3">
            <a:alphaModFix/>
          </a:blip>
          <a:srcRect b="0" l="0" r="0" t="0"/>
          <a:stretch/>
        </p:blipFill>
        <p:spPr>
          <a:xfrm>
            <a:off x="0" y="0"/>
            <a:ext cx="12192000" cy="6857999"/>
          </a:xfrm>
          <a:prstGeom prst="rect">
            <a:avLst/>
          </a:prstGeom>
          <a:noFill/>
          <a:ln>
            <a:noFill/>
          </a:ln>
        </p:spPr>
      </p:pic>
      <p:grpSp>
        <p:nvGrpSpPr>
          <p:cNvPr id="69" name="Google Shape;69;p1"/>
          <p:cNvGrpSpPr/>
          <p:nvPr/>
        </p:nvGrpSpPr>
        <p:grpSpPr>
          <a:xfrm>
            <a:off x="0" y="1543050"/>
            <a:ext cx="12192000" cy="3829050"/>
            <a:chOff x="0" y="1543050"/>
            <a:chExt cx="12192000" cy="3829050"/>
          </a:xfrm>
        </p:grpSpPr>
        <p:sp>
          <p:nvSpPr>
            <p:cNvPr id="70" name="Google Shape;70;p1"/>
            <p:cNvSpPr/>
            <p:nvPr/>
          </p:nvSpPr>
          <p:spPr>
            <a:xfrm>
              <a:off x="2324099" y="1543050"/>
              <a:ext cx="7543800" cy="3829050"/>
            </a:xfrm>
            <a:custGeom>
              <a:rect b="b" l="l" r="r" t="t"/>
              <a:pathLst>
                <a:path extrusionOk="0" h="3829050" w="7543800">
                  <a:moveTo>
                    <a:pt x="0" y="3829050"/>
                  </a:moveTo>
                  <a:lnTo>
                    <a:pt x="7543800" y="3829050"/>
                  </a:lnTo>
                  <a:lnTo>
                    <a:pt x="7543800" y="0"/>
                  </a:lnTo>
                  <a:lnTo>
                    <a:pt x="0" y="0"/>
                  </a:lnTo>
                  <a:lnTo>
                    <a:pt x="0" y="3829050"/>
                  </a:lnTo>
                  <a:close/>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71" name="Google Shape;71;p1"/>
            <p:cNvPicPr preferRelativeResize="0"/>
            <p:nvPr/>
          </p:nvPicPr>
          <p:blipFill rotWithShape="1">
            <a:blip r:embed="rId4">
              <a:alphaModFix/>
            </a:blip>
            <a:srcRect b="0" l="0" r="0" t="0"/>
            <a:stretch/>
          </p:blipFill>
          <p:spPr>
            <a:xfrm>
              <a:off x="0" y="3143250"/>
              <a:ext cx="2457449" cy="619125"/>
            </a:xfrm>
            <a:prstGeom prst="rect">
              <a:avLst/>
            </a:prstGeom>
            <a:noFill/>
            <a:ln>
              <a:noFill/>
            </a:ln>
          </p:spPr>
        </p:pic>
        <p:pic>
          <p:nvPicPr>
            <p:cNvPr id="72" name="Google Shape;72;p1"/>
            <p:cNvPicPr preferRelativeResize="0"/>
            <p:nvPr/>
          </p:nvPicPr>
          <p:blipFill rotWithShape="1">
            <a:blip r:embed="rId5">
              <a:alphaModFix/>
            </a:blip>
            <a:srcRect b="0" l="0" r="0" t="0"/>
            <a:stretch/>
          </p:blipFill>
          <p:spPr>
            <a:xfrm>
              <a:off x="9734550" y="3143250"/>
              <a:ext cx="2457450" cy="619125"/>
            </a:xfrm>
            <a:prstGeom prst="rect">
              <a:avLst/>
            </a:prstGeom>
            <a:noFill/>
            <a:ln>
              <a:noFill/>
            </a:ln>
          </p:spPr>
        </p:pic>
        <p:sp>
          <p:nvSpPr>
            <p:cNvPr id="73" name="Google Shape;73;p1"/>
            <p:cNvSpPr/>
            <p:nvPr/>
          </p:nvSpPr>
          <p:spPr>
            <a:xfrm>
              <a:off x="2695574" y="3524250"/>
              <a:ext cx="6816090" cy="0"/>
            </a:xfrm>
            <a:custGeom>
              <a:rect b="b" l="l" r="r" t="t"/>
              <a:pathLst>
                <a:path extrusionOk="0" h="120000" w="6816090">
                  <a:moveTo>
                    <a:pt x="0" y="0"/>
                  </a:moveTo>
                  <a:lnTo>
                    <a:pt x="6815708"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74" name="Google Shape;74;p1"/>
          <p:cNvSpPr txBox="1"/>
          <p:nvPr>
            <p:ph type="title"/>
          </p:nvPr>
        </p:nvSpPr>
        <p:spPr>
          <a:xfrm>
            <a:off x="2418714" y="1953831"/>
            <a:ext cx="7360920" cy="72390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4550">
                <a:solidFill>
                  <a:srgbClr val="21384E"/>
                </a:solidFill>
              </a:rPr>
              <a:t>LES TROUBLES ANXIEUX</a:t>
            </a:r>
            <a:endParaRPr sz="4550"/>
          </a:p>
        </p:txBody>
      </p:sp>
      <p:sp>
        <p:nvSpPr>
          <p:cNvPr id="75" name="Google Shape;75;p1"/>
          <p:cNvSpPr txBox="1"/>
          <p:nvPr/>
        </p:nvSpPr>
        <p:spPr>
          <a:xfrm>
            <a:off x="2958464" y="2659697"/>
            <a:ext cx="6278245" cy="70104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b="1" lang="fr-FR" sz="4400">
                <a:solidFill>
                  <a:srgbClr val="795E15"/>
                </a:solidFill>
                <a:latin typeface="Garamond"/>
                <a:ea typeface="Garamond"/>
                <a:cs typeface="Garamond"/>
                <a:sym typeface="Garamond"/>
              </a:rPr>
              <a:t>Évaluation Résidanat 2025</a:t>
            </a:r>
            <a:endParaRPr sz="4400">
              <a:latin typeface="Garamond"/>
              <a:ea typeface="Garamond"/>
              <a:cs typeface="Garamond"/>
              <a:sym typeface="Garamond"/>
            </a:endParaRPr>
          </a:p>
        </p:txBody>
      </p:sp>
      <p:sp>
        <p:nvSpPr>
          <p:cNvPr id="76" name="Google Shape;76;p1"/>
          <p:cNvSpPr txBox="1"/>
          <p:nvPr/>
        </p:nvSpPr>
        <p:spPr>
          <a:xfrm>
            <a:off x="4595240" y="3471608"/>
            <a:ext cx="2882900" cy="1924050"/>
          </a:xfrm>
          <a:prstGeom prst="rect">
            <a:avLst/>
          </a:prstGeom>
          <a:noFill/>
          <a:ln>
            <a:noFill/>
          </a:ln>
        </p:spPr>
        <p:txBody>
          <a:bodyPr anchorCtr="0" anchor="t" bIns="0" lIns="0" spcFirstLastPara="1" rIns="0" wrap="square" tIns="16500">
            <a:spAutoFit/>
          </a:bodyPr>
          <a:lstStyle/>
          <a:p>
            <a:pPr indent="266700" lvl="0" marL="12700" marR="5080" rtl="0" algn="l">
              <a:lnSpc>
                <a:spcPct val="119200"/>
              </a:lnSpc>
              <a:spcBef>
                <a:spcPts val="0"/>
              </a:spcBef>
              <a:spcAft>
                <a:spcPts val="0"/>
              </a:spcAft>
              <a:buNone/>
            </a:pPr>
            <a:r>
              <a:rPr b="1" lang="fr-FR" sz="2600">
                <a:solidFill>
                  <a:srgbClr val="61731F"/>
                </a:solidFill>
                <a:latin typeface="Garamond"/>
                <a:ea typeface="Garamond"/>
                <a:cs typeface="Garamond"/>
                <a:sym typeface="Garamond"/>
              </a:rPr>
              <a:t>Pr Jihen Aloulou Pr Najla Halouani Pr Ag Mariem Turki</a:t>
            </a:r>
            <a:endParaRPr sz="2600">
              <a:latin typeface="Garamond"/>
              <a:ea typeface="Garamond"/>
              <a:cs typeface="Garamond"/>
              <a:sym typeface="Garamond"/>
            </a:endParaRPr>
          </a:p>
          <a:p>
            <a:pPr indent="0" lvl="0" marL="646430" rtl="0" algn="l">
              <a:lnSpc>
                <a:spcPct val="100000"/>
              </a:lnSpc>
              <a:spcBef>
                <a:spcPts val="635"/>
              </a:spcBef>
              <a:spcAft>
                <a:spcPts val="0"/>
              </a:spcAft>
              <a:buNone/>
            </a:pPr>
            <a:r>
              <a:rPr b="1" lang="fr-FR" sz="2600">
                <a:solidFill>
                  <a:srgbClr val="61731F"/>
                </a:solidFill>
                <a:latin typeface="Garamond"/>
                <a:ea typeface="Garamond"/>
                <a:cs typeface="Garamond"/>
                <a:sym typeface="Garamond"/>
              </a:rPr>
              <a:t>21/07/2025</a:t>
            </a:r>
            <a:endParaRPr sz="2600">
              <a:latin typeface="Garamond"/>
              <a:ea typeface="Garamond"/>
              <a:cs typeface="Garamond"/>
              <a:sym typeface="Garamond"/>
            </a:endParaRPr>
          </a:p>
        </p:txBody>
      </p:sp>
      <p:pic>
        <p:nvPicPr>
          <p:cNvPr id="77" name="Google Shape;77;p1"/>
          <p:cNvPicPr preferRelativeResize="0"/>
          <p:nvPr/>
        </p:nvPicPr>
        <p:blipFill rotWithShape="1">
          <a:blip r:embed="rId6">
            <a:alphaModFix/>
          </a:blip>
          <a:srcRect b="0" l="0" r="0" t="0"/>
          <a:stretch/>
        </p:blipFill>
        <p:spPr>
          <a:xfrm>
            <a:off x="5276850" y="76136"/>
            <a:ext cx="1262062" cy="12525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2"/>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3" name="Google Shape;83;p2"/>
          <p:cNvSpPr txBox="1"/>
          <p:nvPr>
            <p:ph type="title"/>
          </p:nvPr>
        </p:nvSpPr>
        <p:spPr>
          <a:xfrm>
            <a:off x="802005" y="636905"/>
            <a:ext cx="10587989" cy="1671955"/>
          </a:xfrm>
          <a:prstGeom prst="rect">
            <a:avLst/>
          </a:prstGeom>
          <a:noFill/>
          <a:ln>
            <a:noFill/>
          </a:ln>
        </p:spPr>
        <p:txBody>
          <a:bodyPr anchorCtr="0" anchor="t" bIns="0" lIns="0" spcFirstLastPara="1" rIns="0" wrap="square" tIns="609850">
            <a:spAutoFit/>
          </a:bodyPr>
          <a:lstStyle/>
          <a:p>
            <a:pPr indent="0" lvl="0" marL="765810" rtl="0" algn="l">
              <a:lnSpc>
                <a:spcPct val="100000"/>
              </a:lnSpc>
              <a:spcBef>
                <a:spcPts val="0"/>
              </a:spcBef>
              <a:spcAft>
                <a:spcPts val="0"/>
              </a:spcAft>
              <a:buNone/>
            </a:pPr>
            <a:r>
              <a:rPr lang="fr-FR" sz="4400"/>
              <a:t>L’anxiété pathologique est :</a:t>
            </a:r>
            <a:endParaRPr sz="4400"/>
          </a:p>
        </p:txBody>
      </p:sp>
      <p:sp>
        <p:nvSpPr>
          <p:cNvPr id="84" name="Google Shape;84;p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33350" rtl="0" algn="l">
              <a:lnSpc>
                <a:spcPct val="125555"/>
              </a:lnSpc>
              <a:spcBef>
                <a:spcPts val="0"/>
              </a:spcBef>
              <a:spcAft>
                <a:spcPts val="0"/>
              </a:spcAft>
              <a:buNone/>
            </a:pPr>
            <a:fld id="{00000000-1234-1234-1234-123412341234}" type="slidenum">
              <a:rPr lang="fr-FR"/>
              <a:t>‹#›</a:t>
            </a:fld>
            <a:endParaRPr/>
          </a:p>
        </p:txBody>
      </p:sp>
      <p:sp>
        <p:nvSpPr>
          <p:cNvPr id="85" name="Google Shape;85;p2"/>
          <p:cNvSpPr txBox="1"/>
          <p:nvPr/>
        </p:nvSpPr>
        <p:spPr>
          <a:xfrm>
            <a:off x="1390014" y="2547849"/>
            <a:ext cx="4544060" cy="2568011"/>
          </a:xfrm>
          <a:prstGeom prst="rect">
            <a:avLst/>
          </a:prstGeom>
          <a:noFill/>
          <a:ln>
            <a:noFill/>
          </a:ln>
        </p:spPr>
        <p:txBody>
          <a:bodyPr anchorCtr="0" anchor="t" bIns="0" lIns="0" spcFirstLastPara="1" rIns="0" wrap="square" tIns="53975">
            <a:spAutoFit/>
          </a:bodyPr>
          <a:lstStyle/>
          <a:p>
            <a:pPr indent="-513080" lvl="0" marL="52578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Durable</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Bénéfique</a:t>
            </a:r>
            <a:endParaRPr sz="2750">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Contrôlable</a:t>
            </a:r>
            <a:endParaRPr sz="2750">
              <a:latin typeface="Garamond"/>
              <a:ea typeface="Garamond"/>
              <a:cs typeface="Garamond"/>
              <a:sym typeface="Garamond"/>
            </a:endParaRPr>
          </a:p>
          <a:p>
            <a:pPr indent="-513080" lvl="0" marL="525780"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Reconnue comme absurde</a:t>
            </a:r>
            <a:endParaRPr sz="2750">
              <a:solidFill>
                <a:srgbClr val="FF0000"/>
              </a:solidFill>
              <a:latin typeface="Garamond"/>
              <a:ea typeface="Garamond"/>
              <a:cs typeface="Garamond"/>
              <a:sym typeface="Garamond"/>
            </a:endParaRPr>
          </a:p>
          <a:p>
            <a:pPr indent="-513080" lvl="0" marL="525780" rtl="0" algn="l">
              <a:lnSpc>
                <a:spcPct val="100000"/>
              </a:lnSpc>
              <a:spcBef>
                <a:spcPts val="8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Intense</a:t>
            </a:r>
            <a:endParaRPr sz="2750">
              <a:solidFill>
                <a:srgbClr val="FF0000"/>
              </a:solidFill>
              <a:latin typeface="Garamond"/>
              <a:ea typeface="Garamond"/>
              <a:cs typeface="Garamond"/>
              <a:sym typeface="Garamo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3"/>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1" name="Google Shape;91;p3"/>
          <p:cNvSpPr txBox="1"/>
          <p:nvPr>
            <p:ph type="title"/>
          </p:nvPr>
        </p:nvSpPr>
        <p:spPr>
          <a:xfrm>
            <a:off x="1595119" y="1233106"/>
            <a:ext cx="2362835" cy="70104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4400">
                <a:solidFill>
                  <a:srgbClr val="000000"/>
                </a:solidFill>
              </a:rPr>
              <a:t>L’anxiété:</a:t>
            </a:r>
            <a:endParaRPr sz="4400"/>
          </a:p>
        </p:txBody>
      </p:sp>
      <p:sp>
        <p:nvSpPr>
          <p:cNvPr id="92" name="Google Shape;92;p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33350" rtl="0" algn="l">
              <a:lnSpc>
                <a:spcPct val="125555"/>
              </a:lnSpc>
              <a:spcBef>
                <a:spcPts val="0"/>
              </a:spcBef>
              <a:spcAft>
                <a:spcPts val="0"/>
              </a:spcAft>
              <a:buNone/>
            </a:pPr>
            <a:fld id="{00000000-1234-1234-1234-123412341234}" type="slidenum">
              <a:rPr lang="fr-FR"/>
              <a:t>‹#›</a:t>
            </a:fld>
            <a:endParaRPr/>
          </a:p>
        </p:txBody>
      </p:sp>
      <p:sp>
        <p:nvSpPr>
          <p:cNvPr id="93" name="Google Shape;93;p3"/>
          <p:cNvSpPr txBox="1"/>
          <p:nvPr/>
        </p:nvSpPr>
        <p:spPr>
          <a:xfrm>
            <a:off x="1003300" y="2607851"/>
            <a:ext cx="10353040" cy="2655855"/>
          </a:xfrm>
          <a:prstGeom prst="rect">
            <a:avLst/>
          </a:prstGeom>
          <a:noFill/>
          <a:ln>
            <a:noFill/>
          </a:ln>
        </p:spPr>
        <p:txBody>
          <a:bodyPr anchorCtr="0" anchor="t" bIns="0" lIns="0" spcFirstLastPara="1" rIns="0" wrap="square" tIns="90150">
            <a:spAutoFit/>
          </a:bodyPr>
          <a:lstStyle/>
          <a:p>
            <a:pPr indent="-514350" lvl="0" marL="527050" rtl="0" algn="l">
              <a:lnSpc>
                <a:spcPct val="100000"/>
              </a:lnSpc>
              <a:spcBef>
                <a:spcPts val="0"/>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S’accompagne toujours d’une tristesse.</a:t>
            </a:r>
            <a:endParaRPr sz="2600">
              <a:latin typeface="Garamond"/>
              <a:ea typeface="Garamond"/>
              <a:cs typeface="Garamond"/>
              <a:sym typeface="Garamond"/>
            </a:endParaRPr>
          </a:p>
          <a:p>
            <a:pPr indent="-514350" lvl="0" marL="527050" rtl="0" algn="l">
              <a:lnSpc>
                <a:spcPct val="100000"/>
              </a:lnSpc>
              <a:spcBef>
                <a:spcPts val="10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Peut comporter la peur de perdre le contrôle de soi.</a:t>
            </a:r>
            <a:endParaRPr sz="2600">
              <a:solidFill>
                <a:srgbClr val="FF0000"/>
              </a:solidFill>
              <a:latin typeface="Garamond"/>
              <a:ea typeface="Garamond"/>
              <a:cs typeface="Garamond"/>
              <a:sym typeface="Garamond"/>
            </a:endParaRPr>
          </a:p>
          <a:p>
            <a:pPr indent="-514350" lvl="0" marL="527050" rtl="0" algn="l">
              <a:lnSpc>
                <a:spcPct val="100000"/>
              </a:lnSpc>
              <a:spcBef>
                <a:spcPts val="105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Est absente dans les obsessions.</a:t>
            </a:r>
            <a:endParaRPr sz="2600">
              <a:latin typeface="Garamond"/>
              <a:ea typeface="Garamond"/>
              <a:cs typeface="Garamond"/>
              <a:sym typeface="Garamond"/>
            </a:endParaRPr>
          </a:p>
          <a:p>
            <a:pPr indent="-514350" lvl="0" marL="527050" rtl="0" algn="l">
              <a:lnSpc>
                <a:spcPct val="100000"/>
              </a:lnSpc>
              <a:spcBef>
                <a:spcPts val="106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Le sujet est généralement conscient du caractère anormal de son état.</a:t>
            </a:r>
            <a:endParaRPr sz="2600">
              <a:solidFill>
                <a:srgbClr val="FF0000"/>
              </a:solidFill>
              <a:latin typeface="Garamond"/>
              <a:ea typeface="Garamond"/>
              <a:cs typeface="Garamond"/>
              <a:sym typeface="Garamond"/>
            </a:endParaRPr>
          </a:p>
          <a:p>
            <a:pPr indent="-514350" lvl="0" marL="527050" rtl="0" algn="l">
              <a:lnSpc>
                <a:spcPct val="100000"/>
              </a:lnSpc>
              <a:spcBef>
                <a:spcPts val="105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Nécessite toujours un traitement.</a:t>
            </a:r>
            <a:endParaRPr sz="2600">
              <a:latin typeface="Garamond"/>
              <a:ea typeface="Garamond"/>
              <a:cs typeface="Garamond"/>
              <a:sym typeface="Garamon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4"/>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9" name="Google Shape;99;p4"/>
          <p:cNvSpPr txBox="1"/>
          <p:nvPr>
            <p:ph type="title"/>
          </p:nvPr>
        </p:nvSpPr>
        <p:spPr>
          <a:xfrm>
            <a:off x="1375028" y="608711"/>
            <a:ext cx="9173210" cy="1500505"/>
          </a:xfrm>
          <a:prstGeom prst="rect">
            <a:avLst/>
          </a:prstGeom>
          <a:noFill/>
          <a:ln>
            <a:noFill/>
          </a:ln>
        </p:spPr>
        <p:txBody>
          <a:bodyPr anchorCtr="0" anchor="t" bIns="0" lIns="0" spcFirstLastPara="1" rIns="0" wrap="square" tIns="12700">
            <a:spAutoFit/>
          </a:bodyPr>
          <a:lstStyle/>
          <a:p>
            <a:pPr indent="0" lvl="0" marL="12700" marR="5080" rtl="0" algn="l">
              <a:lnSpc>
                <a:spcPct val="100699"/>
              </a:lnSpc>
              <a:spcBef>
                <a:spcPts val="0"/>
              </a:spcBef>
              <a:spcAft>
                <a:spcPts val="0"/>
              </a:spcAft>
              <a:buNone/>
            </a:pPr>
            <a:r>
              <a:rPr lang="fr-FR" sz="3200">
                <a:solidFill>
                  <a:srgbClr val="000000"/>
                </a:solidFill>
              </a:rPr>
              <a:t>Parmi les propositions suivantes concernant l’anxiété normale et l’anxiété pathologique, cochez celles qui sont vraies :</a:t>
            </a:r>
            <a:endParaRPr sz="3200"/>
          </a:p>
        </p:txBody>
      </p:sp>
      <p:sp>
        <p:nvSpPr>
          <p:cNvPr id="100" name="Google Shape;100;p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33350" rtl="0" algn="l">
              <a:lnSpc>
                <a:spcPct val="125555"/>
              </a:lnSpc>
              <a:spcBef>
                <a:spcPts val="0"/>
              </a:spcBef>
              <a:spcAft>
                <a:spcPts val="0"/>
              </a:spcAft>
              <a:buNone/>
            </a:pPr>
            <a:fld id="{00000000-1234-1234-1234-123412341234}" type="slidenum">
              <a:rPr lang="fr-FR"/>
              <a:t>‹#›</a:t>
            </a:fld>
            <a:endParaRPr/>
          </a:p>
        </p:txBody>
      </p:sp>
      <p:sp>
        <p:nvSpPr>
          <p:cNvPr id="101" name="Google Shape;101;p4"/>
          <p:cNvSpPr txBox="1"/>
          <p:nvPr/>
        </p:nvSpPr>
        <p:spPr>
          <a:xfrm>
            <a:off x="1375028" y="2562542"/>
            <a:ext cx="9906635" cy="3602354"/>
          </a:xfrm>
          <a:prstGeom prst="rect">
            <a:avLst/>
          </a:prstGeom>
          <a:noFill/>
          <a:ln>
            <a:noFill/>
          </a:ln>
        </p:spPr>
        <p:txBody>
          <a:bodyPr anchorCtr="0" anchor="t" bIns="0" lIns="0" spcFirstLastPara="1" rIns="0" wrap="square" tIns="15875">
            <a:spAutoFit/>
          </a:bodyPr>
          <a:lstStyle/>
          <a:p>
            <a:pPr indent="-326390" lvl="0" marL="339090" rtl="0" algn="l">
              <a:lnSpc>
                <a:spcPct val="119230"/>
              </a:lnSpc>
              <a:spcBef>
                <a:spcPts val="0"/>
              </a:spcBef>
              <a:spcAft>
                <a:spcPts val="0"/>
              </a:spcAft>
              <a:buClr>
                <a:srgbClr val="FF0000"/>
              </a:buClr>
              <a:buSzPts val="2150"/>
              <a:buFont typeface="Garamond"/>
              <a:buAutoNum type="alphaUcPeriod"/>
            </a:pPr>
            <a:r>
              <a:rPr b="1" lang="fr-FR" sz="2600">
                <a:solidFill>
                  <a:srgbClr val="FF0000"/>
                </a:solidFill>
                <a:latin typeface="Garamond"/>
                <a:ea typeface="Garamond"/>
                <a:cs typeface="Garamond"/>
                <a:sym typeface="Garamond"/>
              </a:rPr>
              <a:t>L’anxiété normale est une réaction adaptative face à une menace</a:t>
            </a:r>
            <a:endParaRPr sz="2600">
              <a:solidFill>
                <a:srgbClr val="FF0000"/>
              </a:solidFill>
              <a:latin typeface="Garamond"/>
              <a:ea typeface="Garamond"/>
              <a:cs typeface="Garamond"/>
              <a:sym typeface="Garamond"/>
            </a:endParaRPr>
          </a:p>
          <a:p>
            <a:pPr indent="0" lvl="0" marL="12700" rtl="0" algn="l">
              <a:lnSpc>
                <a:spcPct val="119230"/>
              </a:lnSpc>
              <a:spcBef>
                <a:spcPts val="0"/>
              </a:spcBef>
              <a:spcAft>
                <a:spcPts val="0"/>
              </a:spcAft>
              <a:buNone/>
            </a:pPr>
            <a:r>
              <a:rPr b="1" lang="fr-FR" sz="2600">
                <a:solidFill>
                  <a:srgbClr val="FF0000"/>
                </a:solidFill>
                <a:latin typeface="Garamond"/>
                <a:ea typeface="Garamond"/>
                <a:cs typeface="Garamond"/>
                <a:sym typeface="Garamond"/>
              </a:rPr>
              <a:t>perçue.</a:t>
            </a:r>
            <a:endParaRPr sz="2600">
              <a:solidFill>
                <a:srgbClr val="FF0000"/>
              </a:solidFill>
              <a:latin typeface="Garamond"/>
              <a:ea typeface="Garamond"/>
              <a:cs typeface="Garamond"/>
              <a:sym typeface="Garamond"/>
            </a:endParaRPr>
          </a:p>
          <a:p>
            <a:pPr indent="-390525" lvl="0" marL="403225" rtl="0" algn="l">
              <a:lnSpc>
                <a:spcPct val="100000"/>
              </a:lnSpc>
              <a:spcBef>
                <a:spcPts val="35"/>
              </a:spcBef>
              <a:spcAft>
                <a:spcPts val="0"/>
              </a:spcAft>
              <a:buClr>
                <a:srgbClr val="FF0000"/>
              </a:buClr>
              <a:buSzPts val="2600"/>
              <a:buFont typeface="Garamond"/>
              <a:buAutoNum type="alphaUcPeriod" startAt="2"/>
            </a:pPr>
            <a:r>
              <a:rPr b="1" lang="fr-FR" sz="2600">
                <a:solidFill>
                  <a:srgbClr val="FF0000"/>
                </a:solidFill>
                <a:latin typeface="Garamond"/>
                <a:ea typeface="Garamond"/>
                <a:cs typeface="Garamond"/>
                <a:sym typeface="Garamond"/>
              </a:rPr>
              <a:t>L’anxiété pathologique se caractérise par une intensité excessive et</a:t>
            </a:r>
            <a:endParaRPr sz="2600">
              <a:solidFill>
                <a:srgbClr val="FF0000"/>
              </a:solidFill>
              <a:latin typeface="Garamond"/>
              <a:ea typeface="Garamond"/>
              <a:cs typeface="Garamond"/>
              <a:sym typeface="Garamond"/>
            </a:endParaRPr>
          </a:p>
          <a:p>
            <a:pPr indent="0" lvl="0" marL="12700" rtl="0" algn="l">
              <a:lnSpc>
                <a:spcPct val="119230"/>
              </a:lnSpc>
              <a:spcBef>
                <a:spcPts val="35"/>
              </a:spcBef>
              <a:spcAft>
                <a:spcPts val="0"/>
              </a:spcAft>
              <a:buNone/>
            </a:pPr>
            <a:r>
              <a:rPr b="1" lang="fr-FR" sz="2600">
                <a:solidFill>
                  <a:srgbClr val="FF0000"/>
                </a:solidFill>
                <a:latin typeface="Garamond"/>
                <a:ea typeface="Garamond"/>
                <a:cs typeface="Garamond"/>
                <a:sym typeface="Garamond"/>
              </a:rPr>
              <a:t>une durée prolongée.</a:t>
            </a:r>
            <a:endParaRPr sz="2600">
              <a:solidFill>
                <a:srgbClr val="FF0000"/>
              </a:solidFill>
              <a:latin typeface="Garamond"/>
              <a:ea typeface="Garamond"/>
              <a:cs typeface="Garamond"/>
              <a:sym typeface="Garamond"/>
            </a:endParaRPr>
          </a:p>
          <a:p>
            <a:pPr indent="-399415" lvl="0" marL="412115" rtl="0" algn="l">
              <a:lnSpc>
                <a:spcPct val="119230"/>
              </a:lnSpc>
              <a:spcBef>
                <a:spcPts val="0"/>
              </a:spcBef>
              <a:spcAft>
                <a:spcPts val="0"/>
              </a:spcAft>
              <a:buClr>
                <a:srgbClr val="252525"/>
              </a:buClr>
              <a:buSzPts val="2600"/>
              <a:buFont typeface="Garamond"/>
              <a:buAutoNum type="alphaUcPeriod" startAt="3"/>
            </a:pPr>
            <a:r>
              <a:rPr b="1" lang="fr-FR" sz="2600">
                <a:solidFill>
                  <a:srgbClr val="252525"/>
                </a:solidFill>
                <a:latin typeface="Garamond"/>
                <a:ea typeface="Garamond"/>
                <a:cs typeface="Garamond"/>
                <a:sym typeface="Garamond"/>
              </a:rPr>
              <a:t>L’anxiété normale entraîne une détresse cliniquement significative.</a:t>
            </a:r>
            <a:endParaRPr sz="2600">
              <a:latin typeface="Garamond"/>
              <a:ea typeface="Garamond"/>
              <a:cs typeface="Garamond"/>
              <a:sym typeface="Garamond"/>
            </a:endParaRPr>
          </a:p>
          <a:p>
            <a:pPr indent="-418465" lvl="0" marL="431165" rtl="0" algn="l">
              <a:lnSpc>
                <a:spcPct val="119230"/>
              </a:lnSpc>
              <a:spcBef>
                <a:spcPts val="35"/>
              </a:spcBef>
              <a:spcAft>
                <a:spcPts val="0"/>
              </a:spcAft>
              <a:buClr>
                <a:srgbClr val="FF0000"/>
              </a:buClr>
              <a:buSzPts val="2600"/>
              <a:buFont typeface="Garamond"/>
              <a:buAutoNum type="alphaUcPeriod" startAt="3"/>
            </a:pPr>
            <a:r>
              <a:rPr b="1" lang="fr-FR" sz="2600">
                <a:solidFill>
                  <a:srgbClr val="FF0000"/>
                </a:solidFill>
                <a:latin typeface="Garamond"/>
                <a:ea typeface="Garamond"/>
                <a:cs typeface="Garamond"/>
                <a:sym typeface="Garamond"/>
              </a:rPr>
              <a:t>L’anxiété pathologique interfère avec les activités quotidiennes et la</a:t>
            </a:r>
            <a:endParaRPr sz="2600">
              <a:solidFill>
                <a:srgbClr val="FF0000"/>
              </a:solidFill>
              <a:latin typeface="Garamond"/>
              <a:ea typeface="Garamond"/>
              <a:cs typeface="Garamond"/>
              <a:sym typeface="Garamond"/>
            </a:endParaRPr>
          </a:p>
          <a:p>
            <a:pPr indent="0" lvl="0" marL="12700" rtl="0" algn="l">
              <a:lnSpc>
                <a:spcPct val="119230"/>
              </a:lnSpc>
              <a:spcBef>
                <a:spcPts val="0"/>
              </a:spcBef>
              <a:spcAft>
                <a:spcPts val="0"/>
              </a:spcAft>
              <a:buNone/>
            </a:pPr>
            <a:r>
              <a:rPr b="1" lang="fr-FR" sz="2600">
                <a:solidFill>
                  <a:srgbClr val="FF0000"/>
                </a:solidFill>
                <a:latin typeface="Garamond"/>
                <a:ea typeface="Garamond"/>
                <a:cs typeface="Garamond"/>
                <a:sym typeface="Garamond"/>
              </a:rPr>
              <a:t>qualité de vie.</a:t>
            </a:r>
            <a:endParaRPr sz="2600">
              <a:solidFill>
                <a:srgbClr val="FF0000"/>
              </a:solidFill>
              <a:latin typeface="Garamond"/>
              <a:ea typeface="Garamond"/>
              <a:cs typeface="Garamond"/>
              <a:sym typeface="Garamond"/>
            </a:endParaRPr>
          </a:p>
          <a:p>
            <a:pPr indent="-400050" lvl="0" marL="412750" rtl="0" algn="l">
              <a:lnSpc>
                <a:spcPct val="100000"/>
              </a:lnSpc>
              <a:spcBef>
                <a:spcPts val="35"/>
              </a:spcBef>
              <a:spcAft>
                <a:spcPts val="0"/>
              </a:spcAft>
              <a:buClr>
                <a:srgbClr val="252525"/>
              </a:buClr>
              <a:buSzPts val="2600"/>
              <a:buFont typeface="Garamond"/>
              <a:buAutoNum type="alphaUcPeriod" startAt="5"/>
            </a:pPr>
            <a:r>
              <a:rPr b="1" lang="fr-FR" sz="2600">
                <a:solidFill>
                  <a:srgbClr val="252525"/>
                </a:solidFill>
                <a:latin typeface="Garamond"/>
                <a:ea typeface="Garamond"/>
                <a:cs typeface="Garamond"/>
                <a:sym typeface="Garamond"/>
              </a:rPr>
              <a:t>L’anxiété normale ne s’accompagne pas de symptômes physiques</a:t>
            </a:r>
            <a:endParaRPr sz="2600">
              <a:latin typeface="Garamond"/>
              <a:ea typeface="Garamond"/>
              <a:cs typeface="Garamond"/>
              <a:sym typeface="Garamond"/>
            </a:endParaRPr>
          </a:p>
          <a:p>
            <a:pPr indent="0" lvl="0" marL="12700" rtl="0" algn="l">
              <a:lnSpc>
                <a:spcPct val="100000"/>
              </a:lnSpc>
              <a:spcBef>
                <a:spcPts val="35"/>
              </a:spcBef>
              <a:spcAft>
                <a:spcPts val="0"/>
              </a:spcAft>
              <a:buNone/>
            </a:pPr>
            <a:r>
              <a:rPr b="1" lang="fr-FR" sz="2600">
                <a:solidFill>
                  <a:srgbClr val="252525"/>
                </a:solidFill>
                <a:latin typeface="Garamond"/>
                <a:ea typeface="Garamond"/>
                <a:cs typeface="Garamond"/>
                <a:sym typeface="Garamond"/>
              </a:rPr>
              <a:t>comme les palpitations ou la transpiration.</a:t>
            </a:r>
            <a:endParaRPr sz="2600">
              <a:latin typeface="Garamond"/>
              <a:ea typeface="Garamond"/>
              <a:cs typeface="Garamond"/>
              <a:sym typeface="Garamo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5"/>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7" name="Google Shape;107;p5"/>
          <p:cNvSpPr txBox="1"/>
          <p:nvPr>
            <p:ph type="title"/>
          </p:nvPr>
        </p:nvSpPr>
        <p:spPr>
          <a:xfrm>
            <a:off x="1375028" y="761365"/>
            <a:ext cx="9455785" cy="112839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fr-FR">
                <a:solidFill>
                  <a:srgbClr val="000000"/>
                </a:solidFill>
              </a:rPr>
              <a:t>À	propos	de	l’anxiété	normale	et	de	l’anxiété</a:t>
            </a:r>
            <a:endParaRPr/>
          </a:p>
          <a:p>
            <a:pPr indent="0" lvl="0" marL="12700" rtl="0" algn="l">
              <a:lnSpc>
                <a:spcPct val="100000"/>
              </a:lnSpc>
              <a:spcBef>
                <a:spcPts val="35"/>
              </a:spcBef>
              <a:spcAft>
                <a:spcPts val="0"/>
              </a:spcAft>
              <a:buNone/>
            </a:pPr>
            <a:r>
              <a:rPr lang="fr-FR">
                <a:solidFill>
                  <a:srgbClr val="000000"/>
                </a:solidFill>
              </a:rPr>
              <a:t>pathologique, quelles affirmations sont exactes?</a:t>
            </a:r>
            <a:endParaRPr/>
          </a:p>
        </p:txBody>
      </p:sp>
      <p:sp>
        <p:nvSpPr>
          <p:cNvPr id="108" name="Google Shape;108;p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33350" rtl="0" algn="l">
              <a:lnSpc>
                <a:spcPct val="125555"/>
              </a:lnSpc>
              <a:spcBef>
                <a:spcPts val="0"/>
              </a:spcBef>
              <a:spcAft>
                <a:spcPts val="0"/>
              </a:spcAft>
              <a:buNone/>
            </a:pPr>
            <a:fld id="{00000000-1234-1234-1234-123412341234}" type="slidenum">
              <a:rPr lang="fr-FR"/>
              <a:t>‹#›</a:t>
            </a:fld>
            <a:endParaRPr/>
          </a:p>
        </p:txBody>
      </p:sp>
      <p:sp>
        <p:nvSpPr>
          <p:cNvPr id="109" name="Google Shape;109;p5"/>
          <p:cNvSpPr txBox="1"/>
          <p:nvPr/>
        </p:nvSpPr>
        <p:spPr>
          <a:xfrm>
            <a:off x="1220469" y="2445198"/>
            <a:ext cx="9998075" cy="3324860"/>
          </a:xfrm>
          <a:prstGeom prst="rect">
            <a:avLst/>
          </a:prstGeom>
          <a:noFill/>
          <a:ln>
            <a:noFill/>
          </a:ln>
        </p:spPr>
        <p:txBody>
          <a:bodyPr anchorCtr="0" anchor="t" bIns="0" lIns="0" spcFirstLastPara="1" rIns="0" wrap="square" tIns="199375">
            <a:spAutoFit/>
          </a:bodyPr>
          <a:lstStyle/>
          <a:p>
            <a:pPr indent="-351790" lvl="0" marL="364490" rtl="0" algn="l">
              <a:lnSpc>
                <a:spcPct val="100000"/>
              </a:lnSpc>
              <a:spcBef>
                <a:spcPts val="0"/>
              </a:spcBef>
              <a:spcAft>
                <a:spcPts val="0"/>
              </a:spcAft>
              <a:buClr>
                <a:srgbClr val="FF0000"/>
              </a:buClr>
              <a:buSzPts val="2400"/>
              <a:buFont typeface="Garamond"/>
              <a:buAutoNum type="alphaUcPeriod"/>
            </a:pPr>
            <a:r>
              <a:rPr lang="fr-FR" sz="2400">
                <a:solidFill>
                  <a:srgbClr val="FF0000"/>
                </a:solidFill>
                <a:latin typeface="Garamond"/>
                <a:ea typeface="Garamond"/>
                <a:cs typeface="Garamond"/>
                <a:sym typeface="Garamond"/>
              </a:rPr>
              <a:t>L’anxiété normale disparaît généralement lorsque la situation stressante prend fin.</a:t>
            </a:r>
            <a:endParaRPr sz="2400">
              <a:solidFill>
                <a:srgbClr val="FF0000"/>
              </a:solidFill>
              <a:latin typeface="Garamond"/>
              <a:ea typeface="Garamond"/>
              <a:cs typeface="Garamond"/>
              <a:sym typeface="Garamond"/>
            </a:endParaRPr>
          </a:p>
          <a:p>
            <a:pPr indent="-313690" lvl="0" marL="326390" rtl="0" algn="l">
              <a:lnSpc>
                <a:spcPct val="100000"/>
              </a:lnSpc>
              <a:spcBef>
                <a:spcPts val="1470"/>
              </a:spcBef>
              <a:spcAft>
                <a:spcPts val="0"/>
              </a:spcAft>
              <a:buClr>
                <a:srgbClr val="252525"/>
              </a:buClr>
              <a:buSzPts val="2400"/>
              <a:buFont typeface="Garamond"/>
              <a:buAutoNum type="alphaUcPeriod"/>
            </a:pPr>
            <a:r>
              <a:rPr lang="fr-FR" sz="2400">
                <a:solidFill>
                  <a:srgbClr val="252525"/>
                </a:solidFill>
                <a:latin typeface="Garamond"/>
                <a:ea typeface="Garamond"/>
                <a:cs typeface="Garamond"/>
                <a:sym typeface="Garamond"/>
              </a:rPr>
              <a:t>L’anxiété pathologique est toujours liée à un événement identifiable.</a:t>
            </a:r>
            <a:endParaRPr sz="2400">
              <a:latin typeface="Garamond"/>
              <a:ea typeface="Garamond"/>
              <a:cs typeface="Garamond"/>
              <a:sym typeface="Garamond"/>
            </a:endParaRPr>
          </a:p>
          <a:p>
            <a:pPr indent="-333375" lvl="0" marL="346075" rtl="0" algn="l">
              <a:lnSpc>
                <a:spcPct val="100000"/>
              </a:lnSpc>
              <a:spcBef>
                <a:spcPts val="1405"/>
              </a:spcBef>
              <a:spcAft>
                <a:spcPts val="0"/>
              </a:spcAft>
              <a:buClr>
                <a:srgbClr val="FF0000"/>
              </a:buClr>
              <a:buSzPts val="2400"/>
              <a:buFont typeface="Garamond"/>
              <a:buAutoNum type="alphaUcPeriod"/>
            </a:pPr>
            <a:r>
              <a:rPr lang="fr-FR" sz="2400">
                <a:solidFill>
                  <a:srgbClr val="FF0000"/>
                </a:solidFill>
                <a:latin typeface="Garamond"/>
                <a:ea typeface="Garamond"/>
                <a:cs typeface="Garamond"/>
                <a:sym typeface="Garamond"/>
              </a:rPr>
              <a:t>Une anxiété pathologique peut être un symptôme d’un trouble psychiatrique</a:t>
            </a:r>
            <a:endParaRPr sz="2400">
              <a:solidFill>
                <a:srgbClr val="FF0000"/>
              </a:solidFill>
              <a:latin typeface="Garamond"/>
              <a:ea typeface="Garamond"/>
              <a:cs typeface="Garamond"/>
              <a:sym typeface="Garamond"/>
            </a:endParaRPr>
          </a:p>
          <a:p>
            <a:pPr indent="0" lvl="0" marL="12700" rtl="0" algn="l">
              <a:lnSpc>
                <a:spcPct val="100000"/>
              </a:lnSpc>
              <a:spcBef>
                <a:spcPts val="1475"/>
              </a:spcBef>
              <a:spcAft>
                <a:spcPts val="0"/>
              </a:spcAft>
              <a:buNone/>
            </a:pPr>
            <a:r>
              <a:rPr lang="fr-FR" sz="2400">
                <a:solidFill>
                  <a:srgbClr val="252525"/>
                </a:solidFill>
                <a:latin typeface="Garamond"/>
                <a:ea typeface="Garamond"/>
                <a:cs typeface="Garamond"/>
                <a:sym typeface="Garamond"/>
              </a:rPr>
              <a:t>comme le trouble anxiété généralisée.</a:t>
            </a:r>
            <a:endParaRPr sz="2400">
              <a:latin typeface="Garamond"/>
              <a:ea typeface="Garamond"/>
              <a:cs typeface="Garamond"/>
              <a:sym typeface="Garamond"/>
            </a:endParaRPr>
          </a:p>
          <a:p>
            <a:pPr indent="-352425" lvl="0" marL="365125" rtl="0" algn="l">
              <a:lnSpc>
                <a:spcPct val="100000"/>
              </a:lnSpc>
              <a:spcBef>
                <a:spcPts val="1475"/>
              </a:spcBef>
              <a:spcAft>
                <a:spcPts val="0"/>
              </a:spcAft>
              <a:buClr>
                <a:srgbClr val="252525"/>
              </a:buClr>
              <a:buSzPts val="2400"/>
              <a:buFont typeface="Garamond"/>
              <a:buAutoNum type="alphaUcPeriod" startAt="4"/>
            </a:pPr>
            <a:r>
              <a:rPr lang="fr-FR" sz="2400">
                <a:solidFill>
                  <a:srgbClr val="252525"/>
                </a:solidFill>
                <a:latin typeface="Garamond"/>
                <a:ea typeface="Garamond"/>
                <a:cs typeface="Garamond"/>
                <a:sym typeface="Garamond"/>
              </a:rPr>
              <a:t>L’anxiété normale n’est pas nécessaire à la survie de l’espèce humaine.</a:t>
            </a:r>
            <a:endParaRPr sz="2400">
              <a:latin typeface="Garamond"/>
              <a:ea typeface="Garamond"/>
              <a:cs typeface="Garamond"/>
              <a:sym typeface="Garamond"/>
            </a:endParaRPr>
          </a:p>
          <a:p>
            <a:pPr indent="-342900" lvl="0" marL="355600" rtl="0" algn="l">
              <a:lnSpc>
                <a:spcPct val="100000"/>
              </a:lnSpc>
              <a:spcBef>
                <a:spcPts val="1400"/>
              </a:spcBef>
              <a:spcAft>
                <a:spcPts val="0"/>
              </a:spcAft>
              <a:buClr>
                <a:srgbClr val="FF0000"/>
              </a:buClr>
              <a:buSzPts val="2400"/>
              <a:buFont typeface="Garamond"/>
              <a:buAutoNum type="alphaUcPeriod" startAt="4"/>
            </a:pPr>
            <a:r>
              <a:rPr lang="fr-FR" sz="2400">
                <a:solidFill>
                  <a:srgbClr val="FF0000"/>
                </a:solidFill>
                <a:latin typeface="Garamond"/>
                <a:ea typeface="Garamond"/>
                <a:cs typeface="Garamond"/>
                <a:sym typeface="Garamond"/>
              </a:rPr>
              <a:t>L’anxiété pathologique peut entraîner un isolement social.</a:t>
            </a:r>
            <a:endParaRPr sz="2400">
              <a:solidFill>
                <a:srgbClr val="FF0000"/>
              </a:solidFill>
              <a:latin typeface="Garamond"/>
              <a:ea typeface="Garamond"/>
              <a:cs typeface="Garamond"/>
              <a:sym typeface="Garamo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5" name="Google Shape;115;p6"/>
          <p:cNvSpPr txBox="1"/>
          <p:nvPr>
            <p:ph type="title"/>
          </p:nvPr>
        </p:nvSpPr>
        <p:spPr>
          <a:xfrm>
            <a:off x="802005" y="636905"/>
            <a:ext cx="10587989" cy="1671955"/>
          </a:xfrm>
          <a:prstGeom prst="rect">
            <a:avLst/>
          </a:prstGeom>
          <a:noFill/>
          <a:ln>
            <a:noFill/>
          </a:ln>
        </p:spPr>
        <p:txBody>
          <a:bodyPr anchorCtr="0" anchor="t" bIns="0" lIns="0" spcFirstLastPara="1" rIns="0" wrap="square" tIns="293675">
            <a:spAutoFit/>
          </a:bodyPr>
          <a:lstStyle/>
          <a:p>
            <a:pPr indent="0" lvl="0" marL="526415" rtl="0" algn="l">
              <a:lnSpc>
                <a:spcPct val="100000"/>
              </a:lnSpc>
              <a:spcBef>
                <a:spcPts val="0"/>
              </a:spcBef>
              <a:spcAft>
                <a:spcPts val="0"/>
              </a:spcAft>
              <a:buNone/>
            </a:pPr>
            <a:r>
              <a:rPr lang="fr-FR" sz="3950"/>
              <a:t>Parmi les symptômes suivants, lesquels sont</a:t>
            </a:r>
            <a:endParaRPr sz="3950"/>
          </a:p>
          <a:p>
            <a:pPr indent="0" lvl="0" marL="526415" rtl="0" algn="l">
              <a:lnSpc>
                <a:spcPct val="100000"/>
              </a:lnSpc>
              <a:spcBef>
                <a:spcPts val="70"/>
              </a:spcBef>
              <a:spcAft>
                <a:spcPts val="0"/>
              </a:spcAft>
              <a:buNone/>
            </a:pPr>
            <a:r>
              <a:rPr lang="fr-FR" sz="3950"/>
              <a:t>habituels dans l’anxiété ?</a:t>
            </a:r>
            <a:endParaRPr sz="3950"/>
          </a:p>
        </p:txBody>
      </p:sp>
      <p:sp>
        <p:nvSpPr>
          <p:cNvPr id="116" name="Google Shape;116;p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33350" rtl="0" algn="l">
              <a:lnSpc>
                <a:spcPct val="125555"/>
              </a:lnSpc>
              <a:spcBef>
                <a:spcPts val="0"/>
              </a:spcBef>
              <a:spcAft>
                <a:spcPts val="0"/>
              </a:spcAft>
              <a:buNone/>
            </a:pPr>
            <a:fld id="{00000000-1234-1234-1234-123412341234}" type="slidenum">
              <a:rPr lang="fr-FR"/>
              <a:t>‹#›</a:t>
            </a:fld>
            <a:endParaRPr/>
          </a:p>
        </p:txBody>
      </p:sp>
      <p:sp>
        <p:nvSpPr>
          <p:cNvPr id="117" name="Google Shape;117;p6"/>
          <p:cNvSpPr txBox="1"/>
          <p:nvPr/>
        </p:nvSpPr>
        <p:spPr>
          <a:xfrm>
            <a:off x="1315974" y="2401123"/>
            <a:ext cx="3517900" cy="2568652"/>
          </a:xfrm>
          <a:prstGeom prst="rect">
            <a:avLst/>
          </a:prstGeom>
          <a:noFill/>
          <a:ln>
            <a:noFill/>
          </a:ln>
        </p:spPr>
        <p:txBody>
          <a:bodyPr anchorCtr="0" anchor="t" bIns="0" lIns="0" spcFirstLastPara="1" rIns="0" wrap="square" tIns="546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Tachycardie</a:t>
            </a:r>
            <a:endParaRPr sz="2750">
              <a:solidFill>
                <a:srgbClr val="FF0000"/>
              </a:solidFill>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Bouffées de chaleur</a:t>
            </a:r>
            <a:endParaRPr sz="2750">
              <a:solidFill>
                <a:srgbClr val="FF0000"/>
              </a:solidFill>
              <a:latin typeface="Garamond"/>
              <a:ea typeface="Garamond"/>
              <a:cs typeface="Garamond"/>
              <a:sym typeface="Garamond"/>
            </a:endParaRPr>
          </a:p>
          <a:p>
            <a:pPr indent="-514350" lvl="0" marL="527050"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Constipation</a:t>
            </a:r>
            <a:endParaRPr sz="2750">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Pollakiurie</a:t>
            </a:r>
            <a:endParaRPr sz="2750">
              <a:solidFill>
                <a:srgbClr val="FF0000"/>
              </a:solidFill>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Ralentissement</a:t>
            </a:r>
            <a:endParaRPr sz="2750">
              <a:latin typeface="Garamond"/>
              <a:ea typeface="Garamond"/>
              <a:cs typeface="Garamond"/>
              <a:sym typeface="Garamo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7"/>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3" name="Google Shape;123;p7"/>
          <p:cNvSpPr txBox="1"/>
          <p:nvPr>
            <p:ph type="title"/>
          </p:nvPr>
        </p:nvSpPr>
        <p:spPr>
          <a:xfrm>
            <a:off x="802005" y="636905"/>
            <a:ext cx="10587989" cy="1671955"/>
          </a:xfrm>
          <a:prstGeom prst="rect">
            <a:avLst/>
          </a:prstGeom>
          <a:noFill/>
          <a:ln>
            <a:noFill/>
          </a:ln>
        </p:spPr>
        <p:txBody>
          <a:bodyPr anchorCtr="0" anchor="t" bIns="0" lIns="0" spcFirstLastPara="1" rIns="0" wrap="square" tIns="555600">
            <a:spAutoFit/>
          </a:bodyPr>
          <a:lstStyle/>
          <a:p>
            <a:pPr indent="0" lvl="0" marL="751205" rtl="0" algn="l">
              <a:lnSpc>
                <a:spcPct val="100000"/>
              </a:lnSpc>
              <a:spcBef>
                <a:spcPts val="0"/>
              </a:spcBef>
              <a:spcAft>
                <a:spcPts val="0"/>
              </a:spcAft>
              <a:buNone/>
            </a:pPr>
            <a:r>
              <a:rPr lang="fr-FR" sz="4400"/>
              <a:t>L’agitation anxieuse:</a:t>
            </a:r>
            <a:endParaRPr sz="4400"/>
          </a:p>
        </p:txBody>
      </p:sp>
      <p:sp>
        <p:nvSpPr>
          <p:cNvPr id="124" name="Google Shape;124;p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33350" rtl="0" algn="l">
              <a:lnSpc>
                <a:spcPct val="125555"/>
              </a:lnSpc>
              <a:spcBef>
                <a:spcPts val="0"/>
              </a:spcBef>
              <a:spcAft>
                <a:spcPts val="0"/>
              </a:spcAft>
              <a:buNone/>
            </a:pPr>
            <a:fld id="{00000000-1234-1234-1234-123412341234}" type="slidenum">
              <a:rPr lang="fr-FR"/>
              <a:t>‹#›</a:t>
            </a:fld>
            <a:endParaRPr/>
          </a:p>
        </p:txBody>
      </p:sp>
      <p:sp>
        <p:nvSpPr>
          <p:cNvPr id="125" name="Google Shape;125;p7"/>
          <p:cNvSpPr txBox="1"/>
          <p:nvPr/>
        </p:nvSpPr>
        <p:spPr>
          <a:xfrm>
            <a:off x="1375028" y="2469102"/>
            <a:ext cx="8416925" cy="2568652"/>
          </a:xfrm>
          <a:prstGeom prst="rect">
            <a:avLst/>
          </a:prstGeom>
          <a:noFill/>
          <a:ln>
            <a:noFill/>
          </a:ln>
        </p:spPr>
        <p:txBody>
          <a:bodyPr anchorCtr="0" anchor="t" bIns="0" lIns="0" spcFirstLastPara="1" rIns="0" wrap="square" tIns="546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Est sensible à une relation psychothérapeutique</a:t>
            </a:r>
            <a:endParaRPr sz="2750">
              <a:solidFill>
                <a:srgbClr val="FF0000"/>
              </a:solidFill>
              <a:latin typeface="Garamond"/>
              <a:ea typeface="Garamond"/>
              <a:cs typeface="Garamond"/>
              <a:sym typeface="Garamond"/>
            </a:endParaRPr>
          </a:p>
          <a:p>
            <a:pPr indent="-514350" lvl="0" marL="527050"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Peut entrainer un acte hétéro agressif</a:t>
            </a:r>
            <a:endParaRPr sz="2750">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Peut être liée à un facteur de stress</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Peut nécessiter la prise d’une benzodiazépine</a:t>
            </a:r>
            <a:endParaRPr sz="2750">
              <a:solidFill>
                <a:srgbClr val="FF0000"/>
              </a:solidFill>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Nécessite en règle une hospitalisation en psychiatrie</a:t>
            </a:r>
            <a:endParaRPr sz="2750">
              <a:latin typeface="Garamond"/>
              <a:ea typeface="Garamond"/>
              <a:cs typeface="Garamond"/>
              <a:sym typeface="Garamo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8"/>
          <p:cNvPicPr preferRelativeResize="0"/>
          <p:nvPr/>
        </p:nvPicPr>
        <p:blipFill rotWithShape="1">
          <a:blip r:embed="rId3">
            <a:alphaModFix/>
          </a:blip>
          <a:srcRect b="0" l="0" r="0" t="0"/>
          <a:stretch/>
        </p:blipFill>
        <p:spPr>
          <a:xfrm>
            <a:off x="952499" y="666750"/>
            <a:ext cx="10277426" cy="5486400"/>
          </a:xfrm>
          <a:prstGeom prst="rect">
            <a:avLst/>
          </a:prstGeom>
          <a:noFill/>
          <a:ln>
            <a:noFill/>
          </a:ln>
        </p:spPr>
      </p:pic>
      <p:sp>
        <p:nvSpPr>
          <p:cNvPr id="131" name="Google Shape;131;p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3335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9"/>
          <p:cNvSpPr txBox="1"/>
          <p:nvPr>
            <p:ph type="title"/>
          </p:nvPr>
        </p:nvSpPr>
        <p:spPr>
          <a:xfrm>
            <a:off x="2749930" y="1088136"/>
            <a:ext cx="952500" cy="33528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2000">
                <a:solidFill>
                  <a:srgbClr val="FFFFFF"/>
                </a:solidFill>
              </a:rPr>
              <a:t>DSM-IV</a:t>
            </a:r>
            <a:endParaRPr sz="2000"/>
          </a:p>
        </p:txBody>
      </p:sp>
      <p:sp>
        <p:nvSpPr>
          <p:cNvPr id="137" name="Google Shape;137;p9"/>
          <p:cNvSpPr txBox="1"/>
          <p:nvPr/>
        </p:nvSpPr>
        <p:spPr>
          <a:xfrm>
            <a:off x="8146668" y="1088136"/>
            <a:ext cx="793115" cy="33528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b="1" lang="fr-FR" sz="2000">
                <a:solidFill>
                  <a:srgbClr val="FFFFFF"/>
                </a:solidFill>
                <a:latin typeface="Garamond"/>
                <a:ea typeface="Garamond"/>
                <a:cs typeface="Garamond"/>
                <a:sym typeface="Garamond"/>
              </a:rPr>
              <a:t>DSM-5</a:t>
            </a:r>
            <a:endParaRPr sz="2000">
              <a:latin typeface="Garamond"/>
              <a:ea typeface="Garamond"/>
              <a:cs typeface="Garamond"/>
              <a:sym typeface="Garamond"/>
            </a:endParaRPr>
          </a:p>
        </p:txBody>
      </p:sp>
      <p:sp>
        <p:nvSpPr>
          <p:cNvPr id="138" name="Google Shape;138;p9"/>
          <p:cNvSpPr txBox="1"/>
          <p:nvPr/>
        </p:nvSpPr>
        <p:spPr>
          <a:xfrm>
            <a:off x="806450" y="1790382"/>
            <a:ext cx="3143250" cy="222758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fr-FR" sz="1800">
                <a:latin typeface="Garamond"/>
                <a:ea typeface="Garamond"/>
                <a:cs typeface="Garamond"/>
                <a:sym typeface="Garamond"/>
              </a:rPr>
              <a:t>Troubles anxieux</a:t>
            </a:r>
            <a:endParaRPr sz="1800">
              <a:latin typeface="Garamond"/>
              <a:ea typeface="Garamond"/>
              <a:cs typeface="Garamond"/>
              <a:sym typeface="Garamond"/>
            </a:endParaRPr>
          </a:p>
          <a:p>
            <a:pPr indent="0" lvl="0" marL="12700" rtl="0" algn="l">
              <a:lnSpc>
                <a:spcPct val="100000"/>
              </a:lnSpc>
              <a:spcBef>
                <a:spcPts val="20"/>
              </a:spcBef>
              <a:spcAft>
                <a:spcPts val="0"/>
              </a:spcAft>
              <a:buNone/>
            </a:pPr>
            <a:r>
              <a:rPr lang="fr-FR" sz="1800">
                <a:latin typeface="Garamond"/>
                <a:ea typeface="Garamond"/>
                <a:cs typeface="Garamond"/>
                <a:sym typeface="Garamond"/>
              </a:rPr>
              <a:t>-Phobie sociale</a:t>
            </a:r>
            <a:endParaRPr sz="1800">
              <a:latin typeface="Garamond"/>
              <a:ea typeface="Garamond"/>
              <a:cs typeface="Garamond"/>
              <a:sym typeface="Garamond"/>
            </a:endParaRPr>
          </a:p>
          <a:p>
            <a:pPr indent="0" lvl="0" marL="12700" rtl="0" algn="l">
              <a:lnSpc>
                <a:spcPct val="118333"/>
              </a:lnSpc>
              <a:spcBef>
                <a:spcPts val="20"/>
              </a:spcBef>
              <a:spcAft>
                <a:spcPts val="0"/>
              </a:spcAft>
              <a:buNone/>
            </a:pPr>
            <a:r>
              <a:rPr lang="fr-FR" sz="1800">
                <a:latin typeface="Garamond"/>
                <a:ea typeface="Garamond"/>
                <a:cs typeface="Garamond"/>
                <a:sym typeface="Garamond"/>
              </a:rPr>
              <a:t>-phobie spécifique</a:t>
            </a:r>
            <a:endParaRPr sz="1800">
              <a:latin typeface="Garamond"/>
              <a:ea typeface="Garamond"/>
              <a:cs typeface="Garamond"/>
              <a:sym typeface="Garamond"/>
            </a:endParaRPr>
          </a:p>
          <a:p>
            <a:pPr indent="0" lvl="0" marL="12700" rtl="0" algn="l">
              <a:lnSpc>
                <a:spcPct val="118333"/>
              </a:lnSpc>
              <a:spcBef>
                <a:spcPts val="0"/>
              </a:spcBef>
              <a:spcAft>
                <a:spcPts val="0"/>
              </a:spcAft>
              <a:buNone/>
            </a:pPr>
            <a:r>
              <a:rPr lang="fr-FR" sz="1800">
                <a:latin typeface="Garamond"/>
                <a:ea typeface="Garamond"/>
                <a:cs typeface="Garamond"/>
                <a:sym typeface="Garamond"/>
              </a:rPr>
              <a:t>-Trouble panique sans agoraphobie</a:t>
            </a:r>
            <a:endParaRPr sz="1800">
              <a:latin typeface="Garamond"/>
              <a:ea typeface="Garamond"/>
              <a:cs typeface="Garamond"/>
              <a:sym typeface="Garamond"/>
            </a:endParaRPr>
          </a:p>
          <a:p>
            <a:pPr indent="0" lvl="0" marL="12700" rtl="0" algn="l">
              <a:lnSpc>
                <a:spcPct val="100000"/>
              </a:lnSpc>
              <a:spcBef>
                <a:spcPts val="15"/>
              </a:spcBef>
              <a:spcAft>
                <a:spcPts val="0"/>
              </a:spcAft>
              <a:buNone/>
            </a:pPr>
            <a:r>
              <a:rPr lang="fr-FR" sz="1800">
                <a:latin typeface="Garamond"/>
                <a:ea typeface="Garamond"/>
                <a:cs typeface="Garamond"/>
                <a:sym typeface="Garamond"/>
              </a:rPr>
              <a:t>-Trouble panique avec agoraphobie</a:t>
            </a:r>
            <a:endParaRPr sz="1800">
              <a:latin typeface="Garamond"/>
              <a:ea typeface="Garamond"/>
              <a:cs typeface="Garamond"/>
              <a:sym typeface="Garamond"/>
            </a:endParaRPr>
          </a:p>
          <a:p>
            <a:pPr indent="0" lvl="0" marL="12700" rtl="0" algn="l">
              <a:lnSpc>
                <a:spcPct val="100000"/>
              </a:lnSpc>
              <a:spcBef>
                <a:spcPts val="20"/>
              </a:spcBef>
              <a:spcAft>
                <a:spcPts val="0"/>
              </a:spcAft>
              <a:buNone/>
            </a:pPr>
            <a:r>
              <a:rPr lang="fr-FR" sz="1800">
                <a:latin typeface="Garamond"/>
                <a:ea typeface="Garamond"/>
                <a:cs typeface="Garamond"/>
                <a:sym typeface="Garamond"/>
              </a:rPr>
              <a:t>-Trouble anxiété généralisée</a:t>
            </a:r>
            <a:endParaRPr sz="1800">
              <a:latin typeface="Garamond"/>
              <a:ea typeface="Garamond"/>
              <a:cs typeface="Garamond"/>
              <a:sym typeface="Garamond"/>
            </a:endParaRPr>
          </a:p>
          <a:p>
            <a:pPr indent="0" lvl="0" marL="12700" rtl="0" algn="l">
              <a:lnSpc>
                <a:spcPct val="100000"/>
              </a:lnSpc>
              <a:spcBef>
                <a:spcPts val="15"/>
              </a:spcBef>
              <a:spcAft>
                <a:spcPts val="0"/>
              </a:spcAft>
              <a:buNone/>
            </a:pPr>
            <a:r>
              <a:rPr lang="fr-FR" sz="1800">
                <a:latin typeface="Garamond"/>
                <a:ea typeface="Garamond"/>
                <a:cs typeface="Garamond"/>
                <a:sym typeface="Garamond"/>
              </a:rPr>
              <a:t>-Trouble obsessionnel compulsif</a:t>
            </a:r>
            <a:endParaRPr sz="1800">
              <a:latin typeface="Garamond"/>
              <a:ea typeface="Garamond"/>
              <a:cs typeface="Garamond"/>
              <a:sym typeface="Garamond"/>
            </a:endParaRPr>
          </a:p>
          <a:p>
            <a:pPr indent="0" lvl="0" marL="12700" rtl="0" algn="l">
              <a:lnSpc>
                <a:spcPct val="100000"/>
              </a:lnSpc>
              <a:spcBef>
                <a:spcPts val="20"/>
              </a:spcBef>
              <a:spcAft>
                <a:spcPts val="0"/>
              </a:spcAft>
              <a:buNone/>
            </a:pPr>
            <a:r>
              <a:rPr lang="fr-FR" sz="1800">
                <a:latin typeface="Garamond"/>
                <a:ea typeface="Garamond"/>
                <a:cs typeface="Garamond"/>
                <a:sym typeface="Garamond"/>
              </a:rPr>
              <a:t>-État de stress post-traumatique</a:t>
            </a:r>
            <a:endParaRPr sz="1800">
              <a:latin typeface="Garamond"/>
              <a:ea typeface="Garamond"/>
              <a:cs typeface="Garamond"/>
              <a:sym typeface="Garamond"/>
            </a:endParaRPr>
          </a:p>
        </p:txBody>
      </p:sp>
      <p:sp>
        <p:nvSpPr>
          <p:cNvPr id="139" name="Google Shape;139;p9"/>
          <p:cNvSpPr txBox="1"/>
          <p:nvPr/>
        </p:nvSpPr>
        <p:spPr>
          <a:xfrm>
            <a:off x="5792851" y="1790382"/>
            <a:ext cx="5346700" cy="3570604"/>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fr-FR" sz="1800">
                <a:latin typeface="Garamond"/>
                <a:ea typeface="Garamond"/>
                <a:cs typeface="Garamond"/>
                <a:sym typeface="Garamond"/>
              </a:rPr>
              <a:t>Troubles anxieux</a:t>
            </a:r>
            <a:endParaRPr sz="1800">
              <a:latin typeface="Garamond"/>
              <a:ea typeface="Garamond"/>
              <a:cs typeface="Garamond"/>
              <a:sym typeface="Garamond"/>
            </a:endParaRPr>
          </a:p>
          <a:p>
            <a:pPr indent="0" lvl="0" marL="12700" rtl="0" algn="l">
              <a:lnSpc>
                <a:spcPct val="100000"/>
              </a:lnSpc>
              <a:spcBef>
                <a:spcPts val="20"/>
              </a:spcBef>
              <a:spcAft>
                <a:spcPts val="0"/>
              </a:spcAft>
              <a:buNone/>
            </a:pPr>
            <a:r>
              <a:rPr lang="fr-FR" sz="1800">
                <a:latin typeface="Garamond"/>
                <a:ea typeface="Garamond"/>
                <a:cs typeface="Garamond"/>
                <a:sym typeface="Garamond"/>
              </a:rPr>
              <a:t>-trouble anxiété de séparation</a:t>
            </a:r>
            <a:endParaRPr sz="1800">
              <a:latin typeface="Garamond"/>
              <a:ea typeface="Garamond"/>
              <a:cs typeface="Garamond"/>
              <a:sym typeface="Garamond"/>
            </a:endParaRPr>
          </a:p>
          <a:p>
            <a:pPr indent="0" lvl="0" marL="12700" rtl="0" algn="l">
              <a:lnSpc>
                <a:spcPct val="118333"/>
              </a:lnSpc>
              <a:spcBef>
                <a:spcPts val="20"/>
              </a:spcBef>
              <a:spcAft>
                <a:spcPts val="0"/>
              </a:spcAft>
              <a:buNone/>
            </a:pPr>
            <a:r>
              <a:rPr lang="fr-FR" sz="1800">
                <a:latin typeface="Garamond"/>
                <a:ea typeface="Garamond"/>
                <a:cs typeface="Garamond"/>
                <a:sym typeface="Garamond"/>
              </a:rPr>
              <a:t>-trouble anxiété sociale (phobie sociale)</a:t>
            </a:r>
            <a:endParaRPr sz="1800">
              <a:latin typeface="Garamond"/>
              <a:ea typeface="Garamond"/>
              <a:cs typeface="Garamond"/>
              <a:sym typeface="Garamond"/>
            </a:endParaRPr>
          </a:p>
          <a:p>
            <a:pPr indent="0" lvl="0" marL="12700" rtl="0" algn="l">
              <a:lnSpc>
                <a:spcPct val="118333"/>
              </a:lnSpc>
              <a:spcBef>
                <a:spcPts val="0"/>
              </a:spcBef>
              <a:spcAft>
                <a:spcPts val="0"/>
              </a:spcAft>
              <a:buNone/>
            </a:pPr>
            <a:r>
              <a:rPr lang="fr-FR" sz="1800">
                <a:latin typeface="Garamond"/>
                <a:ea typeface="Garamond"/>
                <a:cs typeface="Garamond"/>
                <a:sym typeface="Garamond"/>
              </a:rPr>
              <a:t>-phobie spécifique (simple)</a:t>
            </a:r>
            <a:endParaRPr sz="1800">
              <a:latin typeface="Garamond"/>
              <a:ea typeface="Garamond"/>
              <a:cs typeface="Garamond"/>
              <a:sym typeface="Garamond"/>
            </a:endParaRPr>
          </a:p>
          <a:p>
            <a:pPr indent="0" lvl="0" marL="12700" rtl="0" algn="l">
              <a:lnSpc>
                <a:spcPct val="100000"/>
              </a:lnSpc>
              <a:spcBef>
                <a:spcPts val="15"/>
              </a:spcBef>
              <a:spcAft>
                <a:spcPts val="0"/>
              </a:spcAft>
              <a:buNone/>
            </a:pPr>
            <a:r>
              <a:rPr lang="fr-FR" sz="1800">
                <a:latin typeface="Garamond"/>
                <a:ea typeface="Garamond"/>
                <a:cs typeface="Garamond"/>
                <a:sym typeface="Garamond"/>
              </a:rPr>
              <a:t>-trouble panique</a:t>
            </a:r>
            <a:endParaRPr sz="1800">
              <a:latin typeface="Garamond"/>
              <a:ea typeface="Garamond"/>
              <a:cs typeface="Garamond"/>
              <a:sym typeface="Garamond"/>
            </a:endParaRPr>
          </a:p>
          <a:p>
            <a:pPr indent="0" lvl="0" marL="12700" rtl="0" algn="l">
              <a:lnSpc>
                <a:spcPct val="100000"/>
              </a:lnSpc>
              <a:spcBef>
                <a:spcPts val="20"/>
              </a:spcBef>
              <a:spcAft>
                <a:spcPts val="0"/>
              </a:spcAft>
              <a:buNone/>
            </a:pPr>
            <a:r>
              <a:rPr lang="fr-FR" sz="1800">
                <a:latin typeface="Garamond"/>
                <a:ea typeface="Garamond"/>
                <a:cs typeface="Garamond"/>
                <a:sym typeface="Garamond"/>
              </a:rPr>
              <a:t>-Agoraphobie</a:t>
            </a:r>
            <a:endParaRPr sz="1800">
              <a:latin typeface="Garamond"/>
              <a:ea typeface="Garamond"/>
              <a:cs typeface="Garamond"/>
              <a:sym typeface="Garamond"/>
            </a:endParaRPr>
          </a:p>
          <a:p>
            <a:pPr indent="0" lvl="0" marL="12700" rtl="0" algn="l">
              <a:lnSpc>
                <a:spcPct val="100000"/>
              </a:lnSpc>
              <a:spcBef>
                <a:spcPts val="15"/>
              </a:spcBef>
              <a:spcAft>
                <a:spcPts val="0"/>
              </a:spcAft>
              <a:buNone/>
            </a:pPr>
            <a:r>
              <a:rPr lang="fr-FR" sz="1800">
                <a:latin typeface="Garamond"/>
                <a:ea typeface="Garamond"/>
                <a:cs typeface="Garamond"/>
                <a:sym typeface="Garamond"/>
              </a:rPr>
              <a:t>-Trouble anxiété généralisée</a:t>
            </a:r>
            <a:endParaRPr sz="1800">
              <a:latin typeface="Garamond"/>
              <a:ea typeface="Garamond"/>
              <a:cs typeface="Garamond"/>
              <a:sym typeface="Garamond"/>
            </a:endParaRPr>
          </a:p>
          <a:p>
            <a:pPr indent="0" lvl="0" marL="0" rtl="0" algn="l">
              <a:lnSpc>
                <a:spcPct val="100000"/>
              </a:lnSpc>
              <a:spcBef>
                <a:spcPts val="850"/>
              </a:spcBef>
              <a:spcAft>
                <a:spcPts val="0"/>
              </a:spcAft>
              <a:buNone/>
            </a:pPr>
            <a:r>
              <a:t/>
            </a:r>
            <a:endParaRPr sz="1800">
              <a:latin typeface="Garamond"/>
              <a:ea typeface="Garamond"/>
              <a:cs typeface="Garamond"/>
              <a:sym typeface="Garamond"/>
            </a:endParaRPr>
          </a:p>
          <a:p>
            <a:pPr indent="0" lvl="0" marL="12700" rtl="0" algn="l">
              <a:lnSpc>
                <a:spcPct val="100000"/>
              </a:lnSpc>
              <a:spcBef>
                <a:spcPts val="0"/>
              </a:spcBef>
              <a:spcAft>
                <a:spcPts val="0"/>
              </a:spcAft>
              <a:buNone/>
            </a:pPr>
            <a:r>
              <a:rPr b="1" lang="fr-FR" sz="1800">
                <a:latin typeface="Garamond"/>
                <a:ea typeface="Garamond"/>
                <a:cs typeface="Garamond"/>
                <a:sym typeface="Garamond"/>
              </a:rPr>
              <a:t>Trouble obsessionnel compulsif et troubles apparentés</a:t>
            </a:r>
            <a:endParaRPr sz="1800">
              <a:latin typeface="Garamond"/>
              <a:ea typeface="Garamond"/>
              <a:cs typeface="Garamond"/>
              <a:sym typeface="Garamond"/>
            </a:endParaRPr>
          </a:p>
          <a:p>
            <a:pPr indent="0" lvl="0" marL="12700" rtl="0" algn="l">
              <a:lnSpc>
                <a:spcPct val="100000"/>
              </a:lnSpc>
              <a:spcBef>
                <a:spcPts val="15"/>
              </a:spcBef>
              <a:spcAft>
                <a:spcPts val="0"/>
              </a:spcAft>
              <a:buNone/>
            </a:pPr>
            <a:r>
              <a:rPr lang="fr-FR" sz="1800">
                <a:latin typeface="Garamond"/>
                <a:ea typeface="Garamond"/>
                <a:cs typeface="Garamond"/>
                <a:sym typeface="Garamond"/>
              </a:rPr>
              <a:t>-trouble obsessionnel compulsif</a:t>
            </a:r>
            <a:endParaRPr sz="1800">
              <a:latin typeface="Garamond"/>
              <a:ea typeface="Garamond"/>
              <a:cs typeface="Garamond"/>
              <a:sym typeface="Garamond"/>
            </a:endParaRPr>
          </a:p>
          <a:p>
            <a:pPr indent="0" lvl="0" marL="12700" rtl="0" algn="l">
              <a:lnSpc>
                <a:spcPct val="100000"/>
              </a:lnSpc>
              <a:spcBef>
                <a:spcPts val="1210"/>
              </a:spcBef>
              <a:spcAft>
                <a:spcPts val="0"/>
              </a:spcAft>
              <a:buNone/>
            </a:pPr>
            <a:r>
              <a:rPr b="1" lang="fr-FR" sz="1800">
                <a:latin typeface="Garamond"/>
                <a:ea typeface="Garamond"/>
                <a:cs typeface="Garamond"/>
                <a:sym typeface="Garamond"/>
              </a:rPr>
              <a:t>Troubles liés au stress et aux traumatismes</a:t>
            </a:r>
            <a:endParaRPr sz="1800">
              <a:latin typeface="Garamond"/>
              <a:ea typeface="Garamond"/>
              <a:cs typeface="Garamond"/>
              <a:sym typeface="Garamond"/>
            </a:endParaRPr>
          </a:p>
          <a:p>
            <a:pPr indent="0" lvl="0" marL="12700" rtl="0" algn="l">
              <a:lnSpc>
                <a:spcPct val="100000"/>
              </a:lnSpc>
              <a:spcBef>
                <a:spcPts val="20"/>
              </a:spcBef>
              <a:spcAft>
                <a:spcPts val="0"/>
              </a:spcAft>
              <a:buNone/>
            </a:pPr>
            <a:r>
              <a:rPr lang="fr-FR" sz="1800">
                <a:latin typeface="Garamond"/>
                <a:ea typeface="Garamond"/>
                <a:cs typeface="Garamond"/>
                <a:sym typeface="Garamond"/>
              </a:rPr>
              <a:t>-trouble stress post-traumatique</a:t>
            </a:r>
            <a:endParaRPr sz="1800">
              <a:latin typeface="Garamond"/>
              <a:ea typeface="Garamond"/>
              <a:cs typeface="Garamond"/>
              <a:sym typeface="Garamond"/>
            </a:endParaRPr>
          </a:p>
        </p:txBody>
      </p:sp>
      <p:sp>
        <p:nvSpPr>
          <p:cNvPr id="140" name="Google Shape;140;p9"/>
          <p:cNvSpPr txBox="1"/>
          <p:nvPr/>
        </p:nvSpPr>
        <p:spPr>
          <a:xfrm>
            <a:off x="781050" y="5425122"/>
            <a:ext cx="4031615" cy="854075"/>
          </a:xfrm>
          <a:prstGeom prst="rect">
            <a:avLst/>
          </a:prstGeom>
          <a:noFill/>
          <a:ln>
            <a:noFill/>
          </a:ln>
        </p:spPr>
        <p:txBody>
          <a:bodyPr anchorCtr="0" anchor="t" bIns="0" lIns="0" spcFirstLastPara="1" rIns="0" wrap="square" tIns="10775">
            <a:spAutoFit/>
          </a:bodyPr>
          <a:lstStyle/>
          <a:p>
            <a:pPr indent="0" lvl="0" marL="38100" marR="30480" rtl="0" algn="l">
              <a:lnSpc>
                <a:spcPct val="100800"/>
              </a:lnSpc>
              <a:spcBef>
                <a:spcPts val="0"/>
              </a:spcBef>
              <a:spcAft>
                <a:spcPts val="0"/>
              </a:spcAft>
              <a:buNone/>
            </a:pPr>
            <a:r>
              <a:rPr b="1" lang="fr-FR" sz="1800">
                <a:latin typeface="Garamond"/>
                <a:ea typeface="Garamond"/>
                <a:cs typeface="Garamond"/>
                <a:sym typeface="Garamond"/>
              </a:rPr>
              <a:t>Autres troubles de la 1</a:t>
            </a:r>
            <a:r>
              <a:rPr b="1" baseline="30000" lang="fr-FR" sz="1800">
                <a:latin typeface="Garamond"/>
                <a:ea typeface="Garamond"/>
                <a:cs typeface="Garamond"/>
                <a:sym typeface="Garamond"/>
              </a:rPr>
              <a:t>ère</a:t>
            </a:r>
            <a:r>
              <a:rPr b="1" lang="fr-FR" sz="1800">
                <a:latin typeface="Garamond"/>
                <a:ea typeface="Garamond"/>
                <a:cs typeface="Garamond"/>
                <a:sym typeface="Garamond"/>
              </a:rPr>
              <a:t>, 2</a:t>
            </a:r>
            <a:r>
              <a:rPr b="1" baseline="30000" lang="fr-FR" sz="1800">
                <a:latin typeface="Garamond"/>
                <a:ea typeface="Garamond"/>
                <a:cs typeface="Garamond"/>
                <a:sym typeface="Garamond"/>
              </a:rPr>
              <a:t>ème </a:t>
            </a:r>
            <a:r>
              <a:rPr b="1" lang="fr-FR" sz="1800">
                <a:latin typeface="Garamond"/>
                <a:ea typeface="Garamond"/>
                <a:cs typeface="Garamond"/>
                <a:sym typeface="Garamond"/>
              </a:rPr>
              <a:t>enfance ou adolescence</a:t>
            </a:r>
            <a:endParaRPr sz="1800">
              <a:latin typeface="Garamond"/>
              <a:ea typeface="Garamond"/>
              <a:cs typeface="Garamond"/>
              <a:sym typeface="Garamond"/>
            </a:endParaRPr>
          </a:p>
          <a:p>
            <a:pPr indent="0" lvl="0" marL="38100" rtl="0" algn="l">
              <a:lnSpc>
                <a:spcPct val="100000"/>
              </a:lnSpc>
              <a:spcBef>
                <a:spcPts val="20"/>
              </a:spcBef>
              <a:spcAft>
                <a:spcPts val="0"/>
              </a:spcAft>
              <a:buNone/>
            </a:pPr>
            <a:r>
              <a:rPr lang="fr-FR" sz="1800">
                <a:latin typeface="Garamond"/>
                <a:ea typeface="Garamond"/>
                <a:cs typeface="Garamond"/>
                <a:sym typeface="Garamond"/>
              </a:rPr>
              <a:t>-anxiété de séparation</a:t>
            </a:r>
            <a:endParaRPr sz="1800">
              <a:latin typeface="Garamond"/>
              <a:ea typeface="Garamond"/>
              <a:cs typeface="Garamond"/>
              <a:sym typeface="Garamo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0"/>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6" name="Google Shape;146;p10"/>
          <p:cNvSpPr txBox="1"/>
          <p:nvPr>
            <p:ph type="title"/>
          </p:nvPr>
        </p:nvSpPr>
        <p:spPr>
          <a:xfrm>
            <a:off x="1216977" y="800735"/>
            <a:ext cx="9359265" cy="1368425"/>
          </a:xfrm>
          <a:prstGeom prst="rect">
            <a:avLst/>
          </a:prstGeom>
          <a:noFill/>
          <a:ln>
            <a:noFill/>
          </a:ln>
        </p:spPr>
        <p:txBody>
          <a:bodyPr anchorCtr="0" anchor="t" bIns="0" lIns="0" spcFirstLastPara="1" rIns="0" wrap="square" tIns="31750">
            <a:spAutoFit/>
          </a:bodyPr>
          <a:lstStyle/>
          <a:p>
            <a:pPr indent="139065" lvl="0" marL="12700" marR="5080" rtl="0" algn="l">
              <a:lnSpc>
                <a:spcPct val="119545"/>
              </a:lnSpc>
              <a:spcBef>
                <a:spcPts val="0"/>
              </a:spcBef>
              <a:spcAft>
                <a:spcPts val="0"/>
              </a:spcAft>
              <a:buNone/>
            </a:pPr>
            <a:r>
              <a:rPr lang="fr-FR" sz="4400">
                <a:solidFill>
                  <a:srgbClr val="000000"/>
                </a:solidFill>
              </a:rPr>
              <a:t>Quelles sont les propositions vraies sur les troubles anxieux ?</a:t>
            </a:r>
            <a:endParaRPr sz="4400"/>
          </a:p>
        </p:txBody>
      </p:sp>
      <p:sp>
        <p:nvSpPr>
          <p:cNvPr id="147" name="Google Shape;147;p1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148" name="Google Shape;148;p10"/>
          <p:cNvSpPr txBox="1"/>
          <p:nvPr/>
        </p:nvSpPr>
        <p:spPr>
          <a:xfrm>
            <a:off x="947102" y="2403681"/>
            <a:ext cx="10412095" cy="2895023"/>
          </a:xfrm>
          <a:prstGeom prst="rect">
            <a:avLst/>
          </a:prstGeom>
          <a:noFill/>
          <a:ln>
            <a:noFill/>
          </a:ln>
        </p:spPr>
        <p:txBody>
          <a:bodyPr anchorCtr="0" anchor="t" bIns="0" lIns="0" spcFirstLastPara="1" rIns="0" wrap="square" tIns="88250">
            <a:spAutoFit/>
          </a:bodyPr>
          <a:lstStyle/>
          <a:p>
            <a:pPr indent="-514350" lvl="0" marL="527050" rtl="0" algn="l">
              <a:lnSpc>
                <a:spcPct val="100000"/>
              </a:lnSpc>
              <a:spcBef>
                <a:spcPts val="0"/>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Plus de 20% de la population générale seront concernées au cours de leur vie</a:t>
            </a:r>
            <a:endParaRPr sz="2400">
              <a:solidFill>
                <a:srgbClr val="FF0000"/>
              </a:solidFill>
              <a:latin typeface="Garamond"/>
              <a:ea typeface="Garamond"/>
              <a:cs typeface="Garamond"/>
              <a:sym typeface="Garamond"/>
            </a:endParaRPr>
          </a:p>
          <a:p>
            <a:pPr indent="-514350" lvl="0" marL="527050" rtl="0" algn="l">
              <a:lnSpc>
                <a:spcPct val="100000"/>
              </a:lnSpc>
              <a:spcBef>
                <a:spcPts val="1055"/>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Le sexe ratio est à 1</a:t>
            </a:r>
            <a:endParaRPr sz="2400">
              <a:latin typeface="Garamond"/>
              <a:ea typeface="Garamond"/>
              <a:cs typeface="Garamond"/>
              <a:sym typeface="Garamond"/>
            </a:endParaRPr>
          </a:p>
          <a:p>
            <a:pPr indent="-514350" lvl="0" marL="527050" rtl="0" algn="l">
              <a:lnSpc>
                <a:spcPct val="100000"/>
              </a:lnSpc>
              <a:spcBef>
                <a:spcPts val="1060"/>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Concernent principalement les 25-40 ans</a:t>
            </a:r>
            <a:endParaRPr sz="2400">
              <a:solidFill>
                <a:srgbClr val="FF0000"/>
              </a:solidFill>
              <a:latin typeface="Garamond"/>
              <a:ea typeface="Garamond"/>
              <a:cs typeface="Garamond"/>
              <a:sym typeface="Garamond"/>
            </a:endParaRPr>
          </a:p>
          <a:p>
            <a:pPr indent="-514350" lvl="0" marL="527050" rtl="0" algn="l">
              <a:lnSpc>
                <a:spcPct val="100000"/>
              </a:lnSpc>
              <a:spcBef>
                <a:spcPts val="980"/>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Ils peuvent nécessiter une prise en charge en hospitalisation</a:t>
            </a:r>
            <a:endParaRPr sz="2400">
              <a:solidFill>
                <a:srgbClr val="FF0000"/>
              </a:solidFill>
              <a:latin typeface="Garamond"/>
              <a:ea typeface="Garamond"/>
              <a:cs typeface="Garamond"/>
              <a:sym typeface="Garamond"/>
            </a:endParaRPr>
          </a:p>
          <a:p>
            <a:pPr indent="-514350" lvl="0" marL="527050" rtl="0" algn="l">
              <a:lnSpc>
                <a:spcPct val="100000"/>
              </a:lnSpc>
              <a:spcBef>
                <a:spcPts val="1055"/>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Une chimiothérapie sera rapidement mise en place pour prévenir les</a:t>
            </a:r>
            <a:endParaRPr sz="2400">
              <a:solidFill>
                <a:srgbClr val="FF0000"/>
              </a:solidFill>
              <a:latin typeface="Garamond"/>
              <a:ea typeface="Garamond"/>
              <a:cs typeface="Garamond"/>
              <a:sym typeface="Garamond"/>
            </a:endParaRPr>
          </a:p>
          <a:p>
            <a:pPr indent="0" lvl="0" marL="527050" rtl="0" algn="l">
              <a:lnSpc>
                <a:spcPct val="100000"/>
              </a:lnSpc>
              <a:spcBef>
                <a:spcPts val="280"/>
              </a:spcBef>
              <a:spcAft>
                <a:spcPts val="0"/>
              </a:spcAft>
              <a:buNone/>
            </a:pPr>
            <a:r>
              <a:rPr b="1" lang="fr-FR" sz="2400">
                <a:solidFill>
                  <a:srgbClr val="FF0000"/>
                </a:solidFill>
                <a:latin typeface="Garamond"/>
                <a:ea typeface="Garamond"/>
                <a:cs typeface="Garamond"/>
                <a:sym typeface="Garamond"/>
              </a:rPr>
              <a:t>complications</a:t>
            </a:r>
            <a:endParaRPr sz="2400">
              <a:solidFill>
                <a:srgbClr val="FF0000"/>
              </a:solidFill>
              <a:latin typeface="Garamond"/>
              <a:ea typeface="Garamond"/>
              <a:cs typeface="Garamond"/>
              <a:sym typeface="Garamo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1"/>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4" name="Google Shape;154;p11"/>
          <p:cNvSpPr txBox="1"/>
          <p:nvPr>
            <p:ph type="title"/>
          </p:nvPr>
        </p:nvSpPr>
        <p:spPr>
          <a:xfrm>
            <a:off x="802005" y="636905"/>
            <a:ext cx="10587989" cy="1671955"/>
          </a:xfrm>
          <a:prstGeom prst="rect">
            <a:avLst/>
          </a:prstGeom>
          <a:noFill/>
          <a:ln>
            <a:noFill/>
          </a:ln>
        </p:spPr>
        <p:txBody>
          <a:bodyPr anchorCtr="0" anchor="t" bIns="0" lIns="0" spcFirstLastPara="1" rIns="0" wrap="square" tIns="466450">
            <a:spAutoFit/>
          </a:bodyPr>
          <a:lstStyle/>
          <a:p>
            <a:pPr indent="0" lvl="0" marL="585470" marR="5080" rtl="0" algn="l">
              <a:lnSpc>
                <a:spcPct val="118888"/>
              </a:lnSpc>
              <a:spcBef>
                <a:spcPts val="0"/>
              </a:spcBef>
              <a:spcAft>
                <a:spcPts val="0"/>
              </a:spcAft>
              <a:buNone/>
            </a:pPr>
            <a:r>
              <a:rPr lang="fr-FR"/>
              <a:t>Quelles sont les principales comorbidités des troubles anxieux ?</a:t>
            </a:r>
            <a:endParaRPr/>
          </a:p>
        </p:txBody>
      </p:sp>
      <p:sp>
        <p:nvSpPr>
          <p:cNvPr id="155" name="Google Shape;155;p1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156" name="Google Shape;156;p11"/>
          <p:cNvSpPr txBox="1"/>
          <p:nvPr/>
        </p:nvSpPr>
        <p:spPr>
          <a:xfrm>
            <a:off x="1375028" y="2427726"/>
            <a:ext cx="6303645" cy="2568011"/>
          </a:xfrm>
          <a:prstGeom prst="rect">
            <a:avLst/>
          </a:prstGeom>
          <a:noFill/>
          <a:ln>
            <a:noFill/>
          </a:ln>
        </p:spPr>
        <p:txBody>
          <a:bodyPr anchorCtr="0" anchor="t" bIns="0" lIns="0" spcFirstLastPara="1" rIns="0" wrap="square" tIns="53975">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Autres troubles anxieux</a:t>
            </a:r>
            <a:endParaRPr sz="2750">
              <a:solidFill>
                <a:srgbClr val="FF0000"/>
              </a:solidFill>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Trouble du comportement alimentaire</a:t>
            </a:r>
            <a:endParaRPr sz="2750">
              <a:latin typeface="Garamond"/>
              <a:ea typeface="Garamond"/>
              <a:cs typeface="Garamond"/>
              <a:sym typeface="Garamond"/>
            </a:endParaRPr>
          </a:p>
          <a:p>
            <a:pPr indent="-514350" lvl="0" marL="527050" rtl="0" algn="l">
              <a:lnSpc>
                <a:spcPct val="100000"/>
              </a:lnSpc>
              <a:spcBef>
                <a:spcPts val="82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Episode dépressif	Majeur</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Addiction</a:t>
            </a:r>
            <a:endParaRPr sz="2750">
              <a:solidFill>
                <a:srgbClr val="FF0000"/>
              </a:solidFill>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Trouble de la personnalité narcissique</a:t>
            </a:r>
            <a:endParaRPr sz="2750">
              <a:latin typeface="Garamond"/>
              <a:ea typeface="Garamond"/>
              <a:cs typeface="Garamond"/>
              <a:sym typeface="Garamo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p12"/>
          <p:cNvPicPr preferRelativeResize="0"/>
          <p:nvPr/>
        </p:nvPicPr>
        <p:blipFill rotWithShape="1">
          <a:blip r:embed="rId3">
            <a:alphaModFix/>
          </a:blip>
          <a:srcRect b="0" l="0" r="0" t="0"/>
          <a:stretch/>
        </p:blipFill>
        <p:spPr>
          <a:xfrm>
            <a:off x="3724275" y="1171575"/>
            <a:ext cx="4314825" cy="4314825"/>
          </a:xfrm>
          <a:prstGeom prst="rect">
            <a:avLst/>
          </a:prstGeom>
          <a:noFill/>
          <a:ln>
            <a:noFill/>
          </a:ln>
        </p:spPr>
      </p:pic>
      <p:sp>
        <p:nvSpPr>
          <p:cNvPr id="162" name="Google Shape;162;p1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3"/>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8" name="Google Shape;168;p13"/>
          <p:cNvSpPr txBox="1"/>
          <p:nvPr>
            <p:ph type="title"/>
          </p:nvPr>
        </p:nvSpPr>
        <p:spPr>
          <a:xfrm>
            <a:off x="802005" y="636905"/>
            <a:ext cx="10587989" cy="1671955"/>
          </a:xfrm>
          <a:prstGeom prst="rect">
            <a:avLst/>
          </a:prstGeom>
          <a:noFill/>
          <a:ln>
            <a:noFill/>
          </a:ln>
        </p:spPr>
        <p:txBody>
          <a:bodyPr anchorCtr="0" anchor="t" bIns="0" lIns="0" spcFirstLastPara="1" rIns="0" wrap="square" tIns="445750">
            <a:spAutoFit/>
          </a:bodyPr>
          <a:lstStyle/>
          <a:p>
            <a:pPr indent="0" lvl="0" marL="885189" rtl="0" algn="l">
              <a:lnSpc>
                <a:spcPct val="100000"/>
              </a:lnSpc>
              <a:spcBef>
                <a:spcPts val="0"/>
              </a:spcBef>
              <a:spcAft>
                <a:spcPts val="0"/>
              </a:spcAft>
              <a:buNone/>
            </a:pPr>
            <a:r>
              <a:rPr lang="fr-FR" sz="3950"/>
              <a:t>L’ attaque de panique peut comporter:</a:t>
            </a:r>
            <a:endParaRPr sz="3950"/>
          </a:p>
        </p:txBody>
      </p:sp>
      <p:sp>
        <p:nvSpPr>
          <p:cNvPr id="169" name="Google Shape;169;p1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170" name="Google Shape;170;p13"/>
          <p:cNvSpPr txBox="1"/>
          <p:nvPr/>
        </p:nvSpPr>
        <p:spPr>
          <a:xfrm>
            <a:off x="1375028" y="2381226"/>
            <a:ext cx="7332345" cy="2568011"/>
          </a:xfrm>
          <a:prstGeom prst="rect">
            <a:avLst/>
          </a:prstGeom>
          <a:noFill/>
          <a:ln>
            <a:noFill/>
          </a:ln>
        </p:spPr>
        <p:txBody>
          <a:bodyPr anchorCtr="0" anchor="t" bIns="0" lIns="0" spcFirstLastPara="1" rIns="0" wrap="square" tIns="53975">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sensation de mort imminente</a:t>
            </a:r>
            <a:endParaRPr sz="2750">
              <a:solidFill>
                <a:srgbClr val="FF0000"/>
              </a:solidFill>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Des hallucinations auditives</a:t>
            </a:r>
            <a:endParaRPr sz="2750">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 sentiment de déréalisation</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peur de faire mal à soi ou à autrui</a:t>
            </a:r>
            <a:endParaRPr sz="2750">
              <a:latin typeface="Garamond"/>
              <a:ea typeface="Garamond"/>
              <a:cs typeface="Garamond"/>
              <a:sym typeface="Garamond"/>
            </a:endParaRPr>
          </a:p>
          <a:p>
            <a:pPr indent="-513715" lvl="0" marL="526415" rtl="0" algn="l">
              <a:lnSpc>
                <a:spcPct val="100000"/>
              </a:lnSpc>
              <a:spcBef>
                <a:spcPts val="74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peur de commettre des actes incontrôlés</a:t>
            </a:r>
            <a:endParaRPr sz="2750">
              <a:solidFill>
                <a:srgbClr val="FF0000"/>
              </a:solidFill>
              <a:latin typeface="Garamond"/>
              <a:ea typeface="Garamond"/>
              <a:cs typeface="Garamond"/>
              <a:sym typeface="Garamon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4"/>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6" name="Google Shape;176;p14"/>
          <p:cNvSpPr txBox="1"/>
          <p:nvPr>
            <p:ph type="title"/>
          </p:nvPr>
        </p:nvSpPr>
        <p:spPr>
          <a:xfrm>
            <a:off x="1522730" y="1316418"/>
            <a:ext cx="6123305" cy="70104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4400">
                <a:solidFill>
                  <a:srgbClr val="000000"/>
                </a:solidFill>
              </a:rPr>
              <a:t>Une attaque de panique	:</a:t>
            </a:r>
            <a:endParaRPr sz="4400"/>
          </a:p>
        </p:txBody>
      </p:sp>
      <p:sp>
        <p:nvSpPr>
          <p:cNvPr id="177" name="Google Shape;177;p1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178" name="Google Shape;178;p14"/>
          <p:cNvSpPr txBox="1"/>
          <p:nvPr/>
        </p:nvSpPr>
        <p:spPr>
          <a:xfrm>
            <a:off x="1561211" y="2524471"/>
            <a:ext cx="7715884" cy="2314095"/>
          </a:xfrm>
          <a:prstGeom prst="rect">
            <a:avLst/>
          </a:prstGeom>
          <a:noFill/>
          <a:ln>
            <a:noFill/>
          </a:ln>
        </p:spPr>
        <p:txBody>
          <a:bodyPr anchorCtr="0" anchor="t" bIns="0" lIns="0" spcFirstLastPara="1" rIns="0" wrap="square" tIns="56500">
            <a:spAutoFit/>
          </a:bodyPr>
          <a:lstStyle/>
          <a:p>
            <a:pPr indent="-457200" lvl="0" marL="469900" rtl="0" algn="l">
              <a:lnSpc>
                <a:spcPct val="100000"/>
              </a:lnSpc>
              <a:spcBef>
                <a:spcPts val="0"/>
              </a:spcBef>
              <a:spcAft>
                <a:spcPts val="0"/>
              </a:spcAft>
              <a:buClr>
                <a:srgbClr val="83992A"/>
              </a:buClr>
              <a:buSzPts val="2750"/>
              <a:buFont typeface="Garamond"/>
              <a:buAutoNum type="alphaUcPeriod"/>
            </a:pPr>
            <a:r>
              <a:rPr b="1" lang="fr-FR" sz="2400">
                <a:latin typeface="Garamond"/>
                <a:ea typeface="Garamond"/>
                <a:cs typeface="Garamond"/>
                <a:sym typeface="Garamond"/>
              </a:rPr>
              <a:t>Peut se compliquer d’une dépression.</a:t>
            </a:r>
            <a:endParaRPr sz="2400">
              <a:latin typeface="Garamond"/>
              <a:ea typeface="Garamond"/>
              <a:cs typeface="Garamond"/>
              <a:sym typeface="Garamond"/>
            </a:endParaRPr>
          </a:p>
          <a:p>
            <a:pPr indent="-456565" lvl="0" marL="469265" rtl="0" algn="l">
              <a:lnSpc>
                <a:spcPct val="100000"/>
              </a:lnSpc>
              <a:spcBef>
                <a:spcPts val="760"/>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Survient habituellement sans facteurs déclenchants.</a:t>
            </a:r>
            <a:endParaRPr sz="2400">
              <a:solidFill>
                <a:srgbClr val="FF0000"/>
              </a:solidFill>
              <a:latin typeface="Garamond"/>
              <a:ea typeface="Garamond"/>
              <a:cs typeface="Garamond"/>
              <a:sym typeface="Garamond"/>
            </a:endParaRPr>
          </a:p>
          <a:p>
            <a:pPr indent="-456565" lvl="0" marL="469265" rtl="0" algn="l">
              <a:lnSpc>
                <a:spcPct val="100000"/>
              </a:lnSpc>
              <a:spcBef>
                <a:spcPts val="755"/>
              </a:spcBef>
              <a:spcAft>
                <a:spcPts val="0"/>
              </a:spcAft>
              <a:buClr>
                <a:srgbClr val="83992A"/>
              </a:buClr>
              <a:buSzPts val="2750"/>
              <a:buFont typeface="Garamond"/>
              <a:buAutoNum type="alphaUcPeriod"/>
            </a:pPr>
            <a:r>
              <a:rPr b="1" lang="fr-FR" sz="2400">
                <a:latin typeface="Garamond"/>
                <a:ea typeface="Garamond"/>
                <a:cs typeface="Garamond"/>
                <a:sym typeface="Garamond"/>
              </a:rPr>
              <a:t>Est une phobie grave.</a:t>
            </a:r>
            <a:endParaRPr sz="2400">
              <a:latin typeface="Garamond"/>
              <a:ea typeface="Garamond"/>
              <a:cs typeface="Garamond"/>
              <a:sym typeface="Garamond"/>
            </a:endParaRPr>
          </a:p>
          <a:p>
            <a:pPr indent="-456565" lvl="0" marL="469265" rtl="0" algn="l">
              <a:lnSpc>
                <a:spcPct val="100000"/>
              </a:lnSpc>
              <a:spcBef>
                <a:spcPts val="755"/>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Peut-être un mode d’entrée dans la schizophrénie.</a:t>
            </a:r>
            <a:endParaRPr sz="2400">
              <a:solidFill>
                <a:srgbClr val="FF0000"/>
              </a:solidFill>
              <a:latin typeface="Garamond"/>
              <a:ea typeface="Garamond"/>
              <a:cs typeface="Garamond"/>
              <a:sym typeface="Garamond"/>
            </a:endParaRPr>
          </a:p>
          <a:p>
            <a:pPr indent="-456565" lvl="0" marL="469265" rtl="0" algn="l">
              <a:lnSpc>
                <a:spcPct val="100000"/>
              </a:lnSpc>
              <a:spcBef>
                <a:spcPts val="755"/>
              </a:spcBef>
              <a:spcAft>
                <a:spcPts val="0"/>
              </a:spcAft>
              <a:buClr>
                <a:srgbClr val="83992A"/>
              </a:buClr>
              <a:buSzPts val="2750"/>
              <a:buFont typeface="Garamond"/>
              <a:buAutoNum type="alphaUcPeriod"/>
            </a:pPr>
            <a:r>
              <a:rPr b="1" lang="fr-FR" sz="2400">
                <a:latin typeface="Garamond"/>
                <a:ea typeface="Garamond"/>
                <a:cs typeface="Garamond"/>
                <a:sym typeface="Garamond"/>
              </a:rPr>
              <a:t>Peut-être prévenue par la prescription de tranquillisants.</a:t>
            </a:r>
            <a:endParaRPr sz="2400">
              <a:latin typeface="Garamond"/>
              <a:ea typeface="Garamond"/>
              <a:cs typeface="Garamond"/>
              <a:sym typeface="Garamo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5"/>
          <p:cNvSpPr txBox="1"/>
          <p:nvPr>
            <p:ph type="title"/>
          </p:nvPr>
        </p:nvSpPr>
        <p:spPr>
          <a:xfrm>
            <a:off x="1273810" y="777303"/>
            <a:ext cx="2334260" cy="1064895"/>
          </a:xfrm>
          <a:prstGeom prst="rect">
            <a:avLst/>
          </a:prstGeom>
          <a:noFill/>
          <a:ln>
            <a:noFill/>
          </a:ln>
        </p:spPr>
        <p:txBody>
          <a:bodyPr anchorCtr="0" anchor="t" bIns="0" lIns="0" spcFirstLastPara="1" rIns="0" wrap="square" tIns="1900">
            <a:spAutoFit/>
          </a:bodyPr>
          <a:lstStyle/>
          <a:p>
            <a:pPr indent="222250" lvl="0" marL="12700" marR="5080" rtl="0" algn="l">
              <a:lnSpc>
                <a:spcPct val="102699"/>
              </a:lnSpc>
              <a:spcBef>
                <a:spcPts val="0"/>
              </a:spcBef>
              <a:spcAft>
                <a:spcPts val="0"/>
              </a:spcAft>
              <a:buNone/>
            </a:pPr>
            <a:r>
              <a:rPr lang="fr-FR" sz="3350"/>
              <a:t>Parmi	les lesquelles</a:t>
            </a:r>
            <a:endParaRPr sz="3350"/>
          </a:p>
        </p:txBody>
      </p:sp>
      <p:sp>
        <p:nvSpPr>
          <p:cNvPr id="184" name="Google Shape;184;p1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185" name="Google Shape;185;p15"/>
          <p:cNvSpPr txBox="1"/>
          <p:nvPr/>
        </p:nvSpPr>
        <p:spPr>
          <a:xfrm>
            <a:off x="3909059" y="777303"/>
            <a:ext cx="4232275" cy="1064895"/>
          </a:xfrm>
          <a:prstGeom prst="rect">
            <a:avLst/>
          </a:prstGeom>
          <a:noFill/>
          <a:ln>
            <a:noFill/>
          </a:ln>
        </p:spPr>
        <p:txBody>
          <a:bodyPr anchorCtr="0" anchor="t" bIns="0" lIns="0" spcFirstLastPara="1" rIns="0" wrap="square" tIns="1900">
            <a:spAutoFit/>
          </a:bodyPr>
          <a:lstStyle/>
          <a:p>
            <a:pPr indent="152400" lvl="0" marL="12700" marR="5080" rtl="0" algn="l">
              <a:lnSpc>
                <a:spcPct val="102699"/>
              </a:lnSpc>
              <a:spcBef>
                <a:spcPts val="0"/>
              </a:spcBef>
              <a:spcAft>
                <a:spcPts val="0"/>
              </a:spcAft>
              <a:buNone/>
            </a:pPr>
            <a:r>
              <a:rPr b="1" lang="fr-FR" sz="3350">
                <a:solidFill>
                  <a:srgbClr val="252525"/>
                </a:solidFill>
                <a:latin typeface="Garamond"/>
                <a:ea typeface="Garamond"/>
                <a:cs typeface="Garamond"/>
                <a:sym typeface="Garamond"/>
              </a:rPr>
              <a:t>affections		suivantes, faut-il	éliminer</a:t>
            </a:r>
            <a:endParaRPr sz="3350">
              <a:latin typeface="Garamond"/>
              <a:ea typeface="Garamond"/>
              <a:cs typeface="Garamond"/>
              <a:sym typeface="Garamond"/>
            </a:endParaRPr>
          </a:p>
        </p:txBody>
      </p:sp>
      <p:sp>
        <p:nvSpPr>
          <p:cNvPr id="186" name="Google Shape;186;p15"/>
          <p:cNvSpPr txBox="1"/>
          <p:nvPr/>
        </p:nvSpPr>
        <p:spPr>
          <a:xfrm>
            <a:off x="8222995" y="777303"/>
            <a:ext cx="2772410" cy="1064895"/>
          </a:xfrm>
          <a:prstGeom prst="rect">
            <a:avLst/>
          </a:prstGeom>
          <a:noFill/>
          <a:ln>
            <a:noFill/>
          </a:ln>
        </p:spPr>
        <p:txBody>
          <a:bodyPr anchorCtr="0" anchor="t" bIns="0" lIns="0" spcFirstLastPara="1" rIns="0" wrap="square" tIns="1900">
            <a:spAutoFit/>
          </a:bodyPr>
          <a:lstStyle/>
          <a:p>
            <a:pPr indent="370840" lvl="0" marL="12700" marR="5080" rtl="0" algn="l">
              <a:lnSpc>
                <a:spcPct val="102699"/>
              </a:lnSpc>
              <a:spcBef>
                <a:spcPts val="0"/>
              </a:spcBef>
              <a:spcAft>
                <a:spcPts val="0"/>
              </a:spcAft>
              <a:buNone/>
            </a:pPr>
            <a:r>
              <a:rPr b="1" lang="fr-FR" sz="3350">
                <a:solidFill>
                  <a:srgbClr val="252525"/>
                </a:solidFill>
                <a:latin typeface="Garamond"/>
                <a:ea typeface="Garamond"/>
                <a:cs typeface="Garamond"/>
                <a:sym typeface="Garamond"/>
              </a:rPr>
              <a:t>laquelle		ou devant	une</a:t>
            </a:r>
            <a:endParaRPr sz="3350">
              <a:latin typeface="Garamond"/>
              <a:ea typeface="Garamond"/>
              <a:cs typeface="Garamond"/>
              <a:sym typeface="Garamond"/>
            </a:endParaRPr>
          </a:p>
        </p:txBody>
      </p:sp>
      <p:sp>
        <p:nvSpPr>
          <p:cNvPr id="187" name="Google Shape;187;p15"/>
          <p:cNvSpPr txBox="1"/>
          <p:nvPr/>
        </p:nvSpPr>
        <p:spPr>
          <a:xfrm>
            <a:off x="1021080" y="1612970"/>
            <a:ext cx="9810750" cy="3465692"/>
          </a:xfrm>
          <a:prstGeom prst="rect">
            <a:avLst/>
          </a:prstGeom>
          <a:noFill/>
          <a:ln>
            <a:noFill/>
          </a:ln>
        </p:spPr>
        <p:txBody>
          <a:bodyPr anchorCtr="0" anchor="t" bIns="0" lIns="0" spcFirstLastPara="1" rIns="0" wrap="square" tIns="229225">
            <a:spAutoFit/>
          </a:bodyPr>
          <a:lstStyle/>
          <a:p>
            <a:pPr indent="0" lvl="0" marL="264795" rtl="0" algn="l">
              <a:lnSpc>
                <a:spcPct val="100000"/>
              </a:lnSpc>
              <a:spcBef>
                <a:spcPts val="0"/>
              </a:spcBef>
              <a:spcAft>
                <a:spcPts val="0"/>
              </a:spcAft>
              <a:buNone/>
            </a:pPr>
            <a:r>
              <a:rPr b="1" lang="fr-FR" sz="3350">
                <a:solidFill>
                  <a:srgbClr val="252525"/>
                </a:solidFill>
                <a:latin typeface="Garamond"/>
                <a:ea typeface="Garamond"/>
                <a:cs typeface="Garamond"/>
                <a:sym typeface="Garamond"/>
              </a:rPr>
              <a:t>s</a:t>
            </a:r>
            <a:r>
              <a:rPr b="1" lang="fr-FR" sz="3350" u="sng">
                <a:solidFill>
                  <a:srgbClr val="252525"/>
                </a:solidFill>
                <a:latin typeface="Garamond"/>
                <a:ea typeface="Garamond"/>
                <a:cs typeface="Garamond"/>
                <a:sym typeface="Garamond"/>
              </a:rPr>
              <a:t> ymptomatologie évoquant une attaque de panique?</a:t>
            </a:r>
            <a:endParaRPr sz="3350">
              <a:latin typeface="Garamond"/>
              <a:ea typeface="Garamond"/>
              <a:cs typeface="Garamond"/>
              <a:sym typeface="Garamond"/>
            </a:endParaRPr>
          </a:p>
          <a:p>
            <a:pPr indent="-514350" lvl="0" marL="527050" rtl="0" algn="l">
              <a:lnSpc>
                <a:spcPct val="100000"/>
              </a:lnSpc>
              <a:spcBef>
                <a:spcPts val="163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Embolie pulmonaire</a:t>
            </a:r>
            <a:endParaRPr sz="2750">
              <a:solidFill>
                <a:srgbClr val="FF0000"/>
              </a:solidFill>
              <a:latin typeface="Garamond"/>
              <a:ea typeface="Garamond"/>
              <a:cs typeface="Garamond"/>
              <a:sym typeface="Garamond"/>
            </a:endParaRPr>
          </a:p>
          <a:p>
            <a:pPr indent="-513715" lvl="0" marL="526415" rtl="0" algn="l">
              <a:lnSpc>
                <a:spcPct val="100000"/>
              </a:lnSpc>
              <a:spcBef>
                <a:spcPts val="745"/>
              </a:spcBef>
              <a:spcAft>
                <a:spcPts val="0"/>
              </a:spcAft>
              <a:buClr>
                <a:srgbClr val="83992A"/>
              </a:buClr>
              <a:buSzPts val="3200"/>
              <a:buFont typeface="Garamond"/>
              <a:buAutoNum type="alphaUcPeriod"/>
            </a:pPr>
            <a:r>
              <a:rPr b="1" lang="fr-FR" sz="2750">
                <a:solidFill>
                  <a:schemeClr val="dk1"/>
                </a:solidFill>
                <a:latin typeface="Garamond"/>
                <a:ea typeface="Garamond"/>
                <a:cs typeface="Garamond"/>
                <a:sym typeface="Garamond"/>
              </a:rPr>
              <a:t>Myxœdème</a:t>
            </a:r>
            <a:endParaRPr sz="2750">
              <a:solidFill>
                <a:schemeClr val="dk1"/>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Hyperthyroïdie</a:t>
            </a:r>
            <a:endParaRPr sz="2750">
              <a:solidFill>
                <a:srgbClr val="FF0000"/>
              </a:solidFill>
              <a:latin typeface="Garamond"/>
              <a:ea typeface="Garamond"/>
              <a:cs typeface="Garamond"/>
              <a:sym typeface="Garamond"/>
            </a:endParaRPr>
          </a:p>
          <a:p>
            <a:pPr indent="-513080" lvl="0" marL="52578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Maladie de Bouveret</a:t>
            </a:r>
            <a:endParaRPr sz="2750">
              <a:solidFill>
                <a:srgbClr val="FF0000"/>
              </a:solidFill>
              <a:latin typeface="Garamond"/>
              <a:ea typeface="Garamond"/>
              <a:cs typeface="Garamond"/>
              <a:sym typeface="Garamond"/>
            </a:endParaRPr>
          </a:p>
          <a:p>
            <a:pPr indent="-513715" lvl="0" marL="526415" rtl="0" algn="l">
              <a:lnSpc>
                <a:spcPct val="100000"/>
              </a:lnSpc>
              <a:spcBef>
                <a:spcPts val="82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Phéochromocytome</a:t>
            </a:r>
            <a:endParaRPr sz="2750">
              <a:solidFill>
                <a:srgbClr val="FF0000"/>
              </a:solidFill>
              <a:latin typeface="Garamond"/>
              <a:ea typeface="Garamond"/>
              <a:cs typeface="Garamond"/>
              <a:sym typeface="Garamon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6"/>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3" name="Google Shape;193;p16"/>
          <p:cNvSpPr txBox="1"/>
          <p:nvPr>
            <p:ph type="title"/>
          </p:nvPr>
        </p:nvSpPr>
        <p:spPr>
          <a:xfrm>
            <a:off x="802005" y="636905"/>
            <a:ext cx="10587989" cy="1671955"/>
          </a:xfrm>
          <a:prstGeom prst="rect">
            <a:avLst/>
          </a:prstGeom>
          <a:noFill/>
          <a:ln>
            <a:noFill/>
          </a:ln>
        </p:spPr>
        <p:txBody>
          <a:bodyPr anchorCtr="0" anchor="t" bIns="0" lIns="0" spcFirstLastPara="1" rIns="0" wrap="square" tIns="616200">
            <a:spAutoFit/>
          </a:bodyPr>
          <a:lstStyle/>
          <a:p>
            <a:pPr indent="0" lvl="0" marL="725805" rtl="0" algn="l">
              <a:lnSpc>
                <a:spcPct val="100000"/>
              </a:lnSpc>
              <a:spcBef>
                <a:spcPts val="0"/>
              </a:spcBef>
              <a:spcAft>
                <a:spcPts val="0"/>
              </a:spcAft>
              <a:buNone/>
            </a:pPr>
            <a:r>
              <a:rPr lang="fr-FR" sz="4400">
                <a:solidFill>
                  <a:srgbClr val="000000"/>
                </a:solidFill>
              </a:rPr>
              <a:t>L’ attaque de panique</a:t>
            </a:r>
            <a:endParaRPr sz="4400"/>
          </a:p>
        </p:txBody>
      </p:sp>
      <p:sp>
        <p:nvSpPr>
          <p:cNvPr id="194" name="Google Shape;194;p1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195" name="Google Shape;195;p16"/>
          <p:cNvSpPr txBox="1"/>
          <p:nvPr/>
        </p:nvSpPr>
        <p:spPr>
          <a:xfrm>
            <a:off x="998855" y="2337752"/>
            <a:ext cx="10206990" cy="3095335"/>
          </a:xfrm>
          <a:prstGeom prst="rect">
            <a:avLst/>
          </a:prstGeom>
          <a:noFill/>
          <a:ln>
            <a:noFill/>
          </a:ln>
        </p:spPr>
        <p:txBody>
          <a:bodyPr anchorCtr="0" anchor="t" bIns="0" lIns="0" spcFirstLastPara="1" rIns="0" wrap="square" tIns="0">
            <a:spAutoFit/>
          </a:bodyPr>
          <a:lstStyle/>
          <a:p>
            <a:pPr indent="-514350" lvl="0" marL="527050" rtl="0" algn="l">
              <a:lnSpc>
                <a:spcPct val="114038"/>
              </a:lnSpc>
              <a:spcBef>
                <a:spcPts val="0"/>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Est caractérisée par l’anticipation anxieuse de certaines situations</a:t>
            </a:r>
            <a:endParaRPr sz="2600">
              <a:latin typeface="Garamond"/>
              <a:ea typeface="Garamond"/>
              <a:cs typeface="Garamond"/>
              <a:sym typeface="Garamond"/>
            </a:endParaRPr>
          </a:p>
          <a:p>
            <a:pPr indent="0" lvl="0" marL="527050" rtl="0" algn="l">
              <a:lnSpc>
                <a:spcPct val="106153"/>
              </a:lnSpc>
              <a:spcBef>
                <a:spcPts val="0"/>
              </a:spcBef>
              <a:spcAft>
                <a:spcPts val="0"/>
              </a:spcAft>
              <a:buNone/>
            </a:pPr>
            <a:r>
              <a:rPr b="1" lang="fr-FR" sz="2600">
                <a:solidFill>
                  <a:srgbClr val="252525"/>
                </a:solidFill>
                <a:latin typeface="Garamond"/>
                <a:ea typeface="Garamond"/>
                <a:cs typeface="Garamond"/>
                <a:sym typeface="Garamond"/>
              </a:rPr>
              <a:t>dans lesquelles le sujet pourrait être observé par autrui</a:t>
            </a:r>
            <a:endParaRPr sz="2600">
              <a:latin typeface="Garamond"/>
              <a:ea typeface="Garamond"/>
              <a:cs typeface="Garamond"/>
              <a:sym typeface="Garamond"/>
            </a:endParaRPr>
          </a:p>
          <a:p>
            <a:pPr indent="-514983" lvl="0" marL="527050" marR="660400" rtl="0" algn="l">
              <a:lnSpc>
                <a:spcPct val="79800"/>
              </a:lnSpc>
              <a:spcBef>
                <a:spcPts val="885"/>
              </a:spcBef>
              <a:spcAft>
                <a:spcPts val="0"/>
              </a:spcAft>
              <a:buClr>
                <a:srgbClr val="83992A"/>
              </a:buClr>
              <a:buSzPts val="3000"/>
              <a:buFont typeface="Garamond"/>
              <a:buAutoNum type="alphaUcPeriod" startAt="2"/>
            </a:pPr>
            <a:r>
              <a:rPr b="1" lang="fr-FR" sz="2600">
                <a:solidFill>
                  <a:srgbClr val="FF0000"/>
                </a:solidFill>
                <a:latin typeface="Garamond"/>
                <a:ea typeface="Garamond"/>
                <a:cs typeface="Garamond"/>
                <a:sym typeface="Garamond"/>
              </a:rPr>
              <a:t>Est caractérisée par la survenue de symptômes anxieux de façon spontanée</a:t>
            </a:r>
            <a:endParaRPr sz="2600">
              <a:solidFill>
                <a:srgbClr val="FF0000"/>
              </a:solidFill>
              <a:latin typeface="Garamond"/>
              <a:ea typeface="Garamond"/>
              <a:cs typeface="Garamond"/>
              <a:sym typeface="Garamond"/>
            </a:endParaRPr>
          </a:p>
          <a:p>
            <a:pPr indent="-514350" lvl="0" marL="527050" rtl="0" algn="l">
              <a:lnSpc>
                <a:spcPct val="100000"/>
              </a:lnSpc>
              <a:spcBef>
                <a:spcPts val="165"/>
              </a:spcBef>
              <a:spcAft>
                <a:spcPts val="0"/>
              </a:spcAft>
              <a:buClr>
                <a:srgbClr val="83992A"/>
              </a:buClr>
              <a:buSzPts val="3000"/>
              <a:buFont typeface="Garamond"/>
              <a:buAutoNum type="alphaUcPeriod" startAt="2"/>
            </a:pPr>
            <a:r>
              <a:rPr b="1" lang="fr-FR" sz="2600">
                <a:solidFill>
                  <a:srgbClr val="FF0000"/>
                </a:solidFill>
                <a:latin typeface="Garamond"/>
                <a:ea typeface="Garamond"/>
                <a:cs typeface="Garamond"/>
                <a:sym typeface="Garamond"/>
              </a:rPr>
              <a:t>Peut réveiller le patient la nuit</a:t>
            </a:r>
            <a:endParaRPr sz="2600">
              <a:solidFill>
                <a:srgbClr val="FF0000"/>
              </a:solidFill>
              <a:latin typeface="Garamond"/>
              <a:ea typeface="Garamond"/>
              <a:cs typeface="Garamond"/>
              <a:sym typeface="Garamond"/>
            </a:endParaRPr>
          </a:p>
          <a:p>
            <a:pPr indent="-513715" lvl="0" marL="525780" marR="1069975" rtl="0" algn="l">
              <a:lnSpc>
                <a:spcPct val="77400"/>
              </a:lnSpc>
              <a:spcBef>
                <a:spcPts val="965"/>
              </a:spcBef>
              <a:spcAft>
                <a:spcPts val="0"/>
              </a:spcAft>
              <a:buClr>
                <a:srgbClr val="83992A"/>
              </a:buClr>
              <a:buSzPts val="3000"/>
              <a:buFont typeface="Garamond"/>
              <a:buAutoNum type="alphaUcPeriod" startAt="2"/>
            </a:pPr>
            <a:r>
              <a:rPr b="1" lang="fr-FR" sz="2600">
                <a:solidFill>
                  <a:srgbClr val="252525"/>
                </a:solidFill>
                <a:latin typeface="Garamond"/>
                <a:ea typeface="Garamond"/>
                <a:cs typeface="Garamond"/>
                <a:sym typeface="Garamond"/>
              </a:rPr>
              <a:t>Son traitement symptomatique repose sur les antidépresseurs 	sérotoninergiques</a:t>
            </a:r>
            <a:endParaRPr sz="2600">
              <a:latin typeface="Garamond"/>
              <a:ea typeface="Garamond"/>
              <a:cs typeface="Garamond"/>
              <a:sym typeface="Garamond"/>
            </a:endParaRPr>
          </a:p>
          <a:p>
            <a:pPr indent="-514350" lvl="0" marL="527050" rtl="0" algn="l">
              <a:lnSpc>
                <a:spcPct val="100000"/>
              </a:lnSpc>
              <a:spcBef>
                <a:spcPts val="235"/>
              </a:spcBef>
              <a:spcAft>
                <a:spcPts val="0"/>
              </a:spcAft>
              <a:buClr>
                <a:srgbClr val="83992A"/>
              </a:buClr>
              <a:buSzPts val="3000"/>
              <a:buFont typeface="Garamond"/>
              <a:buAutoNum type="alphaUcPeriod" startAt="2"/>
            </a:pPr>
            <a:r>
              <a:rPr b="1" lang="fr-FR" sz="2600">
                <a:solidFill>
                  <a:srgbClr val="FF0000"/>
                </a:solidFill>
                <a:latin typeface="Garamond"/>
                <a:ea typeface="Garamond"/>
                <a:cs typeface="Garamond"/>
                <a:sym typeface="Garamond"/>
              </a:rPr>
              <a:t>Les techniques de relaxation et de contrôle respiratoire sont efficaces</a:t>
            </a:r>
            <a:endParaRPr sz="2600">
              <a:solidFill>
                <a:srgbClr val="FF0000"/>
              </a:solidFill>
              <a:latin typeface="Garamond"/>
              <a:ea typeface="Garamond"/>
              <a:cs typeface="Garamond"/>
              <a:sym typeface="Garamon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7"/>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01" name="Google Shape;201;p17"/>
          <p:cNvSpPr txBox="1"/>
          <p:nvPr>
            <p:ph type="title"/>
          </p:nvPr>
        </p:nvSpPr>
        <p:spPr>
          <a:xfrm>
            <a:off x="802005" y="636905"/>
            <a:ext cx="10587989" cy="1671955"/>
          </a:xfrm>
          <a:prstGeom prst="rect">
            <a:avLst/>
          </a:prstGeom>
          <a:noFill/>
          <a:ln>
            <a:noFill/>
          </a:ln>
        </p:spPr>
        <p:txBody>
          <a:bodyPr anchorCtr="0" anchor="t" bIns="0" lIns="0" spcFirstLastPara="1" rIns="0" wrap="square" tIns="616200">
            <a:spAutoFit/>
          </a:bodyPr>
          <a:lstStyle/>
          <a:p>
            <a:pPr indent="0" lvl="0" marL="665480" rtl="0" algn="l">
              <a:lnSpc>
                <a:spcPct val="100000"/>
              </a:lnSpc>
              <a:spcBef>
                <a:spcPts val="0"/>
              </a:spcBef>
              <a:spcAft>
                <a:spcPts val="0"/>
              </a:spcAft>
              <a:buNone/>
            </a:pPr>
            <a:r>
              <a:rPr lang="fr-FR" sz="4400"/>
              <a:t>L’attaque de panique</a:t>
            </a:r>
            <a:endParaRPr sz="4400"/>
          </a:p>
        </p:txBody>
      </p:sp>
      <p:sp>
        <p:nvSpPr>
          <p:cNvPr id="202" name="Google Shape;202;p1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203" name="Google Shape;203;p17"/>
          <p:cNvSpPr txBox="1"/>
          <p:nvPr/>
        </p:nvSpPr>
        <p:spPr>
          <a:xfrm>
            <a:off x="1103630" y="2447968"/>
            <a:ext cx="7081520" cy="2568652"/>
          </a:xfrm>
          <a:prstGeom prst="rect">
            <a:avLst/>
          </a:prstGeom>
          <a:noFill/>
          <a:ln>
            <a:noFill/>
          </a:ln>
        </p:spPr>
        <p:txBody>
          <a:bodyPr anchorCtr="0" anchor="t" bIns="0" lIns="0" spcFirstLastPara="1" rIns="0" wrap="square" tIns="54600">
            <a:spAutoFit/>
          </a:bodyPr>
          <a:lstStyle/>
          <a:p>
            <a:pPr indent="-513715" lvl="0" marL="526415" rtl="0" algn="l">
              <a:lnSpc>
                <a:spcPct val="100000"/>
              </a:lnSpc>
              <a:spcBef>
                <a:spcPts val="0"/>
              </a:spcBef>
              <a:spcAft>
                <a:spcPts val="0"/>
              </a:spcAft>
              <a:buClr>
                <a:srgbClr val="83992A"/>
              </a:buClr>
              <a:buSzPts val="3200"/>
              <a:buFont typeface="Garamond"/>
              <a:buAutoNum type="alphaUcPeriod"/>
            </a:pPr>
            <a:r>
              <a:rPr b="1" lang="fr-FR" sz="2750">
                <a:latin typeface="Garamond"/>
                <a:ea typeface="Garamond"/>
                <a:cs typeface="Garamond"/>
                <a:sym typeface="Garamond"/>
              </a:rPr>
              <a:t>Dure 10 minutes en moyenne</a:t>
            </a:r>
            <a:endParaRPr sz="2750">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Peut-être secondaire à une cause organique</a:t>
            </a:r>
            <a:endParaRPr sz="2750">
              <a:solidFill>
                <a:srgbClr val="FF0000"/>
              </a:solidFill>
              <a:latin typeface="Garamond"/>
              <a:ea typeface="Garamond"/>
              <a:cs typeface="Garamond"/>
              <a:sym typeface="Garamond"/>
            </a:endParaRPr>
          </a:p>
          <a:p>
            <a:pPr indent="-514350" lvl="0" marL="527050" rtl="0" algn="l">
              <a:lnSpc>
                <a:spcPct val="100000"/>
              </a:lnSpc>
              <a:spcBef>
                <a:spcPts val="82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S’accompagne de flash-backs</a:t>
            </a:r>
            <a:endParaRPr sz="2750">
              <a:latin typeface="Garamond"/>
              <a:ea typeface="Garamond"/>
              <a:cs typeface="Garamond"/>
              <a:sym typeface="Garamond"/>
            </a:endParaRPr>
          </a:p>
          <a:p>
            <a:pPr indent="-513080" lvl="0" marL="52578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Est trans-nosographique</a:t>
            </a:r>
            <a:endParaRPr sz="2750">
              <a:solidFill>
                <a:srgbClr val="FF0000"/>
              </a:solidFill>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Survient la nuit réveillant le patient</a:t>
            </a:r>
            <a:endParaRPr sz="2750">
              <a:solidFill>
                <a:srgbClr val="FF0000"/>
              </a:solidFill>
              <a:latin typeface="Garamond"/>
              <a:ea typeface="Garamond"/>
              <a:cs typeface="Garamond"/>
              <a:sym typeface="Garamo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8"/>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09" name="Google Shape;209;p18"/>
          <p:cNvSpPr txBox="1"/>
          <p:nvPr>
            <p:ph type="title"/>
          </p:nvPr>
        </p:nvSpPr>
        <p:spPr>
          <a:xfrm>
            <a:off x="802005" y="636905"/>
            <a:ext cx="10587989" cy="1671955"/>
          </a:xfrm>
          <a:prstGeom prst="rect">
            <a:avLst/>
          </a:prstGeom>
          <a:noFill/>
          <a:ln>
            <a:noFill/>
          </a:ln>
        </p:spPr>
        <p:txBody>
          <a:bodyPr anchorCtr="0" anchor="t" bIns="0" lIns="0" spcFirstLastPara="1" rIns="0" wrap="square" tIns="354700">
            <a:spAutoFit/>
          </a:bodyPr>
          <a:lstStyle/>
          <a:p>
            <a:pPr indent="0" lvl="0" marL="712470" rtl="0" algn="l">
              <a:lnSpc>
                <a:spcPct val="100000"/>
              </a:lnSpc>
              <a:spcBef>
                <a:spcPts val="0"/>
              </a:spcBef>
              <a:spcAft>
                <a:spcPts val="0"/>
              </a:spcAft>
              <a:buNone/>
            </a:pPr>
            <a:r>
              <a:rPr lang="fr-FR" sz="3950"/>
              <a:t>Les symptômes somatiques observés au</a:t>
            </a:r>
            <a:endParaRPr sz="3950"/>
          </a:p>
          <a:p>
            <a:pPr indent="0" lvl="0" marL="585470" rtl="0" algn="l">
              <a:lnSpc>
                <a:spcPct val="100000"/>
              </a:lnSpc>
              <a:spcBef>
                <a:spcPts val="65"/>
              </a:spcBef>
              <a:spcAft>
                <a:spcPts val="0"/>
              </a:spcAft>
              <a:buNone/>
            </a:pPr>
            <a:r>
              <a:rPr lang="fr-FR" sz="3950"/>
              <a:t>cours d’une attaque de panique sont :</a:t>
            </a:r>
            <a:endParaRPr sz="3950"/>
          </a:p>
        </p:txBody>
      </p:sp>
      <p:sp>
        <p:nvSpPr>
          <p:cNvPr id="210" name="Google Shape;210;p1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211" name="Google Shape;211;p18"/>
          <p:cNvSpPr txBox="1"/>
          <p:nvPr/>
        </p:nvSpPr>
        <p:spPr>
          <a:xfrm>
            <a:off x="1375028" y="2456021"/>
            <a:ext cx="5062855" cy="2568652"/>
          </a:xfrm>
          <a:prstGeom prst="rect">
            <a:avLst/>
          </a:prstGeom>
          <a:noFill/>
          <a:ln>
            <a:noFill/>
          </a:ln>
        </p:spPr>
        <p:txBody>
          <a:bodyPr anchorCtr="0" anchor="t" bIns="0" lIns="0" spcFirstLastPara="1" rIns="0" wrap="square" tIns="546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Peur de venir fou</a:t>
            </a:r>
            <a:endParaRPr sz="2750">
              <a:latin typeface="Garamond"/>
              <a:ea typeface="Garamond"/>
              <a:cs typeface="Garamond"/>
              <a:sym typeface="Garamond"/>
            </a:endParaRPr>
          </a:p>
          <a:p>
            <a:pPr indent="-514350" lvl="0" marL="527050"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Peur d’avoir une malade grave</a:t>
            </a:r>
            <a:endParaRPr sz="2750">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Tachycardie</a:t>
            </a:r>
            <a:endParaRPr sz="2750">
              <a:solidFill>
                <a:srgbClr val="FF0000"/>
              </a:solidFill>
              <a:latin typeface="Garamond"/>
              <a:ea typeface="Garamond"/>
              <a:cs typeface="Garamond"/>
              <a:sym typeface="Garamond"/>
            </a:endParaRPr>
          </a:p>
          <a:p>
            <a:pPr indent="-514350" lvl="0" marL="527050" rtl="0" algn="l">
              <a:lnSpc>
                <a:spcPct val="100000"/>
              </a:lnSpc>
              <a:spcBef>
                <a:spcPts val="74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Sueurs</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Peur de mourir</a:t>
            </a:r>
            <a:endParaRPr sz="2750">
              <a:latin typeface="Garamond"/>
              <a:ea typeface="Garamond"/>
              <a:cs typeface="Garamond"/>
              <a:sym typeface="Garamon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9"/>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17" name="Google Shape;217;p19"/>
          <p:cNvSpPr txBox="1"/>
          <p:nvPr>
            <p:ph type="title"/>
          </p:nvPr>
        </p:nvSpPr>
        <p:spPr>
          <a:xfrm>
            <a:off x="802005" y="636905"/>
            <a:ext cx="10587989" cy="1671955"/>
          </a:xfrm>
          <a:prstGeom prst="rect">
            <a:avLst/>
          </a:prstGeom>
          <a:noFill/>
          <a:ln>
            <a:noFill/>
          </a:ln>
        </p:spPr>
        <p:txBody>
          <a:bodyPr anchorCtr="0" anchor="t" bIns="0" lIns="0" spcFirstLastPara="1" rIns="0" wrap="square" tIns="325100">
            <a:spAutoFit/>
          </a:bodyPr>
          <a:lstStyle/>
          <a:p>
            <a:pPr indent="0" lvl="0" marL="579755" rtl="0" algn="l">
              <a:lnSpc>
                <a:spcPct val="100000"/>
              </a:lnSpc>
              <a:spcBef>
                <a:spcPts val="0"/>
              </a:spcBef>
              <a:spcAft>
                <a:spcPts val="0"/>
              </a:spcAft>
              <a:buNone/>
            </a:pPr>
            <a:r>
              <a:rPr lang="fr-FR" sz="3950"/>
              <a:t>Une attaque de panique est une peur intense</a:t>
            </a:r>
            <a:endParaRPr sz="3950"/>
          </a:p>
          <a:p>
            <a:pPr indent="0" lvl="0" marL="579755" rtl="0" algn="l">
              <a:lnSpc>
                <a:spcPct val="100000"/>
              </a:lnSpc>
              <a:spcBef>
                <a:spcPts val="65"/>
              </a:spcBef>
              <a:spcAft>
                <a:spcPts val="0"/>
              </a:spcAft>
              <a:buNone/>
            </a:pPr>
            <a:r>
              <a:rPr lang="fr-FR" sz="3950"/>
              <a:t>qui peut s’accompagner :</a:t>
            </a:r>
            <a:endParaRPr sz="3950"/>
          </a:p>
        </p:txBody>
      </p:sp>
      <p:sp>
        <p:nvSpPr>
          <p:cNvPr id="218" name="Google Shape;218;p1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219" name="Google Shape;219;p19"/>
          <p:cNvSpPr txBox="1"/>
          <p:nvPr/>
        </p:nvSpPr>
        <p:spPr>
          <a:xfrm>
            <a:off x="1103630" y="2511121"/>
            <a:ext cx="7245984" cy="2568652"/>
          </a:xfrm>
          <a:prstGeom prst="rect">
            <a:avLst/>
          </a:prstGeom>
          <a:noFill/>
          <a:ln>
            <a:noFill/>
          </a:ln>
        </p:spPr>
        <p:txBody>
          <a:bodyPr anchorCtr="0" anchor="t" bIns="0" lIns="0" spcFirstLastPara="1" rIns="0" wrap="square" tIns="54600">
            <a:spAutoFit/>
          </a:bodyPr>
          <a:lstStyle/>
          <a:p>
            <a:pPr indent="-513715" lvl="0" marL="526415"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D’une peur de mourir</a:t>
            </a:r>
            <a:endParaRPr sz="2750">
              <a:solidFill>
                <a:srgbClr val="FF0000"/>
              </a:solidFill>
              <a:latin typeface="Garamond"/>
              <a:ea typeface="Garamond"/>
              <a:cs typeface="Garamond"/>
              <a:sym typeface="Garamond"/>
            </a:endParaRPr>
          </a:p>
          <a:p>
            <a:pPr indent="-514350" lvl="0" marL="527050" rtl="0" algn="l">
              <a:lnSpc>
                <a:spcPct val="100000"/>
              </a:lnSpc>
              <a:spcBef>
                <a:spcPts val="82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D’une impression de catastrophe imminente</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0C0C0C"/>
                </a:solidFill>
                <a:latin typeface="Garamond"/>
                <a:ea typeface="Garamond"/>
                <a:cs typeface="Garamond"/>
                <a:sym typeface="Garamond"/>
              </a:rPr>
              <a:t>D’hallucinations</a:t>
            </a:r>
            <a:endParaRPr sz="2750">
              <a:solidFill>
                <a:srgbClr val="0C0C0C"/>
              </a:solidFill>
              <a:latin typeface="Garamond"/>
              <a:ea typeface="Garamond"/>
              <a:cs typeface="Garamond"/>
              <a:sym typeface="Garamond"/>
            </a:endParaRPr>
          </a:p>
          <a:p>
            <a:pPr indent="-514350" lvl="0" marL="527050"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D’un vécu de dépersonnalisation</a:t>
            </a:r>
            <a:endParaRPr sz="2750">
              <a:solidFill>
                <a:srgbClr val="FF0000"/>
              </a:solidFill>
              <a:latin typeface="Garamond"/>
              <a:ea typeface="Garamond"/>
              <a:cs typeface="Garamond"/>
              <a:sym typeface="Garamond"/>
            </a:endParaRPr>
          </a:p>
          <a:p>
            <a:pPr indent="-513080" lvl="0" marL="52578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D’une peur de devenir fou</a:t>
            </a:r>
            <a:endParaRPr sz="2750">
              <a:solidFill>
                <a:srgbClr val="FF0000"/>
              </a:solidFill>
              <a:latin typeface="Garamond"/>
              <a:ea typeface="Garamond"/>
              <a:cs typeface="Garamond"/>
              <a:sym typeface="Garamon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0"/>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25" name="Google Shape;225;p20"/>
          <p:cNvSpPr txBox="1"/>
          <p:nvPr>
            <p:ph type="title"/>
          </p:nvPr>
        </p:nvSpPr>
        <p:spPr>
          <a:xfrm>
            <a:off x="802005" y="636905"/>
            <a:ext cx="10587989" cy="1671955"/>
          </a:xfrm>
          <a:prstGeom prst="rect">
            <a:avLst/>
          </a:prstGeom>
          <a:noFill/>
          <a:ln>
            <a:noFill/>
          </a:ln>
        </p:spPr>
        <p:txBody>
          <a:bodyPr anchorCtr="0" anchor="t" bIns="0" lIns="0" spcFirstLastPara="1" rIns="0" wrap="square" tIns="107300">
            <a:spAutoFit/>
          </a:bodyPr>
          <a:lstStyle/>
          <a:p>
            <a:pPr indent="0" lvl="0" marL="585470" rtl="0" algn="l">
              <a:lnSpc>
                <a:spcPct val="100000"/>
              </a:lnSpc>
              <a:spcBef>
                <a:spcPts val="0"/>
              </a:spcBef>
              <a:spcAft>
                <a:spcPts val="0"/>
              </a:spcAft>
              <a:buNone/>
            </a:pPr>
            <a:r>
              <a:rPr lang="fr-FR">
                <a:solidFill>
                  <a:srgbClr val="000000"/>
                </a:solidFill>
              </a:rPr>
              <a:t>Parmi les propositions suivantes les quelles</a:t>
            </a:r>
            <a:endParaRPr/>
          </a:p>
          <a:p>
            <a:pPr indent="0" lvl="0" marL="585470" rtl="0" algn="l">
              <a:lnSpc>
                <a:spcPct val="100000"/>
              </a:lnSpc>
              <a:spcBef>
                <a:spcPts val="35"/>
              </a:spcBef>
              <a:spcAft>
                <a:spcPts val="0"/>
              </a:spcAft>
              <a:buNone/>
            </a:pPr>
            <a:r>
              <a:rPr lang="fr-FR">
                <a:solidFill>
                  <a:srgbClr val="000000"/>
                </a:solidFill>
              </a:rPr>
              <a:t>caractérisent l’attaque de panique :</a:t>
            </a:r>
            <a:endParaRPr/>
          </a:p>
        </p:txBody>
      </p:sp>
      <p:sp>
        <p:nvSpPr>
          <p:cNvPr id="226" name="Google Shape;226;p2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227" name="Google Shape;227;p20"/>
          <p:cNvSpPr txBox="1"/>
          <p:nvPr/>
        </p:nvSpPr>
        <p:spPr>
          <a:xfrm>
            <a:off x="1375028" y="2406713"/>
            <a:ext cx="8827135" cy="2648161"/>
          </a:xfrm>
          <a:prstGeom prst="rect">
            <a:avLst/>
          </a:prstGeom>
          <a:noFill/>
          <a:ln>
            <a:noFill/>
          </a:ln>
        </p:spPr>
        <p:txBody>
          <a:bodyPr anchorCtr="0" anchor="t" bIns="0" lIns="0" spcFirstLastPara="1" rIns="0" wrap="square" tIns="171450">
            <a:spAutoFit/>
          </a:bodyPr>
          <a:lstStyle/>
          <a:p>
            <a:pPr indent="0" lvl="0" marL="12700" rtl="0" algn="l">
              <a:lnSpc>
                <a:spcPct val="100000"/>
              </a:lnSpc>
              <a:spcBef>
                <a:spcPts val="0"/>
              </a:spcBef>
              <a:spcAft>
                <a:spcPts val="0"/>
              </a:spcAft>
              <a:buNone/>
            </a:pPr>
            <a:r>
              <a:rPr b="1" lang="fr-FR" sz="2400">
                <a:solidFill>
                  <a:srgbClr val="252525"/>
                </a:solidFill>
                <a:latin typeface="Garamond"/>
                <a:ea typeface="Garamond"/>
                <a:cs typeface="Garamond"/>
                <a:sym typeface="Garamond"/>
              </a:rPr>
              <a:t>A-	</a:t>
            </a:r>
            <a:r>
              <a:rPr b="1" lang="fr-FR" sz="2400">
                <a:solidFill>
                  <a:srgbClr val="FF0000"/>
                </a:solidFill>
                <a:latin typeface="Garamond"/>
                <a:ea typeface="Garamond"/>
                <a:cs typeface="Garamond"/>
                <a:sym typeface="Garamond"/>
              </a:rPr>
              <a:t>peut générer un état d’agitation</a:t>
            </a:r>
            <a:endParaRPr sz="2400">
              <a:solidFill>
                <a:srgbClr val="FF0000"/>
              </a:solidFill>
              <a:latin typeface="Garamond"/>
              <a:ea typeface="Garamond"/>
              <a:cs typeface="Garamond"/>
              <a:sym typeface="Garamond"/>
            </a:endParaRPr>
          </a:p>
          <a:p>
            <a:pPr indent="0" lvl="0" marL="12700" rtl="0" algn="l">
              <a:lnSpc>
                <a:spcPct val="100000"/>
              </a:lnSpc>
              <a:spcBef>
                <a:spcPts val="1250"/>
              </a:spcBef>
              <a:spcAft>
                <a:spcPts val="0"/>
              </a:spcAft>
              <a:buNone/>
            </a:pPr>
            <a:r>
              <a:rPr b="1" lang="fr-FR" sz="2400">
                <a:solidFill>
                  <a:srgbClr val="252525"/>
                </a:solidFill>
                <a:latin typeface="Garamond"/>
                <a:ea typeface="Garamond"/>
                <a:cs typeface="Garamond"/>
                <a:sym typeface="Garamond"/>
              </a:rPr>
              <a:t>B- </a:t>
            </a:r>
            <a:r>
              <a:rPr b="1" lang="fr-FR" sz="2400">
                <a:solidFill>
                  <a:srgbClr val="FF0000"/>
                </a:solidFill>
                <a:latin typeface="Garamond"/>
                <a:ea typeface="Garamond"/>
                <a:cs typeface="Garamond"/>
                <a:sym typeface="Garamond"/>
              </a:rPr>
              <a:t>s’accompagne souvent de manifestations somatiques trompeuses</a:t>
            </a:r>
            <a:endParaRPr sz="2400">
              <a:solidFill>
                <a:srgbClr val="FF0000"/>
              </a:solidFill>
              <a:latin typeface="Garamond"/>
              <a:ea typeface="Garamond"/>
              <a:cs typeface="Garamond"/>
              <a:sym typeface="Garamond"/>
            </a:endParaRPr>
          </a:p>
          <a:p>
            <a:pPr indent="0" lvl="0" marL="12700" rtl="0" algn="l">
              <a:lnSpc>
                <a:spcPct val="100000"/>
              </a:lnSpc>
              <a:spcBef>
                <a:spcPts val="1175"/>
              </a:spcBef>
              <a:spcAft>
                <a:spcPts val="0"/>
              </a:spcAft>
              <a:buNone/>
            </a:pPr>
            <a:r>
              <a:rPr b="1" lang="fr-FR" sz="2400">
                <a:solidFill>
                  <a:srgbClr val="252525"/>
                </a:solidFill>
                <a:latin typeface="Garamond"/>
                <a:ea typeface="Garamond"/>
                <a:cs typeface="Garamond"/>
                <a:sym typeface="Garamond"/>
              </a:rPr>
              <a:t>C- se traite par un traitement neuroleptique type Halopéridol</a:t>
            </a:r>
            <a:endParaRPr sz="2400">
              <a:latin typeface="Garamond"/>
              <a:ea typeface="Garamond"/>
              <a:cs typeface="Garamond"/>
              <a:sym typeface="Garamond"/>
            </a:endParaRPr>
          </a:p>
          <a:p>
            <a:pPr indent="0" lvl="0" marL="12700" rtl="0" algn="l">
              <a:lnSpc>
                <a:spcPct val="100000"/>
              </a:lnSpc>
              <a:spcBef>
                <a:spcPts val="1175"/>
              </a:spcBef>
              <a:spcAft>
                <a:spcPts val="0"/>
              </a:spcAft>
              <a:buNone/>
            </a:pPr>
            <a:r>
              <a:rPr b="1" lang="fr-FR" sz="2400">
                <a:solidFill>
                  <a:srgbClr val="252525"/>
                </a:solidFill>
                <a:latin typeface="Garamond"/>
                <a:ea typeface="Garamond"/>
                <a:cs typeface="Garamond"/>
                <a:sym typeface="Garamond"/>
              </a:rPr>
              <a:t>D- </a:t>
            </a:r>
            <a:r>
              <a:rPr b="1" lang="fr-FR" sz="2400">
                <a:solidFill>
                  <a:srgbClr val="FF0000"/>
                </a:solidFill>
                <a:latin typeface="Garamond"/>
                <a:ea typeface="Garamond"/>
                <a:cs typeface="Garamond"/>
                <a:sym typeface="Garamond"/>
              </a:rPr>
              <a:t>a tendance à se répéter</a:t>
            </a:r>
            <a:endParaRPr sz="2400">
              <a:solidFill>
                <a:srgbClr val="FF0000"/>
              </a:solidFill>
              <a:latin typeface="Garamond"/>
              <a:ea typeface="Garamond"/>
              <a:cs typeface="Garamond"/>
              <a:sym typeface="Garamond"/>
            </a:endParaRPr>
          </a:p>
          <a:p>
            <a:pPr indent="0" lvl="0" marL="12700" rtl="0" algn="l">
              <a:lnSpc>
                <a:spcPct val="100000"/>
              </a:lnSpc>
              <a:spcBef>
                <a:spcPts val="1175"/>
              </a:spcBef>
              <a:spcAft>
                <a:spcPts val="0"/>
              </a:spcAft>
              <a:buNone/>
            </a:pPr>
            <a:r>
              <a:rPr b="1" lang="fr-FR" sz="2400">
                <a:solidFill>
                  <a:srgbClr val="252525"/>
                </a:solidFill>
                <a:latin typeface="Garamond"/>
                <a:ea typeface="Garamond"/>
                <a:cs typeface="Garamond"/>
                <a:sym typeface="Garamond"/>
              </a:rPr>
              <a:t>E- fait toujours suite à un facteur déclenchant</a:t>
            </a:r>
            <a:endParaRPr sz="2400">
              <a:latin typeface="Garamond"/>
              <a:ea typeface="Garamond"/>
              <a:cs typeface="Garamond"/>
              <a:sym typeface="Garamon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1"/>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3" name="Google Shape;233;p21"/>
          <p:cNvSpPr txBox="1"/>
          <p:nvPr>
            <p:ph type="title"/>
          </p:nvPr>
        </p:nvSpPr>
        <p:spPr>
          <a:xfrm>
            <a:off x="1375028" y="791844"/>
            <a:ext cx="8073390" cy="1004569"/>
          </a:xfrm>
          <a:prstGeom prst="rect">
            <a:avLst/>
          </a:prstGeom>
          <a:noFill/>
          <a:ln>
            <a:noFill/>
          </a:ln>
        </p:spPr>
        <p:txBody>
          <a:bodyPr anchorCtr="0" anchor="t" bIns="0" lIns="0" spcFirstLastPara="1" rIns="0" wrap="square" tIns="16500">
            <a:spAutoFit/>
          </a:bodyPr>
          <a:lstStyle/>
          <a:p>
            <a:pPr indent="0" lvl="0" marL="12700" marR="5080" rtl="0" algn="l">
              <a:lnSpc>
                <a:spcPct val="100000"/>
              </a:lnSpc>
              <a:spcBef>
                <a:spcPts val="0"/>
              </a:spcBef>
              <a:spcAft>
                <a:spcPts val="0"/>
              </a:spcAft>
              <a:buNone/>
            </a:pPr>
            <a:r>
              <a:rPr lang="fr-FR" sz="3200">
                <a:solidFill>
                  <a:srgbClr val="000000"/>
                </a:solidFill>
              </a:rPr>
              <a:t>Parmi les symptômes suivants, lequel n’est pas typique d’une attaque de panique ?</a:t>
            </a:r>
            <a:endParaRPr sz="3200"/>
          </a:p>
        </p:txBody>
      </p:sp>
      <p:sp>
        <p:nvSpPr>
          <p:cNvPr id="234" name="Google Shape;234;p2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235" name="Google Shape;235;p21"/>
          <p:cNvSpPr txBox="1"/>
          <p:nvPr/>
        </p:nvSpPr>
        <p:spPr>
          <a:xfrm>
            <a:off x="1375028" y="2510658"/>
            <a:ext cx="3860800" cy="2926080"/>
          </a:xfrm>
          <a:prstGeom prst="rect">
            <a:avLst/>
          </a:prstGeom>
          <a:noFill/>
          <a:ln>
            <a:noFill/>
          </a:ln>
        </p:spPr>
        <p:txBody>
          <a:bodyPr anchorCtr="0" anchor="t" bIns="0" lIns="0" spcFirstLastPara="1" rIns="0" wrap="square" tIns="200650">
            <a:spAutoFit/>
          </a:bodyPr>
          <a:lstStyle/>
          <a:p>
            <a:pPr indent="-351790" lvl="0" marL="364490" rtl="0" algn="l">
              <a:lnSpc>
                <a:spcPct val="100000"/>
              </a:lnSpc>
              <a:spcBef>
                <a:spcPts val="0"/>
              </a:spcBef>
              <a:spcAft>
                <a:spcPts val="0"/>
              </a:spcAft>
              <a:buClr>
                <a:srgbClr val="252525"/>
              </a:buClr>
              <a:buSzPts val="2400"/>
              <a:buFont typeface="Garamond"/>
              <a:buAutoNum type="alphaUcPeriod"/>
            </a:pPr>
            <a:r>
              <a:rPr b="1" lang="fr-FR" sz="2400">
                <a:solidFill>
                  <a:srgbClr val="252525"/>
                </a:solidFill>
                <a:latin typeface="Garamond"/>
                <a:ea typeface="Garamond"/>
                <a:cs typeface="Garamond"/>
                <a:sym typeface="Garamond"/>
              </a:rPr>
              <a:t>Palpitations</a:t>
            </a:r>
            <a:endParaRPr sz="2400">
              <a:latin typeface="Garamond"/>
              <a:ea typeface="Garamond"/>
              <a:cs typeface="Garamond"/>
              <a:sym typeface="Garamond"/>
            </a:endParaRPr>
          </a:p>
          <a:p>
            <a:pPr indent="-361315" lvl="0" marL="374015" rtl="0" algn="l">
              <a:lnSpc>
                <a:spcPct val="100000"/>
              </a:lnSpc>
              <a:spcBef>
                <a:spcPts val="1480"/>
              </a:spcBef>
              <a:spcAft>
                <a:spcPts val="0"/>
              </a:spcAft>
              <a:buClr>
                <a:srgbClr val="252525"/>
              </a:buClr>
              <a:buSzPts val="2400"/>
              <a:buFont typeface="Garamond"/>
              <a:buAutoNum type="alphaUcPeriod"/>
            </a:pPr>
            <a:r>
              <a:rPr b="1" lang="fr-FR" sz="2400">
                <a:solidFill>
                  <a:srgbClr val="252525"/>
                </a:solidFill>
                <a:latin typeface="Garamond"/>
                <a:ea typeface="Garamond"/>
                <a:cs typeface="Garamond"/>
                <a:sym typeface="Garamond"/>
              </a:rPr>
              <a:t>Tremblements</a:t>
            </a:r>
            <a:endParaRPr sz="2400">
              <a:latin typeface="Garamond"/>
              <a:ea typeface="Garamond"/>
              <a:cs typeface="Garamond"/>
              <a:sym typeface="Garamond"/>
            </a:endParaRPr>
          </a:p>
          <a:p>
            <a:pPr indent="-370840" lvl="0" marL="383540" rtl="0" algn="l">
              <a:lnSpc>
                <a:spcPct val="100000"/>
              </a:lnSpc>
              <a:spcBef>
                <a:spcPts val="1395"/>
              </a:spcBef>
              <a:spcAft>
                <a:spcPts val="0"/>
              </a:spcAft>
              <a:buClr>
                <a:srgbClr val="FF0000"/>
              </a:buClr>
              <a:buSzPts val="2400"/>
              <a:buFont typeface="Garamond"/>
              <a:buAutoNum type="alphaUcPeriod"/>
            </a:pPr>
            <a:r>
              <a:rPr b="1" lang="fr-FR" sz="2400">
                <a:solidFill>
                  <a:srgbClr val="FF0000"/>
                </a:solidFill>
                <a:latin typeface="Garamond"/>
                <a:ea typeface="Garamond"/>
                <a:cs typeface="Garamond"/>
                <a:sym typeface="Garamond"/>
              </a:rPr>
              <a:t>Hallucinations visuelles</a:t>
            </a:r>
            <a:endParaRPr sz="2400">
              <a:solidFill>
                <a:srgbClr val="FF0000"/>
              </a:solidFill>
              <a:latin typeface="Garamond"/>
              <a:ea typeface="Garamond"/>
              <a:cs typeface="Garamond"/>
              <a:sym typeface="Garamond"/>
            </a:endParaRPr>
          </a:p>
          <a:p>
            <a:pPr indent="-380365" lvl="0" marL="393065" rtl="0" algn="l">
              <a:lnSpc>
                <a:spcPct val="100000"/>
              </a:lnSpc>
              <a:spcBef>
                <a:spcPts val="1480"/>
              </a:spcBef>
              <a:spcAft>
                <a:spcPts val="0"/>
              </a:spcAft>
              <a:buClr>
                <a:srgbClr val="252525"/>
              </a:buClr>
              <a:buSzPts val="2400"/>
              <a:buFont typeface="Garamond"/>
              <a:buAutoNum type="alphaUcPeriod"/>
            </a:pPr>
            <a:r>
              <a:rPr b="1" lang="fr-FR" sz="2400">
                <a:solidFill>
                  <a:srgbClr val="252525"/>
                </a:solidFill>
                <a:latin typeface="Garamond"/>
                <a:ea typeface="Garamond"/>
                <a:cs typeface="Garamond"/>
                <a:sym typeface="Garamond"/>
              </a:rPr>
              <a:t>Sensation de souffle coupé</a:t>
            </a:r>
            <a:endParaRPr sz="2400">
              <a:latin typeface="Garamond"/>
              <a:ea typeface="Garamond"/>
              <a:cs typeface="Garamond"/>
              <a:sym typeface="Garamond"/>
            </a:endParaRPr>
          </a:p>
          <a:p>
            <a:pPr indent="-370840" lvl="0" marL="383540" rtl="0" algn="l">
              <a:lnSpc>
                <a:spcPct val="100000"/>
              </a:lnSpc>
              <a:spcBef>
                <a:spcPts val="2600"/>
              </a:spcBef>
              <a:spcAft>
                <a:spcPts val="0"/>
              </a:spcAft>
              <a:buClr>
                <a:srgbClr val="252525"/>
              </a:buClr>
              <a:buSzPts val="2400"/>
              <a:buFont typeface="Garamond"/>
              <a:buAutoNum type="alphaUcPeriod"/>
            </a:pPr>
            <a:r>
              <a:rPr b="1" lang="fr-FR" sz="2400">
                <a:solidFill>
                  <a:srgbClr val="252525"/>
                </a:solidFill>
                <a:latin typeface="Garamond"/>
                <a:ea typeface="Garamond"/>
                <a:cs typeface="Garamond"/>
                <a:sym typeface="Garamond"/>
              </a:rPr>
              <a:t>Dyspnée</a:t>
            </a:r>
            <a:endParaRPr sz="2400">
              <a:latin typeface="Garamond"/>
              <a:ea typeface="Garamond"/>
              <a:cs typeface="Garamond"/>
              <a:sym typeface="Garamon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2"/>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41" name="Google Shape;241;p22"/>
          <p:cNvSpPr txBox="1"/>
          <p:nvPr>
            <p:ph type="title"/>
          </p:nvPr>
        </p:nvSpPr>
        <p:spPr>
          <a:xfrm>
            <a:off x="802005" y="636905"/>
            <a:ext cx="10587989" cy="1671955"/>
          </a:xfrm>
          <a:prstGeom prst="rect">
            <a:avLst/>
          </a:prstGeom>
          <a:noFill/>
          <a:ln>
            <a:noFill/>
          </a:ln>
        </p:spPr>
        <p:txBody>
          <a:bodyPr anchorCtr="0" anchor="t" bIns="0" lIns="0" spcFirstLastPara="1" rIns="0" wrap="square" tIns="218800">
            <a:spAutoFit/>
          </a:bodyPr>
          <a:lstStyle/>
          <a:p>
            <a:pPr indent="0" lvl="0" marL="585470" marR="5080" rtl="0" algn="l">
              <a:lnSpc>
                <a:spcPct val="101400"/>
              </a:lnSpc>
              <a:spcBef>
                <a:spcPts val="0"/>
              </a:spcBef>
              <a:spcAft>
                <a:spcPts val="0"/>
              </a:spcAft>
              <a:buNone/>
            </a:pPr>
            <a:r>
              <a:rPr lang="fr-FR" sz="3950">
                <a:solidFill>
                  <a:srgbClr val="000000"/>
                </a:solidFill>
              </a:rPr>
              <a:t>Une attaque de panique peut se rencontrer dans :</a:t>
            </a:r>
            <a:endParaRPr sz="3950"/>
          </a:p>
        </p:txBody>
      </p:sp>
      <p:sp>
        <p:nvSpPr>
          <p:cNvPr id="242" name="Google Shape;242;p2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243" name="Google Shape;243;p22"/>
          <p:cNvSpPr txBox="1"/>
          <p:nvPr/>
        </p:nvSpPr>
        <p:spPr>
          <a:xfrm>
            <a:off x="1375028" y="2406713"/>
            <a:ext cx="4170679" cy="2648161"/>
          </a:xfrm>
          <a:prstGeom prst="rect">
            <a:avLst/>
          </a:prstGeom>
          <a:noFill/>
          <a:ln>
            <a:noFill/>
          </a:ln>
        </p:spPr>
        <p:txBody>
          <a:bodyPr anchorCtr="0" anchor="t" bIns="0" lIns="0" spcFirstLastPara="1" rIns="0" wrap="square" tIns="171450">
            <a:spAutoFit/>
          </a:bodyPr>
          <a:lstStyle/>
          <a:p>
            <a:pPr indent="0" lvl="0" marL="12700" rtl="0" algn="l">
              <a:lnSpc>
                <a:spcPct val="100000"/>
              </a:lnSpc>
              <a:spcBef>
                <a:spcPts val="0"/>
              </a:spcBef>
              <a:spcAft>
                <a:spcPts val="0"/>
              </a:spcAft>
              <a:buNone/>
            </a:pPr>
            <a:r>
              <a:rPr b="1" lang="fr-FR" sz="2400">
                <a:solidFill>
                  <a:srgbClr val="252525"/>
                </a:solidFill>
                <a:latin typeface="Garamond"/>
                <a:ea typeface="Garamond"/>
                <a:cs typeface="Garamond"/>
                <a:sym typeface="Garamond"/>
              </a:rPr>
              <a:t>A- </a:t>
            </a:r>
            <a:r>
              <a:rPr b="1" lang="fr-FR" sz="2400">
                <a:solidFill>
                  <a:srgbClr val="FF0000"/>
                </a:solidFill>
                <a:latin typeface="Garamond"/>
                <a:ea typeface="Garamond"/>
                <a:cs typeface="Garamond"/>
                <a:sym typeface="Garamond"/>
              </a:rPr>
              <a:t>le trouble panique</a:t>
            </a:r>
            <a:endParaRPr sz="2400">
              <a:solidFill>
                <a:srgbClr val="FF0000"/>
              </a:solidFill>
              <a:latin typeface="Garamond"/>
              <a:ea typeface="Garamond"/>
              <a:cs typeface="Garamond"/>
              <a:sym typeface="Garamond"/>
            </a:endParaRPr>
          </a:p>
          <a:p>
            <a:pPr indent="0" lvl="0" marL="12700" rtl="0" algn="l">
              <a:lnSpc>
                <a:spcPct val="100000"/>
              </a:lnSpc>
              <a:spcBef>
                <a:spcPts val="1250"/>
              </a:spcBef>
              <a:spcAft>
                <a:spcPts val="0"/>
              </a:spcAft>
              <a:buNone/>
            </a:pPr>
            <a:r>
              <a:rPr b="1" lang="fr-FR" sz="2400">
                <a:solidFill>
                  <a:srgbClr val="252525"/>
                </a:solidFill>
                <a:latin typeface="Garamond"/>
                <a:ea typeface="Garamond"/>
                <a:cs typeface="Garamond"/>
                <a:sym typeface="Garamond"/>
              </a:rPr>
              <a:t>B- </a:t>
            </a:r>
            <a:r>
              <a:rPr b="1" lang="fr-FR" sz="2400">
                <a:solidFill>
                  <a:srgbClr val="FF0000"/>
                </a:solidFill>
                <a:latin typeface="Garamond"/>
                <a:ea typeface="Garamond"/>
                <a:cs typeface="Garamond"/>
                <a:sym typeface="Garamond"/>
              </a:rPr>
              <a:t>le trouble anxiété généralisée</a:t>
            </a:r>
            <a:endParaRPr sz="2400">
              <a:solidFill>
                <a:srgbClr val="FF0000"/>
              </a:solidFill>
              <a:latin typeface="Garamond"/>
              <a:ea typeface="Garamond"/>
              <a:cs typeface="Garamond"/>
              <a:sym typeface="Garamond"/>
            </a:endParaRPr>
          </a:p>
          <a:p>
            <a:pPr indent="0" lvl="0" marL="12700" rtl="0" algn="l">
              <a:lnSpc>
                <a:spcPct val="100000"/>
              </a:lnSpc>
              <a:spcBef>
                <a:spcPts val="1175"/>
              </a:spcBef>
              <a:spcAft>
                <a:spcPts val="0"/>
              </a:spcAft>
              <a:buNone/>
            </a:pPr>
            <a:r>
              <a:rPr b="1" lang="fr-FR" sz="2400">
                <a:solidFill>
                  <a:srgbClr val="252525"/>
                </a:solidFill>
                <a:latin typeface="Garamond"/>
                <a:ea typeface="Garamond"/>
                <a:cs typeface="Garamond"/>
                <a:sym typeface="Garamond"/>
              </a:rPr>
              <a:t>C- le diabète</a:t>
            </a:r>
            <a:endParaRPr sz="2400">
              <a:latin typeface="Garamond"/>
              <a:ea typeface="Garamond"/>
              <a:cs typeface="Garamond"/>
              <a:sym typeface="Garamond"/>
            </a:endParaRPr>
          </a:p>
          <a:p>
            <a:pPr indent="0" lvl="0" marL="12700" rtl="0" algn="l">
              <a:lnSpc>
                <a:spcPct val="100000"/>
              </a:lnSpc>
              <a:spcBef>
                <a:spcPts val="1175"/>
              </a:spcBef>
              <a:spcAft>
                <a:spcPts val="0"/>
              </a:spcAft>
              <a:buNone/>
            </a:pPr>
            <a:r>
              <a:rPr b="1" lang="fr-FR" sz="2400">
                <a:solidFill>
                  <a:srgbClr val="252525"/>
                </a:solidFill>
                <a:latin typeface="Garamond"/>
                <a:ea typeface="Garamond"/>
                <a:cs typeface="Garamond"/>
                <a:sym typeface="Garamond"/>
              </a:rPr>
              <a:t>D- la personnalité paranoïaque</a:t>
            </a:r>
            <a:endParaRPr sz="2400">
              <a:latin typeface="Garamond"/>
              <a:ea typeface="Garamond"/>
              <a:cs typeface="Garamond"/>
              <a:sym typeface="Garamond"/>
            </a:endParaRPr>
          </a:p>
          <a:p>
            <a:pPr indent="0" lvl="0" marL="12700" rtl="0" algn="l">
              <a:lnSpc>
                <a:spcPct val="100000"/>
              </a:lnSpc>
              <a:spcBef>
                <a:spcPts val="1175"/>
              </a:spcBef>
              <a:spcAft>
                <a:spcPts val="0"/>
              </a:spcAft>
              <a:buNone/>
            </a:pPr>
            <a:r>
              <a:rPr b="1" lang="fr-FR" sz="2400">
                <a:solidFill>
                  <a:srgbClr val="252525"/>
                </a:solidFill>
                <a:latin typeface="Garamond"/>
                <a:ea typeface="Garamond"/>
                <a:cs typeface="Garamond"/>
                <a:sym typeface="Garamond"/>
              </a:rPr>
              <a:t>E- </a:t>
            </a:r>
            <a:r>
              <a:rPr b="1" lang="fr-FR" sz="2400">
                <a:solidFill>
                  <a:srgbClr val="FF0000"/>
                </a:solidFill>
                <a:latin typeface="Garamond"/>
                <a:ea typeface="Garamond"/>
                <a:cs typeface="Garamond"/>
                <a:sym typeface="Garamond"/>
              </a:rPr>
              <a:t>la phobie sociale</a:t>
            </a:r>
            <a:endParaRPr sz="2400">
              <a:solidFill>
                <a:srgbClr val="FF0000"/>
              </a:solidFill>
              <a:latin typeface="Garamond"/>
              <a:ea typeface="Garamond"/>
              <a:cs typeface="Garamond"/>
              <a:sym typeface="Garamon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3"/>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49" name="Google Shape;249;p23"/>
          <p:cNvSpPr txBox="1"/>
          <p:nvPr>
            <p:ph type="title"/>
          </p:nvPr>
        </p:nvSpPr>
        <p:spPr>
          <a:xfrm>
            <a:off x="802005" y="636905"/>
            <a:ext cx="10587989" cy="1671955"/>
          </a:xfrm>
          <a:prstGeom prst="rect">
            <a:avLst/>
          </a:prstGeom>
          <a:noFill/>
          <a:ln>
            <a:noFill/>
          </a:ln>
        </p:spPr>
        <p:txBody>
          <a:bodyPr anchorCtr="0" anchor="t" bIns="0" lIns="0" spcFirstLastPara="1" rIns="0" wrap="square" tIns="354700">
            <a:spAutoFit/>
          </a:bodyPr>
          <a:lstStyle/>
          <a:p>
            <a:pPr indent="0" lvl="0" marL="585470" rtl="0" algn="l">
              <a:lnSpc>
                <a:spcPct val="100000"/>
              </a:lnSpc>
              <a:spcBef>
                <a:spcPts val="0"/>
              </a:spcBef>
              <a:spcAft>
                <a:spcPts val="0"/>
              </a:spcAft>
              <a:buNone/>
            </a:pPr>
            <a:r>
              <a:rPr lang="fr-FR" sz="3950">
                <a:solidFill>
                  <a:srgbClr val="000000"/>
                </a:solidFill>
              </a:rPr>
              <a:t>En général, une attaque de panique dure :</a:t>
            </a:r>
            <a:endParaRPr sz="3950"/>
          </a:p>
        </p:txBody>
      </p:sp>
      <p:sp>
        <p:nvSpPr>
          <p:cNvPr id="250" name="Google Shape;250;p2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251" name="Google Shape;251;p23"/>
          <p:cNvSpPr txBox="1"/>
          <p:nvPr/>
        </p:nvSpPr>
        <p:spPr>
          <a:xfrm>
            <a:off x="1375028" y="2510658"/>
            <a:ext cx="3216275" cy="2926080"/>
          </a:xfrm>
          <a:prstGeom prst="rect">
            <a:avLst/>
          </a:prstGeom>
          <a:noFill/>
          <a:ln>
            <a:noFill/>
          </a:ln>
        </p:spPr>
        <p:txBody>
          <a:bodyPr anchorCtr="0" anchor="t" bIns="0" lIns="0" spcFirstLastPara="1" rIns="0" wrap="square" tIns="200650">
            <a:spAutoFit/>
          </a:bodyPr>
          <a:lstStyle/>
          <a:p>
            <a:pPr indent="-351790" lvl="0" marL="364490" rtl="0" algn="l">
              <a:lnSpc>
                <a:spcPct val="100000"/>
              </a:lnSpc>
              <a:spcBef>
                <a:spcPts val="0"/>
              </a:spcBef>
              <a:spcAft>
                <a:spcPts val="0"/>
              </a:spcAft>
              <a:buClr>
                <a:srgbClr val="252525"/>
              </a:buClr>
              <a:buSzPts val="2400"/>
              <a:buFont typeface="Garamond"/>
              <a:buAutoNum type="alphaUcPeriod"/>
            </a:pPr>
            <a:r>
              <a:rPr b="1" lang="fr-FR" sz="2400">
                <a:solidFill>
                  <a:srgbClr val="252525"/>
                </a:solidFill>
                <a:latin typeface="Garamond"/>
                <a:ea typeface="Garamond"/>
                <a:cs typeface="Garamond"/>
                <a:sym typeface="Garamond"/>
              </a:rPr>
              <a:t>Moins de 1 minute</a:t>
            </a:r>
            <a:endParaRPr sz="2400">
              <a:latin typeface="Garamond"/>
              <a:ea typeface="Garamond"/>
              <a:cs typeface="Garamond"/>
              <a:sym typeface="Garamond"/>
            </a:endParaRPr>
          </a:p>
          <a:p>
            <a:pPr indent="-361315" lvl="0" marL="374015" rtl="0" algn="l">
              <a:lnSpc>
                <a:spcPct val="100000"/>
              </a:lnSpc>
              <a:spcBef>
                <a:spcPts val="1480"/>
              </a:spcBef>
              <a:spcAft>
                <a:spcPts val="0"/>
              </a:spcAft>
              <a:buClr>
                <a:srgbClr val="252525"/>
              </a:buClr>
              <a:buSzPts val="2400"/>
              <a:buFont typeface="Garamond"/>
              <a:buAutoNum type="alphaUcPeriod"/>
            </a:pPr>
            <a:r>
              <a:rPr b="1" lang="fr-FR" sz="2400">
                <a:solidFill>
                  <a:srgbClr val="252525"/>
                </a:solidFill>
                <a:latin typeface="Garamond"/>
                <a:ea typeface="Garamond"/>
                <a:cs typeface="Garamond"/>
                <a:sym typeface="Garamond"/>
              </a:rPr>
              <a:t>Entre 5 et 10 minutes</a:t>
            </a:r>
            <a:endParaRPr sz="2400">
              <a:latin typeface="Garamond"/>
              <a:ea typeface="Garamond"/>
              <a:cs typeface="Garamond"/>
              <a:sym typeface="Garamond"/>
            </a:endParaRPr>
          </a:p>
          <a:p>
            <a:pPr indent="-370840" lvl="0" marL="383540" rtl="0" algn="l">
              <a:lnSpc>
                <a:spcPct val="100000"/>
              </a:lnSpc>
              <a:spcBef>
                <a:spcPts val="1395"/>
              </a:spcBef>
              <a:spcAft>
                <a:spcPts val="0"/>
              </a:spcAft>
              <a:buClr>
                <a:srgbClr val="252525"/>
              </a:buClr>
              <a:buSzPts val="2400"/>
              <a:buFont typeface="Garamond"/>
              <a:buAutoNum type="alphaUcPeriod"/>
            </a:pPr>
            <a:r>
              <a:rPr b="1" lang="fr-FR" sz="2400">
                <a:solidFill>
                  <a:srgbClr val="252525"/>
                </a:solidFill>
                <a:latin typeface="Garamond"/>
                <a:ea typeface="Garamond"/>
                <a:cs typeface="Garamond"/>
                <a:sym typeface="Garamond"/>
              </a:rPr>
              <a:t>2 à 3 heures</a:t>
            </a:r>
            <a:endParaRPr sz="2400">
              <a:latin typeface="Garamond"/>
              <a:ea typeface="Garamond"/>
              <a:cs typeface="Garamond"/>
              <a:sym typeface="Garamond"/>
            </a:endParaRPr>
          </a:p>
          <a:p>
            <a:pPr indent="-380365" lvl="0" marL="393065" rtl="0" algn="l">
              <a:lnSpc>
                <a:spcPct val="100000"/>
              </a:lnSpc>
              <a:spcBef>
                <a:spcPts val="1480"/>
              </a:spcBef>
              <a:spcAft>
                <a:spcPts val="0"/>
              </a:spcAft>
              <a:buClr>
                <a:srgbClr val="252525"/>
              </a:buClr>
              <a:buSzPts val="2400"/>
              <a:buFont typeface="Garamond"/>
              <a:buAutoNum type="alphaUcPeriod"/>
            </a:pPr>
            <a:r>
              <a:rPr b="1" lang="fr-FR" sz="2400">
                <a:solidFill>
                  <a:srgbClr val="252525"/>
                </a:solidFill>
                <a:latin typeface="Garamond"/>
                <a:ea typeface="Garamond"/>
                <a:cs typeface="Garamond"/>
                <a:sym typeface="Garamond"/>
              </a:rPr>
              <a:t>Toute la journée</a:t>
            </a:r>
            <a:endParaRPr sz="2400">
              <a:latin typeface="Garamond"/>
              <a:ea typeface="Garamond"/>
              <a:cs typeface="Garamond"/>
              <a:sym typeface="Garamond"/>
            </a:endParaRPr>
          </a:p>
          <a:p>
            <a:pPr indent="-370840" lvl="0" marL="383540" rtl="0" algn="l">
              <a:lnSpc>
                <a:spcPct val="100000"/>
              </a:lnSpc>
              <a:spcBef>
                <a:spcPts val="2600"/>
              </a:spcBef>
              <a:spcAft>
                <a:spcPts val="0"/>
              </a:spcAft>
              <a:buClr>
                <a:srgbClr val="FF0000"/>
              </a:buClr>
              <a:buSzPts val="2400"/>
              <a:buFont typeface="Garamond"/>
              <a:buAutoNum type="alphaUcPeriod"/>
            </a:pPr>
            <a:r>
              <a:rPr b="1" lang="fr-FR" sz="2400">
                <a:solidFill>
                  <a:srgbClr val="FF0000"/>
                </a:solidFill>
                <a:latin typeface="Garamond"/>
                <a:ea typeface="Garamond"/>
                <a:cs typeface="Garamond"/>
                <a:sym typeface="Garamond"/>
              </a:rPr>
              <a:t>entre 20 et 30 minutes</a:t>
            </a:r>
            <a:endParaRPr sz="2400">
              <a:solidFill>
                <a:srgbClr val="FF0000"/>
              </a:solidFill>
              <a:latin typeface="Garamond"/>
              <a:ea typeface="Garamond"/>
              <a:cs typeface="Garamond"/>
              <a:sym typeface="Garamon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4"/>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57" name="Google Shape;257;p24"/>
          <p:cNvSpPr txBox="1"/>
          <p:nvPr>
            <p:ph type="title"/>
          </p:nvPr>
        </p:nvSpPr>
        <p:spPr>
          <a:xfrm>
            <a:off x="1375028" y="975105"/>
            <a:ext cx="8571230" cy="1242695"/>
          </a:xfrm>
          <a:prstGeom prst="rect">
            <a:avLst/>
          </a:prstGeom>
          <a:noFill/>
          <a:ln>
            <a:noFill/>
          </a:ln>
        </p:spPr>
        <p:txBody>
          <a:bodyPr anchorCtr="0" anchor="t" bIns="0" lIns="0" spcFirstLastPara="1" rIns="0" wrap="square" tIns="7600">
            <a:spAutoFit/>
          </a:bodyPr>
          <a:lstStyle/>
          <a:p>
            <a:pPr indent="127000" lvl="0" marL="12700" marR="5080" rtl="0" algn="l">
              <a:lnSpc>
                <a:spcPct val="101400"/>
              </a:lnSpc>
              <a:spcBef>
                <a:spcPts val="0"/>
              </a:spcBef>
              <a:spcAft>
                <a:spcPts val="0"/>
              </a:spcAft>
              <a:buNone/>
            </a:pPr>
            <a:r>
              <a:rPr lang="fr-FR" sz="3950"/>
              <a:t>L’attaque de panique qui rentre dans le cadre d’un trouble panique :</a:t>
            </a:r>
            <a:endParaRPr sz="3950"/>
          </a:p>
        </p:txBody>
      </p:sp>
      <p:sp>
        <p:nvSpPr>
          <p:cNvPr id="258" name="Google Shape;258;p2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259" name="Google Shape;259;p24"/>
          <p:cNvSpPr txBox="1"/>
          <p:nvPr/>
        </p:nvSpPr>
        <p:spPr>
          <a:xfrm>
            <a:off x="1493266" y="2410682"/>
            <a:ext cx="6657340" cy="2568652"/>
          </a:xfrm>
          <a:prstGeom prst="rect">
            <a:avLst/>
          </a:prstGeom>
          <a:noFill/>
          <a:ln>
            <a:noFill/>
          </a:ln>
        </p:spPr>
        <p:txBody>
          <a:bodyPr anchorCtr="0" anchor="t" bIns="0" lIns="0" spcFirstLastPara="1" rIns="0" wrap="square" tIns="546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Apparaît après 50 ans</a:t>
            </a:r>
            <a:endParaRPr sz="2750">
              <a:latin typeface="Garamond"/>
              <a:ea typeface="Garamond"/>
              <a:cs typeface="Garamond"/>
              <a:sym typeface="Garamond"/>
            </a:endParaRPr>
          </a:p>
          <a:p>
            <a:pPr indent="-514350" lvl="0" marL="527050"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Atteint son acmé en 30 minutes</a:t>
            </a:r>
            <a:endParaRPr sz="2750">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S’accompagne d’une peur de devenir fou</a:t>
            </a:r>
            <a:endParaRPr sz="2750">
              <a:solidFill>
                <a:srgbClr val="FF0000"/>
              </a:solidFill>
              <a:latin typeface="Garamond"/>
              <a:ea typeface="Garamond"/>
              <a:cs typeface="Garamond"/>
              <a:sym typeface="Garamond"/>
            </a:endParaRPr>
          </a:p>
          <a:p>
            <a:pPr indent="-514350" lvl="0" marL="527050"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Survient de manière inopinée</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Survient volontiers au cours du sommeil</a:t>
            </a:r>
            <a:endParaRPr sz="2750">
              <a:solidFill>
                <a:srgbClr val="FF0000"/>
              </a:solidFill>
              <a:latin typeface="Garamond"/>
              <a:ea typeface="Garamond"/>
              <a:cs typeface="Garamond"/>
              <a:sym typeface="Garamon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5"/>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65" name="Google Shape;265;p25"/>
          <p:cNvSpPr txBox="1"/>
          <p:nvPr>
            <p:ph type="title"/>
          </p:nvPr>
        </p:nvSpPr>
        <p:spPr>
          <a:xfrm>
            <a:off x="802005" y="636905"/>
            <a:ext cx="10587989" cy="1671955"/>
          </a:xfrm>
          <a:prstGeom prst="rect">
            <a:avLst/>
          </a:prstGeom>
          <a:noFill/>
          <a:ln>
            <a:noFill/>
          </a:ln>
        </p:spPr>
        <p:txBody>
          <a:bodyPr anchorCtr="0" anchor="t" bIns="0" lIns="0" spcFirstLastPara="1" rIns="0" wrap="square" tIns="660000">
            <a:spAutoFit/>
          </a:bodyPr>
          <a:lstStyle/>
          <a:p>
            <a:pPr indent="0" lvl="0" marL="713105" rtl="0" algn="l">
              <a:lnSpc>
                <a:spcPct val="100000"/>
              </a:lnSpc>
              <a:spcBef>
                <a:spcPts val="0"/>
              </a:spcBef>
              <a:spcAft>
                <a:spcPts val="0"/>
              </a:spcAft>
              <a:buNone/>
            </a:pPr>
            <a:r>
              <a:rPr lang="fr-FR" sz="3950"/>
              <a:t>Lors d’une attaque de panique on peut voir:</a:t>
            </a:r>
            <a:endParaRPr sz="3950"/>
          </a:p>
        </p:txBody>
      </p:sp>
      <p:sp>
        <p:nvSpPr>
          <p:cNvPr id="266" name="Google Shape;266;p2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267" name="Google Shape;267;p25"/>
          <p:cNvSpPr txBox="1"/>
          <p:nvPr/>
        </p:nvSpPr>
        <p:spPr>
          <a:xfrm>
            <a:off x="1552194" y="2528902"/>
            <a:ext cx="5044440" cy="2568652"/>
          </a:xfrm>
          <a:prstGeom prst="rect">
            <a:avLst/>
          </a:prstGeom>
          <a:noFill/>
          <a:ln>
            <a:noFill/>
          </a:ln>
        </p:spPr>
        <p:txBody>
          <a:bodyPr anchorCtr="0" anchor="t" bIns="0" lIns="0" spcFirstLastPara="1" rIns="0" wrap="square" tIns="54600">
            <a:spAutoFit/>
          </a:bodyPr>
          <a:lstStyle/>
          <a:p>
            <a:pPr indent="-513715" lvl="0" marL="526415"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crainte de mourir</a:t>
            </a:r>
            <a:endParaRPr sz="2750">
              <a:solidFill>
                <a:srgbClr val="FF0000"/>
              </a:solidFill>
              <a:latin typeface="Garamond"/>
              <a:ea typeface="Garamond"/>
              <a:cs typeface="Garamond"/>
              <a:sym typeface="Garamond"/>
            </a:endParaRPr>
          </a:p>
          <a:p>
            <a:pPr indent="-514350" lvl="0" marL="527050" rtl="0" algn="l">
              <a:lnSpc>
                <a:spcPct val="100000"/>
              </a:lnSpc>
              <a:spcBef>
                <a:spcPts val="82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instabilité psychomotrice</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sidération</a:t>
            </a:r>
            <a:endParaRPr sz="2750">
              <a:solidFill>
                <a:srgbClr val="FF0000"/>
              </a:solidFill>
              <a:latin typeface="Garamond"/>
              <a:ea typeface="Garamond"/>
              <a:cs typeface="Garamond"/>
              <a:sym typeface="Garamond"/>
            </a:endParaRPr>
          </a:p>
          <a:p>
            <a:pPr indent="-513080" lvl="0" marL="525780" rtl="0" algn="l">
              <a:lnSpc>
                <a:spcPct val="100000"/>
              </a:lnSpc>
              <a:spcBef>
                <a:spcPts val="7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Anxiété anticipatoire</a:t>
            </a:r>
            <a:endParaRPr sz="2750">
              <a:latin typeface="Garamond"/>
              <a:ea typeface="Garamond"/>
              <a:cs typeface="Garamond"/>
              <a:sym typeface="Garamond"/>
            </a:endParaRPr>
          </a:p>
          <a:p>
            <a:pPr indent="-513080" lvl="0" marL="52578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 raptus anxieux</a:t>
            </a:r>
            <a:endParaRPr sz="2750">
              <a:latin typeface="Garamond"/>
              <a:ea typeface="Garamond"/>
              <a:cs typeface="Garamond"/>
              <a:sym typeface="Garamon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6"/>
          <p:cNvSpPr txBox="1"/>
          <p:nvPr>
            <p:ph type="title"/>
          </p:nvPr>
        </p:nvSpPr>
        <p:spPr>
          <a:xfrm>
            <a:off x="882650" y="612457"/>
            <a:ext cx="10457180" cy="63246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3950">
                <a:solidFill>
                  <a:srgbClr val="006FC0"/>
                </a:solidFill>
              </a:rPr>
              <a:t>Critères diagnostiques d’une attaque de panique</a:t>
            </a:r>
            <a:endParaRPr sz="3950"/>
          </a:p>
        </p:txBody>
      </p:sp>
      <p:sp>
        <p:nvSpPr>
          <p:cNvPr id="273" name="Google Shape;273;p2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274" name="Google Shape;274;p26"/>
          <p:cNvSpPr txBox="1"/>
          <p:nvPr/>
        </p:nvSpPr>
        <p:spPr>
          <a:xfrm>
            <a:off x="774065" y="1529778"/>
            <a:ext cx="10368280" cy="4302125"/>
          </a:xfrm>
          <a:prstGeom prst="rect">
            <a:avLst/>
          </a:prstGeom>
          <a:noFill/>
          <a:ln>
            <a:noFill/>
          </a:ln>
        </p:spPr>
        <p:txBody>
          <a:bodyPr anchorCtr="0" anchor="t" bIns="0" lIns="0" spcFirstLastPara="1" rIns="0" wrap="square" tIns="11425">
            <a:spAutoFit/>
          </a:bodyPr>
          <a:lstStyle/>
          <a:p>
            <a:pPr indent="-284480" lvl="0" marL="297180" marR="7620" rtl="0" algn="just">
              <a:lnSpc>
                <a:spcPct val="100400"/>
              </a:lnSpc>
              <a:spcBef>
                <a:spcPts val="0"/>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L’attaque de panique est caractérisée par la survenue de symptômes anxieux de 	</a:t>
            </a:r>
            <a:r>
              <a:rPr b="1" lang="fr-FR" sz="2400">
                <a:solidFill>
                  <a:srgbClr val="C00000"/>
                </a:solidFill>
                <a:latin typeface="Garamond"/>
                <a:ea typeface="Garamond"/>
                <a:cs typeface="Garamond"/>
                <a:sym typeface="Garamond"/>
              </a:rPr>
              <a:t>façon  inopinée</a:t>
            </a:r>
            <a:r>
              <a:rPr lang="fr-FR" sz="2400">
                <a:solidFill>
                  <a:srgbClr val="252525"/>
                </a:solidFill>
                <a:latin typeface="Garamond"/>
                <a:ea typeface="Garamond"/>
                <a:cs typeface="Garamond"/>
                <a:sym typeface="Garamond"/>
              </a:rPr>
              <a:t>,  </a:t>
            </a:r>
            <a:r>
              <a:rPr b="1" lang="fr-FR" sz="2400">
                <a:solidFill>
                  <a:srgbClr val="C00000"/>
                </a:solidFill>
                <a:latin typeface="Garamond"/>
                <a:ea typeface="Garamond"/>
                <a:cs typeface="Garamond"/>
                <a:sym typeface="Garamond"/>
              </a:rPr>
              <a:t>sans  facteur  déclenchant</a:t>
            </a:r>
            <a:r>
              <a:rPr lang="fr-FR" sz="2400">
                <a:solidFill>
                  <a:srgbClr val="252525"/>
                </a:solidFill>
                <a:latin typeface="Garamond"/>
                <a:ea typeface="Garamond"/>
                <a:cs typeface="Garamond"/>
                <a:sym typeface="Garamond"/>
              </a:rPr>
              <a:t>,  pouvant  même  survenir  </a:t>
            </a:r>
            <a:r>
              <a:rPr b="1" lang="fr-FR" sz="2400">
                <a:solidFill>
                  <a:srgbClr val="C00000"/>
                </a:solidFill>
                <a:latin typeface="Garamond"/>
                <a:ea typeface="Garamond"/>
                <a:cs typeface="Garamond"/>
                <a:sym typeface="Garamond"/>
              </a:rPr>
              <a:t>la  nuit 	</a:t>
            </a:r>
            <a:r>
              <a:rPr lang="fr-FR" sz="2400">
                <a:solidFill>
                  <a:srgbClr val="252525"/>
                </a:solidFill>
                <a:latin typeface="Garamond"/>
                <a:ea typeface="Garamond"/>
                <a:cs typeface="Garamond"/>
                <a:sym typeface="Garamond"/>
              </a:rPr>
              <a:t>réveillant le patient de son sommeil.</a:t>
            </a:r>
            <a:endParaRPr sz="2400">
              <a:latin typeface="Garamond"/>
              <a:ea typeface="Garamond"/>
              <a:cs typeface="Garamond"/>
              <a:sym typeface="Garamond"/>
            </a:endParaRPr>
          </a:p>
          <a:p>
            <a:pPr indent="-284480" lvl="0" marL="297180" rtl="0" algn="just">
              <a:lnSpc>
                <a:spcPct val="100000"/>
              </a:lnSpc>
              <a:spcBef>
                <a:spcPts val="1175"/>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Les symptômes atteignent </a:t>
            </a:r>
            <a:r>
              <a:rPr b="1" lang="fr-FR" sz="2400">
                <a:solidFill>
                  <a:srgbClr val="C00000"/>
                </a:solidFill>
                <a:latin typeface="Garamond"/>
                <a:ea typeface="Garamond"/>
                <a:cs typeface="Garamond"/>
                <a:sym typeface="Garamond"/>
              </a:rPr>
              <a:t>leur acmé en moins de 10 minutes</a:t>
            </a:r>
            <a:r>
              <a:rPr lang="fr-FR" sz="2400">
                <a:solidFill>
                  <a:srgbClr val="252525"/>
                </a:solidFill>
                <a:latin typeface="Garamond"/>
                <a:ea typeface="Garamond"/>
                <a:cs typeface="Garamond"/>
                <a:sym typeface="Garamond"/>
              </a:rPr>
              <a:t>, </a:t>
            </a:r>
            <a:r>
              <a:rPr b="1" lang="fr-FR" sz="2400">
                <a:solidFill>
                  <a:srgbClr val="252525"/>
                </a:solidFill>
                <a:latin typeface="Garamond"/>
                <a:ea typeface="Garamond"/>
                <a:cs typeface="Garamond"/>
                <a:sym typeface="Garamond"/>
              </a:rPr>
              <a:t>durent </a:t>
            </a:r>
            <a:r>
              <a:rPr lang="fr-FR" sz="2400">
                <a:solidFill>
                  <a:srgbClr val="252525"/>
                </a:solidFill>
                <a:latin typeface="Garamond"/>
                <a:ea typeface="Garamond"/>
                <a:cs typeface="Garamond"/>
                <a:sym typeface="Garamond"/>
              </a:rPr>
              <a:t>en moyenne</a:t>
            </a:r>
            <a:endParaRPr sz="2400">
              <a:latin typeface="Garamond"/>
              <a:ea typeface="Garamond"/>
              <a:cs typeface="Garamond"/>
              <a:sym typeface="Garamond"/>
            </a:endParaRPr>
          </a:p>
          <a:p>
            <a:pPr indent="0" lvl="0" marL="298450" marR="8255" rtl="0" algn="just">
              <a:lnSpc>
                <a:spcPct val="119166"/>
              </a:lnSpc>
              <a:spcBef>
                <a:spcPts val="160"/>
              </a:spcBef>
              <a:spcAft>
                <a:spcPts val="0"/>
              </a:spcAft>
              <a:buNone/>
            </a:pPr>
            <a:r>
              <a:rPr b="1" lang="fr-FR" sz="2400">
                <a:solidFill>
                  <a:srgbClr val="252525"/>
                </a:solidFill>
                <a:latin typeface="Garamond"/>
                <a:ea typeface="Garamond"/>
                <a:cs typeface="Garamond"/>
                <a:sym typeface="Garamond"/>
              </a:rPr>
              <a:t>20  à  30  minutes  </a:t>
            </a:r>
            <a:r>
              <a:rPr lang="fr-FR" sz="2400">
                <a:solidFill>
                  <a:srgbClr val="252525"/>
                </a:solidFill>
                <a:latin typeface="Garamond"/>
                <a:ea typeface="Garamond"/>
                <a:cs typeface="Garamond"/>
                <a:sym typeface="Garamond"/>
              </a:rPr>
              <a:t>et  diminuent  progressivement  jusqu’à  disparaitre  laissant  une profonde asthénie.</a:t>
            </a:r>
            <a:endParaRPr sz="2400">
              <a:latin typeface="Garamond"/>
              <a:ea typeface="Garamond"/>
              <a:cs typeface="Garamond"/>
              <a:sym typeface="Garamond"/>
            </a:endParaRPr>
          </a:p>
          <a:p>
            <a:pPr indent="-285115" lvl="0" marL="297815" rtl="0" algn="l">
              <a:lnSpc>
                <a:spcPct val="100000"/>
              </a:lnSpc>
              <a:spcBef>
                <a:spcPts val="1080"/>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L’attaque de panique est </a:t>
            </a:r>
            <a:r>
              <a:rPr b="1" lang="fr-FR" sz="2400">
                <a:solidFill>
                  <a:srgbClr val="252525"/>
                </a:solidFill>
                <a:latin typeface="Garamond"/>
                <a:ea typeface="Garamond"/>
                <a:cs typeface="Garamond"/>
                <a:sym typeface="Garamond"/>
              </a:rPr>
              <a:t>une urgence médicale</a:t>
            </a:r>
            <a:r>
              <a:rPr lang="fr-FR" sz="2400">
                <a:solidFill>
                  <a:srgbClr val="252525"/>
                </a:solidFill>
                <a:latin typeface="Garamond"/>
                <a:ea typeface="Garamond"/>
                <a:cs typeface="Garamond"/>
                <a:sym typeface="Garamond"/>
              </a:rPr>
              <a:t>.</a:t>
            </a:r>
            <a:endParaRPr sz="2400">
              <a:latin typeface="Garamond"/>
              <a:ea typeface="Garamond"/>
              <a:cs typeface="Garamond"/>
              <a:sym typeface="Garamond"/>
            </a:endParaRPr>
          </a:p>
          <a:p>
            <a:pPr indent="-285750" lvl="0" marL="298450" marR="10160" rtl="0" algn="l">
              <a:lnSpc>
                <a:spcPct val="101699"/>
              </a:lnSpc>
              <a:spcBef>
                <a:spcPts val="1125"/>
              </a:spcBef>
              <a:spcAft>
                <a:spcPts val="0"/>
              </a:spcAft>
              <a:buClr>
                <a:srgbClr val="83992A"/>
              </a:buClr>
              <a:buSzPts val="2750"/>
              <a:buFont typeface="Arial"/>
              <a:buChar char="•"/>
            </a:pPr>
            <a:r>
              <a:rPr b="1" lang="fr-FR" sz="2400">
                <a:solidFill>
                  <a:srgbClr val="252525"/>
                </a:solidFill>
                <a:latin typeface="Garamond"/>
                <a:ea typeface="Garamond"/>
                <a:cs typeface="Garamond"/>
                <a:sym typeface="Garamond"/>
              </a:rPr>
              <a:t>La triade symptomatique </a:t>
            </a:r>
            <a:r>
              <a:rPr lang="fr-FR" sz="2400">
                <a:solidFill>
                  <a:srgbClr val="252525"/>
                </a:solidFill>
                <a:latin typeface="Garamond"/>
                <a:ea typeface="Garamond"/>
                <a:cs typeface="Garamond"/>
                <a:sym typeface="Garamond"/>
              </a:rPr>
              <a:t>comporte des </a:t>
            </a:r>
            <a:r>
              <a:rPr b="1" lang="fr-FR" sz="2400">
                <a:solidFill>
                  <a:srgbClr val="C00000"/>
                </a:solidFill>
                <a:latin typeface="Garamond"/>
                <a:ea typeface="Garamond"/>
                <a:cs typeface="Garamond"/>
                <a:sym typeface="Garamond"/>
              </a:rPr>
              <a:t>symptômes somatiques </a:t>
            </a:r>
            <a:r>
              <a:rPr lang="fr-FR" sz="2400">
                <a:solidFill>
                  <a:srgbClr val="252525"/>
                </a:solidFill>
                <a:latin typeface="Garamond"/>
                <a:ea typeface="Garamond"/>
                <a:cs typeface="Garamond"/>
                <a:sym typeface="Garamond"/>
              </a:rPr>
              <a:t>(ou physiques), des </a:t>
            </a:r>
            <a:r>
              <a:rPr b="1" lang="fr-FR" sz="2400">
                <a:solidFill>
                  <a:srgbClr val="C00000"/>
                </a:solidFill>
                <a:latin typeface="Garamond"/>
                <a:ea typeface="Garamond"/>
                <a:cs typeface="Garamond"/>
                <a:sym typeface="Garamond"/>
              </a:rPr>
              <a:t>symptômes psychiques </a:t>
            </a:r>
            <a:r>
              <a:rPr lang="fr-FR" sz="2400">
                <a:solidFill>
                  <a:srgbClr val="252525"/>
                </a:solidFill>
                <a:latin typeface="Garamond"/>
                <a:ea typeface="Garamond"/>
                <a:cs typeface="Garamond"/>
                <a:sym typeface="Garamond"/>
              </a:rPr>
              <a:t>et des </a:t>
            </a:r>
            <a:r>
              <a:rPr b="1" lang="fr-FR" sz="2400">
                <a:solidFill>
                  <a:srgbClr val="C00000"/>
                </a:solidFill>
                <a:latin typeface="Garamond"/>
                <a:ea typeface="Garamond"/>
                <a:cs typeface="Garamond"/>
                <a:sym typeface="Garamond"/>
              </a:rPr>
              <a:t>symptômes comportementaux.</a:t>
            </a:r>
            <a:endParaRPr sz="2400">
              <a:latin typeface="Garamond"/>
              <a:ea typeface="Garamond"/>
              <a:cs typeface="Garamond"/>
              <a:sym typeface="Garamond"/>
            </a:endParaRPr>
          </a:p>
          <a:p>
            <a:pPr indent="-285115" lvl="0" marL="297815" rtl="0" algn="l">
              <a:lnSpc>
                <a:spcPct val="100000"/>
              </a:lnSpc>
              <a:spcBef>
                <a:spcPts val="1175"/>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L’attaque de panique regroupe </a:t>
            </a:r>
            <a:r>
              <a:rPr b="1" lang="fr-FR" sz="2400">
                <a:solidFill>
                  <a:srgbClr val="252525"/>
                </a:solidFill>
                <a:latin typeface="Garamond"/>
                <a:ea typeface="Garamond"/>
                <a:cs typeface="Garamond"/>
                <a:sym typeface="Garamond"/>
              </a:rPr>
              <a:t>au moins 4 signes </a:t>
            </a:r>
            <a:r>
              <a:rPr lang="fr-FR" sz="2400">
                <a:solidFill>
                  <a:srgbClr val="252525"/>
                </a:solidFill>
                <a:latin typeface="Garamond"/>
                <a:ea typeface="Garamond"/>
                <a:cs typeface="Garamond"/>
                <a:sym typeface="Garamond"/>
              </a:rPr>
              <a:t>de la triade suscitée.</a:t>
            </a:r>
            <a:endParaRPr sz="2400">
              <a:latin typeface="Garamond"/>
              <a:ea typeface="Garamond"/>
              <a:cs typeface="Garamond"/>
              <a:sym typeface="Garamon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7"/>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80" name="Google Shape;280;p27"/>
          <p:cNvSpPr txBox="1"/>
          <p:nvPr>
            <p:ph type="title"/>
          </p:nvPr>
        </p:nvSpPr>
        <p:spPr>
          <a:xfrm>
            <a:off x="1485264" y="944244"/>
            <a:ext cx="8875395" cy="1242695"/>
          </a:xfrm>
          <a:prstGeom prst="rect">
            <a:avLst/>
          </a:prstGeom>
          <a:noFill/>
          <a:ln>
            <a:noFill/>
          </a:ln>
        </p:spPr>
        <p:txBody>
          <a:bodyPr anchorCtr="0" anchor="t" bIns="0" lIns="0" spcFirstLastPara="1" rIns="0" wrap="square" tIns="7600">
            <a:spAutoFit/>
          </a:bodyPr>
          <a:lstStyle/>
          <a:p>
            <a:pPr indent="127000" lvl="0" marL="12700" marR="5080" rtl="0" algn="l">
              <a:lnSpc>
                <a:spcPct val="101400"/>
              </a:lnSpc>
              <a:spcBef>
                <a:spcPts val="0"/>
              </a:spcBef>
              <a:spcAft>
                <a:spcPts val="0"/>
              </a:spcAft>
              <a:buNone/>
            </a:pPr>
            <a:r>
              <a:rPr lang="fr-FR" sz="3950">
                <a:solidFill>
                  <a:srgbClr val="000000"/>
                </a:solidFill>
              </a:rPr>
              <a:t>Le diagnostic positif	du trouble panique repose sur :</a:t>
            </a:r>
            <a:endParaRPr sz="3950"/>
          </a:p>
        </p:txBody>
      </p:sp>
      <p:sp>
        <p:nvSpPr>
          <p:cNvPr id="281" name="Google Shape;281;p2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282" name="Google Shape;282;p27"/>
          <p:cNvSpPr txBox="1"/>
          <p:nvPr/>
        </p:nvSpPr>
        <p:spPr>
          <a:xfrm>
            <a:off x="1126807" y="2305873"/>
            <a:ext cx="10067925" cy="3081613"/>
          </a:xfrm>
          <a:prstGeom prst="rect">
            <a:avLst/>
          </a:prstGeom>
          <a:noFill/>
          <a:ln>
            <a:noFill/>
          </a:ln>
        </p:spPr>
        <p:txBody>
          <a:bodyPr anchorCtr="0" anchor="t" bIns="0" lIns="0" spcFirstLastPara="1" rIns="0" wrap="square" tIns="546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Le caractère inopiné des attaques de panique</a:t>
            </a:r>
            <a:endParaRPr sz="2750">
              <a:solidFill>
                <a:srgbClr val="FF0000"/>
              </a:solidFill>
              <a:latin typeface="Garamond"/>
              <a:ea typeface="Garamond"/>
              <a:cs typeface="Garamond"/>
              <a:sym typeface="Garamond"/>
            </a:endParaRPr>
          </a:p>
          <a:p>
            <a:pPr indent="-513715" lvl="0" marL="525780" marR="5080" rtl="0" algn="l">
              <a:lnSpc>
                <a:spcPct val="122872"/>
              </a:lnSpc>
              <a:spcBef>
                <a:spcPts val="13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Les préoccupations à propos des conséquences des attaques de 	panique</a:t>
            </a:r>
            <a:endParaRPr sz="2750">
              <a:solidFill>
                <a:srgbClr val="FF0000"/>
              </a:solidFill>
              <a:latin typeface="Garamond"/>
              <a:ea typeface="Garamond"/>
              <a:cs typeface="Garamond"/>
              <a:sym typeface="Garamond"/>
            </a:endParaRPr>
          </a:p>
          <a:p>
            <a:pPr indent="-513715" lvl="0" marL="526415" rtl="0" algn="l">
              <a:lnSpc>
                <a:spcPct val="100000"/>
              </a:lnSpc>
              <a:spcBef>
                <a:spcPts val="70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La négativité du bilan d’organicité</a:t>
            </a:r>
            <a:endParaRPr sz="2750">
              <a:solidFill>
                <a:srgbClr val="FF0000"/>
              </a:solidFill>
              <a:latin typeface="Garamond"/>
              <a:ea typeface="Garamond"/>
              <a:cs typeface="Garamond"/>
              <a:sym typeface="Garamond"/>
            </a:endParaRPr>
          </a:p>
          <a:p>
            <a:pPr indent="-513080" lvl="0" marL="525780"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L’existence de facteurs de stress récents</a:t>
            </a:r>
            <a:endParaRPr sz="2750">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L’évitement</a:t>
            </a:r>
            <a:endParaRPr sz="2750">
              <a:solidFill>
                <a:srgbClr val="FF0000"/>
              </a:solidFill>
              <a:latin typeface="Garamond"/>
              <a:ea typeface="Garamond"/>
              <a:cs typeface="Garamond"/>
              <a:sym typeface="Garamon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8"/>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88" name="Google Shape;288;p28"/>
          <p:cNvSpPr txBox="1"/>
          <p:nvPr>
            <p:ph type="title"/>
          </p:nvPr>
        </p:nvSpPr>
        <p:spPr>
          <a:xfrm>
            <a:off x="802005" y="636905"/>
            <a:ext cx="10587989" cy="1671955"/>
          </a:xfrm>
          <a:prstGeom prst="rect">
            <a:avLst/>
          </a:prstGeom>
          <a:noFill/>
          <a:ln>
            <a:noFill/>
          </a:ln>
        </p:spPr>
        <p:txBody>
          <a:bodyPr anchorCtr="0" anchor="t" bIns="0" lIns="0" spcFirstLastPara="1" rIns="0" wrap="square" tIns="354700">
            <a:spAutoFit/>
          </a:bodyPr>
          <a:lstStyle/>
          <a:p>
            <a:pPr indent="0" lvl="0" marL="585470" rtl="0" algn="l">
              <a:lnSpc>
                <a:spcPct val="100000"/>
              </a:lnSpc>
              <a:spcBef>
                <a:spcPts val="0"/>
              </a:spcBef>
              <a:spcAft>
                <a:spcPts val="0"/>
              </a:spcAft>
              <a:buNone/>
            </a:pPr>
            <a:r>
              <a:rPr lang="fr-FR" sz="3950">
                <a:solidFill>
                  <a:srgbClr val="000000"/>
                </a:solidFill>
              </a:rPr>
              <a:t>Le trouble panique</a:t>
            </a:r>
            <a:endParaRPr sz="3950"/>
          </a:p>
        </p:txBody>
      </p:sp>
      <p:sp>
        <p:nvSpPr>
          <p:cNvPr id="289" name="Google Shape;289;p2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290" name="Google Shape;290;p28"/>
          <p:cNvSpPr txBox="1"/>
          <p:nvPr>
            <p:ph idx="1" type="body"/>
          </p:nvPr>
        </p:nvSpPr>
        <p:spPr>
          <a:xfrm>
            <a:off x="1375028" y="2402586"/>
            <a:ext cx="9363075" cy="2648161"/>
          </a:xfrm>
          <a:prstGeom prst="rect">
            <a:avLst/>
          </a:prstGeom>
          <a:noFill/>
          <a:ln>
            <a:noFill/>
          </a:ln>
        </p:spPr>
        <p:txBody>
          <a:bodyPr anchorCtr="0" anchor="t" bIns="0" lIns="0" spcFirstLastPara="1" rIns="0" wrap="square" tIns="171450">
            <a:spAutoFit/>
          </a:bodyPr>
          <a:lstStyle/>
          <a:p>
            <a:pPr indent="0" lvl="0" marL="12700" rtl="0" algn="l">
              <a:lnSpc>
                <a:spcPct val="100000"/>
              </a:lnSpc>
              <a:spcBef>
                <a:spcPts val="0"/>
              </a:spcBef>
              <a:spcAft>
                <a:spcPts val="0"/>
              </a:spcAft>
              <a:buNone/>
            </a:pPr>
            <a:r>
              <a:rPr lang="fr-FR" sz="2400"/>
              <a:t>A- est plus fréquent chez l’homme</a:t>
            </a:r>
            <a:endParaRPr sz="2400"/>
          </a:p>
          <a:p>
            <a:pPr indent="0" lvl="0" marL="12700" rtl="0" algn="l">
              <a:lnSpc>
                <a:spcPct val="100000"/>
              </a:lnSpc>
              <a:spcBef>
                <a:spcPts val="1250"/>
              </a:spcBef>
              <a:spcAft>
                <a:spcPts val="0"/>
              </a:spcAft>
              <a:buNone/>
            </a:pPr>
            <a:r>
              <a:rPr lang="fr-FR" sz="2400"/>
              <a:t>B- </a:t>
            </a:r>
            <a:r>
              <a:rPr lang="fr-FR" sz="2400">
                <a:solidFill>
                  <a:srgbClr val="FF0000"/>
                </a:solidFill>
              </a:rPr>
              <a:t>comporte une anxiété anticipatoire entre les crises d’angoisse</a:t>
            </a:r>
            <a:endParaRPr sz="2400">
              <a:solidFill>
                <a:srgbClr val="FF0000"/>
              </a:solidFill>
            </a:endParaRPr>
          </a:p>
          <a:p>
            <a:pPr indent="0" lvl="0" marL="12700" rtl="0" algn="l">
              <a:lnSpc>
                <a:spcPct val="100000"/>
              </a:lnSpc>
              <a:spcBef>
                <a:spcPts val="1175"/>
              </a:spcBef>
              <a:spcAft>
                <a:spcPts val="0"/>
              </a:spcAft>
              <a:buNone/>
            </a:pPr>
            <a:r>
              <a:rPr lang="fr-FR" sz="2400"/>
              <a:t>C- a pour traitement de fond les anxiolytiques</a:t>
            </a:r>
            <a:endParaRPr sz="2400"/>
          </a:p>
          <a:p>
            <a:pPr indent="0" lvl="0" marL="12700" rtl="0" algn="l">
              <a:lnSpc>
                <a:spcPct val="100000"/>
              </a:lnSpc>
              <a:spcBef>
                <a:spcPts val="1175"/>
              </a:spcBef>
              <a:spcAft>
                <a:spcPts val="0"/>
              </a:spcAft>
              <a:buNone/>
            </a:pPr>
            <a:r>
              <a:rPr lang="fr-FR" sz="2400"/>
              <a:t>D- </a:t>
            </a:r>
            <a:r>
              <a:rPr lang="fr-FR" sz="2400">
                <a:solidFill>
                  <a:srgbClr val="FF0000"/>
                </a:solidFill>
              </a:rPr>
              <a:t>la fréquence et l’intensité des attaques sont variables</a:t>
            </a:r>
            <a:endParaRPr sz="2400">
              <a:solidFill>
                <a:srgbClr val="FF0000"/>
              </a:solidFill>
            </a:endParaRPr>
          </a:p>
          <a:p>
            <a:pPr indent="0" lvl="0" marL="12700" rtl="0" algn="l">
              <a:lnSpc>
                <a:spcPct val="100000"/>
              </a:lnSpc>
              <a:spcBef>
                <a:spcPts val="1175"/>
              </a:spcBef>
              <a:spcAft>
                <a:spcPts val="0"/>
              </a:spcAft>
              <a:buNone/>
            </a:pPr>
            <a:r>
              <a:rPr lang="fr-FR" sz="2400"/>
              <a:t>E- le diagnostic peut être porté après une première attaque de panique</a:t>
            </a:r>
            <a:endParaRPr sz="24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9"/>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96" name="Google Shape;296;p29"/>
          <p:cNvSpPr txBox="1"/>
          <p:nvPr>
            <p:ph type="title"/>
          </p:nvPr>
        </p:nvSpPr>
        <p:spPr>
          <a:xfrm>
            <a:off x="802005" y="636905"/>
            <a:ext cx="10587989" cy="1671955"/>
          </a:xfrm>
          <a:prstGeom prst="rect">
            <a:avLst/>
          </a:prstGeom>
          <a:noFill/>
          <a:ln>
            <a:noFill/>
          </a:ln>
        </p:spPr>
        <p:txBody>
          <a:bodyPr anchorCtr="0" anchor="t" bIns="0" lIns="0" spcFirstLastPara="1" rIns="0" wrap="square" tIns="102850">
            <a:spAutoFit/>
          </a:bodyPr>
          <a:lstStyle/>
          <a:p>
            <a:pPr indent="0" lvl="0" marL="585470" marR="5080" rtl="0" algn="l">
              <a:lnSpc>
                <a:spcPct val="100800"/>
              </a:lnSpc>
              <a:spcBef>
                <a:spcPts val="0"/>
              </a:spcBef>
              <a:spcAft>
                <a:spcPts val="0"/>
              </a:spcAft>
              <a:buNone/>
            </a:pPr>
            <a:r>
              <a:rPr lang="fr-FR">
                <a:solidFill>
                  <a:srgbClr val="000000"/>
                </a:solidFill>
              </a:rPr>
              <a:t>Le trouble panique se caractérise principalement par :</a:t>
            </a:r>
            <a:endParaRPr/>
          </a:p>
        </p:txBody>
      </p:sp>
      <p:sp>
        <p:nvSpPr>
          <p:cNvPr id="297" name="Google Shape;297;p2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298" name="Google Shape;298;p29"/>
          <p:cNvSpPr txBox="1"/>
          <p:nvPr/>
        </p:nvSpPr>
        <p:spPr>
          <a:xfrm>
            <a:off x="1375028" y="2534412"/>
            <a:ext cx="9162415" cy="2705228"/>
          </a:xfrm>
          <a:prstGeom prst="rect">
            <a:avLst/>
          </a:prstGeom>
          <a:noFill/>
          <a:ln>
            <a:noFill/>
          </a:ln>
        </p:spPr>
        <p:txBody>
          <a:bodyPr anchorCtr="0" anchor="t" bIns="0" lIns="0" spcFirstLastPara="1" rIns="0" wrap="square" tIns="179700">
            <a:spAutoFit/>
          </a:bodyPr>
          <a:lstStyle/>
          <a:p>
            <a:pPr indent="-323850" lvl="0" marL="336550" rtl="0" algn="l">
              <a:lnSpc>
                <a:spcPct val="100000"/>
              </a:lnSpc>
              <a:spcBef>
                <a:spcPts val="0"/>
              </a:spcBef>
              <a:spcAft>
                <a:spcPts val="0"/>
              </a:spcAft>
              <a:buClr>
                <a:srgbClr val="252525"/>
              </a:buClr>
              <a:buSzPts val="2150"/>
              <a:buFont typeface="Garamond"/>
              <a:buAutoNum type="alphaUcPeriod"/>
            </a:pPr>
            <a:r>
              <a:rPr b="1" lang="fr-FR" sz="2150">
                <a:solidFill>
                  <a:srgbClr val="252525"/>
                </a:solidFill>
                <a:latin typeface="Garamond"/>
                <a:ea typeface="Garamond"/>
                <a:cs typeface="Garamond"/>
                <a:sym typeface="Garamond"/>
              </a:rPr>
              <a:t>Une peur constante de mourir à cause d’une maladie</a:t>
            </a:r>
            <a:endParaRPr sz="2150">
              <a:latin typeface="Garamond"/>
              <a:ea typeface="Garamond"/>
              <a:cs typeface="Garamond"/>
              <a:sym typeface="Garamond"/>
            </a:endParaRPr>
          </a:p>
          <a:p>
            <a:pPr indent="-332740" lvl="0" marL="345440" rtl="0" algn="l">
              <a:lnSpc>
                <a:spcPct val="100000"/>
              </a:lnSpc>
              <a:spcBef>
                <a:spcPts val="1325"/>
              </a:spcBef>
              <a:spcAft>
                <a:spcPts val="0"/>
              </a:spcAft>
              <a:buClr>
                <a:srgbClr val="FF0000"/>
              </a:buClr>
              <a:buSzPts val="2150"/>
              <a:buFont typeface="Garamond"/>
              <a:buAutoNum type="alphaUcPeriod"/>
            </a:pPr>
            <a:r>
              <a:rPr b="1" lang="fr-FR" sz="2150">
                <a:solidFill>
                  <a:srgbClr val="FF0000"/>
                </a:solidFill>
                <a:latin typeface="Garamond"/>
                <a:ea typeface="Garamond"/>
                <a:cs typeface="Garamond"/>
                <a:sym typeface="Garamond"/>
              </a:rPr>
              <a:t>Des épisodes répétés de panique imprévisibles, sans cause apparente</a:t>
            </a:r>
            <a:endParaRPr sz="2150">
              <a:solidFill>
                <a:srgbClr val="FF0000"/>
              </a:solidFill>
              <a:latin typeface="Garamond"/>
              <a:ea typeface="Garamond"/>
              <a:cs typeface="Garamond"/>
              <a:sym typeface="Garamond"/>
            </a:endParaRPr>
          </a:p>
          <a:p>
            <a:pPr indent="-409575" lvl="0" marL="422275" rtl="0" algn="l">
              <a:lnSpc>
                <a:spcPct val="100000"/>
              </a:lnSpc>
              <a:spcBef>
                <a:spcPts val="1405"/>
              </a:spcBef>
              <a:spcAft>
                <a:spcPts val="0"/>
              </a:spcAft>
              <a:buClr>
                <a:srgbClr val="252525"/>
              </a:buClr>
              <a:buSzPts val="2150"/>
              <a:buFont typeface="Garamond"/>
              <a:buAutoNum type="alphaUcPeriod"/>
            </a:pPr>
            <a:r>
              <a:rPr b="1" lang="fr-FR" sz="2150">
                <a:solidFill>
                  <a:srgbClr val="252525"/>
                </a:solidFill>
                <a:latin typeface="Garamond"/>
                <a:ea typeface="Garamond"/>
                <a:cs typeface="Garamond"/>
                <a:sym typeface="Garamond"/>
              </a:rPr>
              <a:t>Une anxiété permanente</a:t>
            </a:r>
            <a:endParaRPr sz="2150">
              <a:latin typeface="Garamond"/>
              <a:ea typeface="Garamond"/>
              <a:cs typeface="Garamond"/>
              <a:sym typeface="Garamond"/>
            </a:endParaRPr>
          </a:p>
          <a:p>
            <a:pPr indent="-352425" lvl="0" marL="365125" rtl="0" algn="l">
              <a:lnSpc>
                <a:spcPct val="100000"/>
              </a:lnSpc>
              <a:spcBef>
                <a:spcPts val="1400"/>
              </a:spcBef>
              <a:spcAft>
                <a:spcPts val="0"/>
              </a:spcAft>
              <a:buClr>
                <a:srgbClr val="252525"/>
              </a:buClr>
              <a:buSzPts val="2150"/>
              <a:buFont typeface="Garamond"/>
              <a:buAutoNum type="alphaUcPeriod"/>
            </a:pPr>
            <a:r>
              <a:rPr b="1" lang="fr-FR" sz="2150">
                <a:solidFill>
                  <a:srgbClr val="252525"/>
                </a:solidFill>
                <a:latin typeface="Garamond"/>
                <a:ea typeface="Garamond"/>
                <a:cs typeface="Garamond"/>
                <a:sym typeface="Garamond"/>
              </a:rPr>
              <a:t>Un évitement social intense et persistant</a:t>
            </a:r>
            <a:endParaRPr sz="2150">
              <a:latin typeface="Garamond"/>
              <a:ea typeface="Garamond"/>
              <a:cs typeface="Garamond"/>
              <a:sym typeface="Garamond"/>
            </a:endParaRPr>
          </a:p>
          <a:p>
            <a:pPr indent="0" lvl="0" marL="0" rtl="0" algn="l">
              <a:lnSpc>
                <a:spcPct val="100000"/>
              </a:lnSpc>
              <a:spcBef>
                <a:spcPts val="110"/>
              </a:spcBef>
              <a:spcAft>
                <a:spcPts val="0"/>
              </a:spcAft>
              <a:buClr>
                <a:srgbClr val="252525"/>
              </a:buClr>
              <a:buSzPts val="2150"/>
              <a:buFont typeface="Garamond"/>
              <a:buNone/>
            </a:pPr>
            <a:r>
              <a:t/>
            </a:r>
            <a:endParaRPr sz="2150">
              <a:latin typeface="Garamond"/>
              <a:ea typeface="Garamond"/>
              <a:cs typeface="Garamond"/>
              <a:sym typeface="Garamond"/>
            </a:endParaRPr>
          </a:p>
          <a:p>
            <a:pPr indent="-409575" lvl="0" marL="422275" rtl="0" algn="l">
              <a:lnSpc>
                <a:spcPct val="100000"/>
              </a:lnSpc>
              <a:spcBef>
                <a:spcPts val="0"/>
              </a:spcBef>
              <a:spcAft>
                <a:spcPts val="0"/>
              </a:spcAft>
              <a:buClr>
                <a:srgbClr val="FF0000"/>
              </a:buClr>
              <a:buSzPts val="2150"/>
              <a:buFont typeface="Garamond"/>
              <a:buAutoNum type="alphaUcPeriod"/>
            </a:pPr>
            <a:r>
              <a:rPr b="1" lang="fr-FR" sz="2150">
                <a:solidFill>
                  <a:srgbClr val="FF0000"/>
                </a:solidFill>
                <a:latin typeface="Garamond"/>
                <a:ea typeface="Garamond"/>
                <a:cs typeface="Garamond"/>
                <a:sym typeface="Garamond"/>
              </a:rPr>
              <a:t>Une préoccupation concernant les conséquences des attaques de panique</a:t>
            </a:r>
            <a:endParaRPr sz="2150">
              <a:solidFill>
                <a:srgbClr val="FF0000"/>
              </a:solidFill>
              <a:latin typeface="Garamond"/>
              <a:ea typeface="Garamond"/>
              <a:cs typeface="Garamond"/>
              <a:sym typeface="Garamon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0"/>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04" name="Google Shape;304;p30"/>
          <p:cNvSpPr txBox="1"/>
          <p:nvPr>
            <p:ph type="title"/>
          </p:nvPr>
        </p:nvSpPr>
        <p:spPr>
          <a:xfrm>
            <a:off x="802005" y="636905"/>
            <a:ext cx="10587989" cy="1671955"/>
          </a:xfrm>
          <a:prstGeom prst="rect">
            <a:avLst/>
          </a:prstGeom>
          <a:noFill/>
          <a:ln>
            <a:noFill/>
          </a:ln>
        </p:spPr>
        <p:txBody>
          <a:bodyPr anchorCtr="0" anchor="t" bIns="0" lIns="0" spcFirstLastPara="1" rIns="0" wrap="square" tIns="102850">
            <a:spAutoFit/>
          </a:bodyPr>
          <a:lstStyle/>
          <a:p>
            <a:pPr indent="0" lvl="0" marL="585470" marR="5080" rtl="0" algn="l">
              <a:lnSpc>
                <a:spcPct val="100800"/>
              </a:lnSpc>
              <a:spcBef>
                <a:spcPts val="0"/>
              </a:spcBef>
              <a:spcAft>
                <a:spcPts val="0"/>
              </a:spcAft>
              <a:buNone/>
            </a:pPr>
            <a:r>
              <a:rPr lang="fr-FR">
                <a:solidFill>
                  <a:srgbClr val="000000"/>
                </a:solidFill>
              </a:rPr>
              <a:t>Selon le DSM-5, pour diagnostiquer un trouble panique, il faut :</a:t>
            </a:r>
            <a:endParaRPr/>
          </a:p>
        </p:txBody>
      </p:sp>
      <p:sp>
        <p:nvSpPr>
          <p:cNvPr id="305" name="Google Shape;305;p3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306" name="Google Shape;306;p30"/>
          <p:cNvSpPr txBox="1"/>
          <p:nvPr/>
        </p:nvSpPr>
        <p:spPr>
          <a:xfrm>
            <a:off x="1044257" y="2446083"/>
            <a:ext cx="10246360" cy="2924810"/>
          </a:xfrm>
          <a:prstGeom prst="rect">
            <a:avLst/>
          </a:prstGeom>
          <a:noFill/>
          <a:ln>
            <a:noFill/>
          </a:ln>
        </p:spPr>
        <p:txBody>
          <a:bodyPr anchorCtr="0" anchor="t" bIns="0" lIns="0" spcFirstLastPara="1" rIns="0" wrap="square" tIns="200025">
            <a:spAutoFit/>
          </a:bodyPr>
          <a:lstStyle/>
          <a:p>
            <a:pPr indent="0" lvl="0" marL="12700" rtl="0" algn="l">
              <a:lnSpc>
                <a:spcPct val="100000"/>
              </a:lnSpc>
              <a:spcBef>
                <a:spcPts val="0"/>
              </a:spcBef>
              <a:spcAft>
                <a:spcPts val="0"/>
              </a:spcAft>
              <a:buNone/>
            </a:pPr>
            <a:r>
              <a:rPr b="1" lang="fr-FR" sz="2400">
                <a:solidFill>
                  <a:srgbClr val="252525"/>
                </a:solidFill>
                <a:latin typeface="Garamond"/>
                <a:ea typeface="Garamond"/>
                <a:cs typeface="Garamond"/>
                <a:sym typeface="Garamond"/>
              </a:rPr>
              <a:t>A. Au moins 3 attaques de panique par semaine</a:t>
            </a:r>
            <a:endParaRPr sz="2400">
              <a:latin typeface="Garamond"/>
              <a:ea typeface="Garamond"/>
              <a:cs typeface="Garamond"/>
              <a:sym typeface="Garamond"/>
            </a:endParaRPr>
          </a:p>
          <a:p>
            <a:pPr indent="0" lvl="0" marL="12700" rtl="0" algn="l">
              <a:lnSpc>
                <a:spcPct val="100000"/>
              </a:lnSpc>
              <a:spcBef>
                <a:spcPts val="1475"/>
              </a:spcBef>
              <a:spcAft>
                <a:spcPts val="0"/>
              </a:spcAft>
              <a:buNone/>
            </a:pPr>
            <a:r>
              <a:rPr b="1" lang="fr-FR" sz="2400">
                <a:solidFill>
                  <a:srgbClr val="252525"/>
                </a:solidFill>
                <a:latin typeface="Garamond"/>
                <a:ea typeface="Garamond"/>
                <a:cs typeface="Garamond"/>
                <a:sym typeface="Garamond"/>
              </a:rPr>
              <a:t>B. Des attaques de panique suivies d’une anxiété persistante</a:t>
            </a:r>
            <a:endParaRPr sz="2400">
              <a:latin typeface="Garamond"/>
              <a:ea typeface="Garamond"/>
              <a:cs typeface="Garamond"/>
              <a:sym typeface="Garamond"/>
            </a:endParaRPr>
          </a:p>
          <a:p>
            <a:pPr indent="0" lvl="0" marL="12700" rtl="0" algn="l">
              <a:lnSpc>
                <a:spcPct val="100000"/>
              </a:lnSpc>
              <a:spcBef>
                <a:spcPts val="2600"/>
              </a:spcBef>
              <a:spcAft>
                <a:spcPts val="0"/>
              </a:spcAft>
              <a:buNone/>
            </a:pPr>
            <a:r>
              <a:rPr b="1" lang="fr-FR" sz="2400">
                <a:solidFill>
                  <a:srgbClr val="FF0000"/>
                </a:solidFill>
                <a:latin typeface="Garamond"/>
                <a:ea typeface="Garamond"/>
                <a:cs typeface="Garamond"/>
                <a:sym typeface="Garamond"/>
              </a:rPr>
              <a:t>C. des changements comportementaux importants en relation avec les attaques</a:t>
            </a:r>
            <a:endParaRPr sz="2400">
              <a:solidFill>
                <a:srgbClr val="FF0000"/>
              </a:solidFill>
              <a:latin typeface="Garamond"/>
              <a:ea typeface="Garamond"/>
              <a:cs typeface="Garamond"/>
              <a:sym typeface="Garamond"/>
            </a:endParaRPr>
          </a:p>
          <a:p>
            <a:pPr indent="0" lvl="0" marL="12700" rtl="0" algn="l">
              <a:lnSpc>
                <a:spcPct val="100000"/>
              </a:lnSpc>
              <a:spcBef>
                <a:spcPts val="1475"/>
              </a:spcBef>
              <a:spcAft>
                <a:spcPts val="0"/>
              </a:spcAft>
              <a:buNone/>
            </a:pPr>
            <a:r>
              <a:rPr b="1" lang="fr-FR" sz="2400">
                <a:solidFill>
                  <a:srgbClr val="252525"/>
                </a:solidFill>
                <a:latin typeface="Garamond"/>
                <a:ea typeface="Garamond"/>
                <a:cs typeface="Garamond"/>
                <a:sym typeface="Garamond"/>
              </a:rPr>
              <a:t>C. Une anxiété flottante</a:t>
            </a:r>
            <a:endParaRPr sz="2400">
              <a:latin typeface="Garamond"/>
              <a:ea typeface="Garamond"/>
              <a:cs typeface="Garamond"/>
              <a:sym typeface="Garamond"/>
            </a:endParaRPr>
          </a:p>
          <a:p>
            <a:pPr indent="0" lvl="0" marL="12700" rtl="0" algn="l">
              <a:lnSpc>
                <a:spcPct val="100000"/>
              </a:lnSpc>
              <a:spcBef>
                <a:spcPts val="1405"/>
              </a:spcBef>
              <a:spcAft>
                <a:spcPts val="0"/>
              </a:spcAft>
              <a:buNone/>
            </a:pPr>
            <a:r>
              <a:rPr b="1" lang="fr-FR" sz="2400">
                <a:solidFill>
                  <a:srgbClr val="252525"/>
                </a:solidFill>
                <a:latin typeface="Garamond"/>
                <a:ea typeface="Garamond"/>
                <a:cs typeface="Garamond"/>
                <a:sym typeface="Garamond"/>
              </a:rPr>
              <a:t>D. Une phobie spécifique en plus des attaques de panique</a:t>
            </a:r>
            <a:endParaRPr sz="2400">
              <a:latin typeface="Garamond"/>
              <a:ea typeface="Garamond"/>
              <a:cs typeface="Garamond"/>
              <a:sym typeface="Garamon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1"/>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12" name="Google Shape;312;p31"/>
          <p:cNvSpPr txBox="1"/>
          <p:nvPr>
            <p:ph type="title"/>
          </p:nvPr>
        </p:nvSpPr>
        <p:spPr>
          <a:xfrm>
            <a:off x="802005" y="636905"/>
            <a:ext cx="10587989" cy="1671955"/>
          </a:xfrm>
          <a:prstGeom prst="rect">
            <a:avLst/>
          </a:prstGeom>
          <a:noFill/>
          <a:ln>
            <a:noFill/>
          </a:ln>
        </p:spPr>
        <p:txBody>
          <a:bodyPr anchorCtr="0" anchor="t" bIns="0" lIns="0" spcFirstLastPara="1" rIns="0" wrap="square" tIns="16500">
            <a:spAutoFit/>
          </a:bodyPr>
          <a:lstStyle/>
          <a:p>
            <a:pPr indent="0" lvl="0" marL="585470" rtl="0" algn="l">
              <a:lnSpc>
                <a:spcPct val="100000"/>
              </a:lnSpc>
              <a:spcBef>
                <a:spcPts val="0"/>
              </a:spcBef>
              <a:spcAft>
                <a:spcPts val="0"/>
              </a:spcAft>
              <a:buNone/>
            </a:pPr>
            <a:r>
              <a:rPr lang="fr-FR" sz="3950">
                <a:solidFill>
                  <a:srgbClr val="000000"/>
                </a:solidFill>
              </a:rPr>
              <a:t>Le trouble panique se différencie d’un</a:t>
            </a:r>
            <a:endParaRPr sz="3950"/>
          </a:p>
          <a:p>
            <a:pPr indent="0" lvl="0" marL="585470" rtl="0" algn="l">
              <a:lnSpc>
                <a:spcPct val="100000"/>
              </a:lnSpc>
              <a:spcBef>
                <a:spcPts val="65"/>
              </a:spcBef>
              <a:spcAft>
                <a:spcPts val="0"/>
              </a:spcAft>
              <a:buNone/>
            </a:pPr>
            <a:r>
              <a:rPr lang="fr-FR" sz="3950">
                <a:solidFill>
                  <a:srgbClr val="000000"/>
                </a:solidFill>
              </a:rPr>
              <a:t>trouble cardiaque principalement par :</a:t>
            </a:r>
            <a:endParaRPr sz="3950"/>
          </a:p>
        </p:txBody>
      </p:sp>
      <p:sp>
        <p:nvSpPr>
          <p:cNvPr id="313" name="Google Shape;313;p3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314" name="Google Shape;314;p31"/>
          <p:cNvSpPr txBox="1"/>
          <p:nvPr/>
        </p:nvSpPr>
        <p:spPr>
          <a:xfrm>
            <a:off x="1375028" y="2510658"/>
            <a:ext cx="5885180" cy="2926080"/>
          </a:xfrm>
          <a:prstGeom prst="rect">
            <a:avLst/>
          </a:prstGeom>
          <a:noFill/>
          <a:ln>
            <a:noFill/>
          </a:ln>
        </p:spPr>
        <p:txBody>
          <a:bodyPr anchorCtr="0" anchor="t" bIns="0" lIns="0" spcFirstLastPara="1" rIns="0" wrap="square" tIns="200650">
            <a:spAutoFit/>
          </a:bodyPr>
          <a:lstStyle/>
          <a:p>
            <a:pPr indent="0" lvl="0" marL="12700" rtl="0" algn="l">
              <a:lnSpc>
                <a:spcPct val="100000"/>
              </a:lnSpc>
              <a:spcBef>
                <a:spcPts val="0"/>
              </a:spcBef>
              <a:spcAft>
                <a:spcPts val="0"/>
              </a:spcAft>
              <a:buNone/>
            </a:pPr>
            <a:r>
              <a:rPr b="1" lang="fr-FR" sz="2400">
                <a:solidFill>
                  <a:srgbClr val="252525"/>
                </a:solidFill>
                <a:latin typeface="Garamond"/>
                <a:ea typeface="Garamond"/>
                <a:cs typeface="Garamond"/>
                <a:sym typeface="Garamond"/>
              </a:rPr>
              <a:t>L’âge de début</a:t>
            </a:r>
            <a:endParaRPr sz="2400">
              <a:latin typeface="Garamond"/>
              <a:ea typeface="Garamond"/>
              <a:cs typeface="Garamond"/>
              <a:sym typeface="Garamond"/>
            </a:endParaRPr>
          </a:p>
          <a:p>
            <a:pPr indent="-361315" lvl="0" marL="374015" rtl="0" algn="l">
              <a:lnSpc>
                <a:spcPct val="100000"/>
              </a:lnSpc>
              <a:spcBef>
                <a:spcPts val="1480"/>
              </a:spcBef>
              <a:spcAft>
                <a:spcPts val="0"/>
              </a:spcAft>
              <a:buClr>
                <a:srgbClr val="252525"/>
              </a:buClr>
              <a:buSzPts val="2400"/>
              <a:buFont typeface="Garamond"/>
              <a:buAutoNum type="alphaUcPeriod" startAt="2"/>
            </a:pPr>
            <a:r>
              <a:rPr b="1" lang="fr-FR" sz="2400">
                <a:solidFill>
                  <a:srgbClr val="252525"/>
                </a:solidFill>
                <a:latin typeface="Garamond"/>
                <a:ea typeface="Garamond"/>
                <a:cs typeface="Garamond"/>
                <a:sym typeface="Garamond"/>
              </a:rPr>
              <a:t>L’intensité de la douleur</a:t>
            </a:r>
            <a:endParaRPr sz="2400">
              <a:latin typeface="Garamond"/>
              <a:ea typeface="Garamond"/>
              <a:cs typeface="Garamond"/>
              <a:sym typeface="Garamond"/>
            </a:endParaRPr>
          </a:p>
          <a:p>
            <a:pPr indent="-369570" lvl="0" marL="382270" rtl="0" algn="l">
              <a:lnSpc>
                <a:spcPct val="100000"/>
              </a:lnSpc>
              <a:spcBef>
                <a:spcPts val="1395"/>
              </a:spcBef>
              <a:spcAft>
                <a:spcPts val="0"/>
              </a:spcAft>
              <a:buClr>
                <a:srgbClr val="252525"/>
              </a:buClr>
              <a:buSzPts val="2400"/>
              <a:buFont typeface="Garamond"/>
              <a:buAutoNum type="alphaUcPeriod" startAt="2"/>
            </a:pPr>
            <a:r>
              <a:rPr b="1" lang="fr-FR" sz="2400">
                <a:solidFill>
                  <a:srgbClr val="FF0000"/>
                </a:solidFill>
                <a:latin typeface="Garamond"/>
                <a:ea typeface="Garamond"/>
                <a:cs typeface="Garamond"/>
                <a:sym typeface="Garamond"/>
              </a:rPr>
              <a:t>L’absence d’anomalies à l’examen médical</a:t>
            </a:r>
            <a:endParaRPr sz="2400">
              <a:solidFill>
                <a:srgbClr val="FF0000"/>
              </a:solidFill>
              <a:latin typeface="Garamond"/>
              <a:ea typeface="Garamond"/>
              <a:cs typeface="Garamond"/>
              <a:sym typeface="Garamond"/>
            </a:endParaRPr>
          </a:p>
          <a:p>
            <a:pPr indent="-380365" lvl="0" marL="393065" rtl="0" algn="l">
              <a:lnSpc>
                <a:spcPct val="100000"/>
              </a:lnSpc>
              <a:spcBef>
                <a:spcPts val="1480"/>
              </a:spcBef>
              <a:spcAft>
                <a:spcPts val="0"/>
              </a:spcAft>
              <a:buClr>
                <a:srgbClr val="252525"/>
              </a:buClr>
              <a:buSzPts val="2400"/>
              <a:buFont typeface="Garamond"/>
              <a:buAutoNum type="alphaUcPeriod" startAt="2"/>
            </a:pPr>
            <a:r>
              <a:rPr b="1" lang="fr-FR" sz="2400">
                <a:solidFill>
                  <a:srgbClr val="252525"/>
                </a:solidFill>
                <a:latin typeface="Garamond"/>
                <a:ea typeface="Garamond"/>
                <a:cs typeface="Garamond"/>
                <a:sym typeface="Garamond"/>
              </a:rPr>
              <a:t>La localisation de la douleur</a:t>
            </a:r>
            <a:endParaRPr sz="2400">
              <a:latin typeface="Garamond"/>
              <a:ea typeface="Garamond"/>
              <a:cs typeface="Garamond"/>
              <a:sym typeface="Garamond"/>
            </a:endParaRPr>
          </a:p>
          <a:p>
            <a:pPr indent="-370840" lvl="0" marL="383540" rtl="0" algn="l">
              <a:lnSpc>
                <a:spcPct val="100000"/>
              </a:lnSpc>
              <a:spcBef>
                <a:spcPts val="2600"/>
              </a:spcBef>
              <a:spcAft>
                <a:spcPts val="0"/>
              </a:spcAft>
              <a:buClr>
                <a:srgbClr val="252525"/>
              </a:buClr>
              <a:buSzPts val="2400"/>
              <a:buFont typeface="Garamond"/>
              <a:buAutoNum type="alphaUcPeriod" startAt="2"/>
            </a:pPr>
            <a:r>
              <a:rPr b="1" lang="fr-FR" sz="2400">
                <a:solidFill>
                  <a:srgbClr val="252525"/>
                </a:solidFill>
                <a:latin typeface="Garamond"/>
                <a:ea typeface="Garamond"/>
                <a:cs typeface="Garamond"/>
                <a:sym typeface="Garamond"/>
              </a:rPr>
              <a:t>La durée de la douleur</a:t>
            </a:r>
            <a:endParaRPr sz="2400">
              <a:latin typeface="Garamond"/>
              <a:ea typeface="Garamond"/>
              <a:cs typeface="Garamond"/>
              <a:sym typeface="Garamon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2"/>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20" name="Google Shape;320;p32"/>
          <p:cNvSpPr txBox="1"/>
          <p:nvPr>
            <p:ph type="title"/>
          </p:nvPr>
        </p:nvSpPr>
        <p:spPr>
          <a:xfrm>
            <a:off x="802005" y="636905"/>
            <a:ext cx="10587989" cy="1671955"/>
          </a:xfrm>
          <a:prstGeom prst="rect">
            <a:avLst/>
          </a:prstGeom>
          <a:noFill/>
          <a:ln>
            <a:noFill/>
          </a:ln>
        </p:spPr>
        <p:txBody>
          <a:bodyPr anchorCtr="0" anchor="t" bIns="0" lIns="0" spcFirstLastPara="1" rIns="0" wrap="square" tIns="354700">
            <a:spAutoFit/>
          </a:bodyPr>
          <a:lstStyle/>
          <a:p>
            <a:pPr indent="0" lvl="0" marL="585470" rtl="0" algn="l">
              <a:lnSpc>
                <a:spcPct val="100000"/>
              </a:lnSpc>
              <a:spcBef>
                <a:spcPts val="0"/>
              </a:spcBef>
              <a:spcAft>
                <a:spcPts val="0"/>
              </a:spcAft>
              <a:buNone/>
            </a:pPr>
            <a:r>
              <a:rPr lang="fr-FR" sz="3950">
                <a:solidFill>
                  <a:srgbClr val="000000"/>
                </a:solidFill>
              </a:rPr>
              <a:t>Le trouble panique se caractérise par :</a:t>
            </a:r>
            <a:endParaRPr sz="3950"/>
          </a:p>
        </p:txBody>
      </p:sp>
      <p:sp>
        <p:nvSpPr>
          <p:cNvPr id="321" name="Google Shape;321;p3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322" name="Google Shape;322;p32"/>
          <p:cNvSpPr txBox="1"/>
          <p:nvPr>
            <p:ph idx="1" type="body"/>
          </p:nvPr>
        </p:nvSpPr>
        <p:spPr>
          <a:xfrm>
            <a:off x="1375028" y="2402586"/>
            <a:ext cx="9363075" cy="3087370"/>
          </a:xfrm>
          <a:prstGeom prst="rect">
            <a:avLst/>
          </a:prstGeom>
          <a:noFill/>
          <a:ln>
            <a:noFill/>
          </a:ln>
        </p:spPr>
        <p:txBody>
          <a:bodyPr anchorCtr="0" anchor="t" bIns="0" lIns="0" spcFirstLastPara="1" rIns="0" wrap="square" tIns="171450">
            <a:spAutoFit/>
          </a:bodyPr>
          <a:lstStyle/>
          <a:p>
            <a:pPr indent="0" lvl="0" marL="12700" rtl="0" algn="l">
              <a:lnSpc>
                <a:spcPct val="100000"/>
              </a:lnSpc>
              <a:spcBef>
                <a:spcPts val="0"/>
              </a:spcBef>
              <a:spcAft>
                <a:spcPts val="0"/>
              </a:spcAft>
              <a:buNone/>
            </a:pPr>
            <a:r>
              <a:rPr lang="fr-FR" sz="2400"/>
              <a:t>A- la survenue d’au moins deux crises d’angoisse en deux ans</a:t>
            </a:r>
            <a:endParaRPr sz="2400"/>
          </a:p>
          <a:p>
            <a:pPr indent="0" lvl="0" marL="12700" rtl="0" algn="l">
              <a:lnSpc>
                <a:spcPct val="100000"/>
              </a:lnSpc>
              <a:spcBef>
                <a:spcPts val="1250"/>
              </a:spcBef>
              <a:spcAft>
                <a:spcPts val="0"/>
              </a:spcAft>
              <a:buNone/>
            </a:pPr>
            <a:r>
              <a:rPr lang="fr-FR" sz="2400"/>
              <a:t>B- </a:t>
            </a:r>
            <a:r>
              <a:rPr lang="fr-FR" sz="2400">
                <a:solidFill>
                  <a:srgbClr val="FF0000"/>
                </a:solidFill>
              </a:rPr>
              <a:t>la peur de refaire une attaque de panique</a:t>
            </a:r>
            <a:endParaRPr sz="2400">
              <a:solidFill>
                <a:srgbClr val="FF0000"/>
              </a:solidFill>
            </a:endParaRPr>
          </a:p>
          <a:p>
            <a:pPr indent="0" lvl="0" marL="12700" rtl="0" algn="l">
              <a:lnSpc>
                <a:spcPct val="100000"/>
              </a:lnSpc>
              <a:spcBef>
                <a:spcPts val="1175"/>
              </a:spcBef>
              <a:spcAft>
                <a:spcPts val="0"/>
              </a:spcAft>
              <a:buNone/>
            </a:pPr>
            <a:r>
              <a:rPr lang="fr-FR" sz="2400"/>
              <a:t>C- l’alternance de crises d’angoisses et d’épisodes dépressifs</a:t>
            </a:r>
            <a:endParaRPr sz="2400"/>
          </a:p>
          <a:p>
            <a:pPr indent="0" lvl="0" marL="12700" rtl="0" algn="l">
              <a:lnSpc>
                <a:spcPct val="100000"/>
              </a:lnSpc>
              <a:spcBef>
                <a:spcPts val="1175"/>
              </a:spcBef>
              <a:spcAft>
                <a:spcPts val="0"/>
              </a:spcAft>
              <a:buNone/>
            </a:pPr>
            <a:r>
              <a:rPr lang="fr-FR" sz="2400"/>
              <a:t>D- la survenue d’au moins une crise d’angoisse</a:t>
            </a:r>
            <a:endParaRPr sz="2400"/>
          </a:p>
          <a:p>
            <a:pPr indent="0" lvl="0" marL="12700" rtl="0" algn="l">
              <a:lnSpc>
                <a:spcPct val="119375"/>
              </a:lnSpc>
              <a:spcBef>
                <a:spcPts val="1175"/>
              </a:spcBef>
              <a:spcAft>
                <a:spcPts val="0"/>
              </a:spcAft>
              <a:buNone/>
            </a:pPr>
            <a:r>
              <a:rPr lang="fr-FR" sz="2400"/>
              <a:t>E- </a:t>
            </a:r>
            <a:r>
              <a:rPr lang="fr-FR" sz="2400">
                <a:solidFill>
                  <a:srgbClr val="FF0000"/>
                </a:solidFill>
              </a:rPr>
              <a:t>Des attaques de paniques qui peuvent êtres intenses ou pauci</a:t>
            </a:r>
            <a:endParaRPr sz="2400">
              <a:solidFill>
                <a:srgbClr val="FF0000"/>
              </a:solidFill>
            </a:endParaRPr>
          </a:p>
          <a:p>
            <a:pPr indent="0" lvl="0" marL="12700" rtl="0" algn="l">
              <a:lnSpc>
                <a:spcPct val="119375"/>
              </a:lnSpc>
              <a:spcBef>
                <a:spcPts val="0"/>
              </a:spcBef>
              <a:spcAft>
                <a:spcPts val="0"/>
              </a:spcAft>
              <a:buNone/>
            </a:pPr>
            <a:r>
              <a:rPr lang="fr-FR" sz="2400">
                <a:solidFill>
                  <a:srgbClr val="FF0000"/>
                </a:solidFill>
              </a:rPr>
              <a:t>symptomatiques</a:t>
            </a:r>
            <a:endParaRPr sz="2400">
              <a:solidFill>
                <a:srgbClr val="FF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3"/>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28" name="Google Shape;328;p33"/>
          <p:cNvSpPr txBox="1"/>
          <p:nvPr>
            <p:ph type="title"/>
          </p:nvPr>
        </p:nvSpPr>
        <p:spPr>
          <a:xfrm>
            <a:off x="1375028" y="669924"/>
            <a:ext cx="8750935"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t>Le diagnostic positif	du trouble panique repose sur :</a:t>
            </a:r>
            <a:endParaRPr sz="3950"/>
          </a:p>
        </p:txBody>
      </p:sp>
      <p:sp>
        <p:nvSpPr>
          <p:cNvPr id="329" name="Google Shape;329;p3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330" name="Google Shape;330;p33"/>
          <p:cNvSpPr txBox="1"/>
          <p:nvPr/>
        </p:nvSpPr>
        <p:spPr>
          <a:xfrm>
            <a:off x="917575" y="2361207"/>
            <a:ext cx="10006965" cy="2780889"/>
          </a:xfrm>
          <a:prstGeom prst="rect">
            <a:avLst/>
          </a:prstGeom>
          <a:noFill/>
          <a:ln>
            <a:noFill/>
          </a:ln>
        </p:spPr>
        <p:txBody>
          <a:bodyPr anchorCtr="0" anchor="t" bIns="0" lIns="0" spcFirstLastPara="1" rIns="0" wrap="square" tIns="86975">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anxiété anticipatoire</a:t>
            </a:r>
            <a:endParaRPr sz="2750">
              <a:solidFill>
                <a:srgbClr val="FF0000"/>
              </a:solidFill>
              <a:latin typeface="Garamond"/>
              <a:ea typeface="Garamond"/>
              <a:cs typeface="Garamond"/>
              <a:sym typeface="Garamond"/>
            </a:endParaRPr>
          </a:p>
          <a:p>
            <a:pPr indent="-514350" lvl="0" marL="527050" rtl="0" algn="l">
              <a:lnSpc>
                <a:spcPct val="100000"/>
              </a:lnSpc>
              <a:spcBef>
                <a:spcPts val="112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anxiété chronique</a:t>
            </a:r>
            <a:endParaRPr sz="2750">
              <a:latin typeface="Garamond"/>
              <a:ea typeface="Garamond"/>
              <a:cs typeface="Garamond"/>
              <a:sym typeface="Garamond"/>
            </a:endParaRPr>
          </a:p>
          <a:p>
            <a:pPr indent="-514350" lvl="0" marL="527050" rtl="0" algn="l">
              <a:lnSpc>
                <a:spcPct val="100000"/>
              </a:lnSpc>
              <a:spcBef>
                <a:spcPts val="119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Des attaques de panique récurrentes</a:t>
            </a:r>
            <a:endParaRPr sz="2750">
              <a:solidFill>
                <a:srgbClr val="FF0000"/>
              </a:solidFill>
              <a:latin typeface="Garamond"/>
              <a:ea typeface="Garamond"/>
              <a:cs typeface="Garamond"/>
              <a:sym typeface="Garamond"/>
            </a:endParaRPr>
          </a:p>
          <a:p>
            <a:pPr indent="-513715" lvl="0" marL="526415" rtl="0" algn="l">
              <a:lnSpc>
                <a:spcPct val="100000"/>
              </a:lnSpc>
              <a:spcBef>
                <a:spcPts val="11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 changement de comportement en relation avec les attaques</a:t>
            </a:r>
            <a:endParaRPr sz="2750">
              <a:solidFill>
                <a:srgbClr val="FF0000"/>
              </a:solidFill>
              <a:latin typeface="Garamond"/>
              <a:ea typeface="Garamond"/>
              <a:cs typeface="Garamond"/>
              <a:sym typeface="Garamond"/>
            </a:endParaRPr>
          </a:p>
          <a:p>
            <a:pPr indent="-603250" lvl="0" marL="615950" rtl="0" algn="l">
              <a:lnSpc>
                <a:spcPct val="100000"/>
              </a:lnSpc>
              <a:spcBef>
                <a:spcPts val="112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 examen somatique sans anomalies</a:t>
            </a:r>
            <a:endParaRPr sz="2750">
              <a:solidFill>
                <a:srgbClr val="FF0000"/>
              </a:solidFill>
              <a:latin typeface="Garamond"/>
              <a:ea typeface="Garamond"/>
              <a:cs typeface="Garamond"/>
              <a:sym typeface="Garamon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4"/>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36" name="Google Shape;336;p34"/>
          <p:cNvSpPr txBox="1"/>
          <p:nvPr>
            <p:ph type="title"/>
          </p:nvPr>
        </p:nvSpPr>
        <p:spPr>
          <a:xfrm>
            <a:off x="802005" y="636905"/>
            <a:ext cx="10587989" cy="1671955"/>
          </a:xfrm>
          <a:prstGeom prst="rect">
            <a:avLst/>
          </a:prstGeom>
          <a:noFill/>
          <a:ln>
            <a:noFill/>
          </a:ln>
        </p:spPr>
        <p:txBody>
          <a:bodyPr anchorCtr="0" anchor="t" bIns="0" lIns="0" spcFirstLastPara="1" rIns="0" wrap="square" tIns="793675">
            <a:spAutoFit/>
          </a:bodyPr>
          <a:lstStyle/>
          <a:p>
            <a:pPr indent="0" lvl="0" marL="575310" rtl="0" algn="l">
              <a:lnSpc>
                <a:spcPct val="100000"/>
              </a:lnSpc>
              <a:spcBef>
                <a:spcPts val="0"/>
              </a:spcBef>
              <a:spcAft>
                <a:spcPts val="0"/>
              </a:spcAft>
              <a:buNone/>
            </a:pPr>
            <a:r>
              <a:rPr lang="fr-FR" sz="4400"/>
              <a:t>Le trouble panique :</a:t>
            </a:r>
            <a:endParaRPr sz="4400"/>
          </a:p>
        </p:txBody>
      </p:sp>
      <p:sp>
        <p:nvSpPr>
          <p:cNvPr id="337" name="Google Shape;337;p3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338" name="Google Shape;338;p34"/>
          <p:cNvSpPr txBox="1"/>
          <p:nvPr/>
        </p:nvSpPr>
        <p:spPr>
          <a:xfrm>
            <a:off x="1375028" y="2507932"/>
            <a:ext cx="10103485" cy="3006849"/>
          </a:xfrm>
          <a:prstGeom prst="rect">
            <a:avLst/>
          </a:prstGeom>
          <a:noFill/>
          <a:ln>
            <a:noFill/>
          </a:ln>
        </p:spPr>
        <p:txBody>
          <a:bodyPr anchorCtr="0" anchor="t" bIns="0" lIns="0" spcFirstLastPara="1" rIns="0" wrap="square" tIns="53975">
            <a:spAutoFit/>
          </a:bodyPr>
          <a:lstStyle/>
          <a:p>
            <a:pPr indent="-515619" lvl="0" marL="527685" marR="5080" rtl="0" algn="l">
              <a:lnSpc>
                <a:spcPct val="79600"/>
              </a:lnSpc>
              <a:spcBef>
                <a:spcPts val="0"/>
              </a:spcBef>
              <a:spcAft>
                <a:spcPts val="0"/>
              </a:spcAft>
              <a:buClr>
                <a:srgbClr val="83992A"/>
              </a:buClr>
              <a:buSzPts val="2850"/>
              <a:buFont typeface="Garamond"/>
              <a:buAutoNum type="alphaUcPeriod"/>
            </a:pPr>
            <a:r>
              <a:rPr b="1" lang="fr-FR" sz="2450">
                <a:solidFill>
                  <a:srgbClr val="252525"/>
                </a:solidFill>
                <a:latin typeface="Garamond"/>
                <a:ea typeface="Garamond"/>
                <a:cs typeface="Garamond"/>
                <a:sym typeface="Garamond"/>
              </a:rPr>
              <a:t>Est caractérisé par des soucis excessifs et incontrôlables, associés à une anticipation catastrophique des évènements</a:t>
            </a:r>
            <a:endParaRPr sz="2450">
              <a:latin typeface="Garamond"/>
              <a:ea typeface="Garamond"/>
              <a:cs typeface="Garamond"/>
              <a:sym typeface="Garamond"/>
            </a:endParaRPr>
          </a:p>
          <a:p>
            <a:pPr indent="-514983" lvl="0" marL="527685" rtl="0" algn="l">
              <a:lnSpc>
                <a:spcPct val="126938"/>
              </a:lnSpc>
              <a:spcBef>
                <a:spcPts val="265"/>
              </a:spcBef>
              <a:spcAft>
                <a:spcPts val="0"/>
              </a:spcAft>
              <a:buClr>
                <a:srgbClr val="83992A"/>
              </a:buClr>
              <a:buSzPts val="2850"/>
              <a:buFont typeface="Garamond"/>
              <a:buAutoNum type="alphaUcPeriod"/>
            </a:pPr>
            <a:r>
              <a:rPr b="1" lang="fr-FR" sz="2450">
                <a:solidFill>
                  <a:srgbClr val="FF0000"/>
                </a:solidFill>
                <a:latin typeface="Garamond"/>
                <a:ea typeface="Garamond"/>
                <a:cs typeface="Garamond"/>
                <a:sym typeface="Garamond"/>
              </a:rPr>
              <a:t>Est caractérisé par la survenue d’attaques de panique récurrentes et</a:t>
            </a:r>
            <a:endParaRPr sz="2450">
              <a:solidFill>
                <a:srgbClr val="FF0000"/>
              </a:solidFill>
              <a:latin typeface="Garamond"/>
              <a:ea typeface="Garamond"/>
              <a:cs typeface="Garamond"/>
              <a:sym typeface="Garamond"/>
            </a:endParaRPr>
          </a:p>
          <a:p>
            <a:pPr indent="0" lvl="0" marL="527685" rtl="0" algn="l">
              <a:lnSpc>
                <a:spcPct val="107346"/>
              </a:lnSpc>
              <a:spcBef>
                <a:spcPts val="0"/>
              </a:spcBef>
              <a:spcAft>
                <a:spcPts val="0"/>
              </a:spcAft>
              <a:buNone/>
            </a:pPr>
            <a:r>
              <a:rPr b="1" lang="fr-FR" sz="2450">
                <a:solidFill>
                  <a:srgbClr val="FF0000"/>
                </a:solidFill>
                <a:latin typeface="Garamond"/>
                <a:ea typeface="Garamond"/>
                <a:cs typeface="Garamond"/>
                <a:sym typeface="Garamond"/>
              </a:rPr>
              <a:t>inattendues</a:t>
            </a:r>
            <a:endParaRPr sz="2450">
              <a:solidFill>
                <a:srgbClr val="FF0000"/>
              </a:solidFill>
              <a:latin typeface="Garamond"/>
              <a:ea typeface="Garamond"/>
              <a:cs typeface="Garamond"/>
              <a:sym typeface="Garamond"/>
            </a:endParaRPr>
          </a:p>
          <a:p>
            <a:pPr indent="-514983" lvl="0" marL="527685" rtl="0" algn="l">
              <a:lnSpc>
                <a:spcPct val="100000"/>
              </a:lnSpc>
              <a:spcBef>
                <a:spcPts val="265"/>
              </a:spcBef>
              <a:spcAft>
                <a:spcPts val="0"/>
              </a:spcAft>
              <a:buClr>
                <a:srgbClr val="83992A"/>
              </a:buClr>
              <a:buSzPts val="2850"/>
              <a:buFont typeface="Garamond"/>
              <a:buAutoNum type="alphaUcPeriod" startAt="3"/>
            </a:pPr>
            <a:r>
              <a:rPr b="1" lang="fr-FR" sz="2450">
                <a:solidFill>
                  <a:srgbClr val="FF0000"/>
                </a:solidFill>
                <a:latin typeface="Garamond"/>
                <a:ea typeface="Garamond"/>
                <a:cs typeface="Garamond"/>
                <a:sym typeface="Garamond"/>
              </a:rPr>
              <a:t>Peut se compliquer de dépression</a:t>
            </a:r>
            <a:endParaRPr sz="2450">
              <a:solidFill>
                <a:srgbClr val="FF0000"/>
              </a:solidFill>
              <a:latin typeface="Garamond"/>
              <a:ea typeface="Garamond"/>
              <a:cs typeface="Garamond"/>
              <a:sym typeface="Garamond"/>
            </a:endParaRPr>
          </a:p>
          <a:p>
            <a:pPr indent="-514350" lvl="0" marL="527050" rtl="0" algn="l">
              <a:lnSpc>
                <a:spcPct val="100000"/>
              </a:lnSpc>
              <a:spcBef>
                <a:spcPts val="185"/>
              </a:spcBef>
              <a:spcAft>
                <a:spcPts val="0"/>
              </a:spcAft>
              <a:buClr>
                <a:srgbClr val="83992A"/>
              </a:buClr>
              <a:buSzPts val="2850"/>
              <a:buFont typeface="Garamond"/>
              <a:buAutoNum type="alphaUcPeriod" startAt="3"/>
            </a:pPr>
            <a:r>
              <a:rPr b="1" lang="fr-FR" sz="2450">
                <a:solidFill>
                  <a:srgbClr val="252525"/>
                </a:solidFill>
                <a:latin typeface="Garamond"/>
                <a:ea typeface="Garamond"/>
                <a:cs typeface="Garamond"/>
                <a:sym typeface="Garamond"/>
              </a:rPr>
              <a:t>Son traitement repose sur les antidépresseurs tricycliques</a:t>
            </a:r>
            <a:endParaRPr sz="2450">
              <a:latin typeface="Garamond"/>
              <a:ea typeface="Garamond"/>
              <a:cs typeface="Garamond"/>
              <a:sym typeface="Garamond"/>
            </a:endParaRPr>
          </a:p>
          <a:p>
            <a:pPr indent="-514983" lvl="0" marL="527685" rtl="0" algn="l">
              <a:lnSpc>
                <a:spcPct val="127142"/>
              </a:lnSpc>
              <a:spcBef>
                <a:spcPts val="185"/>
              </a:spcBef>
              <a:spcAft>
                <a:spcPts val="0"/>
              </a:spcAft>
              <a:buClr>
                <a:srgbClr val="83992A"/>
              </a:buClr>
              <a:buSzPts val="2850"/>
              <a:buFont typeface="Garamond"/>
              <a:buAutoNum type="alphaUcPeriod" startAt="3"/>
            </a:pPr>
            <a:r>
              <a:rPr b="1" lang="fr-FR" sz="2450">
                <a:solidFill>
                  <a:srgbClr val="FF0000"/>
                </a:solidFill>
                <a:latin typeface="Garamond"/>
                <a:ea typeface="Garamond"/>
                <a:cs typeface="Garamond"/>
                <a:sym typeface="Garamond"/>
              </a:rPr>
              <a:t>Son traitement repose sur les antidépresseurs sérotoninergiques,</a:t>
            </a:r>
            <a:endParaRPr sz="2450">
              <a:solidFill>
                <a:srgbClr val="FF0000"/>
              </a:solidFill>
              <a:latin typeface="Garamond"/>
              <a:ea typeface="Garamond"/>
              <a:cs typeface="Garamond"/>
              <a:sym typeface="Garamond"/>
            </a:endParaRPr>
          </a:p>
          <a:p>
            <a:pPr indent="0" lvl="0" marL="527685" rtl="0" algn="l">
              <a:lnSpc>
                <a:spcPct val="107551"/>
              </a:lnSpc>
              <a:spcBef>
                <a:spcPts val="0"/>
              </a:spcBef>
              <a:spcAft>
                <a:spcPts val="0"/>
              </a:spcAft>
              <a:buNone/>
            </a:pPr>
            <a:r>
              <a:rPr b="1" lang="fr-FR" sz="2450">
                <a:solidFill>
                  <a:srgbClr val="FF0000"/>
                </a:solidFill>
                <a:latin typeface="Garamond"/>
                <a:ea typeface="Garamond"/>
                <a:cs typeface="Garamond"/>
                <a:sym typeface="Garamond"/>
              </a:rPr>
              <a:t>idéalement associés à une thérapie cognitivo-comportementale (TCC).</a:t>
            </a:r>
            <a:endParaRPr sz="2450">
              <a:solidFill>
                <a:srgbClr val="FF0000"/>
              </a:solidFill>
              <a:latin typeface="Garamond"/>
              <a:ea typeface="Garamond"/>
              <a:cs typeface="Garamond"/>
              <a:sym typeface="Garamon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5"/>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44" name="Google Shape;344;p35"/>
          <p:cNvSpPr txBox="1"/>
          <p:nvPr>
            <p:ph type="title"/>
          </p:nvPr>
        </p:nvSpPr>
        <p:spPr>
          <a:xfrm>
            <a:off x="802005" y="636905"/>
            <a:ext cx="10587989" cy="1671955"/>
          </a:xfrm>
          <a:prstGeom prst="rect">
            <a:avLst/>
          </a:prstGeom>
          <a:noFill/>
          <a:ln>
            <a:noFill/>
          </a:ln>
        </p:spPr>
        <p:txBody>
          <a:bodyPr anchorCtr="0" anchor="t" bIns="0" lIns="0" spcFirstLastPara="1" rIns="0" wrap="square" tIns="690875">
            <a:spAutoFit/>
          </a:bodyPr>
          <a:lstStyle/>
          <a:p>
            <a:pPr indent="0" lvl="0" marL="410844" rtl="0" algn="l">
              <a:lnSpc>
                <a:spcPct val="100000"/>
              </a:lnSpc>
              <a:spcBef>
                <a:spcPts val="0"/>
              </a:spcBef>
              <a:spcAft>
                <a:spcPts val="0"/>
              </a:spcAft>
              <a:buNone/>
            </a:pPr>
            <a:r>
              <a:rPr lang="fr-FR"/>
              <a:t>Un trouble panique peut se compliquer de (d’) :</a:t>
            </a:r>
            <a:endParaRPr/>
          </a:p>
        </p:txBody>
      </p:sp>
      <p:sp>
        <p:nvSpPr>
          <p:cNvPr id="345" name="Google Shape;345;p3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346" name="Google Shape;346;p35"/>
          <p:cNvSpPr txBox="1"/>
          <p:nvPr/>
        </p:nvSpPr>
        <p:spPr>
          <a:xfrm>
            <a:off x="1375028" y="2565231"/>
            <a:ext cx="4672965" cy="2568011"/>
          </a:xfrm>
          <a:prstGeom prst="rect">
            <a:avLst/>
          </a:prstGeom>
          <a:noFill/>
          <a:ln>
            <a:noFill/>
          </a:ln>
        </p:spPr>
        <p:txBody>
          <a:bodyPr anchorCtr="0" anchor="t" bIns="0" lIns="0" spcFirstLastPara="1" rIns="0" wrap="square" tIns="53975">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Abus d’alcool</a:t>
            </a:r>
            <a:endParaRPr sz="2750">
              <a:solidFill>
                <a:srgbClr val="FF0000"/>
              </a:solidFill>
              <a:latin typeface="Garamond"/>
              <a:ea typeface="Garamond"/>
              <a:cs typeface="Garamond"/>
              <a:sym typeface="Garamond"/>
            </a:endParaRPr>
          </a:p>
          <a:p>
            <a:pPr indent="-514350" lvl="0" marL="527050" rtl="0" algn="l">
              <a:lnSpc>
                <a:spcPct val="100000"/>
              </a:lnSpc>
              <a:spcBef>
                <a:spcPts val="81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Anxiété anticipatoire</a:t>
            </a:r>
            <a:endParaRPr sz="2750">
              <a:latin typeface="Garamond"/>
              <a:ea typeface="Garamond"/>
              <a:cs typeface="Garamond"/>
              <a:sym typeface="Garamond"/>
            </a:endParaRPr>
          </a:p>
          <a:p>
            <a:pPr indent="-514350" lvl="0" marL="527050" rtl="0" algn="l">
              <a:lnSpc>
                <a:spcPct val="100000"/>
              </a:lnSpc>
              <a:spcBef>
                <a:spcPts val="8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Agoraphobie</a:t>
            </a:r>
            <a:endParaRPr sz="2750">
              <a:solidFill>
                <a:srgbClr val="FF0000"/>
              </a:solidFill>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Dépression</a:t>
            </a:r>
            <a:endParaRPr sz="2750">
              <a:solidFill>
                <a:srgbClr val="FF0000"/>
              </a:solidFill>
              <a:latin typeface="Garamond"/>
              <a:ea typeface="Garamond"/>
              <a:cs typeface="Garamond"/>
              <a:sym typeface="Garamond"/>
            </a:endParaRPr>
          </a:p>
          <a:p>
            <a:pPr indent="-513715" lvl="0" marL="526415" rtl="0" algn="l">
              <a:lnSpc>
                <a:spcPct val="100000"/>
              </a:lnSpc>
              <a:spcBef>
                <a:spcPts val="82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Trouble anxiété généralisée</a:t>
            </a:r>
            <a:endParaRPr sz="2750">
              <a:latin typeface="Garamond"/>
              <a:ea typeface="Garamond"/>
              <a:cs typeface="Garamond"/>
              <a:sym typeface="Garamon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6"/>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52" name="Google Shape;352;p36"/>
          <p:cNvSpPr txBox="1"/>
          <p:nvPr>
            <p:ph type="title"/>
          </p:nvPr>
        </p:nvSpPr>
        <p:spPr>
          <a:xfrm>
            <a:off x="802005" y="636905"/>
            <a:ext cx="10587989" cy="1671955"/>
          </a:xfrm>
          <a:prstGeom prst="rect">
            <a:avLst/>
          </a:prstGeom>
          <a:noFill/>
          <a:ln>
            <a:noFill/>
          </a:ln>
        </p:spPr>
        <p:txBody>
          <a:bodyPr anchorCtr="0" anchor="t" bIns="0" lIns="0" spcFirstLastPara="1" rIns="0" wrap="square" tIns="660000">
            <a:spAutoFit/>
          </a:bodyPr>
          <a:lstStyle/>
          <a:p>
            <a:pPr indent="0" lvl="0" marL="585470" rtl="0" algn="l">
              <a:lnSpc>
                <a:spcPct val="100000"/>
              </a:lnSpc>
              <a:spcBef>
                <a:spcPts val="0"/>
              </a:spcBef>
              <a:spcAft>
                <a:spcPts val="0"/>
              </a:spcAft>
              <a:buNone/>
            </a:pPr>
            <a:r>
              <a:rPr lang="fr-FR" sz="3950">
                <a:solidFill>
                  <a:srgbClr val="000000"/>
                </a:solidFill>
              </a:rPr>
              <a:t>Le trouble panique:</a:t>
            </a:r>
            <a:endParaRPr sz="3950"/>
          </a:p>
        </p:txBody>
      </p:sp>
      <p:sp>
        <p:nvSpPr>
          <p:cNvPr id="353" name="Google Shape;353;p3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354" name="Google Shape;354;p36"/>
          <p:cNvSpPr txBox="1"/>
          <p:nvPr/>
        </p:nvSpPr>
        <p:spPr>
          <a:xfrm>
            <a:off x="1375028" y="2473525"/>
            <a:ext cx="7769225" cy="2927083"/>
          </a:xfrm>
          <a:prstGeom prst="rect">
            <a:avLst/>
          </a:prstGeom>
          <a:noFill/>
          <a:ln>
            <a:noFill/>
          </a:ln>
        </p:spPr>
        <p:txBody>
          <a:bodyPr anchorCtr="0" anchor="t" bIns="0" lIns="0" spcFirstLastPara="1" rIns="0" wrap="square" tIns="56500">
            <a:spAutoFit/>
          </a:bodyPr>
          <a:lstStyle/>
          <a:p>
            <a:pPr indent="-514983" lvl="0" marL="527685" rtl="0" algn="l">
              <a:lnSpc>
                <a:spcPct val="100000"/>
              </a:lnSpc>
              <a:spcBef>
                <a:spcPts val="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Peut ou pas s’associer à une agoraphobie</a:t>
            </a:r>
            <a:endParaRPr sz="2600">
              <a:solidFill>
                <a:srgbClr val="FF0000"/>
              </a:solidFill>
              <a:latin typeface="Garamond"/>
              <a:ea typeface="Garamond"/>
              <a:cs typeface="Garamond"/>
              <a:sym typeface="Garamond"/>
            </a:endParaRPr>
          </a:p>
          <a:p>
            <a:pPr indent="-514983" lvl="0" marL="527685"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Peut se compliquer de dépression</a:t>
            </a:r>
            <a:endParaRPr sz="2600">
              <a:solidFill>
                <a:srgbClr val="FF0000"/>
              </a:solidFill>
              <a:latin typeface="Garamond"/>
              <a:ea typeface="Garamond"/>
              <a:cs typeface="Garamond"/>
              <a:sym typeface="Garamond"/>
            </a:endParaRPr>
          </a:p>
          <a:p>
            <a:pPr indent="-514983" lvl="0" marL="527685" rtl="0" algn="l">
              <a:lnSpc>
                <a:spcPct val="100000"/>
              </a:lnSpc>
              <a:spcBef>
                <a:spcPts val="76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Est caractérisé par la peur d’avoir peur</a:t>
            </a:r>
            <a:endParaRPr sz="2600">
              <a:solidFill>
                <a:srgbClr val="FF0000"/>
              </a:solidFill>
              <a:latin typeface="Garamond"/>
              <a:ea typeface="Garamond"/>
              <a:cs typeface="Garamond"/>
              <a:sym typeface="Garamond"/>
            </a:endParaRPr>
          </a:p>
          <a:p>
            <a:pPr indent="-513715" lvl="0" marL="526415" rtl="0" algn="l">
              <a:lnSpc>
                <a:spcPct val="100000"/>
              </a:lnSpc>
              <a:spcBef>
                <a:spcPts val="75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Est caractérisé par des idées fixes</a:t>
            </a:r>
            <a:endParaRPr sz="2600">
              <a:latin typeface="Garamond"/>
              <a:ea typeface="Garamond"/>
              <a:cs typeface="Garamond"/>
              <a:sym typeface="Garamond"/>
            </a:endParaRPr>
          </a:p>
          <a:p>
            <a:pPr indent="-515619" lvl="0" marL="527685" marR="5080" rtl="0" algn="l">
              <a:lnSpc>
                <a:spcPct val="118461"/>
              </a:lnSpc>
              <a:spcBef>
                <a:spcPts val="129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Est caractérisé par des préoccupations à propos des implications des attaques de panique</a:t>
            </a:r>
            <a:endParaRPr sz="2600">
              <a:solidFill>
                <a:srgbClr val="FF0000"/>
              </a:solidFill>
              <a:latin typeface="Garamond"/>
              <a:ea typeface="Garamond"/>
              <a:cs typeface="Garamond"/>
              <a:sym typeface="Garamon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7"/>
          <p:cNvSpPr txBox="1"/>
          <p:nvPr>
            <p:ph type="title"/>
          </p:nvPr>
        </p:nvSpPr>
        <p:spPr>
          <a:xfrm>
            <a:off x="1602105" y="601281"/>
            <a:ext cx="9439910" cy="63246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3950">
                <a:solidFill>
                  <a:srgbClr val="006FC0"/>
                </a:solidFill>
              </a:rPr>
              <a:t>Les critères du DSM 5 d’un trouble panique</a:t>
            </a:r>
            <a:endParaRPr sz="3950"/>
          </a:p>
        </p:txBody>
      </p:sp>
      <p:sp>
        <p:nvSpPr>
          <p:cNvPr id="360" name="Google Shape;360;p3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361" name="Google Shape;361;p37"/>
          <p:cNvSpPr txBox="1"/>
          <p:nvPr/>
        </p:nvSpPr>
        <p:spPr>
          <a:xfrm>
            <a:off x="788034" y="1010393"/>
            <a:ext cx="10627995" cy="4991735"/>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t/>
            </a:r>
            <a:endParaRPr sz="2000">
              <a:latin typeface="Times New Roman"/>
              <a:ea typeface="Times New Roman"/>
              <a:cs typeface="Times New Roman"/>
              <a:sym typeface="Times New Roman"/>
            </a:endParaRPr>
          </a:p>
          <a:p>
            <a:pPr indent="-296545" lvl="0" marL="321945" rtl="0" algn="l">
              <a:lnSpc>
                <a:spcPct val="100000"/>
              </a:lnSpc>
              <a:spcBef>
                <a:spcPts val="5"/>
              </a:spcBef>
              <a:spcAft>
                <a:spcPts val="0"/>
              </a:spcAft>
              <a:buClr>
                <a:srgbClr val="252525"/>
              </a:buClr>
              <a:buSzPts val="2000"/>
              <a:buFont typeface="Garamond"/>
              <a:buAutoNum type="alphaUcPeriod"/>
            </a:pPr>
            <a:r>
              <a:rPr b="1" lang="fr-FR" sz="2000">
                <a:solidFill>
                  <a:srgbClr val="252525"/>
                </a:solidFill>
                <a:latin typeface="Garamond"/>
                <a:ea typeface="Garamond"/>
                <a:cs typeface="Garamond"/>
                <a:sym typeface="Garamond"/>
              </a:rPr>
              <a:t>Attaques de panique récurrentes et inattendues (</a:t>
            </a:r>
            <a:r>
              <a:rPr b="1" baseline="30000" lang="fr-FR" sz="5925">
                <a:solidFill>
                  <a:srgbClr val="252525"/>
                </a:solidFill>
                <a:latin typeface="Garamond"/>
                <a:ea typeface="Garamond"/>
                <a:cs typeface="Garamond"/>
                <a:sym typeface="Garamond"/>
              </a:rPr>
              <a:t>:</a:t>
            </a:r>
            <a:r>
              <a:rPr b="1" lang="fr-FR" sz="2000">
                <a:solidFill>
                  <a:srgbClr val="252525"/>
                </a:solidFill>
                <a:latin typeface="Garamond"/>
                <a:ea typeface="Garamond"/>
                <a:cs typeface="Garamond"/>
                <a:sym typeface="Garamond"/>
              </a:rPr>
              <a:t>au moins 2 crises).</a:t>
            </a:r>
            <a:endParaRPr sz="2000">
              <a:latin typeface="Garamond"/>
              <a:ea typeface="Garamond"/>
              <a:cs typeface="Garamond"/>
              <a:sym typeface="Garamond"/>
            </a:endParaRPr>
          </a:p>
          <a:p>
            <a:pPr indent="-310515" lvl="0" marL="335915" marR="19050" rtl="0" algn="l">
              <a:lnSpc>
                <a:spcPct val="118900"/>
              </a:lnSpc>
              <a:spcBef>
                <a:spcPts val="735"/>
              </a:spcBef>
              <a:spcAft>
                <a:spcPts val="0"/>
              </a:spcAft>
              <a:buClr>
                <a:srgbClr val="252525"/>
              </a:buClr>
              <a:buSzPts val="2000"/>
              <a:buFont typeface="Garamond"/>
              <a:buAutoNum type="alphaUcPeriod"/>
            </a:pPr>
            <a:r>
              <a:rPr b="1" lang="fr-FR" sz="2000">
                <a:solidFill>
                  <a:srgbClr val="252525"/>
                </a:solidFill>
                <a:latin typeface="Garamond"/>
                <a:ea typeface="Garamond"/>
                <a:cs typeface="Garamond"/>
                <a:sym typeface="Garamond"/>
              </a:rPr>
              <a:t>Au moins une des attaques s’est accompagnée pendant un mois « ou plus » de l’un « ou plus » des symptômes suivants :</a:t>
            </a:r>
            <a:endParaRPr sz="2000">
              <a:latin typeface="Garamond"/>
              <a:ea typeface="Garamond"/>
              <a:cs typeface="Garamond"/>
              <a:sym typeface="Garamond"/>
            </a:endParaRPr>
          </a:p>
          <a:p>
            <a:pPr indent="-314960" lvl="1" marL="340360" rtl="0" algn="l">
              <a:lnSpc>
                <a:spcPct val="100000"/>
              </a:lnSpc>
              <a:spcBef>
                <a:spcPts val="1580"/>
              </a:spcBef>
              <a:spcAft>
                <a:spcPts val="0"/>
              </a:spcAft>
              <a:buClr>
                <a:srgbClr val="252525"/>
              </a:buClr>
              <a:buSzPts val="2000"/>
              <a:buFont typeface="Garamond"/>
              <a:buAutoNum type="alphaLcParenBoth"/>
            </a:pPr>
            <a:r>
              <a:rPr lang="fr-FR" sz="2000">
                <a:solidFill>
                  <a:srgbClr val="C00000"/>
                </a:solidFill>
                <a:latin typeface="Garamond"/>
                <a:ea typeface="Garamond"/>
                <a:cs typeface="Garamond"/>
                <a:sym typeface="Garamond"/>
              </a:rPr>
              <a:t>Crainte persistante </a:t>
            </a:r>
            <a:r>
              <a:rPr lang="fr-FR" sz="2000">
                <a:solidFill>
                  <a:srgbClr val="252525"/>
                </a:solidFill>
                <a:latin typeface="Garamond"/>
                <a:ea typeface="Garamond"/>
                <a:cs typeface="Garamond"/>
                <a:sym typeface="Garamond"/>
              </a:rPr>
              <a:t>d’avoir d’autres attaques de panique « peur d’avoir peur ».</a:t>
            </a:r>
            <a:endParaRPr sz="2000">
              <a:latin typeface="Garamond"/>
              <a:ea typeface="Garamond"/>
              <a:cs typeface="Garamond"/>
              <a:sym typeface="Garamond"/>
            </a:endParaRPr>
          </a:p>
          <a:p>
            <a:pPr indent="-342265" lvl="1" marL="367665" rtl="0" algn="l">
              <a:lnSpc>
                <a:spcPct val="100000"/>
              </a:lnSpc>
              <a:spcBef>
                <a:spcPts val="1585"/>
              </a:spcBef>
              <a:spcAft>
                <a:spcPts val="0"/>
              </a:spcAft>
              <a:buClr>
                <a:srgbClr val="252525"/>
              </a:buClr>
              <a:buSzPts val="2000"/>
              <a:buFont typeface="Garamond"/>
              <a:buAutoNum type="alphaLcParenBoth"/>
            </a:pPr>
            <a:r>
              <a:rPr lang="fr-FR" sz="2000">
                <a:solidFill>
                  <a:srgbClr val="C00000"/>
                </a:solidFill>
                <a:latin typeface="Garamond"/>
                <a:ea typeface="Garamond"/>
                <a:cs typeface="Garamond"/>
                <a:sym typeface="Garamond"/>
              </a:rPr>
              <a:t>Préoccupations à propos des implications possibles de l’attaque </a:t>
            </a:r>
            <a:r>
              <a:rPr lang="fr-FR" sz="2000">
                <a:solidFill>
                  <a:srgbClr val="252525"/>
                </a:solidFill>
                <a:latin typeface="Garamond"/>
                <a:ea typeface="Garamond"/>
                <a:cs typeface="Garamond"/>
                <a:sym typeface="Garamond"/>
              </a:rPr>
              <a:t>ou bien de ses conséquences.</a:t>
            </a:r>
            <a:endParaRPr sz="2000">
              <a:latin typeface="Garamond"/>
              <a:ea typeface="Garamond"/>
              <a:cs typeface="Garamond"/>
              <a:sym typeface="Garamond"/>
            </a:endParaRPr>
          </a:p>
          <a:p>
            <a:pPr indent="-359410" lvl="1" marL="384810" marR="26669" rtl="0" algn="l">
              <a:lnSpc>
                <a:spcPct val="122000"/>
              </a:lnSpc>
              <a:spcBef>
                <a:spcPts val="975"/>
              </a:spcBef>
              <a:spcAft>
                <a:spcPts val="0"/>
              </a:spcAft>
              <a:buClr>
                <a:srgbClr val="252525"/>
              </a:buClr>
              <a:buSzPts val="2000"/>
              <a:buFont typeface="Garamond"/>
              <a:buAutoNum type="alphaLcParenBoth"/>
            </a:pPr>
            <a:r>
              <a:rPr lang="fr-FR" sz="2000">
                <a:solidFill>
                  <a:srgbClr val="C00000"/>
                </a:solidFill>
                <a:latin typeface="Garamond"/>
                <a:ea typeface="Garamond"/>
                <a:cs typeface="Garamond"/>
                <a:sym typeface="Garamond"/>
              </a:rPr>
              <a:t>Changement de comportement </a:t>
            </a:r>
            <a:r>
              <a:rPr lang="fr-FR" sz="2000">
                <a:solidFill>
                  <a:srgbClr val="252525"/>
                </a:solidFill>
                <a:latin typeface="Garamond"/>
                <a:ea typeface="Garamond"/>
                <a:cs typeface="Garamond"/>
                <a:sym typeface="Garamond"/>
              </a:rPr>
              <a:t>important en relation avec les attaques (en lien avec l’évitement du déclenchement d’une attaque de panique).</a:t>
            </a:r>
            <a:endParaRPr sz="2000">
              <a:latin typeface="Garamond"/>
              <a:ea typeface="Garamond"/>
              <a:cs typeface="Garamond"/>
              <a:sym typeface="Garamond"/>
            </a:endParaRPr>
          </a:p>
          <a:p>
            <a:pPr indent="0" lvl="0" marL="25400" rtl="0" algn="l">
              <a:lnSpc>
                <a:spcPct val="100000"/>
              </a:lnSpc>
              <a:spcBef>
                <a:spcPts val="1585"/>
              </a:spcBef>
              <a:spcAft>
                <a:spcPts val="0"/>
              </a:spcAft>
              <a:buNone/>
            </a:pPr>
            <a:r>
              <a:rPr b="1" lang="fr-FR" sz="2000">
                <a:solidFill>
                  <a:srgbClr val="252525"/>
                </a:solidFill>
                <a:latin typeface="Garamond"/>
                <a:ea typeface="Garamond"/>
                <a:cs typeface="Garamond"/>
                <a:sym typeface="Garamond"/>
              </a:rPr>
              <a:t>C. Les attaques de panique ne sont pas dues aux effets physiologiques directs d’une substance ou</a:t>
            </a:r>
            <a:endParaRPr sz="2000">
              <a:latin typeface="Garamond"/>
              <a:ea typeface="Garamond"/>
              <a:cs typeface="Garamond"/>
              <a:sym typeface="Garamond"/>
            </a:endParaRPr>
          </a:p>
          <a:p>
            <a:pPr indent="0" lvl="0" marL="25400" rtl="0" algn="l">
              <a:lnSpc>
                <a:spcPct val="100000"/>
              </a:lnSpc>
              <a:spcBef>
                <a:spcPts val="450"/>
              </a:spcBef>
              <a:spcAft>
                <a:spcPts val="0"/>
              </a:spcAft>
              <a:buNone/>
            </a:pPr>
            <a:r>
              <a:rPr b="1" lang="fr-FR" sz="2000">
                <a:solidFill>
                  <a:srgbClr val="252525"/>
                </a:solidFill>
                <a:latin typeface="Garamond"/>
                <a:ea typeface="Garamond"/>
                <a:cs typeface="Garamond"/>
                <a:sym typeface="Garamond"/>
              </a:rPr>
              <a:t>d’une affection médicale générale.</a:t>
            </a:r>
            <a:endParaRPr sz="2000">
              <a:latin typeface="Garamond"/>
              <a:ea typeface="Garamond"/>
              <a:cs typeface="Garamond"/>
              <a:sym typeface="Garamond"/>
            </a:endParaRPr>
          </a:p>
          <a:p>
            <a:pPr indent="0" lvl="0" marL="25400" rtl="0" algn="l">
              <a:lnSpc>
                <a:spcPct val="100000"/>
              </a:lnSpc>
              <a:spcBef>
                <a:spcPts val="1580"/>
              </a:spcBef>
              <a:spcAft>
                <a:spcPts val="0"/>
              </a:spcAft>
              <a:buNone/>
            </a:pPr>
            <a:r>
              <a:rPr b="1" lang="fr-FR" sz="2000">
                <a:solidFill>
                  <a:srgbClr val="252525"/>
                </a:solidFill>
                <a:latin typeface="Garamond"/>
                <a:ea typeface="Garamond"/>
                <a:cs typeface="Garamond"/>
                <a:sym typeface="Garamond"/>
              </a:rPr>
              <a:t>D. Les attaques de panique ne sont pas mieux expliquées par un autre trouble mental.</a:t>
            </a:r>
            <a:endParaRPr sz="2000">
              <a:latin typeface="Garamond"/>
              <a:ea typeface="Garamond"/>
              <a:cs typeface="Garamond"/>
              <a:sym typeface="Garamon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pic>
        <p:nvPicPr>
          <p:cNvPr id="366" name="Google Shape;366;p38"/>
          <p:cNvPicPr preferRelativeResize="0"/>
          <p:nvPr/>
        </p:nvPicPr>
        <p:blipFill rotWithShape="1">
          <a:blip r:embed="rId3">
            <a:alphaModFix/>
          </a:blip>
          <a:srcRect b="0" l="0" r="0" t="0"/>
          <a:stretch/>
        </p:blipFill>
        <p:spPr>
          <a:xfrm>
            <a:off x="3867150" y="1323975"/>
            <a:ext cx="4210050" cy="4210050"/>
          </a:xfrm>
          <a:prstGeom prst="rect">
            <a:avLst/>
          </a:prstGeom>
          <a:noFill/>
          <a:ln>
            <a:noFill/>
          </a:ln>
        </p:spPr>
      </p:pic>
      <p:sp>
        <p:nvSpPr>
          <p:cNvPr id="367" name="Google Shape;367;p3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9"/>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73" name="Google Shape;373;p39"/>
          <p:cNvSpPr txBox="1"/>
          <p:nvPr>
            <p:ph type="title"/>
          </p:nvPr>
        </p:nvSpPr>
        <p:spPr>
          <a:xfrm>
            <a:off x="802005" y="636905"/>
            <a:ext cx="10587989" cy="1671955"/>
          </a:xfrm>
          <a:prstGeom prst="rect">
            <a:avLst/>
          </a:prstGeom>
          <a:noFill/>
          <a:ln>
            <a:noFill/>
          </a:ln>
        </p:spPr>
        <p:txBody>
          <a:bodyPr anchorCtr="0" anchor="t" bIns="0" lIns="0" spcFirstLastPara="1" rIns="0" wrap="square" tIns="640700">
            <a:spAutoFit/>
          </a:bodyPr>
          <a:lstStyle/>
          <a:p>
            <a:pPr indent="0" lvl="0" marL="581660" rtl="0" algn="l">
              <a:lnSpc>
                <a:spcPct val="100000"/>
              </a:lnSpc>
              <a:spcBef>
                <a:spcPts val="0"/>
              </a:spcBef>
              <a:spcAft>
                <a:spcPts val="0"/>
              </a:spcAft>
              <a:buNone/>
            </a:pPr>
            <a:r>
              <a:rPr lang="fr-FR">
                <a:solidFill>
                  <a:srgbClr val="000000"/>
                </a:solidFill>
              </a:rPr>
              <a:t>Le trouble anxiété généralisée se caractérise par :</a:t>
            </a:r>
            <a:endParaRPr/>
          </a:p>
        </p:txBody>
      </p:sp>
      <p:sp>
        <p:nvSpPr>
          <p:cNvPr id="374" name="Google Shape;374;p3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375" name="Google Shape;375;p39"/>
          <p:cNvSpPr txBox="1"/>
          <p:nvPr/>
        </p:nvSpPr>
        <p:spPr>
          <a:xfrm>
            <a:off x="1371600" y="2754633"/>
            <a:ext cx="7381240" cy="2218556"/>
          </a:xfrm>
          <a:prstGeom prst="rect">
            <a:avLst/>
          </a:prstGeom>
          <a:noFill/>
          <a:ln>
            <a:noFill/>
          </a:ln>
        </p:spPr>
        <p:txBody>
          <a:bodyPr anchorCtr="0" anchor="t" bIns="0" lIns="0" spcFirstLastPara="1" rIns="0" wrap="square" tIns="0">
            <a:spAutoFit/>
          </a:bodyPr>
          <a:lstStyle/>
          <a:p>
            <a:pPr indent="-514350" lvl="0" marL="527050" rtl="0" algn="l">
              <a:lnSpc>
                <a:spcPct val="134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imagination de « scénarios catastrophe »</a:t>
            </a:r>
            <a:endParaRPr sz="2750">
              <a:solidFill>
                <a:srgbClr val="FF0000"/>
              </a:solidFill>
              <a:latin typeface="Garamond"/>
              <a:ea typeface="Garamond"/>
              <a:cs typeface="Garamond"/>
              <a:sym typeface="Garamond"/>
            </a:endParaRPr>
          </a:p>
          <a:p>
            <a:pPr indent="-513715" lvl="0" marL="526415" rtl="0" algn="l">
              <a:lnSpc>
                <a:spcPct val="100000"/>
              </a:lnSpc>
              <a:spcBef>
                <a:spcPts val="140"/>
              </a:spcBef>
              <a:spcAft>
                <a:spcPts val="0"/>
              </a:spcAft>
              <a:buClr>
                <a:srgbClr val="83992A"/>
              </a:buClr>
              <a:buSzPts val="3200"/>
              <a:buFont typeface="Garamond"/>
              <a:buAutoNum type="alphaUcPeriod"/>
            </a:pPr>
            <a:r>
              <a:rPr b="1" lang="fr-FR" sz="2750">
                <a:latin typeface="Garamond"/>
                <a:ea typeface="Garamond"/>
                <a:cs typeface="Garamond"/>
                <a:sym typeface="Garamond"/>
              </a:rPr>
              <a:t>Un évitement social</a:t>
            </a:r>
            <a:endParaRPr sz="2750">
              <a:latin typeface="Garamond"/>
              <a:ea typeface="Garamond"/>
              <a:cs typeface="Garamond"/>
              <a:sym typeface="Garamond"/>
            </a:endParaRPr>
          </a:p>
          <a:p>
            <a:pPr indent="-513715" lvl="0" marL="526415" rtl="0" algn="l">
              <a:lnSpc>
                <a:spcPct val="100000"/>
              </a:lnSpc>
              <a:spcBef>
                <a:spcPts val="140"/>
              </a:spcBef>
              <a:spcAft>
                <a:spcPts val="0"/>
              </a:spcAft>
              <a:buClr>
                <a:srgbClr val="83992A"/>
              </a:buClr>
              <a:buSzPts val="3200"/>
              <a:buFont typeface="Garamond"/>
              <a:buAutoNum type="alphaUcPeriod"/>
            </a:pPr>
            <a:r>
              <a:rPr b="1" lang="fr-FR" sz="2750">
                <a:latin typeface="Garamond"/>
                <a:ea typeface="Garamond"/>
                <a:cs typeface="Garamond"/>
                <a:sym typeface="Garamond"/>
              </a:rPr>
              <a:t>Une anxiété anticipatoire</a:t>
            </a:r>
            <a:endParaRPr sz="2750">
              <a:latin typeface="Garamond"/>
              <a:ea typeface="Garamond"/>
              <a:cs typeface="Garamond"/>
              <a:sym typeface="Garamond"/>
            </a:endParaRPr>
          </a:p>
          <a:p>
            <a:pPr indent="-514350" lvl="0" marL="527050" rtl="0" algn="l">
              <a:lnSpc>
                <a:spcPct val="100000"/>
              </a:lnSpc>
              <a:spcBef>
                <a:spcPts val="6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Des trous de mémoire</a:t>
            </a:r>
            <a:endParaRPr sz="2750">
              <a:solidFill>
                <a:srgbClr val="FF0000"/>
              </a:solidFill>
              <a:latin typeface="Garamond"/>
              <a:ea typeface="Garamond"/>
              <a:cs typeface="Garamond"/>
              <a:sym typeface="Garamond"/>
            </a:endParaRPr>
          </a:p>
          <a:p>
            <a:pPr indent="-513715" lvl="0" marL="526415" rtl="0" algn="l">
              <a:lnSpc>
                <a:spcPct val="100000"/>
              </a:lnSpc>
              <a:spcBef>
                <a:spcPts val="1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Des plaintes somatiques multiples</a:t>
            </a:r>
            <a:endParaRPr sz="2750">
              <a:solidFill>
                <a:srgbClr val="FF0000"/>
              </a:solidFill>
              <a:latin typeface="Garamond"/>
              <a:ea typeface="Garamond"/>
              <a:cs typeface="Garamond"/>
              <a:sym typeface="Garamon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0"/>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81" name="Google Shape;381;p40"/>
          <p:cNvSpPr txBox="1"/>
          <p:nvPr>
            <p:ph type="title"/>
          </p:nvPr>
        </p:nvSpPr>
        <p:spPr>
          <a:xfrm>
            <a:off x="802005" y="636905"/>
            <a:ext cx="10587989" cy="1340109"/>
          </a:xfrm>
          <a:prstGeom prst="rect">
            <a:avLst/>
          </a:prstGeom>
          <a:noFill/>
          <a:ln>
            <a:noFill/>
          </a:ln>
        </p:spPr>
        <p:txBody>
          <a:bodyPr anchorCtr="0" anchor="t" bIns="0" lIns="0" spcFirstLastPara="1" rIns="0" wrap="square" tIns="725150">
            <a:spAutoFit/>
          </a:bodyPr>
          <a:lstStyle/>
          <a:p>
            <a:pPr indent="0" lvl="0" marL="613410" rtl="0" algn="l">
              <a:lnSpc>
                <a:spcPct val="100000"/>
              </a:lnSpc>
              <a:spcBef>
                <a:spcPts val="0"/>
              </a:spcBef>
              <a:spcAft>
                <a:spcPts val="0"/>
              </a:spcAft>
              <a:buNone/>
            </a:pPr>
            <a:r>
              <a:rPr lang="fr-FR" sz="3950"/>
              <a:t>L’anxiété dans le TAG est:</a:t>
            </a:r>
            <a:endParaRPr sz="3950"/>
          </a:p>
        </p:txBody>
      </p:sp>
      <p:sp>
        <p:nvSpPr>
          <p:cNvPr id="382" name="Google Shape;382;p4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383" name="Google Shape;383;p40"/>
          <p:cNvSpPr txBox="1"/>
          <p:nvPr/>
        </p:nvSpPr>
        <p:spPr>
          <a:xfrm>
            <a:off x="1375028" y="2639694"/>
            <a:ext cx="2699385" cy="2385268"/>
          </a:xfrm>
          <a:prstGeom prst="rect">
            <a:avLst/>
          </a:prstGeom>
          <a:noFill/>
          <a:ln>
            <a:noFill/>
          </a:ln>
        </p:spPr>
        <p:txBody>
          <a:bodyPr anchorCtr="0" anchor="t" bIns="0" lIns="0" spcFirstLastPara="1" rIns="0" wrap="square" tIns="0">
            <a:spAutoFit/>
          </a:bodyPr>
          <a:lstStyle/>
          <a:p>
            <a:pPr indent="-514350" lvl="0" marL="527050" rtl="0" algn="l">
              <a:lnSpc>
                <a:spcPct val="126500"/>
              </a:lnSpc>
              <a:spcBef>
                <a:spcPts val="0"/>
              </a:spcBef>
              <a:spcAft>
                <a:spcPts val="0"/>
              </a:spcAft>
              <a:buClr>
                <a:srgbClr val="83992A"/>
              </a:buClr>
              <a:buSzPts val="3450"/>
              <a:buFont typeface="Garamond"/>
              <a:buAutoNum type="alphaUcPeriod"/>
            </a:pPr>
            <a:r>
              <a:rPr b="1" lang="fr-FR" sz="3000">
                <a:solidFill>
                  <a:srgbClr val="FF0000"/>
                </a:solidFill>
                <a:latin typeface="Garamond"/>
                <a:ea typeface="Garamond"/>
                <a:cs typeface="Garamond"/>
                <a:sym typeface="Garamond"/>
              </a:rPr>
              <a:t>Envahissante</a:t>
            </a:r>
            <a:endParaRPr sz="3000">
              <a:solidFill>
                <a:srgbClr val="FF0000"/>
              </a:solidFill>
              <a:latin typeface="Garamond"/>
              <a:ea typeface="Garamond"/>
              <a:cs typeface="Garamond"/>
              <a:sym typeface="Garamond"/>
            </a:endParaRPr>
          </a:p>
          <a:p>
            <a:pPr indent="-513715" lvl="0" marL="526415" rtl="0" algn="l">
              <a:lnSpc>
                <a:spcPct val="100000"/>
              </a:lnSpc>
              <a:spcBef>
                <a:spcPts val="65"/>
              </a:spcBef>
              <a:spcAft>
                <a:spcPts val="0"/>
              </a:spcAft>
              <a:buClr>
                <a:srgbClr val="83992A"/>
              </a:buClr>
              <a:buSzPts val="3450"/>
              <a:buFont typeface="Garamond"/>
              <a:buAutoNum type="alphaUcPeriod"/>
            </a:pPr>
            <a:r>
              <a:rPr b="1" lang="fr-FR" sz="3000">
                <a:solidFill>
                  <a:srgbClr val="FF0000"/>
                </a:solidFill>
                <a:latin typeface="Garamond"/>
                <a:ea typeface="Garamond"/>
                <a:cs typeface="Garamond"/>
                <a:sym typeface="Garamond"/>
              </a:rPr>
              <a:t>Diffuse</a:t>
            </a:r>
            <a:endParaRPr sz="3000">
              <a:solidFill>
                <a:srgbClr val="FF0000"/>
              </a:solidFill>
              <a:latin typeface="Garamond"/>
              <a:ea typeface="Garamond"/>
              <a:cs typeface="Garamond"/>
              <a:sym typeface="Garamond"/>
            </a:endParaRPr>
          </a:p>
          <a:p>
            <a:pPr indent="-514350" lvl="0" marL="527050" rtl="0" algn="l">
              <a:lnSpc>
                <a:spcPct val="100000"/>
              </a:lnSpc>
              <a:spcBef>
                <a:spcPts val="65"/>
              </a:spcBef>
              <a:spcAft>
                <a:spcPts val="0"/>
              </a:spcAft>
              <a:buClr>
                <a:srgbClr val="83992A"/>
              </a:buClr>
              <a:buSzPts val="3450"/>
              <a:buFont typeface="Garamond"/>
              <a:buAutoNum type="alphaUcPeriod"/>
            </a:pPr>
            <a:r>
              <a:rPr b="1" lang="fr-FR" sz="3000">
                <a:solidFill>
                  <a:srgbClr val="252525"/>
                </a:solidFill>
                <a:latin typeface="Garamond"/>
                <a:ea typeface="Garamond"/>
                <a:cs typeface="Garamond"/>
                <a:sym typeface="Garamond"/>
              </a:rPr>
              <a:t>Justifiée</a:t>
            </a:r>
            <a:endParaRPr sz="3000">
              <a:latin typeface="Garamond"/>
              <a:ea typeface="Garamond"/>
              <a:cs typeface="Garamond"/>
              <a:sym typeface="Garamond"/>
            </a:endParaRPr>
          </a:p>
          <a:p>
            <a:pPr indent="-514350" lvl="0" marL="527050" rtl="0" algn="l">
              <a:lnSpc>
                <a:spcPct val="100000"/>
              </a:lnSpc>
              <a:spcBef>
                <a:spcPts val="65"/>
              </a:spcBef>
              <a:spcAft>
                <a:spcPts val="0"/>
              </a:spcAft>
              <a:buClr>
                <a:srgbClr val="83992A"/>
              </a:buClr>
              <a:buSzPts val="3450"/>
              <a:buFont typeface="Garamond"/>
              <a:buAutoNum type="alphaUcPeriod"/>
            </a:pPr>
            <a:r>
              <a:rPr b="1" lang="fr-FR" sz="3000">
                <a:solidFill>
                  <a:srgbClr val="FF0000"/>
                </a:solidFill>
                <a:latin typeface="Garamond"/>
                <a:ea typeface="Garamond"/>
                <a:cs typeface="Garamond"/>
                <a:sym typeface="Garamond"/>
              </a:rPr>
              <a:t>Incontrôlable</a:t>
            </a:r>
            <a:endParaRPr sz="3000">
              <a:solidFill>
                <a:srgbClr val="FF0000"/>
              </a:solidFill>
              <a:latin typeface="Garamond"/>
              <a:ea typeface="Garamond"/>
              <a:cs typeface="Garamond"/>
              <a:sym typeface="Garamond"/>
            </a:endParaRPr>
          </a:p>
          <a:p>
            <a:pPr indent="-514350" lvl="0" marL="527050" rtl="0" algn="l">
              <a:lnSpc>
                <a:spcPct val="100000"/>
              </a:lnSpc>
              <a:spcBef>
                <a:spcPts val="70"/>
              </a:spcBef>
              <a:spcAft>
                <a:spcPts val="0"/>
              </a:spcAft>
              <a:buClr>
                <a:srgbClr val="83992A"/>
              </a:buClr>
              <a:buSzPts val="3450"/>
              <a:buFont typeface="Garamond"/>
              <a:buAutoNum type="alphaUcPeriod"/>
            </a:pPr>
            <a:r>
              <a:rPr b="1" lang="fr-FR" sz="3000">
                <a:solidFill>
                  <a:srgbClr val="252525"/>
                </a:solidFill>
                <a:latin typeface="Garamond"/>
                <a:ea typeface="Garamond"/>
                <a:cs typeface="Garamond"/>
                <a:sym typeface="Garamond"/>
              </a:rPr>
              <a:t>Transitoire</a:t>
            </a:r>
            <a:endParaRPr sz="3000">
              <a:latin typeface="Garamond"/>
              <a:ea typeface="Garamond"/>
              <a:cs typeface="Garamond"/>
              <a:sym typeface="Garamon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1"/>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89" name="Google Shape;389;p41"/>
          <p:cNvSpPr txBox="1"/>
          <p:nvPr>
            <p:ph type="title"/>
          </p:nvPr>
        </p:nvSpPr>
        <p:spPr>
          <a:xfrm>
            <a:off x="802005" y="636905"/>
            <a:ext cx="10587989" cy="1671955"/>
          </a:xfrm>
          <a:prstGeom prst="rect">
            <a:avLst/>
          </a:prstGeom>
          <a:noFill/>
          <a:ln>
            <a:noFill/>
          </a:ln>
        </p:spPr>
        <p:txBody>
          <a:bodyPr anchorCtr="0" anchor="t" bIns="0" lIns="0" spcFirstLastPara="1" rIns="0" wrap="square" tIns="354700">
            <a:spAutoFit/>
          </a:bodyPr>
          <a:lstStyle/>
          <a:p>
            <a:pPr indent="0" lvl="0" marL="585470" rtl="0" algn="l">
              <a:lnSpc>
                <a:spcPct val="100000"/>
              </a:lnSpc>
              <a:spcBef>
                <a:spcPts val="0"/>
              </a:spcBef>
              <a:spcAft>
                <a:spcPts val="0"/>
              </a:spcAft>
              <a:buNone/>
            </a:pPr>
            <a:r>
              <a:rPr lang="fr-FR" sz="3950">
                <a:solidFill>
                  <a:srgbClr val="000000"/>
                </a:solidFill>
              </a:rPr>
              <a:t>Le trouble d’anxiété généralisée (TAG) se</a:t>
            </a:r>
            <a:endParaRPr sz="3950"/>
          </a:p>
          <a:p>
            <a:pPr indent="0" lvl="0" marL="585470" rtl="0" algn="l">
              <a:lnSpc>
                <a:spcPct val="100000"/>
              </a:lnSpc>
              <a:spcBef>
                <a:spcPts val="65"/>
              </a:spcBef>
              <a:spcAft>
                <a:spcPts val="0"/>
              </a:spcAft>
              <a:buNone/>
            </a:pPr>
            <a:r>
              <a:rPr lang="fr-FR" sz="3950">
                <a:solidFill>
                  <a:srgbClr val="000000"/>
                </a:solidFill>
              </a:rPr>
              <a:t>caractérise par :</a:t>
            </a:r>
            <a:endParaRPr sz="3950"/>
          </a:p>
        </p:txBody>
      </p:sp>
      <p:sp>
        <p:nvSpPr>
          <p:cNvPr id="390" name="Google Shape;390;p4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391" name="Google Shape;391;p41"/>
          <p:cNvSpPr txBox="1"/>
          <p:nvPr/>
        </p:nvSpPr>
        <p:spPr>
          <a:xfrm>
            <a:off x="1111567" y="2510658"/>
            <a:ext cx="9869170" cy="2926080"/>
          </a:xfrm>
          <a:prstGeom prst="rect">
            <a:avLst/>
          </a:prstGeom>
          <a:noFill/>
          <a:ln>
            <a:noFill/>
          </a:ln>
        </p:spPr>
        <p:txBody>
          <a:bodyPr anchorCtr="0" anchor="t" bIns="0" lIns="0" spcFirstLastPara="1" rIns="0" wrap="square" tIns="200650">
            <a:spAutoFit/>
          </a:bodyPr>
          <a:lstStyle/>
          <a:p>
            <a:pPr indent="-351155" lvl="0" marL="363855" rtl="0" algn="l">
              <a:lnSpc>
                <a:spcPct val="100000"/>
              </a:lnSpc>
              <a:spcBef>
                <a:spcPts val="0"/>
              </a:spcBef>
              <a:spcAft>
                <a:spcPts val="0"/>
              </a:spcAft>
              <a:buClr>
                <a:srgbClr val="252525"/>
              </a:buClr>
              <a:buSzPts val="2400"/>
              <a:buFont typeface="Garamond"/>
              <a:buAutoNum type="alphaUcPeriod"/>
            </a:pPr>
            <a:r>
              <a:rPr b="1" lang="fr-FR" sz="2400">
                <a:solidFill>
                  <a:srgbClr val="252525"/>
                </a:solidFill>
                <a:latin typeface="Garamond"/>
                <a:ea typeface="Garamond"/>
                <a:cs typeface="Garamond"/>
                <a:sym typeface="Garamond"/>
              </a:rPr>
              <a:t>Des attaques de panique soudaines et imprévisibles</a:t>
            </a:r>
            <a:endParaRPr sz="2400">
              <a:latin typeface="Garamond"/>
              <a:ea typeface="Garamond"/>
              <a:cs typeface="Garamond"/>
              <a:sym typeface="Garamond"/>
            </a:endParaRPr>
          </a:p>
          <a:p>
            <a:pPr indent="-361315" lvl="0" marL="374015" rtl="0" algn="l">
              <a:lnSpc>
                <a:spcPct val="100000"/>
              </a:lnSpc>
              <a:spcBef>
                <a:spcPts val="1480"/>
              </a:spcBef>
              <a:spcAft>
                <a:spcPts val="0"/>
              </a:spcAft>
              <a:buClr>
                <a:srgbClr val="252525"/>
              </a:buClr>
              <a:buSzPts val="2400"/>
              <a:buFont typeface="Garamond"/>
              <a:buAutoNum type="alphaUcPeriod"/>
            </a:pPr>
            <a:r>
              <a:rPr b="1" lang="fr-FR" sz="2400">
                <a:solidFill>
                  <a:srgbClr val="252525"/>
                </a:solidFill>
                <a:latin typeface="Garamond"/>
                <a:ea typeface="Garamond"/>
                <a:cs typeface="Garamond"/>
                <a:sym typeface="Garamond"/>
              </a:rPr>
              <a:t>Une peur intense face à des situations sociales</a:t>
            </a:r>
            <a:endParaRPr sz="2400">
              <a:latin typeface="Garamond"/>
              <a:ea typeface="Garamond"/>
              <a:cs typeface="Garamond"/>
              <a:sym typeface="Garamond"/>
            </a:endParaRPr>
          </a:p>
          <a:p>
            <a:pPr indent="-369570" lvl="0" marL="382270" rtl="0" algn="l">
              <a:lnSpc>
                <a:spcPct val="100000"/>
              </a:lnSpc>
              <a:spcBef>
                <a:spcPts val="1395"/>
              </a:spcBef>
              <a:spcAft>
                <a:spcPts val="0"/>
              </a:spcAft>
              <a:buClr>
                <a:srgbClr val="FF0000"/>
              </a:buClr>
              <a:buSzPts val="2400"/>
              <a:buFont typeface="Garamond"/>
              <a:buAutoNum type="alphaUcPeriod"/>
            </a:pPr>
            <a:r>
              <a:rPr b="1" lang="fr-FR" sz="2400">
                <a:solidFill>
                  <a:srgbClr val="FF0000"/>
                </a:solidFill>
                <a:latin typeface="Garamond"/>
                <a:ea typeface="Garamond"/>
                <a:cs typeface="Garamond"/>
                <a:sym typeface="Garamond"/>
              </a:rPr>
              <a:t>Une inquiétude excessive et persistante dans plusieurs domaines de la vie</a:t>
            </a:r>
            <a:endParaRPr sz="2400">
              <a:solidFill>
                <a:srgbClr val="FF0000"/>
              </a:solidFill>
              <a:latin typeface="Garamond"/>
              <a:ea typeface="Garamond"/>
              <a:cs typeface="Garamond"/>
              <a:sym typeface="Garamond"/>
            </a:endParaRPr>
          </a:p>
          <a:p>
            <a:pPr indent="-380365" lvl="0" marL="393065" rtl="0" algn="l">
              <a:lnSpc>
                <a:spcPct val="100000"/>
              </a:lnSpc>
              <a:spcBef>
                <a:spcPts val="1480"/>
              </a:spcBef>
              <a:spcAft>
                <a:spcPts val="0"/>
              </a:spcAft>
              <a:buClr>
                <a:srgbClr val="252525"/>
              </a:buClr>
              <a:buSzPts val="2400"/>
              <a:buFont typeface="Garamond"/>
              <a:buAutoNum type="alphaUcPeriod"/>
            </a:pPr>
            <a:r>
              <a:rPr b="1" lang="fr-FR" sz="2400">
                <a:solidFill>
                  <a:srgbClr val="252525"/>
                </a:solidFill>
                <a:latin typeface="Garamond"/>
                <a:ea typeface="Garamond"/>
                <a:cs typeface="Garamond"/>
                <a:sym typeface="Garamond"/>
              </a:rPr>
              <a:t>Des pensées intrusives et des compulsions</a:t>
            </a:r>
            <a:endParaRPr sz="2400">
              <a:latin typeface="Garamond"/>
              <a:ea typeface="Garamond"/>
              <a:cs typeface="Garamond"/>
              <a:sym typeface="Garamond"/>
            </a:endParaRPr>
          </a:p>
          <a:p>
            <a:pPr indent="-370840" lvl="0" marL="383540" rtl="0" algn="l">
              <a:lnSpc>
                <a:spcPct val="100000"/>
              </a:lnSpc>
              <a:spcBef>
                <a:spcPts val="2600"/>
              </a:spcBef>
              <a:spcAft>
                <a:spcPts val="0"/>
              </a:spcAft>
              <a:buClr>
                <a:srgbClr val="FF0000"/>
              </a:buClr>
              <a:buSzPts val="2400"/>
              <a:buFont typeface="Garamond"/>
              <a:buAutoNum type="alphaUcPeriod"/>
            </a:pPr>
            <a:r>
              <a:rPr b="1" lang="fr-FR" sz="2400">
                <a:solidFill>
                  <a:srgbClr val="FF0000"/>
                </a:solidFill>
                <a:latin typeface="Garamond"/>
                <a:ea typeface="Garamond"/>
                <a:cs typeface="Garamond"/>
                <a:sym typeface="Garamond"/>
              </a:rPr>
              <a:t>Un	état	d’hyper vigilance</a:t>
            </a:r>
            <a:endParaRPr sz="2400">
              <a:solidFill>
                <a:srgbClr val="FF0000"/>
              </a:solidFill>
              <a:latin typeface="Garamond"/>
              <a:ea typeface="Garamond"/>
              <a:cs typeface="Garamond"/>
              <a:sym typeface="Garamon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2"/>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97" name="Google Shape;397;p42"/>
          <p:cNvSpPr txBox="1"/>
          <p:nvPr>
            <p:ph type="title"/>
          </p:nvPr>
        </p:nvSpPr>
        <p:spPr>
          <a:xfrm>
            <a:off x="802005" y="636905"/>
            <a:ext cx="10587989" cy="1671955"/>
          </a:xfrm>
          <a:prstGeom prst="rect">
            <a:avLst/>
          </a:prstGeom>
          <a:noFill/>
          <a:ln>
            <a:noFill/>
          </a:ln>
        </p:spPr>
        <p:txBody>
          <a:bodyPr anchorCtr="0" anchor="t" bIns="0" lIns="0" spcFirstLastPara="1" rIns="0" wrap="square" tIns="16500">
            <a:spAutoFit/>
          </a:bodyPr>
          <a:lstStyle/>
          <a:p>
            <a:pPr indent="0" lvl="0" marL="585470" rtl="0" algn="l">
              <a:lnSpc>
                <a:spcPct val="100000"/>
              </a:lnSpc>
              <a:spcBef>
                <a:spcPts val="0"/>
              </a:spcBef>
              <a:spcAft>
                <a:spcPts val="0"/>
              </a:spcAft>
              <a:buNone/>
            </a:pPr>
            <a:r>
              <a:rPr lang="fr-FR" sz="3950">
                <a:solidFill>
                  <a:srgbClr val="000000"/>
                </a:solidFill>
              </a:rPr>
              <a:t>Parmi les symptômes suivants, lequel n’est</a:t>
            </a:r>
            <a:endParaRPr sz="3950"/>
          </a:p>
          <a:p>
            <a:pPr indent="0" lvl="0" marL="585470" rtl="0" algn="l">
              <a:lnSpc>
                <a:spcPct val="100000"/>
              </a:lnSpc>
              <a:spcBef>
                <a:spcPts val="65"/>
              </a:spcBef>
              <a:spcAft>
                <a:spcPts val="0"/>
              </a:spcAft>
              <a:buNone/>
            </a:pPr>
            <a:r>
              <a:rPr lang="fr-FR" sz="3950">
                <a:solidFill>
                  <a:srgbClr val="000000"/>
                </a:solidFill>
              </a:rPr>
              <a:t>pas typique du TAG ?</a:t>
            </a:r>
            <a:endParaRPr sz="3950"/>
          </a:p>
        </p:txBody>
      </p:sp>
      <p:sp>
        <p:nvSpPr>
          <p:cNvPr id="398" name="Google Shape;398;p4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399" name="Google Shape;399;p42"/>
          <p:cNvSpPr txBox="1"/>
          <p:nvPr/>
        </p:nvSpPr>
        <p:spPr>
          <a:xfrm>
            <a:off x="1395349" y="2423100"/>
            <a:ext cx="3155950" cy="3077210"/>
          </a:xfrm>
          <a:prstGeom prst="rect">
            <a:avLst/>
          </a:prstGeom>
          <a:noFill/>
          <a:ln>
            <a:noFill/>
          </a:ln>
        </p:spPr>
        <p:txBody>
          <a:bodyPr anchorCtr="0" anchor="t" bIns="0" lIns="0" spcFirstLastPara="1" rIns="0" wrap="square" tIns="199375">
            <a:spAutoFit/>
          </a:bodyPr>
          <a:lstStyle/>
          <a:p>
            <a:pPr indent="-351790" lvl="0" marL="364490" rtl="0" algn="l">
              <a:lnSpc>
                <a:spcPct val="100000"/>
              </a:lnSpc>
              <a:spcBef>
                <a:spcPts val="0"/>
              </a:spcBef>
              <a:spcAft>
                <a:spcPts val="0"/>
              </a:spcAft>
              <a:buClr>
                <a:srgbClr val="252525"/>
              </a:buClr>
              <a:buSzPts val="2400"/>
              <a:buFont typeface="Garamond"/>
              <a:buAutoNum type="alphaUcPeriod"/>
            </a:pPr>
            <a:r>
              <a:rPr b="1" lang="fr-FR" sz="2400">
                <a:solidFill>
                  <a:srgbClr val="252525"/>
                </a:solidFill>
                <a:latin typeface="Garamond"/>
                <a:ea typeface="Garamond"/>
                <a:cs typeface="Garamond"/>
                <a:sym typeface="Garamond"/>
              </a:rPr>
              <a:t>Fatigue</a:t>
            </a:r>
            <a:endParaRPr sz="2400">
              <a:latin typeface="Garamond"/>
              <a:ea typeface="Garamond"/>
              <a:cs typeface="Garamond"/>
              <a:sym typeface="Garamond"/>
            </a:endParaRPr>
          </a:p>
          <a:p>
            <a:pPr indent="-360680" lvl="0" marL="373380" rtl="0" algn="l">
              <a:lnSpc>
                <a:spcPct val="100000"/>
              </a:lnSpc>
              <a:spcBef>
                <a:spcPts val="1475"/>
              </a:spcBef>
              <a:spcAft>
                <a:spcPts val="0"/>
              </a:spcAft>
              <a:buClr>
                <a:srgbClr val="252525"/>
              </a:buClr>
              <a:buSzPts val="2400"/>
              <a:buFont typeface="Garamond"/>
              <a:buAutoNum type="alphaUcPeriod"/>
            </a:pPr>
            <a:r>
              <a:rPr b="1" lang="fr-FR" sz="2400">
                <a:solidFill>
                  <a:srgbClr val="252525"/>
                </a:solidFill>
                <a:latin typeface="Garamond"/>
                <a:ea typeface="Garamond"/>
                <a:cs typeface="Garamond"/>
                <a:sym typeface="Garamond"/>
              </a:rPr>
              <a:t>Tension musculaire</a:t>
            </a:r>
            <a:endParaRPr sz="2400">
              <a:latin typeface="Garamond"/>
              <a:ea typeface="Garamond"/>
              <a:cs typeface="Garamond"/>
              <a:sym typeface="Garamond"/>
            </a:endParaRPr>
          </a:p>
          <a:p>
            <a:pPr indent="-370840" lvl="0" marL="383540" rtl="0" algn="l">
              <a:lnSpc>
                <a:spcPct val="100000"/>
              </a:lnSpc>
              <a:spcBef>
                <a:spcPts val="1400"/>
              </a:spcBef>
              <a:spcAft>
                <a:spcPts val="0"/>
              </a:spcAft>
              <a:buClr>
                <a:srgbClr val="FF0000"/>
              </a:buClr>
              <a:buSzPts val="2400"/>
              <a:buFont typeface="Garamond"/>
              <a:buAutoNum type="alphaUcPeriod"/>
            </a:pPr>
            <a:r>
              <a:rPr b="1" lang="fr-FR" sz="2400">
                <a:solidFill>
                  <a:srgbClr val="FF0000"/>
                </a:solidFill>
                <a:latin typeface="Garamond"/>
                <a:ea typeface="Garamond"/>
                <a:cs typeface="Garamond"/>
                <a:sym typeface="Garamond"/>
              </a:rPr>
              <a:t>idées délirantes</a:t>
            </a:r>
            <a:endParaRPr sz="2400">
              <a:solidFill>
                <a:srgbClr val="FF0000"/>
              </a:solidFill>
              <a:latin typeface="Garamond"/>
              <a:ea typeface="Garamond"/>
              <a:cs typeface="Garamond"/>
              <a:sym typeface="Garamond"/>
            </a:endParaRPr>
          </a:p>
          <a:p>
            <a:pPr indent="-380365" lvl="0" marL="393065" rtl="0" algn="l">
              <a:lnSpc>
                <a:spcPct val="100000"/>
              </a:lnSpc>
              <a:spcBef>
                <a:spcPts val="2680"/>
              </a:spcBef>
              <a:spcAft>
                <a:spcPts val="0"/>
              </a:spcAft>
              <a:buClr>
                <a:srgbClr val="252525"/>
              </a:buClr>
              <a:buSzPts val="2400"/>
              <a:buFont typeface="Garamond"/>
              <a:buAutoNum type="alphaUcPeriod"/>
            </a:pPr>
            <a:r>
              <a:rPr b="1" lang="fr-FR" sz="2400">
                <a:solidFill>
                  <a:srgbClr val="252525"/>
                </a:solidFill>
                <a:latin typeface="Garamond"/>
                <a:ea typeface="Garamond"/>
                <a:cs typeface="Garamond"/>
                <a:sym typeface="Garamond"/>
              </a:rPr>
              <a:t>Troubles du sommeil</a:t>
            </a:r>
            <a:endParaRPr sz="2400">
              <a:latin typeface="Garamond"/>
              <a:ea typeface="Garamond"/>
              <a:cs typeface="Garamond"/>
              <a:sym typeface="Garamond"/>
            </a:endParaRPr>
          </a:p>
          <a:p>
            <a:pPr indent="-370840" lvl="0" marL="383540" rtl="0" algn="l">
              <a:lnSpc>
                <a:spcPct val="100000"/>
              </a:lnSpc>
              <a:spcBef>
                <a:spcPts val="2600"/>
              </a:spcBef>
              <a:spcAft>
                <a:spcPts val="0"/>
              </a:spcAft>
              <a:buClr>
                <a:srgbClr val="252525"/>
              </a:buClr>
              <a:buSzPts val="2400"/>
              <a:buFont typeface="Garamond"/>
              <a:buAutoNum type="alphaUcPeriod"/>
            </a:pPr>
            <a:r>
              <a:rPr b="1" lang="fr-FR" sz="2400">
                <a:solidFill>
                  <a:srgbClr val="252525"/>
                </a:solidFill>
                <a:latin typeface="Garamond"/>
                <a:ea typeface="Garamond"/>
                <a:cs typeface="Garamond"/>
                <a:sym typeface="Garamond"/>
              </a:rPr>
              <a:t>Irritabilité</a:t>
            </a:r>
            <a:endParaRPr sz="2400">
              <a:latin typeface="Garamond"/>
              <a:ea typeface="Garamond"/>
              <a:cs typeface="Garamond"/>
              <a:sym typeface="Garamon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43"/>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05" name="Google Shape;405;p43"/>
          <p:cNvSpPr txBox="1"/>
          <p:nvPr/>
        </p:nvSpPr>
        <p:spPr>
          <a:xfrm>
            <a:off x="1375028" y="692785"/>
            <a:ext cx="9190990" cy="1556385"/>
          </a:xfrm>
          <a:prstGeom prst="rect">
            <a:avLst/>
          </a:prstGeom>
          <a:noFill/>
          <a:ln>
            <a:noFill/>
          </a:ln>
        </p:spPr>
        <p:txBody>
          <a:bodyPr anchorCtr="0" anchor="t" bIns="0" lIns="0" spcFirstLastPara="1" rIns="0" wrap="square" tIns="16500">
            <a:spAutoFit/>
          </a:bodyPr>
          <a:lstStyle/>
          <a:p>
            <a:pPr indent="0" lvl="0" marL="12700" marR="5080" rtl="0" algn="l">
              <a:lnSpc>
                <a:spcPct val="100000"/>
              </a:lnSpc>
              <a:spcBef>
                <a:spcPts val="0"/>
              </a:spcBef>
              <a:spcAft>
                <a:spcPts val="0"/>
              </a:spcAft>
              <a:buNone/>
            </a:pPr>
            <a:r>
              <a:rPr b="1" lang="fr-FR" sz="2000">
                <a:latin typeface="Garamond"/>
                <a:ea typeface="Garamond"/>
                <a:cs typeface="Garamond"/>
                <a:sym typeface="Garamond"/>
              </a:rPr>
              <a:t>Depuis que son mari a fait un infarctus, madame C, âgée de	47 ans, vit dans l’attente continuelle d’une catastrophe « qui ne peut que lui arriver ». Dans la rue elle craint qu’une roue se détache des voitures et ne l’écrase. A peine sortie de son domicile, elle demeure convaincue qu’un de ses proches vient de mourir et retourne à son domicile pour être rassurée. Il s’agit :</a:t>
            </a:r>
            <a:endParaRPr sz="2000">
              <a:latin typeface="Garamond"/>
              <a:ea typeface="Garamond"/>
              <a:cs typeface="Garamond"/>
              <a:sym typeface="Garamond"/>
            </a:endParaRPr>
          </a:p>
        </p:txBody>
      </p:sp>
      <p:sp>
        <p:nvSpPr>
          <p:cNvPr id="406" name="Google Shape;406;p4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407" name="Google Shape;407;p43"/>
          <p:cNvSpPr txBox="1"/>
          <p:nvPr>
            <p:ph type="title"/>
          </p:nvPr>
        </p:nvSpPr>
        <p:spPr>
          <a:xfrm>
            <a:off x="1375028" y="2565082"/>
            <a:ext cx="3575685" cy="3917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fr-FR" sz="2400"/>
              <a:t>A- d’un syndrome dépressif</a:t>
            </a:r>
            <a:endParaRPr sz="2400"/>
          </a:p>
        </p:txBody>
      </p:sp>
      <p:sp>
        <p:nvSpPr>
          <p:cNvPr id="408" name="Google Shape;408;p43"/>
          <p:cNvSpPr txBox="1"/>
          <p:nvPr/>
        </p:nvSpPr>
        <p:spPr>
          <a:xfrm>
            <a:off x="1375028" y="2941220"/>
            <a:ext cx="4563745" cy="2085339"/>
          </a:xfrm>
          <a:prstGeom prst="rect">
            <a:avLst/>
          </a:prstGeom>
          <a:noFill/>
          <a:ln>
            <a:noFill/>
          </a:ln>
        </p:spPr>
        <p:txBody>
          <a:bodyPr anchorCtr="0" anchor="t" bIns="0" lIns="0" spcFirstLastPara="1" rIns="0" wrap="square" tIns="161275">
            <a:spAutoFit/>
          </a:bodyPr>
          <a:lstStyle/>
          <a:p>
            <a:pPr indent="0" lvl="0" marL="12700" rtl="0" algn="l">
              <a:lnSpc>
                <a:spcPct val="100000"/>
              </a:lnSpc>
              <a:spcBef>
                <a:spcPts val="0"/>
              </a:spcBef>
              <a:spcAft>
                <a:spcPts val="0"/>
              </a:spcAft>
              <a:buNone/>
            </a:pPr>
            <a:r>
              <a:rPr b="1" lang="fr-FR" sz="2400">
                <a:solidFill>
                  <a:srgbClr val="252525"/>
                </a:solidFill>
                <a:latin typeface="Garamond"/>
                <a:ea typeface="Garamond"/>
                <a:cs typeface="Garamond"/>
                <a:sym typeface="Garamond"/>
              </a:rPr>
              <a:t>B- d’une agoraphobie</a:t>
            </a:r>
            <a:endParaRPr sz="2400">
              <a:latin typeface="Garamond"/>
              <a:ea typeface="Garamond"/>
              <a:cs typeface="Garamond"/>
              <a:sym typeface="Garamond"/>
            </a:endParaRPr>
          </a:p>
          <a:p>
            <a:pPr indent="0" lvl="0" marL="12700" rtl="0" algn="l">
              <a:lnSpc>
                <a:spcPct val="100000"/>
              </a:lnSpc>
              <a:spcBef>
                <a:spcPts val="1175"/>
              </a:spcBef>
              <a:spcAft>
                <a:spcPts val="0"/>
              </a:spcAft>
              <a:buNone/>
            </a:pPr>
            <a:r>
              <a:rPr b="1" lang="fr-FR" sz="2400">
                <a:solidFill>
                  <a:srgbClr val="252525"/>
                </a:solidFill>
                <a:latin typeface="Garamond"/>
                <a:ea typeface="Garamond"/>
                <a:cs typeface="Garamond"/>
                <a:sym typeface="Garamond"/>
              </a:rPr>
              <a:t>C- D’une schizophrénie</a:t>
            </a:r>
            <a:endParaRPr sz="2400">
              <a:latin typeface="Garamond"/>
              <a:ea typeface="Garamond"/>
              <a:cs typeface="Garamond"/>
              <a:sym typeface="Garamond"/>
            </a:endParaRPr>
          </a:p>
          <a:p>
            <a:pPr indent="0" lvl="0" marL="12700" rtl="0" algn="l">
              <a:lnSpc>
                <a:spcPct val="100000"/>
              </a:lnSpc>
              <a:spcBef>
                <a:spcPts val="1175"/>
              </a:spcBef>
              <a:spcAft>
                <a:spcPts val="0"/>
              </a:spcAft>
              <a:buNone/>
            </a:pPr>
            <a:r>
              <a:rPr b="1" lang="fr-FR" sz="2400">
                <a:solidFill>
                  <a:srgbClr val="252525"/>
                </a:solidFill>
                <a:latin typeface="Garamond"/>
                <a:ea typeface="Garamond"/>
                <a:cs typeface="Garamond"/>
                <a:sym typeface="Garamond"/>
              </a:rPr>
              <a:t>D- </a:t>
            </a:r>
            <a:r>
              <a:rPr b="1" lang="fr-FR" sz="2400">
                <a:solidFill>
                  <a:srgbClr val="FF0000"/>
                </a:solidFill>
                <a:latin typeface="Garamond"/>
                <a:ea typeface="Garamond"/>
                <a:cs typeface="Garamond"/>
                <a:sym typeface="Garamond"/>
              </a:rPr>
              <a:t>d’un trouble anxiété généralisée</a:t>
            </a:r>
            <a:endParaRPr sz="2400">
              <a:solidFill>
                <a:srgbClr val="FF0000"/>
              </a:solidFill>
              <a:latin typeface="Garamond"/>
              <a:ea typeface="Garamond"/>
              <a:cs typeface="Garamond"/>
              <a:sym typeface="Garamond"/>
            </a:endParaRPr>
          </a:p>
          <a:p>
            <a:pPr indent="0" lvl="0" marL="12700" rtl="0" algn="l">
              <a:lnSpc>
                <a:spcPct val="100000"/>
              </a:lnSpc>
              <a:spcBef>
                <a:spcPts val="1175"/>
              </a:spcBef>
              <a:spcAft>
                <a:spcPts val="0"/>
              </a:spcAft>
              <a:buNone/>
            </a:pPr>
            <a:r>
              <a:rPr b="1" lang="fr-FR" sz="2400">
                <a:solidFill>
                  <a:srgbClr val="252525"/>
                </a:solidFill>
                <a:latin typeface="Garamond"/>
                <a:ea typeface="Garamond"/>
                <a:cs typeface="Garamond"/>
                <a:sym typeface="Garamond"/>
              </a:rPr>
              <a:t>E -d’un trouble de conversion</a:t>
            </a:r>
            <a:endParaRPr sz="2400">
              <a:latin typeface="Garamond"/>
              <a:ea typeface="Garamond"/>
              <a:cs typeface="Garamond"/>
              <a:sym typeface="Garamon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4"/>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14" name="Google Shape;414;p44"/>
          <p:cNvSpPr txBox="1"/>
          <p:nvPr>
            <p:ph type="title"/>
          </p:nvPr>
        </p:nvSpPr>
        <p:spPr>
          <a:xfrm>
            <a:off x="802005" y="636905"/>
            <a:ext cx="10587989" cy="1671955"/>
          </a:xfrm>
          <a:prstGeom prst="rect">
            <a:avLst/>
          </a:prstGeom>
          <a:noFill/>
          <a:ln>
            <a:noFill/>
          </a:ln>
        </p:spPr>
        <p:txBody>
          <a:bodyPr anchorCtr="0" anchor="t" bIns="0" lIns="0" spcFirstLastPara="1" rIns="0" wrap="square" tIns="301350">
            <a:spAutoFit/>
          </a:bodyPr>
          <a:lstStyle/>
          <a:p>
            <a:pPr indent="127000" lvl="0" marL="467359" marR="5080" rtl="0" algn="l">
              <a:lnSpc>
                <a:spcPct val="101400"/>
              </a:lnSpc>
              <a:spcBef>
                <a:spcPts val="0"/>
              </a:spcBef>
              <a:spcAft>
                <a:spcPts val="0"/>
              </a:spcAft>
              <a:buNone/>
            </a:pPr>
            <a:r>
              <a:rPr lang="fr-FR" sz="3950"/>
              <a:t>L’ </a:t>
            </a:r>
            <a:r>
              <a:rPr lang="fr-FR" sz="3950">
                <a:solidFill>
                  <a:srgbClr val="000000"/>
                </a:solidFill>
              </a:rPr>
              <a:t>Anxiété chronique non compliquée </a:t>
            </a:r>
            <a:r>
              <a:rPr lang="fr-FR" sz="3950"/>
              <a:t>se manifeste par:</a:t>
            </a:r>
            <a:endParaRPr sz="3950"/>
          </a:p>
        </p:txBody>
      </p:sp>
      <p:sp>
        <p:nvSpPr>
          <p:cNvPr id="415" name="Google Shape;415;p4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416" name="Google Shape;416;p44"/>
          <p:cNvSpPr txBox="1"/>
          <p:nvPr/>
        </p:nvSpPr>
        <p:spPr>
          <a:xfrm>
            <a:off x="1375028" y="2678551"/>
            <a:ext cx="6052185" cy="2568011"/>
          </a:xfrm>
          <a:prstGeom prst="rect">
            <a:avLst/>
          </a:prstGeom>
          <a:noFill/>
          <a:ln>
            <a:noFill/>
          </a:ln>
        </p:spPr>
        <p:txBody>
          <a:bodyPr anchorCtr="0" anchor="t" bIns="0" lIns="0" spcFirstLastPara="1" rIns="0" wrap="square" tIns="53975">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attente craintive</a:t>
            </a:r>
            <a:endParaRPr sz="2750">
              <a:solidFill>
                <a:srgbClr val="FF0000"/>
              </a:solidFill>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chemeClr val="dk1"/>
                </a:solidFill>
                <a:latin typeface="Garamond"/>
                <a:ea typeface="Garamond"/>
                <a:cs typeface="Garamond"/>
                <a:sym typeface="Garamond"/>
              </a:rPr>
              <a:t>Des idées de suicide</a:t>
            </a:r>
            <a:endParaRPr sz="2750">
              <a:solidFill>
                <a:schemeClr val="dk1"/>
              </a:solidFill>
              <a:latin typeface="Garamond"/>
              <a:ea typeface="Garamond"/>
              <a:cs typeface="Garamond"/>
              <a:sym typeface="Garamond"/>
            </a:endParaRPr>
          </a:p>
          <a:p>
            <a:pPr indent="-514350" lvl="0" marL="527050" rtl="0" algn="l">
              <a:lnSpc>
                <a:spcPct val="100000"/>
              </a:lnSpc>
              <a:spcBef>
                <a:spcPts val="82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tension motrice avec fatigabilité</a:t>
            </a:r>
            <a:endParaRPr sz="2750">
              <a:solidFill>
                <a:srgbClr val="FF0000"/>
              </a:solidFill>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insomnie</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hypervigilance</a:t>
            </a:r>
            <a:endParaRPr sz="2750">
              <a:solidFill>
                <a:srgbClr val="FF0000"/>
              </a:solidFill>
              <a:latin typeface="Garamond"/>
              <a:ea typeface="Garamond"/>
              <a:cs typeface="Garamond"/>
              <a:sym typeface="Garamon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5"/>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22" name="Google Shape;422;p45"/>
          <p:cNvSpPr txBox="1"/>
          <p:nvPr>
            <p:ph type="title"/>
          </p:nvPr>
        </p:nvSpPr>
        <p:spPr>
          <a:xfrm>
            <a:off x="802005" y="636905"/>
            <a:ext cx="10587989" cy="1671955"/>
          </a:xfrm>
          <a:prstGeom prst="rect">
            <a:avLst/>
          </a:prstGeom>
          <a:noFill/>
          <a:ln>
            <a:noFill/>
          </a:ln>
        </p:spPr>
        <p:txBody>
          <a:bodyPr anchorCtr="0" anchor="t" bIns="0" lIns="0" spcFirstLastPara="1" rIns="0" wrap="square" tIns="345800">
            <a:spAutoFit/>
          </a:bodyPr>
          <a:lstStyle/>
          <a:p>
            <a:pPr indent="0" lvl="0" marL="585470" marR="5080" rtl="0" algn="l">
              <a:lnSpc>
                <a:spcPct val="101400"/>
              </a:lnSpc>
              <a:spcBef>
                <a:spcPts val="0"/>
              </a:spcBef>
              <a:spcAft>
                <a:spcPts val="0"/>
              </a:spcAft>
              <a:buNone/>
            </a:pPr>
            <a:r>
              <a:rPr lang="fr-FR" sz="3950"/>
              <a:t>Le tableau clinique du trouble anxiété généralisée comporte :</a:t>
            </a:r>
            <a:endParaRPr sz="3950"/>
          </a:p>
        </p:txBody>
      </p:sp>
      <p:sp>
        <p:nvSpPr>
          <p:cNvPr id="423" name="Google Shape;423;p4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424" name="Google Shape;424;p45"/>
          <p:cNvSpPr txBox="1"/>
          <p:nvPr/>
        </p:nvSpPr>
        <p:spPr>
          <a:xfrm>
            <a:off x="1609344" y="2309684"/>
            <a:ext cx="3065145" cy="2568652"/>
          </a:xfrm>
          <a:prstGeom prst="rect">
            <a:avLst/>
          </a:prstGeom>
          <a:noFill/>
          <a:ln>
            <a:noFill/>
          </a:ln>
        </p:spPr>
        <p:txBody>
          <a:bodyPr anchorCtr="0" anchor="t" bIns="0" lIns="0" spcFirstLastPara="1" rIns="0" wrap="square" tIns="546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Cauchemars</a:t>
            </a:r>
            <a:endParaRPr sz="2750">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Idées suicidaires</a:t>
            </a:r>
            <a:endParaRPr sz="2750">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Tension motrice</a:t>
            </a:r>
            <a:endParaRPr sz="2750">
              <a:solidFill>
                <a:srgbClr val="FF0000"/>
              </a:solidFill>
              <a:latin typeface="Garamond"/>
              <a:ea typeface="Garamond"/>
              <a:cs typeface="Garamond"/>
              <a:sym typeface="Garamond"/>
            </a:endParaRPr>
          </a:p>
          <a:p>
            <a:pPr indent="-513715" lvl="0" marL="526415" rtl="0" algn="l">
              <a:lnSpc>
                <a:spcPct val="100000"/>
              </a:lnSpc>
              <a:spcBef>
                <a:spcPts val="74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Hypersomnie</a:t>
            </a:r>
            <a:endParaRPr sz="2750">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Hyper vigilance</a:t>
            </a:r>
            <a:endParaRPr sz="2750">
              <a:solidFill>
                <a:srgbClr val="FF0000"/>
              </a:solidFill>
              <a:latin typeface="Garamond"/>
              <a:ea typeface="Garamond"/>
              <a:cs typeface="Garamond"/>
              <a:sym typeface="Garamon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46"/>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30" name="Google Shape;430;p46"/>
          <p:cNvSpPr txBox="1"/>
          <p:nvPr>
            <p:ph type="title"/>
          </p:nvPr>
        </p:nvSpPr>
        <p:spPr>
          <a:xfrm>
            <a:off x="802005" y="636905"/>
            <a:ext cx="10587989" cy="1671955"/>
          </a:xfrm>
          <a:prstGeom prst="rect">
            <a:avLst/>
          </a:prstGeom>
          <a:noFill/>
          <a:ln>
            <a:noFill/>
          </a:ln>
        </p:spPr>
        <p:txBody>
          <a:bodyPr anchorCtr="0" anchor="t" bIns="0" lIns="0" spcFirstLastPara="1" rIns="0" wrap="square" tIns="690875">
            <a:spAutoFit/>
          </a:bodyPr>
          <a:lstStyle/>
          <a:p>
            <a:pPr indent="0" lvl="0" marL="440055" rtl="0" algn="l">
              <a:lnSpc>
                <a:spcPct val="100000"/>
              </a:lnSpc>
              <a:spcBef>
                <a:spcPts val="0"/>
              </a:spcBef>
              <a:spcAft>
                <a:spcPts val="0"/>
              </a:spcAft>
              <a:buNone/>
            </a:pPr>
            <a:r>
              <a:rPr lang="fr-FR">
                <a:solidFill>
                  <a:srgbClr val="000000"/>
                </a:solidFill>
              </a:rPr>
              <a:t>Le trouble anxiété généralisée se caractérise par :</a:t>
            </a:r>
            <a:endParaRPr/>
          </a:p>
        </p:txBody>
      </p:sp>
      <p:sp>
        <p:nvSpPr>
          <p:cNvPr id="431" name="Google Shape;431;p4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432" name="Google Shape;432;p46"/>
          <p:cNvSpPr txBox="1"/>
          <p:nvPr/>
        </p:nvSpPr>
        <p:spPr>
          <a:xfrm>
            <a:off x="1229994" y="2678551"/>
            <a:ext cx="7529195" cy="2568011"/>
          </a:xfrm>
          <a:prstGeom prst="rect">
            <a:avLst/>
          </a:prstGeom>
          <a:noFill/>
          <a:ln>
            <a:noFill/>
          </a:ln>
        </p:spPr>
        <p:txBody>
          <a:bodyPr anchorCtr="0" anchor="t" bIns="0" lIns="0" spcFirstLastPara="1" rIns="0" wrap="square" tIns="53975">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imagination de « scénarios catastrophes »</a:t>
            </a:r>
            <a:endParaRPr sz="2750">
              <a:solidFill>
                <a:srgbClr val="FF0000"/>
              </a:solidFill>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 évitement social</a:t>
            </a:r>
            <a:endParaRPr sz="2750">
              <a:latin typeface="Garamond"/>
              <a:ea typeface="Garamond"/>
              <a:cs typeface="Garamond"/>
              <a:sym typeface="Garamond"/>
            </a:endParaRPr>
          </a:p>
          <a:p>
            <a:pPr indent="-514350" lvl="0" marL="527050" rtl="0" algn="l">
              <a:lnSpc>
                <a:spcPct val="100000"/>
              </a:lnSpc>
              <a:spcBef>
                <a:spcPts val="82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anxiété anticipatoire</a:t>
            </a:r>
            <a:endParaRPr sz="2750">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hyperesthésie sensorielle</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tendance au pessimisme</a:t>
            </a:r>
            <a:endParaRPr sz="2750">
              <a:latin typeface="Garamond"/>
              <a:ea typeface="Garamond"/>
              <a:cs typeface="Garamond"/>
              <a:sym typeface="Garamon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7"/>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38" name="Google Shape;438;p47"/>
          <p:cNvSpPr txBox="1"/>
          <p:nvPr>
            <p:ph type="title"/>
          </p:nvPr>
        </p:nvSpPr>
        <p:spPr>
          <a:xfrm>
            <a:off x="802005" y="636905"/>
            <a:ext cx="10587989" cy="1671955"/>
          </a:xfrm>
          <a:prstGeom prst="rect">
            <a:avLst/>
          </a:prstGeom>
          <a:noFill/>
          <a:ln>
            <a:noFill/>
          </a:ln>
        </p:spPr>
        <p:txBody>
          <a:bodyPr anchorCtr="0" anchor="t" bIns="0" lIns="0" spcFirstLastPara="1" rIns="0" wrap="square" tIns="687050">
            <a:spAutoFit/>
          </a:bodyPr>
          <a:lstStyle/>
          <a:p>
            <a:pPr indent="0" lvl="0" marL="700405" rtl="0" algn="l">
              <a:lnSpc>
                <a:spcPct val="100000"/>
              </a:lnSpc>
              <a:spcBef>
                <a:spcPts val="0"/>
              </a:spcBef>
              <a:spcAft>
                <a:spcPts val="0"/>
              </a:spcAft>
              <a:buNone/>
            </a:pPr>
            <a:r>
              <a:rPr lang="fr-FR">
                <a:solidFill>
                  <a:srgbClr val="000000"/>
                </a:solidFill>
              </a:rPr>
              <a:t>Au cours de l’anxiété généralisée, on trouve :</a:t>
            </a:r>
            <a:endParaRPr/>
          </a:p>
        </p:txBody>
      </p:sp>
      <p:sp>
        <p:nvSpPr>
          <p:cNvPr id="439" name="Google Shape;439;p4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440" name="Google Shape;440;p47"/>
          <p:cNvSpPr txBox="1"/>
          <p:nvPr/>
        </p:nvSpPr>
        <p:spPr>
          <a:xfrm>
            <a:off x="1375028" y="2563471"/>
            <a:ext cx="5217795" cy="2568011"/>
          </a:xfrm>
          <a:prstGeom prst="rect">
            <a:avLst/>
          </a:prstGeom>
          <a:noFill/>
          <a:ln>
            <a:noFill/>
          </a:ln>
        </p:spPr>
        <p:txBody>
          <a:bodyPr anchorCtr="0" anchor="t" bIns="0" lIns="0" spcFirstLastPara="1" rIns="0" wrap="square" tIns="53975">
            <a:spAutoFit/>
          </a:bodyPr>
          <a:lstStyle/>
          <a:p>
            <a:pPr indent="-546735" lvl="0" marL="559435"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anxiété rebond.</a:t>
            </a:r>
            <a:endParaRPr sz="2750">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anxiété paroxystique.</a:t>
            </a:r>
            <a:endParaRPr sz="2750">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angoisse de castration.</a:t>
            </a:r>
            <a:endParaRPr sz="2750">
              <a:latin typeface="Garamond"/>
              <a:ea typeface="Garamond"/>
              <a:cs typeface="Garamond"/>
              <a:sym typeface="Garamond"/>
            </a:endParaRPr>
          </a:p>
          <a:p>
            <a:pPr indent="-457200" lvl="0" marL="469900"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angoisse de morcellement.</a:t>
            </a:r>
            <a:endParaRPr sz="2750">
              <a:latin typeface="Garamond"/>
              <a:ea typeface="Garamond"/>
              <a:cs typeface="Garamond"/>
              <a:sym typeface="Garamond"/>
            </a:endParaRPr>
          </a:p>
          <a:p>
            <a:pPr indent="-455930" lvl="0" marL="468630"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anxiété flottante.</a:t>
            </a:r>
            <a:endParaRPr sz="2750">
              <a:solidFill>
                <a:srgbClr val="FF0000"/>
              </a:solidFill>
              <a:latin typeface="Garamond"/>
              <a:ea typeface="Garamond"/>
              <a:cs typeface="Garamond"/>
              <a:sym typeface="Garamon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48"/>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46" name="Google Shape;446;p48"/>
          <p:cNvSpPr txBox="1"/>
          <p:nvPr>
            <p:ph type="title"/>
          </p:nvPr>
        </p:nvSpPr>
        <p:spPr>
          <a:xfrm>
            <a:off x="1375028" y="669924"/>
            <a:ext cx="7048500"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solidFill>
                  <a:srgbClr val="000000"/>
                </a:solidFill>
              </a:rPr>
              <a:t>Le trouble anxiété généralisée se caractérise par :</a:t>
            </a:r>
            <a:endParaRPr sz="3950"/>
          </a:p>
        </p:txBody>
      </p:sp>
      <p:sp>
        <p:nvSpPr>
          <p:cNvPr id="447" name="Google Shape;447;p4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448" name="Google Shape;448;p48"/>
          <p:cNvSpPr txBox="1"/>
          <p:nvPr/>
        </p:nvSpPr>
        <p:spPr>
          <a:xfrm>
            <a:off x="1375028" y="2406713"/>
            <a:ext cx="7045959" cy="2648161"/>
          </a:xfrm>
          <a:prstGeom prst="rect">
            <a:avLst/>
          </a:prstGeom>
          <a:noFill/>
          <a:ln>
            <a:noFill/>
          </a:ln>
        </p:spPr>
        <p:txBody>
          <a:bodyPr anchorCtr="0" anchor="t" bIns="0" lIns="0" spcFirstLastPara="1" rIns="0" wrap="square" tIns="171450">
            <a:spAutoFit/>
          </a:bodyPr>
          <a:lstStyle/>
          <a:p>
            <a:pPr indent="-351790" lvl="0" marL="364490" rtl="0" algn="l">
              <a:lnSpc>
                <a:spcPct val="100000"/>
              </a:lnSpc>
              <a:spcBef>
                <a:spcPts val="0"/>
              </a:spcBef>
              <a:spcAft>
                <a:spcPts val="0"/>
              </a:spcAft>
              <a:buSzPts val="2400"/>
              <a:buFont typeface="Garamond"/>
              <a:buAutoNum type="alphaUcPeriod"/>
            </a:pPr>
            <a:r>
              <a:rPr b="1" lang="fr-FR" sz="2400">
                <a:latin typeface="Garamond"/>
                <a:ea typeface="Garamond"/>
                <a:cs typeface="Garamond"/>
                <a:sym typeface="Garamond"/>
              </a:rPr>
              <a:t>la peur des espaces clos</a:t>
            </a:r>
            <a:endParaRPr sz="2400">
              <a:latin typeface="Garamond"/>
              <a:ea typeface="Garamond"/>
              <a:cs typeface="Garamond"/>
              <a:sym typeface="Garamond"/>
            </a:endParaRPr>
          </a:p>
          <a:p>
            <a:pPr indent="-361315" lvl="0" marL="374015" rtl="0" algn="l">
              <a:lnSpc>
                <a:spcPct val="100000"/>
              </a:lnSpc>
              <a:spcBef>
                <a:spcPts val="1250"/>
              </a:spcBef>
              <a:spcAft>
                <a:spcPts val="0"/>
              </a:spcAft>
              <a:buClr>
                <a:srgbClr val="252525"/>
              </a:buClr>
              <a:buSzPts val="2400"/>
              <a:buFont typeface="Garamond"/>
              <a:buAutoNum type="alphaUcPeriod"/>
            </a:pPr>
            <a:r>
              <a:rPr b="1" lang="fr-FR" sz="2400">
                <a:solidFill>
                  <a:srgbClr val="252525"/>
                </a:solidFill>
                <a:latin typeface="Garamond"/>
                <a:ea typeface="Garamond"/>
                <a:cs typeface="Garamond"/>
                <a:sym typeface="Garamond"/>
              </a:rPr>
              <a:t>l’évitement des lieux publics</a:t>
            </a:r>
            <a:endParaRPr sz="2400">
              <a:latin typeface="Garamond"/>
              <a:ea typeface="Garamond"/>
              <a:cs typeface="Garamond"/>
              <a:sym typeface="Garamond"/>
            </a:endParaRPr>
          </a:p>
          <a:p>
            <a:pPr indent="-370840" lvl="0" marL="383540" rtl="0" algn="l">
              <a:lnSpc>
                <a:spcPct val="100000"/>
              </a:lnSpc>
              <a:spcBef>
                <a:spcPts val="1175"/>
              </a:spcBef>
              <a:spcAft>
                <a:spcPts val="0"/>
              </a:spcAft>
              <a:buClr>
                <a:srgbClr val="252525"/>
              </a:buClr>
              <a:buSzPts val="2400"/>
              <a:buFont typeface="Garamond"/>
              <a:buAutoNum type="alphaUcPeriod"/>
            </a:pPr>
            <a:r>
              <a:rPr b="1" lang="fr-FR" sz="2400">
                <a:solidFill>
                  <a:srgbClr val="252525"/>
                </a:solidFill>
                <a:latin typeface="Garamond"/>
                <a:ea typeface="Garamond"/>
                <a:cs typeface="Garamond"/>
                <a:sym typeface="Garamond"/>
              </a:rPr>
              <a:t>la crainte d’avoir une attaque de panique</a:t>
            </a:r>
            <a:endParaRPr sz="2400">
              <a:latin typeface="Garamond"/>
              <a:ea typeface="Garamond"/>
              <a:cs typeface="Garamond"/>
              <a:sym typeface="Garamond"/>
            </a:endParaRPr>
          </a:p>
          <a:p>
            <a:pPr indent="-380365" lvl="0" marL="393065" rtl="0" algn="l">
              <a:lnSpc>
                <a:spcPct val="100000"/>
              </a:lnSpc>
              <a:spcBef>
                <a:spcPts val="1175"/>
              </a:spcBef>
              <a:spcAft>
                <a:spcPts val="0"/>
              </a:spcAft>
              <a:buClr>
                <a:srgbClr val="FF0000"/>
              </a:buClr>
              <a:buSzPts val="2400"/>
              <a:buFont typeface="Garamond"/>
              <a:buAutoNum type="alphaUcPeriod"/>
            </a:pPr>
            <a:r>
              <a:rPr b="1" lang="fr-FR" sz="2400">
                <a:solidFill>
                  <a:srgbClr val="FF0000"/>
                </a:solidFill>
                <a:latin typeface="Garamond"/>
                <a:ea typeface="Garamond"/>
                <a:cs typeface="Garamond"/>
                <a:sym typeface="Garamond"/>
              </a:rPr>
              <a:t>une symptomatologie anxieuse chronique</a:t>
            </a:r>
            <a:endParaRPr sz="2400">
              <a:solidFill>
                <a:srgbClr val="FF0000"/>
              </a:solidFill>
              <a:latin typeface="Garamond"/>
              <a:ea typeface="Garamond"/>
              <a:cs typeface="Garamond"/>
              <a:sym typeface="Garamond"/>
            </a:endParaRPr>
          </a:p>
          <a:p>
            <a:pPr indent="-370840" lvl="0" marL="383540" rtl="0" algn="l">
              <a:lnSpc>
                <a:spcPct val="100000"/>
              </a:lnSpc>
              <a:spcBef>
                <a:spcPts val="1175"/>
              </a:spcBef>
              <a:spcAft>
                <a:spcPts val="0"/>
              </a:spcAft>
              <a:buClr>
                <a:srgbClr val="FF0000"/>
              </a:buClr>
              <a:buSzPts val="2400"/>
              <a:buFont typeface="Garamond"/>
              <a:buAutoNum type="alphaUcPeriod"/>
            </a:pPr>
            <a:r>
              <a:rPr b="1" lang="fr-FR" sz="2400">
                <a:solidFill>
                  <a:srgbClr val="FF0000"/>
                </a:solidFill>
                <a:latin typeface="Garamond"/>
                <a:ea typeface="Garamond"/>
                <a:cs typeface="Garamond"/>
                <a:sym typeface="Garamond"/>
              </a:rPr>
              <a:t>des craintes exagérées face aux soucis du quotidien</a:t>
            </a:r>
            <a:endParaRPr sz="2400">
              <a:solidFill>
                <a:srgbClr val="FF0000"/>
              </a:solidFill>
              <a:latin typeface="Garamond"/>
              <a:ea typeface="Garamond"/>
              <a:cs typeface="Garamond"/>
              <a:sym typeface="Garamon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49"/>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54" name="Google Shape;454;p49"/>
          <p:cNvSpPr txBox="1"/>
          <p:nvPr>
            <p:ph type="title"/>
          </p:nvPr>
        </p:nvSpPr>
        <p:spPr>
          <a:xfrm>
            <a:off x="1375028" y="669924"/>
            <a:ext cx="6998970"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solidFill>
                  <a:srgbClr val="000000"/>
                </a:solidFill>
              </a:rPr>
              <a:t>Dans le cadre du trouble anxiété généralisée, l'inquiétude :</a:t>
            </a:r>
            <a:endParaRPr sz="3950"/>
          </a:p>
        </p:txBody>
      </p:sp>
      <p:sp>
        <p:nvSpPr>
          <p:cNvPr id="455" name="Google Shape;455;p4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456" name="Google Shape;456;p49"/>
          <p:cNvSpPr txBox="1"/>
          <p:nvPr/>
        </p:nvSpPr>
        <p:spPr>
          <a:xfrm>
            <a:off x="1375028" y="2406713"/>
            <a:ext cx="5830570" cy="2648161"/>
          </a:xfrm>
          <a:prstGeom prst="rect">
            <a:avLst/>
          </a:prstGeom>
          <a:noFill/>
          <a:ln>
            <a:noFill/>
          </a:ln>
        </p:spPr>
        <p:txBody>
          <a:bodyPr anchorCtr="0" anchor="t" bIns="0" lIns="0" spcFirstLastPara="1" rIns="0" wrap="square" tIns="171450">
            <a:spAutoFit/>
          </a:bodyPr>
          <a:lstStyle/>
          <a:p>
            <a:pPr indent="-351790" lvl="0" marL="364490" rtl="0" algn="l">
              <a:lnSpc>
                <a:spcPct val="100000"/>
              </a:lnSpc>
              <a:spcBef>
                <a:spcPts val="0"/>
              </a:spcBef>
              <a:spcAft>
                <a:spcPts val="0"/>
              </a:spcAft>
              <a:buClr>
                <a:srgbClr val="FF0000"/>
              </a:buClr>
              <a:buSzPts val="2400"/>
              <a:buFont typeface="Garamond"/>
              <a:buAutoNum type="alphaUcPeriod"/>
            </a:pPr>
            <a:r>
              <a:rPr b="1" lang="fr-FR" sz="2400">
                <a:solidFill>
                  <a:srgbClr val="FF0000"/>
                </a:solidFill>
                <a:latin typeface="Garamond"/>
                <a:ea typeface="Garamond"/>
                <a:cs typeface="Garamond"/>
                <a:sym typeface="Garamond"/>
              </a:rPr>
              <a:t>Concerne plusieurs domaines de la vie</a:t>
            </a:r>
            <a:endParaRPr sz="2400">
              <a:solidFill>
                <a:srgbClr val="FF0000"/>
              </a:solidFill>
              <a:latin typeface="Garamond"/>
              <a:ea typeface="Garamond"/>
              <a:cs typeface="Garamond"/>
              <a:sym typeface="Garamond"/>
            </a:endParaRPr>
          </a:p>
          <a:p>
            <a:pPr indent="-361315" lvl="0" marL="374015" rtl="0" algn="l">
              <a:lnSpc>
                <a:spcPct val="100000"/>
              </a:lnSpc>
              <a:spcBef>
                <a:spcPts val="1250"/>
              </a:spcBef>
              <a:spcAft>
                <a:spcPts val="0"/>
              </a:spcAft>
              <a:buClr>
                <a:srgbClr val="FF0000"/>
              </a:buClr>
              <a:buSzPts val="2400"/>
              <a:buFont typeface="Garamond"/>
              <a:buAutoNum type="alphaUcPeriod"/>
            </a:pPr>
            <a:r>
              <a:rPr b="1" lang="fr-FR" sz="2400">
                <a:solidFill>
                  <a:srgbClr val="FF0000"/>
                </a:solidFill>
                <a:latin typeface="Garamond"/>
                <a:ea typeface="Garamond"/>
                <a:cs typeface="Garamond"/>
                <a:sym typeface="Garamond"/>
              </a:rPr>
              <a:t>Est associée à des symptômes somatiques</a:t>
            </a:r>
            <a:endParaRPr sz="2400">
              <a:solidFill>
                <a:srgbClr val="FF0000"/>
              </a:solidFill>
              <a:latin typeface="Garamond"/>
              <a:ea typeface="Garamond"/>
              <a:cs typeface="Garamond"/>
              <a:sym typeface="Garamond"/>
            </a:endParaRPr>
          </a:p>
          <a:p>
            <a:pPr indent="-370840" lvl="0" marL="383540" rtl="0" algn="l">
              <a:lnSpc>
                <a:spcPct val="100000"/>
              </a:lnSpc>
              <a:spcBef>
                <a:spcPts val="1175"/>
              </a:spcBef>
              <a:spcAft>
                <a:spcPts val="0"/>
              </a:spcAft>
              <a:buClr>
                <a:srgbClr val="FF0000"/>
              </a:buClr>
              <a:buSzPts val="2400"/>
              <a:buFont typeface="Garamond"/>
              <a:buAutoNum type="alphaUcPeriod"/>
            </a:pPr>
            <a:r>
              <a:rPr b="1" lang="fr-FR" sz="2400">
                <a:solidFill>
                  <a:srgbClr val="FF0000"/>
                </a:solidFill>
                <a:latin typeface="Garamond"/>
                <a:ea typeface="Garamond"/>
                <a:cs typeface="Garamond"/>
                <a:sym typeface="Garamond"/>
              </a:rPr>
              <a:t>Est difficile à contrôler</a:t>
            </a:r>
            <a:endParaRPr sz="2400">
              <a:solidFill>
                <a:srgbClr val="FF0000"/>
              </a:solidFill>
              <a:latin typeface="Garamond"/>
              <a:ea typeface="Garamond"/>
              <a:cs typeface="Garamond"/>
              <a:sym typeface="Garamond"/>
            </a:endParaRPr>
          </a:p>
          <a:p>
            <a:pPr indent="-384810" lvl="0" marL="397510" rtl="0" algn="l">
              <a:lnSpc>
                <a:spcPct val="100000"/>
              </a:lnSpc>
              <a:spcBef>
                <a:spcPts val="1175"/>
              </a:spcBef>
              <a:spcAft>
                <a:spcPts val="0"/>
              </a:spcAft>
              <a:buClr>
                <a:srgbClr val="252525"/>
              </a:buClr>
              <a:buSzPts val="2400"/>
              <a:buFont typeface="Garamond"/>
              <a:buAutoNum type="alphaUcPeriod"/>
            </a:pPr>
            <a:r>
              <a:rPr b="1" lang="fr-FR" sz="2400">
                <a:latin typeface="Garamond"/>
                <a:ea typeface="Garamond"/>
                <a:cs typeface="Garamond"/>
                <a:sym typeface="Garamond"/>
              </a:rPr>
              <a:t>Est imposée au sujet</a:t>
            </a:r>
            <a:endParaRPr sz="2400">
              <a:latin typeface="Garamond"/>
              <a:ea typeface="Garamond"/>
              <a:cs typeface="Garamond"/>
              <a:sym typeface="Garamond"/>
            </a:endParaRPr>
          </a:p>
          <a:p>
            <a:pPr indent="-370840" lvl="0" marL="383540" rtl="0" algn="l">
              <a:lnSpc>
                <a:spcPct val="100000"/>
              </a:lnSpc>
              <a:spcBef>
                <a:spcPts val="1175"/>
              </a:spcBef>
              <a:spcAft>
                <a:spcPts val="0"/>
              </a:spcAft>
              <a:buClr>
                <a:srgbClr val="252525"/>
              </a:buClr>
              <a:buSzPts val="2400"/>
              <a:buFont typeface="Garamond"/>
              <a:buAutoNum type="alphaUcPeriod"/>
            </a:pPr>
            <a:r>
              <a:rPr b="1" lang="fr-FR" sz="2400">
                <a:solidFill>
                  <a:srgbClr val="252525"/>
                </a:solidFill>
                <a:latin typeface="Garamond"/>
                <a:ea typeface="Garamond"/>
                <a:cs typeface="Garamond"/>
                <a:sym typeface="Garamond"/>
              </a:rPr>
              <a:t>Est responsable d'une lutte anxieuse</a:t>
            </a:r>
            <a:endParaRPr sz="2400">
              <a:latin typeface="Garamond"/>
              <a:ea typeface="Garamond"/>
              <a:cs typeface="Garamond"/>
              <a:sym typeface="Garamon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50"/>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62" name="Google Shape;462;p50"/>
          <p:cNvSpPr txBox="1"/>
          <p:nvPr>
            <p:ph type="title"/>
          </p:nvPr>
        </p:nvSpPr>
        <p:spPr>
          <a:xfrm>
            <a:off x="802005" y="636905"/>
            <a:ext cx="10587989" cy="1671955"/>
          </a:xfrm>
          <a:prstGeom prst="rect">
            <a:avLst/>
          </a:prstGeom>
          <a:noFill/>
          <a:ln>
            <a:noFill/>
          </a:ln>
        </p:spPr>
        <p:txBody>
          <a:bodyPr anchorCtr="0" anchor="t" bIns="0" lIns="0" spcFirstLastPara="1" rIns="0" wrap="square" tIns="354700">
            <a:spAutoFit/>
          </a:bodyPr>
          <a:lstStyle/>
          <a:p>
            <a:pPr indent="0" lvl="0" marL="585470" rtl="0" algn="l">
              <a:lnSpc>
                <a:spcPct val="100000"/>
              </a:lnSpc>
              <a:spcBef>
                <a:spcPts val="0"/>
              </a:spcBef>
              <a:spcAft>
                <a:spcPts val="0"/>
              </a:spcAft>
              <a:buNone/>
            </a:pPr>
            <a:r>
              <a:rPr lang="fr-FR" sz="3950">
                <a:solidFill>
                  <a:srgbClr val="000000"/>
                </a:solidFill>
              </a:rPr>
              <a:t>Le diagnostic différentiel de l’anxiété</a:t>
            </a:r>
            <a:endParaRPr sz="3950"/>
          </a:p>
          <a:p>
            <a:pPr indent="0" lvl="0" marL="585470" rtl="0" algn="l">
              <a:lnSpc>
                <a:spcPct val="100000"/>
              </a:lnSpc>
              <a:spcBef>
                <a:spcPts val="65"/>
              </a:spcBef>
              <a:spcAft>
                <a:spcPts val="0"/>
              </a:spcAft>
              <a:buNone/>
            </a:pPr>
            <a:r>
              <a:rPr lang="fr-FR" sz="3950">
                <a:solidFill>
                  <a:srgbClr val="000000"/>
                </a:solidFill>
              </a:rPr>
              <a:t>généralisée doit se faire avec :</a:t>
            </a:r>
            <a:endParaRPr sz="3950"/>
          </a:p>
        </p:txBody>
      </p:sp>
      <p:sp>
        <p:nvSpPr>
          <p:cNvPr id="463" name="Google Shape;463;p5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464" name="Google Shape;464;p50"/>
          <p:cNvSpPr txBox="1"/>
          <p:nvPr/>
        </p:nvSpPr>
        <p:spPr>
          <a:xfrm>
            <a:off x="1375028" y="2469651"/>
            <a:ext cx="7127875" cy="2321148"/>
          </a:xfrm>
          <a:prstGeom prst="rect">
            <a:avLst/>
          </a:prstGeom>
          <a:noFill/>
          <a:ln>
            <a:noFill/>
          </a:ln>
        </p:spPr>
        <p:txBody>
          <a:bodyPr anchorCtr="0" anchor="t" bIns="0" lIns="0" spcFirstLastPara="1" rIns="0" wrap="square" tIns="63500">
            <a:spAutoFit/>
          </a:bodyPr>
          <a:lstStyle/>
          <a:p>
            <a:pPr indent="-457200" lvl="0" marL="469900" rtl="0" algn="l">
              <a:lnSpc>
                <a:spcPct val="100000"/>
              </a:lnSpc>
              <a:spcBef>
                <a:spcPts val="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La psychose hallucinatoire chronique (PHC).</a:t>
            </a:r>
            <a:endParaRPr sz="2400">
              <a:latin typeface="Garamond"/>
              <a:ea typeface="Garamond"/>
              <a:cs typeface="Garamond"/>
              <a:sym typeface="Garamond"/>
            </a:endParaRPr>
          </a:p>
          <a:p>
            <a:pPr indent="-455930" lvl="0" marL="468630" rtl="0" algn="l">
              <a:lnSpc>
                <a:spcPct val="100000"/>
              </a:lnSpc>
              <a:spcBef>
                <a:spcPts val="83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L’accès maniaque.</a:t>
            </a:r>
            <a:endParaRPr sz="2400">
              <a:latin typeface="Garamond"/>
              <a:ea typeface="Garamond"/>
              <a:cs typeface="Garamond"/>
              <a:sym typeface="Garamond"/>
            </a:endParaRPr>
          </a:p>
          <a:p>
            <a:pPr indent="-455930" lvl="0" marL="468630" rtl="0" algn="l">
              <a:lnSpc>
                <a:spcPct val="100000"/>
              </a:lnSpc>
              <a:spcBef>
                <a:spcPts val="755"/>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L’anxiété secondaire à une situation de danger réel.</a:t>
            </a:r>
            <a:endParaRPr sz="2400">
              <a:solidFill>
                <a:srgbClr val="FF0000"/>
              </a:solidFill>
              <a:latin typeface="Garamond"/>
              <a:ea typeface="Garamond"/>
              <a:cs typeface="Garamond"/>
              <a:sym typeface="Garamond"/>
            </a:endParaRPr>
          </a:p>
          <a:p>
            <a:pPr indent="-457200" lvl="0" marL="469900" rtl="0" algn="l">
              <a:lnSpc>
                <a:spcPct val="100000"/>
              </a:lnSpc>
              <a:spcBef>
                <a:spcPts val="760"/>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La schizophrénie.</a:t>
            </a:r>
            <a:endParaRPr sz="2400">
              <a:solidFill>
                <a:srgbClr val="FF0000"/>
              </a:solidFill>
              <a:latin typeface="Garamond"/>
              <a:ea typeface="Garamond"/>
              <a:cs typeface="Garamond"/>
              <a:sym typeface="Garamond"/>
            </a:endParaRPr>
          </a:p>
          <a:p>
            <a:pPr indent="-456565" lvl="0" marL="469265" rtl="0" algn="l">
              <a:lnSpc>
                <a:spcPct val="100000"/>
              </a:lnSpc>
              <a:spcBef>
                <a:spcPts val="755"/>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La paranoïa délirante.</a:t>
            </a:r>
            <a:endParaRPr sz="2400">
              <a:latin typeface="Garamond"/>
              <a:ea typeface="Garamond"/>
              <a:cs typeface="Garamond"/>
              <a:sym typeface="Garamon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1"/>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70" name="Google Shape;470;p51"/>
          <p:cNvSpPr txBox="1"/>
          <p:nvPr>
            <p:ph type="title"/>
          </p:nvPr>
        </p:nvSpPr>
        <p:spPr>
          <a:xfrm>
            <a:off x="802005" y="636905"/>
            <a:ext cx="10587989" cy="1671955"/>
          </a:xfrm>
          <a:prstGeom prst="rect">
            <a:avLst/>
          </a:prstGeom>
          <a:noFill/>
          <a:ln>
            <a:noFill/>
          </a:ln>
        </p:spPr>
        <p:txBody>
          <a:bodyPr anchorCtr="0" anchor="t" bIns="0" lIns="0" spcFirstLastPara="1" rIns="0" wrap="square" tIns="227700">
            <a:spAutoFit/>
          </a:bodyPr>
          <a:lstStyle/>
          <a:p>
            <a:pPr indent="0" lvl="0" marL="712470" rtl="0" algn="l">
              <a:lnSpc>
                <a:spcPct val="100000"/>
              </a:lnSpc>
              <a:spcBef>
                <a:spcPts val="0"/>
              </a:spcBef>
              <a:spcAft>
                <a:spcPts val="0"/>
              </a:spcAft>
              <a:buNone/>
            </a:pPr>
            <a:r>
              <a:rPr lang="fr-FR" sz="3950">
                <a:solidFill>
                  <a:srgbClr val="000000"/>
                </a:solidFill>
              </a:rPr>
              <a:t>Le traitement d’une anxiété généralisée</a:t>
            </a:r>
            <a:endParaRPr sz="3950"/>
          </a:p>
          <a:p>
            <a:pPr indent="0" lvl="0" marL="585470" rtl="0" algn="l">
              <a:lnSpc>
                <a:spcPct val="100000"/>
              </a:lnSpc>
              <a:spcBef>
                <a:spcPts val="65"/>
              </a:spcBef>
              <a:spcAft>
                <a:spcPts val="0"/>
              </a:spcAft>
              <a:buNone/>
            </a:pPr>
            <a:r>
              <a:rPr lang="fr-FR" sz="3950">
                <a:solidFill>
                  <a:srgbClr val="000000"/>
                </a:solidFill>
              </a:rPr>
              <a:t>fait appel aux :</a:t>
            </a:r>
            <a:endParaRPr sz="3950"/>
          </a:p>
        </p:txBody>
      </p:sp>
      <p:sp>
        <p:nvSpPr>
          <p:cNvPr id="471" name="Google Shape;471;p5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472" name="Google Shape;472;p51"/>
          <p:cNvSpPr txBox="1"/>
          <p:nvPr/>
        </p:nvSpPr>
        <p:spPr>
          <a:xfrm>
            <a:off x="1832610" y="2469651"/>
            <a:ext cx="2941955" cy="2321148"/>
          </a:xfrm>
          <a:prstGeom prst="rect">
            <a:avLst/>
          </a:prstGeom>
          <a:noFill/>
          <a:ln>
            <a:noFill/>
          </a:ln>
        </p:spPr>
        <p:txBody>
          <a:bodyPr anchorCtr="0" anchor="t" bIns="0" lIns="0" spcFirstLastPara="1" rIns="0" wrap="square" tIns="63500">
            <a:spAutoFit/>
          </a:bodyPr>
          <a:lstStyle/>
          <a:p>
            <a:pPr indent="-457200" lvl="0" marL="469900" rtl="0" algn="l">
              <a:lnSpc>
                <a:spcPct val="100000"/>
              </a:lnSpc>
              <a:spcBef>
                <a:spcPts val="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Neuroleptiques.</a:t>
            </a:r>
            <a:endParaRPr sz="2400">
              <a:latin typeface="Garamond"/>
              <a:ea typeface="Garamond"/>
              <a:cs typeface="Garamond"/>
              <a:sym typeface="Garamond"/>
            </a:endParaRPr>
          </a:p>
          <a:p>
            <a:pPr indent="-456565" lvl="0" marL="469265" rtl="0" algn="l">
              <a:lnSpc>
                <a:spcPct val="100000"/>
              </a:lnSpc>
              <a:spcBef>
                <a:spcPts val="83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Thymorégulateurs.</a:t>
            </a:r>
            <a:endParaRPr sz="2400">
              <a:latin typeface="Garamond"/>
              <a:ea typeface="Garamond"/>
              <a:cs typeface="Garamond"/>
              <a:sym typeface="Garamond"/>
            </a:endParaRPr>
          </a:p>
          <a:p>
            <a:pPr indent="-456565" lvl="0" marL="469265" rtl="0" algn="l">
              <a:lnSpc>
                <a:spcPct val="100000"/>
              </a:lnSpc>
              <a:spcBef>
                <a:spcPts val="755"/>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Anxiolytiques.</a:t>
            </a:r>
            <a:endParaRPr sz="2400">
              <a:solidFill>
                <a:srgbClr val="FF0000"/>
              </a:solidFill>
              <a:latin typeface="Garamond"/>
              <a:ea typeface="Garamond"/>
              <a:cs typeface="Garamond"/>
              <a:sym typeface="Garamond"/>
            </a:endParaRPr>
          </a:p>
          <a:p>
            <a:pPr indent="-457200" lvl="0" marL="469900" rtl="0" algn="l">
              <a:lnSpc>
                <a:spcPct val="100000"/>
              </a:lnSpc>
              <a:spcBef>
                <a:spcPts val="760"/>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Antidépresseurs.</a:t>
            </a:r>
            <a:endParaRPr sz="2400">
              <a:solidFill>
                <a:srgbClr val="FF0000"/>
              </a:solidFill>
              <a:latin typeface="Garamond"/>
              <a:ea typeface="Garamond"/>
              <a:cs typeface="Garamond"/>
              <a:sym typeface="Garamond"/>
            </a:endParaRPr>
          </a:p>
          <a:p>
            <a:pPr indent="-457200" lvl="0" marL="469900" rtl="0" algn="l">
              <a:lnSpc>
                <a:spcPct val="100000"/>
              </a:lnSpc>
              <a:spcBef>
                <a:spcPts val="755"/>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Hypnotiques.</a:t>
            </a:r>
            <a:endParaRPr sz="2400">
              <a:latin typeface="Garamond"/>
              <a:ea typeface="Garamond"/>
              <a:cs typeface="Garamond"/>
              <a:sym typeface="Garamon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2"/>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78" name="Google Shape;478;p52"/>
          <p:cNvSpPr txBox="1"/>
          <p:nvPr>
            <p:ph type="title"/>
          </p:nvPr>
        </p:nvSpPr>
        <p:spPr>
          <a:xfrm>
            <a:off x="1375028" y="669924"/>
            <a:ext cx="7133590"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t>Le traitement du Trouble anxiété généralisée est basé sur :</a:t>
            </a:r>
            <a:endParaRPr sz="3950"/>
          </a:p>
        </p:txBody>
      </p:sp>
      <p:sp>
        <p:nvSpPr>
          <p:cNvPr id="479" name="Google Shape;479;p5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480" name="Google Shape;480;p52"/>
          <p:cNvSpPr txBox="1"/>
          <p:nvPr/>
        </p:nvSpPr>
        <p:spPr>
          <a:xfrm>
            <a:off x="1596771" y="2570511"/>
            <a:ext cx="8784590" cy="2575064"/>
          </a:xfrm>
          <a:prstGeom prst="rect">
            <a:avLst/>
          </a:prstGeom>
          <a:noFill/>
          <a:ln>
            <a:noFill/>
          </a:ln>
        </p:spPr>
        <p:txBody>
          <a:bodyPr anchorCtr="0" anchor="t" bIns="0" lIns="0" spcFirstLastPara="1" rIns="0" wrap="square" tIns="0">
            <a:spAutoFit/>
          </a:bodyPr>
          <a:lstStyle/>
          <a:p>
            <a:pPr indent="-513080" lvl="0" marL="525780" rtl="0" algn="l">
              <a:lnSpc>
                <a:spcPct val="134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Les antipsychotiques</a:t>
            </a:r>
            <a:endParaRPr sz="2750">
              <a:latin typeface="Garamond"/>
              <a:ea typeface="Garamond"/>
              <a:cs typeface="Garamond"/>
              <a:sym typeface="Garamond"/>
            </a:endParaRPr>
          </a:p>
          <a:p>
            <a:pPr indent="-513715" lvl="0" marL="526415" rtl="0" algn="l">
              <a:lnSpc>
                <a:spcPct val="100000"/>
              </a:lnSpc>
              <a:spcBef>
                <a:spcPts val="1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Les inhibiteurs de la recapture de la sérotonine</a:t>
            </a:r>
            <a:endParaRPr sz="2750">
              <a:solidFill>
                <a:srgbClr val="FF0000"/>
              </a:solidFill>
              <a:latin typeface="Garamond"/>
              <a:ea typeface="Garamond"/>
              <a:cs typeface="Garamond"/>
              <a:sym typeface="Garamond"/>
            </a:endParaRPr>
          </a:p>
          <a:p>
            <a:pPr indent="-513715" lvl="0" marL="525780" marR="5080" rtl="0" algn="l">
              <a:lnSpc>
                <a:spcPct val="79700"/>
              </a:lnSpc>
              <a:spcBef>
                <a:spcPts val="84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Les inhibiteurs de la recapture de la sérotonine et de la 	noradrénaline</a:t>
            </a:r>
            <a:endParaRPr sz="2750">
              <a:solidFill>
                <a:srgbClr val="FF0000"/>
              </a:solidFill>
              <a:latin typeface="Garamond"/>
              <a:ea typeface="Garamond"/>
              <a:cs typeface="Garamond"/>
              <a:sym typeface="Garamond"/>
            </a:endParaRPr>
          </a:p>
          <a:p>
            <a:pPr indent="-513715" lvl="0" marL="526415" rtl="0" algn="l">
              <a:lnSpc>
                <a:spcPct val="100000"/>
              </a:lnSpc>
              <a:spcBef>
                <a:spcPts val="22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La psychothérapie</a:t>
            </a:r>
            <a:endParaRPr sz="2750">
              <a:solidFill>
                <a:srgbClr val="FF0000"/>
              </a:solidFill>
              <a:latin typeface="Garamond"/>
              <a:ea typeface="Garamond"/>
              <a:cs typeface="Garamond"/>
              <a:sym typeface="Garamond"/>
            </a:endParaRPr>
          </a:p>
          <a:p>
            <a:pPr indent="-513080" lvl="0" marL="525780" rtl="0" algn="l">
              <a:lnSpc>
                <a:spcPct val="100000"/>
              </a:lnSpc>
              <a:spcBef>
                <a:spcPts val="1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Les thymorégulateurs</a:t>
            </a:r>
            <a:endParaRPr sz="2750">
              <a:latin typeface="Garamond"/>
              <a:ea typeface="Garamond"/>
              <a:cs typeface="Garamond"/>
              <a:sym typeface="Garamon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53"/>
          <p:cNvSpPr txBox="1"/>
          <p:nvPr>
            <p:ph type="title"/>
          </p:nvPr>
        </p:nvSpPr>
        <p:spPr>
          <a:xfrm>
            <a:off x="1243964" y="1155763"/>
            <a:ext cx="9913620" cy="124333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3950">
                <a:solidFill>
                  <a:srgbClr val="006FC0"/>
                </a:solidFill>
              </a:rPr>
              <a:t>Critères diagnostiques du DSM 5 d’un trouble</a:t>
            </a:r>
            <a:endParaRPr sz="3950"/>
          </a:p>
          <a:p>
            <a:pPr indent="0" lvl="0" marL="155575" rtl="0" algn="l">
              <a:lnSpc>
                <a:spcPct val="100000"/>
              </a:lnSpc>
              <a:spcBef>
                <a:spcPts val="70"/>
              </a:spcBef>
              <a:spcAft>
                <a:spcPts val="0"/>
              </a:spcAft>
              <a:buNone/>
            </a:pPr>
            <a:r>
              <a:rPr lang="fr-FR" sz="3950" u="sng">
                <a:solidFill>
                  <a:srgbClr val="006FC0"/>
                </a:solidFill>
              </a:rPr>
              <a:t>	anxiété généralisée	</a:t>
            </a:r>
            <a:endParaRPr sz="3950"/>
          </a:p>
        </p:txBody>
      </p:sp>
      <p:sp>
        <p:nvSpPr>
          <p:cNvPr id="486" name="Google Shape;486;p5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487" name="Google Shape;487;p53"/>
          <p:cNvSpPr txBox="1"/>
          <p:nvPr/>
        </p:nvSpPr>
        <p:spPr>
          <a:xfrm>
            <a:off x="920114" y="2582481"/>
            <a:ext cx="10440035" cy="3077210"/>
          </a:xfrm>
          <a:prstGeom prst="rect">
            <a:avLst/>
          </a:prstGeom>
          <a:noFill/>
          <a:ln>
            <a:noFill/>
          </a:ln>
        </p:spPr>
        <p:txBody>
          <a:bodyPr anchorCtr="0" anchor="t" bIns="0" lIns="0" spcFirstLastPara="1" rIns="0" wrap="square" tIns="12050">
            <a:spAutoFit/>
          </a:bodyPr>
          <a:lstStyle/>
          <a:p>
            <a:pPr indent="-380365" lvl="0" marL="393065" marR="5080" rtl="0" algn="just">
              <a:lnSpc>
                <a:spcPct val="151200"/>
              </a:lnSpc>
              <a:spcBef>
                <a:spcPts val="0"/>
              </a:spcBef>
              <a:spcAft>
                <a:spcPts val="0"/>
              </a:spcAft>
              <a:buClr>
                <a:srgbClr val="252525"/>
              </a:buClr>
              <a:buSzPts val="2400"/>
              <a:buFont typeface="Garamond"/>
              <a:buAutoNum type="alphaUcPeriod"/>
            </a:pPr>
            <a:r>
              <a:rPr b="1" lang="fr-FR" sz="2400">
                <a:solidFill>
                  <a:srgbClr val="C00000"/>
                </a:solidFill>
                <a:latin typeface="Garamond"/>
                <a:ea typeface="Garamond"/>
                <a:cs typeface="Garamond"/>
                <a:sym typeface="Garamond"/>
              </a:rPr>
              <a:t>Anxiété et soucis excessifs </a:t>
            </a:r>
            <a:r>
              <a:rPr lang="fr-FR" sz="2400">
                <a:solidFill>
                  <a:srgbClr val="252525"/>
                </a:solidFill>
                <a:latin typeface="Garamond"/>
                <a:ea typeface="Garamond"/>
                <a:cs typeface="Garamond"/>
                <a:sym typeface="Garamond"/>
              </a:rPr>
              <a:t>« attente avec appréhension » survenant la plupart du temps durant au </a:t>
            </a:r>
            <a:r>
              <a:rPr b="1" lang="fr-FR" sz="2400">
                <a:solidFill>
                  <a:srgbClr val="C00000"/>
                </a:solidFill>
                <a:latin typeface="Garamond"/>
                <a:ea typeface="Garamond"/>
                <a:cs typeface="Garamond"/>
                <a:sym typeface="Garamond"/>
              </a:rPr>
              <a:t>moins 6 mois </a:t>
            </a:r>
            <a:r>
              <a:rPr lang="fr-FR" sz="2400">
                <a:solidFill>
                  <a:srgbClr val="252525"/>
                </a:solidFill>
                <a:latin typeface="Garamond"/>
                <a:ea typeface="Garamond"/>
                <a:cs typeface="Garamond"/>
                <a:sym typeface="Garamond"/>
              </a:rPr>
              <a:t>concernant au moins deux thèmes différents « famille, travail, santé ou autres domaines ».</a:t>
            </a:r>
            <a:endParaRPr sz="2400">
              <a:latin typeface="Garamond"/>
              <a:ea typeface="Garamond"/>
              <a:cs typeface="Garamond"/>
              <a:sym typeface="Garamond"/>
            </a:endParaRPr>
          </a:p>
          <a:p>
            <a:pPr indent="-360680" lvl="0" marL="373380" rtl="0" algn="just">
              <a:lnSpc>
                <a:spcPct val="100000"/>
              </a:lnSpc>
              <a:spcBef>
                <a:spcPts val="2605"/>
              </a:spcBef>
              <a:spcAft>
                <a:spcPts val="0"/>
              </a:spcAft>
              <a:buClr>
                <a:srgbClr val="252525"/>
              </a:buClr>
              <a:buSzPts val="2400"/>
              <a:buFont typeface="Garamond"/>
              <a:buAutoNum type="alphaUcPeriod"/>
            </a:pPr>
            <a:r>
              <a:rPr lang="fr-FR" sz="2400">
                <a:solidFill>
                  <a:srgbClr val="252525"/>
                </a:solidFill>
                <a:latin typeface="Garamond"/>
                <a:ea typeface="Garamond"/>
                <a:cs typeface="Garamond"/>
                <a:sym typeface="Garamond"/>
              </a:rPr>
              <a:t>La personne éprouve de la </a:t>
            </a:r>
            <a:r>
              <a:rPr b="1" lang="fr-FR" sz="2400">
                <a:solidFill>
                  <a:srgbClr val="C00000"/>
                </a:solidFill>
                <a:latin typeface="Garamond"/>
                <a:ea typeface="Garamond"/>
                <a:cs typeface="Garamond"/>
                <a:sym typeface="Garamond"/>
              </a:rPr>
              <a:t>difficulté à contrôler cette préoccupation</a:t>
            </a:r>
            <a:r>
              <a:rPr lang="fr-FR" sz="2400">
                <a:solidFill>
                  <a:srgbClr val="252525"/>
                </a:solidFill>
                <a:latin typeface="Garamond"/>
                <a:ea typeface="Garamond"/>
                <a:cs typeface="Garamond"/>
                <a:sym typeface="Garamond"/>
              </a:rPr>
              <a:t>.</a:t>
            </a:r>
            <a:endParaRPr sz="2400">
              <a:latin typeface="Garamond"/>
              <a:ea typeface="Garamond"/>
              <a:cs typeface="Garamond"/>
              <a:sym typeface="Garamond"/>
            </a:endParaRPr>
          </a:p>
          <a:p>
            <a:pPr indent="-369570" lvl="0" marL="382270" rtl="0" algn="just">
              <a:lnSpc>
                <a:spcPct val="100000"/>
              </a:lnSpc>
              <a:spcBef>
                <a:spcPts val="2605"/>
              </a:spcBef>
              <a:spcAft>
                <a:spcPts val="0"/>
              </a:spcAft>
              <a:buClr>
                <a:srgbClr val="252525"/>
              </a:buClr>
              <a:buSzPts val="2400"/>
              <a:buFont typeface="Garamond"/>
              <a:buAutoNum type="alphaUcPeriod"/>
            </a:pPr>
            <a:r>
              <a:rPr lang="fr-FR" sz="2400">
                <a:solidFill>
                  <a:srgbClr val="252525"/>
                </a:solidFill>
                <a:latin typeface="Garamond"/>
                <a:ea typeface="Garamond"/>
                <a:cs typeface="Garamond"/>
                <a:sym typeface="Garamond"/>
              </a:rPr>
              <a:t>L’anxiété et les soucis sont associés à trois « ou plus » des </a:t>
            </a:r>
            <a:r>
              <a:rPr b="1" lang="fr-FR" sz="2400">
                <a:solidFill>
                  <a:srgbClr val="252525"/>
                </a:solidFill>
                <a:latin typeface="Garamond"/>
                <a:ea typeface="Garamond"/>
                <a:cs typeface="Garamond"/>
                <a:sym typeface="Garamond"/>
              </a:rPr>
              <a:t>six symptômes </a:t>
            </a:r>
            <a:r>
              <a:rPr lang="fr-FR" sz="2400">
                <a:solidFill>
                  <a:srgbClr val="252525"/>
                </a:solidFill>
                <a:latin typeface="Garamond"/>
                <a:ea typeface="Garamond"/>
                <a:cs typeface="Garamond"/>
                <a:sym typeface="Garamond"/>
              </a:rPr>
              <a:t>suivants :</a:t>
            </a:r>
            <a:endParaRPr sz="2400">
              <a:latin typeface="Garamond"/>
              <a:ea typeface="Garamond"/>
              <a:cs typeface="Garamond"/>
              <a:sym typeface="Garamon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54"/>
          <p:cNvSpPr txBox="1"/>
          <p:nvPr/>
        </p:nvSpPr>
        <p:spPr>
          <a:xfrm>
            <a:off x="909955" y="1029017"/>
            <a:ext cx="10476865" cy="4979670"/>
          </a:xfrm>
          <a:prstGeom prst="rect">
            <a:avLst/>
          </a:prstGeom>
          <a:noFill/>
          <a:ln>
            <a:noFill/>
          </a:ln>
        </p:spPr>
        <p:txBody>
          <a:bodyPr anchorCtr="0" anchor="t" bIns="0" lIns="0" spcFirstLastPara="1" rIns="0" wrap="square" tIns="15875">
            <a:spAutoFit/>
          </a:bodyPr>
          <a:lstStyle/>
          <a:p>
            <a:pPr indent="-256540" lvl="0" marL="269240" rtl="0" algn="l">
              <a:lnSpc>
                <a:spcPct val="100000"/>
              </a:lnSpc>
              <a:spcBef>
                <a:spcPts val="0"/>
              </a:spcBef>
              <a:spcAft>
                <a:spcPts val="0"/>
              </a:spcAft>
              <a:buClr>
                <a:srgbClr val="252525"/>
              </a:buClr>
              <a:buSzPts val="2000"/>
              <a:buFont typeface="Garamond"/>
              <a:buAutoNum type="arabicParenR"/>
            </a:pPr>
            <a:r>
              <a:rPr lang="fr-FR" sz="2000">
                <a:solidFill>
                  <a:srgbClr val="252525"/>
                </a:solidFill>
                <a:latin typeface="Garamond"/>
                <a:ea typeface="Garamond"/>
                <a:cs typeface="Garamond"/>
                <a:sym typeface="Garamond"/>
              </a:rPr>
              <a:t>Agitation ou sensation d’être survolé ou à bout.</a:t>
            </a:r>
            <a:endParaRPr sz="2000">
              <a:latin typeface="Garamond"/>
              <a:ea typeface="Garamond"/>
              <a:cs typeface="Garamond"/>
              <a:sym typeface="Garamond"/>
            </a:endParaRPr>
          </a:p>
          <a:p>
            <a:pPr indent="-256540" lvl="0" marL="269240" rtl="0" algn="l">
              <a:lnSpc>
                <a:spcPct val="100000"/>
              </a:lnSpc>
              <a:spcBef>
                <a:spcPts val="1580"/>
              </a:spcBef>
              <a:spcAft>
                <a:spcPts val="0"/>
              </a:spcAft>
              <a:buClr>
                <a:srgbClr val="252525"/>
              </a:buClr>
              <a:buSzPts val="2000"/>
              <a:buFont typeface="Garamond"/>
              <a:buAutoNum type="arabicParenR"/>
            </a:pPr>
            <a:r>
              <a:rPr lang="fr-FR" sz="2000">
                <a:solidFill>
                  <a:srgbClr val="252525"/>
                </a:solidFill>
                <a:latin typeface="Garamond"/>
                <a:ea typeface="Garamond"/>
                <a:cs typeface="Garamond"/>
                <a:sym typeface="Garamond"/>
              </a:rPr>
              <a:t>Fatigabilité.</a:t>
            </a:r>
            <a:endParaRPr sz="2000">
              <a:latin typeface="Garamond"/>
              <a:ea typeface="Garamond"/>
              <a:cs typeface="Garamond"/>
              <a:sym typeface="Garamond"/>
            </a:endParaRPr>
          </a:p>
          <a:p>
            <a:pPr indent="-256540" lvl="0" marL="269240" rtl="0" algn="l">
              <a:lnSpc>
                <a:spcPct val="100000"/>
              </a:lnSpc>
              <a:spcBef>
                <a:spcPts val="1510"/>
              </a:spcBef>
              <a:spcAft>
                <a:spcPts val="0"/>
              </a:spcAft>
              <a:buClr>
                <a:srgbClr val="252525"/>
              </a:buClr>
              <a:buSzPts val="2000"/>
              <a:buFont typeface="Garamond"/>
              <a:buAutoNum type="arabicParenR"/>
            </a:pPr>
            <a:r>
              <a:rPr lang="fr-FR" sz="2000">
                <a:solidFill>
                  <a:srgbClr val="252525"/>
                </a:solidFill>
                <a:latin typeface="Garamond"/>
                <a:ea typeface="Garamond"/>
                <a:cs typeface="Garamond"/>
                <a:sym typeface="Garamond"/>
              </a:rPr>
              <a:t>Difficultés de concentration ou trous de la mémoire.</a:t>
            </a:r>
            <a:endParaRPr sz="2000">
              <a:latin typeface="Garamond"/>
              <a:ea typeface="Garamond"/>
              <a:cs typeface="Garamond"/>
              <a:sym typeface="Garamond"/>
            </a:endParaRPr>
          </a:p>
          <a:p>
            <a:pPr indent="-256540" lvl="0" marL="269240" rtl="0" algn="l">
              <a:lnSpc>
                <a:spcPct val="100000"/>
              </a:lnSpc>
              <a:spcBef>
                <a:spcPts val="1580"/>
              </a:spcBef>
              <a:spcAft>
                <a:spcPts val="0"/>
              </a:spcAft>
              <a:buClr>
                <a:srgbClr val="252525"/>
              </a:buClr>
              <a:buSzPts val="2000"/>
              <a:buFont typeface="Garamond"/>
              <a:buAutoNum type="arabicParenR"/>
            </a:pPr>
            <a:r>
              <a:rPr lang="fr-FR" sz="2000">
                <a:solidFill>
                  <a:srgbClr val="252525"/>
                </a:solidFill>
                <a:latin typeface="Garamond"/>
                <a:ea typeface="Garamond"/>
                <a:cs typeface="Garamond"/>
                <a:sym typeface="Garamond"/>
              </a:rPr>
              <a:t>Irritabilité.</a:t>
            </a:r>
            <a:endParaRPr sz="2000">
              <a:latin typeface="Garamond"/>
              <a:ea typeface="Garamond"/>
              <a:cs typeface="Garamond"/>
              <a:sym typeface="Garamond"/>
            </a:endParaRPr>
          </a:p>
          <a:p>
            <a:pPr indent="-256540" lvl="0" marL="269240" rtl="0" algn="l">
              <a:lnSpc>
                <a:spcPct val="100000"/>
              </a:lnSpc>
              <a:spcBef>
                <a:spcPts val="1580"/>
              </a:spcBef>
              <a:spcAft>
                <a:spcPts val="0"/>
              </a:spcAft>
              <a:buClr>
                <a:srgbClr val="252525"/>
              </a:buClr>
              <a:buSzPts val="2000"/>
              <a:buFont typeface="Garamond"/>
              <a:buAutoNum type="arabicParenR"/>
            </a:pPr>
            <a:r>
              <a:rPr lang="fr-FR" sz="2000">
                <a:solidFill>
                  <a:srgbClr val="252525"/>
                </a:solidFill>
                <a:latin typeface="Garamond"/>
                <a:ea typeface="Garamond"/>
                <a:cs typeface="Garamond"/>
                <a:sym typeface="Garamond"/>
              </a:rPr>
              <a:t>Tension musculaire.</a:t>
            </a:r>
            <a:endParaRPr sz="2000">
              <a:latin typeface="Garamond"/>
              <a:ea typeface="Garamond"/>
              <a:cs typeface="Garamond"/>
              <a:sym typeface="Garamond"/>
            </a:endParaRPr>
          </a:p>
          <a:p>
            <a:pPr indent="-256540" lvl="0" marL="269240" rtl="0" algn="l">
              <a:lnSpc>
                <a:spcPct val="100000"/>
              </a:lnSpc>
              <a:spcBef>
                <a:spcPts val="1580"/>
              </a:spcBef>
              <a:spcAft>
                <a:spcPts val="0"/>
              </a:spcAft>
              <a:buClr>
                <a:srgbClr val="252525"/>
              </a:buClr>
              <a:buSzPts val="2000"/>
              <a:buFont typeface="Garamond"/>
              <a:buAutoNum type="arabicParenR"/>
            </a:pPr>
            <a:r>
              <a:rPr lang="fr-FR" sz="2000">
                <a:solidFill>
                  <a:srgbClr val="252525"/>
                </a:solidFill>
                <a:latin typeface="Garamond"/>
                <a:ea typeface="Garamond"/>
                <a:cs typeface="Garamond"/>
                <a:sym typeface="Garamond"/>
              </a:rPr>
              <a:t>Perturbation du sommeil</a:t>
            </a:r>
            <a:endParaRPr sz="2000">
              <a:latin typeface="Garamond"/>
              <a:ea typeface="Garamond"/>
              <a:cs typeface="Garamond"/>
              <a:sym typeface="Garamond"/>
            </a:endParaRPr>
          </a:p>
          <a:p>
            <a:pPr indent="0" lvl="0" marL="12700" rtl="0" algn="l">
              <a:lnSpc>
                <a:spcPct val="100000"/>
              </a:lnSpc>
              <a:spcBef>
                <a:spcPts val="1205"/>
              </a:spcBef>
              <a:spcAft>
                <a:spcPts val="0"/>
              </a:spcAft>
              <a:buNone/>
            </a:pPr>
            <a:r>
              <a:rPr b="1" lang="fr-FR" sz="2000">
                <a:solidFill>
                  <a:srgbClr val="252525"/>
                </a:solidFill>
                <a:latin typeface="Garamond"/>
                <a:ea typeface="Garamond"/>
                <a:cs typeface="Garamond"/>
                <a:sym typeface="Garamond"/>
              </a:rPr>
              <a:t>D. L’objet de l’anxiété et des soucis n’est pas limité aux manifestations d’une autre pathologie</a:t>
            </a:r>
            <a:endParaRPr sz="2000">
              <a:latin typeface="Garamond"/>
              <a:ea typeface="Garamond"/>
              <a:cs typeface="Garamond"/>
              <a:sym typeface="Garamond"/>
            </a:endParaRPr>
          </a:p>
          <a:p>
            <a:pPr indent="0" lvl="0" marL="12700" rtl="0" algn="l">
              <a:lnSpc>
                <a:spcPct val="100000"/>
              </a:lnSpc>
              <a:spcBef>
                <a:spcPts val="0"/>
              </a:spcBef>
              <a:spcAft>
                <a:spcPts val="0"/>
              </a:spcAft>
              <a:buNone/>
            </a:pPr>
            <a:r>
              <a:rPr b="1" lang="fr-FR" sz="2000">
                <a:solidFill>
                  <a:srgbClr val="252525"/>
                </a:solidFill>
                <a:latin typeface="Garamond"/>
                <a:ea typeface="Garamond"/>
                <a:cs typeface="Garamond"/>
                <a:sym typeface="Garamond"/>
              </a:rPr>
              <a:t>mentale.</a:t>
            </a:r>
            <a:endParaRPr sz="2000">
              <a:latin typeface="Garamond"/>
              <a:ea typeface="Garamond"/>
              <a:cs typeface="Garamond"/>
              <a:sym typeface="Garamond"/>
            </a:endParaRPr>
          </a:p>
          <a:p>
            <a:pPr indent="0" lvl="0" marL="12700" marR="6985" rtl="0" algn="just">
              <a:lnSpc>
                <a:spcPct val="100000"/>
              </a:lnSpc>
              <a:spcBef>
                <a:spcPts val="1130"/>
              </a:spcBef>
              <a:spcAft>
                <a:spcPts val="0"/>
              </a:spcAft>
              <a:buNone/>
            </a:pPr>
            <a:r>
              <a:rPr lang="fr-FR" sz="2000">
                <a:solidFill>
                  <a:srgbClr val="252525"/>
                </a:solidFill>
                <a:latin typeface="Garamond"/>
                <a:ea typeface="Garamond"/>
                <a:cs typeface="Garamond"/>
                <a:sym typeface="Garamond"/>
              </a:rPr>
              <a:t>*</a:t>
            </a:r>
            <a:r>
              <a:rPr b="1" lang="fr-FR" sz="2000">
                <a:solidFill>
                  <a:srgbClr val="C00000"/>
                </a:solidFill>
                <a:latin typeface="Garamond"/>
                <a:ea typeface="Garamond"/>
                <a:cs typeface="Garamond"/>
                <a:sym typeface="Garamond"/>
              </a:rPr>
              <a:t>Les complications sont fréquentes </a:t>
            </a:r>
            <a:r>
              <a:rPr lang="fr-FR" sz="2000">
                <a:solidFill>
                  <a:srgbClr val="252525"/>
                </a:solidFill>
                <a:latin typeface="Garamond"/>
                <a:ea typeface="Garamond"/>
                <a:cs typeface="Garamond"/>
                <a:sym typeface="Garamond"/>
              </a:rPr>
              <a:t>: surconsommation médicamenteuse, addictions à l’alcool, et/ou aux benzodiazépines (automédication de l'anxiété), décompensations dépressives, développement d'un autre trouble anxieux, dysfonctionnement familial, social et professionnel, maladies psychosomatiques : HTA, ulcère gastroduodénal.</a:t>
            </a:r>
            <a:endParaRPr sz="2000">
              <a:latin typeface="Garamond"/>
              <a:ea typeface="Garamond"/>
              <a:cs typeface="Garamond"/>
              <a:sym typeface="Garamond"/>
            </a:endParaRPr>
          </a:p>
        </p:txBody>
      </p:sp>
      <p:sp>
        <p:nvSpPr>
          <p:cNvPr id="493" name="Google Shape;493;p5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pic>
        <p:nvPicPr>
          <p:cNvPr id="498" name="Google Shape;498;p55"/>
          <p:cNvPicPr preferRelativeResize="0"/>
          <p:nvPr/>
        </p:nvPicPr>
        <p:blipFill rotWithShape="1">
          <a:blip r:embed="rId3">
            <a:alphaModFix/>
          </a:blip>
          <a:srcRect b="0" l="0" r="0" t="0"/>
          <a:stretch/>
        </p:blipFill>
        <p:spPr>
          <a:xfrm>
            <a:off x="3114674" y="1743075"/>
            <a:ext cx="5962650" cy="3371850"/>
          </a:xfrm>
          <a:prstGeom prst="rect">
            <a:avLst/>
          </a:prstGeom>
          <a:noFill/>
          <a:ln>
            <a:noFill/>
          </a:ln>
        </p:spPr>
      </p:pic>
      <p:sp>
        <p:nvSpPr>
          <p:cNvPr id="499" name="Google Shape;499;p5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56"/>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05" name="Google Shape;505;p56"/>
          <p:cNvSpPr txBox="1"/>
          <p:nvPr>
            <p:ph type="title"/>
          </p:nvPr>
        </p:nvSpPr>
        <p:spPr>
          <a:xfrm>
            <a:off x="1227772" y="867663"/>
            <a:ext cx="9471660" cy="1500505"/>
          </a:xfrm>
          <a:prstGeom prst="rect">
            <a:avLst/>
          </a:prstGeom>
          <a:noFill/>
          <a:ln>
            <a:noFill/>
          </a:ln>
        </p:spPr>
        <p:txBody>
          <a:bodyPr anchorCtr="0" anchor="t" bIns="0" lIns="0" spcFirstLastPara="1" rIns="0" wrap="square" tIns="12700">
            <a:spAutoFit/>
          </a:bodyPr>
          <a:lstStyle/>
          <a:p>
            <a:pPr indent="101600" lvl="0" marL="12700" marR="5080" rtl="0" algn="l">
              <a:lnSpc>
                <a:spcPct val="100699"/>
              </a:lnSpc>
              <a:spcBef>
                <a:spcPts val="0"/>
              </a:spcBef>
              <a:spcAft>
                <a:spcPts val="0"/>
              </a:spcAft>
              <a:buNone/>
            </a:pPr>
            <a:r>
              <a:rPr lang="fr-FR" sz="3200"/>
              <a:t>La crainte angoissante déclenchée par un objet ou une situation n’ayant pas en eux-mêmes un caractère objectivement dangereux est :</a:t>
            </a:r>
            <a:endParaRPr sz="3200"/>
          </a:p>
        </p:txBody>
      </p:sp>
      <p:sp>
        <p:nvSpPr>
          <p:cNvPr id="506" name="Google Shape;506;p5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507" name="Google Shape;507;p56"/>
          <p:cNvSpPr txBox="1"/>
          <p:nvPr/>
        </p:nvSpPr>
        <p:spPr>
          <a:xfrm>
            <a:off x="1227772" y="2493198"/>
            <a:ext cx="4439920" cy="2568652"/>
          </a:xfrm>
          <a:prstGeom prst="rect">
            <a:avLst/>
          </a:prstGeom>
          <a:noFill/>
          <a:ln>
            <a:noFill/>
          </a:ln>
        </p:spPr>
        <p:txBody>
          <a:bodyPr anchorCtr="0" anchor="t" bIns="0" lIns="0" spcFirstLastPara="1" rIns="0" wrap="square" tIns="546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obsession</a:t>
            </a:r>
            <a:endParaRPr sz="2750">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conversion</a:t>
            </a:r>
            <a:endParaRPr sz="2750">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phobie</a:t>
            </a:r>
            <a:endParaRPr sz="2750">
              <a:solidFill>
                <a:srgbClr val="FF0000"/>
              </a:solidFill>
              <a:latin typeface="Garamond"/>
              <a:ea typeface="Garamond"/>
              <a:cs typeface="Garamond"/>
              <a:sym typeface="Garamond"/>
            </a:endParaRPr>
          </a:p>
          <a:p>
            <a:pPr indent="-513715" lvl="0" marL="526415" rtl="0" algn="l">
              <a:lnSpc>
                <a:spcPct val="100000"/>
              </a:lnSpc>
              <a:spcBef>
                <a:spcPts val="74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conduite d’évitement</a:t>
            </a:r>
            <a:endParaRPr sz="2750">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 rite</a:t>
            </a:r>
            <a:endParaRPr sz="2750">
              <a:latin typeface="Garamond"/>
              <a:ea typeface="Garamond"/>
              <a:cs typeface="Garamond"/>
              <a:sym typeface="Garamon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57"/>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13" name="Google Shape;513;p57"/>
          <p:cNvSpPr txBox="1"/>
          <p:nvPr>
            <p:ph type="title"/>
          </p:nvPr>
        </p:nvSpPr>
        <p:spPr>
          <a:xfrm>
            <a:off x="802005" y="636905"/>
            <a:ext cx="10587989" cy="1671955"/>
          </a:xfrm>
          <a:prstGeom prst="rect">
            <a:avLst/>
          </a:prstGeom>
          <a:noFill/>
          <a:ln>
            <a:noFill/>
          </a:ln>
        </p:spPr>
        <p:txBody>
          <a:bodyPr anchorCtr="0" anchor="t" bIns="0" lIns="0" spcFirstLastPara="1" rIns="0" wrap="square" tIns="345800">
            <a:spAutoFit/>
          </a:bodyPr>
          <a:lstStyle/>
          <a:p>
            <a:pPr indent="0" lvl="0" marL="585470" marR="5080" rtl="0" algn="l">
              <a:lnSpc>
                <a:spcPct val="101400"/>
              </a:lnSpc>
              <a:spcBef>
                <a:spcPts val="0"/>
              </a:spcBef>
              <a:spcAft>
                <a:spcPts val="0"/>
              </a:spcAft>
              <a:buNone/>
            </a:pPr>
            <a:r>
              <a:rPr lang="fr-FR" sz="3950">
                <a:solidFill>
                  <a:srgbClr val="000000"/>
                </a:solidFill>
              </a:rPr>
              <a:t>Le trouble anxieux le plus fréquent dans la population générale est </a:t>
            </a:r>
            <a:r>
              <a:rPr b="0" lang="fr-FR" sz="3950">
                <a:solidFill>
                  <a:srgbClr val="000000"/>
                </a:solidFill>
                <a:latin typeface="Garamond"/>
                <a:ea typeface="Garamond"/>
                <a:cs typeface="Garamond"/>
                <a:sym typeface="Garamond"/>
              </a:rPr>
              <a:t>:</a:t>
            </a:r>
            <a:endParaRPr sz="3950">
              <a:latin typeface="Garamond"/>
              <a:ea typeface="Garamond"/>
              <a:cs typeface="Garamond"/>
              <a:sym typeface="Garamond"/>
            </a:endParaRPr>
          </a:p>
        </p:txBody>
      </p:sp>
      <p:sp>
        <p:nvSpPr>
          <p:cNvPr id="514" name="Google Shape;514;p5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515" name="Google Shape;515;p57"/>
          <p:cNvSpPr txBox="1"/>
          <p:nvPr/>
        </p:nvSpPr>
        <p:spPr>
          <a:xfrm>
            <a:off x="1375028" y="2469651"/>
            <a:ext cx="9406890" cy="2321148"/>
          </a:xfrm>
          <a:prstGeom prst="rect">
            <a:avLst/>
          </a:prstGeom>
          <a:noFill/>
          <a:ln>
            <a:noFill/>
          </a:ln>
        </p:spPr>
        <p:txBody>
          <a:bodyPr anchorCtr="0" anchor="t" bIns="0" lIns="0" spcFirstLastPara="1" rIns="0" wrap="square" tIns="63500">
            <a:spAutoFit/>
          </a:bodyPr>
          <a:lstStyle/>
          <a:p>
            <a:pPr indent="-457200" lvl="0" marL="469900" rtl="0" algn="l">
              <a:lnSpc>
                <a:spcPct val="100000"/>
              </a:lnSpc>
              <a:spcBef>
                <a:spcPts val="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Le trouble obsessionnel compulsif	(TOC ou névrose obsessionnelle).</a:t>
            </a:r>
            <a:endParaRPr sz="2400">
              <a:latin typeface="Garamond"/>
              <a:ea typeface="Garamond"/>
              <a:cs typeface="Garamond"/>
              <a:sym typeface="Garamond"/>
            </a:endParaRPr>
          </a:p>
          <a:p>
            <a:pPr indent="-455930" lvl="0" marL="468630" rtl="0" algn="l">
              <a:lnSpc>
                <a:spcPct val="100000"/>
              </a:lnSpc>
              <a:spcBef>
                <a:spcPts val="83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Le trouble conversif (névrose hystérique).</a:t>
            </a:r>
            <a:endParaRPr sz="2400">
              <a:latin typeface="Garamond"/>
              <a:ea typeface="Garamond"/>
              <a:cs typeface="Garamond"/>
              <a:sym typeface="Garamond"/>
            </a:endParaRPr>
          </a:p>
          <a:p>
            <a:pPr indent="-455930" lvl="0" marL="468630" rtl="0" algn="l">
              <a:lnSpc>
                <a:spcPct val="100000"/>
              </a:lnSpc>
              <a:spcBef>
                <a:spcPts val="755"/>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L’anxiété généralisée (névrose d’angoisse).</a:t>
            </a:r>
            <a:endParaRPr sz="2400">
              <a:latin typeface="Garamond"/>
              <a:ea typeface="Garamond"/>
              <a:cs typeface="Garamond"/>
              <a:sym typeface="Garamond"/>
            </a:endParaRPr>
          </a:p>
          <a:p>
            <a:pPr indent="-457200" lvl="0" marL="469900" rtl="0" algn="l">
              <a:lnSpc>
                <a:spcPct val="100000"/>
              </a:lnSpc>
              <a:spcBef>
                <a:spcPts val="760"/>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Le trouble phobique (névrose phobique).</a:t>
            </a:r>
            <a:endParaRPr sz="2400">
              <a:solidFill>
                <a:srgbClr val="FF0000"/>
              </a:solidFill>
              <a:latin typeface="Garamond"/>
              <a:ea typeface="Garamond"/>
              <a:cs typeface="Garamond"/>
              <a:sym typeface="Garamond"/>
            </a:endParaRPr>
          </a:p>
          <a:p>
            <a:pPr indent="-534035" lvl="0" marL="546735" rtl="0" algn="l">
              <a:lnSpc>
                <a:spcPct val="100000"/>
              </a:lnSpc>
              <a:spcBef>
                <a:spcPts val="755"/>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L’attaque de panique.</a:t>
            </a:r>
            <a:endParaRPr sz="2400">
              <a:latin typeface="Garamond"/>
              <a:ea typeface="Garamond"/>
              <a:cs typeface="Garamond"/>
              <a:sym typeface="Garamon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8"/>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21" name="Google Shape;521;p58"/>
          <p:cNvSpPr txBox="1"/>
          <p:nvPr>
            <p:ph type="title"/>
          </p:nvPr>
        </p:nvSpPr>
        <p:spPr>
          <a:xfrm>
            <a:off x="802005" y="636905"/>
            <a:ext cx="10587989" cy="1671955"/>
          </a:xfrm>
          <a:prstGeom prst="rect">
            <a:avLst/>
          </a:prstGeom>
          <a:noFill/>
          <a:ln>
            <a:noFill/>
          </a:ln>
        </p:spPr>
        <p:txBody>
          <a:bodyPr anchorCtr="0" anchor="t" bIns="0" lIns="0" spcFirstLastPara="1" rIns="0" wrap="square" tIns="7600">
            <a:spAutoFit/>
          </a:bodyPr>
          <a:lstStyle/>
          <a:p>
            <a:pPr indent="0" lvl="0" marL="585470" marR="5080" rtl="0" algn="l">
              <a:lnSpc>
                <a:spcPct val="101400"/>
              </a:lnSpc>
              <a:spcBef>
                <a:spcPts val="0"/>
              </a:spcBef>
              <a:spcAft>
                <a:spcPts val="0"/>
              </a:spcAft>
              <a:buNone/>
            </a:pPr>
            <a:r>
              <a:rPr lang="fr-FR" sz="3950">
                <a:solidFill>
                  <a:srgbClr val="000000"/>
                </a:solidFill>
              </a:rPr>
              <a:t>Dans les troubles phobiques, on peut rencontrer :</a:t>
            </a:r>
            <a:endParaRPr sz="3950"/>
          </a:p>
        </p:txBody>
      </p:sp>
      <p:sp>
        <p:nvSpPr>
          <p:cNvPr id="522" name="Google Shape;522;p5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523" name="Google Shape;523;p58"/>
          <p:cNvSpPr txBox="1"/>
          <p:nvPr>
            <p:ph idx="1" type="body"/>
          </p:nvPr>
        </p:nvSpPr>
        <p:spPr>
          <a:xfrm>
            <a:off x="1375028" y="2402586"/>
            <a:ext cx="9363075" cy="2648161"/>
          </a:xfrm>
          <a:prstGeom prst="rect">
            <a:avLst/>
          </a:prstGeom>
          <a:noFill/>
          <a:ln>
            <a:noFill/>
          </a:ln>
        </p:spPr>
        <p:txBody>
          <a:bodyPr anchorCtr="0" anchor="t" bIns="0" lIns="0" spcFirstLastPara="1" rIns="0" wrap="square" tIns="171450">
            <a:spAutoFit/>
          </a:bodyPr>
          <a:lstStyle/>
          <a:p>
            <a:pPr indent="0" lvl="0" marL="12700" rtl="0" algn="l">
              <a:lnSpc>
                <a:spcPct val="100000"/>
              </a:lnSpc>
              <a:spcBef>
                <a:spcPts val="0"/>
              </a:spcBef>
              <a:spcAft>
                <a:spcPts val="0"/>
              </a:spcAft>
              <a:buNone/>
            </a:pPr>
            <a:r>
              <a:rPr lang="fr-FR" sz="2400"/>
              <a:t>A- des conduites de fuite en avant</a:t>
            </a:r>
            <a:endParaRPr sz="2400"/>
          </a:p>
          <a:p>
            <a:pPr indent="0" lvl="0" marL="12700" rtl="0" algn="l">
              <a:lnSpc>
                <a:spcPct val="100000"/>
              </a:lnSpc>
              <a:spcBef>
                <a:spcPts val="1250"/>
              </a:spcBef>
              <a:spcAft>
                <a:spcPts val="0"/>
              </a:spcAft>
              <a:buNone/>
            </a:pPr>
            <a:r>
              <a:rPr lang="fr-FR" sz="2400">
                <a:solidFill>
                  <a:srgbClr val="FF0000"/>
                </a:solidFill>
              </a:rPr>
              <a:t>B- des conduites d’évitement</a:t>
            </a:r>
            <a:endParaRPr sz="2400">
              <a:solidFill>
                <a:srgbClr val="FF0000"/>
              </a:solidFill>
            </a:endParaRPr>
          </a:p>
          <a:p>
            <a:pPr indent="0" lvl="0" marL="12700" rtl="0" algn="l">
              <a:lnSpc>
                <a:spcPct val="100000"/>
              </a:lnSpc>
              <a:spcBef>
                <a:spcPts val="1175"/>
              </a:spcBef>
              <a:spcAft>
                <a:spcPts val="0"/>
              </a:spcAft>
              <a:buNone/>
            </a:pPr>
            <a:r>
              <a:rPr lang="fr-FR" sz="2400">
                <a:solidFill>
                  <a:srgbClr val="FF0000"/>
                </a:solidFill>
              </a:rPr>
              <a:t>C- des conduites de réassurance</a:t>
            </a:r>
            <a:endParaRPr sz="2400">
              <a:solidFill>
                <a:srgbClr val="FF0000"/>
              </a:solidFill>
            </a:endParaRPr>
          </a:p>
          <a:p>
            <a:pPr indent="0" lvl="0" marL="12700" rtl="0" algn="l">
              <a:lnSpc>
                <a:spcPct val="100000"/>
              </a:lnSpc>
              <a:spcBef>
                <a:spcPts val="1175"/>
              </a:spcBef>
              <a:spcAft>
                <a:spcPts val="0"/>
              </a:spcAft>
              <a:buNone/>
            </a:pPr>
            <a:r>
              <a:rPr lang="fr-FR" sz="2400">
                <a:solidFill>
                  <a:srgbClr val="FF0000"/>
                </a:solidFill>
              </a:rPr>
              <a:t>D- des crises d’angoisse situationnelles</a:t>
            </a:r>
            <a:endParaRPr sz="2400">
              <a:solidFill>
                <a:srgbClr val="FF0000"/>
              </a:solidFill>
            </a:endParaRPr>
          </a:p>
          <a:p>
            <a:pPr indent="0" lvl="0" marL="12700" rtl="0" algn="l">
              <a:lnSpc>
                <a:spcPct val="100000"/>
              </a:lnSpc>
              <a:spcBef>
                <a:spcPts val="1175"/>
              </a:spcBef>
              <a:spcAft>
                <a:spcPts val="0"/>
              </a:spcAft>
              <a:buNone/>
            </a:pPr>
            <a:r>
              <a:rPr lang="fr-FR" sz="2400"/>
              <a:t>E- des préoccupations concernant l’image du corps</a:t>
            </a:r>
            <a:endParaRPr sz="24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59"/>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29" name="Google Shape;529;p59"/>
          <p:cNvSpPr txBox="1"/>
          <p:nvPr>
            <p:ph type="title"/>
          </p:nvPr>
        </p:nvSpPr>
        <p:spPr>
          <a:xfrm>
            <a:off x="802005" y="636905"/>
            <a:ext cx="10587989" cy="1671955"/>
          </a:xfrm>
          <a:prstGeom prst="rect">
            <a:avLst/>
          </a:prstGeom>
          <a:noFill/>
          <a:ln>
            <a:noFill/>
          </a:ln>
        </p:spPr>
        <p:txBody>
          <a:bodyPr anchorCtr="0" anchor="t" bIns="0" lIns="0" spcFirstLastPara="1" rIns="0" wrap="square" tIns="676200">
            <a:spAutoFit/>
          </a:bodyPr>
          <a:lstStyle/>
          <a:p>
            <a:pPr indent="0" lvl="0" marL="365760" rtl="0" algn="l">
              <a:lnSpc>
                <a:spcPct val="100000"/>
              </a:lnSpc>
              <a:spcBef>
                <a:spcPts val="0"/>
              </a:spcBef>
              <a:spcAft>
                <a:spcPts val="0"/>
              </a:spcAft>
              <a:buNone/>
            </a:pPr>
            <a:r>
              <a:rPr lang="fr-FR" sz="4400"/>
              <a:t>Un trouble phobique est caractérisé par :</a:t>
            </a:r>
            <a:endParaRPr sz="4400"/>
          </a:p>
        </p:txBody>
      </p:sp>
      <p:sp>
        <p:nvSpPr>
          <p:cNvPr id="530" name="Google Shape;530;p5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531" name="Google Shape;531;p59"/>
          <p:cNvSpPr txBox="1"/>
          <p:nvPr>
            <p:ph idx="1" type="body"/>
          </p:nvPr>
        </p:nvSpPr>
        <p:spPr>
          <a:xfrm>
            <a:off x="1375028" y="2402586"/>
            <a:ext cx="9363075" cy="2696201"/>
          </a:xfrm>
          <a:prstGeom prst="rect">
            <a:avLst/>
          </a:prstGeom>
          <a:noFill/>
          <a:ln>
            <a:noFill/>
          </a:ln>
        </p:spPr>
        <p:txBody>
          <a:bodyPr anchorCtr="0" anchor="t" bIns="0" lIns="0" spcFirstLastPara="1" rIns="0" wrap="square" tIns="180925">
            <a:spAutoFit/>
          </a:bodyPr>
          <a:lstStyle/>
          <a:p>
            <a:pPr indent="-514350" lvl="0" marL="527050" rtl="0" algn="l">
              <a:lnSpc>
                <a:spcPct val="100000"/>
              </a:lnSpc>
              <a:spcBef>
                <a:spcPts val="0"/>
              </a:spcBef>
              <a:spcAft>
                <a:spcPts val="0"/>
              </a:spcAft>
              <a:buClr>
                <a:srgbClr val="83992A"/>
              </a:buClr>
              <a:buSzPts val="3142"/>
              <a:buFont typeface="Garamond"/>
              <a:buAutoNum type="alphaUcPeriod"/>
            </a:pPr>
            <a:r>
              <a:rPr lang="fr-FR">
                <a:solidFill>
                  <a:srgbClr val="FF0000"/>
                </a:solidFill>
              </a:rPr>
              <a:t>Une anxiété situationnelle</a:t>
            </a:r>
            <a:endParaRPr/>
          </a:p>
          <a:p>
            <a:pPr indent="-514350" lvl="0" marL="527050" rtl="0" algn="l">
              <a:lnSpc>
                <a:spcPct val="100000"/>
              </a:lnSpc>
              <a:spcBef>
                <a:spcPts val="820"/>
              </a:spcBef>
              <a:spcAft>
                <a:spcPts val="0"/>
              </a:spcAft>
              <a:buClr>
                <a:srgbClr val="83992A"/>
              </a:buClr>
              <a:buSzPts val="3142"/>
              <a:buFont typeface="Garamond"/>
              <a:buAutoNum type="alphaUcPeriod"/>
            </a:pPr>
            <a:r>
              <a:rPr lang="fr-FR">
                <a:solidFill>
                  <a:schemeClr val="dk1"/>
                </a:solidFill>
              </a:rPr>
              <a:t>Une timidité excessive</a:t>
            </a:r>
            <a:endParaRPr/>
          </a:p>
          <a:p>
            <a:pPr indent="-514350" lvl="0" marL="527050" rtl="0" algn="l">
              <a:lnSpc>
                <a:spcPct val="100000"/>
              </a:lnSpc>
              <a:spcBef>
                <a:spcPts val="815"/>
              </a:spcBef>
              <a:spcAft>
                <a:spcPts val="0"/>
              </a:spcAft>
              <a:buClr>
                <a:srgbClr val="83992A"/>
              </a:buClr>
              <a:buSzPts val="3142"/>
              <a:buFont typeface="Garamond"/>
              <a:buAutoNum type="alphaUcPeriod"/>
            </a:pPr>
            <a:r>
              <a:rPr lang="fr-FR">
                <a:solidFill>
                  <a:srgbClr val="FF0000"/>
                </a:solidFill>
              </a:rPr>
              <a:t>Un caractère absurde</a:t>
            </a:r>
            <a:endParaRPr/>
          </a:p>
          <a:p>
            <a:pPr indent="-513715" lvl="0" marL="526415" rtl="0" algn="l">
              <a:lnSpc>
                <a:spcPct val="100000"/>
              </a:lnSpc>
              <a:spcBef>
                <a:spcPts val="740"/>
              </a:spcBef>
              <a:spcAft>
                <a:spcPts val="0"/>
              </a:spcAft>
              <a:buClr>
                <a:srgbClr val="83992A"/>
              </a:buClr>
              <a:buSzPts val="3142"/>
              <a:buFont typeface="Garamond"/>
              <a:buAutoNum type="alphaUcPeriod"/>
            </a:pPr>
            <a:r>
              <a:rPr lang="fr-FR">
                <a:solidFill>
                  <a:srgbClr val="FF0000"/>
                </a:solidFill>
              </a:rPr>
              <a:t>Des conduites d’évitement</a:t>
            </a:r>
            <a:endParaRPr/>
          </a:p>
          <a:p>
            <a:pPr indent="-513715" lvl="0" marL="526415" rtl="0" algn="l">
              <a:lnSpc>
                <a:spcPct val="100000"/>
              </a:lnSpc>
              <a:spcBef>
                <a:spcPts val="815"/>
              </a:spcBef>
              <a:spcAft>
                <a:spcPts val="0"/>
              </a:spcAft>
              <a:buClr>
                <a:srgbClr val="83992A"/>
              </a:buClr>
              <a:buSzPts val="3142"/>
              <a:buFont typeface="Garamond"/>
              <a:buAutoNum type="alphaUcPeriod"/>
            </a:pPr>
            <a:r>
              <a:rPr lang="fr-FR"/>
              <a:t>Des idées qui assiègent le fonctionnement mental du sujet.</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60"/>
          <p:cNvSpPr txBox="1"/>
          <p:nvPr>
            <p:ph type="title"/>
          </p:nvPr>
        </p:nvSpPr>
        <p:spPr>
          <a:xfrm>
            <a:off x="1375028" y="749299"/>
            <a:ext cx="9781540" cy="1671955"/>
          </a:xfrm>
          <a:prstGeom prst="rect">
            <a:avLst/>
          </a:prstGeom>
          <a:noFill/>
          <a:ln>
            <a:noFill/>
          </a:ln>
        </p:spPr>
        <p:txBody>
          <a:bodyPr anchorCtr="0" anchor="t" bIns="0" lIns="0" spcFirstLastPara="1" rIns="0" wrap="square" tIns="13325">
            <a:spAutoFit/>
          </a:bodyPr>
          <a:lstStyle/>
          <a:p>
            <a:pPr indent="0" lvl="0" marL="12700" marR="5080" rtl="0" algn="l">
              <a:lnSpc>
                <a:spcPct val="100000"/>
              </a:lnSpc>
              <a:spcBef>
                <a:spcPts val="0"/>
              </a:spcBef>
              <a:spcAft>
                <a:spcPts val="0"/>
              </a:spcAft>
              <a:buNone/>
            </a:pPr>
            <a:r>
              <a:rPr lang="fr-FR"/>
              <a:t>Les deux types de réponses comportementales qui permettent au phobique de se défendre contre </a:t>
            </a:r>
            <a:r>
              <a:rPr lang="fr-FR" u="sng"/>
              <a:t>l’anxiété sont :	</a:t>
            </a:r>
            <a:endParaRPr/>
          </a:p>
        </p:txBody>
      </p:sp>
      <p:sp>
        <p:nvSpPr>
          <p:cNvPr id="537" name="Google Shape;537;p6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538" name="Google Shape;538;p60"/>
          <p:cNvSpPr txBox="1"/>
          <p:nvPr/>
        </p:nvSpPr>
        <p:spPr>
          <a:xfrm>
            <a:off x="1375028" y="2491080"/>
            <a:ext cx="6400165" cy="2568011"/>
          </a:xfrm>
          <a:prstGeom prst="rect">
            <a:avLst/>
          </a:prstGeom>
          <a:noFill/>
          <a:ln>
            <a:noFill/>
          </a:ln>
        </p:spPr>
        <p:txBody>
          <a:bodyPr anchorCtr="0" anchor="t" bIns="0" lIns="0" spcFirstLastPara="1" rIns="0" wrap="square" tIns="53975">
            <a:spAutoFit/>
          </a:bodyPr>
          <a:lstStyle/>
          <a:p>
            <a:pPr indent="-513715" lvl="0" marL="526415"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L’évitement des situations phobogènes</a:t>
            </a:r>
            <a:endParaRPr sz="2750">
              <a:solidFill>
                <a:srgbClr val="FF0000"/>
              </a:solidFill>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Les actes mentaux</a:t>
            </a:r>
            <a:endParaRPr sz="2750">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Les conduites contra-phobiques</a:t>
            </a:r>
            <a:endParaRPr sz="2750">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Les rituels</a:t>
            </a:r>
            <a:endParaRPr sz="2750">
              <a:solidFill>
                <a:srgbClr val="FF0000"/>
              </a:solidFill>
              <a:latin typeface="Garamond"/>
              <a:ea typeface="Garamond"/>
              <a:cs typeface="Garamond"/>
              <a:sym typeface="Garamond"/>
            </a:endParaRPr>
          </a:p>
          <a:p>
            <a:pPr indent="-513715" lvl="0" marL="526415"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Les compulsions</a:t>
            </a:r>
            <a:endParaRPr sz="2750">
              <a:latin typeface="Garamond"/>
              <a:ea typeface="Garamond"/>
              <a:cs typeface="Garamond"/>
              <a:sym typeface="Garamon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pic>
        <p:nvPicPr>
          <p:cNvPr id="543" name="Google Shape;543;p61"/>
          <p:cNvPicPr preferRelativeResize="0"/>
          <p:nvPr/>
        </p:nvPicPr>
        <p:blipFill rotWithShape="1">
          <a:blip r:embed="rId3">
            <a:alphaModFix/>
          </a:blip>
          <a:srcRect b="0" l="0" r="0" t="0"/>
          <a:stretch/>
        </p:blipFill>
        <p:spPr>
          <a:xfrm>
            <a:off x="3571875" y="1209675"/>
            <a:ext cx="5267325" cy="4438650"/>
          </a:xfrm>
          <a:prstGeom prst="rect">
            <a:avLst/>
          </a:prstGeom>
          <a:noFill/>
          <a:ln>
            <a:noFill/>
          </a:ln>
        </p:spPr>
      </p:pic>
      <p:sp>
        <p:nvSpPr>
          <p:cNvPr id="544" name="Google Shape;544;p6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62"/>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50" name="Google Shape;550;p62"/>
          <p:cNvSpPr txBox="1"/>
          <p:nvPr>
            <p:ph type="title"/>
          </p:nvPr>
        </p:nvSpPr>
        <p:spPr>
          <a:xfrm>
            <a:off x="802005" y="636905"/>
            <a:ext cx="10587989" cy="1671955"/>
          </a:xfrm>
          <a:prstGeom prst="rect">
            <a:avLst/>
          </a:prstGeom>
          <a:noFill/>
          <a:ln>
            <a:noFill/>
          </a:ln>
        </p:spPr>
        <p:txBody>
          <a:bodyPr anchorCtr="0" anchor="t" bIns="0" lIns="0" spcFirstLastPara="1" rIns="0" wrap="square" tIns="605450">
            <a:spAutoFit/>
          </a:bodyPr>
          <a:lstStyle/>
          <a:p>
            <a:pPr indent="0" lvl="0" marL="986155" rtl="0" algn="l">
              <a:lnSpc>
                <a:spcPct val="100000"/>
              </a:lnSpc>
              <a:spcBef>
                <a:spcPts val="0"/>
              </a:spcBef>
              <a:spcAft>
                <a:spcPts val="0"/>
              </a:spcAft>
              <a:buNone/>
            </a:pPr>
            <a:r>
              <a:rPr lang="fr-FR" sz="3950"/>
              <a:t>L’agoraphobie est la peur de :</a:t>
            </a:r>
            <a:endParaRPr sz="3950"/>
          </a:p>
        </p:txBody>
      </p:sp>
      <p:sp>
        <p:nvSpPr>
          <p:cNvPr id="551" name="Google Shape;551;p6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552" name="Google Shape;552;p62"/>
          <p:cNvSpPr txBox="1"/>
          <p:nvPr/>
        </p:nvSpPr>
        <p:spPr>
          <a:xfrm>
            <a:off x="1375028" y="2470270"/>
            <a:ext cx="6265545" cy="2568011"/>
          </a:xfrm>
          <a:prstGeom prst="rect">
            <a:avLst/>
          </a:prstGeom>
          <a:noFill/>
          <a:ln>
            <a:noFill/>
          </a:ln>
        </p:spPr>
        <p:txBody>
          <a:bodyPr anchorCtr="0" anchor="t" bIns="0" lIns="0" spcFirstLastPara="1" rIns="0" wrap="square" tIns="53975">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Ecrire en public</a:t>
            </a:r>
            <a:endParaRPr sz="2750">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Agresser quelqu’un</a:t>
            </a:r>
            <a:endParaRPr sz="2750">
              <a:latin typeface="Garamond"/>
              <a:ea typeface="Garamond"/>
              <a:cs typeface="Garamond"/>
              <a:sym typeface="Garamond"/>
            </a:endParaRPr>
          </a:p>
          <a:p>
            <a:pPr indent="-514350" lvl="0" marL="527050" rtl="0" algn="l">
              <a:lnSpc>
                <a:spcPct val="100000"/>
              </a:lnSpc>
              <a:spcBef>
                <a:spcPts val="82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Se retrouver dans une foule</a:t>
            </a:r>
            <a:endParaRPr sz="2750">
              <a:solidFill>
                <a:srgbClr val="FF0000"/>
              </a:solidFill>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Ne pas être secouru en cas de malaise</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Agir de façon humiliante</a:t>
            </a:r>
            <a:endParaRPr sz="2750">
              <a:latin typeface="Garamond"/>
              <a:ea typeface="Garamond"/>
              <a:cs typeface="Garamond"/>
              <a:sym typeface="Garamon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63"/>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58" name="Google Shape;558;p63"/>
          <p:cNvSpPr txBox="1"/>
          <p:nvPr>
            <p:ph type="title"/>
          </p:nvPr>
        </p:nvSpPr>
        <p:spPr>
          <a:xfrm>
            <a:off x="802005" y="636905"/>
            <a:ext cx="10587989" cy="1671955"/>
          </a:xfrm>
          <a:prstGeom prst="rect">
            <a:avLst/>
          </a:prstGeom>
          <a:noFill/>
          <a:ln>
            <a:noFill/>
          </a:ln>
        </p:spPr>
        <p:txBody>
          <a:bodyPr anchorCtr="0" anchor="t" bIns="0" lIns="0" spcFirstLastPara="1" rIns="0" wrap="square" tIns="727325">
            <a:spAutoFit/>
          </a:bodyPr>
          <a:lstStyle/>
          <a:p>
            <a:pPr indent="0" lvl="0" marL="1108710" rtl="0" algn="l">
              <a:lnSpc>
                <a:spcPct val="100000"/>
              </a:lnSpc>
              <a:spcBef>
                <a:spcPts val="0"/>
              </a:spcBef>
              <a:spcAft>
                <a:spcPts val="0"/>
              </a:spcAft>
              <a:buNone/>
            </a:pPr>
            <a:r>
              <a:rPr lang="fr-FR" sz="3950"/>
              <a:t>L'agoraphobie peut se manifester par :</a:t>
            </a:r>
            <a:endParaRPr sz="3950"/>
          </a:p>
        </p:txBody>
      </p:sp>
      <p:sp>
        <p:nvSpPr>
          <p:cNvPr id="559" name="Google Shape;559;p6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560" name="Google Shape;560;p63"/>
          <p:cNvSpPr txBox="1"/>
          <p:nvPr/>
        </p:nvSpPr>
        <p:spPr>
          <a:xfrm>
            <a:off x="1375028" y="2468678"/>
            <a:ext cx="8940165" cy="2795637"/>
          </a:xfrm>
          <a:prstGeom prst="rect">
            <a:avLst/>
          </a:prstGeom>
          <a:noFill/>
          <a:ln>
            <a:noFill/>
          </a:ln>
        </p:spPr>
        <p:txBody>
          <a:bodyPr anchorCtr="0" anchor="t" bIns="0" lIns="0" spcFirstLastPara="1" rIns="0" wrap="square" tIns="12700">
            <a:spAutoFit/>
          </a:bodyPr>
          <a:lstStyle/>
          <a:p>
            <a:pPr indent="-513715" lvl="0" marL="526415"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La peur de se retrouver seul dans un lieu public</a:t>
            </a:r>
            <a:endParaRPr sz="2750">
              <a:solidFill>
                <a:srgbClr val="FF0000"/>
              </a:solidFill>
              <a:latin typeface="Garamond"/>
              <a:ea typeface="Garamond"/>
              <a:cs typeface="Garamond"/>
              <a:sym typeface="Garamond"/>
            </a:endParaRPr>
          </a:p>
          <a:p>
            <a:pPr indent="-514350" lvl="0" marL="527050" rtl="0" algn="l">
              <a:lnSpc>
                <a:spcPct val="134000"/>
              </a:lnSpc>
              <a:spcBef>
                <a:spcPts val="44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La nécessité de la présence d’un accompagnant lors des</a:t>
            </a:r>
            <a:endParaRPr sz="2750">
              <a:solidFill>
                <a:srgbClr val="FF0000"/>
              </a:solidFill>
              <a:latin typeface="Garamond"/>
              <a:ea typeface="Garamond"/>
              <a:cs typeface="Garamond"/>
              <a:sym typeface="Garamond"/>
            </a:endParaRPr>
          </a:p>
          <a:p>
            <a:pPr indent="0" lvl="0" marL="527685" rtl="0" algn="l">
              <a:lnSpc>
                <a:spcPct val="114363"/>
              </a:lnSpc>
              <a:spcBef>
                <a:spcPts val="0"/>
              </a:spcBef>
              <a:spcAft>
                <a:spcPts val="0"/>
              </a:spcAft>
              <a:buNone/>
            </a:pPr>
            <a:r>
              <a:rPr b="1" lang="fr-FR" sz="2750">
                <a:solidFill>
                  <a:srgbClr val="FF0000"/>
                </a:solidFill>
                <a:latin typeface="Garamond"/>
                <a:ea typeface="Garamond"/>
                <a:cs typeface="Garamond"/>
                <a:sym typeface="Garamond"/>
              </a:rPr>
              <a:t>déplacements</a:t>
            </a:r>
            <a:endParaRPr sz="2750">
              <a:solidFill>
                <a:srgbClr val="FF0000"/>
              </a:solidFill>
              <a:latin typeface="Garamond"/>
              <a:ea typeface="Garamond"/>
              <a:cs typeface="Garamond"/>
              <a:sym typeface="Garamond"/>
            </a:endParaRPr>
          </a:p>
          <a:p>
            <a:pPr indent="-514350" lvl="0" marL="527050" rtl="0" algn="l">
              <a:lnSpc>
                <a:spcPct val="100000"/>
              </a:lnSpc>
              <a:spcBef>
                <a:spcPts val="530"/>
              </a:spcBef>
              <a:spcAft>
                <a:spcPts val="0"/>
              </a:spcAft>
              <a:buClr>
                <a:srgbClr val="83992A"/>
              </a:buClr>
              <a:buSzPts val="3200"/>
              <a:buFont typeface="Garamond"/>
              <a:buAutoNum type="alphaUcPeriod" startAt="3"/>
            </a:pPr>
            <a:r>
              <a:rPr b="1" lang="fr-FR" sz="2750">
                <a:solidFill>
                  <a:srgbClr val="FF0000"/>
                </a:solidFill>
                <a:latin typeface="Garamond"/>
                <a:ea typeface="Garamond"/>
                <a:cs typeface="Garamond"/>
                <a:sym typeface="Garamond"/>
              </a:rPr>
              <a:t>L'évitement des lieux publics</a:t>
            </a:r>
            <a:endParaRPr sz="2750">
              <a:solidFill>
                <a:srgbClr val="FF0000"/>
              </a:solidFill>
              <a:latin typeface="Garamond"/>
              <a:ea typeface="Garamond"/>
              <a:cs typeface="Garamond"/>
              <a:sym typeface="Garamond"/>
            </a:endParaRPr>
          </a:p>
          <a:p>
            <a:pPr indent="-513715" lvl="0" marL="526415" rtl="0" algn="l">
              <a:lnSpc>
                <a:spcPct val="100000"/>
              </a:lnSpc>
              <a:spcBef>
                <a:spcPts val="434"/>
              </a:spcBef>
              <a:spcAft>
                <a:spcPts val="0"/>
              </a:spcAft>
              <a:buClr>
                <a:srgbClr val="83992A"/>
              </a:buClr>
              <a:buSzPts val="3200"/>
              <a:buFont typeface="Garamond"/>
              <a:buAutoNum type="alphaUcPeriod" startAt="3"/>
            </a:pPr>
            <a:r>
              <a:rPr b="1" lang="fr-FR" sz="2750">
                <a:solidFill>
                  <a:srgbClr val="FF0000"/>
                </a:solidFill>
                <a:latin typeface="Garamond"/>
                <a:ea typeface="Garamond"/>
                <a:cs typeface="Garamond"/>
                <a:sym typeface="Garamond"/>
              </a:rPr>
              <a:t>La peur et l'évitement des moyens de transport</a:t>
            </a:r>
            <a:endParaRPr sz="2750">
              <a:solidFill>
                <a:srgbClr val="FF0000"/>
              </a:solidFill>
              <a:latin typeface="Garamond"/>
              <a:ea typeface="Garamond"/>
              <a:cs typeface="Garamond"/>
              <a:sym typeface="Garamond"/>
            </a:endParaRPr>
          </a:p>
          <a:p>
            <a:pPr indent="-513715" lvl="0" marL="526415" rtl="0" algn="l">
              <a:lnSpc>
                <a:spcPct val="100000"/>
              </a:lnSpc>
              <a:spcBef>
                <a:spcPts val="445"/>
              </a:spcBef>
              <a:spcAft>
                <a:spcPts val="0"/>
              </a:spcAft>
              <a:buClr>
                <a:srgbClr val="83992A"/>
              </a:buClr>
              <a:buSzPts val="3200"/>
              <a:buFont typeface="Garamond"/>
              <a:buAutoNum type="alphaUcPeriod" startAt="3"/>
            </a:pPr>
            <a:r>
              <a:rPr b="1" lang="fr-FR" sz="2750">
                <a:solidFill>
                  <a:srgbClr val="252525"/>
                </a:solidFill>
                <a:latin typeface="Garamond"/>
                <a:ea typeface="Garamond"/>
                <a:cs typeface="Garamond"/>
                <a:sym typeface="Garamond"/>
              </a:rPr>
              <a:t>La peur d'être observé en public</a:t>
            </a:r>
            <a:endParaRPr sz="2750">
              <a:latin typeface="Garamond"/>
              <a:ea typeface="Garamond"/>
              <a:cs typeface="Garamond"/>
              <a:sym typeface="Garamon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64"/>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66" name="Google Shape;566;p64"/>
          <p:cNvSpPr txBox="1"/>
          <p:nvPr>
            <p:ph type="title"/>
          </p:nvPr>
        </p:nvSpPr>
        <p:spPr>
          <a:xfrm>
            <a:off x="802005" y="636905"/>
            <a:ext cx="10587989" cy="1671955"/>
          </a:xfrm>
          <a:prstGeom prst="rect">
            <a:avLst/>
          </a:prstGeom>
          <a:noFill/>
          <a:ln>
            <a:noFill/>
          </a:ln>
        </p:spPr>
        <p:txBody>
          <a:bodyPr anchorCtr="0" anchor="t" bIns="0" lIns="0" spcFirstLastPara="1" rIns="0" wrap="square" tIns="345800">
            <a:spAutoFit/>
          </a:bodyPr>
          <a:lstStyle/>
          <a:p>
            <a:pPr indent="0" lvl="0" marL="585470" marR="5080" rtl="0" algn="l">
              <a:lnSpc>
                <a:spcPct val="101400"/>
              </a:lnSpc>
              <a:spcBef>
                <a:spcPts val="0"/>
              </a:spcBef>
              <a:spcAft>
                <a:spcPts val="0"/>
              </a:spcAft>
              <a:buNone/>
            </a:pPr>
            <a:r>
              <a:rPr lang="fr-FR" sz="3950"/>
              <a:t>L'évolution d'une agoraphobie peut se faire vers :</a:t>
            </a:r>
            <a:endParaRPr sz="3950"/>
          </a:p>
        </p:txBody>
      </p:sp>
      <p:sp>
        <p:nvSpPr>
          <p:cNvPr id="567" name="Google Shape;567;p6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568" name="Google Shape;568;p64"/>
          <p:cNvSpPr txBox="1"/>
          <p:nvPr/>
        </p:nvSpPr>
        <p:spPr>
          <a:xfrm>
            <a:off x="1375028" y="2622082"/>
            <a:ext cx="5054600" cy="2167900"/>
          </a:xfrm>
          <a:prstGeom prst="rect">
            <a:avLst/>
          </a:prstGeom>
          <a:noFill/>
          <a:ln>
            <a:noFill/>
          </a:ln>
        </p:spPr>
        <p:txBody>
          <a:bodyPr anchorCtr="0" anchor="t" bIns="0" lIns="0" spcFirstLastPara="1" rIns="0" wrap="square" tIns="26025">
            <a:spAutoFit/>
          </a:bodyPr>
          <a:lstStyle/>
          <a:p>
            <a:pPr indent="-514983" lvl="0" marL="527685" rtl="0" algn="l">
              <a:lnSpc>
                <a:spcPct val="100000"/>
              </a:lnSpc>
              <a:spcBef>
                <a:spcPts val="0"/>
              </a:spcBef>
              <a:spcAft>
                <a:spcPts val="0"/>
              </a:spcAft>
              <a:buClr>
                <a:srgbClr val="83992A"/>
              </a:buClr>
              <a:buSzPts val="2850"/>
              <a:buFont typeface="Garamond"/>
              <a:buAutoNum type="alphaUcPeriod"/>
            </a:pPr>
            <a:r>
              <a:rPr b="1" lang="fr-FR" sz="2450">
                <a:solidFill>
                  <a:srgbClr val="FF0000"/>
                </a:solidFill>
                <a:latin typeface="Garamond"/>
                <a:ea typeface="Garamond"/>
                <a:cs typeface="Garamond"/>
                <a:sym typeface="Garamond"/>
              </a:rPr>
              <a:t>Dépression majeure</a:t>
            </a:r>
            <a:endParaRPr sz="2450">
              <a:solidFill>
                <a:srgbClr val="FF0000"/>
              </a:solidFill>
              <a:latin typeface="Garamond"/>
              <a:ea typeface="Garamond"/>
              <a:cs typeface="Garamond"/>
              <a:sym typeface="Garamond"/>
            </a:endParaRPr>
          </a:p>
          <a:p>
            <a:pPr indent="-514983" lvl="0" marL="527685" rtl="0" algn="l">
              <a:lnSpc>
                <a:spcPct val="100000"/>
              </a:lnSpc>
              <a:spcBef>
                <a:spcPts val="484"/>
              </a:spcBef>
              <a:spcAft>
                <a:spcPts val="0"/>
              </a:spcAft>
              <a:buClr>
                <a:srgbClr val="83992A"/>
              </a:buClr>
              <a:buSzPts val="2850"/>
              <a:buFont typeface="Garamond"/>
              <a:buAutoNum type="alphaUcPeriod"/>
            </a:pPr>
            <a:r>
              <a:rPr b="1" lang="fr-FR" sz="2450">
                <a:solidFill>
                  <a:srgbClr val="FF0000"/>
                </a:solidFill>
                <a:latin typeface="Garamond"/>
                <a:ea typeface="Garamond"/>
                <a:cs typeface="Garamond"/>
                <a:sym typeface="Garamond"/>
              </a:rPr>
              <a:t>Abus alcoolique avec dépendance</a:t>
            </a:r>
            <a:endParaRPr sz="2450">
              <a:solidFill>
                <a:srgbClr val="FF0000"/>
              </a:solidFill>
              <a:latin typeface="Garamond"/>
              <a:ea typeface="Garamond"/>
              <a:cs typeface="Garamond"/>
              <a:sym typeface="Garamond"/>
            </a:endParaRPr>
          </a:p>
          <a:p>
            <a:pPr indent="-514983" lvl="0" marL="527685" rtl="0" algn="l">
              <a:lnSpc>
                <a:spcPct val="100000"/>
              </a:lnSpc>
              <a:spcBef>
                <a:spcPts val="484"/>
              </a:spcBef>
              <a:spcAft>
                <a:spcPts val="0"/>
              </a:spcAft>
              <a:buClr>
                <a:srgbClr val="83992A"/>
              </a:buClr>
              <a:buSzPts val="2850"/>
              <a:buFont typeface="Garamond"/>
              <a:buAutoNum type="alphaUcPeriod"/>
            </a:pPr>
            <a:r>
              <a:rPr b="1" lang="fr-FR" sz="2450">
                <a:solidFill>
                  <a:srgbClr val="FF0000"/>
                </a:solidFill>
                <a:latin typeface="Garamond"/>
                <a:ea typeface="Garamond"/>
                <a:cs typeface="Garamond"/>
                <a:sym typeface="Garamond"/>
              </a:rPr>
              <a:t>Abus d'anxiolytiques</a:t>
            </a:r>
            <a:endParaRPr sz="2450">
              <a:solidFill>
                <a:srgbClr val="FF0000"/>
              </a:solidFill>
              <a:latin typeface="Garamond"/>
              <a:ea typeface="Garamond"/>
              <a:cs typeface="Garamond"/>
              <a:sym typeface="Garamond"/>
            </a:endParaRPr>
          </a:p>
          <a:p>
            <a:pPr indent="-514350" lvl="0" marL="527050" rtl="0" algn="l">
              <a:lnSpc>
                <a:spcPct val="100000"/>
              </a:lnSpc>
              <a:spcBef>
                <a:spcPts val="484"/>
              </a:spcBef>
              <a:spcAft>
                <a:spcPts val="0"/>
              </a:spcAft>
              <a:buClr>
                <a:srgbClr val="83992A"/>
              </a:buClr>
              <a:buSzPts val="2850"/>
              <a:buFont typeface="Garamond"/>
              <a:buAutoNum type="alphaUcPeriod"/>
            </a:pPr>
            <a:r>
              <a:rPr b="1" lang="fr-FR" sz="2450">
                <a:solidFill>
                  <a:srgbClr val="0C0C0C"/>
                </a:solidFill>
                <a:latin typeface="Garamond"/>
                <a:ea typeface="Garamond"/>
                <a:cs typeface="Garamond"/>
                <a:sym typeface="Garamond"/>
              </a:rPr>
              <a:t>Délire chronique interprétatif</a:t>
            </a:r>
            <a:endParaRPr sz="2450">
              <a:solidFill>
                <a:srgbClr val="0C0C0C"/>
              </a:solidFill>
              <a:latin typeface="Garamond"/>
              <a:ea typeface="Garamond"/>
              <a:cs typeface="Garamond"/>
              <a:sym typeface="Garamond"/>
            </a:endParaRPr>
          </a:p>
          <a:p>
            <a:pPr indent="-514983" lvl="0" marL="527685" rtl="0" algn="l">
              <a:lnSpc>
                <a:spcPct val="100000"/>
              </a:lnSpc>
              <a:spcBef>
                <a:spcPts val="490"/>
              </a:spcBef>
              <a:spcAft>
                <a:spcPts val="0"/>
              </a:spcAft>
              <a:buClr>
                <a:srgbClr val="83992A"/>
              </a:buClr>
              <a:buSzPts val="2850"/>
              <a:buFont typeface="Garamond"/>
              <a:buAutoNum type="alphaUcPeriod"/>
            </a:pPr>
            <a:r>
              <a:rPr b="1" lang="fr-FR" sz="2450">
                <a:solidFill>
                  <a:srgbClr val="FF0000"/>
                </a:solidFill>
                <a:latin typeface="Garamond"/>
                <a:ea typeface="Garamond"/>
                <a:cs typeface="Garamond"/>
                <a:sym typeface="Garamond"/>
              </a:rPr>
              <a:t>Rémission totale</a:t>
            </a:r>
            <a:endParaRPr sz="2450">
              <a:solidFill>
                <a:srgbClr val="FF0000"/>
              </a:solidFill>
              <a:latin typeface="Garamond"/>
              <a:ea typeface="Garamond"/>
              <a:cs typeface="Garamond"/>
              <a:sym typeface="Garamon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65"/>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74" name="Google Shape;574;p65"/>
          <p:cNvSpPr txBox="1"/>
          <p:nvPr>
            <p:ph type="title"/>
          </p:nvPr>
        </p:nvSpPr>
        <p:spPr>
          <a:xfrm>
            <a:off x="802005" y="636905"/>
            <a:ext cx="10587989" cy="1671955"/>
          </a:xfrm>
          <a:prstGeom prst="rect">
            <a:avLst/>
          </a:prstGeom>
          <a:noFill/>
          <a:ln>
            <a:noFill/>
          </a:ln>
        </p:spPr>
        <p:txBody>
          <a:bodyPr anchorCtr="0" anchor="t" bIns="0" lIns="0" spcFirstLastPara="1" rIns="0" wrap="square" tIns="382000">
            <a:spAutoFit/>
          </a:bodyPr>
          <a:lstStyle/>
          <a:p>
            <a:pPr indent="0" lvl="0" marL="585470" rtl="0" algn="l">
              <a:lnSpc>
                <a:spcPct val="100000"/>
              </a:lnSpc>
              <a:spcBef>
                <a:spcPts val="0"/>
              </a:spcBef>
              <a:spcAft>
                <a:spcPts val="0"/>
              </a:spcAft>
              <a:buNone/>
            </a:pPr>
            <a:r>
              <a:rPr lang="fr-FR">
                <a:solidFill>
                  <a:srgbClr val="000000"/>
                </a:solidFill>
              </a:rPr>
              <a:t>L’agoraphobie peut se caractériser par :</a:t>
            </a:r>
            <a:endParaRPr/>
          </a:p>
        </p:txBody>
      </p:sp>
      <p:sp>
        <p:nvSpPr>
          <p:cNvPr id="575" name="Google Shape;575;p6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576" name="Google Shape;576;p65"/>
          <p:cNvSpPr txBox="1"/>
          <p:nvPr/>
        </p:nvSpPr>
        <p:spPr>
          <a:xfrm>
            <a:off x="1375028" y="2425763"/>
            <a:ext cx="9420225" cy="3130985"/>
          </a:xfrm>
          <a:prstGeom prst="rect">
            <a:avLst/>
          </a:prstGeom>
          <a:noFill/>
          <a:ln>
            <a:noFill/>
          </a:ln>
        </p:spPr>
        <p:txBody>
          <a:bodyPr anchorCtr="0" anchor="t" bIns="0" lIns="0" spcFirstLastPara="1" rIns="0" wrap="square" tIns="123825">
            <a:spAutoFit/>
          </a:bodyPr>
          <a:lstStyle/>
          <a:p>
            <a:pPr indent="0" lvl="0" marL="12700" rtl="0" algn="l">
              <a:lnSpc>
                <a:spcPct val="100000"/>
              </a:lnSpc>
              <a:spcBef>
                <a:spcPts val="0"/>
              </a:spcBef>
              <a:spcAft>
                <a:spcPts val="0"/>
              </a:spcAft>
              <a:buNone/>
            </a:pPr>
            <a:r>
              <a:rPr b="1" lang="fr-FR" sz="2400">
                <a:solidFill>
                  <a:srgbClr val="252525"/>
                </a:solidFill>
                <a:latin typeface="Garamond"/>
                <a:ea typeface="Garamond"/>
                <a:cs typeface="Garamond"/>
                <a:sym typeface="Garamond"/>
              </a:rPr>
              <a:t>A- la peur de se trouver seul dans son domicile</a:t>
            </a:r>
            <a:endParaRPr sz="2400">
              <a:latin typeface="Garamond"/>
              <a:ea typeface="Garamond"/>
              <a:cs typeface="Garamond"/>
              <a:sym typeface="Garamond"/>
            </a:endParaRPr>
          </a:p>
          <a:p>
            <a:pPr indent="0" lvl="0" marL="12700" rtl="0" algn="l">
              <a:lnSpc>
                <a:spcPct val="114791"/>
              </a:lnSpc>
              <a:spcBef>
                <a:spcPts val="875"/>
              </a:spcBef>
              <a:spcAft>
                <a:spcPts val="0"/>
              </a:spcAft>
              <a:buNone/>
            </a:pPr>
            <a:r>
              <a:rPr b="1" lang="fr-FR" sz="2400">
                <a:solidFill>
                  <a:srgbClr val="FF0000"/>
                </a:solidFill>
                <a:latin typeface="Garamond"/>
                <a:ea typeface="Garamond"/>
                <a:cs typeface="Garamond"/>
                <a:sym typeface="Garamond"/>
              </a:rPr>
              <a:t>B- la peur d’être dans la foule et de ne pas pouvoir être secouru en cas de</a:t>
            </a:r>
            <a:endParaRPr sz="2400">
              <a:solidFill>
                <a:srgbClr val="FF0000"/>
              </a:solidFill>
              <a:latin typeface="Garamond"/>
              <a:ea typeface="Garamond"/>
              <a:cs typeface="Garamond"/>
              <a:sym typeface="Garamond"/>
            </a:endParaRPr>
          </a:p>
          <a:p>
            <a:pPr indent="0" lvl="0" marL="12700" rtl="0" algn="l">
              <a:lnSpc>
                <a:spcPct val="114791"/>
              </a:lnSpc>
              <a:spcBef>
                <a:spcPts val="0"/>
              </a:spcBef>
              <a:spcAft>
                <a:spcPts val="0"/>
              </a:spcAft>
              <a:buNone/>
            </a:pPr>
            <a:r>
              <a:rPr b="1" lang="fr-FR" sz="2400">
                <a:solidFill>
                  <a:srgbClr val="FF0000"/>
                </a:solidFill>
                <a:latin typeface="Garamond"/>
                <a:ea typeface="Garamond"/>
                <a:cs typeface="Garamond"/>
                <a:sym typeface="Garamond"/>
              </a:rPr>
              <a:t>malaise</a:t>
            </a:r>
            <a:endParaRPr sz="2400">
              <a:solidFill>
                <a:srgbClr val="FF0000"/>
              </a:solidFill>
              <a:latin typeface="Garamond"/>
              <a:ea typeface="Garamond"/>
              <a:cs typeface="Garamond"/>
              <a:sym typeface="Garamond"/>
            </a:endParaRPr>
          </a:p>
          <a:p>
            <a:pPr indent="0" lvl="0" marL="12700" rtl="0" algn="l">
              <a:lnSpc>
                <a:spcPct val="100000"/>
              </a:lnSpc>
              <a:spcBef>
                <a:spcPts val="869"/>
              </a:spcBef>
              <a:spcAft>
                <a:spcPts val="0"/>
              </a:spcAft>
              <a:buNone/>
            </a:pPr>
            <a:r>
              <a:rPr b="1" lang="fr-FR" sz="2400">
                <a:solidFill>
                  <a:srgbClr val="252525"/>
                </a:solidFill>
                <a:latin typeface="Garamond"/>
                <a:ea typeface="Garamond"/>
                <a:cs typeface="Garamond"/>
                <a:sym typeface="Garamond"/>
              </a:rPr>
              <a:t>C- la peur d’être dans un ascenseur</a:t>
            </a:r>
            <a:endParaRPr sz="2400">
              <a:latin typeface="Garamond"/>
              <a:ea typeface="Garamond"/>
              <a:cs typeface="Garamond"/>
              <a:sym typeface="Garamond"/>
            </a:endParaRPr>
          </a:p>
          <a:p>
            <a:pPr indent="0" lvl="0" marL="12700" rtl="0" algn="l">
              <a:lnSpc>
                <a:spcPct val="100000"/>
              </a:lnSpc>
              <a:spcBef>
                <a:spcPts val="875"/>
              </a:spcBef>
              <a:spcAft>
                <a:spcPts val="0"/>
              </a:spcAft>
              <a:buNone/>
            </a:pPr>
            <a:r>
              <a:rPr b="1" lang="fr-FR" sz="2400">
                <a:solidFill>
                  <a:srgbClr val="252525"/>
                </a:solidFill>
                <a:latin typeface="Garamond"/>
                <a:ea typeface="Garamond"/>
                <a:cs typeface="Garamond"/>
                <a:sym typeface="Garamond"/>
              </a:rPr>
              <a:t>D- la crainte de faire un exposé en public</a:t>
            </a:r>
            <a:endParaRPr sz="2400">
              <a:latin typeface="Garamond"/>
              <a:ea typeface="Garamond"/>
              <a:cs typeface="Garamond"/>
              <a:sym typeface="Garamond"/>
            </a:endParaRPr>
          </a:p>
          <a:p>
            <a:pPr indent="0" lvl="0" marL="12700" rtl="0" algn="l">
              <a:lnSpc>
                <a:spcPct val="114791"/>
              </a:lnSpc>
              <a:spcBef>
                <a:spcPts val="880"/>
              </a:spcBef>
              <a:spcAft>
                <a:spcPts val="0"/>
              </a:spcAft>
              <a:buNone/>
            </a:pPr>
            <a:r>
              <a:rPr b="1" lang="fr-FR" sz="2400">
                <a:solidFill>
                  <a:srgbClr val="FF0000"/>
                </a:solidFill>
                <a:latin typeface="Garamond"/>
                <a:ea typeface="Garamond"/>
                <a:cs typeface="Garamond"/>
                <a:sym typeface="Garamond"/>
              </a:rPr>
              <a:t>E- la diminution	de la	peur dans un lieu public en compagnie d’un</a:t>
            </a:r>
            <a:endParaRPr sz="2400">
              <a:solidFill>
                <a:srgbClr val="FF0000"/>
              </a:solidFill>
              <a:latin typeface="Garamond"/>
              <a:ea typeface="Garamond"/>
              <a:cs typeface="Garamond"/>
              <a:sym typeface="Garamond"/>
            </a:endParaRPr>
          </a:p>
          <a:p>
            <a:pPr indent="0" lvl="0" marL="12700" rtl="0" algn="l">
              <a:lnSpc>
                <a:spcPct val="114791"/>
              </a:lnSpc>
              <a:spcBef>
                <a:spcPts val="0"/>
              </a:spcBef>
              <a:spcAft>
                <a:spcPts val="0"/>
              </a:spcAft>
              <a:buNone/>
            </a:pPr>
            <a:r>
              <a:rPr b="1" lang="fr-FR" sz="2400">
                <a:solidFill>
                  <a:srgbClr val="FF0000"/>
                </a:solidFill>
                <a:latin typeface="Garamond"/>
                <a:ea typeface="Garamond"/>
                <a:cs typeface="Garamond"/>
                <a:sym typeface="Garamond"/>
              </a:rPr>
              <a:t>proche</a:t>
            </a:r>
            <a:endParaRPr sz="2400">
              <a:solidFill>
                <a:srgbClr val="FF0000"/>
              </a:solidFill>
              <a:latin typeface="Garamond"/>
              <a:ea typeface="Garamond"/>
              <a:cs typeface="Garamond"/>
              <a:sym typeface="Garamon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66"/>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82" name="Google Shape;582;p66"/>
          <p:cNvSpPr txBox="1"/>
          <p:nvPr>
            <p:ph type="title"/>
          </p:nvPr>
        </p:nvSpPr>
        <p:spPr>
          <a:xfrm>
            <a:off x="802005" y="636905"/>
            <a:ext cx="10587989" cy="1671955"/>
          </a:xfrm>
          <a:prstGeom prst="rect">
            <a:avLst/>
          </a:prstGeom>
          <a:noFill/>
          <a:ln>
            <a:noFill/>
          </a:ln>
        </p:spPr>
        <p:txBody>
          <a:bodyPr anchorCtr="0" anchor="t" bIns="0" lIns="0" spcFirstLastPara="1" rIns="0" wrap="square" tIns="354700">
            <a:spAutoFit/>
          </a:bodyPr>
          <a:lstStyle/>
          <a:p>
            <a:pPr indent="0" lvl="0" marL="585470" rtl="0" algn="l">
              <a:lnSpc>
                <a:spcPct val="100000"/>
              </a:lnSpc>
              <a:spcBef>
                <a:spcPts val="0"/>
              </a:spcBef>
              <a:spcAft>
                <a:spcPts val="0"/>
              </a:spcAft>
              <a:buNone/>
            </a:pPr>
            <a:r>
              <a:rPr lang="fr-FR" sz="3950">
                <a:solidFill>
                  <a:srgbClr val="000000"/>
                </a:solidFill>
              </a:rPr>
              <a:t>L'agoraphobie est caractérisée par :</a:t>
            </a:r>
            <a:endParaRPr sz="3950"/>
          </a:p>
        </p:txBody>
      </p:sp>
      <p:sp>
        <p:nvSpPr>
          <p:cNvPr id="583" name="Google Shape;583;p6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584" name="Google Shape;584;p66"/>
          <p:cNvSpPr txBox="1"/>
          <p:nvPr>
            <p:ph idx="1" type="body"/>
          </p:nvPr>
        </p:nvSpPr>
        <p:spPr>
          <a:xfrm>
            <a:off x="1375028" y="2402586"/>
            <a:ext cx="9363075" cy="3087370"/>
          </a:xfrm>
          <a:prstGeom prst="rect">
            <a:avLst/>
          </a:prstGeom>
          <a:noFill/>
          <a:ln>
            <a:noFill/>
          </a:ln>
        </p:spPr>
        <p:txBody>
          <a:bodyPr anchorCtr="0" anchor="t" bIns="0" lIns="0" spcFirstLastPara="1" rIns="0" wrap="square" tIns="171450">
            <a:spAutoFit/>
          </a:bodyPr>
          <a:lstStyle/>
          <a:p>
            <a:pPr indent="0" lvl="0" marL="12700" rtl="0" algn="l">
              <a:lnSpc>
                <a:spcPct val="100000"/>
              </a:lnSpc>
              <a:spcBef>
                <a:spcPts val="0"/>
              </a:spcBef>
              <a:spcAft>
                <a:spcPts val="0"/>
              </a:spcAft>
              <a:buNone/>
            </a:pPr>
            <a:r>
              <a:rPr lang="fr-FR" sz="2400"/>
              <a:t>A - La peur d’être exposé à l’éventuelle observation attentive d’autrui</a:t>
            </a:r>
            <a:endParaRPr sz="2400"/>
          </a:p>
          <a:p>
            <a:pPr indent="0" lvl="0" marL="12700" rtl="0" algn="l">
              <a:lnSpc>
                <a:spcPct val="100000"/>
              </a:lnSpc>
              <a:spcBef>
                <a:spcPts val="1250"/>
              </a:spcBef>
              <a:spcAft>
                <a:spcPts val="0"/>
              </a:spcAft>
              <a:buNone/>
            </a:pPr>
            <a:r>
              <a:rPr lang="fr-FR" sz="2400"/>
              <a:t>B - La peur de parler en public</a:t>
            </a:r>
            <a:endParaRPr sz="2400"/>
          </a:p>
          <a:p>
            <a:pPr indent="0" lvl="0" marL="12700" rtl="0" algn="l">
              <a:lnSpc>
                <a:spcPct val="100000"/>
              </a:lnSpc>
              <a:spcBef>
                <a:spcPts val="1175"/>
              </a:spcBef>
              <a:spcAft>
                <a:spcPts val="0"/>
              </a:spcAft>
              <a:buNone/>
            </a:pPr>
            <a:r>
              <a:rPr lang="fr-FR" sz="2400"/>
              <a:t>C - L'évitement des espaces clos</a:t>
            </a:r>
            <a:endParaRPr sz="2400"/>
          </a:p>
          <a:p>
            <a:pPr indent="0" lvl="0" marL="12700" rtl="0" algn="l">
              <a:lnSpc>
                <a:spcPct val="100000"/>
              </a:lnSpc>
              <a:spcBef>
                <a:spcPts val="1175"/>
              </a:spcBef>
              <a:spcAft>
                <a:spcPts val="0"/>
              </a:spcAft>
              <a:buNone/>
            </a:pPr>
            <a:r>
              <a:rPr lang="fr-FR" sz="2400"/>
              <a:t>D - La peur de dire des blasphèmes dans un lieu sacré</a:t>
            </a:r>
            <a:endParaRPr sz="2400"/>
          </a:p>
          <a:p>
            <a:pPr indent="0" lvl="0" marL="12700" rtl="0" algn="l">
              <a:lnSpc>
                <a:spcPct val="119375"/>
              </a:lnSpc>
              <a:spcBef>
                <a:spcPts val="1175"/>
              </a:spcBef>
              <a:spcAft>
                <a:spcPts val="0"/>
              </a:spcAft>
              <a:buNone/>
            </a:pPr>
            <a:r>
              <a:rPr lang="fr-FR" sz="2400">
                <a:solidFill>
                  <a:srgbClr val="FF0000"/>
                </a:solidFill>
              </a:rPr>
              <a:t>E - L'évitement des endroits d'où il pourrait être difficile de s'échapper</a:t>
            </a:r>
            <a:endParaRPr sz="2400">
              <a:solidFill>
                <a:srgbClr val="FF0000"/>
              </a:solidFill>
            </a:endParaRPr>
          </a:p>
          <a:p>
            <a:pPr indent="0" lvl="0" marL="12700" rtl="0" algn="l">
              <a:lnSpc>
                <a:spcPct val="119375"/>
              </a:lnSpc>
              <a:spcBef>
                <a:spcPts val="0"/>
              </a:spcBef>
              <a:spcAft>
                <a:spcPts val="0"/>
              </a:spcAft>
              <a:buNone/>
            </a:pPr>
            <a:r>
              <a:rPr lang="fr-FR" sz="2400">
                <a:solidFill>
                  <a:srgbClr val="FF0000"/>
                </a:solidFill>
              </a:rPr>
              <a:t>en cas de symptômes paniques.</a:t>
            </a:r>
            <a:endParaRPr sz="2400">
              <a:solidFill>
                <a:srgbClr val="FF0000"/>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67"/>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90" name="Google Shape;590;p67"/>
          <p:cNvSpPr txBox="1"/>
          <p:nvPr>
            <p:ph type="title"/>
          </p:nvPr>
        </p:nvSpPr>
        <p:spPr>
          <a:xfrm>
            <a:off x="1375028" y="967739"/>
            <a:ext cx="8194675"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solidFill>
                  <a:srgbClr val="000000"/>
                </a:solidFill>
              </a:rPr>
              <a:t>Les symptômes qu’on peut rencontrer dans l’agoraphobie sont :</a:t>
            </a:r>
            <a:endParaRPr sz="3950"/>
          </a:p>
        </p:txBody>
      </p:sp>
      <p:sp>
        <p:nvSpPr>
          <p:cNvPr id="591" name="Google Shape;591;p6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592" name="Google Shape;592;p67"/>
          <p:cNvSpPr txBox="1"/>
          <p:nvPr/>
        </p:nvSpPr>
        <p:spPr>
          <a:xfrm>
            <a:off x="1103630" y="2576451"/>
            <a:ext cx="8515985" cy="2631489"/>
          </a:xfrm>
          <a:prstGeom prst="rect">
            <a:avLst/>
          </a:prstGeom>
          <a:noFill/>
          <a:ln>
            <a:noFill/>
          </a:ln>
        </p:spPr>
        <p:txBody>
          <a:bodyPr anchorCtr="0" anchor="t" bIns="0" lIns="0" spcFirstLastPara="1" rIns="0" wrap="square" tIns="55875">
            <a:spAutoFit/>
          </a:bodyPr>
          <a:lstStyle/>
          <a:p>
            <a:pPr indent="-533400" lvl="0" marL="546100" rtl="0" algn="l">
              <a:lnSpc>
                <a:spcPct val="100000"/>
              </a:lnSpc>
              <a:spcBef>
                <a:spcPts val="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La peur des animaux.</a:t>
            </a:r>
            <a:endParaRPr sz="2400">
              <a:latin typeface="Garamond"/>
              <a:ea typeface="Garamond"/>
              <a:cs typeface="Garamond"/>
              <a:sym typeface="Garamond"/>
            </a:endParaRPr>
          </a:p>
          <a:p>
            <a:pPr indent="-455930" lvl="0" marL="468630" rtl="0" algn="l">
              <a:lnSpc>
                <a:spcPct val="100000"/>
              </a:lnSpc>
              <a:spcBef>
                <a:spcPts val="755"/>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Les conduites d’évitement.</a:t>
            </a:r>
            <a:endParaRPr sz="2400">
              <a:solidFill>
                <a:srgbClr val="FF0000"/>
              </a:solidFill>
              <a:latin typeface="Garamond"/>
              <a:ea typeface="Garamond"/>
              <a:cs typeface="Garamond"/>
              <a:sym typeface="Garamond"/>
            </a:endParaRPr>
          </a:p>
          <a:p>
            <a:pPr indent="-455930" lvl="0" marL="468630" rtl="0" algn="l">
              <a:lnSpc>
                <a:spcPct val="100000"/>
              </a:lnSpc>
              <a:spcBef>
                <a:spcPts val="755"/>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La peur des places publiques.</a:t>
            </a:r>
            <a:endParaRPr sz="2400">
              <a:solidFill>
                <a:srgbClr val="FF0000"/>
              </a:solidFill>
              <a:latin typeface="Garamond"/>
              <a:ea typeface="Garamond"/>
              <a:cs typeface="Garamond"/>
              <a:sym typeface="Garamond"/>
            </a:endParaRPr>
          </a:p>
          <a:p>
            <a:pPr indent="-457200" lvl="0" marL="469900" rtl="0" algn="l">
              <a:lnSpc>
                <a:spcPct val="100000"/>
              </a:lnSpc>
              <a:spcBef>
                <a:spcPts val="755"/>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La présence d’un lien sécurisant. (conduites contraphobiques)</a:t>
            </a:r>
            <a:endParaRPr sz="2400">
              <a:solidFill>
                <a:srgbClr val="FF0000"/>
              </a:solidFill>
              <a:latin typeface="Garamond"/>
              <a:ea typeface="Garamond"/>
              <a:cs typeface="Garamond"/>
              <a:sym typeface="Garamond"/>
            </a:endParaRPr>
          </a:p>
          <a:p>
            <a:pPr indent="0" lvl="0" marL="0" rtl="0" algn="l">
              <a:lnSpc>
                <a:spcPct val="100000"/>
              </a:lnSpc>
              <a:spcBef>
                <a:spcPts val="385"/>
              </a:spcBef>
              <a:spcAft>
                <a:spcPts val="0"/>
              </a:spcAft>
              <a:buClr>
                <a:srgbClr val="83992A"/>
              </a:buClr>
              <a:buSzPts val="2400"/>
              <a:buFont typeface="Garamond"/>
              <a:buNone/>
            </a:pPr>
            <a:r>
              <a:t/>
            </a:r>
            <a:endParaRPr sz="2400">
              <a:solidFill>
                <a:srgbClr val="FF0000"/>
              </a:solidFill>
              <a:latin typeface="Garamond"/>
              <a:ea typeface="Garamond"/>
              <a:cs typeface="Garamond"/>
              <a:sym typeface="Garamond"/>
            </a:endParaRPr>
          </a:p>
          <a:p>
            <a:pPr indent="-456565" lvl="0" marL="469265" rtl="0" algn="l">
              <a:lnSpc>
                <a:spcPct val="100000"/>
              </a:lnSpc>
              <a:spcBef>
                <a:spcPts val="0"/>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La peur des lieux fermés.</a:t>
            </a:r>
            <a:endParaRPr sz="2400">
              <a:solidFill>
                <a:srgbClr val="FF0000"/>
              </a:solidFill>
              <a:latin typeface="Garamond"/>
              <a:ea typeface="Garamond"/>
              <a:cs typeface="Garamond"/>
              <a:sym typeface="Garamon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68"/>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98" name="Google Shape;598;p68"/>
          <p:cNvSpPr txBox="1"/>
          <p:nvPr>
            <p:ph type="title"/>
          </p:nvPr>
        </p:nvSpPr>
        <p:spPr>
          <a:xfrm>
            <a:off x="1637029" y="975994"/>
            <a:ext cx="8225155" cy="1232389"/>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3950"/>
              <a:t>Les situations redoutées au cours de l’agoraphobie sont :</a:t>
            </a:r>
            <a:endParaRPr sz="3950"/>
          </a:p>
        </p:txBody>
      </p:sp>
      <p:sp>
        <p:nvSpPr>
          <p:cNvPr id="599" name="Google Shape;599;p6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600" name="Google Shape;600;p68"/>
          <p:cNvSpPr txBox="1"/>
          <p:nvPr/>
        </p:nvSpPr>
        <p:spPr>
          <a:xfrm>
            <a:off x="1375028" y="2314992"/>
            <a:ext cx="7865109" cy="2780889"/>
          </a:xfrm>
          <a:prstGeom prst="rect">
            <a:avLst/>
          </a:prstGeom>
          <a:noFill/>
          <a:ln>
            <a:noFill/>
          </a:ln>
        </p:spPr>
        <p:txBody>
          <a:bodyPr anchorCtr="0" anchor="t" bIns="0" lIns="0" spcFirstLastPara="1" rIns="0" wrap="square" tIns="86975">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La peur de ne pas être secouru en cas de malaise</a:t>
            </a:r>
            <a:endParaRPr sz="2750">
              <a:solidFill>
                <a:srgbClr val="FF0000"/>
              </a:solidFill>
              <a:latin typeface="Garamond"/>
              <a:ea typeface="Garamond"/>
              <a:cs typeface="Garamond"/>
              <a:sym typeface="Garamond"/>
            </a:endParaRPr>
          </a:p>
          <a:p>
            <a:pPr indent="-514350" lvl="0" marL="527050" rtl="0" algn="l">
              <a:lnSpc>
                <a:spcPct val="100000"/>
              </a:lnSpc>
              <a:spcBef>
                <a:spcPts val="112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La peur de devenir fou</a:t>
            </a:r>
            <a:endParaRPr sz="2750">
              <a:latin typeface="Garamond"/>
              <a:ea typeface="Garamond"/>
              <a:cs typeface="Garamond"/>
              <a:sym typeface="Garamond"/>
            </a:endParaRPr>
          </a:p>
          <a:p>
            <a:pPr indent="-514350" lvl="0" marL="527050" rtl="0" algn="l">
              <a:lnSpc>
                <a:spcPct val="100000"/>
              </a:lnSpc>
              <a:spcBef>
                <a:spcPts val="112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La peur d’être coincé dans une file d’attente</a:t>
            </a:r>
            <a:endParaRPr sz="2750">
              <a:solidFill>
                <a:srgbClr val="FF0000"/>
              </a:solidFill>
              <a:latin typeface="Garamond"/>
              <a:ea typeface="Garamond"/>
              <a:cs typeface="Garamond"/>
              <a:sym typeface="Garamond"/>
            </a:endParaRPr>
          </a:p>
          <a:p>
            <a:pPr indent="-514350" lvl="0" marL="527050" rtl="0" algn="l">
              <a:lnSpc>
                <a:spcPct val="100000"/>
              </a:lnSpc>
              <a:spcBef>
                <a:spcPts val="11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La peur de ne plus contrôler ses actes</a:t>
            </a:r>
            <a:endParaRPr sz="2750">
              <a:latin typeface="Garamond"/>
              <a:ea typeface="Garamond"/>
              <a:cs typeface="Garamond"/>
              <a:sym typeface="Garamond"/>
            </a:endParaRPr>
          </a:p>
          <a:p>
            <a:pPr indent="-513715" lvl="0" marL="526415" rtl="0" algn="l">
              <a:lnSpc>
                <a:spcPct val="100000"/>
              </a:lnSpc>
              <a:spcBef>
                <a:spcPts val="119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La peur d’être seul à l’extérieur de la maison</a:t>
            </a:r>
            <a:endParaRPr sz="2750">
              <a:solidFill>
                <a:srgbClr val="FF0000"/>
              </a:solidFill>
              <a:latin typeface="Garamond"/>
              <a:ea typeface="Garamond"/>
              <a:cs typeface="Garamond"/>
              <a:sym typeface="Garamon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69"/>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06" name="Google Shape;606;p69"/>
          <p:cNvSpPr txBox="1"/>
          <p:nvPr>
            <p:ph type="title"/>
          </p:nvPr>
        </p:nvSpPr>
        <p:spPr>
          <a:xfrm>
            <a:off x="802005" y="636905"/>
            <a:ext cx="10587989" cy="1671955"/>
          </a:xfrm>
          <a:prstGeom prst="rect">
            <a:avLst/>
          </a:prstGeom>
          <a:noFill/>
          <a:ln>
            <a:noFill/>
          </a:ln>
        </p:spPr>
        <p:txBody>
          <a:bodyPr anchorCtr="0" anchor="t" bIns="0" lIns="0" spcFirstLastPara="1" rIns="0" wrap="square" tIns="445750">
            <a:spAutoFit/>
          </a:bodyPr>
          <a:lstStyle/>
          <a:p>
            <a:pPr indent="0" lvl="0" marL="585470" rtl="0" algn="l">
              <a:lnSpc>
                <a:spcPct val="100000"/>
              </a:lnSpc>
              <a:spcBef>
                <a:spcPts val="0"/>
              </a:spcBef>
              <a:spcAft>
                <a:spcPts val="0"/>
              </a:spcAft>
              <a:buNone/>
            </a:pPr>
            <a:r>
              <a:rPr lang="fr-FR" sz="3950"/>
              <a:t>Dans l’agoraphobie, l’objet de la peur peut</a:t>
            </a:r>
            <a:endParaRPr sz="3950"/>
          </a:p>
          <a:p>
            <a:pPr indent="0" lvl="0" marL="585470" rtl="0" algn="l">
              <a:lnSpc>
                <a:spcPct val="100000"/>
              </a:lnSpc>
              <a:spcBef>
                <a:spcPts val="65"/>
              </a:spcBef>
              <a:spcAft>
                <a:spcPts val="0"/>
              </a:spcAft>
              <a:buNone/>
            </a:pPr>
            <a:r>
              <a:rPr lang="fr-FR" sz="3950"/>
              <a:t>concerner :</a:t>
            </a:r>
            <a:endParaRPr sz="3950"/>
          </a:p>
        </p:txBody>
      </p:sp>
      <p:sp>
        <p:nvSpPr>
          <p:cNvPr id="607" name="Google Shape;607;p6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608" name="Google Shape;608;p69"/>
          <p:cNvSpPr txBox="1"/>
          <p:nvPr/>
        </p:nvSpPr>
        <p:spPr>
          <a:xfrm>
            <a:off x="1375028" y="2448782"/>
            <a:ext cx="7304405" cy="2568652"/>
          </a:xfrm>
          <a:prstGeom prst="rect">
            <a:avLst/>
          </a:prstGeom>
          <a:noFill/>
          <a:ln>
            <a:noFill/>
          </a:ln>
        </p:spPr>
        <p:txBody>
          <a:bodyPr anchorCtr="0" anchor="t" bIns="0" lIns="0" spcFirstLastPara="1" rIns="0" wrap="square" tIns="546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L’utilisation des moyens de transport publics</a:t>
            </a:r>
            <a:endParaRPr sz="2750">
              <a:solidFill>
                <a:srgbClr val="FF0000"/>
              </a:solidFill>
              <a:latin typeface="Garamond"/>
              <a:ea typeface="Garamond"/>
              <a:cs typeface="Garamond"/>
              <a:sym typeface="Garamond"/>
            </a:endParaRPr>
          </a:p>
          <a:p>
            <a:pPr indent="-514350" lvl="0" marL="527050" rtl="0" algn="l">
              <a:lnSpc>
                <a:spcPct val="100000"/>
              </a:lnSpc>
              <a:spcBef>
                <a:spcPts val="819"/>
              </a:spcBef>
              <a:spcAft>
                <a:spcPts val="0"/>
              </a:spcAft>
              <a:buClr>
                <a:srgbClr val="83992A"/>
              </a:buClr>
              <a:buSzPts val="3200"/>
              <a:buFont typeface="Garamond"/>
              <a:buAutoNum type="alphaUcPeriod"/>
            </a:pPr>
            <a:r>
              <a:rPr b="1" lang="fr-FR" sz="2750">
                <a:solidFill>
                  <a:schemeClr val="dk1"/>
                </a:solidFill>
                <a:latin typeface="Garamond"/>
                <a:ea typeface="Garamond"/>
                <a:cs typeface="Garamond"/>
                <a:sym typeface="Garamond"/>
              </a:rPr>
              <a:t>Prendre la parole en public</a:t>
            </a:r>
            <a:endParaRPr sz="2750">
              <a:solidFill>
                <a:schemeClr val="dk1"/>
              </a:solidFill>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Être dans des espaces ouverts</a:t>
            </a:r>
            <a:endParaRPr sz="2750">
              <a:solidFill>
                <a:srgbClr val="FF0000"/>
              </a:solidFill>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Être dans des espaces fermés</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Être dans une foule</a:t>
            </a:r>
            <a:endParaRPr sz="2750">
              <a:solidFill>
                <a:srgbClr val="FF0000"/>
              </a:solidFill>
              <a:latin typeface="Garamond"/>
              <a:ea typeface="Garamond"/>
              <a:cs typeface="Garamond"/>
              <a:sym typeface="Garamon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70"/>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14" name="Google Shape;614;p70"/>
          <p:cNvSpPr txBox="1"/>
          <p:nvPr>
            <p:ph type="title"/>
          </p:nvPr>
        </p:nvSpPr>
        <p:spPr>
          <a:xfrm>
            <a:off x="802005" y="636905"/>
            <a:ext cx="10587989" cy="1671955"/>
          </a:xfrm>
          <a:prstGeom prst="rect">
            <a:avLst/>
          </a:prstGeom>
          <a:noFill/>
          <a:ln>
            <a:noFill/>
          </a:ln>
        </p:spPr>
        <p:txBody>
          <a:bodyPr anchorCtr="0" anchor="t" bIns="0" lIns="0" spcFirstLastPara="1" rIns="0" wrap="square" tIns="660000">
            <a:spAutoFit/>
          </a:bodyPr>
          <a:lstStyle/>
          <a:p>
            <a:pPr indent="0" lvl="0" marL="585470" rtl="0" algn="l">
              <a:lnSpc>
                <a:spcPct val="100000"/>
              </a:lnSpc>
              <a:spcBef>
                <a:spcPts val="0"/>
              </a:spcBef>
              <a:spcAft>
                <a:spcPts val="0"/>
              </a:spcAft>
              <a:buNone/>
            </a:pPr>
            <a:r>
              <a:rPr lang="fr-FR" sz="3950"/>
              <a:t>L’agoraphobie est</a:t>
            </a:r>
            <a:endParaRPr sz="3950"/>
          </a:p>
        </p:txBody>
      </p:sp>
      <p:sp>
        <p:nvSpPr>
          <p:cNvPr id="615" name="Google Shape;615;p7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616" name="Google Shape;616;p70"/>
          <p:cNvSpPr txBox="1"/>
          <p:nvPr/>
        </p:nvSpPr>
        <p:spPr>
          <a:xfrm>
            <a:off x="1275714" y="2579501"/>
            <a:ext cx="7701280" cy="1990288"/>
          </a:xfrm>
          <a:prstGeom prst="rect">
            <a:avLst/>
          </a:prstGeom>
          <a:noFill/>
          <a:ln>
            <a:noFill/>
          </a:ln>
        </p:spPr>
        <p:txBody>
          <a:bodyPr anchorCtr="0" anchor="t" bIns="0" lIns="0" spcFirstLastPara="1" rIns="0" wrap="square" tIns="0">
            <a:spAutoFit/>
          </a:bodyPr>
          <a:lstStyle/>
          <a:p>
            <a:pPr indent="-514350" lvl="0" marL="527050" rtl="0" algn="l">
              <a:lnSpc>
                <a:spcPct val="134166"/>
              </a:lnSpc>
              <a:spcBef>
                <a:spcPts val="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Une crise d’angoisse</a:t>
            </a:r>
            <a:endParaRPr sz="2400">
              <a:latin typeface="Garamond"/>
              <a:ea typeface="Garamond"/>
              <a:cs typeface="Garamond"/>
              <a:sym typeface="Garamond"/>
            </a:endParaRPr>
          </a:p>
          <a:p>
            <a:pPr indent="-514350" lvl="0" marL="527050" rtl="0" algn="l">
              <a:lnSpc>
                <a:spcPct val="100000"/>
              </a:lnSpc>
              <a:spcBef>
                <a:spcPts val="155"/>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Une complication du trouble panique</a:t>
            </a:r>
            <a:endParaRPr sz="2400">
              <a:solidFill>
                <a:srgbClr val="FF0000"/>
              </a:solidFill>
              <a:latin typeface="Garamond"/>
              <a:ea typeface="Garamond"/>
              <a:cs typeface="Garamond"/>
              <a:sym typeface="Garamond"/>
            </a:endParaRPr>
          </a:p>
          <a:p>
            <a:pPr indent="-514350" lvl="0" marL="527050" rtl="0" algn="l">
              <a:lnSpc>
                <a:spcPct val="100000"/>
              </a:lnSpc>
              <a:spcBef>
                <a:spcPts val="229"/>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Accompagnée de conduites d’évitement</a:t>
            </a:r>
            <a:endParaRPr sz="2400">
              <a:solidFill>
                <a:srgbClr val="FF0000"/>
              </a:solidFill>
              <a:latin typeface="Garamond"/>
              <a:ea typeface="Garamond"/>
              <a:cs typeface="Garamond"/>
              <a:sym typeface="Garamond"/>
            </a:endParaRPr>
          </a:p>
          <a:p>
            <a:pPr indent="-514350" lvl="0" marL="527050" rtl="0" algn="l">
              <a:lnSpc>
                <a:spcPct val="100000"/>
              </a:lnSpc>
              <a:spcBef>
                <a:spcPts val="155"/>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Accompagnée de recherche d’une personne sécurisante</a:t>
            </a:r>
            <a:endParaRPr sz="2400">
              <a:solidFill>
                <a:srgbClr val="FF0000"/>
              </a:solidFill>
              <a:latin typeface="Garamond"/>
              <a:ea typeface="Garamond"/>
              <a:cs typeface="Garamond"/>
              <a:sym typeface="Garamond"/>
            </a:endParaRPr>
          </a:p>
          <a:p>
            <a:pPr indent="-514350" lvl="0" marL="527050" rtl="0" algn="l">
              <a:lnSpc>
                <a:spcPct val="100000"/>
              </a:lnSpc>
              <a:spcBef>
                <a:spcPts val="229"/>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Souvent associée à une angoisse psychotique</a:t>
            </a:r>
            <a:endParaRPr sz="2400">
              <a:latin typeface="Garamond"/>
              <a:ea typeface="Garamond"/>
              <a:cs typeface="Garamond"/>
              <a:sym typeface="Garamon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71"/>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22" name="Google Shape;622;p71"/>
          <p:cNvSpPr txBox="1"/>
          <p:nvPr>
            <p:ph type="title"/>
          </p:nvPr>
        </p:nvSpPr>
        <p:spPr>
          <a:xfrm>
            <a:off x="802005" y="636905"/>
            <a:ext cx="10587989" cy="1671955"/>
          </a:xfrm>
          <a:prstGeom prst="rect">
            <a:avLst/>
          </a:prstGeom>
          <a:noFill/>
          <a:ln>
            <a:noFill/>
          </a:ln>
        </p:spPr>
        <p:txBody>
          <a:bodyPr anchorCtr="0" anchor="t" bIns="0" lIns="0" spcFirstLastPara="1" rIns="0" wrap="square" tIns="462275">
            <a:spAutoFit/>
          </a:bodyPr>
          <a:lstStyle/>
          <a:p>
            <a:pPr indent="0" lvl="0" marL="681990" rtl="0" algn="l">
              <a:lnSpc>
                <a:spcPct val="100000"/>
              </a:lnSpc>
              <a:spcBef>
                <a:spcPts val="0"/>
              </a:spcBef>
              <a:spcAft>
                <a:spcPts val="0"/>
              </a:spcAft>
              <a:buNone/>
            </a:pPr>
            <a:r>
              <a:rPr lang="fr-FR" sz="4400">
                <a:solidFill>
                  <a:srgbClr val="000000"/>
                </a:solidFill>
              </a:rPr>
              <a:t>L'agoraphobie est caractérisée par :</a:t>
            </a:r>
            <a:endParaRPr sz="4400"/>
          </a:p>
        </p:txBody>
      </p:sp>
      <p:sp>
        <p:nvSpPr>
          <p:cNvPr id="623" name="Google Shape;623;p7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624" name="Google Shape;624;p71"/>
          <p:cNvSpPr txBox="1"/>
          <p:nvPr/>
        </p:nvSpPr>
        <p:spPr>
          <a:xfrm>
            <a:off x="1832610" y="2469651"/>
            <a:ext cx="6765925" cy="2321148"/>
          </a:xfrm>
          <a:prstGeom prst="rect">
            <a:avLst/>
          </a:prstGeom>
          <a:noFill/>
          <a:ln>
            <a:noFill/>
          </a:ln>
        </p:spPr>
        <p:txBody>
          <a:bodyPr anchorCtr="0" anchor="t" bIns="0" lIns="0" spcFirstLastPara="1" rIns="0" wrap="square" tIns="63500">
            <a:spAutoFit/>
          </a:bodyPr>
          <a:lstStyle/>
          <a:p>
            <a:pPr indent="-457200" lvl="0" marL="469900" rtl="0" algn="l">
              <a:lnSpc>
                <a:spcPct val="100000"/>
              </a:lnSpc>
              <a:spcBef>
                <a:spcPts val="0"/>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La peur de ne pas être secouru en cas de malaise</a:t>
            </a:r>
            <a:endParaRPr sz="2400">
              <a:solidFill>
                <a:srgbClr val="FF0000"/>
              </a:solidFill>
              <a:latin typeface="Garamond"/>
              <a:ea typeface="Garamond"/>
              <a:cs typeface="Garamond"/>
              <a:sym typeface="Garamond"/>
            </a:endParaRPr>
          </a:p>
          <a:p>
            <a:pPr indent="-456565" lvl="0" marL="469265" rtl="0" algn="l">
              <a:lnSpc>
                <a:spcPct val="100000"/>
              </a:lnSpc>
              <a:spcBef>
                <a:spcPts val="83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La peur de devenir fou</a:t>
            </a:r>
            <a:endParaRPr sz="2400">
              <a:latin typeface="Garamond"/>
              <a:ea typeface="Garamond"/>
              <a:cs typeface="Garamond"/>
              <a:sym typeface="Garamond"/>
            </a:endParaRPr>
          </a:p>
          <a:p>
            <a:pPr indent="-456565" lvl="0" marL="469265" rtl="0" algn="l">
              <a:lnSpc>
                <a:spcPct val="100000"/>
              </a:lnSpc>
              <a:spcBef>
                <a:spcPts val="755"/>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La peur d’être coincé dans un endroit encombré</a:t>
            </a:r>
            <a:endParaRPr sz="2400">
              <a:solidFill>
                <a:srgbClr val="FF0000"/>
              </a:solidFill>
              <a:latin typeface="Garamond"/>
              <a:ea typeface="Garamond"/>
              <a:cs typeface="Garamond"/>
              <a:sym typeface="Garamond"/>
            </a:endParaRPr>
          </a:p>
          <a:p>
            <a:pPr indent="-457200" lvl="0" marL="469900" rtl="0" algn="l">
              <a:lnSpc>
                <a:spcPct val="100000"/>
              </a:lnSpc>
              <a:spcBef>
                <a:spcPts val="76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La peur de ne plus contrôler ses actes</a:t>
            </a:r>
            <a:endParaRPr sz="2400">
              <a:latin typeface="Garamond"/>
              <a:ea typeface="Garamond"/>
              <a:cs typeface="Garamond"/>
              <a:sym typeface="Garamond"/>
            </a:endParaRPr>
          </a:p>
          <a:p>
            <a:pPr indent="-457200" lvl="0" marL="469900" rtl="0" algn="l">
              <a:lnSpc>
                <a:spcPct val="100000"/>
              </a:lnSpc>
              <a:spcBef>
                <a:spcPts val="755"/>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L'évitement du regard d’autrui</a:t>
            </a:r>
            <a:endParaRPr sz="2400">
              <a:latin typeface="Garamond"/>
              <a:ea typeface="Garamond"/>
              <a:cs typeface="Garamond"/>
              <a:sym typeface="Garamon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72"/>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30" name="Google Shape;630;p72"/>
          <p:cNvSpPr txBox="1"/>
          <p:nvPr>
            <p:ph type="title"/>
          </p:nvPr>
        </p:nvSpPr>
        <p:spPr>
          <a:xfrm>
            <a:off x="802005" y="636905"/>
            <a:ext cx="10587989" cy="1671955"/>
          </a:xfrm>
          <a:prstGeom prst="rect">
            <a:avLst/>
          </a:prstGeom>
          <a:noFill/>
          <a:ln>
            <a:noFill/>
          </a:ln>
        </p:spPr>
        <p:txBody>
          <a:bodyPr anchorCtr="0" anchor="t" bIns="0" lIns="0" spcFirstLastPara="1" rIns="0" wrap="square" tIns="536500">
            <a:spAutoFit/>
          </a:bodyPr>
          <a:lstStyle/>
          <a:p>
            <a:pPr indent="0" lvl="0" marL="3418840" rtl="0" algn="l">
              <a:lnSpc>
                <a:spcPct val="100000"/>
              </a:lnSpc>
              <a:spcBef>
                <a:spcPts val="0"/>
              </a:spcBef>
              <a:spcAft>
                <a:spcPts val="0"/>
              </a:spcAft>
              <a:buNone/>
            </a:pPr>
            <a:r>
              <a:rPr lang="fr-FR" sz="5400">
                <a:solidFill>
                  <a:srgbClr val="006FC0"/>
                </a:solidFill>
              </a:rPr>
              <a:t>Agoraphobie</a:t>
            </a:r>
            <a:endParaRPr sz="5400"/>
          </a:p>
        </p:txBody>
      </p:sp>
      <p:sp>
        <p:nvSpPr>
          <p:cNvPr id="631" name="Google Shape;631;p7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632" name="Google Shape;632;p72"/>
          <p:cNvSpPr txBox="1"/>
          <p:nvPr/>
        </p:nvSpPr>
        <p:spPr>
          <a:xfrm>
            <a:off x="949642" y="2518082"/>
            <a:ext cx="10397490" cy="3153410"/>
          </a:xfrm>
          <a:prstGeom prst="rect">
            <a:avLst/>
          </a:prstGeom>
          <a:noFill/>
          <a:ln>
            <a:noFill/>
          </a:ln>
        </p:spPr>
        <p:txBody>
          <a:bodyPr anchorCtr="0" anchor="t" bIns="0" lIns="0" spcFirstLastPara="1" rIns="0" wrap="square" tIns="6350">
            <a:spAutoFit/>
          </a:bodyPr>
          <a:lstStyle/>
          <a:p>
            <a:pPr indent="-286385" lvl="0" marL="298450" marR="5080" rtl="0" algn="just">
              <a:lnSpc>
                <a:spcPct val="150400"/>
              </a:lnSpc>
              <a:spcBef>
                <a:spcPts val="0"/>
              </a:spcBef>
              <a:spcAft>
                <a:spcPts val="0"/>
              </a:spcAft>
              <a:buClr>
                <a:srgbClr val="83992A"/>
              </a:buClr>
              <a:buSzPts val="3000"/>
              <a:buFont typeface="Arial"/>
              <a:buChar char="•"/>
            </a:pPr>
            <a:r>
              <a:rPr lang="fr-FR" sz="2600">
                <a:solidFill>
                  <a:srgbClr val="252525"/>
                </a:solidFill>
                <a:latin typeface="Garamond"/>
                <a:ea typeface="Garamond"/>
                <a:cs typeface="Garamond"/>
                <a:sym typeface="Garamond"/>
              </a:rPr>
              <a:t>L’agoraphobie est un trouble anxieux type phobique caractérisé par la peur des espaces ou </a:t>
            </a:r>
            <a:r>
              <a:rPr lang="fr-FR" sz="2600">
                <a:solidFill>
                  <a:srgbClr val="FF0000"/>
                </a:solidFill>
                <a:latin typeface="Garamond"/>
                <a:ea typeface="Garamond"/>
                <a:cs typeface="Garamond"/>
                <a:sym typeface="Garamond"/>
              </a:rPr>
              <a:t>il pourrait être difficile de s’échapper </a:t>
            </a:r>
            <a:r>
              <a:rPr lang="fr-FR" sz="2600">
                <a:solidFill>
                  <a:srgbClr val="252525"/>
                </a:solidFill>
                <a:latin typeface="Garamond"/>
                <a:ea typeface="Garamond"/>
                <a:cs typeface="Garamond"/>
                <a:sym typeface="Garamond"/>
              </a:rPr>
              <a:t>ou dans lesquelles il pourrait </a:t>
            </a:r>
            <a:r>
              <a:rPr lang="fr-FR" sz="2600">
                <a:solidFill>
                  <a:srgbClr val="FF0000"/>
                </a:solidFill>
                <a:latin typeface="Garamond"/>
                <a:ea typeface="Garamond"/>
                <a:cs typeface="Garamond"/>
                <a:sym typeface="Garamond"/>
              </a:rPr>
              <a:t>être difficile d’obtenir du secours </a:t>
            </a:r>
            <a:r>
              <a:rPr lang="fr-FR" sz="2600">
                <a:solidFill>
                  <a:srgbClr val="252525"/>
                </a:solidFill>
                <a:latin typeface="Garamond"/>
                <a:ea typeface="Garamond"/>
                <a:cs typeface="Garamond"/>
                <a:sym typeface="Garamond"/>
              </a:rPr>
              <a:t>en cas de problème.</a:t>
            </a:r>
            <a:endParaRPr sz="2600">
              <a:latin typeface="Garamond"/>
              <a:ea typeface="Garamond"/>
              <a:cs typeface="Garamond"/>
              <a:sym typeface="Garamond"/>
            </a:endParaRPr>
          </a:p>
          <a:p>
            <a:pPr indent="-286385" lvl="0" marL="298450" marR="5715" rtl="0" algn="just">
              <a:lnSpc>
                <a:spcPct val="151700"/>
              </a:lnSpc>
              <a:spcBef>
                <a:spcPts val="1125"/>
              </a:spcBef>
              <a:spcAft>
                <a:spcPts val="0"/>
              </a:spcAft>
              <a:buClr>
                <a:srgbClr val="83992A"/>
              </a:buClr>
              <a:buSzPts val="3000"/>
              <a:buFont typeface="Arial"/>
              <a:buChar char="•"/>
            </a:pPr>
            <a:r>
              <a:rPr lang="fr-FR" sz="2600">
                <a:solidFill>
                  <a:srgbClr val="252525"/>
                </a:solidFill>
                <a:latin typeface="Garamond"/>
                <a:ea typeface="Garamond"/>
                <a:cs typeface="Garamond"/>
                <a:sym typeface="Garamond"/>
              </a:rPr>
              <a:t>Cette peur est à l’origine du déclenchement d’attaques de panique lorsque le sujet se trouve confronté à la situation redoutée.</a:t>
            </a:r>
            <a:endParaRPr sz="2600">
              <a:latin typeface="Garamond"/>
              <a:ea typeface="Garamond"/>
              <a:cs typeface="Garamond"/>
              <a:sym typeface="Garamon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73"/>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38" name="Google Shape;638;p73"/>
          <p:cNvSpPr txBox="1"/>
          <p:nvPr/>
        </p:nvSpPr>
        <p:spPr>
          <a:xfrm>
            <a:off x="1141412" y="2518082"/>
            <a:ext cx="9688830" cy="3592195"/>
          </a:xfrm>
          <a:prstGeom prst="rect">
            <a:avLst/>
          </a:prstGeom>
          <a:noFill/>
          <a:ln>
            <a:noFill/>
          </a:ln>
        </p:spPr>
        <p:txBody>
          <a:bodyPr anchorCtr="0" anchor="t" bIns="0" lIns="0" spcFirstLastPara="1" rIns="0" wrap="square" tIns="7600">
            <a:spAutoFit/>
          </a:bodyPr>
          <a:lstStyle/>
          <a:p>
            <a:pPr indent="-286385" lvl="0" marL="298450" marR="5080" rtl="0" algn="just">
              <a:lnSpc>
                <a:spcPct val="150200"/>
              </a:lnSpc>
              <a:spcBef>
                <a:spcPts val="0"/>
              </a:spcBef>
              <a:spcAft>
                <a:spcPts val="0"/>
              </a:spcAft>
              <a:buClr>
                <a:srgbClr val="83992A"/>
              </a:buClr>
              <a:buSzPts val="3000"/>
              <a:buFont typeface="Arial"/>
              <a:buChar char="•"/>
            </a:pPr>
            <a:r>
              <a:rPr lang="fr-FR" sz="2600">
                <a:solidFill>
                  <a:srgbClr val="252525"/>
                </a:solidFill>
                <a:latin typeface="Garamond"/>
                <a:ea typeface="Garamond"/>
                <a:cs typeface="Garamond"/>
                <a:sym typeface="Garamond"/>
              </a:rPr>
              <a:t>La caractéristique essentielle de l’agoraphobie est une anxiété liée au fait de se trouver dans des endroits ou des situations où </a:t>
            </a:r>
            <a:r>
              <a:rPr b="1" lang="fr-FR" sz="2600">
                <a:solidFill>
                  <a:srgbClr val="C00000"/>
                </a:solidFill>
                <a:latin typeface="Garamond"/>
                <a:ea typeface="Garamond"/>
                <a:cs typeface="Garamond"/>
                <a:sym typeface="Garamond"/>
              </a:rPr>
              <a:t>il pourrait être difficile (ou gênant) de s’échapper </a:t>
            </a:r>
            <a:r>
              <a:rPr lang="fr-FR" sz="2600">
                <a:solidFill>
                  <a:srgbClr val="252525"/>
                </a:solidFill>
                <a:latin typeface="Garamond"/>
                <a:ea typeface="Garamond"/>
                <a:cs typeface="Garamond"/>
                <a:sym typeface="Garamond"/>
              </a:rPr>
              <a:t>ou dans lesquelles </a:t>
            </a:r>
            <a:r>
              <a:rPr b="1" lang="fr-FR" sz="2600">
                <a:solidFill>
                  <a:srgbClr val="C00000"/>
                </a:solidFill>
                <a:latin typeface="Garamond"/>
                <a:ea typeface="Garamond"/>
                <a:cs typeface="Garamond"/>
                <a:sym typeface="Garamond"/>
              </a:rPr>
              <a:t>aucun secours ne  pourrait  être  trouvé  en  cas  de  survenue  d’une  attaque  de panique ou des symptômes de type panique </a:t>
            </a:r>
            <a:r>
              <a:rPr lang="fr-FR" sz="2600">
                <a:solidFill>
                  <a:srgbClr val="252525"/>
                </a:solidFill>
                <a:latin typeface="Garamond"/>
                <a:ea typeface="Garamond"/>
                <a:cs typeface="Garamond"/>
                <a:sym typeface="Garamond"/>
              </a:rPr>
              <a:t>(p. ex., peur d’avoir une attaque subite de vertige ou une crise de diarrhée soudaine).</a:t>
            </a:r>
            <a:endParaRPr sz="2600">
              <a:latin typeface="Garamond"/>
              <a:ea typeface="Garamond"/>
              <a:cs typeface="Garamond"/>
              <a:sym typeface="Garamond"/>
            </a:endParaRPr>
          </a:p>
        </p:txBody>
      </p:sp>
      <p:sp>
        <p:nvSpPr>
          <p:cNvPr id="639" name="Google Shape;639;p7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640" name="Google Shape;640;p73"/>
          <p:cNvSpPr txBox="1"/>
          <p:nvPr>
            <p:ph type="title"/>
          </p:nvPr>
        </p:nvSpPr>
        <p:spPr>
          <a:xfrm>
            <a:off x="802005" y="636905"/>
            <a:ext cx="10587989" cy="1671955"/>
          </a:xfrm>
          <a:prstGeom prst="rect">
            <a:avLst/>
          </a:prstGeom>
          <a:noFill/>
          <a:ln>
            <a:noFill/>
          </a:ln>
        </p:spPr>
        <p:txBody>
          <a:bodyPr anchorCtr="0" anchor="t" bIns="0" lIns="0" spcFirstLastPara="1" rIns="0" wrap="square" tIns="536500">
            <a:spAutoFit/>
          </a:bodyPr>
          <a:lstStyle/>
          <a:p>
            <a:pPr indent="0" lvl="0" marL="3418840" rtl="0" algn="l">
              <a:lnSpc>
                <a:spcPct val="100000"/>
              </a:lnSpc>
              <a:spcBef>
                <a:spcPts val="0"/>
              </a:spcBef>
              <a:spcAft>
                <a:spcPts val="0"/>
              </a:spcAft>
              <a:buNone/>
            </a:pPr>
            <a:r>
              <a:rPr lang="fr-FR" sz="5400">
                <a:solidFill>
                  <a:srgbClr val="006FC0"/>
                </a:solidFill>
              </a:rPr>
              <a:t>Agoraphobie</a:t>
            </a:r>
            <a:endParaRPr sz="5400"/>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74"/>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46" name="Google Shape;646;p74"/>
          <p:cNvSpPr txBox="1"/>
          <p:nvPr/>
        </p:nvSpPr>
        <p:spPr>
          <a:xfrm>
            <a:off x="1375028" y="2518082"/>
            <a:ext cx="9460865" cy="2991485"/>
          </a:xfrm>
          <a:prstGeom prst="rect">
            <a:avLst/>
          </a:prstGeom>
          <a:noFill/>
          <a:ln>
            <a:noFill/>
          </a:ln>
        </p:spPr>
        <p:txBody>
          <a:bodyPr anchorCtr="0" anchor="t" bIns="0" lIns="0" spcFirstLastPara="1" rIns="0" wrap="square" tIns="8875">
            <a:spAutoFit/>
          </a:bodyPr>
          <a:lstStyle/>
          <a:p>
            <a:pPr indent="-286385" lvl="0" marL="298450" marR="5080" rtl="0" algn="just">
              <a:lnSpc>
                <a:spcPct val="149800"/>
              </a:lnSpc>
              <a:spcBef>
                <a:spcPts val="0"/>
              </a:spcBef>
              <a:spcAft>
                <a:spcPts val="0"/>
              </a:spcAft>
              <a:buClr>
                <a:srgbClr val="83992A"/>
              </a:buClr>
              <a:buSzPts val="3000"/>
              <a:buFont typeface="Arial"/>
              <a:buChar char="•"/>
            </a:pPr>
            <a:r>
              <a:rPr lang="fr-FR" sz="2600">
                <a:solidFill>
                  <a:srgbClr val="252525"/>
                </a:solidFill>
                <a:latin typeface="Garamond"/>
                <a:ea typeface="Garamond"/>
                <a:cs typeface="Garamond"/>
                <a:sym typeface="Garamond"/>
              </a:rPr>
              <a:t>L’anxiété  conduit  typiquement  à  </a:t>
            </a:r>
            <a:r>
              <a:rPr b="1" lang="fr-FR" sz="2600">
                <a:solidFill>
                  <a:srgbClr val="C00000"/>
                </a:solidFill>
                <a:latin typeface="Garamond"/>
                <a:ea typeface="Garamond"/>
                <a:cs typeface="Garamond"/>
                <a:sym typeface="Garamond"/>
              </a:rPr>
              <a:t>un  évitement  envahissant  de nombreuses situations </a:t>
            </a:r>
            <a:r>
              <a:rPr lang="fr-FR" sz="2600">
                <a:solidFill>
                  <a:srgbClr val="252525"/>
                </a:solidFill>
                <a:latin typeface="Garamond"/>
                <a:ea typeface="Garamond"/>
                <a:cs typeface="Garamond"/>
                <a:sym typeface="Garamond"/>
              </a:rPr>
              <a:t>pouvant inclure le fait d’être seul hors de son domicile ou d’être seul chez soi; d’être dans une foule; de voyager en voiture, de prendre les transports en commun, de faire ses courses dans les grandes surfaces</a:t>
            </a:r>
            <a:endParaRPr sz="2600">
              <a:latin typeface="Garamond"/>
              <a:ea typeface="Garamond"/>
              <a:cs typeface="Garamond"/>
              <a:sym typeface="Garamond"/>
            </a:endParaRPr>
          </a:p>
        </p:txBody>
      </p:sp>
      <p:sp>
        <p:nvSpPr>
          <p:cNvPr id="647" name="Google Shape;647;p7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648" name="Google Shape;648;p74"/>
          <p:cNvSpPr txBox="1"/>
          <p:nvPr>
            <p:ph type="title"/>
          </p:nvPr>
        </p:nvSpPr>
        <p:spPr>
          <a:xfrm>
            <a:off x="802005" y="636905"/>
            <a:ext cx="10587989" cy="1671955"/>
          </a:xfrm>
          <a:prstGeom prst="rect">
            <a:avLst/>
          </a:prstGeom>
          <a:noFill/>
          <a:ln>
            <a:noFill/>
          </a:ln>
        </p:spPr>
        <p:txBody>
          <a:bodyPr anchorCtr="0" anchor="t" bIns="0" lIns="0" spcFirstLastPara="1" rIns="0" wrap="square" tIns="536500">
            <a:spAutoFit/>
          </a:bodyPr>
          <a:lstStyle/>
          <a:p>
            <a:pPr indent="0" lvl="0" marL="3418840" rtl="0" algn="l">
              <a:lnSpc>
                <a:spcPct val="100000"/>
              </a:lnSpc>
              <a:spcBef>
                <a:spcPts val="0"/>
              </a:spcBef>
              <a:spcAft>
                <a:spcPts val="0"/>
              </a:spcAft>
              <a:buNone/>
            </a:pPr>
            <a:r>
              <a:rPr lang="fr-FR" sz="5400">
                <a:solidFill>
                  <a:srgbClr val="006FC0"/>
                </a:solidFill>
              </a:rPr>
              <a:t>Agoraphobie</a:t>
            </a:r>
            <a:endParaRPr sz="5400"/>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75"/>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54" name="Google Shape;654;p75"/>
          <p:cNvSpPr txBox="1"/>
          <p:nvPr/>
        </p:nvSpPr>
        <p:spPr>
          <a:xfrm>
            <a:off x="742950" y="2510658"/>
            <a:ext cx="10634980" cy="3479165"/>
          </a:xfrm>
          <a:prstGeom prst="rect">
            <a:avLst/>
          </a:prstGeom>
          <a:noFill/>
          <a:ln>
            <a:noFill/>
          </a:ln>
        </p:spPr>
        <p:txBody>
          <a:bodyPr anchorCtr="0" anchor="t" bIns="0" lIns="0" spcFirstLastPara="1" rIns="0" wrap="square" tIns="17775">
            <a:spAutoFit/>
          </a:bodyPr>
          <a:lstStyle/>
          <a:p>
            <a:pPr indent="-285115" lvl="0" marL="297180" marR="5080" rtl="0" algn="just">
              <a:lnSpc>
                <a:spcPct val="149900"/>
              </a:lnSpc>
              <a:spcBef>
                <a:spcPts val="0"/>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L’évitement de situations peut altérer les capacités des sujets à voyager, à travailler ou à 	assumer leurs responsabilités domestiques (p. ex., faire des courses dans une épicerie, 	amener les enfants chez le médecin) avec la peur de quitter une " zone de sécurité ".</a:t>
            </a:r>
            <a:endParaRPr sz="2400">
              <a:latin typeface="Garamond"/>
              <a:ea typeface="Garamond"/>
              <a:cs typeface="Garamond"/>
              <a:sym typeface="Garamond"/>
            </a:endParaRPr>
          </a:p>
          <a:p>
            <a:pPr indent="-285115" lvl="0" marL="297180" marR="10160" rtl="0" algn="just">
              <a:lnSpc>
                <a:spcPct val="150000"/>
              </a:lnSpc>
              <a:spcBef>
                <a:spcPts val="1240"/>
              </a:spcBef>
              <a:spcAft>
                <a:spcPts val="0"/>
              </a:spcAft>
              <a:buClr>
                <a:srgbClr val="83992A"/>
              </a:buClr>
              <a:buSzPts val="2750"/>
              <a:buFont typeface="Arial"/>
              <a:buChar char="•"/>
            </a:pPr>
            <a:r>
              <a:rPr b="1" lang="fr-FR" sz="2400">
                <a:solidFill>
                  <a:srgbClr val="C00000"/>
                </a:solidFill>
                <a:latin typeface="Garamond"/>
                <a:ea typeface="Garamond"/>
                <a:cs typeface="Garamond"/>
                <a:sym typeface="Garamond"/>
              </a:rPr>
              <a:t>Les conduites contraphobiques </a:t>
            </a:r>
            <a:r>
              <a:rPr lang="fr-FR" sz="2400">
                <a:solidFill>
                  <a:srgbClr val="252525"/>
                </a:solidFill>
                <a:latin typeface="Garamond"/>
                <a:ea typeface="Garamond"/>
                <a:cs typeface="Garamond"/>
                <a:sym typeface="Garamond"/>
              </a:rPr>
              <a:t>(de réassurance) sont fréquentes : consistera à être 	accompagné d’une personne de confiance susceptible de protéger la personne en cas 	de confrontation avec l’objet phobogène.</a:t>
            </a:r>
            <a:endParaRPr sz="2400">
              <a:latin typeface="Garamond"/>
              <a:ea typeface="Garamond"/>
              <a:cs typeface="Garamond"/>
              <a:sym typeface="Garamond"/>
            </a:endParaRPr>
          </a:p>
        </p:txBody>
      </p:sp>
      <p:sp>
        <p:nvSpPr>
          <p:cNvPr id="655" name="Google Shape;655;p7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656" name="Google Shape;656;p75"/>
          <p:cNvSpPr txBox="1"/>
          <p:nvPr>
            <p:ph type="title"/>
          </p:nvPr>
        </p:nvSpPr>
        <p:spPr>
          <a:xfrm>
            <a:off x="802005" y="636905"/>
            <a:ext cx="10587989" cy="1671955"/>
          </a:xfrm>
          <a:prstGeom prst="rect">
            <a:avLst/>
          </a:prstGeom>
          <a:noFill/>
          <a:ln>
            <a:noFill/>
          </a:ln>
        </p:spPr>
        <p:txBody>
          <a:bodyPr anchorCtr="0" anchor="t" bIns="0" lIns="0" spcFirstLastPara="1" rIns="0" wrap="square" tIns="536500">
            <a:spAutoFit/>
          </a:bodyPr>
          <a:lstStyle/>
          <a:p>
            <a:pPr indent="0" lvl="0" marL="3418840" rtl="0" algn="l">
              <a:lnSpc>
                <a:spcPct val="100000"/>
              </a:lnSpc>
              <a:spcBef>
                <a:spcPts val="0"/>
              </a:spcBef>
              <a:spcAft>
                <a:spcPts val="0"/>
              </a:spcAft>
              <a:buNone/>
            </a:pPr>
            <a:r>
              <a:rPr lang="fr-FR" sz="5400">
                <a:solidFill>
                  <a:srgbClr val="006FC0"/>
                </a:solidFill>
              </a:rPr>
              <a:t>Agoraphobie</a:t>
            </a:r>
            <a:endParaRPr sz="5400"/>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76"/>
          <p:cNvSpPr txBox="1"/>
          <p:nvPr>
            <p:ph type="title"/>
          </p:nvPr>
        </p:nvSpPr>
        <p:spPr>
          <a:xfrm>
            <a:off x="1001394" y="708913"/>
            <a:ext cx="10199370" cy="57531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fr-FR">
                <a:solidFill>
                  <a:srgbClr val="006FC0"/>
                </a:solidFill>
              </a:rPr>
              <a:t>Critères diagnostiques du DSM 5 d’une agoraphobie</a:t>
            </a:r>
            <a:endParaRPr/>
          </a:p>
        </p:txBody>
      </p:sp>
      <p:sp>
        <p:nvSpPr>
          <p:cNvPr id="662" name="Google Shape;662;p7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663" name="Google Shape;663;p76"/>
          <p:cNvSpPr txBox="1"/>
          <p:nvPr/>
        </p:nvSpPr>
        <p:spPr>
          <a:xfrm>
            <a:off x="917575" y="1405191"/>
            <a:ext cx="10362565" cy="4598035"/>
          </a:xfrm>
          <a:prstGeom prst="rect">
            <a:avLst/>
          </a:prstGeom>
          <a:noFill/>
          <a:ln>
            <a:noFill/>
          </a:ln>
        </p:spPr>
        <p:txBody>
          <a:bodyPr anchorCtr="0" anchor="t" bIns="0" lIns="0" spcFirstLastPara="1" rIns="0" wrap="square" tIns="10150">
            <a:spAutoFit/>
          </a:bodyPr>
          <a:lstStyle/>
          <a:p>
            <a:pPr indent="0" lvl="0" marL="12700" marR="5080" rtl="0" algn="just">
              <a:lnSpc>
                <a:spcPct val="100800"/>
              </a:lnSpc>
              <a:spcBef>
                <a:spcPts val="0"/>
              </a:spcBef>
              <a:spcAft>
                <a:spcPts val="0"/>
              </a:spcAft>
              <a:buNone/>
            </a:pPr>
            <a:r>
              <a:rPr lang="fr-FR" sz="2400">
                <a:solidFill>
                  <a:srgbClr val="252525"/>
                </a:solidFill>
                <a:latin typeface="Garamond"/>
                <a:ea typeface="Garamond"/>
                <a:cs typeface="Garamond"/>
                <a:sym typeface="Garamond"/>
              </a:rPr>
              <a:t>A. Anxiété liée au fait de se retrouver dans des endroits ou des situations d’où il pourrait être difficile « ou gênant » de s’échapper ou dans lesquelles on pourrait ne pas trouver de secours en cas d’attaque de panique soit inattendue soit facilitée par des situations spécifiques ou bien en cas de symptômes à type de panique.</a:t>
            </a:r>
            <a:endParaRPr sz="2400">
              <a:latin typeface="Garamond"/>
              <a:ea typeface="Garamond"/>
              <a:cs typeface="Garamond"/>
              <a:sym typeface="Garamond"/>
            </a:endParaRPr>
          </a:p>
          <a:p>
            <a:pPr indent="0" lvl="0" marL="12700" rtl="0" algn="just">
              <a:lnSpc>
                <a:spcPct val="100000"/>
              </a:lnSpc>
              <a:spcBef>
                <a:spcPts val="1175"/>
              </a:spcBef>
              <a:spcAft>
                <a:spcPts val="0"/>
              </a:spcAft>
              <a:buNone/>
            </a:pPr>
            <a:r>
              <a:rPr lang="fr-FR" sz="2400">
                <a:solidFill>
                  <a:srgbClr val="252525"/>
                </a:solidFill>
                <a:latin typeface="Garamond"/>
                <a:ea typeface="Garamond"/>
                <a:cs typeface="Garamond"/>
                <a:sym typeface="Garamond"/>
              </a:rPr>
              <a:t>Peur ou anxiété marquée concernant </a:t>
            </a:r>
            <a:r>
              <a:rPr b="1" lang="fr-FR" sz="2400">
                <a:solidFill>
                  <a:srgbClr val="C00000"/>
                </a:solidFill>
                <a:latin typeface="Garamond"/>
                <a:ea typeface="Garamond"/>
                <a:cs typeface="Garamond"/>
                <a:sym typeface="Garamond"/>
              </a:rPr>
              <a:t>2 (ou plus) des 5 situations suivantes</a:t>
            </a:r>
            <a:endParaRPr sz="2400">
              <a:latin typeface="Garamond"/>
              <a:ea typeface="Garamond"/>
              <a:cs typeface="Garamond"/>
              <a:sym typeface="Garamond"/>
            </a:endParaRPr>
          </a:p>
          <a:p>
            <a:pPr indent="-514350" lvl="0" marL="527050" rtl="0" algn="l">
              <a:lnSpc>
                <a:spcPct val="100000"/>
              </a:lnSpc>
              <a:spcBef>
                <a:spcPts val="825"/>
              </a:spcBef>
              <a:spcAft>
                <a:spcPts val="0"/>
              </a:spcAft>
              <a:buClr>
                <a:srgbClr val="83992A"/>
              </a:buClr>
              <a:buSzPts val="2750"/>
              <a:buFont typeface="Garamond"/>
              <a:buAutoNum type="arabicPeriod"/>
            </a:pPr>
            <a:r>
              <a:rPr lang="fr-FR" sz="2400">
                <a:solidFill>
                  <a:srgbClr val="252525"/>
                </a:solidFill>
                <a:latin typeface="Garamond"/>
                <a:ea typeface="Garamond"/>
                <a:cs typeface="Garamond"/>
                <a:sym typeface="Garamond"/>
              </a:rPr>
              <a:t>Utiliser les </a:t>
            </a:r>
            <a:r>
              <a:rPr b="1" lang="fr-FR" sz="2400">
                <a:solidFill>
                  <a:srgbClr val="252525"/>
                </a:solidFill>
                <a:latin typeface="Garamond"/>
                <a:ea typeface="Garamond"/>
                <a:cs typeface="Garamond"/>
                <a:sym typeface="Garamond"/>
              </a:rPr>
              <a:t>transports publics </a:t>
            </a:r>
            <a:r>
              <a:rPr lang="fr-FR" sz="2400">
                <a:solidFill>
                  <a:srgbClr val="252525"/>
                </a:solidFill>
                <a:latin typeface="Garamond"/>
                <a:ea typeface="Garamond"/>
                <a:cs typeface="Garamond"/>
                <a:sym typeface="Garamond"/>
              </a:rPr>
              <a:t>(ex., automobiles, autobus, trains, navires, avions).</a:t>
            </a:r>
            <a:endParaRPr sz="2400">
              <a:latin typeface="Garamond"/>
              <a:ea typeface="Garamond"/>
              <a:cs typeface="Garamond"/>
              <a:sym typeface="Garamond"/>
            </a:endParaRPr>
          </a:p>
          <a:p>
            <a:pPr indent="-514350" lvl="0" marL="527050" rtl="0" algn="l">
              <a:lnSpc>
                <a:spcPct val="100000"/>
              </a:lnSpc>
              <a:spcBef>
                <a:spcPts val="755"/>
              </a:spcBef>
              <a:spcAft>
                <a:spcPts val="0"/>
              </a:spcAft>
              <a:buClr>
                <a:srgbClr val="83992A"/>
              </a:buClr>
              <a:buSzPts val="2750"/>
              <a:buFont typeface="Garamond"/>
              <a:buAutoNum type="arabicPeriod"/>
            </a:pPr>
            <a:r>
              <a:rPr lang="fr-FR" sz="2400">
                <a:solidFill>
                  <a:srgbClr val="252525"/>
                </a:solidFill>
                <a:latin typeface="Garamond"/>
                <a:ea typeface="Garamond"/>
                <a:cs typeface="Garamond"/>
                <a:sym typeface="Garamond"/>
              </a:rPr>
              <a:t>Être dans des </a:t>
            </a:r>
            <a:r>
              <a:rPr b="1" lang="fr-FR" sz="2400">
                <a:solidFill>
                  <a:srgbClr val="252525"/>
                </a:solidFill>
                <a:latin typeface="Garamond"/>
                <a:ea typeface="Garamond"/>
                <a:cs typeface="Garamond"/>
                <a:sym typeface="Garamond"/>
              </a:rPr>
              <a:t>espaces ouverts </a:t>
            </a:r>
            <a:r>
              <a:rPr lang="fr-FR" sz="2400">
                <a:solidFill>
                  <a:srgbClr val="252525"/>
                </a:solidFill>
                <a:latin typeface="Garamond"/>
                <a:ea typeface="Garamond"/>
                <a:cs typeface="Garamond"/>
                <a:sym typeface="Garamond"/>
              </a:rPr>
              <a:t>(ex., parcs de stationnement, marchés, ponts).</a:t>
            </a:r>
            <a:endParaRPr sz="2400">
              <a:latin typeface="Garamond"/>
              <a:ea typeface="Garamond"/>
              <a:cs typeface="Garamond"/>
              <a:sym typeface="Garamond"/>
            </a:endParaRPr>
          </a:p>
          <a:p>
            <a:pPr indent="-514350" lvl="0" marL="527050" rtl="0" algn="l">
              <a:lnSpc>
                <a:spcPct val="100000"/>
              </a:lnSpc>
              <a:spcBef>
                <a:spcPts val="755"/>
              </a:spcBef>
              <a:spcAft>
                <a:spcPts val="0"/>
              </a:spcAft>
              <a:buClr>
                <a:srgbClr val="83992A"/>
              </a:buClr>
              <a:buSzPts val="2750"/>
              <a:buFont typeface="Garamond"/>
              <a:buAutoNum type="arabicPeriod"/>
            </a:pPr>
            <a:r>
              <a:rPr lang="fr-FR" sz="2400">
                <a:solidFill>
                  <a:srgbClr val="252525"/>
                </a:solidFill>
                <a:latin typeface="Garamond"/>
                <a:ea typeface="Garamond"/>
                <a:cs typeface="Garamond"/>
                <a:sym typeface="Garamond"/>
              </a:rPr>
              <a:t>Être dans des </a:t>
            </a:r>
            <a:r>
              <a:rPr b="1" lang="fr-FR" sz="2400">
                <a:solidFill>
                  <a:srgbClr val="252525"/>
                </a:solidFill>
                <a:latin typeface="Garamond"/>
                <a:ea typeface="Garamond"/>
                <a:cs typeface="Garamond"/>
                <a:sym typeface="Garamond"/>
              </a:rPr>
              <a:t>endroits fermés </a:t>
            </a:r>
            <a:r>
              <a:rPr lang="fr-FR" sz="2400">
                <a:solidFill>
                  <a:srgbClr val="252525"/>
                </a:solidFill>
                <a:latin typeface="Garamond"/>
                <a:ea typeface="Garamond"/>
                <a:cs typeface="Garamond"/>
                <a:sym typeface="Garamond"/>
              </a:rPr>
              <a:t>(ex., magasins, théâtres, cinémas).</a:t>
            </a:r>
            <a:endParaRPr sz="2400">
              <a:latin typeface="Garamond"/>
              <a:ea typeface="Garamond"/>
              <a:cs typeface="Garamond"/>
              <a:sym typeface="Garamond"/>
            </a:endParaRPr>
          </a:p>
          <a:p>
            <a:pPr indent="-590550" lvl="0" marL="603250" rtl="0" algn="l">
              <a:lnSpc>
                <a:spcPct val="100000"/>
              </a:lnSpc>
              <a:spcBef>
                <a:spcPts val="760"/>
              </a:spcBef>
              <a:spcAft>
                <a:spcPts val="0"/>
              </a:spcAft>
              <a:buClr>
                <a:srgbClr val="83992A"/>
              </a:buClr>
              <a:buSzPts val="2750"/>
              <a:buFont typeface="Garamond"/>
              <a:buAutoNum type="arabicPeriod"/>
            </a:pPr>
            <a:r>
              <a:rPr lang="fr-FR" sz="2400">
                <a:solidFill>
                  <a:srgbClr val="252525"/>
                </a:solidFill>
                <a:latin typeface="Garamond"/>
                <a:ea typeface="Garamond"/>
                <a:cs typeface="Garamond"/>
                <a:sym typeface="Garamond"/>
              </a:rPr>
              <a:t>Faire la </a:t>
            </a:r>
            <a:r>
              <a:rPr b="1" lang="fr-FR" sz="2400">
                <a:solidFill>
                  <a:srgbClr val="252525"/>
                </a:solidFill>
                <a:latin typeface="Garamond"/>
                <a:ea typeface="Garamond"/>
                <a:cs typeface="Garamond"/>
                <a:sym typeface="Garamond"/>
              </a:rPr>
              <a:t>file </a:t>
            </a:r>
            <a:r>
              <a:rPr lang="fr-FR" sz="2400">
                <a:solidFill>
                  <a:srgbClr val="252525"/>
                </a:solidFill>
                <a:latin typeface="Garamond"/>
                <a:ea typeface="Garamond"/>
                <a:cs typeface="Garamond"/>
                <a:sym typeface="Garamond"/>
              </a:rPr>
              <a:t>ou être dans une </a:t>
            </a:r>
            <a:r>
              <a:rPr b="1" lang="fr-FR" sz="2400">
                <a:solidFill>
                  <a:srgbClr val="252525"/>
                </a:solidFill>
                <a:latin typeface="Garamond"/>
                <a:ea typeface="Garamond"/>
                <a:cs typeface="Garamond"/>
                <a:sym typeface="Garamond"/>
              </a:rPr>
              <a:t>foule.</a:t>
            </a:r>
            <a:endParaRPr sz="2400">
              <a:latin typeface="Garamond"/>
              <a:ea typeface="Garamond"/>
              <a:cs typeface="Garamond"/>
              <a:sym typeface="Garamond"/>
            </a:endParaRPr>
          </a:p>
          <a:p>
            <a:pPr indent="-514350" lvl="0" marL="527050" rtl="0" algn="l">
              <a:lnSpc>
                <a:spcPct val="100000"/>
              </a:lnSpc>
              <a:spcBef>
                <a:spcPts val="755"/>
              </a:spcBef>
              <a:spcAft>
                <a:spcPts val="0"/>
              </a:spcAft>
              <a:buClr>
                <a:srgbClr val="83992A"/>
              </a:buClr>
              <a:buSzPts val="2750"/>
              <a:buFont typeface="Garamond"/>
              <a:buAutoNum type="arabicPeriod"/>
            </a:pPr>
            <a:r>
              <a:rPr lang="fr-FR" sz="2400">
                <a:solidFill>
                  <a:srgbClr val="252525"/>
                </a:solidFill>
                <a:latin typeface="Garamond"/>
                <a:ea typeface="Garamond"/>
                <a:cs typeface="Garamond"/>
                <a:sym typeface="Garamond"/>
              </a:rPr>
              <a:t>Être à </a:t>
            </a:r>
            <a:r>
              <a:rPr b="1" lang="fr-FR" sz="2400">
                <a:solidFill>
                  <a:srgbClr val="252525"/>
                </a:solidFill>
                <a:latin typeface="Garamond"/>
                <a:ea typeface="Garamond"/>
                <a:cs typeface="Garamond"/>
                <a:sym typeface="Garamond"/>
              </a:rPr>
              <a:t>l'extérieur </a:t>
            </a:r>
            <a:r>
              <a:rPr lang="fr-FR" sz="2400">
                <a:solidFill>
                  <a:srgbClr val="252525"/>
                </a:solidFill>
                <a:latin typeface="Garamond"/>
                <a:ea typeface="Garamond"/>
                <a:cs typeface="Garamond"/>
                <a:sym typeface="Garamond"/>
              </a:rPr>
              <a:t>de la maison seul(e).</a:t>
            </a:r>
            <a:endParaRPr sz="2400">
              <a:latin typeface="Garamond"/>
              <a:ea typeface="Garamond"/>
              <a:cs typeface="Garamond"/>
              <a:sym typeface="Garamon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77"/>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69" name="Google Shape;669;p77"/>
          <p:cNvSpPr txBox="1"/>
          <p:nvPr>
            <p:ph type="title"/>
          </p:nvPr>
        </p:nvSpPr>
        <p:spPr>
          <a:xfrm>
            <a:off x="1261491" y="1251585"/>
            <a:ext cx="10419715" cy="57531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fr-FR">
                <a:solidFill>
                  <a:srgbClr val="006FC0"/>
                </a:solidFill>
              </a:rPr>
              <a:t>Critères diagnostiques du DSM 5 d’une agoraphobie :</a:t>
            </a:r>
            <a:endParaRPr/>
          </a:p>
        </p:txBody>
      </p:sp>
      <p:sp>
        <p:nvSpPr>
          <p:cNvPr id="670" name="Google Shape;670;p7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671" name="Google Shape;671;p77"/>
          <p:cNvSpPr txBox="1"/>
          <p:nvPr/>
        </p:nvSpPr>
        <p:spPr>
          <a:xfrm>
            <a:off x="917575" y="2461834"/>
            <a:ext cx="10364470" cy="1675130"/>
          </a:xfrm>
          <a:prstGeom prst="rect">
            <a:avLst/>
          </a:prstGeom>
          <a:noFill/>
          <a:ln>
            <a:noFill/>
          </a:ln>
        </p:spPr>
        <p:txBody>
          <a:bodyPr anchorCtr="0" anchor="t" bIns="0" lIns="0" spcFirstLastPara="1" rIns="0" wrap="square" tIns="16500">
            <a:spAutoFit/>
          </a:bodyPr>
          <a:lstStyle/>
          <a:p>
            <a:pPr indent="-285115" lvl="0" marL="297180" marR="5080" rtl="0" algn="just">
              <a:lnSpc>
                <a:spcPct val="149900"/>
              </a:lnSpc>
              <a:spcBef>
                <a:spcPts val="0"/>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B. Les situations sont </a:t>
            </a:r>
            <a:r>
              <a:rPr b="1" lang="fr-FR" sz="2400">
                <a:solidFill>
                  <a:srgbClr val="C00000"/>
                </a:solidFill>
                <a:latin typeface="Garamond"/>
                <a:ea typeface="Garamond"/>
                <a:cs typeface="Garamond"/>
                <a:sym typeface="Garamond"/>
              </a:rPr>
              <a:t>soit évitées</a:t>
            </a:r>
            <a:r>
              <a:rPr lang="fr-FR" sz="2400">
                <a:solidFill>
                  <a:srgbClr val="252525"/>
                </a:solidFill>
                <a:latin typeface="Garamond"/>
                <a:ea typeface="Garamond"/>
                <a:cs typeface="Garamond"/>
                <a:sym typeface="Garamond"/>
              </a:rPr>
              <a:t>, soit subits avec une </a:t>
            </a:r>
            <a:r>
              <a:rPr b="1" lang="fr-FR" sz="2400">
                <a:solidFill>
                  <a:srgbClr val="C00000"/>
                </a:solidFill>
                <a:latin typeface="Garamond"/>
                <a:ea typeface="Garamond"/>
                <a:cs typeface="Garamond"/>
                <a:sym typeface="Garamond"/>
              </a:rPr>
              <a:t>souffrance </a:t>
            </a:r>
            <a:r>
              <a:rPr lang="fr-FR" sz="2400">
                <a:solidFill>
                  <a:srgbClr val="252525"/>
                </a:solidFill>
                <a:latin typeface="Garamond"/>
                <a:ea typeface="Garamond"/>
                <a:cs typeface="Garamond"/>
                <a:sym typeface="Garamond"/>
              </a:rPr>
              <a:t>intense ou bien 	avec la crainte d’avoir une attaque de panique ou des symptômes à type de panique 	ou bien nécessitent la présence d’un accompagnant.</a:t>
            </a:r>
            <a:endParaRPr sz="2400">
              <a:latin typeface="Garamond"/>
              <a:ea typeface="Garamond"/>
              <a:cs typeface="Garamond"/>
              <a:sym typeface="Garamon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pic>
        <p:nvPicPr>
          <p:cNvPr id="676" name="Google Shape;676;p78"/>
          <p:cNvPicPr preferRelativeResize="0"/>
          <p:nvPr/>
        </p:nvPicPr>
        <p:blipFill rotWithShape="1">
          <a:blip r:embed="rId3">
            <a:alphaModFix/>
          </a:blip>
          <a:srcRect b="0" l="0" r="0" t="0"/>
          <a:stretch/>
        </p:blipFill>
        <p:spPr>
          <a:xfrm>
            <a:off x="4029075" y="1266825"/>
            <a:ext cx="4324350" cy="4324350"/>
          </a:xfrm>
          <a:prstGeom prst="rect">
            <a:avLst/>
          </a:prstGeom>
          <a:noFill/>
          <a:ln>
            <a:noFill/>
          </a:ln>
        </p:spPr>
      </p:pic>
      <p:sp>
        <p:nvSpPr>
          <p:cNvPr id="677" name="Google Shape;677;p7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79"/>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83" name="Google Shape;683;p79"/>
          <p:cNvSpPr txBox="1"/>
          <p:nvPr>
            <p:ph type="title"/>
          </p:nvPr>
        </p:nvSpPr>
        <p:spPr>
          <a:xfrm>
            <a:off x="802005" y="636905"/>
            <a:ext cx="10587989" cy="1671955"/>
          </a:xfrm>
          <a:prstGeom prst="rect">
            <a:avLst/>
          </a:prstGeom>
          <a:noFill/>
          <a:ln>
            <a:noFill/>
          </a:ln>
        </p:spPr>
        <p:txBody>
          <a:bodyPr anchorCtr="0" anchor="t" bIns="0" lIns="0" spcFirstLastPara="1" rIns="0" wrap="square" tIns="312100">
            <a:spAutoFit/>
          </a:bodyPr>
          <a:lstStyle/>
          <a:p>
            <a:pPr indent="0" lvl="0" marL="585470" marR="5080" rtl="0" algn="l">
              <a:lnSpc>
                <a:spcPct val="101400"/>
              </a:lnSpc>
              <a:spcBef>
                <a:spcPts val="0"/>
              </a:spcBef>
              <a:spcAft>
                <a:spcPts val="0"/>
              </a:spcAft>
              <a:buNone/>
            </a:pPr>
            <a:r>
              <a:rPr lang="fr-FR" sz="3950">
                <a:solidFill>
                  <a:srgbClr val="000000"/>
                </a:solidFill>
              </a:rPr>
              <a:t>Dans les phobies spécifiques, l'anxiété peut concerner les situations suivantes :</a:t>
            </a:r>
            <a:endParaRPr sz="3950"/>
          </a:p>
        </p:txBody>
      </p:sp>
      <p:sp>
        <p:nvSpPr>
          <p:cNvPr id="684" name="Google Shape;684;p7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685" name="Google Shape;685;p79"/>
          <p:cNvSpPr txBox="1"/>
          <p:nvPr/>
        </p:nvSpPr>
        <p:spPr>
          <a:xfrm>
            <a:off x="1375028" y="2406713"/>
            <a:ext cx="4825365" cy="2648161"/>
          </a:xfrm>
          <a:prstGeom prst="rect">
            <a:avLst/>
          </a:prstGeom>
          <a:noFill/>
          <a:ln>
            <a:noFill/>
          </a:ln>
        </p:spPr>
        <p:txBody>
          <a:bodyPr anchorCtr="0" anchor="t" bIns="0" lIns="0" spcFirstLastPara="1" rIns="0" wrap="square" tIns="171450">
            <a:spAutoFit/>
          </a:bodyPr>
          <a:lstStyle/>
          <a:p>
            <a:pPr indent="-351790" lvl="0" marL="364490" rtl="0" algn="l">
              <a:lnSpc>
                <a:spcPct val="100000"/>
              </a:lnSpc>
              <a:spcBef>
                <a:spcPts val="0"/>
              </a:spcBef>
              <a:spcAft>
                <a:spcPts val="0"/>
              </a:spcAft>
              <a:buClr>
                <a:srgbClr val="FF0000"/>
              </a:buClr>
              <a:buSzPts val="2400"/>
              <a:buFont typeface="Garamond"/>
              <a:buAutoNum type="alphaUcPeriod"/>
            </a:pPr>
            <a:r>
              <a:rPr b="1" lang="fr-FR" sz="2400">
                <a:solidFill>
                  <a:srgbClr val="FF0000"/>
                </a:solidFill>
                <a:latin typeface="Garamond"/>
                <a:ea typeface="Garamond"/>
                <a:cs typeface="Garamond"/>
                <a:sym typeface="Garamond"/>
              </a:rPr>
              <a:t>Être en hauteur</a:t>
            </a:r>
            <a:endParaRPr sz="2400">
              <a:solidFill>
                <a:srgbClr val="FF0000"/>
              </a:solidFill>
              <a:latin typeface="Garamond"/>
              <a:ea typeface="Garamond"/>
              <a:cs typeface="Garamond"/>
              <a:sym typeface="Garamond"/>
            </a:endParaRPr>
          </a:p>
          <a:p>
            <a:pPr indent="-361315" lvl="0" marL="374015" rtl="0" algn="l">
              <a:lnSpc>
                <a:spcPct val="100000"/>
              </a:lnSpc>
              <a:spcBef>
                <a:spcPts val="1250"/>
              </a:spcBef>
              <a:spcAft>
                <a:spcPts val="0"/>
              </a:spcAft>
              <a:buClr>
                <a:srgbClr val="FF0000"/>
              </a:buClr>
              <a:buSzPts val="2400"/>
              <a:buFont typeface="Garamond"/>
              <a:buAutoNum type="alphaUcPeriod"/>
            </a:pPr>
            <a:r>
              <a:rPr b="1" lang="fr-FR" sz="2400">
                <a:solidFill>
                  <a:srgbClr val="FF0000"/>
                </a:solidFill>
                <a:latin typeface="Garamond"/>
                <a:ea typeface="Garamond"/>
                <a:cs typeface="Garamond"/>
                <a:sym typeface="Garamond"/>
              </a:rPr>
              <a:t>Faire une injection</a:t>
            </a:r>
            <a:endParaRPr sz="2400">
              <a:solidFill>
                <a:srgbClr val="FF0000"/>
              </a:solidFill>
              <a:latin typeface="Garamond"/>
              <a:ea typeface="Garamond"/>
              <a:cs typeface="Garamond"/>
              <a:sym typeface="Garamond"/>
            </a:endParaRPr>
          </a:p>
          <a:p>
            <a:pPr indent="-370840" lvl="0" marL="383540" rtl="0" algn="l">
              <a:lnSpc>
                <a:spcPct val="100000"/>
              </a:lnSpc>
              <a:spcBef>
                <a:spcPts val="1175"/>
              </a:spcBef>
              <a:spcAft>
                <a:spcPts val="0"/>
              </a:spcAft>
              <a:buClr>
                <a:srgbClr val="252525"/>
              </a:buClr>
              <a:buSzPts val="2400"/>
              <a:buFont typeface="Garamond"/>
              <a:buAutoNum type="alphaUcPeriod"/>
            </a:pPr>
            <a:r>
              <a:rPr b="1" lang="fr-FR" sz="2400">
                <a:solidFill>
                  <a:srgbClr val="252525"/>
                </a:solidFill>
                <a:latin typeface="Garamond"/>
                <a:ea typeface="Garamond"/>
                <a:cs typeface="Garamond"/>
                <a:sym typeface="Garamond"/>
              </a:rPr>
              <a:t>Parler au supérieur</a:t>
            </a:r>
            <a:endParaRPr sz="2400">
              <a:latin typeface="Garamond"/>
              <a:ea typeface="Garamond"/>
              <a:cs typeface="Garamond"/>
              <a:sym typeface="Garamond"/>
            </a:endParaRPr>
          </a:p>
          <a:p>
            <a:pPr indent="-380365" lvl="0" marL="393065" rtl="0" algn="l">
              <a:lnSpc>
                <a:spcPct val="100000"/>
              </a:lnSpc>
              <a:spcBef>
                <a:spcPts val="1175"/>
              </a:spcBef>
              <a:spcAft>
                <a:spcPts val="0"/>
              </a:spcAft>
              <a:buClr>
                <a:srgbClr val="252525"/>
              </a:buClr>
              <a:buSzPts val="2400"/>
              <a:buFont typeface="Garamond"/>
              <a:buAutoNum type="alphaUcPeriod"/>
            </a:pPr>
            <a:r>
              <a:rPr b="1" lang="fr-FR" sz="2400">
                <a:solidFill>
                  <a:srgbClr val="252525"/>
                </a:solidFill>
                <a:latin typeface="Garamond"/>
                <a:ea typeface="Garamond"/>
                <a:cs typeface="Garamond"/>
                <a:sym typeface="Garamond"/>
              </a:rPr>
              <a:t>Se retrouver dans un terrain vague</a:t>
            </a:r>
            <a:endParaRPr sz="2400">
              <a:latin typeface="Garamond"/>
              <a:ea typeface="Garamond"/>
              <a:cs typeface="Garamond"/>
              <a:sym typeface="Garamond"/>
            </a:endParaRPr>
          </a:p>
          <a:p>
            <a:pPr indent="-370840" lvl="0" marL="383540" rtl="0" algn="l">
              <a:lnSpc>
                <a:spcPct val="100000"/>
              </a:lnSpc>
              <a:spcBef>
                <a:spcPts val="1175"/>
              </a:spcBef>
              <a:spcAft>
                <a:spcPts val="0"/>
              </a:spcAft>
              <a:buClr>
                <a:srgbClr val="FF0000"/>
              </a:buClr>
              <a:buSzPts val="2400"/>
              <a:buFont typeface="Garamond"/>
              <a:buAutoNum type="alphaUcPeriod"/>
            </a:pPr>
            <a:r>
              <a:rPr b="1" lang="fr-FR" sz="2400">
                <a:solidFill>
                  <a:srgbClr val="FF0000"/>
                </a:solidFill>
                <a:latin typeface="Garamond"/>
                <a:ea typeface="Garamond"/>
                <a:cs typeface="Garamond"/>
                <a:sym typeface="Garamond"/>
              </a:rPr>
              <a:t>Voyager par avion</a:t>
            </a:r>
            <a:endParaRPr sz="2400">
              <a:solidFill>
                <a:srgbClr val="FF0000"/>
              </a:solidFill>
              <a:latin typeface="Garamond"/>
              <a:ea typeface="Garamond"/>
              <a:cs typeface="Garamond"/>
              <a:sym typeface="Garamon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80"/>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91" name="Google Shape;691;p80"/>
          <p:cNvSpPr txBox="1"/>
          <p:nvPr>
            <p:ph type="title"/>
          </p:nvPr>
        </p:nvSpPr>
        <p:spPr>
          <a:xfrm>
            <a:off x="1302003" y="989964"/>
            <a:ext cx="10271760" cy="1242695"/>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3950"/>
              <a:t>Dans les phobies spécifiques, l’anxiété peut</a:t>
            </a:r>
            <a:endParaRPr sz="3950"/>
          </a:p>
          <a:p>
            <a:pPr indent="0" lvl="0" marL="12700" rtl="0" algn="l">
              <a:lnSpc>
                <a:spcPct val="100000"/>
              </a:lnSpc>
              <a:spcBef>
                <a:spcPts val="65"/>
              </a:spcBef>
              <a:spcAft>
                <a:spcPts val="0"/>
              </a:spcAft>
              <a:buNone/>
            </a:pPr>
            <a:r>
              <a:rPr lang="fr-FR" sz="3950"/>
              <a:t>concerner les objets ou les situations suivantes :</a:t>
            </a:r>
            <a:endParaRPr sz="3950"/>
          </a:p>
        </p:txBody>
      </p:sp>
      <p:sp>
        <p:nvSpPr>
          <p:cNvPr id="692" name="Google Shape;692;p8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693" name="Google Shape;693;p80"/>
          <p:cNvSpPr txBox="1"/>
          <p:nvPr/>
        </p:nvSpPr>
        <p:spPr>
          <a:xfrm>
            <a:off x="1103630" y="2522899"/>
            <a:ext cx="3823335" cy="2568652"/>
          </a:xfrm>
          <a:prstGeom prst="rect">
            <a:avLst/>
          </a:prstGeom>
          <a:noFill/>
          <a:ln>
            <a:noFill/>
          </a:ln>
        </p:spPr>
        <p:txBody>
          <a:bodyPr anchorCtr="0" anchor="t" bIns="0" lIns="0" spcFirstLastPara="1" rIns="0" wrap="square" tIns="54600">
            <a:spAutoFit/>
          </a:bodyPr>
          <a:lstStyle/>
          <a:p>
            <a:pPr indent="-513715" lvl="0" marL="526415"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Prendre l’avion</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Parler avec un groupe</a:t>
            </a:r>
            <a:endParaRPr sz="2750">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Etre dans un tunnel</a:t>
            </a:r>
            <a:endParaRPr sz="2750">
              <a:solidFill>
                <a:srgbClr val="FF0000"/>
              </a:solidFill>
              <a:latin typeface="Garamond"/>
              <a:ea typeface="Garamond"/>
              <a:cs typeface="Garamond"/>
              <a:sym typeface="Garamond"/>
            </a:endParaRPr>
          </a:p>
          <a:p>
            <a:pPr indent="-513080" lvl="0" marL="525780" rtl="0" algn="l">
              <a:lnSpc>
                <a:spcPct val="100000"/>
              </a:lnSpc>
              <a:spcBef>
                <a:spcPts val="74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Manger en public</a:t>
            </a:r>
            <a:endParaRPr sz="2750">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Faire une injection</a:t>
            </a:r>
            <a:endParaRPr sz="2750">
              <a:solidFill>
                <a:srgbClr val="FF0000"/>
              </a:solidFill>
              <a:latin typeface="Garamond"/>
              <a:ea typeface="Garamond"/>
              <a:cs typeface="Garamond"/>
              <a:sym typeface="Garamon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81"/>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99" name="Google Shape;699;p81"/>
          <p:cNvSpPr txBox="1"/>
          <p:nvPr>
            <p:ph type="title"/>
          </p:nvPr>
        </p:nvSpPr>
        <p:spPr>
          <a:xfrm>
            <a:off x="802005" y="636905"/>
            <a:ext cx="10587989" cy="1671955"/>
          </a:xfrm>
          <a:prstGeom prst="rect">
            <a:avLst/>
          </a:prstGeom>
          <a:noFill/>
          <a:ln>
            <a:noFill/>
          </a:ln>
        </p:spPr>
        <p:txBody>
          <a:bodyPr anchorCtr="0" anchor="t" bIns="0" lIns="0" spcFirstLastPara="1" rIns="0" wrap="square" tIns="674600">
            <a:spAutoFit/>
          </a:bodyPr>
          <a:lstStyle/>
          <a:p>
            <a:pPr indent="0" lvl="0" marL="964564" rtl="0" algn="l">
              <a:lnSpc>
                <a:spcPct val="100000"/>
              </a:lnSpc>
              <a:spcBef>
                <a:spcPts val="0"/>
              </a:spcBef>
              <a:spcAft>
                <a:spcPts val="0"/>
              </a:spcAft>
              <a:buNone/>
            </a:pPr>
            <a:r>
              <a:rPr lang="fr-FR" sz="3950">
                <a:solidFill>
                  <a:srgbClr val="000000"/>
                </a:solidFill>
              </a:rPr>
              <a:t>La claustrophobie :</a:t>
            </a:r>
            <a:endParaRPr sz="3950"/>
          </a:p>
        </p:txBody>
      </p:sp>
      <p:sp>
        <p:nvSpPr>
          <p:cNvPr id="700" name="Google Shape;700;p8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701" name="Google Shape;701;p81"/>
          <p:cNvSpPr txBox="1"/>
          <p:nvPr/>
        </p:nvSpPr>
        <p:spPr>
          <a:xfrm>
            <a:off x="1375028" y="2555529"/>
            <a:ext cx="10125710" cy="2346796"/>
          </a:xfrm>
          <a:prstGeom prst="rect">
            <a:avLst/>
          </a:prstGeom>
          <a:noFill/>
          <a:ln>
            <a:noFill/>
          </a:ln>
        </p:spPr>
        <p:txBody>
          <a:bodyPr anchorCtr="0" anchor="t" bIns="0" lIns="0" spcFirstLastPara="1" rIns="0" wrap="square" tIns="12700">
            <a:spAutoFit/>
          </a:bodyPr>
          <a:lstStyle/>
          <a:p>
            <a:pPr indent="-513715" lvl="0" marL="526415"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Est la peur des espaces où il pourrait être difficile de s’échapper</a:t>
            </a:r>
            <a:endParaRPr sz="2750">
              <a:latin typeface="Garamond"/>
              <a:ea typeface="Garamond"/>
              <a:cs typeface="Garamond"/>
              <a:sym typeface="Garamond"/>
            </a:endParaRPr>
          </a:p>
          <a:p>
            <a:pPr indent="-514350" lvl="0" marL="527050" rtl="0" algn="l">
              <a:lnSpc>
                <a:spcPct val="100000"/>
              </a:lnSpc>
              <a:spcBef>
                <a:spcPts val="4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Est la peur des espaces clos</a:t>
            </a:r>
            <a:endParaRPr sz="2750">
              <a:solidFill>
                <a:srgbClr val="FF0000"/>
              </a:solidFill>
              <a:latin typeface="Garamond"/>
              <a:ea typeface="Garamond"/>
              <a:cs typeface="Garamond"/>
              <a:sym typeface="Garamond"/>
            </a:endParaRPr>
          </a:p>
          <a:p>
            <a:pPr indent="-514350" lvl="0" marL="527050" rtl="0" algn="l">
              <a:lnSpc>
                <a:spcPct val="100000"/>
              </a:lnSpc>
              <a:spcBef>
                <a:spcPts val="4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Est la peur de se retrouver seul dans un lieu public</a:t>
            </a:r>
            <a:endParaRPr sz="2750">
              <a:latin typeface="Garamond"/>
              <a:ea typeface="Garamond"/>
              <a:cs typeface="Garamond"/>
              <a:sym typeface="Garamond"/>
            </a:endParaRPr>
          </a:p>
          <a:p>
            <a:pPr indent="-513715" lvl="0" marL="526415" rtl="0" algn="l">
              <a:lnSpc>
                <a:spcPct val="100000"/>
              </a:lnSpc>
              <a:spcBef>
                <a:spcPts val="52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Est une forme de phobie spécifique type situationnel</a:t>
            </a:r>
            <a:endParaRPr sz="2750">
              <a:solidFill>
                <a:srgbClr val="FF0000"/>
              </a:solidFill>
              <a:latin typeface="Garamond"/>
              <a:ea typeface="Garamond"/>
              <a:cs typeface="Garamond"/>
              <a:sym typeface="Garamond"/>
            </a:endParaRPr>
          </a:p>
          <a:p>
            <a:pPr indent="-513715" lvl="0" marL="526415" rtl="0" algn="l">
              <a:lnSpc>
                <a:spcPct val="100000"/>
              </a:lnSpc>
              <a:spcBef>
                <a:spcPts val="4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Peut s’accompagner de conduites d’évitement</a:t>
            </a:r>
            <a:endParaRPr sz="2750">
              <a:solidFill>
                <a:srgbClr val="FF0000"/>
              </a:solidFill>
              <a:latin typeface="Garamond"/>
              <a:ea typeface="Garamond"/>
              <a:cs typeface="Garamond"/>
              <a:sym typeface="Garamon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82"/>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07" name="Google Shape;707;p82"/>
          <p:cNvSpPr txBox="1"/>
          <p:nvPr>
            <p:ph type="title"/>
          </p:nvPr>
        </p:nvSpPr>
        <p:spPr>
          <a:xfrm>
            <a:off x="1198244" y="867663"/>
            <a:ext cx="9923780" cy="1500505"/>
          </a:xfrm>
          <a:prstGeom prst="rect">
            <a:avLst/>
          </a:prstGeom>
          <a:noFill/>
          <a:ln>
            <a:noFill/>
          </a:ln>
        </p:spPr>
        <p:txBody>
          <a:bodyPr anchorCtr="0" anchor="t" bIns="0" lIns="0" spcFirstLastPara="1" rIns="0" wrap="square" tIns="12700">
            <a:spAutoFit/>
          </a:bodyPr>
          <a:lstStyle/>
          <a:p>
            <a:pPr indent="0" lvl="0" marL="12700" marR="5080" rtl="0" algn="l">
              <a:lnSpc>
                <a:spcPct val="100699"/>
              </a:lnSpc>
              <a:spcBef>
                <a:spcPts val="0"/>
              </a:spcBef>
              <a:spcAft>
                <a:spcPts val="0"/>
              </a:spcAft>
              <a:buNone/>
            </a:pPr>
            <a:r>
              <a:rPr lang="fr-FR" sz="3200"/>
              <a:t>Parmi les troubles suivants, quel(s) est celui (sont ceux) considéré(s) par les DSM 5 comme une phobie spécifique type environnement naturel :</a:t>
            </a:r>
            <a:endParaRPr sz="3200"/>
          </a:p>
        </p:txBody>
      </p:sp>
      <p:sp>
        <p:nvSpPr>
          <p:cNvPr id="708" name="Google Shape;708;p8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709" name="Google Shape;709;p82"/>
          <p:cNvSpPr txBox="1"/>
          <p:nvPr/>
        </p:nvSpPr>
        <p:spPr>
          <a:xfrm>
            <a:off x="1375028" y="2736786"/>
            <a:ext cx="3457575" cy="2192908"/>
          </a:xfrm>
          <a:prstGeom prst="rect">
            <a:avLst/>
          </a:prstGeom>
          <a:noFill/>
          <a:ln>
            <a:noFill/>
          </a:ln>
        </p:spPr>
        <p:txBody>
          <a:bodyPr anchorCtr="0" anchor="t" bIns="0" lIns="0" spcFirstLastPara="1" rIns="0" wrap="square" tIns="0">
            <a:spAutoFit/>
          </a:bodyPr>
          <a:lstStyle/>
          <a:p>
            <a:pPr indent="-514350" lvl="0" marL="527050" rtl="0" algn="l">
              <a:lnSpc>
                <a:spcPct val="127818"/>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Claustrophobie</a:t>
            </a:r>
            <a:endParaRPr sz="2750">
              <a:latin typeface="Garamond"/>
              <a:ea typeface="Garamond"/>
              <a:cs typeface="Garamond"/>
              <a:sym typeface="Garamond"/>
            </a:endParaRPr>
          </a:p>
          <a:p>
            <a:pPr indent="-514350" lvl="0" marL="527050" rtl="0" algn="l">
              <a:lnSpc>
                <a:spcPct val="100000"/>
              </a:lnSpc>
              <a:spcBef>
                <a:spcPts val="6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Phobie du tonnerre</a:t>
            </a:r>
            <a:endParaRPr sz="2750">
              <a:solidFill>
                <a:srgbClr val="FF0000"/>
              </a:solidFill>
              <a:latin typeface="Garamond"/>
              <a:ea typeface="Garamond"/>
              <a:cs typeface="Garamond"/>
              <a:sym typeface="Garamond"/>
            </a:endParaRPr>
          </a:p>
          <a:p>
            <a:pPr indent="-514350" lvl="0" marL="527050" rtl="0" algn="l">
              <a:lnSpc>
                <a:spcPct val="100000"/>
              </a:lnSpc>
              <a:spcBef>
                <a:spcPts val="1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Phobie du sang</a:t>
            </a:r>
            <a:endParaRPr sz="2750">
              <a:latin typeface="Garamond"/>
              <a:ea typeface="Garamond"/>
              <a:cs typeface="Garamond"/>
              <a:sym typeface="Garamond"/>
            </a:endParaRPr>
          </a:p>
          <a:p>
            <a:pPr indent="-513715" lvl="0" marL="526415" rtl="0" algn="l">
              <a:lnSpc>
                <a:spcPct val="100000"/>
              </a:lnSpc>
              <a:spcBef>
                <a:spcPts val="1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Acrophobie</a:t>
            </a:r>
            <a:endParaRPr sz="2750">
              <a:solidFill>
                <a:srgbClr val="FF0000"/>
              </a:solidFill>
              <a:latin typeface="Garamond"/>
              <a:ea typeface="Garamond"/>
              <a:cs typeface="Garamond"/>
              <a:sym typeface="Garamond"/>
            </a:endParaRPr>
          </a:p>
          <a:p>
            <a:pPr indent="-514350" lvl="0" marL="527050" rtl="0" algn="l">
              <a:lnSpc>
                <a:spcPct val="100000"/>
              </a:lnSpc>
              <a:spcBef>
                <a:spcPts val="1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Agoraphobie</a:t>
            </a:r>
            <a:endParaRPr sz="2750">
              <a:latin typeface="Garamond"/>
              <a:ea typeface="Garamond"/>
              <a:cs typeface="Garamond"/>
              <a:sym typeface="Garamond"/>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83"/>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15" name="Google Shape;715;p83"/>
          <p:cNvSpPr txBox="1"/>
          <p:nvPr>
            <p:ph type="title"/>
          </p:nvPr>
        </p:nvSpPr>
        <p:spPr>
          <a:xfrm>
            <a:off x="1076325" y="1158239"/>
            <a:ext cx="8659495" cy="57531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fr-FR">
                <a:solidFill>
                  <a:srgbClr val="000000"/>
                </a:solidFill>
              </a:rPr>
              <a:t>Mr A., 24 ans, a peur d’attraper une infection</a:t>
            </a:r>
            <a:endParaRPr/>
          </a:p>
        </p:txBody>
      </p:sp>
      <p:sp>
        <p:nvSpPr>
          <p:cNvPr id="716" name="Google Shape;716;p8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717" name="Google Shape;717;p83"/>
          <p:cNvSpPr txBox="1"/>
          <p:nvPr/>
        </p:nvSpPr>
        <p:spPr>
          <a:xfrm>
            <a:off x="962025" y="1450809"/>
            <a:ext cx="10630535" cy="3587521"/>
          </a:xfrm>
          <a:prstGeom prst="rect">
            <a:avLst/>
          </a:prstGeom>
          <a:noFill/>
          <a:ln>
            <a:noFill/>
          </a:ln>
        </p:spPr>
        <p:txBody>
          <a:bodyPr anchorCtr="0" anchor="t" bIns="0" lIns="0" spcFirstLastPara="1" rIns="0" wrap="square" tIns="273675">
            <a:spAutoFit/>
          </a:bodyPr>
          <a:lstStyle/>
          <a:p>
            <a:pPr indent="0" lvl="0" marL="12700" rtl="0" algn="l">
              <a:lnSpc>
                <a:spcPct val="100000"/>
              </a:lnSpc>
              <a:spcBef>
                <a:spcPts val="0"/>
              </a:spcBef>
              <a:spcAft>
                <a:spcPts val="0"/>
              </a:spcAft>
              <a:buNone/>
            </a:pPr>
            <a:r>
              <a:rPr b="1" lang="fr-FR" sz="3600">
                <a:latin typeface="Garamond"/>
                <a:ea typeface="Garamond"/>
                <a:cs typeface="Garamond"/>
                <a:sym typeface="Garamond"/>
              </a:rPr>
              <a:t>incurable en serrant la main d’un étranger. Il s’agit de :</a:t>
            </a:r>
            <a:endParaRPr sz="3600">
              <a:latin typeface="Garamond"/>
              <a:ea typeface="Garamond"/>
              <a:cs typeface="Garamond"/>
              <a:sym typeface="Garamond"/>
            </a:endParaRPr>
          </a:p>
          <a:p>
            <a:pPr indent="-513714" lvl="0" marL="939164" rtl="0" algn="l">
              <a:lnSpc>
                <a:spcPct val="100000"/>
              </a:lnSpc>
              <a:spcBef>
                <a:spcPts val="1864"/>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Phobie spécifique</a:t>
            </a:r>
            <a:endParaRPr sz="2750">
              <a:solidFill>
                <a:srgbClr val="FF0000"/>
              </a:solidFill>
              <a:latin typeface="Garamond"/>
              <a:ea typeface="Garamond"/>
              <a:cs typeface="Garamond"/>
              <a:sym typeface="Garamond"/>
            </a:endParaRPr>
          </a:p>
          <a:p>
            <a:pPr indent="-514350" lvl="0" marL="93980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Obsession phobique</a:t>
            </a:r>
            <a:endParaRPr sz="2750">
              <a:latin typeface="Garamond"/>
              <a:ea typeface="Garamond"/>
              <a:cs typeface="Garamond"/>
              <a:sym typeface="Garamond"/>
            </a:endParaRPr>
          </a:p>
          <a:p>
            <a:pPr indent="-514350" lvl="0" marL="93980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Phobie d’impulsion</a:t>
            </a:r>
            <a:endParaRPr sz="2750">
              <a:latin typeface="Garamond"/>
              <a:ea typeface="Garamond"/>
              <a:cs typeface="Garamond"/>
              <a:sym typeface="Garamond"/>
            </a:endParaRPr>
          </a:p>
          <a:p>
            <a:pPr indent="-513714" lvl="0" marL="939164" rtl="0" algn="l">
              <a:lnSpc>
                <a:spcPct val="100000"/>
              </a:lnSpc>
              <a:spcBef>
                <a:spcPts val="74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Phobie sociale</a:t>
            </a:r>
            <a:endParaRPr sz="2750">
              <a:latin typeface="Garamond"/>
              <a:ea typeface="Garamond"/>
              <a:cs typeface="Garamond"/>
              <a:sym typeface="Garamond"/>
            </a:endParaRPr>
          </a:p>
          <a:p>
            <a:pPr indent="-513714" lvl="0" marL="939164"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Trouble obsessionnel-compulsif</a:t>
            </a:r>
            <a:endParaRPr sz="2750">
              <a:latin typeface="Garamond"/>
              <a:ea typeface="Garamond"/>
              <a:cs typeface="Garamond"/>
              <a:sym typeface="Garamon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84"/>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23" name="Google Shape;723;p84"/>
          <p:cNvSpPr txBox="1"/>
          <p:nvPr>
            <p:ph type="title"/>
          </p:nvPr>
        </p:nvSpPr>
        <p:spPr>
          <a:xfrm>
            <a:off x="802005" y="636905"/>
            <a:ext cx="10587989" cy="1671955"/>
          </a:xfrm>
          <a:prstGeom prst="rect">
            <a:avLst/>
          </a:prstGeom>
          <a:noFill/>
          <a:ln>
            <a:noFill/>
          </a:ln>
        </p:spPr>
        <p:txBody>
          <a:bodyPr anchorCtr="0" anchor="t" bIns="0" lIns="0" spcFirstLastPara="1" rIns="0" wrap="square" tIns="660000">
            <a:spAutoFit/>
          </a:bodyPr>
          <a:lstStyle/>
          <a:p>
            <a:pPr indent="0" lvl="0" marL="585470" rtl="0" algn="l">
              <a:lnSpc>
                <a:spcPct val="100000"/>
              </a:lnSpc>
              <a:spcBef>
                <a:spcPts val="0"/>
              </a:spcBef>
              <a:spcAft>
                <a:spcPts val="0"/>
              </a:spcAft>
              <a:buNone/>
            </a:pPr>
            <a:r>
              <a:rPr lang="fr-FR" sz="3950"/>
              <a:t>La phobie des insectes est:</a:t>
            </a:r>
            <a:endParaRPr sz="3950"/>
          </a:p>
        </p:txBody>
      </p:sp>
      <p:sp>
        <p:nvSpPr>
          <p:cNvPr id="724" name="Google Shape;724;p8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725" name="Google Shape;725;p84"/>
          <p:cNvSpPr txBox="1"/>
          <p:nvPr/>
        </p:nvSpPr>
        <p:spPr>
          <a:xfrm>
            <a:off x="1375028" y="2468739"/>
            <a:ext cx="3999865" cy="2267929"/>
          </a:xfrm>
          <a:prstGeom prst="rect">
            <a:avLst/>
          </a:prstGeom>
          <a:noFill/>
          <a:ln>
            <a:noFill/>
          </a:ln>
        </p:spPr>
        <p:txBody>
          <a:bodyPr anchorCtr="0" anchor="t" bIns="0" lIns="0" spcFirstLastPara="1" rIns="0" wrap="square" tIns="23475">
            <a:spAutoFit/>
          </a:bodyPr>
          <a:lstStyle/>
          <a:p>
            <a:pPr indent="-514983" lvl="0" marL="527685" rtl="0" algn="l">
              <a:lnSpc>
                <a:spcPct val="100000"/>
              </a:lnSpc>
              <a:spcBef>
                <a:spcPts val="0"/>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Une agoraphobie</a:t>
            </a:r>
            <a:endParaRPr sz="2600">
              <a:latin typeface="Garamond"/>
              <a:ea typeface="Garamond"/>
              <a:cs typeface="Garamond"/>
              <a:sym typeface="Garamond"/>
            </a:endParaRPr>
          </a:p>
          <a:p>
            <a:pPr indent="-514983" lvl="0" marL="527685" rtl="0" algn="l">
              <a:lnSpc>
                <a:spcPct val="100000"/>
              </a:lnSpc>
              <a:spcBef>
                <a:spcPts val="45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Une phobie sociale</a:t>
            </a:r>
            <a:endParaRPr sz="2600">
              <a:latin typeface="Garamond"/>
              <a:ea typeface="Garamond"/>
              <a:cs typeface="Garamond"/>
              <a:sym typeface="Garamond"/>
            </a:endParaRPr>
          </a:p>
          <a:p>
            <a:pPr indent="-514983" lvl="0" marL="527685" rtl="0" algn="l">
              <a:lnSpc>
                <a:spcPct val="100000"/>
              </a:lnSpc>
              <a:spcBef>
                <a:spcPts val="4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Une phobie spécifique</a:t>
            </a:r>
            <a:endParaRPr sz="2600">
              <a:solidFill>
                <a:srgbClr val="FF0000"/>
              </a:solidFill>
              <a:latin typeface="Garamond"/>
              <a:ea typeface="Garamond"/>
              <a:cs typeface="Garamond"/>
              <a:sym typeface="Garamond"/>
            </a:endParaRPr>
          </a:p>
          <a:p>
            <a:pPr indent="-514350" lvl="0" marL="527050" rtl="0" algn="l">
              <a:lnSpc>
                <a:spcPct val="100000"/>
              </a:lnSpc>
              <a:spcBef>
                <a:spcPts val="384"/>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Une obsession phobique</a:t>
            </a:r>
            <a:endParaRPr sz="2600">
              <a:latin typeface="Garamond"/>
              <a:ea typeface="Garamond"/>
              <a:cs typeface="Garamond"/>
              <a:sym typeface="Garamond"/>
            </a:endParaRPr>
          </a:p>
          <a:p>
            <a:pPr indent="-514983" lvl="0" marL="527685" rtl="0" algn="l">
              <a:lnSpc>
                <a:spcPct val="100000"/>
              </a:lnSpc>
              <a:spcBef>
                <a:spcPts val="45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Une contra phobie</a:t>
            </a:r>
            <a:endParaRPr sz="2600">
              <a:latin typeface="Garamond"/>
              <a:ea typeface="Garamond"/>
              <a:cs typeface="Garamond"/>
              <a:sym typeface="Garamond"/>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85"/>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31" name="Google Shape;731;p85"/>
          <p:cNvSpPr txBox="1"/>
          <p:nvPr>
            <p:ph type="title"/>
          </p:nvPr>
        </p:nvSpPr>
        <p:spPr>
          <a:xfrm>
            <a:off x="802005" y="636905"/>
            <a:ext cx="10587989" cy="1671955"/>
          </a:xfrm>
          <a:prstGeom prst="rect">
            <a:avLst/>
          </a:prstGeom>
          <a:noFill/>
          <a:ln>
            <a:noFill/>
          </a:ln>
        </p:spPr>
        <p:txBody>
          <a:bodyPr anchorCtr="0" anchor="t" bIns="0" lIns="0" spcFirstLastPara="1" rIns="0" wrap="square" tIns="620125">
            <a:spAutoFit/>
          </a:bodyPr>
          <a:lstStyle/>
          <a:p>
            <a:pPr indent="0" lvl="0" marL="585470" rtl="0" algn="l">
              <a:lnSpc>
                <a:spcPct val="100000"/>
              </a:lnSpc>
              <a:spcBef>
                <a:spcPts val="0"/>
              </a:spcBef>
              <a:spcAft>
                <a:spcPts val="0"/>
              </a:spcAft>
              <a:buNone/>
            </a:pPr>
            <a:r>
              <a:rPr lang="fr-FR" sz="4400"/>
              <a:t>La phobie d’animaux est :</a:t>
            </a:r>
            <a:endParaRPr sz="4400"/>
          </a:p>
        </p:txBody>
      </p:sp>
      <p:sp>
        <p:nvSpPr>
          <p:cNvPr id="732" name="Google Shape;732;p8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733" name="Google Shape;733;p85"/>
          <p:cNvSpPr txBox="1"/>
          <p:nvPr/>
        </p:nvSpPr>
        <p:spPr>
          <a:xfrm>
            <a:off x="1375028" y="2469651"/>
            <a:ext cx="3701415" cy="2321148"/>
          </a:xfrm>
          <a:prstGeom prst="rect">
            <a:avLst/>
          </a:prstGeom>
          <a:noFill/>
          <a:ln>
            <a:noFill/>
          </a:ln>
        </p:spPr>
        <p:txBody>
          <a:bodyPr anchorCtr="0" anchor="t" bIns="0" lIns="0" spcFirstLastPara="1" rIns="0" wrap="square" tIns="63500">
            <a:spAutoFit/>
          </a:bodyPr>
          <a:lstStyle/>
          <a:p>
            <a:pPr indent="-457200" lvl="0" marL="469900" rtl="0" algn="l">
              <a:lnSpc>
                <a:spcPct val="100000"/>
              </a:lnSpc>
              <a:spcBef>
                <a:spcPts val="0"/>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Une phobie simple.</a:t>
            </a:r>
            <a:endParaRPr sz="2400">
              <a:solidFill>
                <a:srgbClr val="FF0000"/>
              </a:solidFill>
              <a:latin typeface="Garamond"/>
              <a:ea typeface="Garamond"/>
              <a:cs typeface="Garamond"/>
              <a:sym typeface="Garamond"/>
            </a:endParaRPr>
          </a:p>
          <a:p>
            <a:pPr indent="-455930" lvl="0" marL="468630" rtl="0" algn="l">
              <a:lnSpc>
                <a:spcPct val="100000"/>
              </a:lnSpc>
              <a:spcBef>
                <a:spcPts val="83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Une phobie sociale.</a:t>
            </a:r>
            <a:endParaRPr sz="2400">
              <a:latin typeface="Garamond"/>
              <a:ea typeface="Garamond"/>
              <a:cs typeface="Garamond"/>
              <a:sym typeface="Garamond"/>
            </a:endParaRPr>
          </a:p>
          <a:p>
            <a:pPr indent="-455930" lvl="0" marL="468630" rtl="0" algn="l">
              <a:lnSpc>
                <a:spcPct val="100000"/>
              </a:lnSpc>
              <a:spcBef>
                <a:spcPts val="755"/>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Un trouble de l’humeur.</a:t>
            </a:r>
            <a:endParaRPr sz="2400">
              <a:latin typeface="Garamond"/>
              <a:ea typeface="Garamond"/>
              <a:cs typeface="Garamond"/>
              <a:sym typeface="Garamond"/>
            </a:endParaRPr>
          </a:p>
          <a:p>
            <a:pPr indent="-457200" lvl="0" marL="469900" rtl="0" algn="l">
              <a:lnSpc>
                <a:spcPct val="100000"/>
              </a:lnSpc>
              <a:spcBef>
                <a:spcPts val="76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Une phobie d’impulsion.</a:t>
            </a:r>
            <a:endParaRPr sz="2400">
              <a:latin typeface="Garamond"/>
              <a:ea typeface="Garamond"/>
              <a:cs typeface="Garamond"/>
              <a:sym typeface="Garamond"/>
            </a:endParaRPr>
          </a:p>
          <a:p>
            <a:pPr indent="-456565" lvl="0" marL="469265" rtl="0" algn="l">
              <a:lnSpc>
                <a:spcPct val="100000"/>
              </a:lnSpc>
              <a:spcBef>
                <a:spcPts val="755"/>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Une agoraphobie.</a:t>
            </a:r>
            <a:endParaRPr sz="2400">
              <a:latin typeface="Garamond"/>
              <a:ea typeface="Garamond"/>
              <a:cs typeface="Garamond"/>
              <a:sym typeface="Garamond"/>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86"/>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39" name="Google Shape;739;p86"/>
          <p:cNvSpPr txBox="1"/>
          <p:nvPr>
            <p:ph type="title"/>
          </p:nvPr>
        </p:nvSpPr>
        <p:spPr>
          <a:xfrm>
            <a:off x="802005" y="636905"/>
            <a:ext cx="10587989" cy="1671955"/>
          </a:xfrm>
          <a:prstGeom prst="rect">
            <a:avLst/>
          </a:prstGeom>
          <a:noFill/>
          <a:ln>
            <a:noFill/>
          </a:ln>
        </p:spPr>
        <p:txBody>
          <a:bodyPr anchorCtr="0" anchor="t" bIns="0" lIns="0" spcFirstLastPara="1" rIns="0" wrap="square" tIns="739750">
            <a:spAutoFit/>
          </a:bodyPr>
          <a:lstStyle/>
          <a:p>
            <a:pPr indent="0" lvl="0" marL="585470" rtl="0" algn="l">
              <a:lnSpc>
                <a:spcPct val="100000"/>
              </a:lnSpc>
              <a:spcBef>
                <a:spcPts val="0"/>
              </a:spcBef>
              <a:spcAft>
                <a:spcPts val="0"/>
              </a:spcAft>
              <a:buNone/>
            </a:pPr>
            <a:r>
              <a:rPr lang="fr-FR" sz="3950">
                <a:solidFill>
                  <a:srgbClr val="000000"/>
                </a:solidFill>
              </a:rPr>
              <a:t>L’eurotophobie est :</a:t>
            </a:r>
            <a:endParaRPr sz="3950"/>
          </a:p>
        </p:txBody>
      </p:sp>
      <p:sp>
        <p:nvSpPr>
          <p:cNvPr id="740" name="Google Shape;740;p8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741" name="Google Shape;741;p86"/>
          <p:cNvSpPr txBox="1"/>
          <p:nvPr/>
        </p:nvSpPr>
        <p:spPr>
          <a:xfrm>
            <a:off x="1832610" y="2469651"/>
            <a:ext cx="4161154" cy="2321148"/>
          </a:xfrm>
          <a:prstGeom prst="rect">
            <a:avLst/>
          </a:prstGeom>
          <a:noFill/>
          <a:ln>
            <a:noFill/>
          </a:ln>
        </p:spPr>
        <p:txBody>
          <a:bodyPr anchorCtr="0" anchor="t" bIns="0" lIns="0" spcFirstLastPara="1" rIns="0" wrap="square" tIns="63500">
            <a:spAutoFit/>
          </a:bodyPr>
          <a:lstStyle/>
          <a:p>
            <a:pPr indent="-457200" lvl="0" marL="469900" rtl="0" algn="l">
              <a:lnSpc>
                <a:spcPct val="100000"/>
              </a:lnSpc>
              <a:spcBef>
                <a:spcPts val="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La phobie des animaux.</a:t>
            </a:r>
            <a:endParaRPr sz="2400">
              <a:latin typeface="Garamond"/>
              <a:ea typeface="Garamond"/>
              <a:cs typeface="Garamond"/>
              <a:sym typeface="Garamond"/>
            </a:endParaRPr>
          </a:p>
          <a:p>
            <a:pPr indent="-456565" lvl="0" marL="469265" rtl="0" algn="l">
              <a:lnSpc>
                <a:spcPct val="100000"/>
              </a:lnSpc>
              <a:spcBef>
                <a:spcPts val="83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La phobie des lieux fermés.</a:t>
            </a:r>
            <a:endParaRPr sz="2400">
              <a:latin typeface="Garamond"/>
              <a:ea typeface="Garamond"/>
              <a:cs typeface="Garamond"/>
              <a:sym typeface="Garamond"/>
            </a:endParaRPr>
          </a:p>
          <a:p>
            <a:pPr indent="-456565" lvl="0" marL="469265" rtl="0" algn="l">
              <a:lnSpc>
                <a:spcPct val="100000"/>
              </a:lnSpc>
              <a:spcBef>
                <a:spcPts val="755"/>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La peur des orages.</a:t>
            </a:r>
            <a:endParaRPr sz="2400">
              <a:latin typeface="Garamond"/>
              <a:ea typeface="Garamond"/>
              <a:cs typeface="Garamond"/>
              <a:sym typeface="Garamond"/>
            </a:endParaRPr>
          </a:p>
          <a:p>
            <a:pPr indent="-457200" lvl="0" marL="469900" rtl="0" algn="l">
              <a:lnSpc>
                <a:spcPct val="100000"/>
              </a:lnSpc>
              <a:spcBef>
                <a:spcPts val="76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La peur des espaces publics.</a:t>
            </a:r>
            <a:endParaRPr sz="2400">
              <a:latin typeface="Garamond"/>
              <a:ea typeface="Garamond"/>
              <a:cs typeface="Garamond"/>
              <a:sym typeface="Garamond"/>
            </a:endParaRPr>
          </a:p>
          <a:p>
            <a:pPr indent="-457200" lvl="0" marL="469900" rtl="0" algn="l">
              <a:lnSpc>
                <a:spcPct val="100000"/>
              </a:lnSpc>
              <a:spcBef>
                <a:spcPts val="755"/>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Une phobie sociale.</a:t>
            </a:r>
            <a:endParaRPr sz="2400">
              <a:solidFill>
                <a:srgbClr val="FF0000"/>
              </a:solidFill>
              <a:latin typeface="Garamond"/>
              <a:ea typeface="Garamond"/>
              <a:cs typeface="Garamond"/>
              <a:sym typeface="Garamond"/>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87"/>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47" name="Google Shape;747;p87"/>
          <p:cNvSpPr txBox="1"/>
          <p:nvPr>
            <p:ph type="title"/>
          </p:nvPr>
        </p:nvSpPr>
        <p:spPr>
          <a:xfrm>
            <a:off x="802005" y="636905"/>
            <a:ext cx="10587989" cy="1671955"/>
          </a:xfrm>
          <a:prstGeom prst="rect">
            <a:avLst/>
          </a:prstGeom>
          <a:noFill/>
          <a:ln>
            <a:noFill/>
          </a:ln>
        </p:spPr>
        <p:txBody>
          <a:bodyPr anchorCtr="0" anchor="t" bIns="0" lIns="0" spcFirstLastPara="1" rIns="0" wrap="square" tIns="280400">
            <a:spAutoFit/>
          </a:bodyPr>
          <a:lstStyle/>
          <a:p>
            <a:pPr indent="0" lvl="0" marL="3017520" rtl="0" algn="l">
              <a:lnSpc>
                <a:spcPct val="100000"/>
              </a:lnSpc>
              <a:spcBef>
                <a:spcPts val="0"/>
              </a:spcBef>
              <a:spcAft>
                <a:spcPts val="0"/>
              </a:spcAft>
              <a:buNone/>
            </a:pPr>
            <a:r>
              <a:rPr lang="fr-FR" sz="4400"/>
              <a:t>Phobie spécifique</a:t>
            </a:r>
            <a:endParaRPr sz="4400"/>
          </a:p>
        </p:txBody>
      </p:sp>
      <p:sp>
        <p:nvSpPr>
          <p:cNvPr id="748" name="Google Shape;748;p8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749" name="Google Shape;749;p87"/>
          <p:cNvSpPr txBox="1"/>
          <p:nvPr/>
        </p:nvSpPr>
        <p:spPr>
          <a:xfrm>
            <a:off x="888047" y="2311082"/>
            <a:ext cx="10365105" cy="3630929"/>
          </a:xfrm>
          <a:prstGeom prst="rect">
            <a:avLst/>
          </a:prstGeom>
          <a:noFill/>
          <a:ln>
            <a:noFill/>
          </a:ln>
        </p:spPr>
        <p:txBody>
          <a:bodyPr anchorCtr="0" anchor="t" bIns="0" lIns="0" spcFirstLastPara="1" rIns="0" wrap="square" tIns="12700">
            <a:spAutoFit/>
          </a:bodyPr>
          <a:lstStyle/>
          <a:p>
            <a:pPr indent="-286385" lvl="0" marL="298450" marR="5080" rtl="0" algn="l">
              <a:lnSpc>
                <a:spcPct val="151200"/>
              </a:lnSpc>
              <a:spcBef>
                <a:spcPts val="0"/>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La	caractéristique	essentielle	de	la	phobie	spécifique	est	une	</a:t>
            </a:r>
            <a:r>
              <a:rPr b="1" lang="fr-FR" sz="2400">
                <a:solidFill>
                  <a:srgbClr val="C00000"/>
                </a:solidFill>
                <a:latin typeface="Garamond"/>
                <a:ea typeface="Garamond"/>
                <a:cs typeface="Garamond"/>
                <a:sym typeface="Garamond"/>
              </a:rPr>
              <a:t>peur	marquée	et persistante </a:t>
            </a:r>
            <a:r>
              <a:rPr b="1" lang="fr-FR" sz="2400">
                <a:solidFill>
                  <a:srgbClr val="252525"/>
                </a:solidFill>
                <a:latin typeface="Garamond"/>
                <a:ea typeface="Garamond"/>
                <a:cs typeface="Garamond"/>
                <a:sym typeface="Garamond"/>
              </a:rPr>
              <a:t>d’objets ou de situations </a:t>
            </a:r>
            <a:r>
              <a:rPr lang="fr-FR" sz="2400">
                <a:solidFill>
                  <a:srgbClr val="252525"/>
                </a:solidFill>
                <a:latin typeface="Garamond"/>
                <a:ea typeface="Garamond"/>
                <a:cs typeface="Garamond"/>
                <a:sym typeface="Garamond"/>
              </a:rPr>
              <a:t>objectivement visibles et circonscrits.</a:t>
            </a:r>
            <a:endParaRPr sz="2400">
              <a:latin typeface="Garamond"/>
              <a:ea typeface="Garamond"/>
              <a:cs typeface="Garamond"/>
              <a:sym typeface="Garamond"/>
            </a:endParaRPr>
          </a:p>
          <a:p>
            <a:pPr indent="-285750" lvl="0" marL="298450" rtl="0" algn="l">
              <a:lnSpc>
                <a:spcPct val="100000"/>
              </a:lnSpc>
              <a:spcBef>
                <a:spcPts val="2600"/>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L</a:t>
            </a:r>
            <a:r>
              <a:rPr b="1" lang="fr-FR" sz="2400">
                <a:solidFill>
                  <a:srgbClr val="252525"/>
                </a:solidFill>
                <a:latin typeface="Garamond"/>
                <a:ea typeface="Garamond"/>
                <a:cs typeface="Garamond"/>
                <a:sym typeface="Garamond"/>
              </a:rPr>
              <a:t>’exposition	</a:t>
            </a:r>
            <a:r>
              <a:rPr lang="fr-FR" sz="2400">
                <a:solidFill>
                  <a:srgbClr val="252525"/>
                </a:solidFill>
                <a:latin typeface="Garamond"/>
                <a:ea typeface="Garamond"/>
                <a:cs typeface="Garamond"/>
                <a:sym typeface="Garamond"/>
              </a:rPr>
              <a:t>au	stimulus	phobogène	provoque	presque	invariablement	</a:t>
            </a:r>
            <a:r>
              <a:rPr b="1" lang="fr-FR" sz="2400">
                <a:solidFill>
                  <a:srgbClr val="252525"/>
                </a:solidFill>
                <a:latin typeface="Garamond"/>
                <a:ea typeface="Garamond"/>
                <a:cs typeface="Garamond"/>
                <a:sym typeface="Garamond"/>
              </a:rPr>
              <a:t>une</a:t>
            </a:r>
            <a:endParaRPr sz="2400">
              <a:latin typeface="Garamond"/>
              <a:ea typeface="Garamond"/>
              <a:cs typeface="Garamond"/>
              <a:sym typeface="Garamond"/>
            </a:endParaRPr>
          </a:p>
          <a:p>
            <a:pPr indent="0" lvl="0" marL="298450" rtl="0" algn="l">
              <a:lnSpc>
                <a:spcPct val="100000"/>
              </a:lnSpc>
              <a:spcBef>
                <a:spcPts val="1475"/>
              </a:spcBef>
              <a:spcAft>
                <a:spcPts val="0"/>
              </a:spcAft>
              <a:buNone/>
            </a:pPr>
            <a:r>
              <a:rPr b="1" lang="fr-FR" sz="2400">
                <a:solidFill>
                  <a:srgbClr val="252525"/>
                </a:solidFill>
                <a:latin typeface="Garamond"/>
                <a:ea typeface="Garamond"/>
                <a:cs typeface="Garamond"/>
                <a:sym typeface="Garamond"/>
              </a:rPr>
              <a:t>réponse anxieuse immédiate.</a:t>
            </a:r>
            <a:endParaRPr sz="2400">
              <a:latin typeface="Garamond"/>
              <a:ea typeface="Garamond"/>
              <a:cs typeface="Garamond"/>
              <a:sym typeface="Garamond"/>
            </a:endParaRPr>
          </a:p>
          <a:p>
            <a:pPr indent="-285750" lvl="0" marL="298450" rtl="0" algn="l">
              <a:lnSpc>
                <a:spcPct val="100000"/>
              </a:lnSpc>
              <a:spcBef>
                <a:spcPts val="2605"/>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Cette réponse peut prendre </a:t>
            </a:r>
            <a:r>
              <a:rPr b="1" lang="fr-FR" sz="2400">
                <a:solidFill>
                  <a:srgbClr val="C00000"/>
                </a:solidFill>
                <a:latin typeface="Garamond"/>
                <a:ea typeface="Garamond"/>
                <a:cs typeface="Garamond"/>
                <a:sym typeface="Garamond"/>
              </a:rPr>
              <a:t>la forme d’une attaque de panique </a:t>
            </a:r>
            <a:r>
              <a:rPr lang="fr-FR" sz="2400">
                <a:solidFill>
                  <a:srgbClr val="252525"/>
                </a:solidFill>
                <a:latin typeface="Garamond"/>
                <a:ea typeface="Garamond"/>
                <a:cs typeface="Garamond"/>
                <a:sym typeface="Garamond"/>
              </a:rPr>
              <a:t>situationnellement</a:t>
            </a:r>
            <a:endParaRPr sz="2400">
              <a:latin typeface="Garamond"/>
              <a:ea typeface="Garamond"/>
              <a:cs typeface="Garamond"/>
              <a:sym typeface="Garamond"/>
            </a:endParaRPr>
          </a:p>
          <a:p>
            <a:pPr indent="0" lvl="0" marL="298450" rtl="0" algn="l">
              <a:lnSpc>
                <a:spcPct val="100000"/>
              </a:lnSpc>
              <a:spcBef>
                <a:spcPts val="1475"/>
              </a:spcBef>
              <a:spcAft>
                <a:spcPts val="0"/>
              </a:spcAft>
              <a:buNone/>
            </a:pPr>
            <a:r>
              <a:rPr lang="fr-FR" sz="2400">
                <a:solidFill>
                  <a:srgbClr val="252525"/>
                </a:solidFill>
                <a:latin typeface="Garamond"/>
                <a:ea typeface="Garamond"/>
                <a:cs typeface="Garamond"/>
                <a:sym typeface="Garamond"/>
              </a:rPr>
              <a:t>liée ou facilitée par les situations.</a:t>
            </a:r>
            <a:endParaRPr sz="2400">
              <a:latin typeface="Garamond"/>
              <a:ea typeface="Garamond"/>
              <a:cs typeface="Garamond"/>
              <a:sym typeface="Garamon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88"/>
          <p:cNvSpPr txBox="1"/>
          <p:nvPr>
            <p:ph type="title"/>
          </p:nvPr>
        </p:nvSpPr>
        <p:spPr>
          <a:xfrm>
            <a:off x="1007427" y="836930"/>
            <a:ext cx="9952990" cy="518159"/>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3200">
                <a:solidFill>
                  <a:srgbClr val="006FC0"/>
                </a:solidFill>
              </a:rPr>
              <a:t>Critères diagnostiques du DSM 5 d’une phobie spécifique</a:t>
            </a:r>
            <a:endParaRPr sz="3200"/>
          </a:p>
        </p:txBody>
      </p:sp>
      <p:sp>
        <p:nvSpPr>
          <p:cNvPr id="755" name="Google Shape;755;p8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73025" rtl="0" algn="l">
              <a:lnSpc>
                <a:spcPct val="125555"/>
              </a:lnSpc>
              <a:spcBef>
                <a:spcPts val="0"/>
              </a:spcBef>
              <a:spcAft>
                <a:spcPts val="0"/>
              </a:spcAft>
              <a:buNone/>
            </a:pPr>
            <a:fld id="{00000000-1234-1234-1234-123412341234}" type="slidenum">
              <a:rPr lang="fr-FR"/>
              <a:t>‹#›</a:t>
            </a:fld>
            <a:endParaRPr/>
          </a:p>
        </p:txBody>
      </p:sp>
      <p:sp>
        <p:nvSpPr>
          <p:cNvPr id="756" name="Google Shape;756;p88"/>
          <p:cNvSpPr txBox="1"/>
          <p:nvPr/>
        </p:nvSpPr>
        <p:spPr>
          <a:xfrm>
            <a:off x="735330" y="1671574"/>
            <a:ext cx="10504170" cy="3959860"/>
          </a:xfrm>
          <a:prstGeom prst="rect">
            <a:avLst/>
          </a:prstGeom>
          <a:noFill/>
          <a:ln>
            <a:noFill/>
          </a:ln>
        </p:spPr>
        <p:txBody>
          <a:bodyPr anchorCtr="0" anchor="t" bIns="0" lIns="0" spcFirstLastPara="1" rIns="0" wrap="square" tIns="13325">
            <a:spAutoFit/>
          </a:bodyPr>
          <a:lstStyle/>
          <a:p>
            <a:pPr indent="-285115" lvl="0" marL="297815" rtl="0" algn="l">
              <a:lnSpc>
                <a:spcPct val="100000"/>
              </a:lnSpc>
              <a:spcBef>
                <a:spcPts val="0"/>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A. Peur persistante et intense à caractère irraisonné ou bien excessive, déclenchée par</a:t>
            </a:r>
            <a:endParaRPr sz="2400">
              <a:latin typeface="Garamond"/>
              <a:ea typeface="Garamond"/>
              <a:cs typeface="Garamond"/>
              <a:sym typeface="Garamond"/>
            </a:endParaRPr>
          </a:p>
          <a:p>
            <a:pPr indent="0" lvl="0" marL="298450" rtl="0" algn="l">
              <a:lnSpc>
                <a:spcPct val="100000"/>
              </a:lnSpc>
              <a:spcBef>
                <a:spcPts val="2000"/>
              </a:spcBef>
              <a:spcAft>
                <a:spcPts val="0"/>
              </a:spcAft>
              <a:buNone/>
            </a:pPr>
            <a:r>
              <a:rPr lang="fr-FR" sz="2400">
                <a:solidFill>
                  <a:srgbClr val="252525"/>
                </a:solidFill>
                <a:latin typeface="Garamond"/>
                <a:ea typeface="Garamond"/>
                <a:cs typeface="Garamond"/>
                <a:sym typeface="Garamond"/>
              </a:rPr>
              <a:t>la présence ou l’anticipation de la confrontation à </a:t>
            </a:r>
            <a:r>
              <a:rPr lang="fr-FR" sz="2400">
                <a:solidFill>
                  <a:srgbClr val="FF0000"/>
                </a:solidFill>
                <a:latin typeface="Garamond"/>
                <a:ea typeface="Garamond"/>
                <a:cs typeface="Garamond"/>
                <a:sym typeface="Garamond"/>
              </a:rPr>
              <a:t>un objet ou une situation spécifique</a:t>
            </a:r>
            <a:r>
              <a:rPr lang="fr-FR" sz="2400">
                <a:solidFill>
                  <a:srgbClr val="252525"/>
                </a:solidFill>
                <a:latin typeface="Garamond"/>
                <a:ea typeface="Garamond"/>
                <a:cs typeface="Garamond"/>
                <a:sym typeface="Garamond"/>
              </a:rPr>
              <a:t>.</a:t>
            </a:r>
            <a:endParaRPr sz="2400">
              <a:latin typeface="Garamond"/>
              <a:ea typeface="Garamond"/>
              <a:cs typeface="Garamond"/>
              <a:sym typeface="Garamond"/>
            </a:endParaRPr>
          </a:p>
          <a:p>
            <a:pPr indent="0" lvl="0" marL="0" rtl="0" algn="l">
              <a:lnSpc>
                <a:spcPct val="100000"/>
              </a:lnSpc>
              <a:spcBef>
                <a:spcPts val="505"/>
              </a:spcBef>
              <a:spcAft>
                <a:spcPts val="0"/>
              </a:spcAft>
              <a:buNone/>
            </a:pPr>
            <a:r>
              <a:t/>
            </a:r>
            <a:endParaRPr sz="2400">
              <a:latin typeface="Garamond"/>
              <a:ea typeface="Garamond"/>
              <a:cs typeface="Garamond"/>
              <a:sym typeface="Garamond"/>
            </a:endParaRPr>
          </a:p>
          <a:p>
            <a:pPr indent="-285115" lvl="0" marL="297815" rtl="0" algn="l">
              <a:lnSpc>
                <a:spcPct val="100000"/>
              </a:lnSpc>
              <a:spcBef>
                <a:spcPts val="0"/>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B.	L’exposition	au	stimulus	phobogène	provoque	de	façon	quasi-systématique	une</a:t>
            </a:r>
            <a:endParaRPr sz="2400">
              <a:latin typeface="Garamond"/>
              <a:ea typeface="Garamond"/>
              <a:cs typeface="Garamond"/>
              <a:sym typeface="Garamond"/>
            </a:endParaRPr>
          </a:p>
          <a:p>
            <a:pPr indent="0" lvl="0" marL="298450" rtl="0" algn="l">
              <a:lnSpc>
                <a:spcPct val="100000"/>
              </a:lnSpc>
              <a:spcBef>
                <a:spcPts val="2000"/>
              </a:spcBef>
              <a:spcAft>
                <a:spcPts val="0"/>
              </a:spcAft>
              <a:buNone/>
            </a:pPr>
            <a:r>
              <a:rPr lang="fr-FR" sz="2400">
                <a:solidFill>
                  <a:srgbClr val="FF0000"/>
                </a:solidFill>
                <a:latin typeface="Garamond"/>
                <a:ea typeface="Garamond"/>
                <a:cs typeface="Garamond"/>
                <a:sym typeface="Garamond"/>
              </a:rPr>
              <a:t>réaction anxieuse immédiate </a:t>
            </a:r>
            <a:r>
              <a:rPr lang="fr-FR" sz="2400">
                <a:solidFill>
                  <a:srgbClr val="252525"/>
                </a:solidFill>
                <a:latin typeface="Garamond"/>
                <a:ea typeface="Garamond"/>
                <a:cs typeface="Garamond"/>
                <a:sym typeface="Garamond"/>
              </a:rPr>
              <a:t>qui peut prendre la forme d’une attaque de panique.</a:t>
            </a:r>
            <a:endParaRPr sz="2400">
              <a:latin typeface="Garamond"/>
              <a:ea typeface="Garamond"/>
              <a:cs typeface="Garamond"/>
              <a:sym typeface="Garamond"/>
            </a:endParaRPr>
          </a:p>
          <a:p>
            <a:pPr indent="0" lvl="0" marL="0" rtl="0" algn="l">
              <a:lnSpc>
                <a:spcPct val="100000"/>
              </a:lnSpc>
              <a:spcBef>
                <a:spcPts val="505"/>
              </a:spcBef>
              <a:spcAft>
                <a:spcPts val="0"/>
              </a:spcAft>
              <a:buNone/>
            </a:pPr>
            <a:r>
              <a:t/>
            </a:r>
            <a:endParaRPr sz="2400">
              <a:latin typeface="Garamond"/>
              <a:ea typeface="Garamond"/>
              <a:cs typeface="Garamond"/>
              <a:sym typeface="Garamond"/>
            </a:endParaRPr>
          </a:p>
          <a:p>
            <a:pPr indent="-285115" lvl="0" marL="297815" rtl="0" algn="l">
              <a:lnSpc>
                <a:spcPct val="100000"/>
              </a:lnSpc>
              <a:spcBef>
                <a:spcPts val="0"/>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C. Le sujet reconnaît </a:t>
            </a:r>
            <a:r>
              <a:rPr lang="fr-FR" sz="2400">
                <a:solidFill>
                  <a:srgbClr val="FF0000"/>
                </a:solidFill>
                <a:latin typeface="Garamond"/>
                <a:ea typeface="Garamond"/>
                <a:cs typeface="Garamond"/>
                <a:sym typeface="Garamond"/>
              </a:rPr>
              <a:t>le caractère excessif ou irrationnel de la peur</a:t>
            </a:r>
            <a:r>
              <a:rPr lang="fr-FR" sz="2400">
                <a:solidFill>
                  <a:srgbClr val="252525"/>
                </a:solidFill>
                <a:latin typeface="Garamond"/>
                <a:ea typeface="Garamond"/>
                <a:cs typeface="Garamond"/>
                <a:sym typeface="Garamond"/>
              </a:rPr>
              <a:t>.</a:t>
            </a:r>
            <a:endParaRPr sz="2400">
              <a:latin typeface="Garamond"/>
              <a:ea typeface="Garamond"/>
              <a:cs typeface="Garamond"/>
              <a:sym typeface="Garamond"/>
            </a:endParaRPr>
          </a:p>
          <a:p>
            <a:pPr indent="0" lvl="0" marL="0" rtl="0" algn="l">
              <a:lnSpc>
                <a:spcPct val="100000"/>
              </a:lnSpc>
              <a:spcBef>
                <a:spcPts val="505"/>
              </a:spcBef>
              <a:spcAft>
                <a:spcPts val="0"/>
              </a:spcAft>
              <a:buClr>
                <a:srgbClr val="83992A"/>
              </a:buClr>
              <a:buSzPts val="2400"/>
              <a:buFont typeface="Arial"/>
              <a:buNone/>
            </a:pPr>
            <a:r>
              <a:t/>
            </a:r>
            <a:endParaRPr sz="2400">
              <a:latin typeface="Garamond"/>
              <a:ea typeface="Garamond"/>
              <a:cs typeface="Garamond"/>
              <a:sym typeface="Garamond"/>
            </a:endParaRPr>
          </a:p>
          <a:p>
            <a:pPr indent="-285115" lvl="0" marL="297815" rtl="0" algn="l">
              <a:lnSpc>
                <a:spcPct val="100000"/>
              </a:lnSpc>
              <a:spcBef>
                <a:spcPts val="0"/>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D. La situation phobogène </a:t>
            </a:r>
            <a:r>
              <a:rPr lang="fr-FR" sz="2400">
                <a:solidFill>
                  <a:srgbClr val="FF0000"/>
                </a:solidFill>
                <a:latin typeface="Garamond"/>
                <a:ea typeface="Garamond"/>
                <a:cs typeface="Garamond"/>
                <a:sym typeface="Garamond"/>
              </a:rPr>
              <a:t>est évitée </a:t>
            </a:r>
            <a:r>
              <a:rPr lang="fr-FR" sz="2400">
                <a:solidFill>
                  <a:srgbClr val="252525"/>
                </a:solidFill>
                <a:latin typeface="Garamond"/>
                <a:ea typeface="Garamond"/>
                <a:cs typeface="Garamond"/>
                <a:sym typeface="Garamond"/>
              </a:rPr>
              <a:t>ou vécue avec une anxiété ou détresse intense.</a:t>
            </a:r>
            <a:endParaRPr sz="2400">
              <a:latin typeface="Garamond"/>
              <a:ea typeface="Garamond"/>
              <a:cs typeface="Garamond"/>
              <a:sym typeface="Garamond"/>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89"/>
          <p:cNvSpPr txBox="1"/>
          <p:nvPr/>
        </p:nvSpPr>
        <p:spPr>
          <a:xfrm>
            <a:off x="10679176" y="6018847"/>
            <a:ext cx="139700" cy="173990"/>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fr-FR" sz="950">
                <a:latin typeface="Garamond"/>
                <a:ea typeface="Garamond"/>
                <a:cs typeface="Garamond"/>
                <a:sym typeface="Garamond"/>
              </a:rPr>
              <a:t>89</a:t>
            </a:r>
            <a:endParaRPr sz="950">
              <a:latin typeface="Garamond"/>
              <a:ea typeface="Garamond"/>
              <a:cs typeface="Garamond"/>
              <a:sym typeface="Garamond"/>
            </a:endParaRPr>
          </a:p>
        </p:txBody>
      </p:sp>
      <p:sp>
        <p:nvSpPr>
          <p:cNvPr id="762" name="Google Shape;762;p89"/>
          <p:cNvSpPr txBox="1"/>
          <p:nvPr/>
        </p:nvSpPr>
        <p:spPr>
          <a:xfrm>
            <a:off x="735330" y="1741106"/>
            <a:ext cx="10510520" cy="3816350"/>
          </a:xfrm>
          <a:prstGeom prst="rect">
            <a:avLst/>
          </a:prstGeom>
          <a:noFill/>
          <a:ln>
            <a:noFill/>
          </a:ln>
        </p:spPr>
        <p:txBody>
          <a:bodyPr anchorCtr="0" anchor="t" bIns="0" lIns="0" spcFirstLastPara="1" rIns="0" wrap="square" tIns="12700">
            <a:spAutoFit/>
          </a:bodyPr>
          <a:lstStyle/>
          <a:p>
            <a:pPr indent="-285115" lvl="0" marL="297815" rtl="0" algn="l">
              <a:lnSpc>
                <a:spcPct val="100000"/>
              </a:lnSpc>
              <a:spcBef>
                <a:spcPts val="0"/>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E.	</a:t>
            </a:r>
            <a:r>
              <a:rPr lang="fr-FR" sz="2400">
                <a:solidFill>
                  <a:srgbClr val="FF0000"/>
                </a:solidFill>
                <a:latin typeface="Garamond"/>
                <a:ea typeface="Garamond"/>
                <a:cs typeface="Garamond"/>
                <a:sym typeface="Garamond"/>
              </a:rPr>
              <a:t>L’évitement,	l’anticipation	anxieuse	ou	la	souffrance	de	la	situation	redoutée</a:t>
            </a:r>
            <a:endParaRPr sz="2400">
              <a:latin typeface="Garamond"/>
              <a:ea typeface="Garamond"/>
              <a:cs typeface="Garamond"/>
              <a:sym typeface="Garamond"/>
            </a:endParaRPr>
          </a:p>
          <a:p>
            <a:pPr indent="0" lvl="0" marL="298450" marR="5080" rtl="0" algn="l">
              <a:lnSpc>
                <a:spcPct val="206666"/>
              </a:lnSpc>
              <a:spcBef>
                <a:spcPts val="434"/>
              </a:spcBef>
              <a:spcAft>
                <a:spcPts val="0"/>
              </a:spcAft>
              <a:buNone/>
            </a:pPr>
            <a:r>
              <a:rPr lang="fr-FR" sz="2400">
                <a:solidFill>
                  <a:srgbClr val="FF0000"/>
                </a:solidFill>
                <a:latin typeface="Garamond"/>
                <a:ea typeface="Garamond"/>
                <a:cs typeface="Garamond"/>
                <a:sym typeface="Garamond"/>
              </a:rPr>
              <a:t>perturbent,	</a:t>
            </a:r>
            <a:r>
              <a:rPr lang="fr-FR" sz="2400">
                <a:solidFill>
                  <a:srgbClr val="252525"/>
                </a:solidFill>
                <a:latin typeface="Garamond"/>
                <a:ea typeface="Garamond"/>
                <a:cs typeface="Garamond"/>
                <a:sym typeface="Garamond"/>
              </a:rPr>
              <a:t>de	façon	importante	les	habitudes	de	l’individu,	ses	activités professionnelles ou bien ses activités sociales ou ses relations avec autrui, ou bien le</a:t>
            </a:r>
            <a:endParaRPr sz="2400">
              <a:latin typeface="Garamond"/>
              <a:ea typeface="Garamond"/>
              <a:cs typeface="Garamond"/>
              <a:sym typeface="Garamond"/>
            </a:endParaRPr>
          </a:p>
          <a:p>
            <a:pPr indent="0" lvl="0" marL="298450" rtl="0" algn="l">
              <a:lnSpc>
                <a:spcPct val="100000"/>
              </a:lnSpc>
              <a:spcBef>
                <a:spcPts val="1485"/>
              </a:spcBef>
              <a:spcAft>
                <a:spcPts val="0"/>
              </a:spcAft>
              <a:buNone/>
            </a:pPr>
            <a:r>
              <a:rPr lang="fr-FR" sz="2400">
                <a:solidFill>
                  <a:srgbClr val="252525"/>
                </a:solidFill>
                <a:latin typeface="Garamond"/>
                <a:ea typeface="Garamond"/>
                <a:cs typeface="Garamond"/>
                <a:sym typeface="Garamond"/>
              </a:rPr>
              <a:t>fait d’avoir cette phobie s’accompagne d’un sentiment de souffrance important.</a:t>
            </a:r>
            <a:endParaRPr sz="2400">
              <a:latin typeface="Garamond"/>
              <a:ea typeface="Garamond"/>
              <a:cs typeface="Garamond"/>
              <a:sym typeface="Garamond"/>
            </a:endParaRPr>
          </a:p>
          <a:p>
            <a:pPr indent="0" lvl="0" marL="0" rtl="0" algn="l">
              <a:lnSpc>
                <a:spcPct val="100000"/>
              </a:lnSpc>
              <a:spcBef>
                <a:spcPts val="505"/>
              </a:spcBef>
              <a:spcAft>
                <a:spcPts val="0"/>
              </a:spcAft>
              <a:buNone/>
            </a:pPr>
            <a:r>
              <a:t/>
            </a:r>
            <a:endParaRPr sz="2400">
              <a:latin typeface="Garamond"/>
              <a:ea typeface="Garamond"/>
              <a:cs typeface="Garamond"/>
              <a:sym typeface="Garamond"/>
            </a:endParaRPr>
          </a:p>
          <a:p>
            <a:pPr indent="-285115" lvl="0" marL="297815" rtl="0" algn="l">
              <a:lnSpc>
                <a:spcPct val="100000"/>
              </a:lnSpc>
              <a:spcBef>
                <a:spcPts val="0"/>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F. Chez les individus de </a:t>
            </a:r>
            <a:r>
              <a:rPr lang="fr-FR" sz="2400">
                <a:solidFill>
                  <a:srgbClr val="FF0000"/>
                </a:solidFill>
                <a:latin typeface="Garamond"/>
                <a:ea typeface="Garamond"/>
                <a:cs typeface="Garamond"/>
                <a:sym typeface="Garamond"/>
              </a:rPr>
              <a:t>moins de 18 ans</a:t>
            </a:r>
            <a:r>
              <a:rPr lang="fr-FR" sz="2400">
                <a:solidFill>
                  <a:srgbClr val="252525"/>
                </a:solidFill>
                <a:latin typeface="Garamond"/>
                <a:ea typeface="Garamond"/>
                <a:cs typeface="Garamond"/>
                <a:sym typeface="Garamond"/>
              </a:rPr>
              <a:t>, la durée est </a:t>
            </a:r>
            <a:r>
              <a:rPr lang="fr-FR" sz="2400">
                <a:solidFill>
                  <a:srgbClr val="FF0000"/>
                </a:solidFill>
                <a:latin typeface="Garamond"/>
                <a:ea typeface="Garamond"/>
                <a:cs typeface="Garamond"/>
                <a:sym typeface="Garamond"/>
              </a:rPr>
              <a:t>d’au moins de 06 mois</a:t>
            </a:r>
            <a:r>
              <a:rPr lang="fr-FR" sz="2400">
                <a:solidFill>
                  <a:srgbClr val="252525"/>
                </a:solidFill>
                <a:latin typeface="Garamond"/>
                <a:ea typeface="Garamond"/>
                <a:cs typeface="Garamond"/>
                <a:sym typeface="Garamond"/>
              </a:rPr>
              <a:t>.</a:t>
            </a:r>
            <a:endParaRPr sz="2400">
              <a:latin typeface="Garamond"/>
              <a:ea typeface="Garamond"/>
              <a:cs typeface="Garamond"/>
              <a:sym typeface="Garamond"/>
            </a:endParaRPr>
          </a:p>
          <a:p>
            <a:pPr indent="0" lvl="0" marL="0" rtl="0" algn="l">
              <a:lnSpc>
                <a:spcPct val="100000"/>
              </a:lnSpc>
              <a:spcBef>
                <a:spcPts val="505"/>
              </a:spcBef>
              <a:spcAft>
                <a:spcPts val="0"/>
              </a:spcAft>
              <a:buClr>
                <a:srgbClr val="83992A"/>
              </a:buClr>
              <a:buSzPts val="2400"/>
              <a:buFont typeface="Arial"/>
              <a:buNone/>
            </a:pPr>
            <a:r>
              <a:t/>
            </a:r>
            <a:endParaRPr sz="2400">
              <a:latin typeface="Garamond"/>
              <a:ea typeface="Garamond"/>
              <a:cs typeface="Garamond"/>
              <a:sym typeface="Garamond"/>
            </a:endParaRPr>
          </a:p>
          <a:p>
            <a:pPr indent="-285115" lvl="0" marL="297815" rtl="0" algn="l">
              <a:lnSpc>
                <a:spcPct val="100000"/>
              </a:lnSpc>
              <a:spcBef>
                <a:spcPts val="0"/>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G. L’anxiété, les attaques de panique ou l’évitement phobique associé à l’objet ou à la</a:t>
            </a:r>
            <a:endParaRPr sz="2400">
              <a:latin typeface="Garamond"/>
              <a:ea typeface="Garamond"/>
              <a:cs typeface="Garamond"/>
              <a:sym typeface="Garamond"/>
            </a:endParaRPr>
          </a:p>
        </p:txBody>
      </p:sp>
      <p:sp>
        <p:nvSpPr>
          <p:cNvPr id="763" name="Google Shape;763;p89"/>
          <p:cNvSpPr txBox="1"/>
          <p:nvPr/>
        </p:nvSpPr>
        <p:spPr>
          <a:xfrm>
            <a:off x="1021080" y="5775325"/>
            <a:ext cx="9062720" cy="3924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fr-FR" sz="2400">
                <a:solidFill>
                  <a:srgbClr val="252525"/>
                </a:solidFill>
                <a:latin typeface="Garamond"/>
                <a:ea typeface="Garamond"/>
                <a:cs typeface="Garamond"/>
                <a:sym typeface="Garamond"/>
              </a:rPr>
              <a:t>situation spécifique ne sont pas mieux expliqués par un autre trouble mental.</a:t>
            </a:r>
            <a:endParaRPr sz="2400">
              <a:latin typeface="Garamond"/>
              <a:ea typeface="Garamond"/>
              <a:cs typeface="Garamond"/>
              <a:sym typeface="Garamond"/>
            </a:endParaRPr>
          </a:p>
        </p:txBody>
      </p:sp>
      <p:sp>
        <p:nvSpPr>
          <p:cNvPr id="764" name="Google Shape;764;p89"/>
          <p:cNvSpPr txBox="1"/>
          <p:nvPr>
            <p:ph type="title"/>
          </p:nvPr>
        </p:nvSpPr>
        <p:spPr>
          <a:xfrm>
            <a:off x="1007427" y="836930"/>
            <a:ext cx="9952990" cy="518159"/>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3200">
                <a:solidFill>
                  <a:srgbClr val="006FC0"/>
                </a:solidFill>
              </a:rPr>
              <a:t>Critères diagnostiques du DSM 5 d’une phobie spécifique</a:t>
            </a:r>
            <a:endParaRPr sz="3200"/>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90"/>
          <p:cNvSpPr txBox="1"/>
          <p:nvPr/>
        </p:nvSpPr>
        <p:spPr>
          <a:xfrm>
            <a:off x="10679176" y="6018847"/>
            <a:ext cx="139700" cy="173990"/>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fr-FR" sz="950">
                <a:latin typeface="Garamond"/>
                <a:ea typeface="Garamond"/>
                <a:cs typeface="Garamond"/>
                <a:sym typeface="Garamond"/>
              </a:rPr>
              <a:t>90</a:t>
            </a:r>
            <a:endParaRPr sz="950">
              <a:latin typeface="Garamond"/>
              <a:ea typeface="Garamond"/>
              <a:cs typeface="Garamond"/>
              <a:sym typeface="Garamond"/>
            </a:endParaRPr>
          </a:p>
        </p:txBody>
      </p:sp>
      <p:sp>
        <p:nvSpPr>
          <p:cNvPr id="770" name="Google Shape;770;p90"/>
          <p:cNvSpPr txBox="1"/>
          <p:nvPr/>
        </p:nvSpPr>
        <p:spPr>
          <a:xfrm>
            <a:off x="917575" y="1606613"/>
            <a:ext cx="10365740" cy="4100195"/>
          </a:xfrm>
          <a:prstGeom prst="rect">
            <a:avLst/>
          </a:prstGeom>
          <a:noFill/>
          <a:ln>
            <a:noFill/>
          </a:ln>
        </p:spPr>
        <p:txBody>
          <a:bodyPr anchorCtr="0" anchor="t" bIns="0" lIns="0" spcFirstLastPara="1" rIns="0" wrap="square" tIns="15875">
            <a:spAutoFit/>
          </a:bodyPr>
          <a:lstStyle/>
          <a:p>
            <a:pPr indent="-285750" lvl="0" marL="298450" rtl="0" algn="l">
              <a:lnSpc>
                <a:spcPct val="100000"/>
              </a:lnSpc>
              <a:spcBef>
                <a:spcPts val="0"/>
              </a:spcBef>
              <a:spcAft>
                <a:spcPts val="0"/>
              </a:spcAft>
              <a:buClr>
                <a:srgbClr val="83992A"/>
              </a:buClr>
              <a:buSzPts val="2300"/>
              <a:buFont typeface="Arial"/>
              <a:buChar char="•"/>
            </a:pPr>
            <a:r>
              <a:rPr lang="fr-FR" sz="2000">
                <a:solidFill>
                  <a:srgbClr val="252525"/>
                </a:solidFill>
                <a:latin typeface="Garamond"/>
                <a:ea typeface="Garamond"/>
                <a:cs typeface="Garamond"/>
                <a:sym typeface="Garamond"/>
              </a:rPr>
              <a:t>Les formes cliniques des phobies spécifiques :</a:t>
            </a:r>
            <a:endParaRPr sz="2000">
              <a:latin typeface="Garamond"/>
              <a:ea typeface="Garamond"/>
              <a:cs typeface="Garamond"/>
              <a:sym typeface="Garamond"/>
            </a:endParaRPr>
          </a:p>
          <a:p>
            <a:pPr indent="-286385" lvl="0" marL="298450" marR="6985" rtl="0" algn="l">
              <a:lnSpc>
                <a:spcPct val="150200"/>
              </a:lnSpc>
              <a:spcBef>
                <a:spcPts val="1055"/>
              </a:spcBef>
              <a:spcAft>
                <a:spcPts val="0"/>
              </a:spcAft>
              <a:buClr>
                <a:srgbClr val="83992A"/>
              </a:buClr>
              <a:buSzPts val="2300"/>
              <a:buFont typeface="Arial"/>
              <a:buChar char="•"/>
            </a:pPr>
            <a:r>
              <a:rPr lang="fr-FR" sz="2000">
                <a:solidFill>
                  <a:srgbClr val="FF0000"/>
                </a:solidFill>
                <a:latin typeface="Garamond"/>
                <a:ea typeface="Garamond"/>
                <a:cs typeface="Garamond"/>
                <a:sym typeface="Garamond"/>
              </a:rPr>
              <a:t>Type animal « zoophobie » : </a:t>
            </a:r>
            <a:r>
              <a:rPr lang="fr-FR" sz="2000">
                <a:solidFill>
                  <a:srgbClr val="252525"/>
                </a:solidFill>
                <a:latin typeface="Garamond"/>
                <a:ea typeface="Garamond"/>
                <a:cs typeface="Garamond"/>
                <a:sym typeface="Garamond"/>
              </a:rPr>
              <a:t>ce sous-type doit être spécifié si la peur est induite par les animaux ou les insectes:(araignées, souris...).</a:t>
            </a:r>
            <a:endParaRPr sz="2000">
              <a:latin typeface="Garamond"/>
              <a:ea typeface="Garamond"/>
              <a:cs typeface="Garamond"/>
              <a:sym typeface="Garamond"/>
            </a:endParaRPr>
          </a:p>
          <a:p>
            <a:pPr indent="0" lvl="0" marL="0" rtl="0" algn="l">
              <a:lnSpc>
                <a:spcPct val="100000"/>
              </a:lnSpc>
              <a:spcBef>
                <a:spcPts val="75"/>
              </a:spcBef>
              <a:spcAft>
                <a:spcPts val="0"/>
              </a:spcAft>
              <a:buClr>
                <a:srgbClr val="83992A"/>
              </a:buClr>
              <a:buSzPts val="2000"/>
              <a:buFont typeface="Arial"/>
              <a:buNone/>
            </a:pPr>
            <a:r>
              <a:t/>
            </a:r>
            <a:endParaRPr sz="2000">
              <a:latin typeface="Garamond"/>
              <a:ea typeface="Garamond"/>
              <a:cs typeface="Garamond"/>
              <a:sym typeface="Garamond"/>
            </a:endParaRPr>
          </a:p>
          <a:p>
            <a:pPr indent="-285750" lvl="0" marL="298450" rtl="0" algn="l">
              <a:lnSpc>
                <a:spcPct val="100000"/>
              </a:lnSpc>
              <a:spcBef>
                <a:spcPts val="5"/>
              </a:spcBef>
              <a:spcAft>
                <a:spcPts val="0"/>
              </a:spcAft>
              <a:buClr>
                <a:srgbClr val="83992A"/>
              </a:buClr>
              <a:buSzPts val="2300"/>
              <a:buFont typeface="Arial"/>
              <a:buChar char="•"/>
            </a:pPr>
            <a:r>
              <a:rPr lang="fr-FR" sz="2000">
                <a:solidFill>
                  <a:srgbClr val="FF0000"/>
                </a:solidFill>
                <a:latin typeface="Garamond"/>
                <a:ea typeface="Garamond"/>
                <a:cs typeface="Garamond"/>
                <a:sym typeface="Garamond"/>
              </a:rPr>
              <a:t>Type environnement naturel: </a:t>
            </a:r>
            <a:r>
              <a:rPr lang="fr-FR" sz="2000">
                <a:solidFill>
                  <a:srgbClr val="252525"/>
                </a:solidFill>
                <a:latin typeface="Garamond"/>
                <a:ea typeface="Garamond"/>
                <a:cs typeface="Garamond"/>
                <a:sym typeface="Garamond"/>
              </a:rPr>
              <a:t>ce sous-type doit être spécifié si la peur est induite par des éléments de</a:t>
            </a:r>
            <a:endParaRPr sz="2000">
              <a:latin typeface="Garamond"/>
              <a:ea typeface="Garamond"/>
              <a:cs typeface="Garamond"/>
              <a:sym typeface="Garamond"/>
            </a:endParaRPr>
          </a:p>
          <a:p>
            <a:pPr indent="0" lvl="0" marL="298450" rtl="0" algn="l">
              <a:lnSpc>
                <a:spcPct val="100000"/>
              </a:lnSpc>
              <a:spcBef>
                <a:spcPts val="1205"/>
              </a:spcBef>
              <a:spcAft>
                <a:spcPts val="0"/>
              </a:spcAft>
              <a:buNone/>
            </a:pPr>
            <a:r>
              <a:rPr lang="fr-FR" sz="2000">
                <a:solidFill>
                  <a:srgbClr val="252525"/>
                </a:solidFill>
                <a:latin typeface="Garamond"/>
                <a:ea typeface="Garamond"/>
                <a:cs typeface="Garamond"/>
                <a:sym typeface="Garamond"/>
              </a:rPr>
              <a:t>l’environnement naturel tels les orages, les hauteurs « acrophobie » ou l’eau.</a:t>
            </a:r>
            <a:endParaRPr sz="2000">
              <a:latin typeface="Garamond"/>
              <a:ea typeface="Garamond"/>
              <a:cs typeface="Garamond"/>
              <a:sym typeface="Garamond"/>
            </a:endParaRPr>
          </a:p>
          <a:p>
            <a:pPr indent="-286385" lvl="0" marL="298450" marR="12700" rtl="0" algn="l">
              <a:lnSpc>
                <a:spcPct val="150200"/>
              </a:lnSpc>
              <a:spcBef>
                <a:spcPts val="1050"/>
              </a:spcBef>
              <a:spcAft>
                <a:spcPts val="0"/>
              </a:spcAft>
              <a:buClr>
                <a:srgbClr val="83992A"/>
              </a:buClr>
              <a:buSzPts val="2300"/>
              <a:buFont typeface="Arial"/>
              <a:buChar char="•"/>
            </a:pPr>
            <a:r>
              <a:rPr lang="fr-FR" sz="2000">
                <a:solidFill>
                  <a:srgbClr val="FF0000"/>
                </a:solidFill>
                <a:latin typeface="Garamond"/>
                <a:ea typeface="Garamond"/>
                <a:cs typeface="Garamond"/>
                <a:sym typeface="Garamond"/>
              </a:rPr>
              <a:t>Type sang — injection — accident: </a:t>
            </a:r>
            <a:r>
              <a:rPr lang="fr-FR" sz="2000">
                <a:solidFill>
                  <a:srgbClr val="252525"/>
                </a:solidFill>
                <a:latin typeface="Garamond"/>
                <a:ea typeface="Garamond"/>
                <a:cs typeface="Garamond"/>
                <a:sym typeface="Garamond"/>
              </a:rPr>
              <a:t>ce sous-type doit être spécifié si la peur est induite par le fait de voir du sang ou un accident ou d’avoir une injection ou toute autre procédure médicale invasive.</a:t>
            </a:r>
            <a:endParaRPr sz="2000">
              <a:latin typeface="Garamond"/>
              <a:ea typeface="Garamond"/>
              <a:cs typeface="Garamond"/>
              <a:sym typeface="Garamond"/>
            </a:endParaRPr>
          </a:p>
          <a:p>
            <a:pPr indent="0" lvl="0" marL="0" rtl="0" algn="l">
              <a:lnSpc>
                <a:spcPct val="100000"/>
              </a:lnSpc>
              <a:spcBef>
                <a:spcPts val="80"/>
              </a:spcBef>
              <a:spcAft>
                <a:spcPts val="0"/>
              </a:spcAft>
              <a:buClr>
                <a:srgbClr val="83992A"/>
              </a:buClr>
              <a:buSzPts val="2000"/>
              <a:buFont typeface="Arial"/>
              <a:buNone/>
            </a:pPr>
            <a:r>
              <a:t/>
            </a:r>
            <a:endParaRPr sz="2000">
              <a:latin typeface="Garamond"/>
              <a:ea typeface="Garamond"/>
              <a:cs typeface="Garamond"/>
              <a:sym typeface="Garamond"/>
            </a:endParaRPr>
          </a:p>
          <a:p>
            <a:pPr indent="-285750" lvl="0" marL="298450" rtl="0" algn="l">
              <a:lnSpc>
                <a:spcPct val="100000"/>
              </a:lnSpc>
              <a:spcBef>
                <a:spcPts val="0"/>
              </a:spcBef>
              <a:spcAft>
                <a:spcPts val="0"/>
              </a:spcAft>
              <a:buClr>
                <a:srgbClr val="83992A"/>
              </a:buClr>
              <a:buSzPts val="2300"/>
              <a:buFont typeface="Arial"/>
              <a:buChar char="•"/>
            </a:pPr>
            <a:r>
              <a:rPr lang="fr-FR" sz="2000">
                <a:solidFill>
                  <a:srgbClr val="FF0000"/>
                </a:solidFill>
                <a:latin typeface="Garamond"/>
                <a:ea typeface="Garamond"/>
                <a:cs typeface="Garamond"/>
                <a:sym typeface="Garamond"/>
              </a:rPr>
              <a:t>Type situationnel: </a:t>
            </a:r>
            <a:r>
              <a:rPr lang="fr-FR" sz="2000">
                <a:solidFill>
                  <a:srgbClr val="252525"/>
                </a:solidFill>
                <a:latin typeface="Garamond"/>
                <a:ea typeface="Garamond"/>
                <a:cs typeface="Garamond"/>
                <a:sym typeface="Garamond"/>
              </a:rPr>
              <a:t>ce sous-type doit être spécifié si la peur est induite par une situation spécifique tels</a:t>
            </a:r>
            <a:endParaRPr sz="2000">
              <a:latin typeface="Garamond"/>
              <a:ea typeface="Garamond"/>
              <a:cs typeface="Garamond"/>
              <a:sym typeface="Garamond"/>
            </a:endParaRPr>
          </a:p>
        </p:txBody>
      </p:sp>
      <p:sp>
        <p:nvSpPr>
          <p:cNvPr id="771" name="Google Shape;771;p90"/>
          <p:cNvSpPr txBox="1"/>
          <p:nvPr/>
        </p:nvSpPr>
        <p:spPr>
          <a:xfrm>
            <a:off x="1203642" y="5821997"/>
            <a:ext cx="7621905" cy="33528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2000">
                <a:solidFill>
                  <a:srgbClr val="252525"/>
                </a:solidFill>
                <a:latin typeface="Garamond"/>
                <a:ea typeface="Garamond"/>
                <a:cs typeface="Garamond"/>
                <a:sym typeface="Garamond"/>
              </a:rPr>
              <a:t>les espaces clos « claustrophobie », les tunnels, les ponts, les voyages aériens...</a:t>
            </a:r>
            <a:endParaRPr sz="2000">
              <a:latin typeface="Garamond"/>
              <a:ea typeface="Garamond"/>
              <a:cs typeface="Garamond"/>
              <a:sym typeface="Garamond"/>
            </a:endParaRPr>
          </a:p>
        </p:txBody>
      </p:sp>
      <p:sp>
        <p:nvSpPr>
          <p:cNvPr id="772" name="Google Shape;772;p90"/>
          <p:cNvSpPr txBox="1"/>
          <p:nvPr>
            <p:ph type="title"/>
          </p:nvPr>
        </p:nvSpPr>
        <p:spPr>
          <a:xfrm>
            <a:off x="1007427" y="836930"/>
            <a:ext cx="9952990" cy="518159"/>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3200">
                <a:solidFill>
                  <a:srgbClr val="006FC0"/>
                </a:solidFill>
              </a:rPr>
              <a:t>Critères diagnostiques du DSM 5 d’une phobie spécifique</a:t>
            </a:r>
            <a:endParaRPr sz="3200"/>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pic>
        <p:nvPicPr>
          <p:cNvPr id="777" name="Google Shape;777;p91"/>
          <p:cNvPicPr preferRelativeResize="0"/>
          <p:nvPr/>
        </p:nvPicPr>
        <p:blipFill rotWithShape="1">
          <a:blip r:embed="rId3">
            <a:alphaModFix/>
          </a:blip>
          <a:srcRect b="0" l="0" r="0" t="0"/>
          <a:stretch/>
        </p:blipFill>
        <p:spPr>
          <a:xfrm>
            <a:off x="2847974" y="1304925"/>
            <a:ext cx="6200775" cy="4572000"/>
          </a:xfrm>
          <a:prstGeom prst="rect">
            <a:avLst/>
          </a:prstGeom>
          <a:noFill/>
          <a:ln>
            <a:noFill/>
          </a:ln>
        </p:spPr>
      </p:pic>
      <p:sp>
        <p:nvSpPr>
          <p:cNvPr id="778" name="Google Shape;778;p9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92"/>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84" name="Google Shape;784;p92"/>
          <p:cNvSpPr txBox="1"/>
          <p:nvPr>
            <p:ph type="title"/>
          </p:nvPr>
        </p:nvSpPr>
        <p:spPr>
          <a:xfrm>
            <a:off x="802005" y="636905"/>
            <a:ext cx="10587989" cy="1671955"/>
          </a:xfrm>
          <a:prstGeom prst="rect">
            <a:avLst/>
          </a:prstGeom>
          <a:noFill/>
          <a:ln>
            <a:noFill/>
          </a:ln>
        </p:spPr>
        <p:txBody>
          <a:bodyPr anchorCtr="0" anchor="t" bIns="0" lIns="0" spcFirstLastPara="1" rIns="0" wrap="square" tIns="629650">
            <a:spAutoFit/>
          </a:bodyPr>
          <a:lstStyle/>
          <a:p>
            <a:pPr indent="0" lvl="0" marL="585470" rtl="0" algn="l">
              <a:lnSpc>
                <a:spcPct val="100000"/>
              </a:lnSpc>
              <a:spcBef>
                <a:spcPts val="0"/>
              </a:spcBef>
              <a:spcAft>
                <a:spcPts val="0"/>
              </a:spcAft>
              <a:buNone/>
            </a:pPr>
            <a:r>
              <a:rPr lang="fr-FR" sz="4400">
                <a:solidFill>
                  <a:srgbClr val="000000"/>
                </a:solidFill>
                <a:latin typeface="Times New Roman"/>
                <a:ea typeface="Times New Roman"/>
                <a:cs typeface="Times New Roman"/>
                <a:sym typeface="Times New Roman"/>
              </a:rPr>
              <a:t>La phobie sociale se manifeste par:</a:t>
            </a:r>
            <a:endParaRPr sz="4400">
              <a:latin typeface="Times New Roman"/>
              <a:ea typeface="Times New Roman"/>
              <a:cs typeface="Times New Roman"/>
              <a:sym typeface="Times New Roman"/>
            </a:endParaRPr>
          </a:p>
        </p:txBody>
      </p:sp>
      <p:sp>
        <p:nvSpPr>
          <p:cNvPr id="785" name="Google Shape;785;p9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786" name="Google Shape;786;p92"/>
          <p:cNvSpPr txBox="1"/>
          <p:nvPr/>
        </p:nvSpPr>
        <p:spPr>
          <a:xfrm>
            <a:off x="1500505" y="2419413"/>
            <a:ext cx="4054475" cy="2878993"/>
          </a:xfrm>
          <a:prstGeom prst="rect">
            <a:avLst/>
          </a:prstGeom>
          <a:noFill/>
          <a:ln>
            <a:noFill/>
          </a:ln>
        </p:spPr>
        <p:txBody>
          <a:bodyPr anchorCtr="0" anchor="t" bIns="0" lIns="0" spcFirstLastPara="1" rIns="0" wrap="square" tIns="209550">
            <a:spAutoFit/>
          </a:bodyPr>
          <a:lstStyle/>
          <a:p>
            <a:pPr indent="-342265" lvl="0" marL="354965" rtl="0" algn="l">
              <a:lnSpc>
                <a:spcPct val="100000"/>
              </a:lnSpc>
              <a:spcBef>
                <a:spcPts val="0"/>
              </a:spcBef>
              <a:spcAft>
                <a:spcPts val="0"/>
              </a:spcAft>
              <a:buClr>
                <a:srgbClr val="61731F"/>
              </a:buClr>
              <a:buSzPts val="2400"/>
              <a:buFont typeface="Garamond"/>
              <a:buAutoNum type="alphaUcPeriod"/>
            </a:pPr>
            <a:r>
              <a:rPr b="1" lang="fr-FR" sz="2400">
                <a:latin typeface="Garamond"/>
                <a:ea typeface="Garamond"/>
                <a:cs typeface="Garamond"/>
                <a:sym typeface="Garamond"/>
              </a:rPr>
              <a:t>La peur des files d’attentes</a:t>
            </a:r>
            <a:endParaRPr sz="2400">
              <a:latin typeface="Garamond"/>
              <a:ea typeface="Garamond"/>
              <a:cs typeface="Garamond"/>
              <a:sym typeface="Garamond"/>
            </a:endParaRPr>
          </a:p>
          <a:p>
            <a:pPr indent="-342265" lvl="0" marL="354965" rtl="0" algn="l">
              <a:lnSpc>
                <a:spcPct val="100000"/>
              </a:lnSpc>
              <a:spcBef>
                <a:spcPts val="1550"/>
              </a:spcBef>
              <a:spcAft>
                <a:spcPts val="0"/>
              </a:spcAft>
              <a:buClr>
                <a:srgbClr val="61731F"/>
              </a:buClr>
              <a:buSzPts val="2400"/>
              <a:buFont typeface="Garamond"/>
              <a:buAutoNum type="alphaUcPeriod"/>
            </a:pPr>
            <a:r>
              <a:rPr b="1" lang="fr-FR" sz="2400">
                <a:latin typeface="Garamond"/>
                <a:ea typeface="Garamond"/>
                <a:cs typeface="Garamond"/>
                <a:sym typeface="Garamond"/>
              </a:rPr>
              <a:t>La peur des ascenseurs</a:t>
            </a:r>
            <a:endParaRPr sz="2400">
              <a:latin typeface="Garamond"/>
              <a:ea typeface="Garamond"/>
              <a:cs typeface="Garamond"/>
              <a:sym typeface="Garamond"/>
            </a:endParaRPr>
          </a:p>
          <a:p>
            <a:pPr indent="-342265" lvl="0" marL="354965" rtl="0" algn="l">
              <a:lnSpc>
                <a:spcPct val="100000"/>
              </a:lnSpc>
              <a:spcBef>
                <a:spcPts val="1550"/>
              </a:spcBef>
              <a:spcAft>
                <a:spcPts val="0"/>
              </a:spcAft>
              <a:buClr>
                <a:srgbClr val="61731F"/>
              </a:buClr>
              <a:buSzPts val="2400"/>
              <a:buFont typeface="Garamond"/>
              <a:buAutoNum type="alphaUcPeriod"/>
            </a:pPr>
            <a:r>
              <a:rPr b="1" lang="fr-FR" sz="2400">
                <a:latin typeface="Garamond"/>
                <a:ea typeface="Garamond"/>
                <a:cs typeface="Garamond"/>
                <a:sym typeface="Garamond"/>
              </a:rPr>
              <a:t>La peur des hauteurs</a:t>
            </a:r>
            <a:endParaRPr sz="2400">
              <a:latin typeface="Garamond"/>
              <a:ea typeface="Garamond"/>
              <a:cs typeface="Garamond"/>
              <a:sym typeface="Garamond"/>
            </a:endParaRPr>
          </a:p>
          <a:p>
            <a:pPr indent="-342265" lvl="0" marL="354965" rtl="0" algn="l">
              <a:lnSpc>
                <a:spcPct val="100000"/>
              </a:lnSpc>
              <a:spcBef>
                <a:spcPts val="1550"/>
              </a:spcBef>
              <a:spcAft>
                <a:spcPts val="0"/>
              </a:spcAft>
              <a:buClr>
                <a:srgbClr val="61731F"/>
              </a:buClr>
              <a:buSzPts val="2400"/>
              <a:buFont typeface="Garamond"/>
              <a:buAutoNum type="alphaUcPeriod"/>
            </a:pPr>
            <a:r>
              <a:rPr b="1" lang="fr-FR" sz="2400">
                <a:solidFill>
                  <a:srgbClr val="FF0000"/>
                </a:solidFill>
                <a:latin typeface="Garamond"/>
                <a:ea typeface="Garamond"/>
                <a:cs typeface="Garamond"/>
                <a:sym typeface="Garamond"/>
              </a:rPr>
              <a:t>La peur du regard de l’autre.</a:t>
            </a:r>
            <a:endParaRPr sz="2400">
              <a:solidFill>
                <a:srgbClr val="FF0000"/>
              </a:solidFill>
              <a:latin typeface="Garamond"/>
              <a:ea typeface="Garamond"/>
              <a:cs typeface="Garamond"/>
              <a:sym typeface="Garamond"/>
            </a:endParaRPr>
          </a:p>
          <a:p>
            <a:pPr indent="-342265" lvl="0" marL="354965" rtl="0" algn="l">
              <a:lnSpc>
                <a:spcPct val="100000"/>
              </a:lnSpc>
              <a:spcBef>
                <a:spcPts val="1550"/>
              </a:spcBef>
              <a:spcAft>
                <a:spcPts val="0"/>
              </a:spcAft>
              <a:buClr>
                <a:srgbClr val="61731F"/>
              </a:buClr>
              <a:buSzPts val="2400"/>
              <a:buFont typeface="Garamond"/>
              <a:buAutoNum type="alphaUcPeriod"/>
            </a:pPr>
            <a:r>
              <a:rPr b="1" lang="fr-FR" sz="2400">
                <a:latin typeface="Garamond"/>
                <a:ea typeface="Garamond"/>
                <a:cs typeface="Garamond"/>
                <a:sym typeface="Garamond"/>
              </a:rPr>
              <a:t>La peur des endroits clos</a:t>
            </a:r>
            <a:endParaRPr sz="2400">
              <a:latin typeface="Garamond"/>
              <a:ea typeface="Garamond"/>
              <a:cs typeface="Garamond"/>
              <a:sym typeface="Garamond"/>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93"/>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92" name="Google Shape;792;p93"/>
          <p:cNvSpPr txBox="1"/>
          <p:nvPr>
            <p:ph type="title"/>
          </p:nvPr>
        </p:nvSpPr>
        <p:spPr>
          <a:xfrm>
            <a:off x="802005" y="636905"/>
            <a:ext cx="10587989" cy="1671955"/>
          </a:xfrm>
          <a:prstGeom prst="rect">
            <a:avLst/>
          </a:prstGeom>
          <a:noFill/>
          <a:ln>
            <a:noFill/>
          </a:ln>
        </p:spPr>
        <p:txBody>
          <a:bodyPr anchorCtr="0" anchor="t" bIns="0" lIns="0" spcFirstLastPara="1" rIns="0" wrap="square" tIns="601325">
            <a:spAutoFit/>
          </a:bodyPr>
          <a:lstStyle/>
          <a:p>
            <a:pPr indent="0" lvl="0" marL="568960" rtl="0" algn="l">
              <a:lnSpc>
                <a:spcPct val="100000"/>
              </a:lnSpc>
              <a:spcBef>
                <a:spcPts val="0"/>
              </a:spcBef>
              <a:spcAft>
                <a:spcPts val="0"/>
              </a:spcAft>
              <a:buNone/>
            </a:pPr>
            <a:r>
              <a:rPr lang="fr-FR" sz="4400">
                <a:solidFill>
                  <a:srgbClr val="000000"/>
                </a:solidFill>
              </a:rPr>
              <a:t>La phobie sociale peut se traduire par :</a:t>
            </a:r>
            <a:endParaRPr sz="4400"/>
          </a:p>
        </p:txBody>
      </p:sp>
      <p:sp>
        <p:nvSpPr>
          <p:cNvPr id="793" name="Google Shape;793;p9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794" name="Google Shape;794;p93"/>
          <p:cNvSpPr txBox="1"/>
          <p:nvPr/>
        </p:nvSpPr>
        <p:spPr>
          <a:xfrm>
            <a:off x="1286510" y="2319998"/>
            <a:ext cx="7158990" cy="2455800"/>
          </a:xfrm>
          <a:prstGeom prst="rect">
            <a:avLst/>
          </a:prstGeom>
          <a:noFill/>
          <a:ln>
            <a:noFill/>
          </a:ln>
        </p:spPr>
        <p:txBody>
          <a:bodyPr anchorCtr="0" anchor="t" bIns="0" lIns="0" spcFirstLastPara="1" rIns="0" wrap="square" tIns="57150">
            <a:spAutoFit/>
          </a:bodyPr>
          <a:lstStyle/>
          <a:p>
            <a:pPr indent="-514350" lvl="0" marL="527050" rtl="0" algn="l">
              <a:lnSpc>
                <a:spcPct val="100000"/>
              </a:lnSpc>
              <a:spcBef>
                <a:spcPts val="0"/>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Une peur de prendre les transports en commun</a:t>
            </a:r>
            <a:endParaRPr sz="2600">
              <a:latin typeface="Garamond"/>
              <a:ea typeface="Garamond"/>
              <a:cs typeface="Garamond"/>
              <a:sym typeface="Garamond"/>
            </a:endParaRPr>
          </a:p>
          <a:p>
            <a:pPr indent="-514350" lvl="0" marL="527050" rtl="0" algn="l">
              <a:lnSpc>
                <a:spcPct val="100000"/>
              </a:lnSpc>
              <a:spcBef>
                <a:spcPts val="75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Une peur des tonnerres</a:t>
            </a:r>
            <a:endParaRPr sz="2600">
              <a:latin typeface="Garamond"/>
              <a:ea typeface="Garamond"/>
              <a:cs typeface="Garamond"/>
              <a:sym typeface="Garamond"/>
            </a:endParaRPr>
          </a:p>
          <a:p>
            <a:pPr indent="-514350" lvl="0" marL="527050"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Une peur de boire en public</a:t>
            </a:r>
            <a:endParaRPr sz="2600">
              <a:solidFill>
                <a:srgbClr val="FF0000"/>
              </a:solidFill>
              <a:latin typeface="Garamond"/>
              <a:ea typeface="Garamond"/>
              <a:cs typeface="Garamond"/>
              <a:sym typeface="Garamond"/>
            </a:endParaRPr>
          </a:p>
          <a:p>
            <a:pPr indent="-596900" lvl="0" marL="609600"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Une peur des situations d’affirmation</a:t>
            </a:r>
            <a:endParaRPr sz="2600">
              <a:solidFill>
                <a:srgbClr val="FF0000"/>
              </a:solidFill>
              <a:latin typeface="Garamond"/>
              <a:ea typeface="Garamond"/>
              <a:cs typeface="Garamond"/>
              <a:sym typeface="Garamond"/>
            </a:endParaRPr>
          </a:p>
          <a:p>
            <a:pPr indent="-514350" lvl="0" marL="527050" rtl="0" algn="l">
              <a:lnSpc>
                <a:spcPct val="100000"/>
              </a:lnSpc>
              <a:spcBef>
                <a:spcPts val="68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Une peur d’aborder un inconnu</a:t>
            </a:r>
            <a:endParaRPr sz="2600">
              <a:solidFill>
                <a:srgbClr val="FF0000"/>
              </a:solidFill>
              <a:latin typeface="Garamond"/>
              <a:ea typeface="Garamond"/>
              <a:cs typeface="Garamond"/>
              <a:sym typeface="Garamon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94"/>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00" name="Google Shape;800;p94"/>
          <p:cNvSpPr txBox="1"/>
          <p:nvPr>
            <p:ph type="title"/>
          </p:nvPr>
        </p:nvSpPr>
        <p:spPr>
          <a:xfrm>
            <a:off x="802005" y="636905"/>
            <a:ext cx="10587989" cy="1671955"/>
          </a:xfrm>
          <a:prstGeom prst="rect">
            <a:avLst/>
          </a:prstGeom>
          <a:noFill/>
          <a:ln>
            <a:noFill/>
          </a:ln>
        </p:spPr>
        <p:txBody>
          <a:bodyPr anchorCtr="0" anchor="t" bIns="0" lIns="0" spcFirstLastPara="1" rIns="0" wrap="square" tIns="506325">
            <a:spAutoFit/>
          </a:bodyPr>
          <a:lstStyle/>
          <a:p>
            <a:pPr indent="0" lvl="0" marL="585470" rtl="0" algn="l">
              <a:lnSpc>
                <a:spcPct val="100000"/>
              </a:lnSpc>
              <a:spcBef>
                <a:spcPts val="0"/>
              </a:spcBef>
              <a:spcAft>
                <a:spcPts val="0"/>
              </a:spcAft>
              <a:buNone/>
            </a:pPr>
            <a:r>
              <a:rPr lang="fr-FR" sz="4400">
                <a:solidFill>
                  <a:srgbClr val="000000"/>
                </a:solidFill>
              </a:rPr>
              <a:t>La peur de parler en public est une :</a:t>
            </a:r>
            <a:endParaRPr sz="4400"/>
          </a:p>
        </p:txBody>
      </p:sp>
      <p:sp>
        <p:nvSpPr>
          <p:cNvPr id="801" name="Google Shape;801;p9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802" name="Google Shape;802;p94"/>
          <p:cNvSpPr txBox="1"/>
          <p:nvPr/>
        </p:nvSpPr>
        <p:spPr>
          <a:xfrm>
            <a:off x="1375028" y="2324457"/>
            <a:ext cx="3239135" cy="2568011"/>
          </a:xfrm>
          <a:prstGeom prst="rect">
            <a:avLst/>
          </a:prstGeom>
          <a:noFill/>
          <a:ln>
            <a:noFill/>
          </a:ln>
        </p:spPr>
        <p:txBody>
          <a:bodyPr anchorCtr="0" anchor="t" bIns="0" lIns="0" spcFirstLastPara="1" rIns="0" wrap="square" tIns="53975">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Acrophobie</a:t>
            </a:r>
            <a:endParaRPr sz="2750">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Agoraphobie</a:t>
            </a:r>
            <a:endParaRPr sz="2750">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Phobie sociale</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Phobie spécifique</a:t>
            </a:r>
            <a:endParaRPr sz="2750">
              <a:latin typeface="Garamond"/>
              <a:ea typeface="Garamond"/>
              <a:cs typeface="Garamond"/>
              <a:sym typeface="Garamond"/>
            </a:endParaRPr>
          </a:p>
          <a:p>
            <a:pPr indent="-513715" lvl="0" marL="526415" rtl="0" algn="l">
              <a:lnSpc>
                <a:spcPct val="100000"/>
              </a:lnSpc>
              <a:spcBef>
                <a:spcPts val="74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Ereutophobie</a:t>
            </a:r>
            <a:endParaRPr sz="2750">
              <a:latin typeface="Garamond"/>
              <a:ea typeface="Garamond"/>
              <a:cs typeface="Garamond"/>
              <a:sym typeface="Garamond"/>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95"/>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08" name="Google Shape;808;p95"/>
          <p:cNvSpPr txBox="1"/>
          <p:nvPr>
            <p:ph type="title"/>
          </p:nvPr>
        </p:nvSpPr>
        <p:spPr>
          <a:xfrm>
            <a:off x="802005" y="636905"/>
            <a:ext cx="10587989" cy="1671955"/>
          </a:xfrm>
          <a:prstGeom prst="rect">
            <a:avLst/>
          </a:prstGeom>
          <a:noFill/>
          <a:ln>
            <a:noFill/>
          </a:ln>
        </p:spPr>
        <p:txBody>
          <a:bodyPr anchorCtr="0" anchor="t" bIns="0" lIns="0" spcFirstLastPara="1" rIns="0" wrap="square" tIns="506325">
            <a:spAutoFit/>
          </a:bodyPr>
          <a:lstStyle/>
          <a:p>
            <a:pPr indent="0" lvl="0" marL="585470" rtl="0" algn="l">
              <a:lnSpc>
                <a:spcPct val="100000"/>
              </a:lnSpc>
              <a:spcBef>
                <a:spcPts val="0"/>
              </a:spcBef>
              <a:spcAft>
                <a:spcPts val="0"/>
              </a:spcAft>
              <a:buNone/>
            </a:pPr>
            <a:r>
              <a:rPr lang="fr-FR" sz="4400">
                <a:solidFill>
                  <a:srgbClr val="000000"/>
                </a:solidFill>
              </a:rPr>
              <a:t>Dans la phobie sociale, on peut observer :</a:t>
            </a:r>
            <a:endParaRPr sz="4400"/>
          </a:p>
        </p:txBody>
      </p:sp>
      <p:sp>
        <p:nvSpPr>
          <p:cNvPr id="809" name="Google Shape;809;p9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810" name="Google Shape;810;p95"/>
          <p:cNvSpPr txBox="1"/>
          <p:nvPr/>
        </p:nvSpPr>
        <p:spPr>
          <a:xfrm>
            <a:off x="1375028" y="2324457"/>
            <a:ext cx="9561830" cy="2568011"/>
          </a:xfrm>
          <a:prstGeom prst="rect">
            <a:avLst/>
          </a:prstGeom>
          <a:noFill/>
          <a:ln>
            <a:noFill/>
          </a:ln>
        </p:spPr>
        <p:txBody>
          <a:bodyPr anchorCtr="0" anchor="t" bIns="0" lIns="0" spcFirstLastPara="1" rIns="0" wrap="square" tIns="53975">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reviviscence</a:t>
            </a:r>
            <a:endParaRPr sz="2750">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Des attaques de panique</a:t>
            </a:r>
            <a:endParaRPr sz="2750">
              <a:solidFill>
                <a:srgbClr val="FF0000"/>
              </a:solidFill>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peur de manifester des signes anxieux devant les autres</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Des comportements d’évitement</a:t>
            </a:r>
            <a:endParaRPr sz="2750">
              <a:solidFill>
                <a:srgbClr val="FF0000"/>
              </a:solidFill>
              <a:latin typeface="Garamond"/>
              <a:ea typeface="Garamond"/>
              <a:cs typeface="Garamond"/>
              <a:sym typeface="Garamond"/>
            </a:endParaRPr>
          </a:p>
          <a:p>
            <a:pPr indent="-513715" lvl="0" marL="526415" rtl="0" algn="l">
              <a:lnSpc>
                <a:spcPct val="100000"/>
              </a:lnSpc>
              <a:spcBef>
                <a:spcPts val="74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Des comportements de vérification</a:t>
            </a:r>
            <a:endParaRPr sz="2750">
              <a:latin typeface="Garamond"/>
              <a:ea typeface="Garamond"/>
              <a:cs typeface="Garamond"/>
              <a:sym typeface="Garamond"/>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96"/>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16" name="Google Shape;816;p96"/>
          <p:cNvSpPr txBox="1"/>
          <p:nvPr>
            <p:ph type="title"/>
          </p:nvPr>
        </p:nvSpPr>
        <p:spPr>
          <a:xfrm>
            <a:off x="802005" y="636905"/>
            <a:ext cx="10587989" cy="1671955"/>
          </a:xfrm>
          <a:prstGeom prst="rect">
            <a:avLst/>
          </a:prstGeom>
          <a:noFill/>
          <a:ln>
            <a:noFill/>
          </a:ln>
        </p:spPr>
        <p:txBody>
          <a:bodyPr anchorCtr="0" anchor="t" bIns="0" lIns="0" spcFirstLastPara="1" rIns="0" wrap="square" tIns="549575">
            <a:spAutoFit/>
          </a:bodyPr>
          <a:lstStyle/>
          <a:p>
            <a:pPr indent="0" lvl="0" marL="585470" rtl="0" algn="l">
              <a:lnSpc>
                <a:spcPct val="100000"/>
              </a:lnSpc>
              <a:spcBef>
                <a:spcPts val="0"/>
              </a:spcBef>
              <a:spcAft>
                <a:spcPts val="0"/>
              </a:spcAft>
              <a:buNone/>
            </a:pPr>
            <a:r>
              <a:rPr lang="fr-FR" sz="3950"/>
              <a:t>Une situation de peur sociale peut concerner :</a:t>
            </a:r>
            <a:endParaRPr sz="3950"/>
          </a:p>
        </p:txBody>
      </p:sp>
      <p:sp>
        <p:nvSpPr>
          <p:cNvPr id="817" name="Google Shape;817;p9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818" name="Google Shape;818;p96"/>
          <p:cNvSpPr txBox="1"/>
          <p:nvPr/>
        </p:nvSpPr>
        <p:spPr>
          <a:xfrm>
            <a:off x="1375028" y="2324457"/>
            <a:ext cx="5772150" cy="2568011"/>
          </a:xfrm>
          <a:prstGeom prst="rect">
            <a:avLst/>
          </a:prstGeom>
          <a:noFill/>
          <a:ln>
            <a:noFill/>
          </a:ln>
        </p:spPr>
        <p:txBody>
          <a:bodyPr anchorCtr="0" anchor="t" bIns="0" lIns="0" spcFirstLastPara="1" rIns="0" wrap="square" tIns="53975">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Parler à un supérieur</a:t>
            </a:r>
            <a:endParaRPr sz="2750">
              <a:solidFill>
                <a:srgbClr val="FF0000"/>
              </a:solidFill>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Faire connaissance avec quelqu’un</a:t>
            </a:r>
            <a:endParaRPr sz="2750">
              <a:solidFill>
                <a:srgbClr val="FF0000"/>
              </a:solidFill>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chemeClr val="dk1"/>
                </a:solidFill>
                <a:latin typeface="Garamond"/>
                <a:ea typeface="Garamond"/>
                <a:cs typeface="Garamond"/>
                <a:sym typeface="Garamond"/>
              </a:rPr>
              <a:t>Se retrouver seul dans une foule</a:t>
            </a:r>
            <a:endParaRPr sz="2750">
              <a:solidFill>
                <a:schemeClr val="dk1"/>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Présenter une conférence</a:t>
            </a:r>
            <a:endParaRPr sz="2750">
              <a:solidFill>
                <a:srgbClr val="FF0000"/>
              </a:solidFill>
              <a:latin typeface="Garamond"/>
              <a:ea typeface="Garamond"/>
              <a:cs typeface="Garamond"/>
              <a:sym typeface="Garamond"/>
            </a:endParaRPr>
          </a:p>
          <a:p>
            <a:pPr indent="-513715" lvl="0" marL="526415" rtl="0" algn="l">
              <a:lnSpc>
                <a:spcPct val="100000"/>
              </a:lnSpc>
              <a:spcBef>
                <a:spcPts val="74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Manger devant les autres</a:t>
            </a:r>
            <a:endParaRPr sz="2750">
              <a:solidFill>
                <a:srgbClr val="FF0000"/>
              </a:solidFill>
              <a:latin typeface="Garamond"/>
              <a:ea typeface="Garamond"/>
              <a:cs typeface="Garamond"/>
              <a:sym typeface="Garamond"/>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97"/>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24" name="Google Shape;824;p97"/>
          <p:cNvSpPr txBox="1"/>
          <p:nvPr>
            <p:ph type="title"/>
          </p:nvPr>
        </p:nvSpPr>
        <p:spPr>
          <a:xfrm>
            <a:off x="802005" y="636905"/>
            <a:ext cx="10587989" cy="1671955"/>
          </a:xfrm>
          <a:prstGeom prst="rect">
            <a:avLst/>
          </a:prstGeom>
          <a:noFill/>
          <a:ln>
            <a:noFill/>
          </a:ln>
        </p:spPr>
        <p:txBody>
          <a:bodyPr anchorCtr="0" anchor="t" bIns="0" lIns="0" spcFirstLastPara="1" rIns="0" wrap="square" tIns="548875">
            <a:spAutoFit/>
          </a:bodyPr>
          <a:lstStyle/>
          <a:p>
            <a:pPr indent="0" lvl="0" marL="655955" rtl="0" algn="l">
              <a:lnSpc>
                <a:spcPct val="100000"/>
              </a:lnSpc>
              <a:spcBef>
                <a:spcPts val="0"/>
              </a:spcBef>
              <a:spcAft>
                <a:spcPts val="0"/>
              </a:spcAft>
              <a:buNone/>
            </a:pPr>
            <a:r>
              <a:rPr lang="fr-FR" sz="4400">
                <a:solidFill>
                  <a:srgbClr val="000000"/>
                </a:solidFill>
              </a:rPr>
              <a:t>Le phobique social :</a:t>
            </a:r>
            <a:endParaRPr sz="4400"/>
          </a:p>
        </p:txBody>
      </p:sp>
      <p:sp>
        <p:nvSpPr>
          <p:cNvPr id="825" name="Google Shape;825;p9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826" name="Google Shape;826;p97"/>
          <p:cNvSpPr txBox="1"/>
          <p:nvPr/>
        </p:nvSpPr>
        <p:spPr>
          <a:xfrm>
            <a:off x="1287780" y="2603924"/>
            <a:ext cx="5594985" cy="2568652"/>
          </a:xfrm>
          <a:prstGeom prst="rect">
            <a:avLst/>
          </a:prstGeom>
          <a:noFill/>
          <a:ln>
            <a:noFill/>
          </a:ln>
        </p:spPr>
        <p:txBody>
          <a:bodyPr anchorCtr="0" anchor="t" bIns="0" lIns="0" spcFirstLastPara="1" rIns="0" wrap="square" tIns="546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Craint être jugé par	les autres</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Évite certaines situations sociales</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latin typeface="Garamond"/>
                <a:ea typeface="Garamond"/>
                <a:cs typeface="Garamond"/>
                <a:sym typeface="Garamond"/>
              </a:rPr>
              <a:t>Est timide</a:t>
            </a:r>
            <a:endParaRPr sz="2750">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A de grandes habiletés sociales</a:t>
            </a:r>
            <a:endParaRPr sz="2750">
              <a:latin typeface="Garamond"/>
              <a:ea typeface="Garamond"/>
              <a:cs typeface="Garamond"/>
              <a:sym typeface="Garamond"/>
            </a:endParaRPr>
          </a:p>
          <a:p>
            <a:pPr indent="-513715" lvl="0" marL="526415"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Est psychotique</a:t>
            </a:r>
            <a:endParaRPr sz="2750">
              <a:latin typeface="Garamond"/>
              <a:ea typeface="Garamond"/>
              <a:cs typeface="Garamond"/>
              <a:sym typeface="Garamond"/>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98"/>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32" name="Google Shape;832;p98"/>
          <p:cNvSpPr txBox="1"/>
          <p:nvPr>
            <p:ph type="title"/>
          </p:nvPr>
        </p:nvSpPr>
        <p:spPr>
          <a:xfrm>
            <a:off x="1375028" y="848105"/>
            <a:ext cx="8497570" cy="1242060"/>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solidFill>
                  <a:srgbClr val="000000"/>
                </a:solidFill>
              </a:rPr>
              <a:t>La phobie sociale peut être caractérisée par:</a:t>
            </a:r>
            <a:endParaRPr sz="3950"/>
          </a:p>
        </p:txBody>
      </p:sp>
      <p:sp>
        <p:nvSpPr>
          <p:cNvPr id="833" name="Google Shape;833;p9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834" name="Google Shape;834;p98"/>
          <p:cNvSpPr txBox="1"/>
          <p:nvPr>
            <p:ph idx="1" type="body"/>
          </p:nvPr>
        </p:nvSpPr>
        <p:spPr>
          <a:xfrm>
            <a:off x="1375028" y="2402586"/>
            <a:ext cx="9363075" cy="2648161"/>
          </a:xfrm>
          <a:prstGeom prst="rect">
            <a:avLst/>
          </a:prstGeom>
          <a:noFill/>
          <a:ln>
            <a:noFill/>
          </a:ln>
        </p:spPr>
        <p:txBody>
          <a:bodyPr anchorCtr="0" anchor="t" bIns="0" lIns="0" spcFirstLastPara="1" rIns="0" wrap="square" tIns="171450">
            <a:spAutoFit/>
          </a:bodyPr>
          <a:lstStyle/>
          <a:p>
            <a:pPr indent="0" lvl="0" marL="12700" rtl="0" algn="l">
              <a:lnSpc>
                <a:spcPct val="100000"/>
              </a:lnSpc>
              <a:spcBef>
                <a:spcPts val="0"/>
              </a:spcBef>
              <a:spcAft>
                <a:spcPts val="0"/>
              </a:spcAft>
              <a:buNone/>
            </a:pPr>
            <a:r>
              <a:rPr lang="fr-FR" sz="2400">
                <a:solidFill>
                  <a:srgbClr val="FF0000"/>
                </a:solidFill>
              </a:rPr>
              <a:t>A - Evitement des situations d'observation par autrui</a:t>
            </a:r>
            <a:endParaRPr sz="2400">
              <a:solidFill>
                <a:srgbClr val="FF0000"/>
              </a:solidFill>
            </a:endParaRPr>
          </a:p>
          <a:p>
            <a:pPr indent="0" lvl="0" marL="12700" rtl="0" algn="l">
              <a:lnSpc>
                <a:spcPct val="100000"/>
              </a:lnSpc>
              <a:spcBef>
                <a:spcPts val="1250"/>
              </a:spcBef>
              <a:spcAft>
                <a:spcPts val="0"/>
              </a:spcAft>
              <a:buNone/>
            </a:pPr>
            <a:r>
              <a:rPr lang="fr-FR" sz="2400">
                <a:solidFill>
                  <a:srgbClr val="FF0000"/>
                </a:solidFill>
              </a:rPr>
              <a:t>B - Peurs situationnelles irrationnelles persistantes</a:t>
            </a:r>
            <a:endParaRPr sz="2400">
              <a:solidFill>
                <a:srgbClr val="FF0000"/>
              </a:solidFill>
            </a:endParaRPr>
          </a:p>
          <a:p>
            <a:pPr indent="0" lvl="0" marL="12700" rtl="0" algn="l">
              <a:lnSpc>
                <a:spcPct val="100000"/>
              </a:lnSpc>
              <a:spcBef>
                <a:spcPts val="1175"/>
              </a:spcBef>
              <a:spcAft>
                <a:spcPts val="0"/>
              </a:spcAft>
              <a:buNone/>
            </a:pPr>
            <a:r>
              <a:rPr lang="fr-FR" sz="2400">
                <a:solidFill>
                  <a:srgbClr val="FF0000"/>
                </a:solidFill>
              </a:rPr>
              <a:t>C - Reconnaissance de la nature excessive de ses craintes</a:t>
            </a:r>
            <a:endParaRPr sz="2400">
              <a:solidFill>
                <a:srgbClr val="FF0000"/>
              </a:solidFill>
            </a:endParaRPr>
          </a:p>
          <a:p>
            <a:pPr indent="0" lvl="0" marL="12700" rtl="0" algn="l">
              <a:lnSpc>
                <a:spcPct val="100000"/>
              </a:lnSpc>
              <a:spcBef>
                <a:spcPts val="1175"/>
              </a:spcBef>
              <a:spcAft>
                <a:spcPts val="0"/>
              </a:spcAft>
              <a:buNone/>
            </a:pPr>
            <a:r>
              <a:rPr lang="fr-FR" sz="2400"/>
              <a:t>D - peur des espaces publics</a:t>
            </a:r>
            <a:endParaRPr sz="2400"/>
          </a:p>
          <a:p>
            <a:pPr indent="0" lvl="0" marL="12700" rtl="0" algn="l">
              <a:lnSpc>
                <a:spcPct val="100000"/>
              </a:lnSpc>
              <a:spcBef>
                <a:spcPts val="1175"/>
              </a:spcBef>
              <a:spcAft>
                <a:spcPts val="0"/>
              </a:spcAft>
              <a:buNone/>
            </a:pPr>
            <a:r>
              <a:rPr lang="fr-FR" sz="2400"/>
              <a:t>E -peur de ne pas être secouru à temps</a:t>
            </a:r>
            <a:endParaRPr sz="2400"/>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99"/>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40" name="Google Shape;840;p99"/>
          <p:cNvSpPr txBox="1"/>
          <p:nvPr>
            <p:ph type="title"/>
          </p:nvPr>
        </p:nvSpPr>
        <p:spPr>
          <a:xfrm>
            <a:off x="1375028" y="975105"/>
            <a:ext cx="9330055"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solidFill>
                  <a:srgbClr val="000000"/>
                </a:solidFill>
              </a:rPr>
              <a:t>La phobie sociale peut être caractérisée par les éléments suivants :</a:t>
            </a:r>
            <a:endParaRPr sz="3950"/>
          </a:p>
        </p:txBody>
      </p:sp>
      <p:sp>
        <p:nvSpPr>
          <p:cNvPr id="841" name="Google Shape;841;p9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842" name="Google Shape;842;p99"/>
          <p:cNvSpPr txBox="1"/>
          <p:nvPr>
            <p:ph idx="1" type="body"/>
          </p:nvPr>
        </p:nvSpPr>
        <p:spPr>
          <a:xfrm>
            <a:off x="1375028" y="2402586"/>
            <a:ext cx="9363075" cy="3141180"/>
          </a:xfrm>
          <a:prstGeom prst="rect">
            <a:avLst/>
          </a:prstGeom>
          <a:noFill/>
          <a:ln>
            <a:noFill/>
          </a:ln>
        </p:spPr>
        <p:txBody>
          <a:bodyPr anchorCtr="0" anchor="t" bIns="0" lIns="0" spcFirstLastPara="1" rIns="0" wrap="square" tIns="146600">
            <a:spAutoFit/>
          </a:bodyPr>
          <a:lstStyle/>
          <a:p>
            <a:pPr indent="0" lvl="0" marL="12700" rtl="0" algn="l">
              <a:lnSpc>
                <a:spcPct val="113125"/>
              </a:lnSpc>
              <a:spcBef>
                <a:spcPts val="0"/>
              </a:spcBef>
              <a:spcAft>
                <a:spcPts val="0"/>
              </a:spcAft>
              <a:buNone/>
            </a:pPr>
            <a:r>
              <a:rPr lang="fr-FR" sz="2400">
                <a:solidFill>
                  <a:srgbClr val="FF0000"/>
                </a:solidFill>
              </a:rPr>
              <a:t>A - survenue d’attaques de paniques dans des situations d’observation</a:t>
            </a:r>
            <a:endParaRPr sz="2400">
              <a:solidFill>
                <a:srgbClr val="FF0000"/>
              </a:solidFill>
            </a:endParaRPr>
          </a:p>
          <a:p>
            <a:pPr indent="0" lvl="0" marL="12700" rtl="0" algn="l">
              <a:lnSpc>
                <a:spcPct val="113125"/>
              </a:lnSpc>
              <a:spcBef>
                <a:spcPts val="0"/>
              </a:spcBef>
              <a:spcAft>
                <a:spcPts val="0"/>
              </a:spcAft>
              <a:buNone/>
            </a:pPr>
            <a:r>
              <a:rPr lang="fr-FR" sz="2400">
                <a:solidFill>
                  <a:srgbClr val="FF0000"/>
                </a:solidFill>
              </a:rPr>
              <a:t>par autrui</a:t>
            </a:r>
            <a:endParaRPr sz="2400">
              <a:solidFill>
                <a:srgbClr val="FF0000"/>
              </a:solidFill>
            </a:endParaRPr>
          </a:p>
          <a:p>
            <a:pPr indent="0" lvl="0" marL="12700" rtl="0" algn="l">
              <a:lnSpc>
                <a:spcPct val="100000"/>
              </a:lnSpc>
              <a:spcBef>
                <a:spcPts val="950"/>
              </a:spcBef>
              <a:spcAft>
                <a:spcPts val="0"/>
              </a:spcAft>
              <a:buNone/>
            </a:pPr>
            <a:r>
              <a:rPr lang="fr-FR" sz="2400"/>
              <a:t>B - évitement des lieux clos</a:t>
            </a:r>
            <a:endParaRPr sz="2400"/>
          </a:p>
          <a:p>
            <a:pPr indent="0" lvl="0" marL="12700" rtl="0" algn="l">
              <a:lnSpc>
                <a:spcPct val="100000"/>
              </a:lnSpc>
              <a:spcBef>
                <a:spcPts val="875"/>
              </a:spcBef>
              <a:spcAft>
                <a:spcPts val="0"/>
              </a:spcAft>
              <a:buNone/>
            </a:pPr>
            <a:r>
              <a:rPr lang="fr-FR" sz="2400">
                <a:solidFill>
                  <a:srgbClr val="FF0000"/>
                </a:solidFill>
              </a:rPr>
              <a:t>C - évitement des situations d'observation par autrui</a:t>
            </a:r>
            <a:endParaRPr sz="2400">
              <a:solidFill>
                <a:srgbClr val="FF0000"/>
              </a:solidFill>
            </a:endParaRPr>
          </a:p>
          <a:p>
            <a:pPr indent="0" lvl="0" marL="12700" rtl="0" algn="l">
              <a:lnSpc>
                <a:spcPct val="114791"/>
              </a:lnSpc>
              <a:spcBef>
                <a:spcPts val="875"/>
              </a:spcBef>
              <a:spcAft>
                <a:spcPts val="0"/>
              </a:spcAft>
              <a:buNone/>
            </a:pPr>
            <a:r>
              <a:rPr lang="fr-FR" sz="2400"/>
              <a:t>D – Une durée de moins de 6 mois chez les sujets de moins de 18 ans est</a:t>
            </a:r>
            <a:endParaRPr sz="2400"/>
          </a:p>
          <a:p>
            <a:pPr indent="0" lvl="0" marL="12700" rtl="0" algn="l">
              <a:lnSpc>
                <a:spcPct val="114791"/>
              </a:lnSpc>
              <a:spcBef>
                <a:spcPts val="0"/>
              </a:spcBef>
              <a:spcAft>
                <a:spcPts val="0"/>
              </a:spcAft>
              <a:buNone/>
            </a:pPr>
            <a:r>
              <a:rPr lang="fr-FR" sz="2400"/>
              <a:t>requise</a:t>
            </a:r>
            <a:endParaRPr sz="2400"/>
          </a:p>
          <a:p>
            <a:pPr indent="0" lvl="0" marL="12700" rtl="0" algn="l">
              <a:lnSpc>
                <a:spcPct val="100000"/>
              </a:lnSpc>
              <a:spcBef>
                <a:spcPts val="875"/>
              </a:spcBef>
              <a:spcAft>
                <a:spcPts val="0"/>
              </a:spcAft>
              <a:buNone/>
            </a:pPr>
            <a:r>
              <a:rPr lang="fr-FR" sz="2400">
                <a:solidFill>
                  <a:srgbClr val="FF0000"/>
                </a:solidFill>
              </a:rPr>
              <a:t>E - Crainte du jugement d'autrui</a:t>
            </a:r>
            <a:endParaRPr sz="2400">
              <a:solidFill>
                <a:srgbClr val="FF0000"/>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00"/>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48" name="Google Shape;848;p100"/>
          <p:cNvSpPr txBox="1"/>
          <p:nvPr>
            <p:ph type="title"/>
          </p:nvPr>
        </p:nvSpPr>
        <p:spPr>
          <a:xfrm>
            <a:off x="802005" y="636905"/>
            <a:ext cx="10587989" cy="1671955"/>
          </a:xfrm>
          <a:prstGeom prst="rect">
            <a:avLst/>
          </a:prstGeom>
          <a:noFill/>
          <a:ln>
            <a:noFill/>
          </a:ln>
        </p:spPr>
        <p:txBody>
          <a:bodyPr anchorCtr="0" anchor="t" bIns="0" lIns="0" spcFirstLastPara="1" rIns="0" wrap="square" tIns="681350">
            <a:spAutoFit/>
          </a:bodyPr>
          <a:lstStyle/>
          <a:p>
            <a:pPr indent="0" lvl="0" marL="581025" rtl="0" algn="l">
              <a:lnSpc>
                <a:spcPct val="100000"/>
              </a:lnSpc>
              <a:spcBef>
                <a:spcPts val="0"/>
              </a:spcBef>
              <a:spcAft>
                <a:spcPts val="0"/>
              </a:spcAft>
              <a:buNone/>
            </a:pPr>
            <a:r>
              <a:rPr lang="fr-FR" sz="4400">
                <a:solidFill>
                  <a:srgbClr val="000000"/>
                </a:solidFill>
              </a:rPr>
              <a:t>La phobie sociale se caractérise par :</a:t>
            </a:r>
            <a:endParaRPr sz="4400"/>
          </a:p>
        </p:txBody>
      </p:sp>
      <p:sp>
        <p:nvSpPr>
          <p:cNvPr id="849" name="Google Shape;849;p10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850" name="Google Shape;850;p100"/>
          <p:cNvSpPr txBox="1"/>
          <p:nvPr/>
        </p:nvSpPr>
        <p:spPr>
          <a:xfrm>
            <a:off x="1375028" y="2585053"/>
            <a:ext cx="8350250" cy="2348079"/>
          </a:xfrm>
          <a:prstGeom prst="rect">
            <a:avLst/>
          </a:prstGeom>
          <a:noFill/>
          <a:ln>
            <a:noFill/>
          </a:ln>
        </p:spPr>
        <p:txBody>
          <a:bodyPr anchorCtr="0" anchor="t" bIns="0" lIns="0" spcFirstLastPara="1" rIns="0" wrap="square" tIns="1395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peur d’être observé par les autres</a:t>
            </a:r>
            <a:endParaRPr sz="2750">
              <a:solidFill>
                <a:srgbClr val="FF0000"/>
              </a:solidFill>
              <a:latin typeface="Garamond"/>
              <a:ea typeface="Garamond"/>
              <a:cs typeface="Garamond"/>
              <a:sym typeface="Garamond"/>
            </a:endParaRPr>
          </a:p>
          <a:p>
            <a:pPr indent="-514350" lvl="0" marL="527050" rtl="0" algn="l">
              <a:lnSpc>
                <a:spcPct val="100000"/>
              </a:lnSpc>
              <a:spcBef>
                <a:spcPts val="4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peur de prendre les moyens de transport</a:t>
            </a:r>
            <a:endParaRPr sz="2750">
              <a:latin typeface="Garamond"/>
              <a:ea typeface="Garamond"/>
              <a:cs typeface="Garamond"/>
              <a:sym typeface="Garamond"/>
            </a:endParaRPr>
          </a:p>
          <a:p>
            <a:pPr indent="-514350" lvl="0" marL="527050" rtl="0" algn="l">
              <a:lnSpc>
                <a:spcPct val="100000"/>
              </a:lnSpc>
              <a:spcBef>
                <a:spcPts val="4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peur d’être espionné ou surveillé</a:t>
            </a:r>
            <a:endParaRPr sz="2750">
              <a:latin typeface="Garamond"/>
              <a:ea typeface="Garamond"/>
              <a:cs typeface="Garamond"/>
              <a:sym typeface="Garamond"/>
            </a:endParaRPr>
          </a:p>
          <a:p>
            <a:pPr indent="-513715" lvl="0" marL="526415" rtl="0" algn="l">
              <a:lnSpc>
                <a:spcPct val="100000"/>
              </a:lnSpc>
              <a:spcBef>
                <a:spcPts val="5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peur de se retrouver seul dans une file d’attente</a:t>
            </a:r>
            <a:endParaRPr sz="2750">
              <a:latin typeface="Garamond"/>
              <a:ea typeface="Garamond"/>
              <a:cs typeface="Garamond"/>
              <a:sym typeface="Garamond"/>
            </a:endParaRPr>
          </a:p>
          <a:p>
            <a:pPr indent="-514350" lvl="0" marL="527050" rtl="0" algn="l">
              <a:lnSpc>
                <a:spcPct val="100000"/>
              </a:lnSpc>
              <a:spcBef>
                <a:spcPts val="44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 évitement des endroits clos</a:t>
            </a:r>
            <a:endParaRPr sz="2750">
              <a:latin typeface="Garamond"/>
              <a:ea typeface="Garamond"/>
              <a:cs typeface="Garamond"/>
              <a:sym typeface="Garamond"/>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101"/>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56" name="Google Shape;856;p101"/>
          <p:cNvSpPr txBox="1"/>
          <p:nvPr>
            <p:ph type="title"/>
          </p:nvPr>
        </p:nvSpPr>
        <p:spPr>
          <a:xfrm>
            <a:off x="802005" y="636905"/>
            <a:ext cx="10587989" cy="1671955"/>
          </a:xfrm>
          <a:prstGeom prst="rect">
            <a:avLst/>
          </a:prstGeom>
          <a:noFill/>
          <a:ln>
            <a:noFill/>
          </a:ln>
        </p:spPr>
        <p:txBody>
          <a:bodyPr anchorCtr="0" anchor="t" bIns="0" lIns="0" spcFirstLastPara="1" rIns="0" wrap="square" tIns="412350">
            <a:spAutoFit/>
          </a:bodyPr>
          <a:lstStyle/>
          <a:p>
            <a:pPr indent="0" lvl="0" marL="0" rtl="0" algn="ctr">
              <a:lnSpc>
                <a:spcPct val="100000"/>
              </a:lnSpc>
              <a:spcBef>
                <a:spcPts val="0"/>
              </a:spcBef>
              <a:spcAft>
                <a:spcPts val="0"/>
              </a:spcAft>
              <a:buNone/>
            </a:pPr>
            <a:r>
              <a:rPr lang="fr-FR"/>
              <a:t>Mr A, adolescent de 16 ans souffre d’une phobie</a:t>
            </a:r>
            <a:endParaRPr/>
          </a:p>
          <a:p>
            <a:pPr indent="0" lvl="0" marL="0" rtl="0" algn="ctr">
              <a:lnSpc>
                <a:spcPct val="100000"/>
              </a:lnSpc>
              <a:spcBef>
                <a:spcPts val="35"/>
              </a:spcBef>
              <a:spcAft>
                <a:spcPts val="0"/>
              </a:spcAft>
              <a:buNone/>
            </a:pPr>
            <a:r>
              <a:rPr lang="fr-FR"/>
              <a:t>sociale caractérisée par les éléments suivants :</a:t>
            </a:r>
            <a:endParaRPr/>
          </a:p>
        </p:txBody>
      </p:sp>
      <p:sp>
        <p:nvSpPr>
          <p:cNvPr id="857" name="Google Shape;857;p10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858" name="Google Shape;858;p101"/>
          <p:cNvSpPr txBox="1"/>
          <p:nvPr/>
        </p:nvSpPr>
        <p:spPr>
          <a:xfrm>
            <a:off x="1212850" y="2485620"/>
            <a:ext cx="9961880" cy="2568011"/>
          </a:xfrm>
          <a:prstGeom prst="rect">
            <a:avLst/>
          </a:prstGeom>
          <a:noFill/>
          <a:ln>
            <a:noFill/>
          </a:ln>
        </p:spPr>
        <p:txBody>
          <a:bodyPr anchorCtr="0" anchor="t" bIns="0" lIns="0" spcFirstLastPara="1" rIns="0" wrap="square" tIns="53975">
            <a:spAutoFit/>
          </a:bodyPr>
          <a:lstStyle/>
          <a:p>
            <a:pPr indent="-513715" lvl="0" marL="526415"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Peurs irrationnelles persistantes qui évoluent depuis trois mois</a:t>
            </a:r>
            <a:endParaRPr sz="2750">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Reconnaissance de la nature excessive de ces craintes</a:t>
            </a:r>
            <a:endParaRPr sz="2750">
              <a:solidFill>
                <a:srgbClr val="FF0000"/>
              </a:solidFill>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Evitement des sorties en groupe</a:t>
            </a:r>
            <a:endParaRPr sz="2750">
              <a:solidFill>
                <a:srgbClr val="FF0000"/>
              </a:solidFill>
              <a:latin typeface="Garamond"/>
              <a:ea typeface="Garamond"/>
              <a:cs typeface="Garamond"/>
              <a:sym typeface="Garamond"/>
            </a:endParaRPr>
          </a:p>
          <a:p>
            <a:pPr indent="-513080" lvl="0" marL="525780" rtl="0" algn="l">
              <a:lnSpc>
                <a:spcPct val="100000"/>
              </a:lnSpc>
              <a:spcBef>
                <a:spcPts val="7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Sentiment de détachement</a:t>
            </a:r>
            <a:endParaRPr sz="2750">
              <a:latin typeface="Garamond"/>
              <a:ea typeface="Garamond"/>
              <a:cs typeface="Garamond"/>
              <a:sym typeface="Garamond"/>
            </a:endParaRPr>
          </a:p>
          <a:p>
            <a:pPr indent="-513080" lvl="0" marL="525780" rtl="0" algn="l">
              <a:lnSpc>
                <a:spcPct val="100000"/>
              </a:lnSpc>
              <a:spcBef>
                <a:spcPts val="8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Crainte de se conduire de manière humiliante en public.</a:t>
            </a:r>
            <a:endParaRPr sz="2750">
              <a:solidFill>
                <a:srgbClr val="FF0000"/>
              </a:solidFill>
              <a:latin typeface="Garamond"/>
              <a:ea typeface="Garamond"/>
              <a:cs typeface="Garamond"/>
              <a:sym typeface="Garamond"/>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102"/>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64" name="Google Shape;864;p102"/>
          <p:cNvSpPr txBox="1"/>
          <p:nvPr>
            <p:ph type="title"/>
          </p:nvPr>
        </p:nvSpPr>
        <p:spPr>
          <a:xfrm>
            <a:off x="802005" y="636905"/>
            <a:ext cx="10587989" cy="1671955"/>
          </a:xfrm>
          <a:prstGeom prst="rect">
            <a:avLst/>
          </a:prstGeom>
          <a:noFill/>
          <a:ln>
            <a:noFill/>
          </a:ln>
        </p:spPr>
        <p:txBody>
          <a:bodyPr anchorCtr="0" anchor="t" bIns="0" lIns="0" spcFirstLastPara="1" rIns="0" wrap="square" tIns="258825">
            <a:spAutoFit/>
          </a:bodyPr>
          <a:lstStyle/>
          <a:p>
            <a:pPr indent="0" lvl="0" marL="497205" marR="5080" rtl="0" algn="l">
              <a:lnSpc>
                <a:spcPct val="101000"/>
              </a:lnSpc>
              <a:spcBef>
                <a:spcPts val="0"/>
              </a:spcBef>
              <a:spcAft>
                <a:spcPts val="0"/>
              </a:spcAft>
              <a:buNone/>
            </a:pPr>
            <a:r>
              <a:rPr lang="fr-FR" sz="4400">
                <a:solidFill>
                  <a:srgbClr val="000000"/>
                </a:solidFill>
              </a:rPr>
              <a:t>Le trouble anxiété sociale peut se manifester par :</a:t>
            </a:r>
            <a:endParaRPr sz="4400"/>
          </a:p>
        </p:txBody>
      </p:sp>
      <p:sp>
        <p:nvSpPr>
          <p:cNvPr id="865" name="Google Shape;865;p10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866" name="Google Shape;866;p102"/>
          <p:cNvSpPr txBox="1"/>
          <p:nvPr/>
        </p:nvSpPr>
        <p:spPr>
          <a:xfrm>
            <a:off x="1341119" y="2643480"/>
            <a:ext cx="8836660" cy="2568011"/>
          </a:xfrm>
          <a:prstGeom prst="rect">
            <a:avLst/>
          </a:prstGeom>
          <a:noFill/>
          <a:ln>
            <a:noFill/>
          </a:ln>
        </p:spPr>
        <p:txBody>
          <a:bodyPr anchorCtr="0" anchor="t" bIns="0" lIns="0" spcFirstLastPara="1" rIns="0" wrap="square" tIns="53975">
            <a:spAutoFit/>
          </a:bodyPr>
          <a:lstStyle/>
          <a:p>
            <a:pPr indent="-513715" lvl="0" marL="526415"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crainte excessive d’avoir une maladie</a:t>
            </a:r>
            <a:endParaRPr sz="2750">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peur de faire ses courses dans les grandes surfaces</a:t>
            </a:r>
            <a:endParaRPr sz="2750">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 délire de persécution</a:t>
            </a:r>
            <a:endParaRPr sz="2750">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 évitement des situations de performance</a:t>
            </a:r>
            <a:endParaRPr sz="2750">
              <a:solidFill>
                <a:srgbClr val="FF0000"/>
              </a:solidFill>
              <a:latin typeface="Garamond"/>
              <a:ea typeface="Garamond"/>
              <a:cs typeface="Garamond"/>
              <a:sym typeface="Garamond"/>
            </a:endParaRPr>
          </a:p>
          <a:p>
            <a:pPr indent="-513715" lvl="0" marL="526415"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angoisse psychotique</a:t>
            </a:r>
            <a:endParaRPr sz="2750">
              <a:latin typeface="Garamond"/>
              <a:ea typeface="Garamond"/>
              <a:cs typeface="Garamond"/>
              <a:sym typeface="Garamond"/>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103"/>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72" name="Google Shape;872;p103"/>
          <p:cNvSpPr txBox="1"/>
          <p:nvPr>
            <p:ph type="title"/>
          </p:nvPr>
        </p:nvSpPr>
        <p:spPr>
          <a:xfrm>
            <a:off x="802005" y="636905"/>
            <a:ext cx="10587989" cy="1671955"/>
          </a:xfrm>
          <a:prstGeom prst="rect">
            <a:avLst/>
          </a:prstGeom>
          <a:noFill/>
          <a:ln>
            <a:noFill/>
          </a:ln>
        </p:spPr>
        <p:txBody>
          <a:bodyPr anchorCtr="0" anchor="t" bIns="0" lIns="0" spcFirstLastPara="1" rIns="0" wrap="square" tIns="601325">
            <a:spAutoFit/>
          </a:bodyPr>
          <a:lstStyle/>
          <a:p>
            <a:pPr indent="0" lvl="0" marL="742950" rtl="0" algn="l">
              <a:lnSpc>
                <a:spcPct val="100000"/>
              </a:lnSpc>
              <a:spcBef>
                <a:spcPts val="0"/>
              </a:spcBef>
              <a:spcAft>
                <a:spcPts val="0"/>
              </a:spcAft>
              <a:buNone/>
            </a:pPr>
            <a:r>
              <a:rPr lang="fr-FR" sz="4400"/>
              <a:t>Le trouble anxiété sociale :</a:t>
            </a:r>
            <a:endParaRPr sz="4400"/>
          </a:p>
        </p:txBody>
      </p:sp>
      <p:sp>
        <p:nvSpPr>
          <p:cNvPr id="873" name="Google Shape;873;p10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874" name="Google Shape;874;p103"/>
          <p:cNvSpPr txBox="1"/>
          <p:nvPr/>
        </p:nvSpPr>
        <p:spPr>
          <a:xfrm>
            <a:off x="1375028" y="2502544"/>
            <a:ext cx="9841230" cy="2914901"/>
          </a:xfrm>
          <a:prstGeom prst="rect">
            <a:avLst/>
          </a:prstGeom>
          <a:noFill/>
          <a:ln>
            <a:noFill/>
          </a:ln>
        </p:spPr>
        <p:txBody>
          <a:bodyPr anchorCtr="0" anchor="t" bIns="0" lIns="0" spcFirstLastPara="1" rIns="0" wrap="square" tIns="57150">
            <a:spAutoFit/>
          </a:bodyPr>
          <a:lstStyle/>
          <a:p>
            <a:pPr indent="-514983" lvl="0" marL="527685" rtl="0" algn="l">
              <a:lnSpc>
                <a:spcPct val="100000"/>
              </a:lnSpc>
              <a:spcBef>
                <a:spcPts val="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Est généralement associé à des conduites d’évitement</a:t>
            </a:r>
            <a:endParaRPr sz="2600">
              <a:solidFill>
                <a:srgbClr val="FF0000"/>
              </a:solidFill>
              <a:latin typeface="Garamond"/>
              <a:ea typeface="Garamond"/>
              <a:cs typeface="Garamond"/>
              <a:sym typeface="Garamond"/>
            </a:endParaRPr>
          </a:p>
          <a:p>
            <a:pPr indent="-514983" lvl="0" marL="527685" rtl="0" algn="l">
              <a:lnSpc>
                <a:spcPct val="100000"/>
              </a:lnSpc>
              <a:spcBef>
                <a:spcPts val="760"/>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Peut se compliquer d’une schizophrénie</a:t>
            </a:r>
            <a:endParaRPr sz="2600">
              <a:latin typeface="Garamond"/>
              <a:ea typeface="Garamond"/>
              <a:cs typeface="Garamond"/>
              <a:sym typeface="Garamond"/>
            </a:endParaRPr>
          </a:p>
          <a:p>
            <a:pPr indent="-514983" lvl="0" marL="527685"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Induit un handicap sévère</a:t>
            </a:r>
            <a:endParaRPr sz="2600">
              <a:solidFill>
                <a:srgbClr val="FF0000"/>
              </a:solidFill>
              <a:latin typeface="Garamond"/>
              <a:ea typeface="Garamond"/>
              <a:cs typeface="Garamond"/>
              <a:sym typeface="Garamond"/>
            </a:endParaRPr>
          </a:p>
          <a:p>
            <a:pPr indent="-514350" lvl="0" marL="526415" marR="1351915" rtl="0" algn="l">
              <a:lnSpc>
                <a:spcPct val="118461"/>
              </a:lnSpc>
              <a:spcBef>
                <a:spcPts val="1290"/>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Sa PEC est optimale lors de l’association antidépresseur- 	anxiolytique</a:t>
            </a:r>
            <a:endParaRPr sz="2600">
              <a:latin typeface="Garamond"/>
              <a:ea typeface="Garamond"/>
              <a:cs typeface="Garamond"/>
              <a:sym typeface="Garamond"/>
            </a:endParaRPr>
          </a:p>
          <a:p>
            <a:pPr indent="-514983" lvl="0" marL="527685" rtl="0" algn="l">
              <a:lnSpc>
                <a:spcPct val="100000"/>
              </a:lnSpc>
              <a:spcBef>
                <a:spcPts val="74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Le trouble phobique où la pharmacothérapie trouve son indication</a:t>
            </a:r>
            <a:endParaRPr sz="2600">
              <a:solidFill>
                <a:srgbClr val="FF0000"/>
              </a:solidFill>
              <a:latin typeface="Garamond"/>
              <a:ea typeface="Garamond"/>
              <a:cs typeface="Garamond"/>
              <a:sym typeface="Garamond"/>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104"/>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80" name="Google Shape;880;p104"/>
          <p:cNvSpPr txBox="1"/>
          <p:nvPr>
            <p:ph type="title"/>
          </p:nvPr>
        </p:nvSpPr>
        <p:spPr>
          <a:xfrm>
            <a:off x="802005" y="636905"/>
            <a:ext cx="10587989" cy="1671955"/>
          </a:xfrm>
          <a:prstGeom prst="rect">
            <a:avLst/>
          </a:prstGeom>
          <a:noFill/>
          <a:ln>
            <a:noFill/>
          </a:ln>
        </p:spPr>
        <p:txBody>
          <a:bodyPr anchorCtr="0" anchor="t" bIns="0" lIns="0" spcFirstLastPara="1" rIns="0" wrap="square" tIns="601325">
            <a:spAutoFit/>
          </a:bodyPr>
          <a:lstStyle/>
          <a:p>
            <a:pPr indent="0" lvl="0" marL="617855" rtl="0" algn="l">
              <a:lnSpc>
                <a:spcPct val="100000"/>
              </a:lnSpc>
              <a:spcBef>
                <a:spcPts val="0"/>
              </a:spcBef>
              <a:spcAft>
                <a:spcPts val="0"/>
              </a:spcAft>
              <a:buNone/>
            </a:pPr>
            <a:r>
              <a:rPr lang="fr-FR" sz="4400">
                <a:solidFill>
                  <a:srgbClr val="000000"/>
                </a:solidFill>
              </a:rPr>
              <a:t>La phobie sociale :</a:t>
            </a:r>
            <a:endParaRPr sz="4400"/>
          </a:p>
        </p:txBody>
      </p:sp>
      <p:sp>
        <p:nvSpPr>
          <p:cNvPr id="881" name="Google Shape;881;p10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882" name="Google Shape;882;p104"/>
          <p:cNvSpPr txBox="1"/>
          <p:nvPr/>
        </p:nvSpPr>
        <p:spPr>
          <a:xfrm>
            <a:off x="1286510" y="2353786"/>
            <a:ext cx="10209530" cy="2568652"/>
          </a:xfrm>
          <a:prstGeom prst="rect">
            <a:avLst/>
          </a:prstGeom>
          <a:noFill/>
          <a:ln>
            <a:noFill/>
          </a:ln>
        </p:spPr>
        <p:txBody>
          <a:bodyPr anchorCtr="0" anchor="t" bIns="0" lIns="0" spcFirstLastPara="1" rIns="0" wrap="square" tIns="546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Est une peur irrationnelle persistante</a:t>
            </a:r>
            <a:endParaRPr sz="2750">
              <a:solidFill>
                <a:srgbClr val="FF0000"/>
              </a:solidFill>
              <a:latin typeface="Garamond"/>
              <a:ea typeface="Garamond"/>
              <a:cs typeface="Garamond"/>
              <a:sym typeface="Garamond"/>
            </a:endParaRPr>
          </a:p>
          <a:p>
            <a:pPr indent="-514350" lvl="0" marL="527050" rtl="0" algn="l">
              <a:lnSpc>
                <a:spcPct val="100000"/>
              </a:lnSpc>
              <a:spcBef>
                <a:spcPts val="8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Est reconnue comme pathologique</a:t>
            </a:r>
            <a:endParaRPr sz="2750">
              <a:solidFill>
                <a:srgbClr val="FF0000"/>
              </a:solidFill>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Entraine un évitement des situations de performance</a:t>
            </a:r>
            <a:endParaRPr sz="2750">
              <a:solidFill>
                <a:srgbClr val="FF0000"/>
              </a:solidFill>
              <a:latin typeface="Garamond"/>
              <a:ea typeface="Garamond"/>
              <a:cs typeface="Garamond"/>
              <a:sym typeface="Garamond"/>
            </a:endParaRPr>
          </a:p>
          <a:p>
            <a:pPr indent="-514350" lvl="0" marL="527050"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Est liée à l’anticipation anxieuse de certaines situations sociales.</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S’accompagne de compulsions</a:t>
            </a:r>
            <a:endParaRPr sz="2750">
              <a:latin typeface="Garamond"/>
              <a:ea typeface="Garamond"/>
              <a:cs typeface="Garamond"/>
              <a:sym typeface="Garamond"/>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105"/>
          <p:cNvSpPr txBox="1"/>
          <p:nvPr>
            <p:ph type="title"/>
          </p:nvPr>
        </p:nvSpPr>
        <p:spPr>
          <a:xfrm>
            <a:off x="1375028" y="761365"/>
            <a:ext cx="9818370" cy="1671955"/>
          </a:xfrm>
          <a:prstGeom prst="rect">
            <a:avLst/>
          </a:prstGeom>
          <a:noFill/>
          <a:ln>
            <a:noFill/>
          </a:ln>
        </p:spPr>
        <p:txBody>
          <a:bodyPr anchorCtr="0" anchor="t" bIns="0" lIns="0" spcFirstLastPara="1" rIns="0" wrap="square" tIns="13325">
            <a:spAutoFit/>
          </a:bodyPr>
          <a:lstStyle/>
          <a:p>
            <a:pPr indent="0" lvl="0" marL="12700" marR="5080" rtl="0" algn="l">
              <a:lnSpc>
                <a:spcPct val="100000"/>
              </a:lnSpc>
              <a:spcBef>
                <a:spcPts val="0"/>
              </a:spcBef>
              <a:spcAft>
                <a:spcPts val="0"/>
              </a:spcAft>
              <a:buNone/>
            </a:pPr>
            <a:r>
              <a:rPr lang="fr-FR">
                <a:solidFill>
                  <a:srgbClr val="000000"/>
                </a:solidFill>
              </a:rPr>
              <a:t>Les troubles suivants peuvent poser un diagnostic différentiel avec la phobie sociale chez un jeune de </a:t>
            </a:r>
            <a:r>
              <a:rPr lang="fr-FR" u="sng">
                <a:solidFill>
                  <a:srgbClr val="000000"/>
                </a:solidFill>
              </a:rPr>
              <a:t>16 ans :	</a:t>
            </a:r>
            <a:endParaRPr/>
          </a:p>
        </p:txBody>
      </p:sp>
      <p:sp>
        <p:nvSpPr>
          <p:cNvPr id="888" name="Google Shape;888;p10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889" name="Google Shape;889;p105"/>
          <p:cNvSpPr txBox="1"/>
          <p:nvPr/>
        </p:nvSpPr>
        <p:spPr>
          <a:xfrm>
            <a:off x="1375028" y="2469102"/>
            <a:ext cx="4099560" cy="2568652"/>
          </a:xfrm>
          <a:prstGeom prst="rect">
            <a:avLst/>
          </a:prstGeom>
          <a:noFill/>
          <a:ln>
            <a:noFill/>
          </a:ln>
        </p:spPr>
        <p:txBody>
          <a:bodyPr anchorCtr="0" anchor="t" bIns="0" lIns="0" spcFirstLastPara="1" rIns="0" wrap="square" tIns="54600">
            <a:spAutoFit/>
          </a:bodyPr>
          <a:lstStyle/>
          <a:p>
            <a:pPr indent="-456565" lvl="0" marL="469265"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L’anxiété de séparation</a:t>
            </a:r>
            <a:endParaRPr sz="2750">
              <a:solidFill>
                <a:srgbClr val="FF0000"/>
              </a:solidFill>
              <a:latin typeface="Garamond"/>
              <a:ea typeface="Garamond"/>
              <a:cs typeface="Garamond"/>
              <a:sym typeface="Garamond"/>
            </a:endParaRPr>
          </a:p>
          <a:p>
            <a:pPr indent="-457200" lvl="0" marL="469900" rtl="0" algn="l">
              <a:lnSpc>
                <a:spcPct val="100000"/>
              </a:lnSpc>
              <a:spcBef>
                <a:spcPts val="8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La personnalité évitante</a:t>
            </a:r>
            <a:endParaRPr sz="2750">
              <a:solidFill>
                <a:srgbClr val="FF0000"/>
              </a:solidFill>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Le trouble bipolaire</a:t>
            </a:r>
            <a:endParaRPr sz="2750">
              <a:latin typeface="Garamond"/>
              <a:ea typeface="Garamond"/>
              <a:cs typeface="Garamond"/>
              <a:sym typeface="Garamond"/>
            </a:endParaRPr>
          </a:p>
          <a:p>
            <a:pPr indent="-455930" lvl="0" marL="46863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La dépression</a:t>
            </a:r>
            <a:endParaRPr sz="2750">
              <a:solidFill>
                <a:srgbClr val="FF0000"/>
              </a:solidFill>
              <a:latin typeface="Garamond"/>
              <a:ea typeface="Garamond"/>
              <a:cs typeface="Garamond"/>
              <a:sym typeface="Garamond"/>
            </a:endParaRPr>
          </a:p>
          <a:p>
            <a:pPr indent="-455930" lvl="0" marL="468630"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Le trac</a:t>
            </a:r>
            <a:endParaRPr sz="2750">
              <a:solidFill>
                <a:srgbClr val="FF0000"/>
              </a:solidFill>
              <a:latin typeface="Garamond"/>
              <a:ea typeface="Garamond"/>
              <a:cs typeface="Garamond"/>
              <a:sym typeface="Garamond"/>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106"/>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95" name="Google Shape;895;p106"/>
          <p:cNvSpPr txBox="1"/>
          <p:nvPr>
            <p:ph type="title"/>
          </p:nvPr>
        </p:nvSpPr>
        <p:spPr>
          <a:xfrm>
            <a:off x="802005" y="636905"/>
            <a:ext cx="10587989" cy="1671955"/>
          </a:xfrm>
          <a:prstGeom prst="rect">
            <a:avLst/>
          </a:prstGeom>
          <a:noFill/>
          <a:ln>
            <a:noFill/>
          </a:ln>
        </p:spPr>
        <p:txBody>
          <a:bodyPr anchorCtr="0" anchor="t" bIns="0" lIns="0" spcFirstLastPara="1" rIns="0" wrap="square" tIns="620125">
            <a:spAutoFit/>
          </a:bodyPr>
          <a:lstStyle/>
          <a:p>
            <a:pPr indent="0" lvl="0" marL="585470" rtl="0" algn="l">
              <a:lnSpc>
                <a:spcPct val="100000"/>
              </a:lnSpc>
              <a:spcBef>
                <a:spcPts val="0"/>
              </a:spcBef>
              <a:spcAft>
                <a:spcPts val="0"/>
              </a:spcAft>
              <a:buNone/>
            </a:pPr>
            <a:r>
              <a:rPr lang="fr-FR" sz="4400">
                <a:solidFill>
                  <a:srgbClr val="000000"/>
                </a:solidFill>
              </a:rPr>
              <a:t>Le trouble anxiété sociale :</a:t>
            </a:r>
            <a:endParaRPr sz="4400"/>
          </a:p>
        </p:txBody>
      </p:sp>
      <p:sp>
        <p:nvSpPr>
          <p:cNvPr id="896" name="Google Shape;896;p10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897" name="Google Shape;897;p106"/>
          <p:cNvSpPr txBox="1"/>
          <p:nvPr/>
        </p:nvSpPr>
        <p:spPr>
          <a:xfrm>
            <a:off x="1375028" y="2473525"/>
            <a:ext cx="10254615" cy="2914259"/>
          </a:xfrm>
          <a:prstGeom prst="rect">
            <a:avLst/>
          </a:prstGeom>
          <a:noFill/>
          <a:ln>
            <a:noFill/>
          </a:ln>
        </p:spPr>
        <p:txBody>
          <a:bodyPr anchorCtr="0" anchor="t" bIns="0" lIns="0" spcFirstLastPara="1" rIns="0" wrap="square" tIns="56500">
            <a:spAutoFit/>
          </a:bodyPr>
          <a:lstStyle/>
          <a:p>
            <a:pPr indent="-456565" lvl="0" marL="469265" rtl="0" algn="l">
              <a:lnSpc>
                <a:spcPct val="100000"/>
              </a:lnSpc>
              <a:spcBef>
                <a:spcPts val="0"/>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Est une forme de phobie spécifique type situationnel</a:t>
            </a:r>
            <a:endParaRPr sz="2600">
              <a:latin typeface="Garamond"/>
              <a:ea typeface="Garamond"/>
              <a:cs typeface="Garamond"/>
              <a:sym typeface="Garamond"/>
            </a:endParaRPr>
          </a:p>
          <a:p>
            <a:pPr indent="-456565" lvl="0" marL="468630" marR="5080" rtl="0" algn="l">
              <a:lnSpc>
                <a:spcPct val="118461"/>
              </a:lnSpc>
              <a:spcBef>
                <a:spcPts val="129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Est	la	peur	de	certaines	situations	sociales	dans	lesquelles	le	sujet 	pourrait	être observé ou jugé par autrui</a:t>
            </a:r>
            <a:endParaRPr sz="2600">
              <a:solidFill>
                <a:srgbClr val="FF0000"/>
              </a:solidFill>
              <a:latin typeface="Garamond"/>
              <a:ea typeface="Garamond"/>
              <a:cs typeface="Garamond"/>
              <a:sym typeface="Garamond"/>
            </a:endParaRPr>
          </a:p>
          <a:p>
            <a:pPr indent="-455930" lvl="0" marL="468630" rtl="0" algn="l">
              <a:lnSpc>
                <a:spcPct val="100000"/>
              </a:lnSpc>
              <a:spcBef>
                <a:spcPts val="740"/>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Est une forme grave de timidité</a:t>
            </a:r>
            <a:endParaRPr sz="2600">
              <a:latin typeface="Garamond"/>
              <a:ea typeface="Garamond"/>
              <a:cs typeface="Garamond"/>
              <a:sym typeface="Garamond"/>
            </a:endParaRPr>
          </a:p>
          <a:p>
            <a:pPr indent="-455930" lvl="0" marL="468630" rtl="0" algn="l">
              <a:lnSpc>
                <a:spcPct val="100000"/>
              </a:lnSpc>
              <a:spcBef>
                <a:spcPts val="75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Est la peur des espaces où il pourrait être difficile de s’échapper</a:t>
            </a:r>
            <a:endParaRPr sz="2600">
              <a:latin typeface="Garamond"/>
              <a:ea typeface="Garamond"/>
              <a:cs typeface="Garamond"/>
              <a:sym typeface="Garamond"/>
            </a:endParaRPr>
          </a:p>
          <a:p>
            <a:pPr indent="-456565" lvl="0" marL="469265"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Peut s’accompagner de conduites d’évitement</a:t>
            </a:r>
            <a:endParaRPr sz="2600">
              <a:solidFill>
                <a:srgbClr val="FF0000"/>
              </a:solidFill>
              <a:latin typeface="Garamond"/>
              <a:ea typeface="Garamond"/>
              <a:cs typeface="Garamond"/>
              <a:sym typeface="Garamond"/>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07"/>
          <p:cNvSpPr txBox="1"/>
          <p:nvPr/>
        </p:nvSpPr>
        <p:spPr>
          <a:xfrm>
            <a:off x="10618469" y="6018847"/>
            <a:ext cx="208279" cy="173990"/>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fr-FR" sz="950">
                <a:latin typeface="Garamond"/>
                <a:ea typeface="Garamond"/>
                <a:cs typeface="Garamond"/>
                <a:sym typeface="Garamond"/>
              </a:rPr>
              <a:t>107</a:t>
            </a:r>
            <a:endParaRPr sz="950">
              <a:latin typeface="Garamond"/>
              <a:ea typeface="Garamond"/>
              <a:cs typeface="Garamond"/>
              <a:sym typeface="Garamond"/>
            </a:endParaRPr>
          </a:p>
        </p:txBody>
      </p:sp>
      <p:sp>
        <p:nvSpPr>
          <p:cNvPr id="903" name="Google Shape;903;p107"/>
          <p:cNvSpPr txBox="1"/>
          <p:nvPr>
            <p:ph type="title"/>
          </p:nvPr>
        </p:nvSpPr>
        <p:spPr>
          <a:xfrm>
            <a:off x="2798445" y="524510"/>
            <a:ext cx="6454140" cy="1128395"/>
          </a:xfrm>
          <a:prstGeom prst="rect">
            <a:avLst/>
          </a:prstGeom>
          <a:noFill/>
          <a:ln>
            <a:noFill/>
          </a:ln>
        </p:spPr>
        <p:txBody>
          <a:bodyPr anchorCtr="0" anchor="t" bIns="0" lIns="0" spcFirstLastPara="1" rIns="0" wrap="square" tIns="13325">
            <a:spAutoFit/>
          </a:bodyPr>
          <a:lstStyle/>
          <a:p>
            <a:pPr indent="0" lvl="0" marL="0" rtl="0" algn="ctr">
              <a:lnSpc>
                <a:spcPct val="100000"/>
              </a:lnSpc>
              <a:spcBef>
                <a:spcPts val="0"/>
              </a:spcBef>
              <a:spcAft>
                <a:spcPts val="0"/>
              </a:spcAft>
              <a:buNone/>
            </a:pPr>
            <a:r>
              <a:rPr lang="fr-FR">
                <a:solidFill>
                  <a:srgbClr val="006FC0"/>
                </a:solidFill>
              </a:rPr>
              <a:t>Critères diagnostiques du DSM 5</a:t>
            </a:r>
            <a:endParaRPr/>
          </a:p>
          <a:p>
            <a:pPr indent="0" lvl="0" marL="0" marR="2540" rtl="0" algn="ctr">
              <a:lnSpc>
                <a:spcPct val="100000"/>
              </a:lnSpc>
              <a:spcBef>
                <a:spcPts val="35"/>
              </a:spcBef>
              <a:spcAft>
                <a:spcPts val="0"/>
              </a:spcAft>
              <a:buNone/>
            </a:pPr>
            <a:r>
              <a:rPr lang="fr-FR">
                <a:solidFill>
                  <a:srgbClr val="006FC0"/>
                </a:solidFill>
              </a:rPr>
              <a:t>d’un trouble anxiété sociale :</a:t>
            </a:r>
            <a:endParaRPr/>
          </a:p>
        </p:txBody>
      </p:sp>
      <p:sp>
        <p:nvSpPr>
          <p:cNvPr id="904" name="Google Shape;904;p107"/>
          <p:cNvSpPr txBox="1"/>
          <p:nvPr/>
        </p:nvSpPr>
        <p:spPr>
          <a:xfrm>
            <a:off x="743584" y="1808797"/>
            <a:ext cx="10802620" cy="4113529"/>
          </a:xfrm>
          <a:prstGeom prst="rect">
            <a:avLst/>
          </a:prstGeom>
          <a:noFill/>
          <a:ln>
            <a:noFill/>
          </a:ln>
        </p:spPr>
        <p:txBody>
          <a:bodyPr anchorCtr="0" anchor="t" bIns="0" lIns="0" spcFirstLastPara="1" rIns="0" wrap="square" tIns="10775">
            <a:spAutoFit/>
          </a:bodyPr>
          <a:lstStyle/>
          <a:p>
            <a:pPr indent="-285750" lvl="0" marL="298450" marR="11430" rtl="0" algn="just">
              <a:lnSpc>
                <a:spcPct val="100800"/>
              </a:lnSpc>
              <a:spcBef>
                <a:spcPts val="0"/>
              </a:spcBef>
              <a:spcAft>
                <a:spcPts val="0"/>
              </a:spcAft>
              <a:buClr>
                <a:srgbClr val="83992A"/>
              </a:buClr>
              <a:buSzPts val="2100"/>
              <a:buFont typeface="Arial"/>
              <a:buChar char="•"/>
            </a:pPr>
            <a:r>
              <a:rPr lang="fr-FR" sz="1800">
                <a:solidFill>
                  <a:srgbClr val="252525"/>
                </a:solidFill>
                <a:latin typeface="Garamond"/>
                <a:ea typeface="Garamond"/>
                <a:cs typeface="Garamond"/>
                <a:sym typeface="Garamond"/>
              </a:rPr>
              <a:t>A. </a:t>
            </a:r>
            <a:r>
              <a:rPr lang="fr-FR" sz="1800">
                <a:solidFill>
                  <a:srgbClr val="C00000"/>
                </a:solidFill>
                <a:latin typeface="Garamond"/>
                <a:ea typeface="Garamond"/>
                <a:cs typeface="Garamond"/>
                <a:sym typeface="Garamond"/>
              </a:rPr>
              <a:t>Une peur persistante et intense d’une ou plusieurs situations sociales ou bien de situations de performance </a:t>
            </a:r>
            <a:r>
              <a:rPr lang="fr-FR" sz="1800">
                <a:solidFill>
                  <a:srgbClr val="252525"/>
                </a:solidFill>
                <a:latin typeface="Garamond"/>
                <a:ea typeface="Garamond"/>
                <a:cs typeface="Garamond"/>
                <a:sym typeface="Garamond"/>
              </a:rPr>
              <a:t>durant lesquelles le sujet est en contact avec des gens non familiers ou bien peut être exposé à l’éventuelle </a:t>
            </a:r>
            <a:r>
              <a:rPr lang="fr-FR" sz="1800">
                <a:solidFill>
                  <a:srgbClr val="C00000"/>
                </a:solidFill>
                <a:latin typeface="Garamond"/>
                <a:ea typeface="Garamond"/>
                <a:cs typeface="Garamond"/>
                <a:sym typeface="Garamond"/>
              </a:rPr>
              <a:t>observation attentive </a:t>
            </a:r>
            <a:r>
              <a:rPr lang="fr-FR" sz="1800">
                <a:solidFill>
                  <a:srgbClr val="252525"/>
                </a:solidFill>
                <a:latin typeface="Garamond"/>
                <a:ea typeface="Garamond"/>
                <a:cs typeface="Garamond"/>
                <a:sym typeface="Garamond"/>
              </a:rPr>
              <a:t>d’autrui.</a:t>
            </a:r>
            <a:endParaRPr sz="1800">
              <a:latin typeface="Garamond"/>
              <a:ea typeface="Garamond"/>
              <a:cs typeface="Garamond"/>
              <a:sym typeface="Garamond"/>
            </a:endParaRPr>
          </a:p>
          <a:p>
            <a:pPr indent="-285750" lvl="0" marL="298450" marR="5080" rtl="0" algn="just">
              <a:lnSpc>
                <a:spcPct val="100800"/>
              </a:lnSpc>
              <a:spcBef>
                <a:spcPts val="975"/>
              </a:spcBef>
              <a:spcAft>
                <a:spcPts val="0"/>
              </a:spcAft>
              <a:buClr>
                <a:srgbClr val="83992A"/>
              </a:buClr>
              <a:buSzPts val="2100"/>
              <a:buFont typeface="Arial"/>
              <a:buChar char="•"/>
            </a:pPr>
            <a:r>
              <a:rPr lang="fr-FR" sz="1800">
                <a:solidFill>
                  <a:srgbClr val="83992A"/>
                </a:solidFill>
                <a:latin typeface="Garamond"/>
                <a:ea typeface="Garamond"/>
                <a:cs typeface="Garamond"/>
                <a:sym typeface="Garamond"/>
              </a:rPr>
              <a:t>	</a:t>
            </a:r>
            <a:r>
              <a:rPr lang="fr-FR" sz="1800">
                <a:solidFill>
                  <a:srgbClr val="252525"/>
                </a:solidFill>
                <a:latin typeface="Garamond"/>
                <a:ea typeface="Garamond"/>
                <a:cs typeface="Garamond"/>
                <a:sym typeface="Garamond"/>
              </a:rPr>
              <a:t>B. L’exposition à la situation sociale redoutée provoque de façon quasi-systématique une anxiété qui peut prendre la forme d’une attaque de panique.</a:t>
            </a:r>
            <a:endParaRPr sz="1800">
              <a:latin typeface="Garamond"/>
              <a:ea typeface="Garamond"/>
              <a:cs typeface="Garamond"/>
              <a:sym typeface="Garamond"/>
            </a:endParaRPr>
          </a:p>
          <a:p>
            <a:pPr indent="-286385" lvl="0" marL="299085" rtl="0" algn="just">
              <a:lnSpc>
                <a:spcPct val="100000"/>
              </a:lnSpc>
              <a:spcBef>
                <a:spcPts val="1070"/>
              </a:spcBef>
              <a:spcAft>
                <a:spcPts val="0"/>
              </a:spcAft>
              <a:buClr>
                <a:srgbClr val="83992A"/>
              </a:buClr>
              <a:buSzPts val="2100"/>
              <a:buFont typeface="Arial"/>
              <a:buChar char="•"/>
            </a:pPr>
            <a:r>
              <a:rPr lang="fr-FR" sz="1800">
                <a:solidFill>
                  <a:srgbClr val="252525"/>
                </a:solidFill>
                <a:latin typeface="Garamond"/>
                <a:ea typeface="Garamond"/>
                <a:cs typeface="Garamond"/>
                <a:sym typeface="Garamond"/>
              </a:rPr>
              <a:t>C. Le sujet reconnaît </a:t>
            </a:r>
            <a:r>
              <a:rPr lang="fr-FR" sz="1800">
                <a:solidFill>
                  <a:srgbClr val="C00000"/>
                </a:solidFill>
                <a:latin typeface="Garamond"/>
                <a:ea typeface="Garamond"/>
                <a:cs typeface="Garamond"/>
                <a:sym typeface="Garamond"/>
              </a:rPr>
              <a:t>le caractère excessif ou irraisonnée </a:t>
            </a:r>
            <a:r>
              <a:rPr lang="fr-FR" sz="1800">
                <a:solidFill>
                  <a:srgbClr val="252525"/>
                </a:solidFill>
                <a:latin typeface="Garamond"/>
                <a:ea typeface="Garamond"/>
                <a:cs typeface="Garamond"/>
                <a:sym typeface="Garamond"/>
              </a:rPr>
              <a:t>de la peur.</a:t>
            </a:r>
            <a:endParaRPr sz="1800">
              <a:latin typeface="Garamond"/>
              <a:ea typeface="Garamond"/>
              <a:cs typeface="Garamond"/>
              <a:sym typeface="Garamond"/>
            </a:endParaRPr>
          </a:p>
          <a:p>
            <a:pPr indent="-286385" lvl="0" marL="299085" rtl="0" algn="just">
              <a:lnSpc>
                <a:spcPct val="100000"/>
              </a:lnSpc>
              <a:spcBef>
                <a:spcPts val="994"/>
              </a:spcBef>
              <a:spcAft>
                <a:spcPts val="0"/>
              </a:spcAft>
              <a:buClr>
                <a:srgbClr val="83992A"/>
              </a:buClr>
              <a:buSzPts val="2100"/>
              <a:buFont typeface="Arial"/>
              <a:buChar char="•"/>
            </a:pPr>
            <a:r>
              <a:rPr lang="fr-FR" sz="1800">
                <a:solidFill>
                  <a:srgbClr val="252525"/>
                </a:solidFill>
                <a:latin typeface="Garamond"/>
                <a:ea typeface="Garamond"/>
                <a:cs typeface="Garamond"/>
                <a:sym typeface="Garamond"/>
              </a:rPr>
              <a:t>D. Les situations sociales ou de performance </a:t>
            </a:r>
            <a:r>
              <a:rPr lang="fr-FR" sz="1800">
                <a:solidFill>
                  <a:srgbClr val="C00000"/>
                </a:solidFill>
                <a:latin typeface="Garamond"/>
                <a:ea typeface="Garamond"/>
                <a:cs typeface="Garamond"/>
                <a:sym typeface="Garamond"/>
              </a:rPr>
              <a:t>sont évitées ou vécues avec une anxiété </a:t>
            </a:r>
            <a:r>
              <a:rPr lang="fr-FR" sz="1800">
                <a:solidFill>
                  <a:srgbClr val="252525"/>
                </a:solidFill>
                <a:latin typeface="Garamond"/>
                <a:ea typeface="Garamond"/>
                <a:cs typeface="Garamond"/>
                <a:sym typeface="Garamond"/>
              </a:rPr>
              <a:t>et une détresse intense.</a:t>
            </a:r>
            <a:endParaRPr sz="1800">
              <a:latin typeface="Garamond"/>
              <a:ea typeface="Garamond"/>
              <a:cs typeface="Garamond"/>
              <a:sym typeface="Garamond"/>
            </a:endParaRPr>
          </a:p>
          <a:p>
            <a:pPr indent="-285750" lvl="0" marL="298450" marR="13334" rtl="0" algn="just">
              <a:lnSpc>
                <a:spcPct val="99100"/>
              </a:lnSpc>
              <a:spcBef>
                <a:spcPts val="1090"/>
              </a:spcBef>
              <a:spcAft>
                <a:spcPts val="0"/>
              </a:spcAft>
              <a:buClr>
                <a:srgbClr val="83992A"/>
              </a:buClr>
              <a:buSzPts val="2100"/>
              <a:buFont typeface="Arial"/>
              <a:buChar char="•"/>
            </a:pPr>
            <a:r>
              <a:rPr lang="fr-FR" sz="1800">
                <a:solidFill>
                  <a:srgbClr val="252525"/>
                </a:solidFill>
                <a:latin typeface="Garamond"/>
                <a:ea typeface="Garamond"/>
                <a:cs typeface="Garamond"/>
                <a:sym typeface="Garamond"/>
              </a:rPr>
              <a:t>E. </a:t>
            </a:r>
            <a:r>
              <a:rPr lang="fr-FR" sz="1800">
                <a:solidFill>
                  <a:srgbClr val="C00000"/>
                </a:solidFill>
                <a:latin typeface="Garamond"/>
                <a:ea typeface="Garamond"/>
                <a:cs typeface="Garamond"/>
                <a:sym typeface="Garamond"/>
              </a:rPr>
              <a:t>L’évitement,  l’anticipation anxieuse  ou  la souffrance dans  la situation redoutée </a:t>
            </a:r>
            <a:r>
              <a:rPr lang="fr-FR" sz="1800">
                <a:solidFill>
                  <a:srgbClr val="252525"/>
                </a:solidFill>
                <a:latin typeface="Garamond"/>
                <a:ea typeface="Garamond"/>
                <a:cs typeface="Garamond"/>
                <a:sym typeface="Garamond"/>
              </a:rPr>
              <a:t>sociale ou  de performance perturbent, de façon importante, les habitudes de l’individu, ses activités professionnelles, ou bien ses activités sociales ou ses relations avec autrui, ou bien le fait d’avoir cette phobie s’accompagne d’un sentiment de souffrance important.</a:t>
            </a:r>
            <a:endParaRPr sz="1800">
              <a:latin typeface="Garamond"/>
              <a:ea typeface="Garamond"/>
              <a:cs typeface="Garamond"/>
              <a:sym typeface="Garamond"/>
            </a:endParaRPr>
          </a:p>
          <a:p>
            <a:pPr indent="-286385" lvl="0" marL="299085" rtl="0" algn="just">
              <a:lnSpc>
                <a:spcPct val="100000"/>
              </a:lnSpc>
              <a:spcBef>
                <a:spcPts val="1070"/>
              </a:spcBef>
              <a:spcAft>
                <a:spcPts val="0"/>
              </a:spcAft>
              <a:buClr>
                <a:srgbClr val="83992A"/>
              </a:buClr>
              <a:buSzPts val="2100"/>
              <a:buFont typeface="Arial"/>
              <a:buChar char="•"/>
            </a:pPr>
            <a:r>
              <a:rPr lang="fr-FR" sz="1800">
                <a:solidFill>
                  <a:srgbClr val="252525"/>
                </a:solidFill>
                <a:latin typeface="Garamond"/>
                <a:ea typeface="Garamond"/>
                <a:cs typeface="Garamond"/>
                <a:sym typeface="Garamond"/>
              </a:rPr>
              <a:t>F. Chez les individus </a:t>
            </a:r>
            <a:r>
              <a:rPr lang="fr-FR" sz="1800">
                <a:solidFill>
                  <a:srgbClr val="C00000"/>
                </a:solidFill>
                <a:latin typeface="Garamond"/>
                <a:ea typeface="Garamond"/>
                <a:cs typeface="Garamond"/>
                <a:sym typeface="Garamond"/>
              </a:rPr>
              <a:t>de moins de 18 ans</a:t>
            </a:r>
            <a:r>
              <a:rPr lang="fr-FR" sz="1800">
                <a:solidFill>
                  <a:srgbClr val="252525"/>
                </a:solidFill>
                <a:latin typeface="Garamond"/>
                <a:ea typeface="Garamond"/>
                <a:cs typeface="Garamond"/>
                <a:sym typeface="Garamond"/>
              </a:rPr>
              <a:t>, la durée est </a:t>
            </a:r>
            <a:r>
              <a:rPr lang="fr-FR" sz="1800">
                <a:solidFill>
                  <a:srgbClr val="C00000"/>
                </a:solidFill>
                <a:latin typeface="Garamond"/>
                <a:ea typeface="Garamond"/>
                <a:cs typeface="Garamond"/>
                <a:sym typeface="Garamond"/>
              </a:rPr>
              <a:t>d’au moins 06 mois.</a:t>
            </a:r>
            <a:endParaRPr sz="1800">
              <a:latin typeface="Garamond"/>
              <a:ea typeface="Garamond"/>
              <a:cs typeface="Garamond"/>
              <a:sym typeface="Garamond"/>
            </a:endParaRPr>
          </a:p>
          <a:p>
            <a:pPr indent="-286385" lvl="0" marL="299085" rtl="0" algn="just">
              <a:lnSpc>
                <a:spcPct val="100000"/>
              </a:lnSpc>
              <a:spcBef>
                <a:spcPts val="990"/>
              </a:spcBef>
              <a:spcAft>
                <a:spcPts val="0"/>
              </a:spcAft>
              <a:buClr>
                <a:srgbClr val="83992A"/>
              </a:buClr>
              <a:buSzPts val="2100"/>
              <a:buFont typeface="Arial"/>
              <a:buChar char="•"/>
            </a:pPr>
            <a:r>
              <a:rPr lang="fr-FR" sz="1800">
                <a:solidFill>
                  <a:srgbClr val="252525"/>
                </a:solidFill>
                <a:latin typeface="Garamond"/>
                <a:ea typeface="Garamond"/>
                <a:cs typeface="Garamond"/>
                <a:sym typeface="Garamond"/>
              </a:rPr>
              <a:t>G. La peur ou le comportement d’évitement n’est pas lié aux effets physiologiques directs d’une substance, ni à une</a:t>
            </a:r>
            <a:endParaRPr sz="1800">
              <a:latin typeface="Garamond"/>
              <a:ea typeface="Garamond"/>
              <a:cs typeface="Garamond"/>
              <a:sym typeface="Garamond"/>
            </a:endParaRPr>
          </a:p>
        </p:txBody>
      </p:sp>
      <p:sp>
        <p:nvSpPr>
          <p:cNvPr id="905" name="Google Shape;905;p107"/>
          <p:cNvSpPr txBox="1"/>
          <p:nvPr/>
        </p:nvSpPr>
        <p:spPr>
          <a:xfrm>
            <a:off x="1029335" y="5890895"/>
            <a:ext cx="7386320" cy="30035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fr-FR" sz="1800">
                <a:solidFill>
                  <a:srgbClr val="252525"/>
                </a:solidFill>
                <a:latin typeface="Garamond"/>
                <a:ea typeface="Garamond"/>
                <a:cs typeface="Garamond"/>
                <a:sym typeface="Garamond"/>
              </a:rPr>
              <a:t>affection médicale générale et n’est pas mieux expliqué par un autre trouble mental.</a:t>
            </a:r>
            <a:endParaRPr sz="1800">
              <a:latin typeface="Garamond"/>
              <a:ea typeface="Garamond"/>
              <a:cs typeface="Garamond"/>
              <a:sym typeface="Garamond"/>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grpSp>
        <p:nvGrpSpPr>
          <p:cNvPr id="910" name="Google Shape;910;p108"/>
          <p:cNvGrpSpPr/>
          <p:nvPr/>
        </p:nvGrpSpPr>
        <p:grpSpPr>
          <a:xfrm>
            <a:off x="1400174" y="666750"/>
            <a:ext cx="9407525" cy="5524500"/>
            <a:chOff x="1400174" y="666750"/>
            <a:chExt cx="9407525" cy="5524500"/>
          </a:xfrm>
        </p:grpSpPr>
        <p:sp>
          <p:nvSpPr>
            <p:cNvPr id="911" name="Google Shape;911;p108"/>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912" name="Google Shape;912;p108"/>
            <p:cNvPicPr preferRelativeResize="0"/>
            <p:nvPr/>
          </p:nvPicPr>
          <p:blipFill rotWithShape="1">
            <a:blip r:embed="rId3">
              <a:alphaModFix/>
            </a:blip>
            <a:srcRect b="0" l="0" r="0" t="0"/>
            <a:stretch/>
          </p:blipFill>
          <p:spPr>
            <a:xfrm>
              <a:off x="3219449" y="666750"/>
              <a:ext cx="5524500" cy="5524500"/>
            </a:xfrm>
            <a:prstGeom prst="rect">
              <a:avLst/>
            </a:prstGeom>
            <a:noFill/>
            <a:ln>
              <a:noFill/>
            </a:ln>
          </p:spPr>
        </p:pic>
      </p:grpSp>
      <p:sp>
        <p:nvSpPr>
          <p:cNvPr id="913" name="Google Shape;913;p10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109"/>
          <p:cNvSpPr txBox="1"/>
          <p:nvPr>
            <p:ph type="title"/>
          </p:nvPr>
        </p:nvSpPr>
        <p:spPr>
          <a:xfrm>
            <a:off x="1375028" y="530224"/>
            <a:ext cx="9460230" cy="1852930"/>
          </a:xfrm>
          <a:prstGeom prst="rect">
            <a:avLst/>
          </a:prstGeom>
          <a:noFill/>
          <a:ln>
            <a:noFill/>
          </a:ln>
        </p:spPr>
        <p:txBody>
          <a:bodyPr anchorCtr="0" anchor="t" bIns="0" lIns="0" spcFirstLastPara="1" rIns="0" wrap="square" tIns="7600">
            <a:spAutoFit/>
          </a:bodyPr>
          <a:lstStyle/>
          <a:p>
            <a:pPr indent="0" lvl="0" marL="12700" marR="5080" rtl="0" algn="just">
              <a:lnSpc>
                <a:spcPct val="101400"/>
              </a:lnSpc>
              <a:spcBef>
                <a:spcPts val="0"/>
              </a:spcBef>
              <a:spcAft>
                <a:spcPts val="0"/>
              </a:spcAft>
              <a:buNone/>
            </a:pPr>
            <a:r>
              <a:rPr lang="fr-FR" sz="3950"/>
              <a:t>Les signes suivants évoquent le diagnostic de  trouble  anxiété  de  séparation  chez  un </a:t>
            </a:r>
            <a:r>
              <a:rPr lang="fr-FR" sz="3950" u="sng"/>
              <a:t>enfant de 5 ans:	</a:t>
            </a:r>
            <a:endParaRPr sz="3950"/>
          </a:p>
        </p:txBody>
      </p:sp>
      <p:sp>
        <p:nvSpPr>
          <p:cNvPr id="919" name="Google Shape;919;p10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920" name="Google Shape;920;p109"/>
          <p:cNvSpPr txBox="1"/>
          <p:nvPr/>
        </p:nvSpPr>
        <p:spPr>
          <a:xfrm>
            <a:off x="1375028" y="2464788"/>
            <a:ext cx="9384030" cy="3211007"/>
          </a:xfrm>
          <a:prstGeom prst="rect">
            <a:avLst/>
          </a:prstGeom>
          <a:noFill/>
          <a:ln>
            <a:noFill/>
          </a:ln>
        </p:spPr>
        <p:txBody>
          <a:bodyPr anchorCtr="0" anchor="t" bIns="0" lIns="0" spcFirstLastPara="1" rIns="0" wrap="square" tIns="20950">
            <a:spAutoFit/>
          </a:bodyPr>
          <a:lstStyle/>
          <a:p>
            <a:pPr indent="-456565" lvl="0" marL="469265"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La survenue de pleurs lors des moindres frustrations</a:t>
            </a:r>
            <a:endParaRPr sz="2750">
              <a:latin typeface="Garamond"/>
              <a:ea typeface="Garamond"/>
              <a:cs typeface="Garamond"/>
              <a:sym typeface="Garamond"/>
            </a:endParaRPr>
          </a:p>
          <a:p>
            <a:pPr indent="-456565" lvl="0" marL="469265" rtl="0" algn="l">
              <a:lnSpc>
                <a:spcPct val="100000"/>
              </a:lnSpc>
              <a:spcBef>
                <a:spcPts val="5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résistance à la séparation de sa mère</a:t>
            </a:r>
            <a:endParaRPr sz="2750">
              <a:solidFill>
                <a:srgbClr val="FF0000"/>
              </a:solidFill>
              <a:latin typeface="Garamond"/>
              <a:ea typeface="Garamond"/>
              <a:cs typeface="Garamond"/>
              <a:sym typeface="Garamond"/>
            </a:endParaRPr>
          </a:p>
          <a:p>
            <a:pPr indent="-456565" lvl="0" marL="468630" marR="1045210" rtl="0" algn="l">
              <a:lnSpc>
                <a:spcPct val="88600"/>
              </a:lnSpc>
              <a:spcBef>
                <a:spcPts val="88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Des douleurs abdominales récurrentes survenant les 	matinées</a:t>
            </a:r>
            <a:endParaRPr sz="2750">
              <a:solidFill>
                <a:srgbClr val="FF0000"/>
              </a:solidFill>
              <a:latin typeface="Garamond"/>
              <a:ea typeface="Garamond"/>
              <a:cs typeface="Garamond"/>
              <a:sym typeface="Garamond"/>
            </a:endParaRPr>
          </a:p>
          <a:p>
            <a:pPr indent="-455930" lvl="0" marL="468630" rtl="0" algn="l">
              <a:lnSpc>
                <a:spcPct val="100000"/>
              </a:lnSpc>
              <a:spcBef>
                <a:spcPts val="53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peur que sa mère ne soit kidnappée</a:t>
            </a:r>
            <a:endParaRPr sz="2750">
              <a:solidFill>
                <a:srgbClr val="FF0000"/>
              </a:solidFill>
              <a:latin typeface="Garamond"/>
              <a:ea typeface="Garamond"/>
              <a:cs typeface="Garamond"/>
              <a:sym typeface="Garamond"/>
            </a:endParaRPr>
          </a:p>
          <a:p>
            <a:pPr indent="-455930" lvl="0" marL="468630" rtl="0" algn="l">
              <a:lnSpc>
                <a:spcPct val="132545"/>
              </a:lnSpc>
              <a:spcBef>
                <a:spcPts val="5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peur de l’atteinte par une maladie concernant la fratrie</a:t>
            </a:r>
            <a:endParaRPr sz="2750">
              <a:latin typeface="Garamond"/>
              <a:ea typeface="Garamond"/>
              <a:cs typeface="Garamond"/>
              <a:sym typeface="Garamond"/>
            </a:endParaRPr>
          </a:p>
          <a:p>
            <a:pPr indent="0" lvl="0" marL="469900" rtl="0" algn="l">
              <a:lnSpc>
                <a:spcPct val="112909"/>
              </a:lnSpc>
              <a:spcBef>
                <a:spcPts val="0"/>
              </a:spcBef>
              <a:spcAft>
                <a:spcPts val="0"/>
              </a:spcAft>
              <a:buNone/>
            </a:pPr>
            <a:r>
              <a:rPr b="1" lang="fr-FR" sz="2750">
                <a:solidFill>
                  <a:srgbClr val="252525"/>
                </a:solidFill>
                <a:latin typeface="Garamond"/>
                <a:ea typeface="Garamond"/>
                <a:cs typeface="Garamond"/>
                <a:sym typeface="Garamond"/>
              </a:rPr>
              <a:t>benjamine</a:t>
            </a:r>
            <a:endParaRPr sz="2750">
              <a:latin typeface="Garamond"/>
              <a:ea typeface="Garamond"/>
              <a:cs typeface="Garamond"/>
              <a:sym typeface="Garamond"/>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110"/>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26" name="Google Shape;926;p110"/>
          <p:cNvSpPr txBox="1"/>
          <p:nvPr>
            <p:ph type="title"/>
          </p:nvPr>
        </p:nvSpPr>
        <p:spPr>
          <a:xfrm>
            <a:off x="1375028" y="975105"/>
            <a:ext cx="9444990"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t>Quels	signes	sont	en	faveur	d’une	anxiété de séparation physiologique?</a:t>
            </a:r>
            <a:endParaRPr sz="3950"/>
          </a:p>
        </p:txBody>
      </p:sp>
      <p:sp>
        <p:nvSpPr>
          <p:cNvPr id="927" name="Google Shape;927;p11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928" name="Google Shape;928;p110"/>
          <p:cNvSpPr txBox="1"/>
          <p:nvPr/>
        </p:nvSpPr>
        <p:spPr>
          <a:xfrm>
            <a:off x="1375028" y="2469102"/>
            <a:ext cx="7964805" cy="2568652"/>
          </a:xfrm>
          <a:prstGeom prst="rect">
            <a:avLst/>
          </a:prstGeom>
          <a:noFill/>
          <a:ln>
            <a:noFill/>
          </a:ln>
        </p:spPr>
        <p:txBody>
          <a:bodyPr anchorCtr="0" anchor="t" bIns="0" lIns="0" spcFirstLastPara="1" rIns="0" wrap="square" tIns="54600">
            <a:spAutoFit/>
          </a:bodyPr>
          <a:lstStyle/>
          <a:p>
            <a:pPr indent="-546735" lvl="0" marL="559435"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Son apparition à 40 mois de vie</a:t>
            </a:r>
            <a:endParaRPr sz="2750">
              <a:latin typeface="Garamond"/>
              <a:ea typeface="Garamond"/>
              <a:cs typeface="Garamond"/>
              <a:sym typeface="Garamond"/>
            </a:endParaRPr>
          </a:p>
          <a:p>
            <a:pPr indent="-457200" lvl="0" marL="469900" rtl="0" algn="l">
              <a:lnSpc>
                <a:spcPct val="100000"/>
              </a:lnSpc>
              <a:spcBef>
                <a:spcPts val="8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Sa disparition à 30 mois de vie</a:t>
            </a:r>
            <a:endParaRPr sz="2750">
              <a:solidFill>
                <a:srgbClr val="FF0000"/>
              </a:solidFill>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Le caractère rapidement résolutif	de sa détresse</a:t>
            </a:r>
            <a:endParaRPr sz="2750">
              <a:solidFill>
                <a:srgbClr val="FF0000"/>
              </a:solidFill>
              <a:latin typeface="Garamond"/>
              <a:ea typeface="Garamond"/>
              <a:cs typeface="Garamond"/>
              <a:sym typeface="Garamond"/>
            </a:endParaRPr>
          </a:p>
          <a:p>
            <a:pPr indent="-455930" lvl="0" marL="46863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Son retentissement sur l’insertion préscolaire</a:t>
            </a:r>
            <a:endParaRPr sz="2750">
              <a:latin typeface="Garamond"/>
              <a:ea typeface="Garamond"/>
              <a:cs typeface="Garamond"/>
              <a:sym typeface="Garamond"/>
            </a:endParaRPr>
          </a:p>
          <a:p>
            <a:pPr indent="-455930" lvl="0" marL="468630" rtl="0" algn="l">
              <a:lnSpc>
                <a:spcPct val="100000"/>
              </a:lnSpc>
              <a:spcBef>
                <a:spcPts val="7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Son retentissement sur le fonctionnement familial</a:t>
            </a:r>
            <a:endParaRPr sz="2750">
              <a:latin typeface="Garamond"/>
              <a:ea typeface="Garamond"/>
              <a:cs typeface="Garamond"/>
              <a:sym typeface="Garamond"/>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111"/>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34" name="Google Shape;934;p111"/>
          <p:cNvSpPr txBox="1"/>
          <p:nvPr>
            <p:ph type="title"/>
          </p:nvPr>
        </p:nvSpPr>
        <p:spPr>
          <a:xfrm>
            <a:off x="802005" y="636905"/>
            <a:ext cx="10587989" cy="1671955"/>
          </a:xfrm>
          <a:prstGeom prst="rect">
            <a:avLst/>
          </a:prstGeom>
          <a:noFill/>
          <a:ln>
            <a:noFill/>
          </a:ln>
        </p:spPr>
        <p:txBody>
          <a:bodyPr anchorCtr="0" anchor="t" bIns="0" lIns="0" spcFirstLastPara="1" rIns="0" wrap="square" tIns="794000">
            <a:spAutoFit/>
          </a:bodyPr>
          <a:lstStyle/>
          <a:p>
            <a:pPr indent="0" lvl="0" marL="560705" rtl="0" algn="l">
              <a:lnSpc>
                <a:spcPct val="100000"/>
              </a:lnSpc>
              <a:spcBef>
                <a:spcPts val="0"/>
              </a:spcBef>
              <a:spcAft>
                <a:spcPts val="0"/>
              </a:spcAft>
              <a:buNone/>
            </a:pPr>
            <a:r>
              <a:rPr lang="fr-FR" sz="4400"/>
              <a:t>L’anxiété de séparation:</a:t>
            </a:r>
            <a:endParaRPr sz="4400"/>
          </a:p>
        </p:txBody>
      </p:sp>
      <p:sp>
        <p:nvSpPr>
          <p:cNvPr id="935" name="Google Shape;935;p11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936" name="Google Shape;936;p111"/>
          <p:cNvSpPr txBox="1"/>
          <p:nvPr/>
        </p:nvSpPr>
        <p:spPr>
          <a:xfrm>
            <a:off x="1350391" y="2459898"/>
            <a:ext cx="9932035" cy="3131114"/>
          </a:xfrm>
          <a:prstGeom prst="rect">
            <a:avLst/>
          </a:prstGeom>
          <a:noFill/>
          <a:ln>
            <a:noFill/>
          </a:ln>
        </p:spPr>
        <p:txBody>
          <a:bodyPr anchorCtr="0" anchor="t" bIns="0" lIns="0" spcFirstLastPara="1" rIns="0" wrap="square" tIns="48250">
            <a:spAutoFit/>
          </a:bodyPr>
          <a:lstStyle/>
          <a:p>
            <a:pPr indent="-514350" lvl="0" marL="527050" rtl="0" algn="l">
              <a:lnSpc>
                <a:spcPct val="100000"/>
              </a:lnSpc>
              <a:spcBef>
                <a:spcPts val="0"/>
              </a:spcBef>
              <a:spcAft>
                <a:spcPts val="0"/>
              </a:spcAft>
              <a:buClr>
                <a:srgbClr val="83992A"/>
              </a:buClr>
              <a:buSzPts val="2550"/>
              <a:buFont typeface="Garamond"/>
              <a:buAutoNum type="alphaUcPeriod"/>
            </a:pPr>
            <a:r>
              <a:rPr b="1" lang="fr-FR" sz="2150">
                <a:solidFill>
                  <a:srgbClr val="252525"/>
                </a:solidFill>
                <a:latin typeface="Garamond"/>
                <a:ea typeface="Garamond"/>
                <a:cs typeface="Garamond"/>
                <a:sym typeface="Garamond"/>
              </a:rPr>
              <a:t>Est une émotion normale chez les enfants entre 3 et 6 ans environ</a:t>
            </a:r>
            <a:endParaRPr sz="2150">
              <a:latin typeface="Garamond"/>
              <a:ea typeface="Garamond"/>
              <a:cs typeface="Garamond"/>
              <a:sym typeface="Garamond"/>
            </a:endParaRPr>
          </a:p>
          <a:p>
            <a:pPr indent="-514350" lvl="0" marL="527050" rtl="0" algn="l">
              <a:lnSpc>
                <a:spcPct val="100000"/>
              </a:lnSpc>
              <a:spcBef>
                <a:spcPts val="695"/>
              </a:spcBef>
              <a:spcAft>
                <a:spcPts val="0"/>
              </a:spcAft>
              <a:buClr>
                <a:srgbClr val="83992A"/>
              </a:buClr>
              <a:buSzPts val="2550"/>
              <a:buFont typeface="Garamond"/>
              <a:buAutoNum type="alphaUcPeriod"/>
            </a:pPr>
            <a:r>
              <a:rPr b="1" lang="fr-FR" sz="2150">
                <a:solidFill>
                  <a:srgbClr val="252525"/>
                </a:solidFill>
                <a:latin typeface="Garamond"/>
                <a:ea typeface="Garamond"/>
                <a:cs typeface="Garamond"/>
                <a:sym typeface="Garamond"/>
              </a:rPr>
              <a:t>Est le trouble anxieux le moins fréquent de l’enfant prépubère</a:t>
            </a:r>
            <a:endParaRPr sz="2150">
              <a:latin typeface="Garamond"/>
              <a:ea typeface="Garamond"/>
              <a:cs typeface="Garamond"/>
              <a:sym typeface="Garamond"/>
            </a:endParaRPr>
          </a:p>
          <a:p>
            <a:pPr indent="-514983" lvl="0" marL="527050" marR="5080" rtl="0" algn="l">
              <a:lnSpc>
                <a:spcPct val="101400"/>
              </a:lnSpc>
              <a:spcBef>
                <a:spcPts val="655"/>
              </a:spcBef>
              <a:spcAft>
                <a:spcPts val="0"/>
              </a:spcAft>
              <a:buClr>
                <a:srgbClr val="83992A"/>
              </a:buClr>
              <a:buSzPts val="2550"/>
              <a:buFont typeface="Garamond"/>
              <a:buAutoNum type="alphaUcPeriod"/>
            </a:pPr>
            <a:r>
              <a:rPr b="1" lang="fr-FR" sz="2150">
                <a:solidFill>
                  <a:srgbClr val="FF0000"/>
                </a:solidFill>
                <a:latin typeface="Garamond"/>
                <a:ea typeface="Garamond"/>
                <a:cs typeface="Garamond"/>
                <a:sym typeface="Garamond"/>
              </a:rPr>
              <a:t>Se	manifeste	par	des	scènes	dramatiques	et	douloureuses	se	produisant généralement au moment de la séparation de la figure d’attachement.</a:t>
            </a:r>
            <a:endParaRPr sz="2150">
              <a:solidFill>
                <a:srgbClr val="FF0000"/>
              </a:solidFill>
              <a:latin typeface="Garamond"/>
              <a:ea typeface="Garamond"/>
              <a:cs typeface="Garamond"/>
              <a:sym typeface="Garamond"/>
            </a:endParaRPr>
          </a:p>
          <a:p>
            <a:pPr indent="-514350" lvl="0" marL="527050" rtl="0" algn="l">
              <a:lnSpc>
                <a:spcPct val="141627"/>
              </a:lnSpc>
              <a:spcBef>
                <a:spcPts val="775"/>
              </a:spcBef>
              <a:spcAft>
                <a:spcPts val="0"/>
              </a:spcAft>
              <a:buClr>
                <a:srgbClr val="83992A"/>
              </a:buClr>
              <a:buSzPts val="2550"/>
              <a:buFont typeface="Garamond"/>
              <a:buAutoNum type="alphaUcPeriod"/>
            </a:pPr>
            <a:r>
              <a:rPr b="1" lang="fr-FR" sz="2150">
                <a:solidFill>
                  <a:srgbClr val="252525"/>
                </a:solidFill>
                <a:latin typeface="Garamond"/>
                <a:ea typeface="Garamond"/>
                <a:cs typeface="Garamond"/>
                <a:sym typeface="Garamond"/>
              </a:rPr>
              <a:t>Un comportement normal lorsque la figure d'attachement est présente signifie</a:t>
            </a:r>
            <a:endParaRPr sz="2150">
              <a:latin typeface="Garamond"/>
              <a:ea typeface="Garamond"/>
              <a:cs typeface="Garamond"/>
              <a:sym typeface="Garamond"/>
            </a:endParaRPr>
          </a:p>
          <a:p>
            <a:pPr indent="0" lvl="0" marL="527050" rtl="0" algn="l">
              <a:lnSpc>
                <a:spcPct val="119302"/>
              </a:lnSpc>
              <a:spcBef>
                <a:spcPts val="0"/>
              </a:spcBef>
              <a:spcAft>
                <a:spcPts val="0"/>
              </a:spcAft>
              <a:buNone/>
            </a:pPr>
            <a:r>
              <a:rPr b="1" lang="fr-FR" sz="2150">
                <a:solidFill>
                  <a:srgbClr val="252525"/>
                </a:solidFill>
                <a:latin typeface="Garamond"/>
                <a:ea typeface="Garamond"/>
                <a:cs typeface="Garamond"/>
                <a:sym typeface="Garamond"/>
              </a:rPr>
              <a:t>l’absence du trouble.</a:t>
            </a:r>
            <a:endParaRPr sz="2150">
              <a:latin typeface="Garamond"/>
              <a:ea typeface="Garamond"/>
              <a:cs typeface="Garamond"/>
              <a:sym typeface="Garamond"/>
            </a:endParaRPr>
          </a:p>
          <a:p>
            <a:pPr indent="-514983" lvl="0" marL="527050" marR="6350" rtl="0" algn="l">
              <a:lnSpc>
                <a:spcPct val="101400"/>
              </a:lnSpc>
              <a:spcBef>
                <a:spcPts val="735"/>
              </a:spcBef>
              <a:spcAft>
                <a:spcPts val="0"/>
              </a:spcAft>
              <a:buClr>
                <a:srgbClr val="83992A"/>
              </a:buClr>
              <a:buSzPts val="2550"/>
              <a:buFont typeface="Garamond"/>
              <a:buAutoNum type="alphaUcPeriod" startAt="5"/>
            </a:pPr>
            <a:r>
              <a:rPr b="1" lang="fr-FR" sz="2150">
                <a:solidFill>
                  <a:srgbClr val="FF0000"/>
                </a:solidFill>
                <a:latin typeface="Garamond"/>
                <a:ea typeface="Garamond"/>
                <a:cs typeface="Garamond"/>
                <a:sym typeface="Garamond"/>
              </a:rPr>
              <a:t>Le	traitement	implique	l’autonomisation	de	l’enfant	et	la	planification	des séparations régulières</a:t>
            </a:r>
            <a:endParaRPr sz="2150">
              <a:solidFill>
                <a:srgbClr val="FF0000"/>
              </a:solidFill>
              <a:latin typeface="Garamond"/>
              <a:ea typeface="Garamond"/>
              <a:cs typeface="Garamond"/>
              <a:sym typeface="Garamond"/>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p112"/>
          <p:cNvSpPr txBox="1"/>
          <p:nvPr/>
        </p:nvSpPr>
        <p:spPr>
          <a:xfrm>
            <a:off x="992822" y="1960943"/>
            <a:ext cx="10290810" cy="3670877"/>
          </a:xfrm>
          <a:prstGeom prst="rect">
            <a:avLst/>
          </a:prstGeom>
          <a:noFill/>
          <a:ln>
            <a:noFill/>
          </a:ln>
        </p:spPr>
        <p:txBody>
          <a:bodyPr anchorCtr="0" anchor="t" bIns="0" lIns="0" spcFirstLastPara="1" rIns="0" wrap="square" tIns="31100">
            <a:spAutoFit/>
          </a:bodyPr>
          <a:lstStyle/>
          <a:p>
            <a:pPr indent="-514983" lvl="0" marL="527050" marR="7620" rtl="0" algn="l">
              <a:lnSpc>
                <a:spcPct val="131666"/>
              </a:lnSpc>
              <a:spcBef>
                <a:spcPts val="0"/>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Une crainte excessive et persistante d'un événement malheureux qui sépare l'enfant de ses principales figures d'attachement ;</a:t>
            </a:r>
            <a:endParaRPr sz="2400">
              <a:solidFill>
                <a:srgbClr val="FF0000"/>
              </a:solidFill>
              <a:latin typeface="Garamond"/>
              <a:ea typeface="Garamond"/>
              <a:cs typeface="Garamond"/>
              <a:sym typeface="Garamond"/>
            </a:endParaRPr>
          </a:p>
          <a:p>
            <a:pPr indent="-514350" lvl="0" marL="527050" rtl="0" algn="l">
              <a:lnSpc>
                <a:spcPct val="100000"/>
              </a:lnSpc>
              <a:spcBef>
                <a:spcPts val="970"/>
              </a:spcBef>
              <a:spcAft>
                <a:spcPts val="0"/>
              </a:spcAft>
              <a:buClr>
                <a:srgbClr val="83992A"/>
              </a:buClr>
              <a:buSzPts val="2750"/>
              <a:buFont typeface="Garamond"/>
              <a:buAutoNum type="alphaUcPeriod"/>
            </a:pPr>
            <a:r>
              <a:rPr b="1" lang="fr-FR" sz="2400">
                <a:solidFill>
                  <a:schemeClr val="dk1"/>
                </a:solidFill>
                <a:latin typeface="Garamond"/>
                <a:ea typeface="Garamond"/>
                <a:cs typeface="Garamond"/>
                <a:sym typeface="Garamond"/>
              </a:rPr>
              <a:t>Une détresse résolutive lors d’une séparation des figures d’attachement</a:t>
            </a:r>
            <a:endParaRPr sz="2400">
              <a:solidFill>
                <a:schemeClr val="dk1"/>
              </a:solidFill>
              <a:latin typeface="Garamond"/>
              <a:ea typeface="Garamond"/>
              <a:cs typeface="Garamond"/>
              <a:sym typeface="Garamond"/>
            </a:endParaRPr>
          </a:p>
          <a:p>
            <a:pPr indent="-514350" lvl="0" marL="527050" rtl="0" algn="l">
              <a:lnSpc>
                <a:spcPct val="100000"/>
              </a:lnSpc>
              <a:spcBef>
                <a:spcPts val="1055"/>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Une réticence excessive à rester seul à la maison ou à aller seul, sans une</a:t>
            </a:r>
            <a:endParaRPr sz="2400">
              <a:solidFill>
                <a:srgbClr val="FF0000"/>
              </a:solidFill>
              <a:latin typeface="Garamond"/>
              <a:ea typeface="Garamond"/>
              <a:cs typeface="Garamond"/>
              <a:sym typeface="Garamond"/>
            </a:endParaRPr>
          </a:p>
          <a:p>
            <a:pPr indent="0" lvl="0" marL="527050" rtl="0" algn="l">
              <a:lnSpc>
                <a:spcPct val="100000"/>
              </a:lnSpc>
              <a:spcBef>
                <a:spcPts val="204"/>
              </a:spcBef>
              <a:spcAft>
                <a:spcPts val="0"/>
              </a:spcAft>
              <a:buNone/>
            </a:pPr>
            <a:r>
              <a:rPr b="1" lang="fr-FR" sz="2400">
                <a:solidFill>
                  <a:srgbClr val="FF0000"/>
                </a:solidFill>
                <a:latin typeface="Garamond"/>
                <a:ea typeface="Garamond"/>
                <a:cs typeface="Garamond"/>
                <a:sym typeface="Garamond"/>
              </a:rPr>
              <a:t>personne de confiance, dans d'autres environnements ou lieux ;</a:t>
            </a:r>
            <a:endParaRPr sz="2400">
              <a:solidFill>
                <a:srgbClr val="FF0000"/>
              </a:solidFill>
              <a:latin typeface="Garamond"/>
              <a:ea typeface="Garamond"/>
              <a:cs typeface="Garamond"/>
              <a:sym typeface="Garamond"/>
            </a:endParaRPr>
          </a:p>
          <a:p>
            <a:pPr indent="-514350" lvl="0" marL="527050" rtl="0" algn="l">
              <a:lnSpc>
                <a:spcPct val="100000"/>
              </a:lnSpc>
              <a:spcBef>
                <a:spcPts val="1125"/>
              </a:spcBef>
              <a:spcAft>
                <a:spcPts val="0"/>
              </a:spcAft>
              <a:buClr>
                <a:srgbClr val="83992A"/>
              </a:buClr>
              <a:buSzPts val="2750"/>
              <a:buFont typeface="Garamond"/>
              <a:buAutoNum type="alphaUcPeriod" startAt="4"/>
            </a:pPr>
            <a:r>
              <a:rPr b="1" lang="fr-FR" sz="2400">
                <a:solidFill>
                  <a:srgbClr val="FF0000"/>
                </a:solidFill>
                <a:latin typeface="Garamond"/>
                <a:ea typeface="Garamond"/>
                <a:cs typeface="Garamond"/>
                <a:sym typeface="Garamond"/>
              </a:rPr>
              <a:t>Des cauchemars récurrents portant sur des thèmes de séparation ;</a:t>
            </a:r>
            <a:endParaRPr sz="2400">
              <a:solidFill>
                <a:srgbClr val="FF0000"/>
              </a:solidFill>
              <a:latin typeface="Garamond"/>
              <a:ea typeface="Garamond"/>
              <a:cs typeface="Garamond"/>
              <a:sym typeface="Garamond"/>
            </a:endParaRPr>
          </a:p>
          <a:p>
            <a:pPr indent="-514350" lvl="0" marL="527050" rtl="0" algn="l">
              <a:lnSpc>
                <a:spcPct val="100000"/>
              </a:lnSpc>
              <a:spcBef>
                <a:spcPts val="1055"/>
              </a:spcBef>
              <a:spcAft>
                <a:spcPts val="0"/>
              </a:spcAft>
              <a:buClr>
                <a:srgbClr val="83992A"/>
              </a:buClr>
              <a:buSzPts val="2750"/>
              <a:buFont typeface="Garamond"/>
              <a:buAutoNum type="alphaUcPeriod" startAt="4"/>
            </a:pPr>
            <a:r>
              <a:rPr b="1" lang="fr-FR" sz="2400">
                <a:solidFill>
                  <a:srgbClr val="FF0000"/>
                </a:solidFill>
                <a:latin typeface="Garamond"/>
                <a:ea typeface="Garamond"/>
                <a:cs typeface="Garamond"/>
                <a:sym typeface="Garamond"/>
              </a:rPr>
              <a:t>Des plaintes somatiques répétées lors des séparations d'avec les personnes</a:t>
            </a:r>
            <a:endParaRPr sz="2400">
              <a:solidFill>
                <a:srgbClr val="FF0000"/>
              </a:solidFill>
              <a:latin typeface="Garamond"/>
              <a:ea typeface="Garamond"/>
              <a:cs typeface="Garamond"/>
              <a:sym typeface="Garamond"/>
            </a:endParaRPr>
          </a:p>
          <a:p>
            <a:pPr indent="0" lvl="0" marL="527050" rtl="0" algn="l">
              <a:lnSpc>
                <a:spcPct val="100000"/>
              </a:lnSpc>
              <a:spcBef>
                <a:spcPts val="204"/>
              </a:spcBef>
              <a:spcAft>
                <a:spcPts val="0"/>
              </a:spcAft>
              <a:buNone/>
            </a:pPr>
            <a:r>
              <a:rPr b="1" lang="fr-FR" sz="2400">
                <a:solidFill>
                  <a:srgbClr val="FF0000"/>
                </a:solidFill>
                <a:latin typeface="Garamond"/>
                <a:ea typeface="Garamond"/>
                <a:cs typeface="Garamond"/>
                <a:sym typeface="Garamond"/>
              </a:rPr>
              <a:t>auxquelles l'enfant est attaché.</a:t>
            </a:r>
            <a:endParaRPr sz="2400">
              <a:solidFill>
                <a:srgbClr val="FF0000"/>
              </a:solidFill>
              <a:latin typeface="Garamond"/>
              <a:ea typeface="Garamond"/>
              <a:cs typeface="Garamond"/>
              <a:sym typeface="Garamond"/>
            </a:endParaRPr>
          </a:p>
        </p:txBody>
      </p:sp>
      <p:sp>
        <p:nvSpPr>
          <p:cNvPr id="942" name="Google Shape;942;p11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943" name="Google Shape;943;p112"/>
          <p:cNvSpPr txBox="1"/>
          <p:nvPr>
            <p:ph type="title"/>
          </p:nvPr>
        </p:nvSpPr>
        <p:spPr>
          <a:xfrm>
            <a:off x="1591310" y="620331"/>
            <a:ext cx="9737090" cy="1243330"/>
          </a:xfrm>
          <a:prstGeom prst="rect">
            <a:avLst/>
          </a:prstGeom>
          <a:noFill/>
          <a:ln>
            <a:noFill/>
          </a:ln>
        </p:spPr>
        <p:txBody>
          <a:bodyPr anchorCtr="0" anchor="t" bIns="0" lIns="0" spcFirstLastPara="1" rIns="0" wrap="square" tIns="8250">
            <a:spAutoFit/>
          </a:bodyPr>
          <a:lstStyle/>
          <a:p>
            <a:pPr indent="0" lvl="0" marL="12700" marR="5080" rtl="0" algn="l">
              <a:lnSpc>
                <a:spcPct val="101400"/>
              </a:lnSpc>
              <a:spcBef>
                <a:spcPts val="0"/>
              </a:spcBef>
              <a:spcAft>
                <a:spcPts val="0"/>
              </a:spcAft>
              <a:buNone/>
            </a:pPr>
            <a:r>
              <a:rPr lang="fr-FR" sz="3950">
                <a:solidFill>
                  <a:srgbClr val="000000"/>
                </a:solidFill>
              </a:rPr>
              <a:t>Le trouble anxiété de séparation se manifeste par :</a:t>
            </a:r>
            <a:endParaRPr sz="3950"/>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p113"/>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49" name="Google Shape;949;p113"/>
          <p:cNvSpPr txBox="1"/>
          <p:nvPr>
            <p:ph type="title"/>
          </p:nvPr>
        </p:nvSpPr>
        <p:spPr>
          <a:xfrm>
            <a:off x="802005" y="636905"/>
            <a:ext cx="10587989" cy="1671955"/>
          </a:xfrm>
          <a:prstGeom prst="rect">
            <a:avLst/>
          </a:prstGeom>
          <a:noFill/>
          <a:ln>
            <a:noFill/>
          </a:ln>
        </p:spPr>
        <p:txBody>
          <a:bodyPr anchorCtr="0" anchor="t" bIns="0" lIns="0" spcFirstLastPara="1" rIns="0" wrap="square" tIns="443850">
            <a:spAutoFit/>
          </a:bodyPr>
          <a:lstStyle/>
          <a:p>
            <a:pPr indent="0" lvl="0" marL="520700" rtl="0" algn="l">
              <a:lnSpc>
                <a:spcPct val="100000"/>
              </a:lnSpc>
              <a:spcBef>
                <a:spcPts val="0"/>
              </a:spcBef>
              <a:spcAft>
                <a:spcPts val="0"/>
              </a:spcAft>
              <a:buNone/>
            </a:pPr>
            <a:r>
              <a:rPr lang="fr-FR" sz="3950"/>
              <a:t>L’anxiété de séparation est considérée comme</a:t>
            </a:r>
            <a:endParaRPr sz="3950"/>
          </a:p>
          <a:p>
            <a:pPr indent="0" lvl="0" marL="520700" rtl="0" algn="l">
              <a:lnSpc>
                <a:spcPct val="100000"/>
              </a:lnSpc>
              <a:spcBef>
                <a:spcPts val="65"/>
              </a:spcBef>
              <a:spcAft>
                <a:spcPts val="0"/>
              </a:spcAft>
              <a:buNone/>
            </a:pPr>
            <a:r>
              <a:rPr lang="fr-FR" sz="3950"/>
              <a:t>pathologique :</a:t>
            </a:r>
            <a:endParaRPr sz="3950"/>
          </a:p>
        </p:txBody>
      </p:sp>
      <p:sp>
        <p:nvSpPr>
          <p:cNvPr id="950" name="Google Shape;950;p11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951" name="Google Shape;951;p113"/>
          <p:cNvSpPr txBox="1"/>
          <p:nvPr/>
        </p:nvSpPr>
        <p:spPr>
          <a:xfrm>
            <a:off x="982662" y="2565082"/>
            <a:ext cx="9821545" cy="2826415"/>
          </a:xfrm>
          <a:prstGeom prst="rect">
            <a:avLst/>
          </a:prstGeom>
          <a:noFill/>
          <a:ln>
            <a:noFill/>
          </a:ln>
        </p:spPr>
        <p:txBody>
          <a:bodyPr anchorCtr="0" anchor="t" bIns="0" lIns="0" spcFirstLastPara="1" rIns="0" wrap="square" tIns="33000">
            <a:spAutoFit/>
          </a:bodyPr>
          <a:lstStyle/>
          <a:p>
            <a:pPr indent="-456565" lvl="0" marL="468630" marR="612140" rtl="0" algn="l">
              <a:lnSpc>
                <a:spcPct val="118461"/>
              </a:lnSpc>
              <a:spcBef>
                <a:spcPts val="0"/>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Lorsque les symptômes durent plus de deux semaines chez un 	enfant âgé de 3 ans.</a:t>
            </a:r>
            <a:endParaRPr sz="2600">
              <a:latin typeface="Garamond"/>
              <a:ea typeface="Garamond"/>
              <a:cs typeface="Garamond"/>
              <a:sym typeface="Garamond"/>
            </a:endParaRPr>
          </a:p>
          <a:p>
            <a:pPr indent="-456565" lvl="0" marL="469265" rtl="0" algn="l">
              <a:lnSpc>
                <a:spcPct val="100000"/>
              </a:lnSpc>
              <a:spcBef>
                <a:spcPts val="74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Lorsqu’elle survient chez un enfant de 9 ans.</a:t>
            </a:r>
            <a:endParaRPr sz="2600">
              <a:solidFill>
                <a:srgbClr val="FF0000"/>
              </a:solidFill>
              <a:latin typeface="Garamond"/>
              <a:ea typeface="Garamond"/>
              <a:cs typeface="Garamond"/>
              <a:sym typeface="Garamond"/>
            </a:endParaRPr>
          </a:p>
          <a:p>
            <a:pPr indent="-539750" lvl="0" marL="552450" rtl="0" algn="l">
              <a:lnSpc>
                <a:spcPct val="100000"/>
              </a:lnSpc>
              <a:spcBef>
                <a:spcPts val="76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Lorsqu’ elle retentit sur l’autonomisation de l’enfant.</a:t>
            </a:r>
            <a:endParaRPr sz="2600">
              <a:solidFill>
                <a:srgbClr val="FF0000"/>
              </a:solidFill>
              <a:latin typeface="Garamond"/>
              <a:ea typeface="Garamond"/>
              <a:cs typeface="Garamond"/>
              <a:sym typeface="Garamond"/>
            </a:endParaRPr>
          </a:p>
          <a:p>
            <a:pPr indent="-455930" lvl="0" marL="468630" rtl="0" algn="l">
              <a:lnSpc>
                <a:spcPct val="100000"/>
              </a:lnSpc>
              <a:spcBef>
                <a:spcPts val="75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Lorsqu’elle se manifeste par des spasmes de sanglot.</a:t>
            </a:r>
            <a:endParaRPr sz="2600">
              <a:latin typeface="Garamond"/>
              <a:ea typeface="Garamond"/>
              <a:cs typeface="Garamond"/>
              <a:sym typeface="Garamond"/>
            </a:endParaRPr>
          </a:p>
          <a:p>
            <a:pPr indent="-456565" lvl="0" marL="469265" rtl="0" algn="l">
              <a:lnSpc>
                <a:spcPct val="100000"/>
              </a:lnSpc>
              <a:spcBef>
                <a:spcPts val="75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Lorsqu’elle se manifeste par des crises de pleurs durant une soirée.</a:t>
            </a:r>
            <a:endParaRPr sz="2600">
              <a:latin typeface="Garamond"/>
              <a:ea typeface="Garamond"/>
              <a:cs typeface="Garamond"/>
              <a:sym typeface="Garamond"/>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p114"/>
          <p:cNvSpPr txBox="1"/>
          <p:nvPr>
            <p:ph type="title"/>
          </p:nvPr>
        </p:nvSpPr>
        <p:spPr>
          <a:xfrm>
            <a:off x="1369949" y="598868"/>
            <a:ext cx="9757410" cy="1853564"/>
          </a:xfrm>
          <a:prstGeom prst="rect">
            <a:avLst/>
          </a:prstGeom>
          <a:noFill/>
          <a:ln>
            <a:noFill/>
          </a:ln>
        </p:spPr>
        <p:txBody>
          <a:bodyPr anchorCtr="0" anchor="t" bIns="0" lIns="0" spcFirstLastPara="1" rIns="0" wrap="square" tIns="8250">
            <a:spAutoFit/>
          </a:bodyPr>
          <a:lstStyle/>
          <a:p>
            <a:pPr indent="0" lvl="0" marL="12700" marR="5080" rtl="0" algn="l">
              <a:lnSpc>
                <a:spcPct val="101400"/>
              </a:lnSpc>
              <a:spcBef>
                <a:spcPts val="0"/>
              </a:spcBef>
              <a:spcAft>
                <a:spcPts val="0"/>
              </a:spcAft>
              <a:buNone/>
            </a:pPr>
            <a:r>
              <a:rPr lang="fr-FR" sz="3950">
                <a:solidFill>
                  <a:srgbClr val="000000"/>
                </a:solidFill>
              </a:rPr>
              <a:t>Les signes suivants évoquent le diagnostic de trouble anxiété de séparation chez un enfant </a:t>
            </a:r>
            <a:r>
              <a:rPr lang="fr-FR" sz="3950" u="sng">
                <a:solidFill>
                  <a:srgbClr val="000000"/>
                </a:solidFill>
              </a:rPr>
              <a:t>de 4 ans :	</a:t>
            </a:r>
            <a:endParaRPr sz="3950"/>
          </a:p>
        </p:txBody>
      </p:sp>
      <p:sp>
        <p:nvSpPr>
          <p:cNvPr id="957" name="Google Shape;957;p11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958" name="Google Shape;958;p114"/>
          <p:cNvSpPr txBox="1"/>
          <p:nvPr/>
        </p:nvSpPr>
        <p:spPr>
          <a:xfrm>
            <a:off x="982662" y="2348139"/>
            <a:ext cx="9185910" cy="2915542"/>
          </a:xfrm>
          <a:prstGeom prst="rect">
            <a:avLst/>
          </a:prstGeom>
          <a:noFill/>
          <a:ln>
            <a:noFill/>
          </a:ln>
        </p:spPr>
        <p:txBody>
          <a:bodyPr anchorCtr="0" anchor="t" bIns="0" lIns="0" spcFirstLastPara="1" rIns="0" wrap="square" tIns="57775">
            <a:spAutoFit/>
          </a:bodyPr>
          <a:lstStyle/>
          <a:p>
            <a:pPr indent="-456565" lvl="0" marL="469265" rtl="0" algn="l">
              <a:lnSpc>
                <a:spcPct val="100000"/>
              </a:lnSpc>
              <a:spcBef>
                <a:spcPts val="0"/>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Des pleurs incessants lors des frustrations</a:t>
            </a:r>
            <a:endParaRPr sz="2600">
              <a:latin typeface="Garamond"/>
              <a:ea typeface="Garamond"/>
              <a:cs typeface="Garamond"/>
              <a:sym typeface="Garamond"/>
            </a:endParaRPr>
          </a:p>
          <a:p>
            <a:pPr indent="-455930" lvl="0" marL="468630"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Une résistance à la séparation de son père</a:t>
            </a:r>
            <a:endParaRPr sz="2600">
              <a:solidFill>
                <a:srgbClr val="FF0000"/>
              </a:solidFill>
              <a:latin typeface="Garamond"/>
              <a:ea typeface="Garamond"/>
              <a:cs typeface="Garamond"/>
              <a:sym typeface="Garamond"/>
            </a:endParaRPr>
          </a:p>
          <a:p>
            <a:pPr indent="-456565" lvl="0" marL="468630" marR="5080" rtl="0" algn="l">
              <a:lnSpc>
                <a:spcPct val="118461"/>
              </a:lnSpc>
              <a:spcBef>
                <a:spcPts val="129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Des douleurs abdominales récurrentes	survenant à l’entrée au 	jardin d’enfant</a:t>
            </a:r>
            <a:endParaRPr sz="2600">
              <a:solidFill>
                <a:srgbClr val="FF0000"/>
              </a:solidFill>
              <a:latin typeface="Garamond"/>
              <a:ea typeface="Garamond"/>
              <a:cs typeface="Garamond"/>
              <a:sym typeface="Garamond"/>
            </a:endParaRPr>
          </a:p>
          <a:p>
            <a:pPr indent="-455930" lvl="0" marL="468630" rtl="0" algn="l">
              <a:lnSpc>
                <a:spcPct val="100000"/>
              </a:lnSpc>
              <a:spcBef>
                <a:spcPts val="73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Une peur que sa mère ne soit victime d’un AVP</a:t>
            </a:r>
            <a:endParaRPr sz="2600">
              <a:solidFill>
                <a:srgbClr val="FF0000"/>
              </a:solidFill>
              <a:latin typeface="Garamond"/>
              <a:ea typeface="Garamond"/>
              <a:cs typeface="Garamond"/>
              <a:sym typeface="Garamond"/>
            </a:endParaRPr>
          </a:p>
          <a:p>
            <a:pPr indent="-456565" lvl="0" marL="469265" rtl="0" algn="l">
              <a:lnSpc>
                <a:spcPct val="100000"/>
              </a:lnSpc>
              <a:spcBef>
                <a:spcPts val="76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Refus d’aller dormir en dehors de sa maison</a:t>
            </a:r>
            <a:endParaRPr sz="2600">
              <a:solidFill>
                <a:srgbClr val="FF0000"/>
              </a:solidFill>
              <a:latin typeface="Garamond"/>
              <a:ea typeface="Garamond"/>
              <a:cs typeface="Garamond"/>
              <a:sym typeface="Garamond"/>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115"/>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64" name="Google Shape;964;p115"/>
          <p:cNvSpPr txBox="1"/>
          <p:nvPr>
            <p:ph type="title"/>
          </p:nvPr>
        </p:nvSpPr>
        <p:spPr>
          <a:xfrm>
            <a:off x="802005" y="636905"/>
            <a:ext cx="10587989" cy="1671955"/>
          </a:xfrm>
          <a:prstGeom prst="rect">
            <a:avLst/>
          </a:prstGeom>
          <a:noFill/>
          <a:ln>
            <a:noFill/>
          </a:ln>
        </p:spPr>
        <p:txBody>
          <a:bodyPr anchorCtr="0" anchor="t" bIns="0" lIns="0" spcFirstLastPara="1" rIns="0" wrap="square" tIns="535925">
            <a:spAutoFit/>
          </a:bodyPr>
          <a:lstStyle/>
          <a:p>
            <a:pPr indent="0" lvl="0" marL="705485" rtl="0" algn="l">
              <a:lnSpc>
                <a:spcPct val="100000"/>
              </a:lnSpc>
              <a:spcBef>
                <a:spcPts val="0"/>
              </a:spcBef>
              <a:spcAft>
                <a:spcPts val="0"/>
              </a:spcAft>
              <a:buNone/>
            </a:pPr>
            <a:r>
              <a:rPr lang="fr-FR" sz="4400">
                <a:solidFill>
                  <a:srgbClr val="000000"/>
                </a:solidFill>
              </a:rPr>
              <a:t>Le trouble anxiété de séparation est :</a:t>
            </a:r>
            <a:endParaRPr sz="4400"/>
          </a:p>
        </p:txBody>
      </p:sp>
      <p:sp>
        <p:nvSpPr>
          <p:cNvPr id="965" name="Google Shape;965;p11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966" name="Google Shape;966;p115"/>
          <p:cNvSpPr txBox="1"/>
          <p:nvPr/>
        </p:nvSpPr>
        <p:spPr>
          <a:xfrm>
            <a:off x="993775" y="2372044"/>
            <a:ext cx="10088880" cy="3084819"/>
          </a:xfrm>
          <a:prstGeom prst="rect">
            <a:avLst/>
          </a:prstGeom>
          <a:noFill/>
          <a:ln>
            <a:noFill/>
          </a:ln>
        </p:spPr>
        <p:txBody>
          <a:bodyPr anchorCtr="0" anchor="t" bIns="0" lIns="0" spcFirstLastPara="1" rIns="0" wrap="square" tIns="24125">
            <a:spAutoFit/>
          </a:bodyPr>
          <a:lstStyle/>
          <a:p>
            <a:pPr indent="-457200" lvl="0" marL="469900" rtl="0" algn="l">
              <a:lnSpc>
                <a:spcPct val="100000"/>
              </a:lnSpc>
              <a:spcBef>
                <a:spcPts val="0"/>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Physiologique quand elle survient avant l'âge de 6 ans</a:t>
            </a:r>
            <a:endParaRPr sz="2600">
              <a:latin typeface="Garamond"/>
              <a:ea typeface="Garamond"/>
              <a:cs typeface="Garamond"/>
              <a:sym typeface="Garamond"/>
            </a:endParaRPr>
          </a:p>
          <a:p>
            <a:pPr indent="-457200" lvl="0" marL="469900" rtl="0" algn="l">
              <a:lnSpc>
                <a:spcPct val="100000"/>
              </a:lnSpc>
              <a:spcBef>
                <a:spcPts val="45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Un trouble qui s’accroit spontanément avec la croissance de l’enfant</a:t>
            </a:r>
            <a:endParaRPr sz="2600">
              <a:latin typeface="Garamond"/>
              <a:ea typeface="Garamond"/>
              <a:cs typeface="Garamond"/>
              <a:sym typeface="Garamond"/>
            </a:endParaRPr>
          </a:p>
          <a:p>
            <a:pPr indent="-456565" lvl="0" marL="469265" rtl="0" algn="l">
              <a:lnSpc>
                <a:spcPct val="100000"/>
              </a:lnSpc>
              <a:spcBef>
                <a:spcPts val="45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Un trouble qui touche 7% de la population générale</a:t>
            </a:r>
            <a:endParaRPr sz="2600">
              <a:latin typeface="Garamond"/>
              <a:ea typeface="Garamond"/>
              <a:cs typeface="Garamond"/>
              <a:sym typeface="Garamond"/>
            </a:endParaRPr>
          </a:p>
          <a:p>
            <a:pPr indent="-456565" lvl="0" marL="469265" rtl="0" algn="l">
              <a:lnSpc>
                <a:spcPct val="131730"/>
              </a:lnSpc>
              <a:spcBef>
                <a:spcPts val="38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Défini par une anxiété excessive et inappropriée par rapport au stade</a:t>
            </a:r>
            <a:endParaRPr sz="2600">
              <a:solidFill>
                <a:srgbClr val="FF0000"/>
              </a:solidFill>
              <a:latin typeface="Garamond"/>
              <a:ea typeface="Garamond"/>
              <a:cs typeface="Garamond"/>
              <a:sym typeface="Garamond"/>
            </a:endParaRPr>
          </a:p>
          <a:p>
            <a:pPr indent="0" lvl="0" marL="470534" rtl="0" algn="l">
              <a:lnSpc>
                <a:spcPct val="113269"/>
              </a:lnSpc>
              <a:spcBef>
                <a:spcPts val="0"/>
              </a:spcBef>
              <a:spcAft>
                <a:spcPts val="0"/>
              </a:spcAft>
              <a:buNone/>
            </a:pPr>
            <a:r>
              <a:rPr b="1" lang="fr-FR" sz="2600">
                <a:solidFill>
                  <a:srgbClr val="FF0000"/>
                </a:solidFill>
                <a:latin typeface="Garamond"/>
                <a:ea typeface="Garamond"/>
                <a:cs typeface="Garamond"/>
                <a:sym typeface="Garamond"/>
              </a:rPr>
              <a:t>de développement de l’enfant</a:t>
            </a:r>
            <a:endParaRPr sz="2600">
              <a:solidFill>
                <a:srgbClr val="FF0000"/>
              </a:solidFill>
              <a:latin typeface="Garamond"/>
              <a:ea typeface="Garamond"/>
              <a:cs typeface="Garamond"/>
              <a:sym typeface="Garamond"/>
            </a:endParaRPr>
          </a:p>
          <a:p>
            <a:pPr indent="-457200" lvl="0" marL="469900" rtl="0" algn="l">
              <a:lnSpc>
                <a:spcPct val="130384"/>
              </a:lnSpc>
              <a:spcBef>
                <a:spcPts val="540"/>
              </a:spcBef>
              <a:spcAft>
                <a:spcPts val="0"/>
              </a:spcAft>
              <a:buClr>
                <a:srgbClr val="83992A"/>
              </a:buClr>
              <a:buSzPts val="3000"/>
              <a:buFont typeface="Garamond"/>
              <a:buAutoNum type="alphaUcPeriod" startAt="5"/>
            </a:pPr>
            <a:r>
              <a:rPr b="1" lang="fr-FR" sz="2600">
                <a:solidFill>
                  <a:srgbClr val="FF0000"/>
                </a:solidFill>
                <a:latin typeface="Garamond"/>
                <a:ea typeface="Garamond"/>
                <a:cs typeface="Garamond"/>
                <a:sym typeface="Garamond"/>
              </a:rPr>
              <a:t>Caractérisée par une durée d’évolution des symptômes d’au moins 4</a:t>
            </a:r>
            <a:endParaRPr sz="2600">
              <a:solidFill>
                <a:srgbClr val="FF0000"/>
              </a:solidFill>
              <a:latin typeface="Garamond"/>
              <a:ea typeface="Garamond"/>
              <a:cs typeface="Garamond"/>
              <a:sym typeface="Garamond"/>
            </a:endParaRPr>
          </a:p>
          <a:p>
            <a:pPr indent="0" lvl="0" marL="470534" rtl="0" algn="l">
              <a:lnSpc>
                <a:spcPct val="111923"/>
              </a:lnSpc>
              <a:spcBef>
                <a:spcPts val="0"/>
              </a:spcBef>
              <a:spcAft>
                <a:spcPts val="0"/>
              </a:spcAft>
              <a:buNone/>
            </a:pPr>
            <a:r>
              <a:rPr b="1" lang="fr-FR" sz="2600">
                <a:solidFill>
                  <a:srgbClr val="FF0000"/>
                </a:solidFill>
                <a:latin typeface="Garamond"/>
                <a:ea typeface="Garamond"/>
                <a:cs typeface="Garamond"/>
                <a:sym typeface="Garamond"/>
              </a:rPr>
              <a:t>semaines</a:t>
            </a:r>
            <a:endParaRPr sz="2600">
              <a:solidFill>
                <a:srgbClr val="FF0000"/>
              </a:solidFill>
              <a:latin typeface="Garamond"/>
              <a:ea typeface="Garamond"/>
              <a:cs typeface="Garamond"/>
              <a:sym typeface="Garamond"/>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116"/>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72" name="Google Shape;972;p116"/>
          <p:cNvSpPr txBox="1"/>
          <p:nvPr>
            <p:ph type="title"/>
          </p:nvPr>
        </p:nvSpPr>
        <p:spPr>
          <a:xfrm>
            <a:off x="802005" y="636905"/>
            <a:ext cx="10587989" cy="1671955"/>
          </a:xfrm>
          <a:prstGeom prst="rect">
            <a:avLst/>
          </a:prstGeom>
          <a:noFill/>
          <a:ln>
            <a:noFill/>
          </a:ln>
        </p:spPr>
        <p:txBody>
          <a:bodyPr anchorCtr="0" anchor="t" bIns="0" lIns="0" spcFirstLastPara="1" rIns="0" wrap="square" tIns="660000">
            <a:spAutoFit/>
          </a:bodyPr>
          <a:lstStyle/>
          <a:p>
            <a:pPr indent="0" lvl="0" marL="585470" rtl="0" algn="l">
              <a:lnSpc>
                <a:spcPct val="100000"/>
              </a:lnSpc>
              <a:spcBef>
                <a:spcPts val="0"/>
              </a:spcBef>
              <a:spcAft>
                <a:spcPts val="0"/>
              </a:spcAft>
              <a:buNone/>
            </a:pPr>
            <a:r>
              <a:rPr lang="fr-FR" sz="3950"/>
              <a:t>L’anxiété de séparation est pathologique:</a:t>
            </a:r>
            <a:endParaRPr sz="3950"/>
          </a:p>
        </p:txBody>
      </p:sp>
      <p:sp>
        <p:nvSpPr>
          <p:cNvPr id="973" name="Google Shape;973;p11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974" name="Google Shape;974;p116"/>
          <p:cNvSpPr txBox="1"/>
          <p:nvPr/>
        </p:nvSpPr>
        <p:spPr>
          <a:xfrm>
            <a:off x="1375028" y="2565082"/>
            <a:ext cx="9457055" cy="3558540"/>
          </a:xfrm>
          <a:prstGeom prst="rect">
            <a:avLst/>
          </a:prstGeom>
          <a:noFill/>
          <a:ln>
            <a:noFill/>
          </a:ln>
        </p:spPr>
        <p:txBody>
          <a:bodyPr anchorCtr="0" anchor="t" bIns="0" lIns="0" spcFirstLastPara="1" rIns="0" wrap="square" tIns="19675">
            <a:spAutoFit/>
          </a:bodyPr>
          <a:lstStyle/>
          <a:p>
            <a:pPr indent="-457833" lvl="0" marL="469900" marR="10160" rtl="0" algn="l">
              <a:lnSpc>
                <a:spcPct val="122083"/>
              </a:lnSpc>
              <a:spcBef>
                <a:spcPts val="0"/>
              </a:spcBef>
              <a:spcAft>
                <a:spcPts val="0"/>
              </a:spcAft>
              <a:buClr>
                <a:srgbClr val="83992A"/>
              </a:buClr>
              <a:buSzPts val="2750"/>
              <a:buFont typeface="Garamond"/>
              <a:buAutoNum type="alphaUcPeriod"/>
            </a:pPr>
            <a:r>
              <a:rPr b="1" lang="fr-FR" sz="2400">
                <a:latin typeface="Garamond"/>
                <a:ea typeface="Garamond"/>
                <a:cs typeface="Garamond"/>
                <a:sym typeface="Garamond"/>
              </a:rPr>
              <a:t>Lorsque les symptômes durent plus de deux semaines chez un enfant âgé de 4 ans</a:t>
            </a:r>
            <a:endParaRPr sz="2400">
              <a:latin typeface="Garamond"/>
              <a:ea typeface="Garamond"/>
              <a:cs typeface="Garamond"/>
              <a:sym typeface="Garamond"/>
            </a:endParaRPr>
          </a:p>
          <a:p>
            <a:pPr indent="-457200" lvl="0" marL="469900" rtl="0" algn="l">
              <a:lnSpc>
                <a:spcPct val="100000"/>
              </a:lnSpc>
              <a:spcBef>
                <a:spcPts val="720"/>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Lors de sa survenue chez un enfant âgé de 8 ans</a:t>
            </a:r>
            <a:endParaRPr sz="2400">
              <a:solidFill>
                <a:srgbClr val="FF0000"/>
              </a:solidFill>
              <a:latin typeface="Garamond"/>
              <a:ea typeface="Garamond"/>
              <a:cs typeface="Garamond"/>
              <a:sym typeface="Garamond"/>
            </a:endParaRPr>
          </a:p>
          <a:p>
            <a:pPr indent="-455930" lvl="0" marL="468630" rtl="0" algn="l">
              <a:lnSpc>
                <a:spcPct val="100000"/>
              </a:lnSpc>
              <a:spcBef>
                <a:spcPts val="755"/>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Lorsqu’elle empêche l’autonomisation de l’enfant</a:t>
            </a:r>
            <a:endParaRPr sz="2400">
              <a:solidFill>
                <a:srgbClr val="FF0000"/>
              </a:solidFill>
              <a:latin typeface="Garamond"/>
              <a:ea typeface="Garamond"/>
              <a:cs typeface="Garamond"/>
              <a:sym typeface="Garamond"/>
            </a:endParaRPr>
          </a:p>
          <a:p>
            <a:pPr indent="-456565" lvl="0" marL="469265" rtl="0" algn="l">
              <a:lnSpc>
                <a:spcPct val="135583"/>
              </a:lnSpc>
              <a:spcBef>
                <a:spcPts val="755"/>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Lorsque ses manifestations persistent chez un enfant âgé de plus de</a:t>
            </a:r>
            <a:endParaRPr sz="2400">
              <a:solidFill>
                <a:srgbClr val="FF0000"/>
              </a:solidFill>
              <a:latin typeface="Garamond"/>
              <a:ea typeface="Garamond"/>
              <a:cs typeface="Garamond"/>
              <a:sym typeface="Garamond"/>
            </a:endParaRPr>
          </a:p>
          <a:p>
            <a:pPr indent="0" lvl="0" marL="469900" rtl="0" algn="l">
              <a:lnSpc>
                <a:spcPct val="118125"/>
              </a:lnSpc>
              <a:spcBef>
                <a:spcPts val="0"/>
              </a:spcBef>
              <a:spcAft>
                <a:spcPts val="0"/>
              </a:spcAft>
              <a:buNone/>
            </a:pPr>
            <a:r>
              <a:rPr b="1" lang="fr-FR" sz="2400">
                <a:solidFill>
                  <a:srgbClr val="FF0000"/>
                </a:solidFill>
                <a:latin typeface="Garamond"/>
                <a:ea typeface="Garamond"/>
                <a:cs typeface="Garamond"/>
                <a:sym typeface="Garamond"/>
              </a:rPr>
              <a:t>3 ans</a:t>
            </a:r>
            <a:endParaRPr sz="2400">
              <a:solidFill>
                <a:srgbClr val="FF0000"/>
              </a:solidFill>
              <a:latin typeface="Garamond"/>
              <a:ea typeface="Garamond"/>
              <a:cs typeface="Garamond"/>
              <a:sym typeface="Garamond"/>
            </a:endParaRPr>
          </a:p>
          <a:p>
            <a:pPr indent="-456565" lvl="0" marL="468630" marR="17780" rtl="0" algn="l">
              <a:lnSpc>
                <a:spcPct val="118750"/>
              </a:lnSpc>
              <a:spcBef>
                <a:spcPts val="1370"/>
              </a:spcBef>
              <a:spcAft>
                <a:spcPts val="0"/>
              </a:spcAft>
              <a:buClr>
                <a:srgbClr val="83992A"/>
              </a:buClr>
              <a:buSzPts val="2750"/>
              <a:buFont typeface="Garamond"/>
              <a:buAutoNum type="alphaUcPeriod" startAt="5"/>
            </a:pPr>
            <a:r>
              <a:rPr b="1" lang="fr-FR" sz="2400">
                <a:latin typeface="Garamond"/>
                <a:ea typeface="Garamond"/>
                <a:cs typeface="Garamond"/>
                <a:sym typeface="Garamond"/>
              </a:rPr>
              <a:t>Lorsqu’elle	se	manifeste	par	des	crises	de	pleurs	incoercibles	à	la 	rencontre d’une personne étrangère</a:t>
            </a:r>
            <a:endParaRPr sz="2400">
              <a:latin typeface="Garamond"/>
              <a:ea typeface="Garamond"/>
              <a:cs typeface="Garamond"/>
              <a:sym typeface="Garamond"/>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p117"/>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80" name="Google Shape;980;p117"/>
          <p:cNvSpPr txBox="1"/>
          <p:nvPr>
            <p:ph type="title"/>
          </p:nvPr>
        </p:nvSpPr>
        <p:spPr>
          <a:xfrm>
            <a:off x="1375028" y="975105"/>
            <a:ext cx="8419465"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solidFill>
                  <a:srgbClr val="000000"/>
                </a:solidFill>
              </a:rPr>
              <a:t>Les diagnostics différentiels du trouble anxiété de séparation sont :</a:t>
            </a:r>
            <a:endParaRPr sz="3950"/>
          </a:p>
        </p:txBody>
      </p:sp>
      <p:sp>
        <p:nvSpPr>
          <p:cNvPr id="981" name="Google Shape;981;p11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982" name="Google Shape;982;p117"/>
          <p:cNvSpPr txBox="1"/>
          <p:nvPr/>
        </p:nvSpPr>
        <p:spPr>
          <a:xfrm>
            <a:off x="1375028" y="2469102"/>
            <a:ext cx="5901690" cy="2568652"/>
          </a:xfrm>
          <a:prstGeom prst="rect">
            <a:avLst/>
          </a:prstGeom>
          <a:noFill/>
          <a:ln>
            <a:noFill/>
          </a:ln>
        </p:spPr>
        <p:txBody>
          <a:bodyPr anchorCtr="0" anchor="t" bIns="0" lIns="0" spcFirstLastPara="1" rIns="0" wrap="square" tIns="54600">
            <a:spAutoFit/>
          </a:bodyPr>
          <a:lstStyle/>
          <a:p>
            <a:pPr indent="-456565" lvl="0" marL="469265"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Le trouble anxiété généralisée</a:t>
            </a:r>
            <a:endParaRPr sz="2750">
              <a:solidFill>
                <a:srgbClr val="FF0000"/>
              </a:solidFill>
              <a:latin typeface="Garamond"/>
              <a:ea typeface="Garamond"/>
              <a:cs typeface="Garamond"/>
              <a:sym typeface="Garamond"/>
            </a:endParaRPr>
          </a:p>
          <a:p>
            <a:pPr indent="-457200" lvl="0" marL="469900" rtl="0" algn="l">
              <a:lnSpc>
                <a:spcPct val="100000"/>
              </a:lnSpc>
              <a:spcBef>
                <a:spcPts val="8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La phobie scolaire</a:t>
            </a:r>
            <a:endParaRPr sz="2750">
              <a:solidFill>
                <a:srgbClr val="FF0000"/>
              </a:solidFill>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Le trouble panique</a:t>
            </a:r>
            <a:endParaRPr sz="2750">
              <a:solidFill>
                <a:srgbClr val="FF0000"/>
              </a:solidFill>
              <a:latin typeface="Garamond"/>
              <a:ea typeface="Garamond"/>
              <a:cs typeface="Garamond"/>
              <a:sym typeface="Garamond"/>
            </a:endParaRPr>
          </a:p>
          <a:p>
            <a:pPr indent="-455930" lvl="0" marL="46863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Les troubles du spectre de l’autisme</a:t>
            </a:r>
            <a:endParaRPr sz="2750">
              <a:solidFill>
                <a:srgbClr val="FF0000"/>
              </a:solidFill>
              <a:latin typeface="Garamond"/>
              <a:ea typeface="Garamond"/>
              <a:cs typeface="Garamond"/>
              <a:sym typeface="Garamond"/>
            </a:endParaRPr>
          </a:p>
          <a:p>
            <a:pPr indent="-455930" lvl="0" marL="468630" rtl="0" algn="l">
              <a:lnSpc>
                <a:spcPct val="100000"/>
              </a:lnSpc>
              <a:spcBef>
                <a:spcPts val="7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Le trouble obsessionnel compulsif</a:t>
            </a:r>
            <a:endParaRPr sz="2750">
              <a:latin typeface="Garamond"/>
              <a:ea typeface="Garamond"/>
              <a:cs typeface="Garamond"/>
              <a:sym typeface="Garamond"/>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18"/>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88" name="Google Shape;988;p118"/>
          <p:cNvSpPr txBox="1"/>
          <p:nvPr>
            <p:ph type="title"/>
          </p:nvPr>
        </p:nvSpPr>
        <p:spPr>
          <a:xfrm>
            <a:off x="802005" y="636905"/>
            <a:ext cx="10587989" cy="1671955"/>
          </a:xfrm>
          <a:prstGeom prst="rect">
            <a:avLst/>
          </a:prstGeom>
          <a:noFill/>
          <a:ln>
            <a:noFill/>
          </a:ln>
        </p:spPr>
        <p:txBody>
          <a:bodyPr anchorCtr="0" anchor="t" bIns="0" lIns="0" spcFirstLastPara="1" rIns="0" wrap="square" tIns="341625">
            <a:spAutoFit/>
          </a:bodyPr>
          <a:lstStyle/>
          <a:p>
            <a:pPr indent="0" lvl="0" marL="191770" marR="5080" rtl="0" algn="l">
              <a:lnSpc>
                <a:spcPct val="118421"/>
              </a:lnSpc>
              <a:spcBef>
                <a:spcPts val="0"/>
              </a:spcBef>
              <a:spcAft>
                <a:spcPts val="0"/>
              </a:spcAft>
              <a:buNone/>
            </a:pPr>
            <a:r>
              <a:rPr lang="fr-FR" sz="3800">
                <a:solidFill>
                  <a:srgbClr val="000000"/>
                </a:solidFill>
              </a:rPr>
              <a:t>L'anxiété de séparation se distingue de l'angoisse de séparation normale (ou développementale) par :</a:t>
            </a:r>
            <a:endParaRPr sz="3800"/>
          </a:p>
        </p:txBody>
      </p:sp>
      <p:sp>
        <p:nvSpPr>
          <p:cNvPr id="989" name="Google Shape;989;p11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990" name="Google Shape;990;p118"/>
          <p:cNvSpPr txBox="1"/>
          <p:nvPr>
            <p:ph idx="1" type="body"/>
          </p:nvPr>
        </p:nvSpPr>
        <p:spPr>
          <a:xfrm>
            <a:off x="1375028" y="2402586"/>
            <a:ext cx="9363075" cy="2796278"/>
          </a:xfrm>
          <a:prstGeom prst="rect">
            <a:avLst/>
          </a:prstGeom>
          <a:noFill/>
          <a:ln>
            <a:noFill/>
          </a:ln>
        </p:spPr>
        <p:txBody>
          <a:bodyPr anchorCtr="0" anchor="t" bIns="0" lIns="0" spcFirstLastPara="1" rIns="0" wrap="square" tIns="165725">
            <a:spAutoFit/>
          </a:bodyPr>
          <a:lstStyle/>
          <a:p>
            <a:pPr indent="-349250" lvl="0" marL="360045" rtl="0" algn="l">
              <a:lnSpc>
                <a:spcPct val="100000"/>
              </a:lnSpc>
              <a:spcBef>
                <a:spcPts val="0"/>
              </a:spcBef>
              <a:spcAft>
                <a:spcPts val="0"/>
              </a:spcAft>
              <a:buClr>
                <a:srgbClr val="83992A"/>
              </a:buClr>
              <a:buSzPts val="2900"/>
              <a:buFont typeface="Garamond"/>
              <a:buAutoNum type="alphaUcPeriod"/>
            </a:pPr>
            <a:r>
              <a:rPr lang="fr-FR" sz="2600">
                <a:solidFill>
                  <a:srgbClr val="FF0000"/>
                </a:solidFill>
              </a:rPr>
              <a:t>Son âge d’apparition</a:t>
            </a:r>
            <a:endParaRPr sz="2600">
              <a:solidFill>
                <a:srgbClr val="FF0000"/>
              </a:solidFill>
            </a:endParaRPr>
          </a:p>
          <a:p>
            <a:pPr indent="-357505" lvl="0" marL="367665" rtl="0" algn="l">
              <a:lnSpc>
                <a:spcPct val="100000"/>
              </a:lnSpc>
              <a:spcBef>
                <a:spcPts val="1210"/>
              </a:spcBef>
              <a:spcAft>
                <a:spcPts val="0"/>
              </a:spcAft>
              <a:buClr>
                <a:srgbClr val="83992A"/>
              </a:buClr>
              <a:buSzPts val="2900"/>
              <a:buFont typeface="Garamond"/>
              <a:buAutoNum type="alphaUcPeriod"/>
            </a:pPr>
            <a:r>
              <a:rPr lang="fr-FR" sz="2600">
                <a:solidFill>
                  <a:srgbClr val="FF0000"/>
                </a:solidFill>
              </a:rPr>
              <a:t>Son retentissement scolaire important</a:t>
            </a:r>
            <a:endParaRPr sz="2600">
              <a:solidFill>
                <a:srgbClr val="FF0000"/>
              </a:solidFill>
            </a:endParaRPr>
          </a:p>
          <a:p>
            <a:pPr indent="-357505" lvl="0" marL="367665" rtl="0" algn="l">
              <a:lnSpc>
                <a:spcPct val="100000"/>
              </a:lnSpc>
              <a:spcBef>
                <a:spcPts val="1200"/>
              </a:spcBef>
              <a:spcAft>
                <a:spcPts val="0"/>
              </a:spcAft>
              <a:buClr>
                <a:srgbClr val="83992A"/>
              </a:buClr>
              <a:buSzPts val="2900"/>
              <a:buFont typeface="Garamond"/>
              <a:buAutoNum type="alphaUcPeriod"/>
            </a:pPr>
            <a:r>
              <a:rPr lang="fr-FR" sz="2600">
                <a:solidFill>
                  <a:srgbClr val="FF0000"/>
                </a:solidFill>
              </a:rPr>
              <a:t>La possibilité de son apparition à l’adolescence</a:t>
            </a:r>
            <a:endParaRPr sz="2600">
              <a:solidFill>
                <a:srgbClr val="FF0000"/>
              </a:solidFill>
            </a:endParaRPr>
          </a:p>
          <a:p>
            <a:pPr indent="-394970" lvl="0" marL="407034" rtl="0" algn="l">
              <a:lnSpc>
                <a:spcPct val="100000"/>
              </a:lnSpc>
              <a:spcBef>
                <a:spcPts val="1210"/>
              </a:spcBef>
              <a:spcAft>
                <a:spcPts val="0"/>
              </a:spcAft>
              <a:buClr>
                <a:srgbClr val="83992A"/>
              </a:buClr>
              <a:buSzPts val="2900"/>
              <a:buFont typeface="Garamond"/>
              <a:buAutoNum type="alphaUcPeriod"/>
            </a:pPr>
            <a:r>
              <a:rPr lang="fr-FR" sz="2600"/>
              <a:t>La durée qui dépasse 15 jours</a:t>
            </a:r>
            <a:endParaRPr sz="2600"/>
          </a:p>
          <a:p>
            <a:pPr indent="-448944" lvl="0" marL="461644" rtl="0" algn="l">
              <a:lnSpc>
                <a:spcPct val="100000"/>
              </a:lnSpc>
              <a:spcBef>
                <a:spcPts val="1280"/>
              </a:spcBef>
              <a:spcAft>
                <a:spcPts val="0"/>
              </a:spcAft>
              <a:buClr>
                <a:srgbClr val="83992A"/>
              </a:buClr>
              <a:buSzPts val="2900"/>
              <a:buFont typeface="Garamond"/>
              <a:buAutoNum type="alphaUcPeriod"/>
            </a:pPr>
            <a:r>
              <a:rPr lang="fr-FR" sz="2600"/>
              <a:t>l’absence d’interférence avec le bien-être émotionnel de l’enfant</a:t>
            </a:r>
            <a:endParaRPr sz="2600"/>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119"/>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96" name="Google Shape;996;p119"/>
          <p:cNvSpPr txBox="1"/>
          <p:nvPr>
            <p:ph type="title"/>
          </p:nvPr>
        </p:nvSpPr>
        <p:spPr>
          <a:xfrm>
            <a:off x="1375028" y="975105"/>
            <a:ext cx="9444990"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t>Selon	les	critères	du	DSM-5,	le	trouble anxiété de séparation se caractérise par:</a:t>
            </a:r>
            <a:endParaRPr sz="3950"/>
          </a:p>
        </p:txBody>
      </p:sp>
      <p:sp>
        <p:nvSpPr>
          <p:cNvPr id="997" name="Google Shape;997;p11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998" name="Google Shape;998;p119"/>
          <p:cNvSpPr txBox="1"/>
          <p:nvPr/>
        </p:nvSpPr>
        <p:spPr>
          <a:xfrm>
            <a:off x="1375028" y="2469651"/>
            <a:ext cx="9396730" cy="2321148"/>
          </a:xfrm>
          <a:prstGeom prst="rect">
            <a:avLst/>
          </a:prstGeom>
          <a:noFill/>
          <a:ln>
            <a:noFill/>
          </a:ln>
        </p:spPr>
        <p:txBody>
          <a:bodyPr anchorCtr="0" anchor="t" bIns="0" lIns="0" spcFirstLastPara="1" rIns="0" wrap="square" tIns="63500">
            <a:spAutoFit/>
          </a:bodyPr>
          <a:lstStyle/>
          <a:p>
            <a:pPr indent="-457200" lvl="0" marL="469900" rtl="0" algn="l">
              <a:lnSpc>
                <a:spcPct val="100000"/>
              </a:lnSpc>
              <a:spcBef>
                <a:spcPts val="0"/>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Une détresse excessive et récurrente dans les situations de séparation</a:t>
            </a:r>
            <a:endParaRPr sz="2400">
              <a:solidFill>
                <a:srgbClr val="FF0000"/>
              </a:solidFill>
              <a:latin typeface="Garamond"/>
              <a:ea typeface="Garamond"/>
              <a:cs typeface="Garamond"/>
              <a:sym typeface="Garamond"/>
            </a:endParaRPr>
          </a:p>
          <a:p>
            <a:pPr indent="-455930" lvl="0" marL="468630" rtl="0" algn="l">
              <a:lnSpc>
                <a:spcPct val="100000"/>
              </a:lnSpc>
              <a:spcBef>
                <a:spcPts val="830"/>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Des plaintes somatiques lors des séparations</a:t>
            </a:r>
            <a:endParaRPr sz="2400">
              <a:solidFill>
                <a:srgbClr val="FF0000"/>
              </a:solidFill>
              <a:latin typeface="Garamond"/>
              <a:ea typeface="Garamond"/>
              <a:cs typeface="Garamond"/>
              <a:sym typeface="Garamond"/>
            </a:endParaRPr>
          </a:p>
          <a:p>
            <a:pPr indent="-455930" lvl="0" marL="468630" rtl="0" algn="l">
              <a:lnSpc>
                <a:spcPct val="100000"/>
              </a:lnSpc>
              <a:spcBef>
                <a:spcPts val="755"/>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Une crainte de dormir loin des figures d’attachement</a:t>
            </a:r>
            <a:endParaRPr sz="2400">
              <a:solidFill>
                <a:srgbClr val="FF0000"/>
              </a:solidFill>
              <a:latin typeface="Garamond"/>
              <a:ea typeface="Garamond"/>
              <a:cs typeface="Garamond"/>
              <a:sym typeface="Garamond"/>
            </a:endParaRPr>
          </a:p>
          <a:p>
            <a:pPr indent="-457200" lvl="0" marL="469900" rtl="0" algn="l">
              <a:lnSpc>
                <a:spcPct val="100000"/>
              </a:lnSpc>
              <a:spcBef>
                <a:spcPts val="76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Une anxiété et soucis excessifs survenant la plupart du temps</a:t>
            </a:r>
            <a:endParaRPr sz="2400">
              <a:latin typeface="Garamond"/>
              <a:ea typeface="Garamond"/>
              <a:cs typeface="Garamond"/>
              <a:sym typeface="Garamond"/>
            </a:endParaRPr>
          </a:p>
          <a:p>
            <a:pPr indent="-456565" lvl="0" marL="469265" rtl="0" algn="l">
              <a:lnSpc>
                <a:spcPct val="100000"/>
              </a:lnSpc>
              <a:spcBef>
                <a:spcPts val="755"/>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Une peur dans les situations sociales</a:t>
            </a:r>
            <a:endParaRPr sz="2400">
              <a:latin typeface="Garamond"/>
              <a:ea typeface="Garamond"/>
              <a:cs typeface="Garamond"/>
              <a:sym typeface="Garamond"/>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120"/>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04" name="Google Shape;1004;p120"/>
          <p:cNvSpPr txBox="1"/>
          <p:nvPr>
            <p:ph type="title"/>
          </p:nvPr>
        </p:nvSpPr>
        <p:spPr>
          <a:xfrm>
            <a:off x="802005" y="636905"/>
            <a:ext cx="10587989" cy="1671955"/>
          </a:xfrm>
          <a:prstGeom prst="rect">
            <a:avLst/>
          </a:prstGeom>
          <a:noFill/>
          <a:ln>
            <a:noFill/>
          </a:ln>
        </p:spPr>
        <p:txBody>
          <a:bodyPr anchorCtr="0" anchor="t" bIns="0" lIns="0" spcFirstLastPara="1" rIns="0" wrap="square" tIns="354700">
            <a:spAutoFit/>
          </a:bodyPr>
          <a:lstStyle/>
          <a:p>
            <a:pPr indent="0" lvl="0" marL="554355" rtl="0" algn="l">
              <a:lnSpc>
                <a:spcPct val="100000"/>
              </a:lnSpc>
              <a:spcBef>
                <a:spcPts val="0"/>
              </a:spcBef>
              <a:spcAft>
                <a:spcPts val="0"/>
              </a:spcAft>
              <a:buNone/>
            </a:pPr>
            <a:r>
              <a:rPr lang="fr-FR" sz="3950">
                <a:solidFill>
                  <a:srgbClr val="000000"/>
                </a:solidFill>
              </a:rPr>
              <a:t>La prise en charge d’un trouble anxiété de</a:t>
            </a:r>
            <a:endParaRPr sz="3950"/>
          </a:p>
          <a:p>
            <a:pPr indent="0" lvl="0" marL="554355" rtl="0" algn="l">
              <a:lnSpc>
                <a:spcPct val="100000"/>
              </a:lnSpc>
              <a:spcBef>
                <a:spcPts val="65"/>
              </a:spcBef>
              <a:spcAft>
                <a:spcPts val="0"/>
              </a:spcAft>
              <a:buNone/>
            </a:pPr>
            <a:r>
              <a:rPr lang="fr-FR" sz="3950">
                <a:solidFill>
                  <a:srgbClr val="000000"/>
                </a:solidFill>
              </a:rPr>
              <a:t>séparation chez un enfant âgé de 8 ans :</a:t>
            </a:r>
            <a:endParaRPr sz="3950"/>
          </a:p>
        </p:txBody>
      </p:sp>
      <p:sp>
        <p:nvSpPr>
          <p:cNvPr id="1005" name="Google Shape;1005;p12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006" name="Google Shape;1006;p120"/>
          <p:cNvSpPr txBox="1"/>
          <p:nvPr/>
        </p:nvSpPr>
        <p:spPr>
          <a:xfrm>
            <a:off x="1344294" y="2402522"/>
            <a:ext cx="8891270" cy="2984150"/>
          </a:xfrm>
          <a:prstGeom prst="rect">
            <a:avLst/>
          </a:prstGeom>
          <a:noFill/>
          <a:ln>
            <a:noFill/>
          </a:ln>
        </p:spPr>
        <p:txBody>
          <a:bodyPr anchorCtr="0" anchor="t" bIns="0" lIns="0" spcFirstLastPara="1" rIns="0" wrap="square" tIns="21575">
            <a:spAutoFit/>
          </a:bodyPr>
          <a:lstStyle/>
          <a:p>
            <a:pPr indent="-457833" lvl="0" marL="469900" marR="5080" rtl="0" algn="l">
              <a:lnSpc>
                <a:spcPct val="122872"/>
              </a:lnSpc>
              <a:spcBef>
                <a:spcPts val="0"/>
              </a:spcBef>
              <a:spcAft>
                <a:spcPts val="0"/>
              </a:spcAft>
              <a:buClr>
                <a:srgbClr val="83992A"/>
              </a:buClr>
              <a:buSzPts val="3200"/>
              <a:buFont typeface="Garamond"/>
              <a:buAutoNum type="alphaUcPeriod"/>
            </a:pPr>
            <a:r>
              <a:rPr lang="fr-FR" sz="2750">
                <a:solidFill>
                  <a:srgbClr val="252525"/>
                </a:solidFill>
                <a:latin typeface="Garamond"/>
                <a:ea typeface="Garamond"/>
                <a:cs typeface="Garamond"/>
                <a:sym typeface="Garamond"/>
              </a:rPr>
              <a:t>Un traitement de fond de type inhibiteur de la recapture de la sérotonine</a:t>
            </a:r>
            <a:endParaRPr sz="2750">
              <a:latin typeface="Garamond"/>
              <a:ea typeface="Garamond"/>
              <a:cs typeface="Garamond"/>
              <a:sym typeface="Garamond"/>
            </a:endParaRPr>
          </a:p>
          <a:p>
            <a:pPr indent="-456565" lvl="0" marL="469265" rtl="0" algn="l">
              <a:lnSpc>
                <a:spcPct val="100000"/>
              </a:lnSpc>
              <a:spcBef>
                <a:spcPts val="780"/>
              </a:spcBef>
              <a:spcAft>
                <a:spcPts val="0"/>
              </a:spcAft>
              <a:buClr>
                <a:srgbClr val="83992A"/>
              </a:buClr>
              <a:buSzPts val="3200"/>
              <a:buFont typeface="Garamond"/>
              <a:buAutoNum type="alphaUcPeriod"/>
            </a:pPr>
            <a:r>
              <a:rPr lang="fr-FR" sz="2750">
                <a:solidFill>
                  <a:srgbClr val="252525"/>
                </a:solidFill>
                <a:latin typeface="Garamond"/>
                <a:ea typeface="Garamond"/>
                <a:cs typeface="Garamond"/>
                <a:sym typeface="Garamond"/>
              </a:rPr>
              <a:t>Un changement de l’école</a:t>
            </a:r>
            <a:endParaRPr sz="2750">
              <a:latin typeface="Garamond"/>
              <a:ea typeface="Garamond"/>
              <a:cs typeface="Garamond"/>
              <a:sym typeface="Garamond"/>
            </a:endParaRPr>
          </a:p>
          <a:p>
            <a:pPr indent="-457200" lvl="0" marL="469900" rtl="0" algn="l">
              <a:lnSpc>
                <a:spcPct val="100000"/>
              </a:lnSpc>
              <a:spcBef>
                <a:spcPts val="820"/>
              </a:spcBef>
              <a:spcAft>
                <a:spcPts val="0"/>
              </a:spcAft>
              <a:buClr>
                <a:srgbClr val="83992A"/>
              </a:buClr>
              <a:buSzPts val="3200"/>
              <a:buFont typeface="Garamond"/>
              <a:buAutoNum type="alphaUcPeriod"/>
            </a:pPr>
            <a:r>
              <a:rPr lang="fr-FR" sz="2750">
                <a:solidFill>
                  <a:srgbClr val="FF0000"/>
                </a:solidFill>
                <a:latin typeface="Garamond"/>
                <a:ea typeface="Garamond"/>
                <a:cs typeface="Garamond"/>
                <a:sym typeface="Garamond"/>
              </a:rPr>
              <a:t>Une autonomisation de l’enfant</a:t>
            </a:r>
            <a:endParaRPr sz="2750">
              <a:solidFill>
                <a:srgbClr val="FF0000"/>
              </a:solidFill>
              <a:latin typeface="Garamond"/>
              <a:ea typeface="Garamond"/>
              <a:cs typeface="Garamond"/>
              <a:sym typeface="Garamond"/>
            </a:endParaRPr>
          </a:p>
          <a:p>
            <a:pPr indent="-457200" lvl="0" marL="469900" rtl="0" algn="l">
              <a:lnSpc>
                <a:spcPct val="100000"/>
              </a:lnSpc>
              <a:spcBef>
                <a:spcPts val="740"/>
              </a:spcBef>
              <a:spcAft>
                <a:spcPts val="0"/>
              </a:spcAft>
              <a:buClr>
                <a:srgbClr val="83992A"/>
              </a:buClr>
              <a:buSzPts val="3200"/>
              <a:buFont typeface="Garamond"/>
              <a:buAutoNum type="alphaUcPeriod"/>
            </a:pPr>
            <a:r>
              <a:rPr lang="fr-FR" sz="2750">
                <a:solidFill>
                  <a:srgbClr val="FF0000"/>
                </a:solidFill>
                <a:latin typeface="Garamond"/>
                <a:ea typeface="Garamond"/>
                <a:cs typeface="Garamond"/>
                <a:sym typeface="Garamond"/>
              </a:rPr>
              <a:t>La formation d’une figure d'attachement</a:t>
            </a:r>
            <a:endParaRPr sz="2750">
              <a:solidFill>
                <a:srgbClr val="FF0000"/>
              </a:solidFill>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lang="fr-FR" sz="2750">
                <a:solidFill>
                  <a:srgbClr val="FF0000"/>
                </a:solidFill>
                <a:latin typeface="Garamond"/>
                <a:ea typeface="Garamond"/>
                <a:cs typeface="Garamond"/>
                <a:sym typeface="Garamond"/>
              </a:rPr>
              <a:t>Une approche inspirée de la TCC</a:t>
            </a:r>
            <a:endParaRPr sz="2750">
              <a:solidFill>
                <a:srgbClr val="FF0000"/>
              </a:solidFill>
              <a:latin typeface="Garamond"/>
              <a:ea typeface="Garamond"/>
              <a:cs typeface="Garamond"/>
              <a:sym typeface="Garamond"/>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121"/>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12" name="Google Shape;1012;p121"/>
          <p:cNvSpPr txBox="1"/>
          <p:nvPr>
            <p:ph type="title"/>
          </p:nvPr>
        </p:nvSpPr>
        <p:spPr>
          <a:xfrm>
            <a:off x="1375028" y="975105"/>
            <a:ext cx="10055225"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t>La	prise	en	charge	d’un	enfant	ayant	un trouble anxiété de séparation repose sur:</a:t>
            </a:r>
            <a:endParaRPr sz="3950"/>
          </a:p>
        </p:txBody>
      </p:sp>
      <p:sp>
        <p:nvSpPr>
          <p:cNvPr id="1013" name="Google Shape;1013;p12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014" name="Google Shape;1014;p121"/>
          <p:cNvSpPr txBox="1"/>
          <p:nvPr/>
        </p:nvSpPr>
        <p:spPr>
          <a:xfrm>
            <a:off x="1375028" y="2322384"/>
            <a:ext cx="9175750" cy="3055965"/>
          </a:xfrm>
          <a:prstGeom prst="rect">
            <a:avLst/>
          </a:prstGeom>
          <a:noFill/>
          <a:ln>
            <a:noFill/>
          </a:ln>
        </p:spPr>
        <p:txBody>
          <a:bodyPr anchorCtr="0" anchor="t" bIns="0" lIns="0" spcFirstLastPara="1" rIns="0" wrap="square" tIns="54600">
            <a:spAutoFit/>
          </a:bodyPr>
          <a:lstStyle/>
          <a:p>
            <a:pPr indent="-456565" lvl="0" marL="469265" rtl="0" algn="l">
              <a:lnSpc>
                <a:spcPct val="100000"/>
              </a:lnSpc>
              <a:spcBef>
                <a:spcPts val="0"/>
              </a:spcBef>
              <a:spcAft>
                <a:spcPts val="0"/>
              </a:spcAft>
              <a:buClr>
                <a:srgbClr val="83992A"/>
              </a:buClr>
              <a:buSzPts val="3200"/>
              <a:buFont typeface="Garamond"/>
              <a:buAutoNum type="alphaUcPeriod"/>
            </a:pPr>
            <a:r>
              <a:rPr lang="fr-FR" sz="2750">
                <a:solidFill>
                  <a:srgbClr val="252525"/>
                </a:solidFill>
                <a:latin typeface="Garamond"/>
                <a:ea typeface="Garamond"/>
                <a:cs typeface="Garamond"/>
                <a:sym typeface="Garamond"/>
              </a:rPr>
              <a:t>La prescription d’anxiolytiques</a:t>
            </a:r>
            <a:endParaRPr sz="2750">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lang="fr-FR" sz="2750">
                <a:solidFill>
                  <a:srgbClr val="252525"/>
                </a:solidFill>
                <a:latin typeface="Garamond"/>
                <a:ea typeface="Garamond"/>
                <a:cs typeface="Garamond"/>
                <a:sym typeface="Garamond"/>
              </a:rPr>
              <a:t>La prescription d’antidépresseurs tricycliques</a:t>
            </a:r>
            <a:endParaRPr sz="2750">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lang="fr-FR" sz="2750">
                <a:solidFill>
                  <a:srgbClr val="252525"/>
                </a:solidFill>
                <a:latin typeface="Garamond"/>
                <a:ea typeface="Garamond"/>
                <a:cs typeface="Garamond"/>
                <a:sym typeface="Garamond"/>
              </a:rPr>
              <a:t>L’ arrêt de la scolarité</a:t>
            </a:r>
            <a:endParaRPr sz="2750">
              <a:latin typeface="Garamond"/>
              <a:ea typeface="Garamond"/>
              <a:cs typeface="Garamond"/>
              <a:sym typeface="Garamond"/>
            </a:endParaRPr>
          </a:p>
          <a:p>
            <a:pPr indent="-456565" lvl="0" marL="469265" rtl="0" algn="l">
              <a:lnSpc>
                <a:spcPct val="100000"/>
              </a:lnSpc>
              <a:spcBef>
                <a:spcPts val="819"/>
              </a:spcBef>
              <a:spcAft>
                <a:spcPts val="0"/>
              </a:spcAft>
              <a:buClr>
                <a:srgbClr val="83992A"/>
              </a:buClr>
              <a:buSzPts val="3200"/>
              <a:buFont typeface="Garamond"/>
              <a:buAutoNum type="alphaUcPeriod"/>
            </a:pPr>
            <a:r>
              <a:rPr lang="fr-FR" sz="2750">
                <a:solidFill>
                  <a:srgbClr val="252525"/>
                </a:solidFill>
                <a:latin typeface="Garamond"/>
                <a:ea typeface="Garamond"/>
                <a:cs typeface="Garamond"/>
                <a:sym typeface="Garamond"/>
              </a:rPr>
              <a:t>Introduction d’un nouvel élève à la classe</a:t>
            </a:r>
            <a:endParaRPr sz="2750">
              <a:latin typeface="Garamond"/>
              <a:ea typeface="Garamond"/>
              <a:cs typeface="Garamond"/>
              <a:sym typeface="Garamond"/>
            </a:endParaRPr>
          </a:p>
          <a:p>
            <a:pPr indent="-456565" lvl="0" marL="469265" rtl="0" algn="l">
              <a:lnSpc>
                <a:spcPct val="139454"/>
              </a:lnSpc>
              <a:spcBef>
                <a:spcPts val="740"/>
              </a:spcBef>
              <a:spcAft>
                <a:spcPts val="0"/>
              </a:spcAft>
              <a:buClr>
                <a:srgbClr val="83992A"/>
              </a:buClr>
              <a:buSzPts val="3200"/>
              <a:buFont typeface="Garamond"/>
              <a:buAutoNum type="alphaUcPeriod"/>
            </a:pPr>
            <a:r>
              <a:rPr lang="fr-FR" sz="2750">
                <a:solidFill>
                  <a:srgbClr val="FF0000"/>
                </a:solidFill>
                <a:latin typeface="Garamond"/>
                <a:ea typeface="Garamond"/>
                <a:cs typeface="Garamond"/>
                <a:sym typeface="Garamond"/>
              </a:rPr>
              <a:t>L’instauration d’une triangulation avec la séparation de la dyade</a:t>
            </a:r>
            <a:endParaRPr sz="2750">
              <a:solidFill>
                <a:srgbClr val="FF0000"/>
              </a:solidFill>
              <a:latin typeface="Garamond"/>
              <a:ea typeface="Garamond"/>
              <a:cs typeface="Garamond"/>
              <a:sym typeface="Garamond"/>
            </a:endParaRPr>
          </a:p>
          <a:p>
            <a:pPr indent="0" lvl="0" marL="469900" rtl="0" algn="l">
              <a:lnSpc>
                <a:spcPct val="119818"/>
              </a:lnSpc>
              <a:spcBef>
                <a:spcPts val="0"/>
              </a:spcBef>
              <a:spcAft>
                <a:spcPts val="0"/>
              </a:spcAft>
              <a:buNone/>
            </a:pPr>
            <a:r>
              <a:rPr lang="fr-FR" sz="2750">
                <a:solidFill>
                  <a:srgbClr val="FF0000"/>
                </a:solidFill>
                <a:latin typeface="Garamond"/>
                <a:ea typeface="Garamond"/>
                <a:cs typeface="Garamond"/>
                <a:sym typeface="Garamond"/>
              </a:rPr>
              <a:t>mère enfant</a:t>
            </a:r>
            <a:endParaRPr sz="2750">
              <a:solidFill>
                <a:srgbClr val="FF0000"/>
              </a:solidFill>
              <a:latin typeface="Garamond"/>
              <a:ea typeface="Garamond"/>
              <a:cs typeface="Garamond"/>
              <a:sym typeface="Garamond"/>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p122"/>
          <p:cNvSpPr txBox="1"/>
          <p:nvPr>
            <p:ph type="title"/>
          </p:nvPr>
        </p:nvSpPr>
        <p:spPr>
          <a:xfrm>
            <a:off x="752792" y="838580"/>
            <a:ext cx="10774045" cy="518159"/>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3200">
                <a:solidFill>
                  <a:srgbClr val="006FC0"/>
                </a:solidFill>
              </a:rPr>
              <a:t>Critères diagnostiques du DSM 5 d’une anxiété de séparation :</a:t>
            </a:r>
            <a:endParaRPr sz="3200"/>
          </a:p>
        </p:txBody>
      </p:sp>
      <p:sp>
        <p:nvSpPr>
          <p:cNvPr id="1020" name="Google Shape;1020;p12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021" name="Google Shape;1021;p122"/>
          <p:cNvSpPr txBox="1"/>
          <p:nvPr/>
        </p:nvSpPr>
        <p:spPr>
          <a:xfrm>
            <a:off x="818514" y="1644395"/>
            <a:ext cx="10717530" cy="4140835"/>
          </a:xfrm>
          <a:prstGeom prst="rect">
            <a:avLst/>
          </a:prstGeom>
          <a:noFill/>
          <a:ln>
            <a:noFill/>
          </a:ln>
        </p:spPr>
        <p:txBody>
          <a:bodyPr anchorCtr="0" anchor="t" bIns="0" lIns="0" spcFirstLastPara="1" rIns="0" wrap="square" tIns="11425">
            <a:spAutoFit/>
          </a:bodyPr>
          <a:lstStyle/>
          <a:p>
            <a:pPr indent="-498475" lvl="0" marL="511175" marR="5080" rtl="0" algn="just">
              <a:lnSpc>
                <a:spcPct val="100400"/>
              </a:lnSpc>
              <a:spcBef>
                <a:spcPts val="0"/>
              </a:spcBef>
              <a:spcAft>
                <a:spcPts val="0"/>
              </a:spcAft>
              <a:buClr>
                <a:srgbClr val="252525"/>
              </a:buClr>
              <a:buSzPts val="2400"/>
              <a:buFont typeface="Garamond"/>
              <a:buAutoNum type="alphaUcPeriod"/>
            </a:pPr>
            <a:r>
              <a:rPr b="1" lang="fr-FR" sz="2400">
                <a:solidFill>
                  <a:srgbClr val="C00000"/>
                </a:solidFill>
                <a:latin typeface="Garamond"/>
                <a:ea typeface="Garamond"/>
                <a:cs typeface="Garamond"/>
                <a:sym typeface="Garamond"/>
              </a:rPr>
              <a:t>Peur  ou  anxiété  excessive  et  inappropriée  au  stade  de  développement concernant la séparation d’avec les personnes </a:t>
            </a:r>
            <a:r>
              <a:rPr lang="fr-FR" sz="2400">
                <a:solidFill>
                  <a:srgbClr val="252525"/>
                </a:solidFill>
                <a:latin typeface="Garamond"/>
                <a:ea typeface="Garamond"/>
                <a:cs typeface="Garamond"/>
                <a:sym typeface="Garamond"/>
              </a:rPr>
              <a:t>auxquelles le sujet est attaché, comme en témoignent au moins 3 des manifestations suivantes :</a:t>
            </a:r>
            <a:endParaRPr sz="2400">
              <a:latin typeface="Garamond"/>
              <a:ea typeface="Garamond"/>
              <a:cs typeface="Garamond"/>
              <a:sym typeface="Garamond"/>
            </a:endParaRPr>
          </a:p>
          <a:p>
            <a:pPr indent="-288925" lvl="1" marL="301625" marR="12700" rtl="0" algn="just">
              <a:lnSpc>
                <a:spcPct val="101800"/>
              </a:lnSpc>
              <a:spcBef>
                <a:spcPts val="1125"/>
              </a:spcBef>
              <a:spcAft>
                <a:spcPts val="0"/>
              </a:spcAft>
              <a:buClr>
                <a:srgbClr val="252525"/>
              </a:buClr>
              <a:buSzPts val="2400"/>
              <a:buFont typeface="Garamond"/>
              <a:buAutoNum type="arabicPeriod"/>
            </a:pPr>
            <a:r>
              <a:rPr b="1" lang="fr-FR" sz="2400">
                <a:solidFill>
                  <a:srgbClr val="00AF50"/>
                </a:solidFill>
                <a:latin typeface="Garamond"/>
                <a:ea typeface="Garamond"/>
                <a:cs typeface="Garamond"/>
                <a:sym typeface="Garamond"/>
              </a:rPr>
              <a:t>Détresse excessive et récurrente </a:t>
            </a:r>
            <a:r>
              <a:rPr lang="fr-FR" sz="2400">
                <a:solidFill>
                  <a:srgbClr val="00AF50"/>
                </a:solidFill>
                <a:latin typeface="Garamond"/>
                <a:ea typeface="Garamond"/>
                <a:cs typeface="Garamond"/>
                <a:sym typeface="Garamond"/>
              </a:rPr>
              <a:t>dans les situations </a:t>
            </a:r>
            <a:r>
              <a:rPr lang="fr-FR" sz="2400">
                <a:solidFill>
                  <a:srgbClr val="252525"/>
                </a:solidFill>
                <a:latin typeface="Garamond"/>
                <a:ea typeface="Garamond"/>
                <a:cs typeface="Garamond"/>
                <a:sym typeface="Garamond"/>
              </a:rPr>
              <a:t>de séparation d’avec la maison ou les principales figures d’attachement ou en anticipation de telles situations.</a:t>
            </a:r>
            <a:endParaRPr sz="2400">
              <a:latin typeface="Garamond"/>
              <a:ea typeface="Garamond"/>
              <a:cs typeface="Garamond"/>
              <a:sym typeface="Garamond"/>
            </a:endParaRPr>
          </a:p>
          <a:p>
            <a:pPr indent="-358775" lvl="1" marL="371475" marR="5080" rtl="0" algn="just">
              <a:lnSpc>
                <a:spcPct val="100400"/>
              </a:lnSpc>
              <a:spcBef>
                <a:spcPts val="1165"/>
              </a:spcBef>
              <a:spcAft>
                <a:spcPts val="0"/>
              </a:spcAft>
              <a:buClr>
                <a:srgbClr val="252525"/>
              </a:buClr>
              <a:buSzPts val="2400"/>
              <a:buFont typeface="Garamond"/>
              <a:buAutoNum type="arabicPeriod"/>
            </a:pPr>
            <a:r>
              <a:rPr b="1" lang="fr-FR" sz="2400">
                <a:solidFill>
                  <a:srgbClr val="00AF50"/>
                </a:solidFill>
                <a:latin typeface="Garamond"/>
                <a:ea typeface="Garamond"/>
                <a:cs typeface="Garamond"/>
                <a:sym typeface="Garamond"/>
              </a:rPr>
              <a:t>Soucis excessifs et persistantes </a:t>
            </a:r>
            <a:r>
              <a:rPr lang="fr-FR" sz="2400">
                <a:solidFill>
                  <a:srgbClr val="00AF50"/>
                </a:solidFill>
                <a:latin typeface="Garamond"/>
                <a:ea typeface="Garamond"/>
                <a:cs typeface="Garamond"/>
                <a:sym typeface="Garamond"/>
              </a:rPr>
              <a:t>concernant la disparition  </a:t>
            </a:r>
            <a:r>
              <a:rPr lang="fr-FR" sz="2400">
                <a:solidFill>
                  <a:srgbClr val="252525"/>
                </a:solidFill>
                <a:latin typeface="Garamond"/>
                <a:ea typeface="Garamond"/>
                <a:cs typeface="Garamond"/>
                <a:sym typeface="Garamond"/>
              </a:rPr>
              <a:t>des principales  figures d'attachement ou un malheur pouvant leur arriver, tel qu’une maladie, un accident, une catastrophe ou la mort.</a:t>
            </a:r>
            <a:endParaRPr sz="2400">
              <a:latin typeface="Garamond"/>
              <a:ea typeface="Garamond"/>
              <a:cs typeface="Garamond"/>
              <a:sym typeface="Garamond"/>
            </a:endParaRPr>
          </a:p>
          <a:p>
            <a:pPr indent="-335280" lvl="1" marL="347980" marR="10795" rtl="0" algn="just">
              <a:lnSpc>
                <a:spcPct val="118750"/>
              </a:lnSpc>
              <a:spcBef>
                <a:spcPts val="1295"/>
              </a:spcBef>
              <a:spcAft>
                <a:spcPts val="0"/>
              </a:spcAft>
              <a:buClr>
                <a:srgbClr val="252525"/>
              </a:buClr>
              <a:buSzPts val="2400"/>
              <a:buFont typeface="Garamond"/>
              <a:buAutoNum type="arabicPeriod"/>
            </a:pPr>
            <a:r>
              <a:rPr b="1" lang="fr-FR" sz="2400">
                <a:solidFill>
                  <a:srgbClr val="00AF50"/>
                </a:solidFill>
                <a:latin typeface="Garamond"/>
                <a:ea typeface="Garamond"/>
                <a:cs typeface="Garamond"/>
                <a:sym typeface="Garamond"/>
              </a:rPr>
              <a:t>Soucis excessifs et persistants qu'un événement malheureux </a:t>
            </a:r>
            <a:r>
              <a:rPr lang="fr-FR" sz="2400">
                <a:solidFill>
                  <a:srgbClr val="252525"/>
                </a:solidFill>
                <a:latin typeface="Garamond"/>
                <a:ea typeface="Garamond"/>
                <a:cs typeface="Garamond"/>
                <a:sym typeface="Garamond"/>
              </a:rPr>
              <a:t>ne vienne séparer l'enfant de ses principales figures d'attachement.</a:t>
            </a:r>
            <a:endParaRPr sz="2400">
              <a:latin typeface="Garamond"/>
              <a:ea typeface="Garamond"/>
              <a:cs typeface="Garamond"/>
              <a:sym typeface="Garamond"/>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123"/>
          <p:cNvSpPr txBox="1"/>
          <p:nvPr/>
        </p:nvSpPr>
        <p:spPr>
          <a:xfrm>
            <a:off x="10618469" y="6018847"/>
            <a:ext cx="208279" cy="173990"/>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fr-FR" sz="950">
                <a:latin typeface="Garamond"/>
                <a:ea typeface="Garamond"/>
                <a:cs typeface="Garamond"/>
                <a:sym typeface="Garamond"/>
              </a:rPr>
              <a:t>123</a:t>
            </a:r>
            <a:endParaRPr sz="950">
              <a:latin typeface="Garamond"/>
              <a:ea typeface="Garamond"/>
              <a:cs typeface="Garamond"/>
              <a:sym typeface="Garamond"/>
            </a:endParaRPr>
          </a:p>
        </p:txBody>
      </p:sp>
      <p:sp>
        <p:nvSpPr>
          <p:cNvPr id="1027" name="Google Shape;1027;p123"/>
          <p:cNvSpPr txBox="1"/>
          <p:nvPr>
            <p:ph type="title"/>
          </p:nvPr>
        </p:nvSpPr>
        <p:spPr>
          <a:xfrm>
            <a:off x="930275" y="676910"/>
            <a:ext cx="10774045" cy="518159"/>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3200">
                <a:solidFill>
                  <a:srgbClr val="006FC0"/>
                </a:solidFill>
              </a:rPr>
              <a:t>Critères diagnostiques du DSM 5 d’une anxiété de séparation :</a:t>
            </a:r>
            <a:endParaRPr sz="3200"/>
          </a:p>
        </p:txBody>
      </p:sp>
      <p:sp>
        <p:nvSpPr>
          <p:cNvPr id="1028" name="Google Shape;1028;p123"/>
          <p:cNvSpPr txBox="1"/>
          <p:nvPr/>
        </p:nvSpPr>
        <p:spPr>
          <a:xfrm>
            <a:off x="843914" y="1223644"/>
            <a:ext cx="10516235" cy="4655820"/>
          </a:xfrm>
          <a:prstGeom prst="rect">
            <a:avLst/>
          </a:prstGeom>
          <a:noFill/>
          <a:ln>
            <a:noFill/>
          </a:ln>
        </p:spPr>
        <p:txBody>
          <a:bodyPr anchorCtr="0" anchor="t" bIns="0" lIns="0" spcFirstLastPara="1" rIns="0" wrap="square" tIns="13325">
            <a:spAutoFit/>
          </a:bodyPr>
          <a:lstStyle/>
          <a:p>
            <a:pPr indent="-304165" lvl="0" marL="316865" rtl="0" algn="just">
              <a:lnSpc>
                <a:spcPct val="100000"/>
              </a:lnSpc>
              <a:spcBef>
                <a:spcPts val="0"/>
              </a:spcBef>
              <a:spcAft>
                <a:spcPts val="0"/>
              </a:spcAft>
              <a:buClr>
                <a:srgbClr val="252525"/>
              </a:buClr>
              <a:buSzPts val="2400"/>
              <a:buFont typeface="Garamond"/>
              <a:buAutoNum type="arabicPeriod" startAt="4"/>
            </a:pPr>
            <a:r>
              <a:rPr b="1" lang="fr-FR" sz="2400">
                <a:solidFill>
                  <a:srgbClr val="00AF50"/>
                </a:solidFill>
                <a:latin typeface="Garamond"/>
                <a:ea typeface="Garamond"/>
                <a:cs typeface="Garamond"/>
                <a:sym typeface="Garamond"/>
              </a:rPr>
              <a:t>Réticence persistante ou refus de sortir, loin de la maison</a:t>
            </a:r>
            <a:r>
              <a:rPr lang="fr-FR" sz="2400">
                <a:solidFill>
                  <a:srgbClr val="252525"/>
                </a:solidFill>
                <a:latin typeface="Garamond"/>
                <a:ea typeface="Garamond"/>
                <a:cs typeface="Garamond"/>
                <a:sym typeface="Garamond"/>
              </a:rPr>
              <a:t>, pour d'aller à l'école,</a:t>
            </a:r>
            <a:endParaRPr sz="2400">
              <a:latin typeface="Garamond"/>
              <a:ea typeface="Garamond"/>
              <a:cs typeface="Garamond"/>
              <a:sym typeface="Garamond"/>
            </a:endParaRPr>
          </a:p>
          <a:p>
            <a:pPr indent="0" lvl="0" marL="12700" rtl="0" algn="just">
              <a:lnSpc>
                <a:spcPct val="100000"/>
              </a:lnSpc>
              <a:spcBef>
                <a:spcPts val="50"/>
              </a:spcBef>
              <a:spcAft>
                <a:spcPts val="0"/>
              </a:spcAft>
              <a:buNone/>
            </a:pPr>
            <a:r>
              <a:rPr lang="fr-FR" sz="2400">
                <a:solidFill>
                  <a:srgbClr val="252525"/>
                </a:solidFill>
                <a:latin typeface="Garamond"/>
                <a:ea typeface="Garamond"/>
                <a:cs typeface="Garamond"/>
                <a:sym typeface="Garamond"/>
              </a:rPr>
              <a:t>ou ailleurs, en raison de la peur de la séparation.</a:t>
            </a:r>
            <a:endParaRPr sz="2400">
              <a:latin typeface="Garamond"/>
              <a:ea typeface="Garamond"/>
              <a:cs typeface="Garamond"/>
              <a:sym typeface="Garamond"/>
            </a:endParaRPr>
          </a:p>
          <a:p>
            <a:pPr indent="-310515" lvl="0" marL="323215" marR="5080" rtl="0" algn="just">
              <a:lnSpc>
                <a:spcPct val="100400"/>
              </a:lnSpc>
              <a:spcBef>
                <a:spcPts val="1160"/>
              </a:spcBef>
              <a:spcAft>
                <a:spcPts val="0"/>
              </a:spcAft>
              <a:buClr>
                <a:srgbClr val="252525"/>
              </a:buClr>
              <a:buSzPts val="2400"/>
              <a:buFont typeface="Garamond"/>
              <a:buAutoNum type="arabicPeriod" startAt="5"/>
            </a:pPr>
            <a:r>
              <a:rPr b="1" lang="fr-FR" sz="2400">
                <a:solidFill>
                  <a:srgbClr val="00AF50"/>
                </a:solidFill>
                <a:latin typeface="Garamond"/>
                <a:ea typeface="Garamond"/>
                <a:cs typeface="Garamond"/>
                <a:sym typeface="Garamond"/>
              </a:rPr>
              <a:t>Appréhension ou réticence excessive et persistante à rester seul </a:t>
            </a:r>
            <a:r>
              <a:rPr b="1" lang="fr-FR" sz="2400">
                <a:solidFill>
                  <a:srgbClr val="252525"/>
                </a:solidFill>
                <a:latin typeface="Garamond"/>
                <a:ea typeface="Garamond"/>
                <a:cs typeface="Garamond"/>
                <a:sym typeface="Garamond"/>
              </a:rPr>
              <a:t>ou sans l’une des  figures  principales  d’attachement  à  la  maison,  ou  bien  dans  d’autres environnements</a:t>
            </a:r>
            <a:endParaRPr sz="2400">
              <a:latin typeface="Garamond"/>
              <a:ea typeface="Garamond"/>
              <a:cs typeface="Garamond"/>
              <a:sym typeface="Garamond"/>
            </a:endParaRPr>
          </a:p>
          <a:p>
            <a:pPr indent="-303530" lvl="0" marL="316230" marR="8255" rtl="0" algn="just">
              <a:lnSpc>
                <a:spcPct val="100400"/>
              </a:lnSpc>
              <a:spcBef>
                <a:spcPts val="1165"/>
              </a:spcBef>
              <a:spcAft>
                <a:spcPts val="0"/>
              </a:spcAft>
              <a:buClr>
                <a:srgbClr val="252525"/>
              </a:buClr>
              <a:buSzPts val="2400"/>
              <a:buFont typeface="Garamond"/>
              <a:buAutoNum type="arabicPeriod" startAt="5"/>
            </a:pPr>
            <a:r>
              <a:rPr b="1" lang="fr-FR" sz="2400">
                <a:solidFill>
                  <a:srgbClr val="00AF50"/>
                </a:solidFill>
                <a:latin typeface="Garamond"/>
                <a:ea typeface="Garamond"/>
                <a:cs typeface="Garamond"/>
                <a:sym typeface="Garamond"/>
              </a:rPr>
              <a:t>Réticence persistante ou refus d'aller dormir en dehors de la maison </a:t>
            </a:r>
            <a:r>
              <a:rPr lang="fr-FR" sz="2400">
                <a:solidFill>
                  <a:srgbClr val="252525"/>
                </a:solidFill>
                <a:latin typeface="Garamond"/>
                <a:ea typeface="Garamond"/>
                <a:cs typeface="Garamond"/>
                <a:sym typeface="Garamond"/>
              </a:rPr>
              <a:t>ou d’aller dormir sans être à proximité de l’une des principales figures d’attachement à la maison, ou bien dans d’autres environnements.</a:t>
            </a:r>
            <a:endParaRPr sz="2400">
              <a:latin typeface="Garamond"/>
              <a:ea typeface="Garamond"/>
              <a:cs typeface="Garamond"/>
              <a:sym typeface="Garamond"/>
            </a:endParaRPr>
          </a:p>
          <a:p>
            <a:pPr indent="-284480" lvl="0" marL="297180" rtl="0" algn="just">
              <a:lnSpc>
                <a:spcPct val="100000"/>
              </a:lnSpc>
              <a:spcBef>
                <a:spcPts val="1175"/>
              </a:spcBef>
              <a:spcAft>
                <a:spcPts val="0"/>
              </a:spcAft>
              <a:buClr>
                <a:srgbClr val="252525"/>
              </a:buClr>
              <a:buSzPts val="2400"/>
              <a:buFont typeface="Garamond"/>
              <a:buAutoNum type="arabicPeriod" startAt="5"/>
            </a:pPr>
            <a:r>
              <a:rPr b="1" lang="fr-FR" sz="2400">
                <a:solidFill>
                  <a:srgbClr val="00AF50"/>
                </a:solidFill>
                <a:latin typeface="Garamond"/>
                <a:ea typeface="Garamond"/>
                <a:cs typeface="Garamond"/>
                <a:sym typeface="Garamond"/>
              </a:rPr>
              <a:t>Cauchemars répétés à thèmes de séparation</a:t>
            </a:r>
            <a:r>
              <a:rPr lang="fr-FR" sz="2400">
                <a:solidFill>
                  <a:srgbClr val="252525"/>
                </a:solidFill>
                <a:latin typeface="Garamond"/>
                <a:ea typeface="Garamond"/>
                <a:cs typeface="Garamond"/>
                <a:sym typeface="Garamond"/>
              </a:rPr>
              <a:t>.</a:t>
            </a:r>
            <a:endParaRPr sz="2400">
              <a:latin typeface="Garamond"/>
              <a:ea typeface="Garamond"/>
              <a:cs typeface="Garamond"/>
              <a:sym typeface="Garamond"/>
            </a:endParaRPr>
          </a:p>
          <a:p>
            <a:pPr indent="-405765" lvl="0" marL="418465" rtl="0" algn="just">
              <a:lnSpc>
                <a:spcPct val="119375"/>
              </a:lnSpc>
              <a:spcBef>
                <a:spcPts val="1175"/>
              </a:spcBef>
              <a:spcAft>
                <a:spcPts val="0"/>
              </a:spcAft>
              <a:buClr>
                <a:srgbClr val="252525"/>
              </a:buClr>
              <a:buSzPts val="2400"/>
              <a:buFont typeface="Garamond"/>
              <a:buAutoNum type="arabicPeriod" startAt="5"/>
            </a:pPr>
            <a:r>
              <a:rPr b="1" lang="fr-FR" sz="2400">
                <a:solidFill>
                  <a:srgbClr val="00AF50"/>
                </a:solidFill>
                <a:latin typeface="Garamond"/>
                <a:ea typeface="Garamond"/>
                <a:cs typeface="Garamond"/>
                <a:sym typeface="Garamond"/>
              </a:rPr>
              <a:t>Plaintes  somatiques  répétées  </a:t>
            </a:r>
            <a:r>
              <a:rPr lang="fr-FR" sz="2400">
                <a:solidFill>
                  <a:srgbClr val="252525"/>
                </a:solidFill>
                <a:latin typeface="Garamond"/>
                <a:ea typeface="Garamond"/>
                <a:cs typeface="Garamond"/>
                <a:sym typeface="Garamond"/>
              </a:rPr>
              <a:t>(ex.  céphalées,  douleurs  abdominales,  nausées,</a:t>
            </a:r>
            <a:endParaRPr sz="2400">
              <a:latin typeface="Garamond"/>
              <a:ea typeface="Garamond"/>
              <a:cs typeface="Garamond"/>
              <a:sym typeface="Garamond"/>
            </a:endParaRPr>
          </a:p>
          <a:p>
            <a:pPr indent="0" lvl="0" marL="12700" rtl="0" algn="just">
              <a:lnSpc>
                <a:spcPct val="119375"/>
              </a:lnSpc>
              <a:spcBef>
                <a:spcPts val="0"/>
              </a:spcBef>
              <a:spcAft>
                <a:spcPts val="0"/>
              </a:spcAft>
              <a:buNone/>
            </a:pPr>
            <a:r>
              <a:rPr lang="fr-FR" sz="2400">
                <a:solidFill>
                  <a:srgbClr val="252525"/>
                </a:solidFill>
                <a:latin typeface="Garamond"/>
                <a:ea typeface="Garamond"/>
                <a:cs typeface="Garamond"/>
                <a:sym typeface="Garamond"/>
              </a:rPr>
              <a:t>vomissement) lors des séparations d’avec les principales figures d’attachement ou en</a:t>
            </a:r>
            <a:endParaRPr sz="2400">
              <a:latin typeface="Garamond"/>
              <a:ea typeface="Garamond"/>
              <a:cs typeface="Garamond"/>
              <a:sym typeface="Garamond"/>
            </a:endParaRPr>
          </a:p>
        </p:txBody>
      </p:sp>
      <p:sp>
        <p:nvSpPr>
          <p:cNvPr id="1029" name="Google Shape;1029;p123"/>
          <p:cNvSpPr txBox="1"/>
          <p:nvPr/>
        </p:nvSpPr>
        <p:spPr>
          <a:xfrm>
            <a:off x="843914" y="5859145"/>
            <a:ext cx="3693795" cy="3924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fr-FR" sz="2400">
                <a:solidFill>
                  <a:srgbClr val="252525"/>
                </a:solidFill>
                <a:latin typeface="Garamond"/>
                <a:ea typeface="Garamond"/>
                <a:cs typeface="Garamond"/>
                <a:sym typeface="Garamond"/>
              </a:rPr>
              <a:t>anticipation de telles situations.</a:t>
            </a:r>
            <a:endParaRPr sz="2400">
              <a:latin typeface="Garamond"/>
              <a:ea typeface="Garamond"/>
              <a:cs typeface="Garamond"/>
              <a:sym typeface="Garamond"/>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124"/>
          <p:cNvSpPr txBox="1"/>
          <p:nvPr>
            <p:ph type="title"/>
          </p:nvPr>
        </p:nvSpPr>
        <p:spPr>
          <a:xfrm>
            <a:off x="1517014" y="771905"/>
            <a:ext cx="9235440" cy="44958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2750">
                <a:solidFill>
                  <a:srgbClr val="006FC0"/>
                </a:solidFill>
              </a:rPr>
              <a:t>Critères diagnostiques du DSM 5 d’une anxiété de séparation</a:t>
            </a:r>
            <a:endParaRPr sz="2750"/>
          </a:p>
        </p:txBody>
      </p:sp>
      <p:sp>
        <p:nvSpPr>
          <p:cNvPr id="1035" name="Google Shape;1035;p12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036" name="Google Shape;1036;p124"/>
          <p:cNvSpPr txBox="1"/>
          <p:nvPr/>
        </p:nvSpPr>
        <p:spPr>
          <a:xfrm>
            <a:off x="843597" y="1630616"/>
            <a:ext cx="10603865" cy="4054475"/>
          </a:xfrm>
          <a:prstGeom prst="rect">
            <a:avLst/>
          </a:prstGeom>
          <a:noFill/>
          <a:ln>
            <a:noFill/>
          </a:ln>
        </p:spPr>
        <p:txBody>
          <a:bodyPr anchorCtr="0" anchor="t" bIns="0" lIns="0" spcFirstLastPara="1" rIns="0" wrap="square" tIns="27300">
            <a:spAutoFit/>
          </a:bodyPr>
          <a:lstStyle/>
          <a:p>
            <a:pPr indent="0" lvl="0" marL="12700" marR="8255" rtl="0" algn="just">
              <a:lnSpc>
                <a:spcPct val="119166"/>
              </a:lnSpc>
              <a:spcBef>
                <a:spcPts val="0"/>
              </a:spcBef>
              <a:spcAft>
                <a:spcPts val="0"/>
              </a:spcAft>
              <a:buNone/>
            </a:pPr>
            <a:r>
              <a:rPr lang="fr-FR" sz="2400">
                <a:latin typeface="Garamond"/>
                <a:ea typeface="Garamond"/>
                <a:cs typeface="Garamond"/>
                <a:sym typeface="Garamond"/>
              </a:rPr>
              <a:t>B. La peur, l’anxiété ou l’évitement persistent pendant au moins 4 semaines chez les enfants et les adolescents et typiquement pendant 6 mois ou plus chez les adultes.</a:t>
            </a:r>
            <a:endParaRPr sz="2400">
              <a:latin typeface="Garamond"/>
              <a:ea typeface="Garamond"/>
              <a:cs typeface="Garamond"/>
              <a:sym typeface="Garamond"/>
            </a:endParaRPr>
          </a:p>
          <a:p>
            <a:pPr indent="0" lvl="0" marL="12700" marR="11430" rtl="0" algn="just">
              <a:lnSpc>
                <a:spcPct val="118750"/>
              </a:lnSpc>
              <a:spcBef>
                <a:spcPts val="70"/>
              </a:spcBef>
              <a:spcAft>
                <a:spcPts val="0"/>
              </a:spcAft>
              <a:buNone/>
            </a:pPr>
            <a:r>
              <a:rPr lang="fr-FR" sz="2400">
                <a:latin typeface="Garamond"/>
                <a:ea typeface="Garamond"/>
                <a:cs typeface="Garamond"/>
                <a:sym typeface="Garamond"/>
              </a:rPr>
              <a:t>C. Le trouble entraine une </a:t>
            </a:r>
            <a:r>
              <a:rPr b="1" lang="fr-FR" sz="2400">
                <a:solidFill>
                  <a:srgbClr val="C00000"/>
                </a:solidFill>
                <a:latin typeface="Garamond"/>
                <a:ea typeface="Garamond"/>
                <a:cs typeface="Garamond"/>
                <a:sym typeface="Garamond"/>
              </a:rPr>
              <a:t>détresse cliniquement significative </a:t>
            </a:r>
            <a:r>
              <a:rPr lang="fr-FR" sz="2400">
                <a:latin typeface="Garamond"/>
                <a:ea typeface="Garamond"/>
                <a:cs typeface="Garamond"/>
                <a:sym typeface="Garamond"/>
              </a:rPr>
              <a:t>ou une altération du fonctionnement social, scolaire, ou dans d'autres domaines importants.</a:t>
            </a:r>
            <a:endParaRPr sz="2400">
              <a:latin typeface="Garamond"/>
              <a:ea typeface="Garamond"/>
              <a:cs typeface="Garamond"/>
              <a:sym typeface="Garamond"/>
            </a:endParaRPr>
          </a:p>
          <a:p>
            <a:pPr indent="0" lvl="0" marL="12700" marR="5080" rtl="0" algn="just">
              <a:lnSpc>
                <a:spcPct val="118750"/>
              </a:lnSpc>
              <a:spcBef>
                <a:spcPts val="80"/>
              </a:spcBef>
              <a:spcAft>
                <a:spcPts val="0"/>
              </a:spcAft>
              <a:buNone/>
            </a:pPr>
            <a:r>
              <a:rPr lang="fr-FR" sz="2400">
                <a:latin typeface="Garamond"/>
                <a:ea typeface="Garamond"/>
                <a:cs typeface="Garamond"/>
                <a:sym typeface="Garamond"/>
              </a:rPr>
              <a:t>D. Le trouble </a:t>
            </a:r>
            <a:r>
              <a:rPr b="1" lang="fr-FR" sz="2400">
                <a:solidFill>
                  <a:srgbClr val="C00000"/>
                </a:solidFill>
                <a:latin typeface="Garamond"/>
                <a:ea typeface="Garamond"/>
                <a:cs typeface="Garamond"/>
                <a:sym typeface="Garamond"/>
              </a:rPr>
              <a:t>n’est pas mieux expliqué </a:t>
            </a:r>
            <a:r>
              <a:rPr lang="fr-FR" sz="2400">
                <a:latin typeface="Garamond"/>
                <a:ea typeface="Garamond"/>
                <a:cs typeface="Garamond"/>
                <a:sym typeface="Garamond"/>
              </a:rPr>
              <a:t>par un autre trouble mental , tel que le refus de quitter la maison du fait d’une résistance excessive au changement dans le </a:t>
            </a:r>
            <a:r>
              <a:rPr b="1" lang="fr-FR" sz="2400">
                <a:latin typeface="Garamond"/>
                <a:ea typeface="Garamond"/>
                <a:cs typeface="Garamond"/>
                <a:sym typeface="Garamond"/>
              </a:rPr>
              <a:t>trouble du spectre de l’autisme</a:t>
            </a:r>
            <a:r>
              <a:rPr lang="fr-FR" sz="2400">
                <a:latin typeface="Garamond"/>
                <a:ea typeface="Garamond"/>
                <a:cs typeface="Garamond"/>
                <a:sym typeface="Garamond"/>
              </a:rPr>
              <a:t>, les idées délirantes ou les hallucinations concernant la séparation</a:t>
            </a:r>
            <a:endParaRPr sz="2400">
              <a:latin typeface="Garamond"/>
              <a:ea typeface="Garamond"/>
              <a:cs typeface="Garamond"/>
              <a:sym typeface="Garamond"/>
            </a:endParaRPr>
          </a:p>
          <a:p>
            <a:pPr indent="0" lvl="0" marL="12700" rtl="0" algn="l">
              <a:lnSpc>
                <a:spcPct val="118125"/>
              </a:lnSpc>
              <a:spcBef>
                <a:spcPts val="0"/>
              </a:spcBef>
              <a:spcAft>
                <a:spcPts val="0"/>
              </a:spcAft>
              <a:buNone/>
            </a:pPr>
            <a:r>
              <a:rPr lang="fr-FR" sz="2400">
                <a:latin typeface="Garamond"/>
                <a:ea typeface="Garamond"/>
                <a:cs typeface="Garamond"/>
                <a:sym typeface="Garamond"/>
              </a:rPr>
              <a:t>dans les </a:t>
            </a:r>
            <a:r>
              <a:rPr b="1" lang="fr-FR" sz="2400">
                <a:latin typeface="Garamond"/>
                <a:ea typeface="Garamond"/>
                <a:cs typeface="Garamond"/>
                <a:sym typeface="Garamond"/>
              </a:rPr>
              <a:t>troubles psychotiques</a:t>
            </a:r>
            <a:r>
              <a:rPr lang="fr-FR" sz="2400">
                <a:latin typeface="Garamond"/>
                <a:ea typeface="Garamond"/>
                <a:cs typeface="Garamond"/>
                <a:sym typeface="Garamond"/>
              </a:rPr>
              <a:t>, le refus de sortir sans une personne de confiance dans</a:t>
            </a:r>
            <a:endParaRPr sz="2400">
              <a:latin typeface="Garamond"/>
              <a:ea typeface="Garamond"/>
              <a:cs typeface="Garamond"/>
              <a:sym typeface="Garamond"/>
            </a:endParaRPr>
          </a:p>
          <a:p>
            <a:pPr indent="0" lvl="0" marL="12700" rtl="0" algn="l">
              <a:lnSpc>
                <a:spcPct val="119583"/>
              </a:lnSpc>
              <a:spcBef>
                <a:spcPts val="0"/>
              </a:spcBef>
              <a:spcAft>
                <a:spcPts val="0"/>
              </a:spcAft>
              <a:buNone/>
            </a:pPr>
            <a:r>
              <a:rPr b="1" lang="fr-FR" sz="2400">
                <a:latin typeface="Garamond"/>
                <a:ea typeface="Garamond"/>
                <a:cs typeface="Garamond"/>
                <a:sym typeface="Garamond"/>
              </a:rPr>
              <a:t>l’agoraphobie</a:t>
            </a:r>
            <a:r>
              <a:rPr lang="fr-FR" sz="2400">
                <a:latin typeface="Garamond"/>
                <a:ea typeface="Garamond"/>
                <a:cs typeface="Garamond"/>
                <a:sym typeface="Garamond"/>
              </a:rPr>
              <a:t>, les soucis à propos de problèmes de santé ou autres malheurs pouvant</a:t>
            </a:r>
            <a:endParaRPr sz="2400">
              <a:latin typeface="Garamond"/>
              <a:ea typeface="Garamond"/>
              <a:cs typeface="Garamond"/>
              <a:sym typeface="Garamond"/>
            </a:endParaRPr>
          </a:p>
          <a:p>
            <a:pPr indent="0" lvl="0" marL="12700" rtl="0" algn="l">
              <a:lnSpc>
                <a:spcPct val="119583"/>
              </a:lnSpc>
              <a:spcBef>
                <a:spcPts val="50"/>
              </a:spcBef>
              <a:spcAft>
                <a:spcPts val="0"/>
              </a:spcAft>
              <a:buNone/>
            </a:pPr>
            <a:r>
              <a:rPr lang="fr-FR" sz="2400">
                <a:latin typeface="Garamond"/>
                <a:ea typeface="Garamond"/>
                <a:cs typeface="Garamond"/>
                <a:sym typeface="Garamond"/>
              </a:rPr>
              <a:t>arriver à des personnes proches dans </a:t>
            </a:r>
            <a:r>
              <a:rPr b="1" lang="fr-FR" sz="2400">
                <a:latin typeface="Garamond"/>
                <a:ea typeface="Garamond"/>
                <a:cs typeface="Garamond"/>
                <a:sym typeface="Garamond"/>
              </a:rPr>
              <a:t>l’anxiété généralisée </a:t>
            </a:r>
            <a:r>
              <a:rPr lang="fr-FR" sz="2400">
                <a:latin typeface="Garamond"/>
                <a:ea typeface="Garamond"/>
                <a:cs typeface="Garamond"/>
                <a:sym typeface="Garamond"/>
              </a:rPr>
              <a:t>ou les préoccupations d’avoir</a:t>
            </a:r>
            <a:endParaRPr sz="2400">
              <a:latin typeface="Garamond"/>
              <a:ea typeface="Garamond"/>
              <a:cs typeface="Garamond"/>
              <a:sym typeface="Garamond"/>
            </a:endParaRPr>
          </a:p>
          <a:p>
            <a:pPr indent="0" lvl="0" marL="12700" rtl="0" algn="l">
              <a:lnSpc>
                <a:spcPct val="119583"/>
              </a:lnSpc>
              <a:spcBef>
                <a:spcPts val="0"/>
              </a:spcBef>
              <a:spcAft>
                <a:spcPts val="0"/>
              </a:spcAft>
              <a:buNone/>
            </a:pPr>
            <a:r>
              <a:rPr lang="fr-FR" sz="2400">
                <a:latin typeface="Garamond"/>
                <a:ea typeface="Garamond"/>
                <a:cs typeface="Garamond"/>
                <a:sym typeface="Garamond"/>
              </a:rPr>
              <a:t>une maladie dans la </a:t>
            </a:r>
            <a:r>
              <a:rPr b="1" lang="fr-FR" sz="2400">
                <a:latin typeface="Garamond"/>
                <a:ea typeface="Garamond"/>
                <a:cs typeface="Garamond"/>
                <a:sym typeface="Garamond"/>
              </a:rPr>
              <a:t>crainte excessive d’avoir une maladie</a:t>
            </a:r>
            <a:r>
              <a:rPr lang="fr-FR" sz="2400">
                <a:latin typeface="Garamond"/>
                <a:ea typeface="Garamond"/>
                <a:cs typeface="Garamond"/>
                <a:sym typeface="Garamond"/>
              </a:rPr>
              <a:t>.</a:t>
            </a:r>
            <a:endParaRPr sz="2400">
              <a:latin typeface="Garamond"/>
              <a:ea typeface="Garamond"/>
              <a:cs typeface="Garamond"/>
              <a:sym typeface="Garamond"/>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grpSp>
        <p:nvGrpSpPr>
          <p:cNvPr id="1041" name="Google Shape;1041;p125"/>
          <p:cNvGrpSpPr/>
          <p:nvPr/>
        </p:nvGrpSpPr>
        <p:grpSpPr>
          <a:xfrm>
            <a:off x="1400174" y="1590675"/>
            <a:ext cx="9407525" cy="3876675"/>
            <a:chOff x="1400174" y="1590675"/>
            <a:chExt cx="9407525" cy="3876675"/>
          </a:xfrm>
        </p:grpSpPr>
        <p:sp>
          <p:nvSpPr>
            <p:cNvPr id="1042" name="Google Shape;1042;p125"/>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043" name="Google Shape;1043;p125"/>
            <p:cNvPicPr preferRelativeResize="0"/>
            <p:nvPr/>
          </p:nvPicPr>
          <p:blipFill rotWithShape="1">
            <a:blip r:embed="rId3">
              <a:alphaModFix/>
            </a:blip>
            <a:srcRect b="0" l="0" r="0" t="0"/>
            <a:stretch/>
          </p:blipFill>
          <p:spPr>
            <a:xfrm>
              <a:off x="4162425" y="1590675"/>
              <a:ext cx="3867150" cy="3876675"/>
            </a:xfrm>
            <a:prstGeom prst="rect">
              <a:avLst/>
            </a:prstGeom>
            <a:noFill/>
            <a:ln>
              <a:noFill/>
            </a:ln>
          </p:spPr>
        </p:pic>
      </p:grpSp>
      <p:sp>
        <p:nvSpPr>
          <p:cNvPr id="1044" name="Google Shape;1044;p12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p126"/>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50" name="Google Shape;1050;p126"/>
          <p:cNvSpPr txBox="1"/>
          <p:nvPr>
            <p:ph type="title"/>
          </p:nvPr>
        </p:nvSpPr>
        <p:spPr>
          <a:xfrm>
            <a:off x="802005" y="636905"/>
            <a:ext cx="10587989" cy="1671955"/>
          </a:xfrm>
          <a:prstGeom prst="rect">
            <a:avLst/>
          </a:prstGeom>
          <a:noFill/>
          <a:ln>
            <a:noFill/>
          </a:ln>
        </p:spPr>
        <p:txBody>
          <a:bodyPr anchorCtr="0" anchor="t" bIns="0" lIns="0" spcFirstLastPara="1" rIns="0" wrap="square" tIns="620125">
            <a:spAutoFit/>
          </a:bodyPr>
          <a:lstStyle/>
          <a:p>
            <a:pPr indent="0" lvl="0" marL="585470" rtl="0" algn="l">
              <a:lnSpc>
                <a:spcPct val="100000"/>
              </a:lnSpc>
              <a:spcBef>
                <a:spcPts val="0"/>
              </a:spcBef>
              <a:spcAft>
                <a:spcPts val="0"/>
              </a:spcAft>
              <a:buNone/>
            </a:pPr>
            <a:r>
              <a:rPr lang="fr-FR" sz="4400">
                <a:solidFill>
                  <a:srgbClr val="000000"/>
                </a:solidFill>
              </a:rPr>
              <a:t>L’obsession est :</a:t>
            </a:r>
            <a:endParaRPr sz="4400"/>
          </a:p>
        </p:txBody>
      </p:sp>
      <p:sp>
        <p:nvSpPr>
          <p:cNvPr id="1051" name="Google Shape;1051;p12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052" name="Google Shape;1052;p126"/>
          <p:cNvSpPr txBox="1"/>
          <p:nvPr/>
        </p:nvSpPr>
        <p:spPr>
          <a:xfrm>
            <a:off x="1832610" y="2463927"/>
            <a:ext cx="8321040" cy="2705735"/>
          </a:xfrm>
          <a:prstGeom prst="rect">
            <a:avLst/>
          </a:prstGeom>
          <a:noFill/>
          <a:ln>
            <a:noFill/>
          </a:ln>
        </p:spPr>
        <p:txBody>
          <a:bodyPr anchorCtr="0" anchor="t" bIns="0" lIns="0" spcFirstLastPara="1" rIns="0" wrap="square" tIns="126350">
            <a:spAutoFit/>
          </a:bodyPr>
          <a:lstStyle/>
          <a:p>
            <a:pPr indent="-514350" lvl="0" marL="527050" rtl="0" algn="l">
              <a:lnSpc>
                <a:spcPct val="100000"/>
              </a:lnSpc>
              <a:spcBef>
                <a:spcPts val="0"/>
              </a:spcBef>
              <a:spcAft>
                <a:spcPts val="0"/>
              </a:spcAft>
              <a:buClr>
                <a:srgbClr val="92D050"/>
              </a:buClr>
              <a:buSzPts val="2750"/>
              <a:buFont typeface="Garamond"/>
              <a:buAutoNum type="alphaUcPeriod"/>
            </a:pPr>
            <a:r>
              <a:rPr b="1" lang="fr-FR" sz="2750">
                <a:latin typeface="Garamond"/>
                <a:ea typeface="Garamond"/>
                <a:cs typeface="Garamond"/>
                <a:sym typeface="Garamond"/>
              </a:rPr>
              <a:t>Une idée délirante.</a:t>
            </a:r>
            <a:endParaRPr sz="2750">
              <a:latin typeface="Garamond"/>
              <a:ea typeface="Garamond"/>
              <a:cs typeface="Garamond"/>
              <a:sym typeface="Garamond"/>
            </a:endParaRPr>
          </a:p>
          <a:p>
            <a:pPr indent="-514350" lvl="0" marL="527050" rtl="0" algn="l">
              <a:lnSpc>
                <a:spcPct val="100000"/>
              </a:lnSpc>
              <a:spcBef>
                <a:spcPts val="905"/>
              </a:spcBef>
              <a:spcAft>
                <a:spcPts val="0"/>
              </a:spcAft>
              <a:buClr>
                <a:srgbClr val="92D050"/>
              </a:buClr>
              <a:buSzPts val="2750"/>
              <a:buFont typeface="Garamond"/>
              <a:buAutoNum type="alphaUcPeriod"/>
            </a:pPr>
            <a:r>
              <a:rPr b="1" lang="fr-FR" sz="2750">
                <a:latin typeface="Garamond"/>
                <a:ea typeface="Garamond"/>
                <a:cs typeface="Garamond"/>
                <a:sym typeface="Garamond"/>
              </a:rPr>
              <a:t>Une idée fixe.</a:t>
            </a:r>
            <a:endParaRPr sz="2750">
              <a:latin typeface="Garamond"/>
              <a:ea typeface="Garamond"/>
              <a:cs typeface="Garamond"/>
              <a:sym typeface="Garamond"/>
            </a:endParaRPr>
          </a:p>
          <a:p>
            <a:pPr indent="-514350" lvl="0" marL="527050" rtl="0" algn="l">
              <a:lnSpc>
                <a:spcPct val="100000"/>
              </a:lnSpc>
              <a:spcBef>
                <a:spcPts val="910"/>
              </a:spcBef>
              <a:spcAft>
                <a:spcPts val="0"/>
              </a:spcAft>
              <a:buClr>
                <a:srgbClr val="92D050"/>
              </a:buClr>
              <a:buSzPts val="2750"/>
              <a:buFont typeface="Garamond"/>
              <a:buAutoNum type="alphaUcPeriod"/>
            </a:pPr>
            <a:r>
              <a:rPr b="1" lang="fr-FR" sz="2750">
                <a:latin typeface="Garamond"/>
                <a:ea typeface="Garamond"/>
                <a:cs typeface="Garamond"/>
                <a:sym typeface="Garamond"/>
              </a:rPr>
              <a:t>Une hallucination.</a:t>
            </a:r>
            <a:endParaRPr sz="2750">
              <a:latin typeface="Garamond"/>
              <a:ea typeface="Garamond"/>
              <a:cs typeface="Garamond"/>
              <a:sym typeface="Garamond"/>
            </a:endParaRPr>
          </a:p>
          <a:p>
            <a:pPr indent="-514350" lvl="0" marL="527050" rtl="0" algn="l">
              <a:lnSpc>
                <a:spcPct val="100000"/>
              </a:lnSpc>
              <a:spcBef>
                <a:spcPts val="980"/>
              </a:spcBef>
              <a:spcAft>
                <a:spcPts val="0"/>
              </a:spcAft>
              <a:buClr>
                <a:srgbClr val="92D050"/>
              </a:buClr>
              <a:buSzPts val="2750"/>
              <a:buFont typeface="Garamond"/>
              <a:buAutoNum type="alphaUcPeriod"/>
            </a:pPr>
            <a:r>
              <a:rPr b="1" lang="fr-FR" sz="2750">
                <a:solidFill>
                  <a:srgbClr val="252525"/>
                </a:solidFill>
                <a:latin typeface="Garamond"/>
                <a:ea typeface="Garamond"/>
                <a:cs typeface="Garamond"/>
                <a:sym typeface="Garamond"/>
              </a:rPr>
              <a:t>Un rêve anxiogène</a:t>
            </a:r>
            <a:endParaRPr sz="2750">
              <a:latin typeface="Garamond"/>
              <a:ea typeface="Garamond"/>
              <a:cs typeface="Garamond"/>
              <a:sym typeface="Garamond"/>
            </a:endParaRPr>
          </a:p>
          <a:p>
            <a:pPr indent="-514350" lvl="0" marL="527050" rtl="0" algn="l">
              <a:lnSpc>
                <a:spcPct val="100000"/>
              </a:lnSpc>
              <a:spcBef>
                <a:spcPts val="905"/>
              </a:spcBef>
              <a:spcAft>
                <a:spcPts val="0"/>
              </a:spcAft>
              <a:buClr>
                <a:srgbClr val="92D050"/>
              </a:buClr>
              <a:buSzPts val="2750"/>
              <a:buFont typeface="Garamond"/>
              <a:buAutoNum type="alphaUcPeriod"/>
            </a:pPr>
            <a:r>
              <a:rPr b="1" lang="fr-FR" sz="2750">
                <a:solidFill>
                  <a:srgbClr val="FF0000"/>
                </a:solidFill>
                <a:latin typeface="Garamond"/>
                <a:ea typeface="Garamond"/>
                <a:cs typeface="Garamond"/>
                <a:sym typeface="Garamond"/>
              </a:rPr>
              <a:t>L’intrusion dans la pensée d’une idée pathologique.</a:t>
            </a:r>
            <a:endParaRPr sz="2750">
              <a:solidFill>
                <a:srgbClr val="FF0000"/>
              </a:solidFill>
              <a:latin typeface="Garamond"/>
              <a:ea typeface="Garamond"/>
              <a:cs typeface="Garamond"/>
              <a:sym typeface="Garamond"/>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127"/>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58" name="Google Shape;1058;p127"/>
          <p:cNvSpPr txBox="1"/>
          <p:nvPr>
            <p:ph type="title"/>
          </p:nvPr>
        </p:nvSpPr>
        <p:spPr>
          <a:xfrm>
            <a:off x="802005" y="636905"/>
            <a:ext cx="10587989" cy="1671955"/>
          </a:xfrm>
          <a:prstGeom prst="rect">
            <a:avLst/>
          </a:prstGeom>
          <a:noFill/>
          <a:ln>
            <a:noFill/>
          </a:ln>
        </p:spPr>
        <p:txBody>
          <a:bodyPr anchorCtr="0" anchor="t" bIns="0" lIns="0" spcFirstLastPara="1" rIns="0" wrap="square" tIns="634300">
            <a:spAutoFit/>
          </a:bodyPr>
          <a:lstStyle/>
          <a:p>
            <a:pPr indent="0" lvl="0" marL="643255" rtl="0" algn="l">
              <a:lnSpc>
                <a:spcPct val="100000"/>
              </a:lnSpc>
              <a:spcBef>
                <a:spcPts val="0"/>
              </a:spcBef>
              <a:spcAft>
                <a:spcPts val="0"/>
              </a:spcAft>
              <a:buNone/>
            </a:pPr>
            <a:r>
              <a:rPr lang="fr-FR" sz="4400">
                <a:solidFill>
                  <a:srgbClr val="000000"/>
                </a:solidFill>
              </a:rPr>
              <a:t>L’obsession est :</a:t>
            </a:r>
            <a:endParaRPr sz="4400"/>
          </a:p>
        </p:txBody>
      </p:sp>
      <p:sp>
        <p:nvSpPr>
          <p:cNvPr id="1059" name="Google Shape;1059;p12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060" name="Google Shape;1060;p127"/>
          <p:cNvSpPr txBox="1"/>
          <p:nvPr/>
        </p:nvSpPr>
        <p:spPr>
          <a:xfrm>
            <a:off x="1163319" y="2544441"/>
            <a:ext cx="9801225" cy="2394886"/>
          </a:xfrm>
          <a:prstGeom prst="rect">
            <a:avLst/>
          </a:prstGeom>
          <a:noFill/>
          <a:ln>
            <a:noFill/>
          </a:ln>
        </p:spPr>
        <p:txBody>
          <a:bodyPr anchorCtr="0" anchor="t" bIns="0" lIns="0" spcFirstLastPara="1" rIns="0" wrap="square" tIns="9525">
            <a:spAutoFit/>
          </a:bodyPr>
          <a:lstStyle/>
          <a:p>
            <a:pPr indent="-513715" lvl="0" marL="526415"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L’irruption d’une idée ou d’une représentation dans la pensée</a:t>
            </a:r>
            <a:endParaRPr sz="2750">
              <a:solidFill>
                <a:srgbClr val="FF0000"/>
              </a:solidFill>
              <a:latin typeface="Garamond"/>
              <a:ea typeface="Garamond"/>
              <a:cs typeface="Garamond"/>
              <a:sym typeface="Garamond"/>
            </a:endParaRPr>
          </a:p>
          <a:p>
            <a:pPr indent="-513715" lvl="0" marL="526415" rtl="0" algn="l">
              <a:lnSpc>
                <a:spcPct val="100000"/>
              </a:lnSpc>
              <a:spcBef>
                <a:spcPts val="415"/>
              </a:spcBef>
              <a:spcAft>
                <a:spcPts val="0"/>
              </a:spcAft>
              <a:buClr>
                <a:srgbClr val="83992A"/>
              </a:buClr>
              <a:buSzPts val="3450"/>
              <a:buFont typeface="Garamond"/>
              <a:buAutoNum type="alphaUcPeriod"/>
            </a:pPr>
            <a:r>
              <a:rPr b="1" lang="fr-FR" sz="3000">
                <a:latin typeface="Garamond"/>
                <a:ea typeface="Garamond"/>
                <a:cs typeface="Garamond"/>
                <a:sym typeface="Garamond"/>
              </a:rPr>
              <a:t>Souvent associée aux psychoses.</a:t>
            </a:r>
            <a:endParaRPr sz="3000">
              <a:latin typeface="Garamond"/>
              <a:ea typeface="Garamond"/>
              <a:cs typeface="Garamond"/>
              <a:sym typeface="Garamond"/>
            </a:endParaRPr>
          </a:p>
          <a:p>
            <a:pPr indent="-513715" lvl="0" marL="526415" rtl="0" algn="l">
              <a:lnSpc>
                <a:spcPct val="100000"/>
              </a:lnSpc>
              <a:spcBef>
                <a:spcPts val="46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Vécue avec une grande détresse</a:t>
            </a:r>
            <a:endParaRPr sz="2750">
              <a:solidFill>
                <a:srgbClr val="FF0000"/>
              </a:solidFill>
              <a:latin typeface="Garamond"/>
              <a:ea typeface="Garamond"/>
              <a:cs typeface="Garamond"/>
              <a:sym typeface="Garamond"/>
            </a:endParaRPr>
          </a:p>
          <a:p>
            <a:pPr indent="-513080" lvl="0" marL="525780" rtl="0" algn="l">
              <a:lnSpc>
                <a:spcPct val="100000"/>
              </a:lnSpc>
              <a:spcBef>
                <a:spcPts val="5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 acte mental</a:t>
            </a:r>
            <a:endParaRPr sz="2750">
              <a:latin typeface="Garamond"/>
              <a:ea typeface="Garamond"/>
              <a:cs typeface="Garamond"/>
              <a:sym typeface="Garamond"/>
            </a:endParaRPr>
          </a:p>
          <a:p>
            <a:pPr indent="-513080" lvl="0" marL="525780" rtl="0" algn="l">
              <a:lnSpc>
                <a:spcPct val="100000"/>
              </a:lnSpc>
              <a:spcBef>
                <a:spcPts val="4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Reconnue par le sujet comme pathologique</a:t>
            </a:r>
            <a:endParaRPr sz="2750">
              <a:solidFill>
                <a:srgbClr val="FF0000"/>
              </a:solidFill>
              <a:latin typeface="Garamond"/>
              <a:ea typeface="Garamond"/>
              <a:cs typeface="Garamond"/>
              <a:sym typeface="Garamond"/>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128"/>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66" name="Google Shape;1066;p128"/>
          <p:cNvSpPr txBox="1"/>
          <p:nvPr/>
        </p:nvSpPr>
        <p:spPr>
          <a:xfrm>
            <a:off x="1375028" y="2207460"/>
            <a:ext cx="9326245" cy="3355340"/>
          </a:xfrm>
          <a:prstGeom prst="rect">
            <a:avLst/>
          </a:prstGeom>
          <a:noFill/>
          <a:ln>
            <a:noFill/>
          </a:ln>
        </p:spPr>
        <p:txBody>
          <a:bodyPr anchorCtr="0" anchor="t" bIns="0" lIns="0" spcFirstLastPara="1" rIns="0" wrap="square" tIns="146675">
            <a:spAutoFit/>
          </a:bodyPr>
          <a:lstStyle/>
          <a:p>
            <a:pPr indent="-514983" lvl="0" marL="527685" rtl="0" algn="l">
              <a:lnSpc>
                <a:spcPct val="100000"/>
              </a:lnSpc>
              <a:spcBef>
                <a:spcPts val="0"/>
              </a:spcBef>
              <a:spcAft>
                <a:spcPts val="0"/>
              </a:spcAft>
              <a:buClr>
                <a:srgbClr val="92D050"/>
              </a:buClr>
              <a:buSzPts val="2750"/>
              <a:buFont typeface="Garamond"/>
              <a:buAutoNum type="alphaUcPeriod"/>
            </a:pPr>
            <a:r>
              <a:rPr b="1" lang="fr-FR" sz="2750">
                <a:latin typeface="Garamond"/>
                <a:ea typeface="Garamond"/>
                <a:cs typeface="Garamond"/>
                <a:sym typeface="Garamond"/>
              </a:rPr>
              <a:t>sont des comportements répétitifs ou des actes mentaux</a:t>
            </a:r>
            <a:endParaRPr sz="2750">
              <a:latin typeface="Garamond"/>
              <a:ea typeface="Garamond"/>
              <a:cs typeface="Garamond"/>
              <a:sym typeface="Garamond"/>
            </a:endParaRPr>
          </a:p>
          <a:p>
            <a:pPr indent="-515619" lvl="0" marL="527685" marR="5080" rtl="0" algn="l">
              <a:lnSpc>
                <a:spcPct val="132000"/>
              </a:lnSpc>
              <a:spcBef>
                <a:spcPts val="0"/>
              </a:spcBef>
              <a:spcAft>
                <a:spcPts val="0"/>
              </a:spcAft>
              <a:buClr>
                <a:srgbClr val="92D050"/>
              </a:buClr>
              <a:buSzPts val="2750"/>
              <a:buFont typeface="Garamond"/>
              <a:buAutoNum type="alphaUcPeriod"/>
            </a:pPr>
            <a:r>
              <a:rPr b="1" lang="fr-FR" sz="2750">
                <a:solidFill>
                  <a:srgbClr val="FF0000"/>
                </a:solidFill>
                <a:latin typeface="Garamond"/>
                <a:ea typeface="Garamond"/>
                <a:cs typeface="Garamond"/>
                <a:sym typeface="Garamond"/>
              </a:rPr>
              <a:t>sont des idées, impulsions ou représentations persistantes, vécues comme intrusives et inappropriées</a:t>
            </a:r>
            <a:endParaRPr sz="2750">
              <a:solidFill>
                <a:srgbClr val="FF0000"/>
              </a:solidFill>
              <a:latin typeface="Garamond"/>
              <a:ea typeface="Garamond"/>
              <a:cs typeface="Garamond"/>
              <a:sym typeface="Garamond"/>
            </a:endParaRPr>
          </a:p>
          <a:p>
            <a:pPr indent="-514983" lvl="0" marL="527685" rtl="0" algn="l">
              <a:lnSpc>
                <a:spcPct val="100000"/>
              </a:lnSpc>
              <a:spcBef>
                <a:spcPts val="1060"/>
              </a:spcBef>
              <a:spcAft>
                <a:spcPts val="0"/>
              </a:spcAft>
              <a:buClr>
                <a:srgbClr val="92D050"/>
              </a:buClr>
              <a:buSzPts val="2750"/>
              <a:buFont typeface="Garamond"/>
              <a:buAutoNum type="alphaUcPeriod"/>
            </a:pPr>
            <a:r>
              <a:rPr b="1" lang="fr-FR" sz="2750">
                <a:solidFill>
                  <a:srgbClr val="FF0000"/>
                </a:solidFill>
                <a:latin typeface="Garamond"/>
                <a:ea typeface="Garamond"/>
                <a:cs typeface="Garamond"/>
                <a:sym typeface="Garamond"/>
              </a:rPr>
              <a:t>sont de type idéatives, phobiques ou impulsives</a:t>
            </a:r>
            <a:endParaRPr sz="2750">
              <a:solidFill>
                <a:srgbClr val="FF0000"/>
              </a:solidFill>
              <a:latin typeface="Garamond"/>
              <a:ea typeface="Garamond"/>
              <a:cs typeface="Garamond"/>
              <a:sym typeface="Garamond"/>
            </a:endParaRPr>
          </a:p>
          <a:p>
            <a:pPr indent="-603885" lvl="0" marL="616585" rtl="0" algn="l">
              <a:lnSpc>
                <a:spcPct val="100000"/>
              </a:lnSpc>
              <a:spcBef>
                <a:spcPts val="1130"/>
              </a:spcBef>
              <a:spcAft>
                <a:spcPts val="0"/>
              </a:spcAft>
              <a:buClr>
                <a:srgbClr val="92D050"/>
              </a:buClr>
              <a:buSzPts val="2750"/>
              <a:buFont typeface="Garamond"/>
              <a:buAutoNum type="alphaUcPeriod"/>
            </a:pPr>
            <a:r>
              <a:rPr b="1" lang="fr-FR" sz="2750">
                <a:latin typeface="Garamond"/>
                <a:ea typeface="Garamond"/>
                <a:cs typeface="Garamond"/>
                <a:sym typeface="Garamond"/>
              </a:rPr>
              <a:t>Ont pour but de neutraliser l’anxiété et la souffrance</a:t>
            </a:r>
            <a:endParaRPr sz="2750">
              <a:latin typeface="Garamond"/>
              <a:ea typeface="Garamond"/>
              <a:cs typeface="Garamond"/>
              <a:sym typeface="Garamond"/>
            </a:endParaRPr>
          </a:p>
          <a:p>
            <a:pPr indent="-514983" lvl="0" marL="527685" rtl="0" algn="l">
              <a:lnSpc>
                <a:spcPct val="100000"/>
              </a:lnSpc>
              <a:spcBef>
                <a:spcPts val="1055"/>
              </a:spcBef>
              <a:spcAft>
                <a:spcPts val="0"/>
              </a:spcAft>
              <a:buClr>
                <a:srgbClr val="92D050"/>
              </a:buClr>
              <a:buSzPts val="2750"/>
              <a:buFont typeface="Garamond"/>
              <a:buAutoNum type="alphaUcPeriod"/>
            </a:pPr>
            <a:r>
              <a:rPr b="1" lang="fr-FR" sz="2750">
                <a:latin typeface="Garamond"/>
                <a:ea typeface="Garamond"/>
                <a:cs typeface="Garamond"/>
                <a:sym typeface="Garamond"/>
              </a:rPr>
              <a:t>peuvent se manifester sous forme d’arithmomanie</a:t>
            </a:r>
            <a:endParaRPr sz="2750">
              <a:latin typeface="Garamond"/>
              <a:ea typeface="Garamond"/>
              <a:cs typeface="Garamond"/>
              <a:sym typeface="Garamond"/>
            </a:endParaRPr>
          </a:p>
        </p:txBody>
      </p:sp>
      <p:sp>
        <p:nvSpPr>
          <p:cNvPr id="1067" name="Google Shape;1067;p12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068" name="Google Shape;1068;p128"/>
          <p:cNvSpPr txBox="1"/>
          <p:nvPr>
            <p:ph type="title"/>
          </p:nvPr>
        </p:nvSpPr>
        <p:spPr>
          <a:xfrm>
            <a:off x="1616455" y="1524380"/>
            <a:ext cx="3503295" cy="63246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3950">
                <a:solidFill>
                  <a:srgbClr val="000000"/>
                </a:solidFill>
              </a:rPr>
              <a:t>Les obsessions :</a:t>
            </a:r>
            <a:endParaRPr sz="3950"/>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p129"/>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74" name="Google Shape;1074;p129"/>
          <p:cNvSpPr txBox="1"/>
          <p:nvPr>
            <p:ph type="title"/>
          </p:nvPr>
        </p:nvSpPr>
        <p:spPr>
          <a:xfrm>
            <a:off x="802005" y="636905"/>
            <a:ext cx="10587989" cy="1671955"/>
          </a:xfrm>
          <a:prstGeom prst="rect">
            <a:avLst/>
          </a:prstGeom>
          <a:noFill/>
          <a:ln>
            <a:noFill/>
          </a:ln>
        </p:spPr>
        <p:txBody>
          <a:bodyPr anchorCtr="0" anchor="t" bIns="0" lIns="0" spcFirstLastPara="1" rIns="0" wrap="square" tIns="360675">
            <a:spAutoFit/>
          </a:bodyPr>
          <a:lstStyle/>
          <a:p>
            <a:pPr indent="0" lvl="0" marL="574675" marR="5080" rtl="0" algn="l">
              <a:lnSpc>
                <a:spcPct val="101400"/>
              </a:lnSpc>
              <a:spcBef>
                <a:spcPts val="0"/>
              </a:spcBef>
              <a:spcAft>
                <a:spcPts val="0"/>
              </a:spcAft>
              <a:buNone/>
            </a:pPr>
            <a:r>
              <a:rPr lang="fr-FR" sz="3950"/>
              <a:t>La peur de prononcer des propos blasphématoires dans une mosquée est :</a:t>
            </a:r>
            <a:endParaRPr sz="3950"/>
          </a:p>
        </p:txBody>
      </p:sp>
      <p:sp>
        <p:nvSpPr>
          <p:cNvPr id="1075" name="Google Shape;1075;p12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076" name="Google Shape;1076;p129"/>
          <p:cNvSpPr txBox="1"/>
          <p:nvPr/>
        </p:nvSpPr>
        <p:spPr>
          <a:xfrm>
            <a:off x="1363980" y="2640545"/>
            <a:ext cx="5265420" cy="2526974"/>
          </a:xfrm>
          <a:prstGeom prst="rect">
            <a:avLst/>
          </a:prstGeom>
          <a:noFill/>
          <a:ln>
            <a:noFill/>
          </a:ln>
        </p:spPr>
        <p:txBody>
          <a:bodyPr anchorCtr="0" anchor="t" bIns="0" lIns="0" spcFirstLastPara="1" rIns="0" wrap="square" tIns="13325">
            <a:spAutoFit/>
          </a:bodyPr>
          <a:lstStyle/>
          <a:p>
            <a:pPr indent="-513715" lvl="0" marL="526415" rtl="0" algn="l">
              <a:lnSpc>
                <a:spcPct val="100000"/>
              </a:lnSpc>
              <a:spcBef>
                <a:spcPts val="0"/>
              </a:spcBef>
              <a:spcAft>
                <a:spcPts val="0"/>
              </a:spcAft>
              <a:buClr>
                <a:srgbClr val="83992A"/>
              </a:buClr>
              <a:buSzPts val="3450"/>
              <a:buFont typeface="Garamond"/>
              <a:buAutoNum type="alphaUcPeriod"/>
            </a:pPr>
            <a:r>
              <a:rPr b="1" lang="fr-FR" sz="3000">
                <a:solidFill>
                  <a:srgbClr val="252525"/>
                </a:solidFill>
                <a:latin typeface="Garamond"/>
                <a:ea typeface="Garamond"/>
                <a:cs typeface="Garamond"/>
                <a:sym typeface="Garamond"/>
              </a:rPr>
              <a:t>Une agoraphobie</a:t>
            </a:r>
            <a:endParaRPr sz="3000">
              <a:latin typeface="Garamond"/>
              <a:ea typeface="Garamond"/>
              <a:cs typeface="Garamond"/>
              <a:sym typeface="Garamond"/>
            </a:endParaRPr>
          </a:p>
          <a:p>
            <a:pPr indent="-514350" lvl="0" marL="527050" rtl="0" algn="l">
              <a:lnSpc>
                <a:spcPct val="100000"/>
              </a:lnSpc>
              <a:spcBef>
                <a:spcPts val="440"/>
              </a:spcBef>
              <a:spcAft>
                <a:spcPts val="0"/>
              </a:spcAft>
              <a:buClr>
                <a:srgbClr val="83992A"/>
              </a:buClr>
              <a:buSzPts val="3450"/>
              <a:buFont typeface="Garamond"/>
              <a:buAutoNum type="alphaUcPeriod"/>
            </a:pPr>
            <a:r>
              <a:rPr b="1" lang="fr-FR" sz="3000">
                <a:solidFill>
                  <a:srgbClr val="252525"/>
                </a:solidFill>
                <a:latin typeface="Garamond"/>
                <a:ea typeface="Garamond"/>
                <a:cs typeface="Garamond"/>
                <a:sym typeface="Garamond"/>
              </a:rPr>
              <a:t>Une phobie sociale</a:t>
            </a:r>
            <a:endParaRPr sz="3000">
              <a:latin typeface="Garamond"/>
              <a:ea typeface="Garamond"/>
              <a:cs typeface="Garamond"/>
              <a:sym typeface="Garamond"/>
            </a:endParaRPr>
          </a:p>
          <a:p>
            <a:pPr indent="-514350" lvl="0" marL="527050" rtl="0" algn="l">
              <a:lnSpc>
                <a:spcPct val="100000"/>
              </a:lnSpc>
              <a:spcBef>
                <a:spcPts val="445"/>
              </a:spcBef>
              <a:spcAft>
                <a:spcPts val="0"/>
              </a:spcAft>
              <a:buClr>
                <a:srgbClr val="83992A"/>
              </a:buClr>
              <a:buSzPts val="3450"/>
              <a:buFont typeface="Garamond"/>
              <a:buAutoNum type="alphaUcPeriod"/>
            </a:pPr>
            <a:r>
              <a:rPr b="1" lang="fr-FR" sz="3000">
                <a:solidFill>
                  <a:srgbClr val="252525"/>
                </a:solidFill>
                <a:latin typeface="Garamond"/>
                <a:ea typeface="Garamond"/>
                <a:cs typeface="Garamond"/>
                <a:sym typeface="Garamond"/>
              </a:rPr>
              <a:t>Un signe de discordance</a:t>
            </a:r>
            <a:endParaRPr sz="3000">
              <a:latin typeface="Garamond"/>
              <a:ea typeface="Garamond"/>
              <a:cs typeface="Garamond"/>
              <a:sym typeface="Garamond"/>
            </a:endParaRPr>
          </a:p>
          <a:p>
            <a:pPr indent="-513715" lvl="0" marL="526415" rtl="0" algn="l">
              <a:lnSpc>
                <a:spcPct val="100000"/>
              </a:lnSpc>
              <a:spcBef>
                <a:spcPts val="440"/>
              </a:spcBef>
              <a:spcAft>
                <a:spcPts val="0"/>
              </a:spcAft>
              <a:buClr>
                <a:srgbClr val="83992A"/>
              </a:buClr>
              <a:buSzPts val="3450"/>
              <a:buFont typeface="Garamond"/>
              <a:buAutoNum type="alphaUcPeriod"/>
            </a:pPr>
            <a:r>
              <a:rPr b="1" lang="fr-FR" sz="3000">
                <a:solidFill>
                  <a:srgbClr val="252525"/>
                </a:solidFill>
                <a:latin typeface="Garamond"/>
                <a:ea typeface="Garamond"/>
                <a:cs typeface="Garamond"/>
                <a:sym typeface="Garamond"/>
              </a:rPr>
              <a:t>Une	impulsion pathologique</a:t>
            </a:r>
            <a:endParaRPr sz="3000">
              <a:latin typeface="Garamond"/>
              <a:ea typeface="Garamond"/>
              <a:cs typeface="Garamond"/>
              <a:sym typeface="Garamond"/>
            </a:endParaRPr>
          </a:p>
          <a:p>
            <a:pPr indent="-513715" lvl="0" marL="526415" rtl="0" algn="l">
              <a:lnSpc>
                <a:spcPct val="100000"/>
              </a:lnSpc>
              <a:spcBef>
                <a:spcPts val="440"/>
              </a:spcBef>
              <a:spcAft>
                <a:spcPts val="0"/>
              </a:spcAft>
              <a:buClr>
                <a:srgbClr val="83992A"/>
              </a:buClr>
              <a:buSzPts val="3450"/>
              <a:buFont typeface="Garamond"/>
              <a:buAutoNum type="alphaUcPeriod"/>
            </a:pPr>
            <a:r>
              <a:rPr b="1" lang="fr-FR" sz="3000">
                <a:solidFill>
                  <a:srgbClr val="FF0000"/>
                </a:solidFill>
                <a:latin typeface="Garamond"/>
                <a:ea typeface="Garamond"/>
                <a:cs typeface="Garamond"/>
                <a:sym typeface="Garamond"/>
              </a:rPr>
              <a:t>Une obsession impulsive</a:t>
            </a:r>
            <a:endParaRPr sz="3000">
              <a:solidFill>
                <a:srgbClr val="FF0000"/>
              </a:solidFill>
              <a:latin typeface="Garamond"/>
              <a:ea typeface="Garamond"/>
              <a:cs typeface="Garamond"/>
              <a:sym typeface="Garamond"/>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130"/>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82" name="Google Shape;1082;p130"/>
          <p:cNvSpPr txBox="1"/>
          <p:nvPr>
            <p:ph type="title"/>
          </p:nvPr>
        </p:nvSpPr>
        <p:spPr>
          <a:xfrm>
            <a:off x="802005" y="636905"/>
            <a:ext cx="10587989" cy="1671955"/>
          </a:xfrm>
          <a:prstGeom prst="rect">
            <a:avLst/>
          </a:prstGeom>
          <a:noFill/>
          <a:ln>
            <a:noFill/>
          </a:ln>
        </p:spPr>
        <p:txBody>
          <a:bodyPr anchorCtr="0" anchor="t" bIns="0" lIns="0" spcFirstLastPara="1" rIns="0" wrap="square" tIns="620125">
            <a:spAutoFit/>
          </a:bodyPr>
          <a:lstStyle/>
          <a:p>
            <a:pPr indent="0" lvl="0" marL="585470" rtl="0" algn="l">
              <a:lnSpc>
                <a:spcPct val="100000"/>
              </a:lnSpc>
              <a:spcBef>
                <a:spcPts val="0"/>
              </a:spcBef>
              <a:spcAft>
                <a:spcPts val="0"/>
              </a:spcAft>
              <a:buNone/>
            </a:pPr>
            <a:r>
              <a:rPr lang="fr-FR" sz="4400"/>
              <a:t>L'obsession est spécifiée comme :</a:t>
            </a:r>
            <a:endParaRPr sz="4400"/>
          </a:p>
        </p:txBody>
      </p:sp>
      <p:sp>
        <p:nvSpPr>
          <p:cNvPr id="1083" name="Google Shape;1083;p13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084" name="Google Shape;1084;p130"/>
          <p:cNvSpPr txBox="1"/>
          <p:nvPr/>
        </p:nvSpPr>
        <p:spPr>
          <a:xfrm>
            <a:off x="1596771" y="2386941"/>
            <a:ext cx="2837815" cy="2568011"/>
          </a:xfrm>
          <a:prstGeom prst="rect">
            <a:avLst/>
          </a:prstGeom>
          <a:noFill/>
          <a:ln>
            <a:noFill/>
          </a:ln>
        </p:spPr>
        <p:txBody>
          <a:bodyPr anchorCtr="0" anchor="t" bIns="0" lIns="0" spcFirstLastPara="1" rIns="0" wrap="square" tIns="53975">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pensée</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Intrusive</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Egosyntonique</a:t>
            </a:r>
            <a:endParaRPr sz="2750">
              <a:latin typeface="Garamond"/>
              <a:ea typeface="Garamond"/>
              <a:cs typeface="Garamond"/>
              <a:sym typeface="Garamond"/>
            </a:endParaRPr>
          </a:p>
          <a:p>
            <a:pPr indent="-513715" lvl="0" marL="526415" rtl="0" algn="l">
              <a:lnSpc>
                <a:spcPct val="100000"/>
              </a:lnSpc>
              <a:spcBef>
                <a:spcPts val="74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Angoissante</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 acte mental</a:t>
            </a:r>
            <a:endParaRPr sz="2750">
              <a:latin typeface="Garamond"/>
              <a:ea typeface="Garamond"/>
              <a:cs typeface="Garamond"/>
              <a:sym typeface="Garamond"/>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131"/>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90" name="Google Shape;1090;p131"/>
          <p:cNvSpPr txBox="1"/>
          <p:nvPr>
            <p:ph type="title"/>
          </p:nvPr>
        </p:nvSpPr>
        <p:spPr>
          <a:xfrm>
            <a:off x="802005" y="636905"/>
            <a:ext cx="10587989" cy="1671955"/>
          </a:xfrm>
          <a:prstGeom prst="rect">
            <a:avLst/>
          </a:prstGeom>
          <a:noFill/>
          <a:ln>
            <a:noFill/>
          </a:ln>
        </p:spPr>
        <p:txBody>
          <a:bodyPr anchorCtr="0" anchor="t" bIns="0" lIns="0" spcFirstLastPara="1" rIns="0" wrap="square" tIns="407275">
            <a:spAutoFit/>
          </a:bodyPr>
          <a:lstStyle/>
          <a:p>
            <a:pPr indent="0" lvl="0" marL="585470" marR="5080" rtl="0" algn="l">
              <a:lnSpc>
                <a:spcPct val="100899"/>
              </a:lnSpc>
              <a:spcBef>
                <a:spcPts val="0"/>
              </a:spcBef>
              <a:spcAft>
                <a:spcPts val="0"/>
              </a:spcAft>
              <a:buNone/>
            </a:pPr>
            <a:r>
              <a:rPr lang="fr-FR">
                <a:solidFill>
                  <a:srgbClr val="000000"/>
                </a:solidFill>
              </a:rPr>
              <a:t>L'obsession est une idée ou une représentation mentale qui :</a:t>
            </a:r>
            <a:endParaRPr/>
          </a:p>
        </p:txBody>
      </p:sp>
      <p:sp>
        <p:nvSpPr>
          <p:cNvPr id="1091" name="Google Shape;1091;p13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092" name="Google Shape;1092;p131"/>
          <p:cNvSpPr txBox="1"/>
          <p:nvPr/>
        </p:nvSpPr>
        <p:spPr>
          <a:xfrm>
            <a:off x="1470913" y="2379379"/>
            <a:ext cx="6315710" cy="2887329"/>
          </a:xfrm>
          <a:prstGeom prst="rect">
            <a:avLst/>
          </a:prstGeom>
          <a:noFill/>
          <a:ln>
            <a:noFill/>
          </a:ln>
        </p:spPr>
        <p:txBody>
          <a:bodyPr anchorCtr="0" anchor="t" bIns="0" lIns="0" spcFirstLastPara="1" rIns="0" wrap="square" tIns="103500">
            <a:spAutoFit/>
          </a:bodyPr>
          <a:lstStyle/>
          <a:p>
            <a:pPr indent="-456565" lvl="0" marL="469265"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Est incoercible</a:t>
            </a:r>
            <a:endParaRPr sz="2750">
              <a:solidFill>
                <a:srgbClr val="FF0000"/>
              </a:solidFill>
              <a:latin typeface="Garamond"/>
              <a:ea typeface="Garamond"/>
              <a:cs typeface="Garamond"/>
              <a:sym typeface="Garamond"/>
            </a:endParaRPr>
          </a:p>
          <a:p>
            <a:pPr indent="-456565" lvl="0" marL="469265" rtl="0" algn="l">
              <a:lnSpc>
                <a:spcPct val="100000"/>
              </a:lnSpc>
              <a:spcBef>
                <a:spcPts val="126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Est imposée par une force extérieure</a:t>
            </a:r>
            <a:endParaRPr sz="2750">
              <a:latin typeface="Garamond"/>
              <a:ea typeface="Garamond"/>
              <a:cs typeface="Garamond"/>
              <a:sym typeface="Garamond"/>
            </a:endParaRPr>
          </a:p>
          <a:p>
            <a:pPr indent="-457200" lvl="0" marL="469900" rtl="0" algn="l">
              <a:lnSpc>
                <a:spcPct val="100000"/>
              </a:lnSpc>
              <a:spcBef>
                <a:spcPts val="134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Est vécue dans l’indifférence</a:t>
            </a:r>
            <a:endParaRPr sz="2750">
              <a:latin typeface="Garamond"/>
              <a:ea typeface="Garamond"/>
              <a:cs typeface="Garamond"/>
              <a:sym typeface="Garamond"/>
            </a:endParaRPr>
          </a:p>
          <a:p>
            <a:pPr indent="-455930" lvl="0" marL="468630" rtl="0" algn="l">
              <a:lnSpc>
                <a:spcPct val="100000"/>
              </a:lnSpc>
              <a:spcBef>
                <a:spcPts val="126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Est perçue par le sujet comme absurde</a:t>
            </a:r>
            <a:endParaRPr sz="2750">
              <a:solidFill>
                <a:srgbClr val="FF0000"/>
              </a:solidFill>
              <a:latin typeface="Garamond"/>
              <a:ea typeface="Garamond"/>
              <a:cs typeface="Garamond"/>
              <a:sym typeface="Garamond"/>
            </a:endParaRPr>
          </a:p>
          <a:p>
            <a:pPr indent="-455930" lvl="0" marL="468630" rtl="0" algn="l">
              <a:lnSpc>
                <a:spcPct val="100000"/>
              </a:lnSpc>
              <a:spcBef>
                <a:spcPts val="13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Est à l'origine d'une lutte anxieuse</a:t>
            </a:r>
            <a:endParaRPr sz="2750">
              <a:solidFill>
                <a:srgbClr val="FF0000"/>
              </a:solidFill>
              <a:latin typeface="Garamond"/>
              <a:ea typeface="Garamond"/>
              <a:cs typeface="Garamond"/>
              <a:sym typeface="Garamond"/>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p132"/>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98" name="Google Shape;1098;p132"/>
          <p:cNvSpPr txBox="1"/>
          <p:nvPr>
            <p:ph type="title"/>
          </p:nvPr>
        </p:nvSpPr>
        <p:spPr>
          <a:xfrm>
            <a:off x="802005" y="636905"/>
            <a:ext cx="10587989" cy="1671955"/>
          </a:xfrm>
          <a:prstGeom prst="rect">
            <a:avLst/>
          </a:prstGeom>
          <a:noFill/>
          <a:ln>
            <a:noFill/>
          </a:ln>
        </p:spPr>
        <p:txBody>
          <a:bodyPr anchorCtr="0" anchor="t" bIns="0" lIns="0" spcFirstLastPara="1" rIns="0" wrap="square" tIns="590525">
            <a:spAutoFit/>
          </a:bodyPr>
          <a:lstStyle/>
          <a:p>
            <a:pPr indent="0" lvl="0" marL="585470" rtl="0" algn="l">
              <a:lnSpc>
                <a:spcPct val="100000"/>
              </a:lnSpc>
              <a:spcBef>
                <a:spcPts val="0"/>
              </a:spcBef>
              <a:spcAft>
                <a:spcPts val="0"/>
              </a:spcAft>
              <a:buNone/>
            </a:pPr>
            <a:r>
              <a:rPr lang="fr-FR" sz="4400"/>
              <a:t>Les obsessions sont :</a:t>
            </a:r>
            <a:endParaRPr sz="4400"/>
          </a:p>
        </p:txBody>
      </p:sp>
      <p:sp>
        <p:nvSpPr>
          <p:cNvPr id="1099" name="Google Shape;1099;p13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100" name="Google Shape;1100;p132"/>
          <p:cNvSpPr txBox="1"/>
          <p:nvPr/>
        </p:nvSpPr>
        <p:spPr>
          <a:xfrm>
            <a:off x="1375028" y="2469102"/>
            <a:ext cx="4920615" cy="2568652"/>
          </a:xfrm>
          <a:prstGeom prst="rect">
            <a:avLst/>
          </a:prstGeom>
          <a:noFill/>
          <a:ln>
            <a:noFill/>
          </a:ln>
        </p:spPr>
        <p:txBody>
          <a:bodyPr anchorCtr="0" anchor="t" bIns="0" lIns="0" spcFirstLastPara="1" rIns="0" wrap="square" tIns="546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des pensées intrusives</a:t>
            </a:r>
            <a:endParaRPr sz="2750">
              <a:solidFill>
                <a:srgbClr val="FF0000"/>
              </a:solidFill>
              <a:latin typeface="Garamond"/>
              <a:ea typeface="Garamond"/>
              <a:cs typeface="Garamond"/>
              <a:sym typeface="Garamond"/>
            </a:endParaRPr>
          </a:p>
          <a:p>
            <a:pPr indent="-514350" lvl="0" marL="527050" rtl="0" algn="l">
              <a:lnSpc>
                <a:spcPct val="100000"/>
              </a:lnSpc>
              <a:spcBef>
                <a:spcPts val="819"/>
              </a:spcBef>
              <a:spcAft>
                <a:spcPts val="0"/>
              </a:spcAft>
              <a:buClr>
                <a:srgbClr val="83992A"/>
              </a:buClr>
              <a:buSzPts val="3200"/>
              <a:buFont typeface="Garamond"/>
              <a:buAutoNum type="alphaUcPeriod"/>
            </a:pPr>
            <a:r>
              <a:rPr b="1" lang="fr-FR" sz="2750">
                <a:latin typeface="Garamond"/>
                <a:ea typeface="Garamond"/>
                <a:cs typeface="Garamond"/>
                <a:sym typeface="Garamond"/>
              </a:rPr>
              <a:t>des comportements répétitifs</a:t>
            </a:r>
            <a:endParaRPr sz="2750">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des pulsions</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des images mentales</a:t>
            </a:r>
            <a:endParaRPr sz="2750">
              <a:solidFill>
                <a:srgbClr val="FF0000"/>
              </a:solidFill>
              <a:latin typeface="Garamond"/>
              <a:ea typeface="Garamond"/>
              <a:cs typeface="Garamond"/>
              <a:sym typeface="Garamond"/>
            </a:endParaRPr>
          </a:p>
          <a:p>
            <a:pPr indent="-603885" lvl="0" marL="616585" rtl="0" algn="l">
              <a:lnSpc>
                <a:spcPct val="100000"/>
              </a:lnSpc>
              <a:spcBef>
                <a:spcPts val="740"/>
              </a:spcBef>
              <a:spcAft>
                <a:spcPts val="0"/>
              </a:spcAft>
              <a:buClr>
                <a:srgbClr val="83992A"/>
              </a:buClr>
              <a:buSzPts val="3200"/>
              <a:buFont typeface="Garamond"/>
              <a:buAutoNum type="alphaUcPeriod"/>
            </a:pPr>
            <a:r>
              <a:rPr b="1" lang="fr-FR" sz="2750">
                <a:latin typeface="Garamond"/>
                <a:ea typeface="Garamond"/>
                <a:cs typeface="Garamond"/>
                <a:sym typeface="Garamond"/>
              </a:rPr>
              <a:t>des actes mentaux</a:t>
            </a:r>
            <a:endParaRPr sz="2750">
              <a:latin typeface="Garamond"/>
              <a:ea typeface="Garamond"/>
              <a:cs typeface="Garamond"/>
              <a:sym typeface="Garamond"/>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133"/>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06" name="Google Shape;1106;p133"/>
          <p:cNvSpPr txBox="1"/>
          <p:nvPr>
            <p:ph type="title"/>
          </p:nvPr>
        </p:nvSpPr>
        <p:spPr>
          <a:xfrm>
            <a:off x="802005" y="636905"/>
            <a:ext cx="10587989" cy="1671955"/>
          </a:xfrm>
          <a:prstGeom prst="rect">
            <a:avLst/>
          </a:prstGeom>
          <a:noFill/>
          <a:ln>
            <a:noFill/>
          </a:ln>
        </p:spPr>
        <p:txBody>
          <a:bodyPr anchorCtr="0" anchor="t" bIns="0" lIns="0" spcFirstLastPara="1" rIns="0" wrap="square" tIns="220325">
            <a:spAutoFit/>
          </a:bodyPr>
          <a:lstStyle/>
          <a:p>
            <a:pPr indent="0" lvl="0" marL="585470" marR="5080" rtl="0" algn="l">
              <a:lnSpc>
                <a:spcPct val="119656"/>
              </a:lnSpc>
              <a:spcBef>
                <a:spcPts val="0"/>
              </a:spcBef>
              <a:spcAft>
                <a:spcPts val="0"/>
              </a:spcAft>
              <a:buNone/>
            </a:pPr>
            <a:r>
              <a:rPr lang="fr-FR" sz="3200"/>
              <a:t>L'obsession est l'apparition dans le champ de la conscience d'une pensée ou image que l'on peut décrire par les éléments suivants :</a:t>
            </a:r>
            <a:endParaRPr sz="3200"/>
          </a:p>
        </p:txBody>
      </p:sp>
      <p:sp>
        <p:nvSpPr>
          <p:cNvPr id="1107" name="Google Shape;1107;p13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108" name="Google Shape;1108;p133"/>
          <p:cNvSpPr txBox="1"/>
          <p:nvPr/>
        </p:nvSpPr>
        <p:spPr>
          <a:xfrm>
            <a:off x="1375028" y="2736993"/>
            <a:ext cx="7068184" cy="2528255"/>
          </a:xfrm>
          <a:prstGeom prst="rect">
            <a:avLst/>
          </a:prstGeom>
          <a:noFill/>
          <a:ln>
            <a:noFill/>
          </a:ln>
        </p:spPr>
        <p:txBody>
          <a:bodyPr anchorCtr="0" anchor="t" bIns="0" lIns="0" spcFirstLastPara="1" rIns="0" wrap="square" tIns="14600">
            <a:spAutoFit/>
          </a:bodyPr>
          <a:lstStyle/>
          <a:p>
            <a:pPr indent="-514350" lvl="0" marL="527050" rtl="0" algn="l">
              <a:lnSpc>
                <a:spcPct val="100000"/>
              </a:lnSpc>
              <a:spcBef>
                <a:spcPts val="0"/>
              </a:spcBef>
              <a:spcAft>
                <a:spcPts val="0"/>
              </a:spcAft>
              <a:buClr>
                <a:srgbClr val="83992A"/>
              </a:buClr>
              <a:buSzPts val="3450"/>
              <a:buFont typeface="Garamond"/>
              <a:buAutoNum type="alphaUcPeriod"/>
            </a:pPr>
            <a:r>
              <a:rPr b="1" lang="fr-FR" sz="3000">
                <a:solidFill>
                  <a:srgbClr val="FF0000"/>
                </a:solidFill>
                <a:latin typeface="Garamond"/>
                <a:ea typeface="Garamond"/>
                <a:cs typeface="Garamond"/>
                <a:sym typeface="Garamond"/>
              </a:rPr>
              <a:t>Assiégeante</a:t>
            </a:r>
            <a:endParaRPr sz="3000">
              <a:solidFill>
                <a:srgbClr val="FF0000"/>
              </a:solidFill>
              <a:latin typeface="Garamond"/>
              <a:ea typeface="Garamond"/>
              <a:cs typeface="Garamond"/>
              <a:sym typeface="Garamond"/>
            </a:endParaRPr>
          </a:p>
          <a:p>
            <a:pPr indent="-513715" lvl="0" marL="526415" rtl="0" algn="l">
              <a:lnSpc>
                <a:spcPct val="100000"/>
              </a:lnSpc>
              <a:spcBef>
                <a:spcPts val="440"/>
              </a:spcBef>
              <a:spcAft>
                <a:spcPts val="0"/>
              </a:spcAft>
              <a:buClr>
                <a:srgbClr val="83992A"/>
              </a:buClr>
              <a:buSzPts val="3450"/>
              <a:buFont typeface="Garamond"/>
              <a:buAutoNum type="alphaUcPeriod"/>
            </a:pPr>
            <a:r>
              <a:rPr b="1" lang="fr-FR" sz="3000">
                <a:solidFill>
                  <a:srgbClr val="FF0000"/>
                </a:solidFill>
                <a:latin typeface="Garamond"/>
                <a:ea typeface="Garamond"/>
                <a:cs typeface="Garamond"/>
                <a:sym typeface="Garamond"/>
              </a:rPr>
              <a:t>Compulsive</a:t>
            </a:r>
            <a:endParaRPr sz="3000">
              <a:solidFill>
                <a:srgbClr val="FF0000"/>
              </a:solidFill>
              <a:latin typeface="Garamond"/>
              <a:ea typeface="Garamond"/>
              <a:cs typeface="Garamond"/>
              <a:sym typeface="Garamond"/>
            </a:endParaRPr>
          </a:p>
          <a:p>
            <a:pPr indent="-514350" lvl="0" marL="527050" rtl="0" algn="l">
              <a:lnSpc>
                <a:spcPct val="100000"/>
              </a:lnSpc>
              <a:spcBef>
                <a:spcPts val="440"/>
              </a:spcBef>
              <a:spcAft>
                <a:spcPts val="0"/>
              </a:spcAft>
              <a:buClr>
                <a:srgbClr val="83992A"/>
              </a:buClr>
              <a:buSzPts val="3450"/>
              <a:buFont typeface="Garamond"/>
              <a:buAutoNum type="alphaUcPeriod"/>
            </a:pPr>
            <a:r>
              <a:rPr b="1" lang="fr-FR" sz="3000">
                <a:solidFill>
                  <a:srgbClr val="FF0000"/>
                </a:solidFill>
                <a:latin typeface="Garamond"/>
                <a:ea typeface="Garamond"/>
                <a:cs typeface="Garamond"/>
                <a:sym typeface="Garamond"/>
              </a:rPr>
              <a:t>Jugée absurde</a:t>
            </a:r>
            <a:endParaRPr sz="3000">
              <a:solidFill>
                <a:srgbClr val="FF0000"/>
              </a:solidFill>
              <a:latin typeface="Garamond"/>
              <a:ea typeface="Garamond"/>
              <a:cs typeface="Garamond"/>
              <a:sym typeface="Garamond"/>
            </a:endParaRPr>
          </a:p>
          <a:p>
            <a:pPr indent="-514350" lvl="0" marL="527050" rtl="0" algn="l">
              <a:lnSpc>
                <a:spcPct val="100000"/>
              </a:lnSpc>
              <a:spcBef>
                <a:spcPts val="445"/>
              </a:spcBef>
              <a:spcAft>
                <a:spcPts val="0"/>
              </a:spcAft>
              <a:buClr>
                <a:srgbClr val="83992A"/>
              </a:buClr>
              <a:buSzPts val="3450"/>
              <a:buFont typeface="Garamond"/>
              <a:buAutoNum type="alphaUcPeriod"/>
            </a:pPr>
            <a:r>
              <a:rPr b="1" lang="fr-FR" sz="3000">
                <a:solidFill>
                  <a:srgbClr val="252525"/>
                </a:solidFill>
                <a:latin typeface="Garamond"/>
                <a:ea typeface="Garamond"/>
                <a:cs typeface="Garamond"/>
                <a:sym typeface="Garamond"/>
              </a:rPr>
              <a:t>Non perçue par le sujet comme morbide</a:t>
            </a:r>
            <a:endParaRPr sz="3000">
              <a:latin typeface="Garamond"/>
              <a:ea typeface="Garamond"/>
              <a:cs typeface="Garamond"/>
              <a:sym typeface="Garamond"/>
            </a:endParaRPr>
          </a:p>
          <a:p>
            <a:pPr indent="-514350" lvl="0" marL="527050" rtl="0" algn="l">
              <a:lnSpc>
                <a:spcPct val="100000"/>
              </a:lnSpc>
              <a:spcBef>
                <a:spcPts val="440"/>
              </a:spcBef>
              <a:spcAft>
                <a:spcPts val="0"/>
              </a:spcAft>
              <a:buClr>
                <a:srgbClr val="83992A"/>
              </a:buClr>
              <a:buSzPts val="3450"/>
              <a:buFont typeface="Garamond"/>
              <a:buAutoNum type="alphaUcPeriod"/>
            </a:pPr>
            <a:r>
              <a:rPr b="1" lang="fr-FR" sz="3000">
                <a:solidFill>
                  <a:srgbClr val="FF0000"/>
                </a:solidFill>
                <a:latin typeface="Garamond"/>
                <a:ea typeface="Garamond"/>
                <a:cs typeface="Garamond"/>
                <a:sym typeface="Garamond"/>
              </a:rPr>
              <a:t>Qui entraine une lutte anxieuse</a:t>
            </a:r>
            <a:endParaRPr sz="3000">
              <a:solidFill>
                <a:srgbClr val="FF0000"/>
              </a:solidFill>
              <a:latin typeface="Garamond"/>
              <a:ea typeface="Garamond"/>
              <a:cs typeface="Garamond"/>
              <a:sym typeface="Garamond"/>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134"/>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14" name="Google Shape;1114;p134"/>
          <p:cNvSpPr txBox="1"/>
          <p:nvPr>
            <p:ph type="title"/>
          </p:nvPr>
        </p:nvSpPr>
        <p:spPr>
          <a:xfrm>
            <a:off x="802005" y="636905"/>
            <a:ext cx="10587989" cy="1671955"/>
          </a:xfrm>
          <a:prstGeom prst="rect">
            <a:avLst/>
          </a:prstGeom>
          <a:noFill/>
          <a:ln>
            <a:noFill/>
          </a:ln>
        </p:spPr>
        <p:txBody>
          <a:bodyPr anchorCtr="0" anchor="t" bIns="0" lIns="0" spcFirstLastPara="1" rIns="0" wrap="square" tIns="645150">
            <a:spAutoFit/>
          </a:bodyPr>
          <a:lstStyle/>
          <a:p>
            <a:pPr indent="0" lvl="0" marL="897889" rtl="0" algn="l">
              <a:lnSpc>
                <a:spcPct val="100000"/>
              </a:lnSpc>
              <a:spcBef>
                <a:spcPts val="0"/>
              </a:spcBef>
              <a:spcAft>
                <a:spcPts val="0"/>
              </a:spcAft>
              <a:buNone/>
            </a:pPr>
            <a:r>
              <a:rPr lang="fr-FR" sz="3950"/>
              <a:t>L’obsession est une idée qui :</a:t>
            </a:r>
            <a:endParaRPr sz="3950"/>
          </a:p>
        </p:txBody>
      </p:sp>
      <p:sp>
        <p:nvSpPr>
          <p:cNvPr id="1115" name="Google Shape;1115;p13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116" name="Google Shape;1116;p134"/>
          <p:cNvSpPr txBox="1"/>
          <p:nvPr/>
        </p:nvSpPr>
        <p:spPr>
          <a:xfrm>
            <a:off x="1375028" y="2510130"/>
            <a:ext cx="6929120" cy="2568011"/>
          </a:xfrm>
          <a:prstGeom prst="rect">
            <a:avLst/>
          </a:prstGeom>
          <a:noFill/>
          <a:ln>
            <a:noFill/>
          </a:ln>
        </p:spPr>
        <p:txBody>
          <a:bodyPr anchorCtr="0" anchor="t" bIns="0" lIns="0" spcFirstLastPara="1" rIns="0" wrap="square" tIns="53975">
            <a:spAutoFit/>
          </a:bodyPr>
          <a:lstStyle/>
          <a:p>
            <a:pPr indent="-513715" lvl="0" marL="526415"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Assiège le fonctionnement mental du sujet</a:t>
            </a:r>
            <a:endParaRPr sz="2750">
              <a:solidFill>
                <a:srgbClr val="FF0000"/>
              </a:solidFill>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Imposée par une force extérieure</a:t>
            </a:r>
            <a:endParaRPr sz="2750">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A l’origine d’une lutte anxieuse</a:t>
            </a:r>
            <a:endParaRPr sz="2750">
              <a:solidFill>
                <a:srgbClr val="FF0000"/>
              </a:solidFill>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Tenue pour absurde</a:t>
            </a:r>
            <a:endParaRPr sz="2750">
              <a:solidFill>
                <a:srgbClr val="FF0000"/>
              </a:solidFill>
              <a:latin typeface="Garamond"/>
              <a:ea typeface="Garamond"/>
              <a:cs typeface="Garamond"/>
              <a:sym typeface="Garamond"/>
            </a:endParaRPr>
          </a:p>
          <a:p>
            <a:pPr indent="-513715" lvl="0" marL="526415" rtl="0" algn="l">
              <a:lnSpc>
                <a:spcPct val="100000"/>
              </a:lnSpc>
              <a:spcBef>
                <a:spcPts val="8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Est contre la volonté du sujet.</a:t>
            </a:r>
            <a:endParaRPr sz="2750">
              <a:solidFill>
                <a:srgbClr val="FF0000"/>
              </a:solidFill>
              <a:latin typeface="Garamond"/>
              <a:ea typeface="Garamond"/>
              <a:cs typeface="Garamond"/>
              <a:sym typeface="Garamond"/>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135"/>
          <p:cNvSpPr txBox="1"/>
          <p:nvPr>
            <p:ph type="title"/>
          </p:nvPr>
        </p:nvSpPr>
        <p:spPr>
          <a:xfrm>
            <a:off x="1375028" y="761365"/>
            <a:ext cx="9445625" cy="1671955"/>
          </a:xfrm>
          <a:prstGeom prst="rect">
            <a:avLst/>
          </a:prstGeom>
          <a:noFill/>
          <a:ln>
            <a:noFill/>
          </a:ln>
        </p:spPr>
        <p:txBody>
          <a:bodyPr anchorCtr="0" anchor="t" bIns="0" lIns="0" spcFirstLastPara="1" rIns="0" wrap="square" tIns="13325">
            <a:spAutoFit/>
          </a:bodyPr>
          <a:lstStyle/>
          <a:p>
            <a:pPr indent="0" lvl="0" marL="12700" marR="5080" rtl="0" algn="l">
              <a:lnSpc>
                <a:spcPct val="100000"/>
              </a:lnSpc>
              <a:spcBef>
                <a:spcPts val="0"/>
              </a:spcBef>
              <a:spcAft>
                <a:spcPts val="0"/>
              </a:spcAft>
              <a:buNone/>
            </a:pPr>
            <a:r>
              <a:rPr lang="fr-FR"/>
              <a:t>Le fait de vérifier la bouteille de gaz près d’une trentaine de fois par jour chez un homme de 35 </a:t>
            </a:r>
            <a:r>
              <a:rPr lang="fr-FR" u="sng"/>
              <a:t>ans est une:	</a:t>
            </a:r>
            <a:endParaRPr/>
          </a:p>
        </p:txBody>
      </p:sp>
      <p:sp>
        <p:nvSpPr>
          <p:cNvPr id="1122" name="Google Shape;1122;p13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123" name="Google Shape;1123;p135"/>
          <p:cNvSpPr txBox="1"/>
          <p:nvPr/>
        </p:nvSpPr>
        <p:spPr>
          <a:xfrm>
            <a:off x="1231264" y="2509749"/>
            <a:ext cx="2383155" cy="2568011"/>
          </a:xfrm>
          <a:prstGeom prst="rect">
            <a:avLst/>
          </a:prstGeom>
          <a:noFill/>
          <a:ln>
            <a:noFill/>
          </a:ln>
        </p:spPr>
        <p:txBody>
          <a:bodyPr anchorCtr="0" anchor="t" bIns="0" lIns="0" spcFirstLastPara="1" rIns="0" wrap="square" tIns="53975">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Obsession</a:t>
            </a:r>
            <a:endParaRPr sz="2750">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Compulsion</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Phobie</a:t>
            </a:r>
            <a:endParaRPr sz="2750">
              <a:latin typeface="Garamond"/>
              <a:ea typeface="Garamond"/>
              <a:cs typeface="Garamond"/>
              <a:sym typeface="Garamond"/>
            </a:endParaRPr>
          </a:p>
          <a:p>
            <a:pPr indent="-513080" lvl="0" marL="52578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Rituel</a:t>
            </a:r>
            <a:endParaRPr sz="2750">
              <a:solidFill>
                <a:srgbClr val="FF0000"/>
              </a:solidFill>
              <a:latin typeface="Garamond"/>
              <a:ea typeface="Garamond"/>
              <a:cs typeface="Garamond"/>
              <a:sym typeface="Garamond"/>
            </a:endParaRPr>
          </a:p>
          <a:p>
            <a:pPr indent="-513715" lvl="0" marL="526415" rtl="0" algn="l">
              <a:lnSpc>
                <a:spcPct val="100000"/>
              </a:lnSpc>
              <a:spcBef>
                <a:spcPts val="74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Impulsion</a:t>
            </a:r>
            <a:endParaRPr sz="2750">
              <a:latin typeface="Garamond"/>
              <a:ea typeface="Garamond"/>
              <a:cs typeface="Garamond"/>
              <a:sym typeface="Garamond"/>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p136"/>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29" name="Google Shape;1129;p136"/>
          <p:cNvSpPr txBox="1"/>
          <p:nvPr>
            <p:ph type="title"/>
          </p:nvPr>
        </p:nvSpPr>
        <p:spPr>
          <a:xfrm>
            <a:off x="1375028" y="975105"/>
            <a:ext cx="9182100"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solidFill>
                  <a:srgbClr val="000000"/>
                </a:solidFill>
              </a:rPr>
              <a:t>Parmi les formes cliniques des obsessions, on peut citer:</a:t>
            </a:r>
            <a:endParaRPr sz="3950"/>
          </a:p>
        </p:txBody>
      </p:sp>
      <p:sp>
        <p:nvSpPr>
          <p:cNvPr id="1130" name="Google Shape;1130;p13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131" name="Google Shape;1131;p136"/>
          <p:cNvSpPr txBox="1"/>
          <p:nvPr/>
        </p:nvSpPr>
        <p:spPr>
          <a:xfrm>
            <a:off x="1513458" y="2395855"/>
            <a:ext cx="4517390" cy="3307079"/>
          </a:xfrm>
          <a:prstGeom prst="rect">
            <a:avLst/>
          </a:prstGeom>
          <a:noFill/>
          <a:ln>
            <a:noFill/>
          </a:ln>
        </p:spPr>
        <p:txBody>
          <a:bodyPr anchorCtr="0" anchor="t" bIns="0" lIns="0" spcFirstLastPara="1" rIns="0" wrap="square" tIns="250825">
            <a:spAutoFit/>
          </a:bodyPr>
          <a:lstStyle/>
          <a:p>
            <a:pPr indent="-456565" lvl="0" marL="469265" rtl="0" algn="l">
              <a:lnSpc>
                <a:spcPct val="100000"/>
              </a:lnSpc>
              <a:spcBef>
                <a:spcPts val="0"/>
              </a:spcBef>
              <a:spcAft>
                <a:spcPts val="0"/>
              </a:spcAft>
              <a:buClr>
                <a:srgbClr val="92D050"/>
              </a:buClr>
              <a:buSzPts val="2750"/>
              <a:buFont typeface="Garamond"/>
              <a:buAutoNum type="alphaUcPeriod"/>
            </a:pPr>
            <a:r>
              <a:rPr b="1" lang="fr-FR" sz="2750">
                <a:solidFill>
                  <a:srgbClr val="FF0000"/>
                </a:solidFill>
                <a:latin typeface="Garamond"/>
                <a:ea typeface="Garamond"/>
                <a:cs typeface="Garamond"/>
                <a:sym typeface="Garamond"/>
              </a:rPr>
              <a:t>L’obsession phobique.</a:t>
            </a:r>
            <a:endParaRPr sz="2750">
              <a:solidFill>
                <a:srgbClr val="FF0000"/>
              </a:solidFill>
              <a:latin typeface="Garamond"/>
              <a:ea typeface="Garamond"/>
              <a:cs typeface="Garamond"/>
              <a:sym typeface="Garamond"/>
            </a:endParaRPr>
          </a:p>
          <a:p>
            <a:pPr indent="-455930" lvl="0" marL="468630" rtl="0" algn="l">
              <a:lnSpc>
                <a:spcPct val="100000"/>
              </a:lnSpc>
              <a:spcBef>
                <a:spcPts val="1885"/>
              </a:spcBef>
              <a:spcAft>
                <a:spcPts val="0"/>
              </a:spcAft>
              <a:buClr>
                <a:srgbClr val="92D050"/>
              </a:buClr>
              <a:buSzPts val="2750"/>
              <a:buFont typeface="Garamond"/>
              <a:buAutoNum type="alphaUcPeriod"/>
            </a:pPr>
            <a:r>
              <a:rPr b="1" lang="fr-FR" sz="2750">
                <a:latin typeface="Garamond"/>
                <a:ea typeface="Garamond"/>
                <a:cs typeface="Garamond"/>
                <a:sym typeface="Garamond"/>
              </a:rPr>
              <a:t>L’obsession anxieuse.</a:t>
            </a:r>
            <a:endParaRPr sz="2750">
              <a:latin typeface="Garamond"/>
              <a:ea typeface="Garamond"/>
              <a:cs typeface="Garamond"/>
              <a:sym typeface="Garamond"/>
            </a:endParaRPr>
          </a:p>
          <a:p>
            <a:pPr indent="-455930" lvl="0" marL="468630" rtl="0" algn="l">
              <a:lnSpc>
                <a:spcPct val="100000"/>
              </a:lnSpc>
              <a:spcBef>
                <a:spcPts val="1805"/>
              </a:spcBef>
              <a:spcAft>
                <a:spcPts val="0"/>
              </a:spcAft>
              <a:buClr>
                <a:srgbClr val="92D050"/>
              </a:buClr>
              <a:buSzPts val="2750"/>
              <a:buFont typeface="Garamond"/>
              <a:buAutoNum type="alphaUcPeriod"/>
            </a:pPr>
            <a:r>
              <a:rPr b="1" lang="fr-FR" sz="2750">
                <a:solidFill>
                  <a:srgbClr val="FF0000"/>
                </a:solidFill>
                <a:latin typeface="Garamond"/>
                <a:ea typeface="Garamond"/>
                <a:cs typeface="Garamond"/>
                <a:sym typeface="Garamond"/>
              </a:rPr>
              <a:t>L’obsession idéative.</a:t>
            </a:r>
            <a:endParaRPr sz="2750">
              <a:solidFill>
                <a:srgbClr val="FF0000"/>
              </a:solidFill>
              <a:latin typeface="Garamond"/>
              <a:ea typeface="Garamond"/>
              <a:cs typeface="Garamond"/>
              <a:sym typeface="Garamond"/>
            </a:endParaRPr>
          </a:p>
          <a:p>
            <a:pPr indent="-457200" lvl="0" marL="469900" rtl="0" algn="l">
              <a:lnSpc>
                <a:spcPct val="100000"/>
              </a:lnSpc>
              <a:spcBef>
                <a:spcPts val="1885"/>
              </a:spcBef>
              <a:spcAft>
                <a:spcPts val="0"/>
              </a:spcAft>
              <a:buClr>
                <a:srgbClr val="92D050"/>
              </a:buClr>
              <a:buSzPts val="2750"/>
              <a:buFont typeface="Garamond"/>
              <a:buAutoNum type="alphaUcPeriod"/>
            </a:pPr>
            <a:r>
              <a:rPr b="1" lang="fr-FR" sz="2750">
                <a:latin typeface="Garamond"/>
                <a:ea typeface="Garamond"/>
                <a:cs typeface="Garamond"/>
                <a:sym typeface="Garamond"/>
              </a:rPr>
              <a:t>Les images obsédantes.</a:t>
            </a:r>
            <a:endParaRPr sz="2750">
              <a:latin typeface="Garamond"/>
              <a:ea typeface="Garamond"/>
              <a:cs typeface="Garamond"/>
              <a:sym typeface="Garamond"/>
            </a:endParaRPr>
          </a:p>
          <a:p>
            <a:pPr indent="-456565" lvl="0" marL="469265" rtl="0" algn="l">
              <a:lnSpc>
                <a:spcPct val="100000"/>
              </a:lnSpc>
              <a:spcBef>
                <a:spcPts val="1880"/>
              </a:spcBef>
              <a:spcAft>
                <a:spcPts val="0"/>
              </a:spcAft>
              <a:buClr>
                <a:srgbClr val="92D050"/>
              </a:buClr>
              <a:buSzPts val="2750"/>
              <a:buFont typeface="Garamond"/>
              <a:buAutoNum type="alphaUcPeriod"/>
            </a:pPr>
            <a:r>
              <a:rPr b="1" lang="fr-FR" sz="2750">
                <a:solidFill>
                  <a:srgbClr val="FF0000"/>
                </a:solidFill>
                <a:latin typeface="Garamond"/>
                <a:ea typeface="Garamond"/>
                <a:cs typeface="Garamond"/>
                <a:sym typeface="Garamond"/>
              </a:rPr>
              <a:t>Les obsessions impulsives.</a:t>
            </a:r>
            <a:endParaRPr sz="2750">
              <a:solidFill>
                <a:srgbClr val="FF0000"/>
              </a:solidFill>
              <a:latin typeface="Garamond"/>
              <a:ea typeface="Garamond"/>
              <a:cs typeface="Garamond"/>
              <a:sym typeface="Garamond"/>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p137"/>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37" name="Google Shape;1137;p137"/>
          <p:cNvSpPr txBox="1"/>
          <p:nvPr>
            <p:ph type="title"/>
          </p:nvPr>
        </p:nvSpPr>
        <p:spPr>
          <a:xfrm>
            <a:off x="802005" y="636905"/>
            <a:ext cx="10587989" cy="1671955"/>
          </a:xfrm>
          <a:prstGeom prst="rect">
            <a:avLst/>
          </a:prstGeom>
          <a:noFill/>
          <a:ln>
            <a:noFill/>
          </a:ln>
        </p:spPr>
        <p:txBody>
          <a:bodyPr anchorCtr="0" anchor="t" bIns="0" lIns="0" spcFirstLastPara="1" rIns="0" wrap="square" tIns="469575">
            <a:spAutoFit/>
          </a:bodyPr>
          <a:lstStyle/>
          <a:p>
            <a:pPr indent="0" lvl="0" marL="944880" rtl="0" algn="l">
              <a:lnSpc>
                <a:spcPct val="100000"/>
              </a:lnSpc>
              <a:spcBef>
                <a:spcPts val="0"/>
              </a:spcBef>
              <a:spcAft>
                <a:spcPts val="0"/>
              </a:spcAft>
              <a:buNone/>
            </a:pPr>
            <a:r>
              <a:rPr lang="fr-FR" sz="4400">
                <a:solidFill>
                  <a:srgbClr val="000000"/>
                </a:solidFill>
              </a:rPr>
              <a:t>Les obsessions:</a:t>
            </a:r>
            <a:endParaRPr sz="4400"/>
          </a:p>
        </p:txBody>
      </p:sp>
      <p:sp>
        <p:nvSpPr>
          <p:cNvPr id="1138" name="Google Shape;1138;p13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139" name="Google Shape;1139;p137"/>
          <p:cNvSpPr txBox="1"/>
          <p:nvPr/>
        </p:nvSpPr>
        <p:spPr>
          <a:xfrm>
            <a:off x="1360424" y="2501689"/>
            <a:ext cx="6822440" cy="2568652"/>
          </a:xfrm>
          <a:prstGeom prst="rect">
            <a:avLst/>
          </a:prstGeom>
          <a:noFill/>
          <a:ln>
            <a:noFill/>
          </a:ln>
        </p:spPr>
        <p:txBody>
          <a:bodyPr anchorCtr="0" anchor="t" bIns="0" lIns="0" spcFirstLastPara="1" rIns="0" wrap="square" tIns="54600">
            <a:spAutoFit/>
          </a:bodyPr>
          <a:lstStyle/>
          <a:p>
            <a:pPr indent="-513715" lvl="0" marL="526415"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Sont des hallucinations intra-psychiques</a:t>
            </a:r>
            <a:endParaRPr sz="2750">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Peuvent être de nature phobique</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latin typeface="Garamond"/>
                <a:ea typeface="Garamond"/>
                <a:cs typeface="Garamond"/>
                <a:sym typeface="Garamond"/>
              </a:rPr>
              <a:t>Ne se voient que dans le TOC</a:t>
            </a:r>
            <a:endParaRPr sz="2750">
              <a:latin typeface="Garamond"/>
              <a:ea typeface="Garamond"/>
              <a:cs typeface="Garamond"/>
              <a:sym typeface="Garamond"/>
            </a:endParaRPr>
          </a:p>
          <a:p>
            <a:pPr indent="-513080" lvl="0" marL="525780" rtl="0" algn="l">
              <a:lnSpc>
                <a:spcPct val="100000"/>
              </a:lnSpc>
              <a:spcBef>
                <a:spcPts val="74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S’accompagnent toujours de compulsions</a:t>
            </a:r>
            <a:endParaRPr sz="2750">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Sont égodystoniques</a:t>
            </a:r>
            <a:endParaRPr sz="2750">
              <a:solidFill>
                <a:srgbClr val="FF0000"/>
              </a:solidFill>
              <a:latin typeface="Garamond"/>
              <a:ea typeface="Garamond"/>
              <a:cs typeface="Garamond"/>
              <a:sym typeface="Garamond"/>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138"/>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45" name="Google Shape;1145;p138"/>
          <p:cNvSpPr txBox="1"/>
          <p:nvPr>
            <p:ph type="title"/>
          </p:nvPr>
        </p:nvSpPr>
        <p:spPr>
          <a:xfrm>
            <a:off x="1028382" y="975105"/>
            <a:ext cx="10310495"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t>Parmi	les propositions suivantes concernant	la définition de l’obsession, lesquelles sont vraies?</a:t>
            </a:r>
            <a:endParaRPr sz="3950"/>
          </a:p>
        </p:txBody>
      </p:sp>
      <p:sp>
        <p:nvSpPr>
          <p:cNvPr id="1146" name="Google Shape;1146;p13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147" name="Google Shape;1147;p138"/>
          <p:cNvSpPr txBox="1"/>
          <p:nvPr/>
        </p:nvSpPr>
        <p:spPr>
          <a:xfrm>
            <a:off x="1375028" y="2473525"/>
            <a:ext cx="9401810" cy="2478243"/>
          </a:xfrm>
          <a:prstGeom prst="rect">
            <a:avLst/>
          </a:prstGeom>
          <a:noFill/>
          <a:ln>
            <a:noFill/>
          </a:ln>
        </p:spPr>
        <p:txBody>
          <a:bodyPr anchorCtr="0" anchor="t" bIns="0" lIns="0" spcFirstLastPara="1" rIns="0" wrap="square" tIns="56500">
            <a:spAutoFit/>
          </a:bodyPr>
          <a:lstStyle/>
          <a:p>
            <a:pPr indent="-456565" lvl="0" marL="469265" rtl="0" algn="l">
              <a:lnSpc>
                <a:spcPct val="100000"/>
              </a:lnSpc>
              <a:spcBef>
                <a:spcPts val="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Son irruption dans le fonctionnement psychique est inopinée</a:t>
            </a:r>
            <a:endParaRPr sz="2600">
              <a:solidFill>
                <a:srgbClr val="FF0000"/>
              </a:solidFill>
              <a:latin typeface="Garamond"/>
              <a:ea typeface="Garamond"/>
              <a:cs typeface="Garamond"/>
              <a:sym typeface="Garamond"/>
            </a:endParaRPr>
          </a:p>
          <a:p>
            <a:pPr indent="-456565" lvl="0" marL="469265" rtl="0" algn="l">
              <a:lnSpc>
                <a:spcPct val="100000"/>
              </a:lnSpc>
              <a:spcBef>
                <a:spcPts val="75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Elle survient toujours en réaction aux circonstances extérieures</a:t>
            </a:r>
            <a:endParaRPr sz="2600">
              <a:latin typeface="Garamond"/>
              <a:ea typeface="Garamond"/>
              <a:cs typeface="Garamond"/>
              <a:sym typeface="Garamond"/>
            </a:endParaRPr>
          </a:p>
          <a:p>
            <a:pPr indent="-456565" lvl="0" marL="469265" rtl="0" algn="l">
              <a:lnSpc>
                <a:spcPct val="100000"/>
              </a:lnSpc>
              <a:spcBef>
                <a:spcPts val="78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Elle respecte le fonctionnement mental</a:t>
            </a:r>
            <a:endParaRPr sz="2750">
              <a:solidFill>
                <a:srgbClr val="FF0000"/>
              </a:solidFill>
              <a:latin typeface="Garamond"/>
              <a:ea typeface="Garamond"/>
              <a:cs typeface="Garamond"/>
              <a:sym typeface="Garamond"/>
            </a:endParaRPr>
          </a:p>
          <a:p>
            <a:pPr indent="-455930" lvl="0" marL="468630" rtl="0" algn="l">
              <a:lnSpc>
                <a:spcPct val="100000"/>
              </a:lnSpc>
              <a:spcBef>
                <a:spcPts val="71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Son caractère morbide échappe totalement à la critique du sujet</a:t>
            </a:r>
            <a:endParaRPr sz="2600">
              <a:latin typeface="Garamond"/>
              <a:ea typeface="Garamond"/>
              <a:cs typeface="Garamond"/>
              <a:sym typeface="Garamond"/>
            </a:endParaRPr>
          </a:p>
          <a:p>
            <a:pPr indent="-456565" lvl="0" marL="469265"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Le champ de conscience n’y pas modifié</a:t>
            </a:r>
            <a:endParaRPr sz="2600">
              <a:solidFill>
                <a:srgbClr val="FF0000"/>
              </a:solidFill>
              <a:latin typeface="Garamond"/>
              <a:ea typeface="Garamond"/>
              <a:cs typeface="Garamond"/>
              <a:sym typeface="Garamond"/>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p139"/>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53" name="Google Shape;1153;p139"/>
          <p:cNvSpPr txBox="1"/>
          <p:nvPr>
            <p:ph type="title"/>
          </p:nvPr>
        </p:nvSpPr>
        <p:spPr>
          <a:xfrm>
            <a:off x="1236662" y="1458213"/>
            <a:ext cx="10198735" cy="63246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3950"/>
              <a:t>Les obsessions idéatives sont évoquées devant :</a:t>
            </a:r>
            <a:endParaRPr sz="3950"/>
          </a:p>
        </p:txBody>
      </p:sp>
      <p:sp>
        <p:nvSpPr>
          <p:cNvPr id="1154" name="Google Shape;1154;p13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155" name="Google Shape;1155;p139"/>
          <p:cNvSpPr txBox="1"/>
          <p:nvPr/>
        </p:nvSpPr>
        <p:spPr>
          <a:xfrm>
            <a:off x="1256982" y="2525595"/>
            <a:ext cx="6978650" cy="2455159"/>
          </a:xfrm>
          <a:prstGeom prst="rect">
            <a:avLst/>
          </a:prstGeom>
          <a:noFill/>
          <a:ln>
            <a:noFill/>
          </a:ln>
        </p:spPr>
        <p:txBody>
          <a:bodyPr anchorCtr="0" anchor="t" bIns="0" lIns="0" spcFirstLastPara="1" rIns="0" wrap="square" tIns="56500">
            <a:spAutoFit/>
          </a:bodyPr>
          <a:lstStyle/>
          <a:p>
            <a:pPr indent="-514350" lvl="0" marL="527050" rtl="0" algn="l">
              <a:lnSpc>
                <a:spcPct val="100000"/>
              </a:lnSpc>
              <a:spcBef>
                <a:spcPts val="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Des rituels de vérification</a:t>
            </a:r>
            <a:endParaRPr sz="2600">
              <a:solidFill>
                <a:srgbClr val="FF0000"/>
              </a:solidFill>
              <a:latin typeface="Garamond"/>
              <a:ea typeface="Garamond"/>
              <a:cs typeface="Garamond"/>
              <a:sym typeface="Garamond"/>
            </a:endParaRPr>
          </a:p>
          <a:p>
            <a:pPr indent="-514350" lvl="0" marL="527050" rtl="0" algn="l">
              <a:lnSpc>
                <a:spcPct val="100000"/>
              </a:lnSpc>
              <a:spcBef>
                <a:spcPts val="75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La peur de commettre un acte répréhensible</a:t>
            </a:r>
            <a:endParaRPr sz="2600">
              <a:latin typeface="Garamond"/>
              <a:ea typeface="Garamond"/>
              <a:cs typeface="Garamond"/>
              <a:sym typeface="Garamond"/>
            </a:endParaRPr>
          </a:p>
          <a:p>
            <a:pPr indent="-514350" lvl="0" marL="527050" rtl="0" algn="l">
              <a:lnSpc>
                <a:spcPct val="100000"/>
              </a:lnSpc>
              <a:spcBef>
                <a:spcPts val="68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Des rituels de lavage</a:t>
            </a:r>
            <a:endParaRPr sz="2600">
              <a:latin typeface="Garamond"/>
              <a:ea typeface="Garamond"/>
              <a:cs typeface="Garamond"/>
              <a:sym typeface="Garamond"/>
            </a:endParaRPr>
          </a:p>
          <a:p>
            <a:pPr indent="-513080" lvl="0" marL="525780"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Des interrogations métaphysiques obsédantes</a:t>
            </a:r>
            <a:endParaRPr sz="2600">
              <a:solidFill>
                <a:srgbClr val="FF0000"/>
              </a:solidFill>
              <a:latin typeface="Garamond"/>
              <a:ea typeface="Garamond"/>
              <a:cs typeface="Garamond"/>
              <a:sym typeface="Garamond"/>
            </a:endParaRPr>
          </a:p>
          <a:p>
            <a:pPr indent="-514350" lvl="0" marL="527050"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Des images mentales à contenu obscène</a:t>
            </a:r>
            <a:endParaRPr sz="2600">
              <a:solidFill>
                <a:srgbClr val="FF0000"/>
              </a:solidFill>
              <a:latin typeface="Garamond"/>
              <a:ea typeface="Garamond"/>
              <a:cs typeface="Garamond"/>
              <a:sym typeface="Garamond"/>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9" name="Shape 1159"/>
        <p:cNvGrpSpPr/>
        <p:nvPr/>
      </p:nvGrpSpPr>
      <p:grpSpPr>
        <a:xfrm>
          <a:off x="0" y="0"/>
          <a:ext cx="0" cy="0"/>
          <a:chOff x="0" y="0"/>
          <a:chExt cx="0" cy="0"/>
        </a:xfrm>
      </p:grpSpPr>
      <p:sp>
        <p:nvSpPr>
          <p:cNvPr id="1160" name="Google Shape;1160;p140"/>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61" name="Google Shape;1161;p140"/>
          <p:cNvSpPr txBox="1"/>
          <p:nvPr>
            <p:ph type="title"/>
          </p:nvPr>
        </p:nvSpPr>
        <p:spPr>
          <a:xfrm>
            <a:off x="1271905" y="1365630"/>
            <a:ext cx="9591040" cy="57531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fr-FR"/>
              <a:t>Le trouble obsessionnel compulsif	est défini par :</a:t>
            </a:r>
            <a:endParaRPr/>
          </a:p>
        </p:txBody>
      </p:sp>
      <p:sp>
        <p:nvSpPr>
          <p:cNvPr id="1162" name="Google Shape;1162;p14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163" name="Google Shape;1163;p140"/>
          <p:cNvSpPr txBox="1"/>
          <p:nvPr/>
        </p:nvSpPr>
        <p:spPr>
          <a:xfrm>
            <a:off x="1271905" y="2592004"/>
            <a:ext cx="4392930" cy="2568652"/>
          </a:xfrm>
          <a:prstGeom prst="rect">
            <a:avLst/>
          </a:prstGeom>
          <a:noFill/>
          <a:ln>
            <a:noFill/>
          </a:ln>
        </p:spPr>
        <p:txBody>
          <a:bodyPr anchorCtr="0" anchor="t" bIns="0" lIns="0" spcFirstLastPara="1" rIns="0" wrap="square" tIns="54600">
            <a:spAutoFit/>
          </a:bodyPr>
          <a:lstStyle/>
          <a:p>
            <a:pPr indent="-513715" lvl="0" marL="526415"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Des obsessions idéatives</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Mythomanie</a:t>
            </a:r>
            <a:endParaRPr sz="2750">
              <a:latin typeface="Garamond"/>
              <a:ea typeface="Garamond"/>
              <a:cs typeface="Garamond"/>
              <a:sym typeface="Garamond"/>
            </a:endParaRPr>
          </a:p>
          <a:p>
            <a:pPr indent="-514350" lvl="0" marL="527050" rtl="0" algn="l">
              <a:lnSpc>
                <a:spcPct val="100000"/>
              </a:lnSpc>
              <a:spcBef>
                <a:spcPts val="8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phobie d’impulsion</a:t>
            </a:r>
            <a:endParaRPr sz="2750">
              <a:solidFill>
                <a:srgbClr val="FF0000"/>
              </a:solidFill>
              <a:latin typeface="Garamond"/>
              <a:ea typeface="Garamond"/>
              <a:cs typeface="Garamond"/>
              <a:sym typeface="Garamond"/>
            </a:endParaRPr>
          </a:p>
          <a:p>
            <a:pPr indent="-513080" lvl="0" marL="525780" rtl="0" algn="l">
              <a:lnSpc>
                <a:spcPct val="100000"/>
              </a:lnSpc>
              <a:spcBef>
                <a:spcPts val="7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agoraphobie</a:t>
            </a:r>
            <a:endParaRPr sz="2750">
              <a:latin typeface="Garamond"/>
              <a:ea typeface="Garamond"/>
              <a:cs typeface="Garamond"/>
              <a:sym typeface="Garamond"/>
            </a:endParaRPr>
          </a:p>
          <a:p>
            <a:pPr indent="-513080" lvl="0" marL="52578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Des rituels de vérification</a:t>
            </a:r>
            <a:endParaRPr sz="2750">
              <a:solidFill>
                <a:srgbClr val="FF0000"/>
              </a:solidFill>
              <a:latin typeface="Garamond"/>
              <a:ea typeface="Garamond"/>
              <a:cs typeface="Garamond"/>
              <a:sym typeface="Garamond"/>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141"/>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69" name="Google Shape;1169;p141"/>
          <p:cNvSpPr txBox="1"/>
          <p:nvPr>
            <p:ph type="title"/>
          </p:nvPr>
        </p:nvSpPr>
        <p:spPr>
          <a:xfrm>
            <a:off x="802005" y="636905"/>
            <a:ext cx="10587989" cy="1671955"/>
          </a:xfrm>
          <a:prstGeom prst="rect">
            <a:avLst/>
          </a:prstGeom>
          <a:noFill/>
          <a:ln>
            <a:noFill/>
          </a:ln>
        </p:spPr>
        <p:txBody>
          <a:bodyPr anchorCtr="0" anchor="t" bIns="0" lIns="0" spcFirstLastPara="1" rIns="0" wrap="square" tIns="501325">
            <a:spAutoFit/>
          </a:bodyPr>
          <a:lstStyle/>
          <a:p>
            <a:pPr indent="0" lvl="0" marL="628650" rtl="0" algn="l">
              <a:lnSpc>
                <a:spcPct val="100000"/>
              </a:lnSpc>
              <a:spcBef>
                <a:spcPts val="0"/>
              </a:spcBef>
              <a:spcAft>
                <a:spcPts val="0"/>
              </a:spcAft>
              <a:buNone/>
            </a:pPr>
            <a:r>
              <a:rPr lang="fr-FR" sz="4400"/>
              <a:t>Le trouble obsessionnel compulsif:</a:t>
            </a:r>
            <a:endParaRPr sz="4400"/>
          </a:p>
        </p:txBody>
      </p:sp>
      <p:sp>
        <p:nvSpPr>
          <p:cNvPr id="1170" name="Google Shape;1170;p14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171" name="Google Shape;1171;p141"/>
          <p:cNvSpPr txBox="1"/>
          <p:nvPr/>
        </p:nvSpPr>
        <p:spPr>
          <a:xfrm>
            <a:off x="1007427" y="2421318"/>
            <a:ext cx="10510520" cy="3275897"/>
          </a:xfrm>
          <a:prstGeom prst="rect">
            <a:avLst/>
          </a:prstGeom>
          <a:noFill/>
          <a:ln>
            <a:noFill/>
          </a:ln>
        </p:spPr>
        <p:txBody>
          <a:bodyPr anchorCtr="0" anchor="t" bIns="0" lIns="0" spcFirstLastPara="1" rIns="0" wrap="square" tIns="31100">
            <a:spAutoFit/>
          </a:bodyPr>
          <a:lstStyle/>
          <a:p>
            <a:pPr indent="-514983" lvl="0" marL="527050" marR="5080" rtl="0" algn="l">
              <a:lnSpc>
                <a:spcPct val="131666"/>
              </a:lnSpc>
              <a:spcBef>
                <a:spcPts val="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Consiste en des préoccupations excessives concernant les problèmes de la vie quotidienne</a:t>
            </a:r>
            <a:endParaRPr sz="2400">
              <a:latin typeface="Garamond"/>
              <a:ea typeface="Garamond"/>
              <a:cs typeface="Garamond"/>
              <a:sym typeface="Garamond"/>
            </a:endParaRPr>
          </a:p>
          <a:p>
            <a:pPr indent="-514350" lvl="0" marL="527050" rtl="0" algn="l">
              <a:lnSpc>
                <a:spcPct val="100000"/>
              </a:lnSpc>
              <a:spcBef>
                <a:spcPts val="97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Peut comporter des hallucinations psychiques</a:t>
            </a:r>
            <a:endParaRPr sz="2400">
              <a:latin typeface="Garamond"/>
              <a:ea typeface="Garamond"/>
              <a:cs typeface="Garamond"/>
              <a:sym typeface="Garamond"/>
            </a:endParaRPr>
          </a:p>
          <a:p>
            <a:pPr indent="-514350" lvl="0" marL="527050" rtl="0" algn="l">
              <a:lnSpc>
                <a:spcPct val="100000"/>
              </a:lnSpc>
              <a:spcBef>
                <a:spcPts val="1055"/>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Peut-être comorbide avec d’autres troubles anxieux</a:t>
            </a:r>
            <a:endParaRPr sz="2400">
              <a:solidFill>
                <a:srgbClr val="FF0000"/>
              </a:solidFill>
              <a:latin typeface="Garamond"/>
              <a:ea typeface="Garamond"/>
              <a:cs typeface="Garamond"/>
              <a:sym typeface="Garamond"/>
            </a:endParaRPr>
          </a:p>
          <a:p>
            <a:pPr indent="-514350" lvl="0" marL="527050" rtl="0" algn="l">
              <a:lnSpc>
                <a:spcPct val="100000"/>
              </a:lnSpc>
              <a:spcBef>
                <a:spcPts val="1055"/>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Le sujet lutte contre le phénomène obsessionnel compulsif</a:t>
            </a:r>
            <a:endParaRPr sz="2400">
              <a:solidFill>
                <a:srgbClr val="FF0000"/>
              </a:solidFill>
              <a:latin typeface="Garamond"/>
              <a:ea typeface="Garamond"/>
              <a:cs typeface="Garamond"/>
              <a:sym typeface="Garamond"/>
            </a:endParaRPr>
          </a:p>
          <a:p>
            <a:pPr indent="-514350" lvl="0" marL="527050" rtl="0" algn="l">
              <a:lnSpc>
                <a:spcPct val="100000"/>
              </a:lnSpc>
              <a:spcBef>
                <a:spcPts val="1055"/>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Le sujet considère que les idées obsédantes proviennent de sa propre activité</a:t>
            </a:r>
            <a:endParaRPr sz="2400">
              <a:solidFill>
                <a:srgbClr val="FF0000"/>
              </a:solidFill>
              <a:latin typeface="Garamond"/>
              <a:ea typeface="Garamond"/>
              <a:cs typeface="Garamond"/>
              <a:sym typeface="Garamond"/>
            </a:endParaRPr>
          </a:p>
          <a:p>
            <a:pPr indent="0" lvl="0" marL="527050" rtl="0" algn="l">
              <a:lnSpc>
                <a:spcPct val="100000"/>
              </a:lnSpc>
              <a:spcBef>
                <a:spcPts val="204"/>
              </a:spcBef>
              <a:spcAft>
                <a:spcPts val="0"/>
              </a:spcAft>
              <a:buNone/>
            </a:pPr>
            <a:r>
              <a:rPr b="1" lang="fr-FR" sz="2400">
                <a:solidFill>
                  <a:srgbClr val="FF0000"/>
                </a:solidFill>
                <a:latin typeface="Garamond"/>
                <a:ea typeface="Garamond"/>
                <a:cs typeface="Garamond"/>
                <a:sym typeface="Garamond"/>
              </a:rPr>
              <a:t>mentale</a:t>
            </a:r>
            <a:endParaRPr sz="2400">
              <a:solidFill>
                <a:srgbClr val="FF0000"/>
              </a:solidFill>
              <a:latin typeface="Garamond"/>
              <a:ea typeface="Garamond"/>
              <a:cs typeface="Garamond"/>
              <a:sym typeface="Garamond"/>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142"/>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77" name="Google Shape;1177;p142"/>
          <p:cNvSpPr txBox="1"/>
          <p:nvPr>
            <p:ph type="title"/>
          </p:nvPr>
        </p:nvSpPr>
        <p:spPr>
          <a:xfrm>
            <a:off x="802005" y="636905"/>
            <a:ext cx="10587989" cy="1671955"/>
          </a:xfrm>
          <a:prstGeom prst="rect">
            <a:avLst/>
          </a:prstGeom>
          <a:noFill/>
          <a:ln>
            <a:noFill/>
          </a:ln>
        </p:spPr>
        <p:txBody>
          <a:bodyPr anchorCtr="0" anchor="t" bIns="0" lIns="0" spcFirstLastPara="1" rIns="0" wrap="square" tIns="580375">
            <a:spAutoFit/>
          </a:bodyPr>
          <a:lstStyle/>
          <a:p>
            <a:pPr indent="0" lvl="0" marL="429894" marR="5080" rtl="0" algn="l">
              <a:lnSpc>
                <a:spcPct val="118888"/>
              </a:lnSpc>
              <a:spcBef>
                <a:spcPts val="0"/>
              </a:spcBef>
              <a:spcAft>
                <a:spcPts val="0"/>
              </a:spcAft>
              <a:buNone/>
            </a:pPr>
            <a:r>
              <a:rPr lang="fr-FR"/>
              <a:t>Parmi les symptômes suivants, le(s)quel(s) appartien(nen)t au trouble obsessionnel compulsif ?</a:t>
            </a:r>
            <a:endParaRPr/>
          </a:p>
        </p:txBody>
      </p:sp>
      <p:sp>
        <p:nvSpPr>
          <p:cNvPr id="1178" name="Google Shape;1178;p14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179" name="Google Shape;1179;p142"/>
          <p:cNvSpPr txBox="1"/>
          <p:nvPr/>
        </p:nvSpPr>
        <p:spPr>
          <a:xfrm>
            <a:off x="1375028" y="2536124"/>
            <a:ext cx="3819525" cy="2658420"/>
          </a:xfrm>
          <a:prstGeom prst="rect">
            <a:avLst/>
          </a:prstGeom>
          <a:noFill/>
          <a:ln>
            <a:noFill/>
          </a:ln>
        </p:spPr>
        <p:txBody>
          <a:bodyPr anchorCtr="0" anchor="t" bIns="0" lIns="0" spcFirstLastPara="1" rIns="0" wrap="square" tIns="546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Acte compulsif</a:t>
            </a:r>
            <a:endParaRPr sz="2750">
              <a:solidFill>
                <a:srgbClr val="FF0000"/>
              </a:solidFill>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Angoisse psychotique</a:t>
            </a:r>
            <a:endParaRPr sz="2750">
              <a:latin typeface="Garamond"/>
              <a:ea typeface="Garamond"/>
              <a:cs typeface="Garamond"/>
              <a:sym typeface="Garamond"/>
            </a:endParaRPr>
          </a:p>
          <a:p>
            <a:pPr indent="-514350" lvl="0" marL="527050" rtl="0" algn="l">
              <a:lnSpc>
                <a:spcPct val="100000"/>
              </a:lnSpc>
              <a:spcBef>
                <a:spcPts val="8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Phobies d'impulsion</a:t>
            </a:r>
            <a:endParaRPr sz="2750">
              <a:solidFill>
                <a:srgbClr val="FF0000"/>
              </a:solidFill>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Fabulation</a:t>
            </a:r>
            <a:endParaRPr sz="2750">
              <a:latin typeface="Garamond"/>
              <a:ea typeface="Garamond"/>
              <a:cs typeface="Garamond"/>
              <a:sym typeface="Garamond"/>
            </a:endParaRPr>
          </a:p>
          <a:p>
            <a:pPr indent="-513715" lvl="0" marL="526415" rtl="0" algn="l">
              <a:lnSpc>
                <a:spcPct val="100000"/>
              </a:lnSpc>
              <a:spcBef>
                <a:spcPts val="149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Impulsions</a:t>
            </a:r>
            <a:endParaRPr sz="2750">
              <a:solidFill>
                <a:srgbClr val="FF0000"/>
              </a:solidFill>
              <a:latin typeface="Garamond"/>
              <a:ea typeface="Garamond"/>
              <a:cs typeface="Garamond"/>
              <a:sym typeface="Garamond"/>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3" name="Shape 1183"/>
        <p:cNvGrpSpPr/>
        <p:nvPr/>
      </p:nvGrpSpPr>
      <p:grpSpPr>
        <a:xfrm>
          <a:off x="0" y="0"/>
          <a:ext cx="0" cy="0"/>
          <a:chOff x="0" y="0"/>
          <a:chExt cx="0" cy="0"/>
        </a:xfrm>
      </p:grpSpPr>
      <p:sp>
        <p:nvSpPr>
          <p:cNvPr id="1184" name="Google Shape;1184;p143"/>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85" name="Google Shape;1185;p143"/>
          <p:cNvSpPr txBox="1"/>
          <p:nvPr>
            <p:ph type="title"/>
          </p:nvPr>
        </p:nvSpPr>
        <p:spPr>
          <a:xfrm>
            <a:off x="802005" y="636905"/>
            <a:ext cx="10587989" cy="1671955"/>
          </a:xfrm>
          <a:prstGeom prst="rect">
            <a:avLst/>
          </a:prstGeom>
          <a:noFill/>
          <a:ln>
            <a:noFill/>
          </a:ln>
        </p:spPr>
        <p:txBody>
          <a:bodyPr anchorCtr="0" anchor="t" bIns="0" lIns="0" spcFirstLastPara="1" rIns="0" wrap="square" tIns="660075">
            <a:spAutoFit/>
          </a:bodyPr>
          <a:lstStyle/>
          <a:p>
            <a:pPr indent="0" lvl="0" marL="897889" rtl="0" algn="l">
              <a:lnSpc>
                <a:spcPct val="100000"/>
              </a:lnSpc>
              <a:spcBef>
                <a:spcPts val="0"/>
              </a:spcBef>
              <a:spcAft>
                <a:spcPts val="0"/>
              </a:spcAft>
              <a:buNone/>
            </a:pPr>
            <a:r>
              <a:rPr lang="fr-FR" sz="4400"/>
              <a:t>Les phobies d’impulsions:</a:t>
            </a:r>
            <a:endParaRPr sz="4400"/>
          </a:p>
        </p:txBody>
      </p:sp>
      <p:sp>
        <p:nvSpPr>
          <p:cNvPr id="1186" name="Google Shape;1186;p14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187" name="Google Shape;1187;p143"/>
          <p:cNvSpPr txBox="1"/>
          <p:nvPr/>
        </p:nvSpPr>
        <p:spPr>
          <a:xfrm>
            <a:off x="1375028" y="2523923"/>
            <a:ext cx="8716645" cy="2346796"/>
          </a:xfrm>
          <a:prstGeom prst="rect">
            <a:avLst/>
          </a:prstGeom>
          <a:noFill/>
          <a:ln>
            <a:noFill/>
          </a:ln>
        </p:spPr>
        <p:txBody>
          <a:bodyPr anchorCtr="0" anchor="t" bIns="0" lIns="0" spcFirstLastPara="1" rIns="0" wrap="square" tIns="127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Surviennent à l’esprit du sujet contre sa volonté</a:t>
            </a:r>
            <a:endParaRPr sz="2750">
              <a:solidFill>
                <a:srgbClr val="FF0000"/>
              </a:solidFill>
              <a:latin typeface="Garamond"/>
              <a:ea typeface="Garamond"/>
              <a:cs typeface="Garamond"/>
              <a:sym typeface="Garamond"/>
            </a:endParaRPr>
          </a:p>
          <a:p>
            <a:pPr indent="-514350" lvl="0" marL="527050" rtl="0" algn="l">
              <a:lnSpc>
                <a:spcPct val="100000"/>
              </a:lnSpc>
              <a:spcBef>
                <a:spcPts val="44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Incitent le sujet à commettre des actes incongrus</a:t>
            </a:r>
            <a:endParaRPr sz="2750">
              <a:solidFill>
                <a:srgbClr val="FF0000"/>
              </a:solidFill>
              <a:latin typeface="Garamond"/>
              <a:ea typeface="Garamond"/>
              <a:cs typeface="Garamond"/>
              <a:sym typeface="Garamond"/>
            </a:endParaRPr>
          </a:p>
          <a:p>
            <a:pPr indent="-514350" lvl="0" marL="527050" rtl="0" algn="l">
              <a:lnSpc>
                <a:spcPct val="100000"/>
              </a:lnSpc>
              <a:spcBef>
                <a:spcPts val="4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Incitent le sujet à dire des injures</a:t>
            </a:r>
            <a:endParaRPr sz="2750">
              <a:solidFill>
                <a:srgbClr val="FF0000"/>
              </a:solidFill>
              <a:latin typeface="Garamond"/>
              <a:ea typeface="Garamond"/>
              <a:cs typeface="Garamond"/>
              <a:sym typeface="Garamond"/>
            </a:endParaRPr>
          </a:p>
          <a:p>
            <a:pPr indent="-513715" lvl="0" marL="526415" rtl="0" algn="l">
              <a:lnSpc>
                <a:spcPct val="100000"/>
              </a:lnSpc>
              <a:spcBef>
                <a:spcPts val="4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Sont accompagnées d’un passage à l’acte très fréquent</a:t>
            </a:r>
            <a:endParaRPr sz="2750">
              <a:latin typeface="Garamond"/>
              <a:ea typeface="Garamond"/>
              <a:cs typeface="Garamond"/>
              <a:sym typeface="Garamond"/>
            </a:endParaRPr>
          </a:p>
          <a:p>
            <a:pPr indent="-513715" lvl="0" marL="526415" rtl="0" algn="l">
              <a:lnSpc>
                <a:spcPct val="100000"/>
              </a:lnSpc>
              <a:spcBef>
                <a:spcPts val="5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Sont des phobies</a:t>
            </a:r>
            <a:endParaRPr sz="2750">
              <a:latin typeface="Garamond"/>
              <a:ea typeface="Garamond"/>
              <a:cs typeface="Garamond"/>
              <a:sym typeface="Garamond"/>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p144"/>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93" name="Google Shape;1193;p144"/>
          <p:cNvSpPr txBox="1"/>
          <p:nvPr>
            <p:ph type="title"/>
          </p:nvPr>
        </p:nvSpPr>
        <p:spPr>
          <a:xfrm>
            <a:off x="1299463" y="1372488"/>
            <a:ext cx="9485630" cy="57531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fr-FR">
                <a:solidFill>
                  <a:srgbClr val="000000"/>
                </a:solidFill>
              </a:rPr>
              <a:t>Le trouble obsessionnel-compulsif	peut induire :</a:t>
            </a:r>
            <a:endParaRPr/>
          </a:p>
        </p:txBody>
      </p:sp>
      <p:sp>
        <p:nvSpPr>
          <p:cNvPr id="1194" name="Google Shape;1194;p14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195" name="Google Shape;1195;p144"/>
          <p:cNvSpPr txBox="1"/>
          <p:nvPr/>
        </p:nvSpPr>
        <p:spPr>
          <a:xfrm>
            <a:off x="1103630" y="2515210"/>
            <a:ext cx="10023475" cy="2568011"/>
          </a:xfrm>
          <a:prstGeom prst="rect">
            <a:avLst/>
          </a:prstGeom>
          <a:noFill/>
          <a:ln>
            <a:noFill/>
          </a:ln>
        </p:spPr>
        <p:txBody>
          <a:bodyPr anchorCtr="0" anchor="t" bIns="0" lIns="0" spcFirstLastPara="1" rIns="0" wrap="square" tIns="53975">
            <a:spAutoFit/>
          </a:bodyPr>
          <a:lstStyle/>
          <a:p>
            <a:pPr indent="-513715" lvl="0" marL="526415" rtl="0" algn="l">
              <a:lnSpc>
                <a:spcPct val="100000"/>
              </a:lnSpc>
              <a:spcBef>
                <a:spcPts val="0"/>
              </a:spcBef>
              <a:spcAft>
                <a:spcPts val="0"/>
              </a:spcAft>
              <a:buClr>
                <a:srgbClr val="83992A"/>
              </a:buClr>
              <a:buSzPts val="3200"/>
              <a:buFont typeface="Garamond"/>
              <a:buAutoNum type="alphaUcPeriod"/>
            </a:pPr>
            <a:r>
              <a:rPr b="1" lang="fr-FR" sz="2750">
                <a:latin typeface="Garamond"/>
                <a:ea typeface="Garamond"/>
                <a:cs typeface="Garamond"/>
                <a:sym typeface="Garamond"/>
              </a:rPr>
              <a:t>Des ruminations concernant des évènements futurs</a:t>
            </a:r>
            <a:endParaRPr sz="2750">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Des pensées intrusives absurdes et inappropriées</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 évitement efficace sur l’anxiété</a:t>
            </a:r>
            <a:endParaRPr sz="2750">
              <a:latin typeface="Garamond"/>
              <a:ea typeface="Garamond"/>
              <a:cs typeface="Garamond"/>
              <a:sym typeface="Garamond"/>
            </a:endParaRPr>
          </a:p>
          <a:p>
            <a:pPr indent="-513080" lvl="0" marL="525780"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Des interrogations sur certains actes préjudiciables pour autrui</a:t>
            </a:r>
            <a:endParaRPr sz="2750">
              <a:solidFill>
                <a:srgbClr val="FF0000"/>
              </a:solidFill>
              <a:latin typeface="Garamond"/>
              <a:ea typeface="Garamond"/>
              <a:cs typeface="Garamond"/>
              <a:sym typeface="Garamond"/>
            </a:endParaRPr>
          </a:p>
          <a:p>
            <a:pPr indent="-513080" lvl="0" marL="525780" rtl="0" algn="l">
              <a:lnSpc>
                <a:spcPct val="100000"/>
              </a:lnSpc>
              <a:spcBef>
                <a:spcPts val="8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Des interrogations d’ordre métaphysique</a:t>
            </a:r>
            <a:endParaRPr sz="2750">
              <a:solidFill>
                <a:srgbClr val="FF0000"/>
              </a:solidFill>
              <a:latin typeface="Garamond"/>
              <a:ea typeface="Garamond"/>
              <a:cs typeface="Garamond"/>
              <a:sym typeface="Garamond"/>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145"/>
          <p:cNvSpPr txBox="1"/>
          <p:nvPr>
            <p:ph type="title"/>
          </p:nvPr>
        </p:nvSpPr>
        <p:spPr>
          <a:xfrm>
            <a:off x="1242377" y="719836"/>
            <a:ext cx="9578340" cy="1671955"/>
          </a:xfrm>
          <a:prstGeom prst="rect">
            <a:avLst/>
          </a:prstGeom>
          <a:noFill/>
          <a:ln>
            <a:noFill/>
          </a:ln>
        </p:spPr>
        <p:txBody>
          <a:bodyPr anchorCtr="0" anchor="t" bIns="0" lIns="0" spcFirstLastPara="1" rIns="0" wrap="square" tIns="35550">
            <a:spAutoFit/>
          </a:bodyPr>
          <a:lstStyle/>
          <a:p>
            <a:pPr indent="0" lvl="0" marL="12700" marR="1264920" rtl="0" algn="l">
              <a:lnSpc>
                <a:spcPct val="118888"/>
              </a:lnSpc>
              <a:spcBef>
                <a:spcPts val="0"/>
              </a:spcBef>
              <a:spcAft>
                <a:spcPts val="0"/>
              </a:spcAft>
              <a:buNone/>
            </a:pPr>
            <a:r>
              <a:rPr lang="fr-FR"/>
              <a:t>Mme B. ne peut chasser de son esprit, en permanence, la peur de donner un coup de</a:t>
            </a:r>
            <a:endParaRPr/>
          </a:p>
          <a:p>
            <a:pPr indent="0" lvl="0" marL="12700" rtl="0" algn="l">
              <a:lnSpc>
                <a:spcPct val="117222"/>
              </a:lnSpc>
              <a:spcBef>
                <a:spcPts val="0"/>
              </a:spcBef>
              <a:spcAft>
                <a:spcPts val="0"/>
              </a:spcAft>
              <a:buNone/>
            </a:pPr>
            <a:r>
              <a:rPr lang="fr-FR"/>
              <a:t>c</a:t>
            </a:r>
            <a:r>
              <a:rPr lang="fr-FR" u="sng"/>
              <a:t> outeau à son fils. Il s’agit d’une :	</a:t>
            </a:r>
            <a:endParaRPr/>
          </a:p>
        </p:txBody>
      </p:sp>
      <p:sp>
        <p:nvSpPr>
          <p:cNvPr id="1201" name="Google Shape;1201;p14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202" name="Google Shape;1202;p145"/>
          <p:cNvSpPr txBox="1"/>
          <p:nvPr/>
        </p:nvSpPr>
        <p:spPr>
          <a:xfrm>
            <a:off x="1242377" y="2588304"/>
            <a:ext cx="5833110" cy="2568652"/>
          </a:xfrm>
          <a:prstGeom prst="rect">
            <a:avLst/>
          </a:prstGeom>
          <a:noFill/>
          <a:ln>
            <a:noFill/>
          </a:ln>
        </p:spPr>
        <p:txBody>
          <a:bodyPr anchorCtr="0" anchor="t" bIns="0" lIns="0" spcFirstLastPara="1" rIns="0" wrap="square" tIns="54600">
            <a:spAutoFit/>
          </a:bodyPr>
          <a:lstStyle/>
          <a:p>
            <a:pPr indent="-513715" lvl="0" marL="526415"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Obsession phobique</a:t>
            </a:r>
            <a:endParaRPr sz="2750">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Phobie spécifique type situationnel</a:t>
            </a:r>
            <a:endParaRPr sz="2750">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Phobie d’impulsion</a:t>
            </a:r>
            <a:endParaRPr sz="2750">
              <a:solidFill>
                <a:srgbClr val="FF0000"/>
              </a:solidFill>
              <a:latin typeface="Garamond"/>
              <a:ea typeface="Garamond"/>
              <a:cs typeface="Garamond"/>
              <a:sym typeface="Garamond"/>
            </a:endParaRPr>
          </a:p>
          <a:p>
            <a:pPr indent="-513080" lvl="0" marL="525780" rtl="0" algn="l">
              <a:lnSpc>
                <a:spcPct val="100000"/>
              </a:lnSpc>
              <a:spcBef>
                <a:spcPts val="74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Compulsion</a:t>
            </a:r>
            <a:endParaRPr sz="2750">
              <a:latin typeface="Garamond"/>
              <a:ea typeface="Garamond"/>
              <a:cs typeface="Garamond"/>
              <a:sym typeface="Garamond"/>
            </a:endParaRPr>
          </a:p>
          <a:p>
            <a:pPr indent="-513080" lvl="0" marL="52578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Obsession impulsive.</a:t>
            </a:r>
            <a:endParaRPr sz="2750">
              <a:solidFill>
                <a:srgbClr val="FF0000"/>
              </a:solidFill>
              <a:latin typeface="Garamond"/>
              <a:ea typeface="Garamond"/>
              <a:cs typeface="Garamond"/>
              <a:sym typeface="Garamond"/>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6" name="Shape 1206"/>
        <p:cNvGrpSpPr/>
        <p:nvPr/>
      </p:nvGrpSpPr>
      <p:grpSpPr>
        <a:xfrm>
          <a:off x="0" y="0"/>
          <a:ext cx="0" cy="0"/>
          <a:chOff x="0" y="0"/>
          <a:chExt cx="0" cy="0"/>
        </a:xfrm>
      </p:grpSpPr>
      <p:sp>
        <p:nvSpPr>
          <p:cNvPr id="1207" name="Google Shape;1207;p146"/>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08" name="Google Shape;1208;p146"/>
          <p:cNvSpPr txBox="1"/>
          <p:nvPr>
            <p:ph type="title"/>
          </p:nvPr>
        </p:nvSpPr>
        <p:spPr>
          <a:xfrm>
            <a:off x="802005" y="636905"/>
            <a:ext cx="10587989" cy="1671955"/>
          </a:xfrm>
          <a:prstGeom prst="rect">
            <a:avLst/>
          </a:prstGeom>
          <a:noFill/>
          <a:ln>
            <a:noFill/>
          </a:ln>
        </p:spPr>
        <p:txBody>
          <a:bodyPr anchorCtr="0" anchor="t" bIns="0" lIns="0" spcFirstLastPara="1" rIns="0" wrap="square" tIns="620125">
            <a:spAutoFit/>
          </a:bodyPr>
          <a:lstStyle/>
          <a:p>
            <a:pPr indent="0" lvl="0" marL="577215" rtl="0" algn="l">
              <a:lnSpc>
                <a:spcPct val="100000"/>
              </a:lnSpc>
              <a:spcBef>
                <a:spcPts val="0"/>
              </a:spcBef>
              <a:spcAft>
                <a:spcPts val="0"/>
              </a:spcAft>
              <a:buNone/>
            </a:pPr>
            <a:r>
              <a:rPr lang="fr-FR" sz="4400"/>
              <a:t>Le tableau clinique d’un TOC comporte :</a:t>
            </a:r>
            <a:endParaRPr sz="4400"/>
          </a:p>
        </p:txBody>
      </p:sp>
      <p:sp>
        <p:nvSpPr>
          <p:cNvPr id="1209" name="Google Shape;1209;p14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210" name="Google Shape;1210;p146"/>
          <p:cNvSpPr txBox="1"/>
          <p:nvPr/>
        </p:nvSpPr>
        <p:spPr>
          <a:xfrm>
            <a:off x="1375028" y="2329749"/>
            <a:ext cx="4428490" cy="2568652"/>
          </a:xfrm>
          <a:prstGeom prst="rect">
            <a:avLst/>
          </a:prstGeom>
          <a:noFill/>
          <a:ln>
            <a:noFill/>
          </a:ln>
        </p:spPr>
        <p:txBody>
          <a:bodyPr anchorCtr="0" anchor="t" bIns="0" lIns="0" spcFirstLastPara="1" rIns="0" wrap="square" tIns="546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Peur des espaces clos</a:t>
            </a:r>
            <a:endParaRPr sz="2750">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Comportements ritualisés</a:t>
            </a:r>
            <a:endParaRPr sz="2750">
              <a:solidFill>
                <a:srgbClr val="FF0000"/>
              </a:solidFill>
              <a:latin typeface="Garamond"/>
              <a:ea typeface="Garamond"/>
              <a:cs typeface="Garamond"/>
              <a:sym typeface="Garamond"/>
            </a:endParaRPr>
          </a:p>
          <a:p>
            <a:pPr indent="-514350" lvl="0" marL="527050"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Signes de conversion</a:t>
            </a:r>
            <a:endParaRPr sz="2750">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Lutte anxieuse</a:t>
            </a:r>
            <a:endParaRPr sz="2750">
              <a:solidFill>
                <a:srgbClr val="FF0000"/>
              </a:solidFill>
              <a:latin typeface="Garamond"/>
              <a:ea typeface="Garamond"/>
              <a:cs typeface="Garamond"/>
              <a:sym typeface="Garamond"/>
            </a:endParaRPr>
          </a:p>
          <a:p>
            <a:pPr indent="-514350" lvl="0" marL="527050" rtl="0" algn="l">
              <a:lnSpc>
                <a:spcPct val="100000"/>
              </a:lnSpc>
              <a:spcBef>
                <a:spcPts val="7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Temps de latence</a:t>
            </a:r>
            <a:endParaRPr sz="2750">
              <a:latin typeface="Garamond"/>
              <a:ea typeface="Garamond"/>
              <a:cs typeface="Garamond"/>
              <a:sym typeface="Garamond"/>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147"/>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16" name="Google Shape;1216;p147"/>
          <p:cNvSpPr txBox="1"/>
          <p:nvPr>
            <p:ph type="title"/>
          </p:nvPr>
        </p:nvSpPr>
        <p:spPr>
          <a:xfrm>
            <a:off x="802005" y="636905"/>
            <a:ext cx="10587989" cy="1671955"/>
          </a:xfrm>
          <a:prstGeom prst="rect">
            <a:avLst/>
          </a:prstGeom>
          <a:noFill/>
          <a:ln>
            <a:noFill/>
          </a:ln>
        </p:spPr>
        <p:txBody>
          <a:bodyPr anchorCtr="0" anchor="t" bIns="0" lIns="0" spcFirstLastPara="1" rIns="0" wrap="square" tIns="681725">
            <a:spAutoFit/>
          </a:bodyPr>
          <a:lstStyle/>
          <a:p>
            <a:pPr indent="0" lvl="0" marL="553085" rtl="0" algn="l">
              <a:lnSpc>
                <a:spcPct val="100000"/>
              </a:lnSpc>
              <a:spcBef>
                <a:spcPts val="0"/>
              </a:spcBef>
              <a:spcAft>
                <a:spcPts val="0"/>
              </a:spcAft>
              <a:buNone/>
            </a:pPr>
            <a:r>
              <a:rPr lang="fr-FR" sz="4400"/>
              <a:t>Les Obsession idéatives :</a:t>
            </a:r>
            <a:endParaRPr sz="4400"/>
          </a:p>
        </p:txBody>
      </p:sp>
      <p:sp>
        <p:nvSpPr>
          <p:cNvPr id="1217" name="Google Shape;1217;p14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218" name="Google Shape;1218;p147"/>
          <p:cNvSpPr txBox="1"/>
          <p:nvPr/>
        </p:nvSpPr>
        <p:spPr>
          <a:xfrm>
            <a:off x="1375028" y="2456155"/>
            <a:ext cx="10057130" cy="2568011"/>
          </a:xfrm>
          <a:prstGeom prst="rect">
            <a:avLst/>
          </a:prstGeom>
          <a:noFill/>
          <a:ln>
            <a:noFill/>
          </a:ln>
        </p:spPr>
        <p:txBody>
          <a:bodyPr anchorCtr="0" anchor="t" bIns="0" lIns="0" spcFirstLastPara="1" rIns="0" wrap="square" tIns="53975">
            <a:spAutoFit/>
          </a:bodyPr>
          <a:lstStyle/>
          <a:p>
            <a:pPr indent="-513715" lvl="0" marL="526415"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Sont des idées absurdes qui s’imposent à la pensée</a:t>
            </a:r>
            <a:endParaRPr sz="2750">
              <a:solidFill>
                <a:srgbClr val="FF0000"/>
              </a:solidFill>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Entrainent la conviction absolue du malade</a:t>
            </a:r>
            <a:endParaRPr sz="2750">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Sont vécues avec indifférence</a:t>
            </a:r>
            <a:endParaRPr sz="2750">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Sont des actes imposés</a:t>
            </a:r>
            <a:endParaRPr sz="2750">
              <a:latin typeface="Garamond"/>
              <a:ea typeface="Garamond"/>
              <a:cs typeface="Garamond"/>
              <a:sym typeface="Garamond"/>
            </a:endParaRPr>
          </a:p>
          <a:p>
            <a:pPr indent="-513715" lvl="0" marL="526415"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Sont vécues par le malade comme l’influence de forces occultes</a:t>
            </a:r>
            <a:endParaRPr sz="2750">
              <a:latin typeface="Garamond"/>
              <a:ea typeface="Garamond"/>
              <a:cs typeface="Garamond"/>
              <a:sym typeface="Garamond"/>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148"/>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24" name="Google Shape;1224;p148"/>
          <p:cNvSpPr txBox="1"/>
          <p:nvPr>
            <p:ph type="title"/>
          </p:nvPr>
        </p:nvSpPr>
        <p:spPr>
          <a:xfrm>
            <a:off x="802005" y="636905"/>
            <a:ext cx="10587989" cy="1671955"/>
          </a:xfrm>
          <a:prstGeom prst="rect">
            <a:avLst/>
          </a:prstGeom>
          <a:noFill/>
          <a:ln>
            <a:noFill/>
          </a:ln>
        </p:spPr>
        <p:txBody>
          <a:bodyPr anchorCtr="0" anchor="t" bIns="0" lIns="0" spcFirstLastPara="1" rIns="0" wrap="square" tIns="345800">
            <a:spAutoFit/>
          </a:bodyPr>
          <a:lstStyle/>
          <a:p>
            <a:pPr indent="0" lvl="0" marL="585470" marR="5080" rtl="0" algn="l">
              <a:lnSpc>
                <a:spcPct val="101400"/>
              </a:lnSpc>
              <a:spcBef>
                <a:spcPts val="0"/>
              </a:spcBef>
              <a:spcAft>
                <a:spcPts val="0"/>
              </a:spcAft>
              <a:buNone/>
            </a:pPr>
            <a:r>
              <a:rPr lang="fr-FR" sz="3950">
                <a:solidFill>
                  <a:srgbClr val="000000"/>
                </a:solidFill>
              </a:rPr>
              <a:t>L’intrusion anxieuse dans le champ de la conscience d’images de mutilation est :</a:t>
            </a:r>
            <a:endParaRPr sz="3950"/>
          </a:p>
        </p:txBody>
      </p:sp>
      <p:sp>
        <p:nvSpPr>
          <p:cNvPr id="1225" name="Google Shape;1225;p14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226" name="Google Shape;1226;p148"/>
          <p:cNvSpPr txBox="1"/>
          <p:nvPr/>
        </p:nvSpPr>
        <p:spPr>
          <a:xfrm>
            <a:off x="1194435" y="2447756"/>
            <a:ext cx="4279900" cy="2568011"/>
          </a:xfrm>
          <a:prstGeom prst="rect">
            <a:avLst/>
          </a:prstGeom>
          <a:noFill/>
          <a:ln>
            <a:noFill/>
          </a:ln>
        </p:spPr>
        <p:txBody>
          <a:bodyPr anchorCtr="0" anchor="t" bIns="0" lIns="0" spcFirstLastPara="1" rIns="0" wrap="square" tIns="53975">
            <a:spAutoFit/>
          </a:bodyPr>
          <a:lstStyle/>
          <a:p>
            <a:pPr indent="-513715" lvl="0" marL="526415"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obsession idéative</a:t>
            </a:r>
            <a:endParaRPr sz="2750">
              <a:solidFill>
                <a:srgbClr val="FF0000"/>
              </a:solidFill>
              <a:latin typeface="Garamond"/>
              <a:ea typeface="Garamond"/>
              <a:cs typeface="Garamond"/>
              <a:sym typeface="Garamond"/>
            </a:endParaRPr>
          </a:p>
          <a:p>
            <a:pPr indent="-513715" lvl="0" marL="526415" rtl="0" algn="l">
              <a:lnSpc>
                <a:spcPct val="100000"/>
              </a:lnSpc>
              <a:spcBef>
                <a:spcPts val="81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obsession phobique</a:t>
            </a:r>
            <a:endParaRPr sz="2750">
              <a:latin typeface="Garamond"/>
              <a:ea typeface="Garamond"/>
              <a:cs typeface="Garamond"/>
              <a:sym typeface="Garamond"/>
            </a:endParaRPr>
          </a:p>
          <a:p>
            <a:pPr indent="-513715" lvl="0" marL="526415"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obsession impulsive</a:t>
            </a:r>
            <a:endParaRPr sz="2750">
              <a:latin typeface="Garamond"/>
              <a:ea typeface="Garamond"/>
              <a:cs typeface="Garamond"/>
              <a:sym typeface="Garamond"/>
            </a:endParaRPr>
          </a:p>
          <a:p>
            <a:pPr indent="-514350" lvl="0" marL="527050" rtl="0" algn="l">
              <a:lnSpc>
                <a:spcPct val="100000"/>
              </a:lnSpc>
              <a:spcBef>
                <a:spcPts val="82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arithmomanie</a:t>
            </a:r>
            <a:endParaRPr sz="2750">
              <a:latin typeface="Garamond"/>
              <a:ea typeface="Garamond"/>
              <a:cs typeface="Garamond"/>
              <a:sym typeface="Garamond"/>
            </a:endParaRPr>
          </a:p>
          <a:p>
            <a:pPr indent="-513080" lvl="0" marL="525780" rtl="0" algn="l">
              <a:lnSpc>
                <a:spcPct val="100000"/>
              </a:lnSpc>
              <a:spcBef>
                <a:spcPts val="73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nosophobie</a:t>
            </a:r>
            <a:endParaRPr sz="2750">
              <a:latin typeface="Garamond"/>
              <a:ea typeface="Garamond"/>
              <a:cs typeface="Garamond"/>
              <a:sym typeface="Garamond"/>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p149"/>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32" name="Google Shape;1232;p149"/>
          <p:cNvSpPr txBox="1"/>
          <p:nvPr>
            <p:ph type="title"/>
          </p:nvPr>
        </p:nvSpPr>
        <p:spPr>
          <a:xfrm>
            <a:off x="1576705" y="904176"/>
            <a:ext cx="8105775" cy="1369060"/>
          </a:xfrm>
          <a:prstGeom prst="rect">
            <a:avLst/>
          </a:prstGeom>
          <a:noFill/>
          <a:ln>
            <a:noFill/>
          </a:ln>
        </p:spPr>
        <p:txBody>
          <a:bodyPr anchorCtr="0" anchor="t" bIns="0" lIns="0" spcFirstLastPara="1" rIns="0" wrap="square" tIns="32375">
            <a:spAutoFit/>
          </a:bodyPr>
          <a:lstStyle/>
          <a:p>
            <a:pPr indent="0" lvl="0" marL="12700" marR="5080" rtl="0" algn="l">
              <a:lnSpc>
                <a:spcPct val="119545"/>
              </a:lnSpc>
              <a:spcBef>
                <a:spcPts val="0"/>
              </a:spcBef>
              <a:spcAft>
                <a:spcPts val="0"/>
              </a:spcAft>
              <a:buNone/>
            </a:pPr>
            <a:r>
              <a:rPr lang="fr-FR" sz="4400"/>
              <a:t>La crainte obsédante d’être atteint d’une maladie est :</a:t>
            </a:r>
            <a:endParaRPr sz="4400"/>
          </a:p>
        </p:txBody>
      </p:sp>
      <p:sp>
        <p:nvSpPr>
          <p:cNvPr id="1233" name="Google Shape;1233;p14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234" name="Google Shape;1234;p149"/>
          <p:cNvSpPr txBox="1"/>
          <p:nvPr/>
        </p:nvSpPr>
        <p:spPr>
          <a:xfrm>
            <a:off x="1375028" y="2464788"/>
            <a:ext cx="3646170" cy="2355132"/>
          </a:xfrm>
          <a:prstGeom prst="rect">
            <a:avLst/>
          </a:prstGeom>
          <a:noFill/>
          <a:ln>
            <a:noFill/>
          </a:ln>
        </p:spPr>
        <p:txBody>
          <a:bodyPr anchorCtr="0" anchor="t" bIns="0" lIns="0" spcFirstLastPara="1" rIns="0" wrap="square" tIns="2095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latin typeface="Garamond"/>
                <a:ea typeface="Garamond"/>
                <a:cs typeface="Garamond"/>
                <a:sym typeface="Garamond"/>
              </a:rPr>
              <a:t>Obsession idéative</a:t>
            </a:r>
            <a:endParaRPr sz="2750">
              <a:latin typeface="Garamond"/>
              <a:ea typeface="Garamond"/>
              <a:cs typeface="Garamond"/>
              <a:sym typeface="Garamond"/>
            </a:endParaRPr>
          </a:p>
          <a:p>
            <a:pPr indent="-514350" lvl="0" marL="527050" rtl="0" algn="l">
              <a:lnSpc>
                <a:spcPct val="100000"/>
              </a:lnSpc>
              <a:spcBef>
                <a:spcPts val="5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Obsession phobique</a:t>
            </a:r>
            <a:endParaRPr sz="2750">
              <a:solidFill>
                <a:srgbClr val="FF0000"/>
              </a:solidFill>
              <a:latin typeface="Garamond"/>
              <a:ea typeface="Garamond"/>
              <a:cs typeface="Garamond"/>
              <a:sym typeface="Garamond"/>
            </a:endParaRPr>
          </a:p>
          <a:p>
            <a:pPr indent="-514350" lvl="0" marL="527050" rtl="0" algn="l">
              <a:lnSpc>
                <a:spcPct val="100000"/>
              </a:lnSpc>
              <a:spcBef>
                <a:spcPts val="445"/>
              </a:spcBef>
              <a:spcAft>
                <a:spcPts val="0"/>
              </a:spcAft>
              <a:buClr>
                <a:srgbClr val="83992A"/>
              </a:buClr>
              <a:buSzPts val="3200"/>
              <a:buFont typeface="Garamond"/>
              <a:buAutoNum type="alphaUcPeriod"/>
            </a:pPr>
            <a:r>
              <a:rPr b="1" lang="fr-FR" sz="2750">
                <a:latin typeface="Garamond"/>
                <a:ea typeface="Garamond"/>
                <a:cs typeface="Garamond"/>
                <a:sym typeface="Garamond"/>
              </a:rPr>
              <a:t>Obsession impulsive</a:t>
            </a:r>
            <a:endParaRPr sz="2750">
              <a:latin typeface="Garamond"/>
              <a:ea typeface="Garamond"/>
              <a:cs typeface="Garamond"/>
              <a:sym typeface="Garamond"/>
            </a:endParaRPr>
          </a:p>
          <a:p>
            <a:pPr indent="-513715" lvl="0" marL="526415" rtl="0" algn="l">
              <a:lnSpc>
                <a:spcPct val="100000"/>
              </a:lnSpc>
              <a:spcBef>
                <a:spcPts val="439"/>
              </a:spcBef>
              <a:spcAft>
                <a:spcPts val="0"/>
              </a:spcAft>
              <a:buClr>
                <a:srgbClr val="83992A"/>
              </a:buClr>
              <a:buSzPts val="3200"/>
              <a:buFont typeface="Garamond"/>
              <a:buAutoNum type="alphaUcPeriod"/>
            </a:pPr>
            <a:r>
              <a:rPr b="1" lang="fr-FR" sz="2750">
                <a:latin typeface="Garamond"/>
                <a:ea typeface="Garamond"/>
                <a:cs typeface="Garamond"/>
                <a:sym typeface="Garamond"/>
              </a:rPr>
              <a:t>Phobie spécifique</a:t>
            </a:r>
            <a:endParaRPr sz="2750">
              <a:latin typeface="Garamond"/>
              <a:ea typeface="Garamond"/>
              <a:cs typeface="Garamond"/>
              <a:sym typeface="Garamond"/>
            </a:endParaRPr>
          </a:p>
          <a:p>
            <a:pPr indent="-513715" lvl="0" marL="526415" rtl="0" algn="l">
              <a:lnSpc>
                <a:spcPct val="100000"/>
              </a:lnSpc>
              <a:spcBef>
                <a:spcPts val="439"/>
              </a:spcBef>
              <a:spcAft>
                <a:spcPts val="0"/>
              </a:spcAft>
              <a:buClr>
                <a:srgbClr val="83992A"/>
              </a:buClr>
              <a:buSzPts val="3200"/>
              <a:buFont typeface="Garamond"/>
              <a:buAutoNum type="alphaUcPeriod"/>
            </a:pPr>
            <a:r>
              <a:rPr b="1" lang="fr-FR" sz="2750">
                <a:latin typeface="Garamond"/>
                <a:ea typeface="Garamond"/>
                <a:cs typeface="Garamond"/>
                <a:sym typeface="Garamond"/>
              </a:rPr>
              <a:t>Nosophobie</a:t>
            </a:r>
            <a:endParaRPr sz="2750">
              <a:latin typeface="Garamond"/>
              <a:ea typeface="Garamond"/>
              <a:cs typeface="Garamond"/>
              <a:sym typeface="Garamond"/>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8" name="Shape 1238"/>
        <p:cNvGrpSpPr/>
        <p:nvPr/>
      </p:nvGrpSpPr>
      <p:grpSpPr>
        <a:xfrm>
          <a:off x="0" y="0"/>
          <a:ext cx="0" cy="0"/>
          <a:chOff x="0" y="0"/>
          <a:chExt cx="0" cy="0"/>
        </a:xfrm>
      </p:grpSpPr>
      <p:sp>
        <p:nvSpPr>
          <p:cNvPr id="1239" name="Google Shape;1239;p150"/>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40" name="Google Shape;1240;p150"/>
          <p:cNvSpPr txBox="1"/>
          <p:nvPr>
            <p:ph type="title"/>
          </p:nvPr>
        </p:nvSpPr>
        <p:spPr>
          <a:xfrm>
            <a:off x="802005" y="636905"/>
            <a:ext cx="10300970" cy="1671955"/>
          </a:xfrm>
          <a:prstGeom prst="rect">
            <a:avLst/>
          </a:prstGeom>
          <a:noFill/>
          <a:ln>
            <a:noFill/>
          </a:ln>
        </p:spPr>
        <p:txBody>
          <a:bodyPr anchorCtr="0" anchor="t" bIns="0" lIns="0" spcFirstLastPara="1" rIns="0" wrap="square" tIns="13325">
            <a:spAutoFit/>
          </a:bodyPr>
          <a:lstStyle/>
          <a:p>
            <a:pPr indent="0" lvl="0" marL="12700" marR="5080" rtl="0" algn="l">
              <a:lnSpc>
                <a:spcPct val="100000"/>
              </a:lnSpc>
              <a:spcBef>
                <a:spcPts val="0"/>
              </a:spcBef>
              <a:spcAft>
                <a:spcPts val="0"/>
              </a:spcAft>
              <a:buNone/>
            </a:pPr>
            <a:r>
              <a:rPr lang="fr-FR">
                <a:solidFill>
                  <a:srgbClr val="000000"/>
                </a:solidFill>
              </a:rPr>
              <a:t>Parmi les signes cliniques suivants, quels sont ceux qui correspondent à des compulsions pouvant définir un TOC :</a:t>
            </a:r>
            <a:endParaRPr/>
          </a:p>
        </p:txBody>
      </p:sp>
      <p:sp>
        <p:nvSpPr>
          <p:cNvPr id="1241" name="Google Shape;1241;p15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242" name="Google Shape;1242;p150"/>
          <p:cNvSpPr txBox="1"/>
          <p:nvPr/>
        </p:nvSpPr>
        <p:spPr>
          <a:xfrm>
            <a:off x="1284858" y="2746755"/>
            <a:ext cx="4209415" cy="2192908"/>
          </a:xfrm>
          <a:prstGeom prst="rect">
            <a:avLst/>
          </a:prstGeom>
          <a:noFill/>
          <a:ln>
            <a:noFill/>
          </a:ln>
        </p:spPr>
        <p:txBody>
          <a:bodyPr anchorCtr="0" anchor="t" bIns="0" lIns="0" spcFirstLastPara="1" rIns="0" wrap="square" tIns="0">
            <a:spAutoFit/>
          </a:bodyPr>
          <a:lstStyle/>
          <a:p>
            <a:pPr indent="-514350" lvl="0" marL="527050" rtl="0" algn="l">
              <a:lnSpc>
                <a:spcPct val="128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Arithmomanie</a:t>
            </a:r>
            <a:endParaRPr sz="2750">
              <a:solidFill>
                <a:srgbClr val="FF0000"/>
              </a:solidFill>
              <a:latin typeface="Garamond"/>
              <a:ea typeface="Garamond"/>
              <a:cs typeface="Garamond"/>
              <a:sym typeface="Garamond"/>
            </a:endParaRPr>
          </a:p>
          <a:p>
            <a:pPr indent="-513715" lvl="0" marL="526415" rtl="0" algn="l">
              <a:lnSpc>
                <a:spcPct val="100000"/>
              </a:lnSpc>
              <a:spcBef>
                <a:spcPts val="1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Kleptomanie</a:t>
            </a:r>
            <a:endParaRPr sz="2750">
              <a:latin typeface="Garamond"/>
              <a:ea typeface="Garamond"/>
              <a:cs typeface="Garamond"/>
              <a:sym typeface="Garamond"/>
            </a:endParaRPr>
          </a:p>
          <a:p>
            <a:pPr indent="-513715" lvl="0" marL="526415" rtl="0" algn="l">
              <a:lnSpc>
                <a:spcPct val="100000"/>
              </a:lnSpc>
              <a:spcBef>
                <a:spcPts val="6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Vérification des serrures</a:t>
            </a:r>
            <a:endParaRPr sz="2750">
              <a:solidFill>
                <a:srgbClr val="FF0000"/>
              </a:solidFill>
              <a:latin typeface="Garamond"/>
              <a:ea typeface="Garamond"/>
              <a:cs typeface="Garamond"/>
              <a:sym typeface="Garamond"/>
            </a:endParaRPr>
          </a:p>
          <a:p>
            <a:pPr indent="-514350" lvl="0" marL="527050" rtl="0" algn="l">
              <a:lnSpc>
                <a:spcPct val="100000"/>
              </a:lnSpc>
              <a:spcBef>
                <a:spcPts val="1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Conjurations mentales</a:t>
            </a:r>
            <a:endParaRPr sz="2750">
              <a:solidFill>
                <a:srgbClr val="FF0000"/>
              </a:solidFill>
              <a:latin typeface="Garamond"/>
              <a:ea typeface="Garamond"/>
              <a:cs typeface="Garamond"/>
              <a:sym typeface="Garamond"/>
            </a:endParaRPr>
          </a:p>
          <a:p>
            <a:pPr indent="-513715" lvl="0" marL="526415" rtl="0" algn="l">
              <a:lnSpc>
                <a:spcPct val="100000"/>
              </a:lnSpc>
              <a:spcBef>
                <a:spcPts val="1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Potomanie</a:t>
            </a:r>
            <a:endParaRPr sz="2750">
              <a:latin typeface="Garamond"/>
              <a:ea typeface="Garamond"/>
              <a:cs typeface="Garamond"/>
              <a:sym typeface="Garamond"/>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sp>
        <p:nvSpPr>
          <p:cNvPr id="1247" name="Google Shape;1247;p151"/>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48" name="Google Shape;1248;p151"/>
          <p:cNvSpPr txBox="1"/>
          <p:nvPr>
            <p:ph type="title"/>
          </p:nvPr>
        </p:nvSpPr>
        <p:spPr>
          <a:xfrm>
            <a:off x="802005" y="636905"/>
            <a:ext cx="10587989" cy="1671955"/>
          </a:xfrm>
          <a:prstGeom prst="rect">
            <a:avLst/>
          </a:prstGeom>
          <a:noFill/>
          <a:ln>
            <a:noFill/>
          </a:ln>
        </p:spPr>
        <p:txBody>
          <a:bodyPr anchorCtr="0" anchor="t" bIns="0" lIns="0" spcFirstLastPara="1" rIns="0" wrap="square" tIns="354700">
            <a:spAutoFit/>
          </a:bodyPr>
          <a:lstStyle/>
          <a:p>
            <a:pPr indent="0" lvl="0" marL="12700" rtl="0" algn="l">
              <a:lnSpc>
                <a:spcPct val="100000"/>
              </a:lnSpc>
              <a:spcBef>
                <a:spcPts val="0"/>
              </a:spcBef>
              <a:spcAft>
                <a:spcPts val="0"/>
              </a:spcAft>
              <a:buNone/>
            </a:pPr>
            <a:r>
              <a:rPr lang="fr-FR" sz="3950">
                <a:solidFill>
                  <a:srgbClr val="000000"/>
                </a:solidFill>
              </a:rPr>
              <a:t>La crainte obsédante d’être amené de façon</a:t>
            </a:r>
            <a:endParaRPr sz="3950"/>
          </a:p>
          <a:p>
            <a:pPr indent="0" lvl="0" marL="12700" rtl="0" algn="l">
              <a:lnSpc>
                <a:spcPct val="100000"/>
              </a:lnSpc>
              <a:spcBef>
                <a:spcPts val="65"/>
              </a:spcBef>
              <a:spcAft>
                <a:spcPts val="0"/>
              </a:spcAft>
              <a:buNone/>
            </a:pPr>
            <a:r>
              <a:rPr lang="fr-FR" sz="3950">
                <a:solidFill>
                  <a:srgbClr val="000000"/>
                </a:solidFill>
              </a:rPr>
              <a:t>irrésistible à commettre un acte immoral est :</a:t>
            </a:r>
            <a:endParaRPr sz="3950"/>
          </a:p>
        </p:txBody>
      </p:sp>
      <p:sp>
        <p:nvSpPr>
          <p:cNvPr id="1249" name="Google Shape;1249;p15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250" name="Google Shape;1250;p151"/>
          <p:cNvSpPr txBox="1"/>
          <p:nvPr/>
        </p:nvSpPr>
        <p:spPr>
          <a:xfrm>
            <a:off x="1284858" y="2494979"/>
            <a:ext cx="4545965" cy="2527615"/>
          </a:xfrm>
          <a:prstGeom prst="rect">
            <a:avLst/>
          </a:prstGeom>
          <a:noFill/>
          <a:ln>
            <a:noFill/>
          </a:ln>
        </p:spPr>
        <p:txBody>
          <a:bodyPr anchorCtr="0" anchor="t" bIns="0" lIns="0" spcFirstLastPara="1" rIns="0" wrap="square" tIns="13950">
            <a:spAutoFit/>
          </a:bodyPr>
          <a:lstStyle/>
          <a:p>
            <a:pPr indent="-513715" lvl="0" marL="526415" rtl="0" algn="l">
              <a:lnSpc>
                <a:spcPct val="100000"/>
              </a:lnSpc>
              <a:spcBef>
                <a:spcPts val="0"/>
              </a:spcBef>
              <a:spcAft>
                <a:spcPts val="0"/>
              </a:spcAft>
              <a:buClr>
                <a:srgbClr val="83992A"/>
              </a:buClr>
              <a:buSzPts val="3450"/>
              <a:buFont typeface="Garamond"/>
              <a:buAutoNum type="alphaUcPeriod"/>
            </a:pPr>
            <a:r>
              <a:rPr b="1" lang="fr-FR" sz="3000">
                <a:solidFill>
                  <a:srgbClr val="252525"/>
                </a:solidFill>
                <a:latin typeface="Garamond"/>
                <a:ea typeface="Garamond"/>
                <a:cs typeface="Garamond"/>
                <a:sym typeface="Garamond"/>
              </a:rPr>
              <a:t>Une obsession idéative</a:t>
            </a:r>
            <a:endParaRPr sz="3000">
              <a:latin typeface="Garamond"/>
              <a:ea typeface="Garamond"/>
              <a:cs typeface="Garamond"/>
              <a:sym typeface="Garamond"/>
            </a:endParaRPr>
          </a:p>
          <a:p>
            <a:pPr indent="-514350" lvl="0" marL="527050" rtl="0" algn="l">
              <a:lnSpc>
                <a:spcPct val="100000"/>
              </a:lnSpc>
              <a:spcBef>
                <a:spcPts val="445"/>
              </a:spcBef>
              <a:spcAft>
                <a:spcPts val="0"/>
              </a:spcAft>
              <a:buClr>
                <a:srgbClr val="83992A"/>
              </a:buClr>
              <a:buSzPts val="3450"/>
              <a:buFont typeface="Garamond"/>
              <a:buAutoNum type="alphaUcPeriod"/>
            </a:pPr>
            <a:r>
              <a:rPr b="1" lang="fr-FR" sz="3000">
                <a:solidFill>
                  <a:srgbClr val="252525"/>
                </a:solidFill>
                <a:latin typeface="Garamond"/>
                <a:ea typeface="Garamond"/>
                <a:cs typeface="Garamond"/>
                <a:sym typeface="Garamond"/>
              </a:rPr>
              <a:t>Une obsession phobique</a:t>
            </a:r>
            <a:endParaRPr sz="3000">
              <a:latin typeface="Garamond"/>
              <a:ea typeface="Garamond"/>
              <a:cs typeface="Garamond"/>
              <a:sym typeface="Garamond"/>
            </a:endParaRPr>
          </a:p>
          <a:p>
            <a:pPr indent="-514350" lvl="0" marL="527050" rtl="0" algn="l">
              <a:lnSpc>
                <a:spcPct val="100000"/>
              </a:lnSpc>
              <a:spcBef>
                <a:spcPts val="439"/>
              </a:spcBef>
              <a:spcAft>
                <a:spcPts val="0"/>
              </a:spcAft>
              <a:buClr>
                <a:srgbClr val="83992A"/>
              </a:buClr>
              <a:buSzPts val="3450"/>
              <a:buFont typeface="Garamond"/>
              <a:buAutoNum type="alphaUcPeriod"/>
            </a:pPr>
            <a:r>
              <a:rPr b="1" lang="fr-FR" sz="3000">
                <a:solidFill>
                  <a:srgbClr val="FF0000"/>
                </a:solidFill>
                <a:latin typeface="Garamond"/>
                <a:ea typeface="Garamond"/>
                <a:cs typeface="Garamond"/>
                <a:sym typeface="Garamond"/>
              </a:rPr>
              <a:t>Une obsession impulsive</a:t>
            </a:r>
            <a:endParaRPr sz="3000">
              <a:solidFill>
                <a:srgbClr val="FF0000"/>
              </a:solidFill>
              <a:latin typeface="Garamond"/>
              <a:ea typeface="Garamond"/>
              <a:cs typeface="Garamond"/>
              <a:sym typeface="Garamond"/>
            </a:endParaRPr>
          </a:p>
          <a:p>
            <a:pPr indent="-513715" lvl="0" marL="526415" rtl="0" algn="l">
              <a:lnSpc>
                <a:spcPct val="100000"/>
              </a:lnSpc>
              <a:spcBef>
                <a:spcPts val="440"/>
              </a:spcBef>
              <a:spcAft>
                <a:spcPts val="0"/>
              </a:spcAft>
              <a:buClr>
                <a:srgbClr val="83992A"/>
              </a:buClr>
              <a:buSzPts val="3450"/>
              <a:buFont typeface="Garamond"/>
              <a:buAutoNum type="alphaUcPeriod"/>
            </a:pPr>
            <a:r>
              <a:rPr b="1" lang="fr-FR" sz="3000">
                <a:solidFill>
                  <a:srgbClr val="252525"/>
                </a:solidFill>
                <a:latin typeface="Garamond"/>
                <a:ea typeface="Garamond"/>
                <a:cs typeface="Garamond"/>
                <a:sym typeface="Garamond"/>
              </a:rPr>
              <a:t>Une phobie spécifique</a:t>
            </a:r>
            <a:endParaRPr sz="3000">
              <a:latin typeface="Garamond"/>
              <a:ea typeface="Garamond"/>
              <a:cs typeface="Garamond"/>
              <a:sym typeface="Garamond"/>
            </a:endParaRPr>
          </a:p>
          <a:p>
            <a:pPr indent="-513715" lvl="0" marL="526415" rtl="0" algn="l">
              <a:lnSpc>
                <a:spcPct val="100000"/>
              </a:lnSpc>
              <a:spcBef>
                <a:spcPts val="445"/>
              </a:spcBef>
              <a:spcAft>
                <a:spcPts val="0"/>
              </a:spcAft>
              <a:buClr>
                <a:srgbClr val="83992A"/>
              </a:buClr>
              <a:buSzPts val="3450"/>
              <a:buFont typeface="Garamond"/>
              <a:buAutoNum type="alphaUcPeriod"/>
            </a:pPr>
            <a:r>
              <a:rPr b="1" lang="fr-FR" sz="3000">
                <a:solidFill>
                  <a:srgbClr val="252525"/>
                </a:solidFill>
                <a:latin typeface="Garamond"/>
                <a:ea typeface="Garamond"/>
                <a:cs typeface="Garamond"/>
                <a:sym typeface="Garamond"/>
              </a:rPr>
              <a:t>Une nosophobie</a:t>
            </a:r>
            <a:endParaRPr sz="3000">
              <a:latin typeface="Garamond"/>
              <a:ea typeface="Garamond"/>
              <a:cs typeface="Garamond"/>
              <a:sym typeface="Garamond"/>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4" name="Shape 1254"/>
        <p:cNvGrpSpPr/>
        <p:nvPr/>
      </p:nvGrpSpPr>
      <p:grpSpPr>
        <a:xfrm>
          <a:off x="0" y="0"/>
          <a:ext cx="0" cy="0"/>
          <a:chOff x="0" y="0"/>
          <a:chExt cx="0" cy="0"/>
        </a:xfrm>
      </p:grpSpPr>
      <p:sp>
        <p:nvSpPr>
          <p:cNvPr id="1255" name="Google Shape;1255;p152"/>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56" name="Google Shape;1256;p152"/>
          <p:cNvSpPr txBox="1"/>
          <p:nvPr>
            <p:ph type="title"/>
          </p:nvPr>
        </p:nvSpPr>
        <p:spPr>
          <a:xfrm>
            <a:off x="802005" y="636905"/>
            <a:ext cx="10587989" cy="1671955"/>
          </a:xfrm>
          <a:prstGeom prst="rect">
            <a:avLst/>
          </a:prstGeom>
          <a:noFill/>
          <a:ln>
            <a:noFill/>
          </a:ln>
        </p:spPr>
        <p:txBody>
          <a:bodyPr anchorCtr="0" anchor="t" bIns="0" lIns="0" spcFirstLastPara="1" rIns="0" wrap="square" tIns="345800">
            <a:spAutoFit/>
          </a:bodyPr>
          <a:lstStyle/>
          <a:p>
            <a:pPr indent="0" lvl="0" marL="585470" marR="5080" rtl="0" algn="l">
              <a:lnSpc>
                <a:spcPct val="101400"/>
              </a:lnSpc>
              <a:spcBef>
                <a:spcPts val="0"/>
              </a:spcBef>
              <a:spcAft>
                <a:spcPts val="0"/>
              </a:spcAft>
              <a:buNone/>
            </a:pPr>
            <a:r>
              <a:rPr lang="fr-FR" sz="3950">
                <a:solidFill>
                  <a:srgbClr val="000000"/>
                </a:solidFill>
              </a:rPr>
              <a:t>Les obsessions phobiques sont évoquées devant :</a:t>
            </a:r>
            <a:endParaRPr sz="3950"/>
          </a:p>
        </p:txBody>
      </p:sp>
      <p:sp>
        <p:nvSpPr>
          <p:cNvPr id="1257" name="Google Shape;1257;p15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258" name="Google Shape;1258;p152"/>
          <p:cNvSpPr txBox="1"/>
          <p:nvPr/>
        </p:nvSpPr>
        <p:spPr>
          <a:xfrm>
            <a:off x="1284858" y="2746755"/>
            <a:ext cx="8393430" cy="2192908"/>
          </a:xfrm>
          <a:prstGeom prst="rect">
            <a:avLst/>
          </a:prstGeom>
          <a:noFill/>
          <a:ln>
            <a:noFill/>
          </a:ln>
        </p:spPr>
        <p:txBody>
          <a:bodyPr anchorCtr="0" anchor="t" bIns="0" lIns="0" spcFirstLastPara="1" rIns="0" wrap="square" tIns="0">
            <a:spAutoFit/>
          </a:bodyPr>
          <a:lstStyle/>
          <a:p>
            <a:pPr indent="-514350" lvl="0" marL="527050" rtl="0" algn="l">
              <a:lnSpc>
                <a:spcPct val="128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Des rituels de vérification</a:t>
            </a:r>
            <a:endParaRPr sz="2750">
              <a:latin typeface="Garamond"/>
              <a:ea typeface="Garamond"/>
              <a:cs typeface="Garamond"/>
              <a:sym typeface="Garamond"/>
            </a:endParaRPr>
          </a:p>
          <a:p>
            <a:pPr indent="-513715" lvl="0" marL="526415" rtl="0" algn="l">
              <a:lnSpc>
                <a:spcPct val="100000"/>
              </a:lnSpc>
              <a:spcBef>
                <a:spcPts val="1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La peur de commettre un acte répréhensible</a:t>
            </a:r>
            <a:endParaRPr sz="2750">
              <a:latin typeface="Garamond"/>
              <a:ea typeface="Garamond"/>
              <a:cs typeface="Garamond"/>
              <a:sym typeface="Garamond"/>
            </a:endParaRPr>
          </a:p>
          <a:p>
            <a:pPr indent="-513715" lvl="0" marL="526415" rtl="0" algn="l">
              <a:lnSpc>
                <a:spcPct val="100000"/>
              </a:lnSpc>
              <a:spcBef>
                <a:spcPts val="6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Des rituels de lavage</a:t>
            </a:r>
            <a:endParaRPr sz="2750">
              <a:solidFill>
                <a:srgbClr val="FF0000"/>
              </a:solidFill>
              <a:latin typeface="Garamond"/>
              <a:ea typeface="Garamond"/>
              <a:cs typeface="Garamond"/>
              <a:sym typeface="Garamond"/>
            </a:endParaRPr>
          </a:p>
          <a:p>
            <a:pPr indent="-514350" lvl="0" marL="527050" rtl="0" algn="l">
              <a:lnSpc>
                <a:spcPct val="100000"/>
              </a:lnSpc>
              <a:spcBef>
                <a:spcPts val="1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Des interrogations métaphysiques obsédantes</a:t>
            </a:r>
            <a:endParaRPr sz="2750">
              <a:latin typeface="Garamond"/>
              <a:ea typeface="Garamond"/>
              <a:cs typeface="Garamond"/>
              <a:sym typeface="Garamond"/>
            </a:endParaRPr>
          </a:p>
          <a:p>
            <a:pPr indent="-513715" lvl="0" marL="526415" rtl="0" algn="l">
              <a:lnSpc>
                <a:spcPct val="100000"/>
              </a:lnSpc>
              <a:spcBef>
                <a:spcPts val="1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Des images mentales obsédantes à contenu obscène</a:t>
            </a:r>
            <a:endParaRPr sz="2750">
              <a:latin typeface="Garamond"/>
              <a:ea typeface="Garamond"/>
              <a:cs typeface="Garamond"/>
              <a:sym typeface="Garamond"/>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p153"/>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64" name="Google Shape;1264;p153"/>
          <p:cNvSpPr txBox="1"/>
          <p:nvPr>
            <p:ph type="title"/>
          </p:nvPr>
        </p:nvSpPr>
        <p:spPr>
          <a:xfrm>
            <a:off x="802005" y="636905"/>
            <a:ext cx="10587989" cy="1671955"/>
          </a:xfrm>
          <a:prstGeom prst="rect">
            <a:avLst/>
          </a:prstGeom>
          <a:noFill/>
          <a:ln>
            <a:noFill/>
          </a:ln>
        </p:spPr>
        <p:txBody>
          <a:bodyPr anchorCtr="0" anchor="t" bIns="0" lIns="0" spcFirstLastPara="1" rIns="0" wrap="square" tIns="620125">
            <a:spAutoFit/>
          </a:bodyPr>
          <a:lstStyle/>
          <a:p>
            <a:pPr indent="0" lvl="0" marL="396240" rtl="0" algn="l">
              <a:lnSpc>
                <a:spcPct val="100000"/>
              </a:lnSpc>
              <a:spcBef>
                <a:spcPts val="0"/>
              </a:spcBef>
              <a:spcAft>
                <a:spcPts val="0"/>
              </a:spcAft>
              <a:buNone/>
            </a:pPr>
            <a:r>
              <a:rPr lang="fr-FR" sz="4400">
                <a:solidFill>
                  <a:srgbClr val="000000"/>
                </a:solidFill>
              </a:rPr>
              <a:t>L’arithmomanie est :</a:t>
            </a:r>
            <a:endParaRPr sz="4400"/>
          </a:p>
        </p:txBody>
      </p:sp>
      <p:sp>
        <p:nvSpPr>
          <p:cNvPr id="1265" name="Google Shape;1265;p15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266" name="Google Shape;1266;p153"/>
          <p:cNvSpPr txBox="1"/>
          <p:nvPr/>
        </p:nvSpPr>
        <p:spPr>
          <a:xfrm>
            <a:off x="1284858" y="2567590"/>
            <a:ext cx="3988435" cy="2218556"/>
          </a:xfrm>
          <a:prstGeom prst="rect">
            <a:avLst/>
          </a:prstGeom>
          <a:noFill/>
          <a:ln>
            <a:noFill/>
          </a:ln>
        </p:spPr>
        <p:txBody>
          <a:bodyPr anchorCtr="0" anchor="t" bIns="0" lIns="0" spcFirstLastPara="1" rIns="0" wrap="square" tIns="0">
            <a:spAutoFit/>
          </a:bodyPr>
          <a:lstStyle/>
          <a:p>
            <a:pPr indent="-513715" lvl="0" marL="526415" rtl="0" algn="l">
              <a:lnSpc>
                <a:spcPct val="134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obsession idéative</a:t>
            </a:r>
            <a:endParaRPr sz="2750">
              <a:latin typeface="Garamond"/>
              <a:ea typeface="Garamond"/>
              <a:cs typeface="Garamond"/>
              <a:sym typeface="Garamond"/>
            </a:endParaRPr>
          </a:p>
          <a:p>
            <a:pPr indent="-513715" lvl="0" marL="526415" rtl="0" algn="l">
              <a:lnSpc>
                <a:spcPct val="100000"/>
              </a:lnSpc>
              <a:spcBef>
                <a:spcPts val="1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phobie spécifique</a:t>
            </a:r>
            <a:endParaRPr sz="2750">
              <a:latin typeface="Garamond"/>
              <a:ea typeface="Garamond"/>
              <a:cs typeface="Garamond"/>
              <a:sym typeface="Garamond"/>
            </a:endParaRPr>
          </a:p>
          <a:p>
            <a:pPr indent="-513715" lvl="0" marL="526415" rtl="0" algn="l">
              <a:lnSpc>
                <a:spcPct val="100000"/>
              </a:lnSpc>
              <a:spcBef>
                <a:spcPts val="6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compulsion</a:t>
            </a:r>
            <a:endParaRPr sz="2750">
              <a:solidFill>
                <a:srgbClr val="FF0000"/>
              </a:solidFill>
              <a:latin typeface="Garamond"/>
              <a:ea typeface="Garamond"/>
              <a:cs typeface="Garamond"/>
              <a:sym typeface="Garamond"/>
            </a:endParaRPr>
          </a:p>
          <a:p>
            <a:pPr indent="-513080" lvl="0" marL="525780" rtl="0" algn="l">
              <a:lnSpc>
                <a:spcPct val="100000"/>
              </a:lnSpc>
              <a:spcBef>
                <a:spcPts val="1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conversion</a:t>
            </a:r>
            <a:endParaRPr sz="2750">
              <a:latin typeface="Garamond"/>
              <a:ea typeface="Garamond"/>
              <a:cs typeface="Garamond"/>
              <a:sym typeface="Garamond"/>
            </a:endParaRPr>
          </a:p>
          <a:p>
            <a:pPr indent="-513715" lvl="0" marL="526415" rtl="0" algn="l">
              <a:lnSpc>
                <a:spcPct val="100000"/>
              </a:lnSpc>
              <a:spcBef>
                <a:spcPts val="1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hallucination</a:t>
            </a:r>
            <a:endParaRPr sz="2750">
              <a:latin typeface="Garamond"/>
              <a:ea typeface="Garamond"/>
              <a:cs typeface="Garamond"/>
              <a:sym typeface="Garamond"/>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0" name="Shape 1270"/>
        <p:cNvGrpSpPr/>
        <p:nvPr/>
      </p:nvGrpSpPr>
      <p:grpSpPr>
        <a:xfrm>
          <a:off x="0" y="0"/>
          <a:ext cx="0" cy="0"/>
          <a:chOff x="0" y="0"/>
          <a:chExt cx="0" cy="0"/>
        </a:xfrm>
      </p:grpSpPr>
      <p:sp>
        <p:nvSpPr>
          <p:cNvPr id="1271" name="Google Shape;1271;p154"/>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72" name="Google Shape;1272;p154"/>
          <p:cNvSpPr txBox="1"/>
          <p:nvPr>
            <p:ph type="title"/>
          </p:nvPr>
        </p:nvSpPr>
        <p:spPr>
          <a:xfrm>
            <a:off x="1375028" y="1240536"/>
            <a:ext cx="7833995" cy="70104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4400">
                <a:solidFill>
                  <a:srgbClr val="000000"/>
                </a:solidFill>
              </a:rPr>
              <a:t>L’arithmomanie est une sorte de:</a:t>
            </a:r>
            <a:endParaRPr sz="4400"/>
          </a:p>
        </p:txBody>
      </p:sp>
      <p:sp>
        <p:nvSpPr>
          <p:cNvPr id="1273" name="Google Shape;1273;p15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274" name="Google Shape;1274;p154"/>
          <p:cNvSpPr txBox="1"/>
          <p:nvPr/>
        </p:nvSpPr>
        <p:spPr>
          <a:xfrm>
            <a:off x="1467103" y="2288921"/>
            <a:ext cx="4933315" cy="3306445"/>
          </a:xfrm>
          <a:prstGeom prst="rect">
            <a:avLst/>
          </a:prstGeom>
          <a:noFill/>
          <a:ln>
            <a:noFill/>
          </a:ln>
        </p:spPr>
        <p:txBody>
          <a:bodyPr anchorCtr="0" anchor="t" bIns="0" lIns="0" spcFirstLastPara="1" rIns="0" wrap="square" tIns="250825">
            <a:spAutoFit/>
          </a:bodyPr>
          <a:lstStyle/>
          <a:p>
            <a:pPr indent="-431800" lvl="0" marL="444500" rtl="0" algn="l">
              <a:lnSpc>
                <a:spcPct val="100000"/>
              </a:lnSpc>
              <a:spcBef>
                <a:spcPts val="0"/>
              </a:spcBef>
              <a:spcAft>
                <a:spcPts val="0"/>
              </a:spcAft>
              <a:buClr>
                <a:srgbClr val="92D050"/>
              </a:buClr>
              <a:buSzPts val="2750"/>
              <a:buFont typeface="Garamond"/>
              <a:buAutoNum type="alphaUcPeriod"/>
            </a:pPr>
            <a:r>
              <a:rPr b="1" lang="fr-FR" sz="2750">
                <a:latin typeface="Garamond"/>
                <a:ea typeface="Garamond"/>
                <a:cs typeface="Garamond"/>
                <a:sym typeface="Garamond"/>
              </a:rPr>
              <a:t>Rituel de lavage.</a:t>
            </a:r>
            <a:endParaRPr sz="2750">
              <a:latin typeface="Garamond"/>
              <a:ea typeface="Garamond"/>
              <a:cs typeface="Garamond"/>
              <a:sym typeface="Garamond"/>
            </a:endParaRPr>
          </a:p>
          <a:p>
            <a:pPr indent="-431165" lvl="0" marL="443865" rtl="0" algn="l">
              <a:lnSpc>
                <a:spcPct val="100000"/>
              </a:lnSpc>
              <a:spcBef>
                <a:spcPts val="1885"/>
              </a:spcBef>
              <a:spcAft>
                <a:spcPts val="0"/>
              </a:spcAft>
              <a:buClr>
                <a:srgbClr val="92D050"/>
              </a:buClr>
              <a:buSzPts val="2750"/>
              <a:buFont typeface="Garamond"/>
              <a:buAutoNum type="alphaUcPeriod"/>
            </a:pPr>
            <a:r>
              <a:rPr b="1" lang="fr-FR" sz="2750">
                <a:latin typeface="Garamond"/>
                <a:ea typeface="Garamond"/>
                <a:cs typeface="Garamond"/>
                <a:sym typeface="Garamond"/>
              </a:rPr>
              <a:t>Rituel de vérification.</a:t>
            </a:r>
            <a:endParaRPr sz="2750">
              <a:latin typeface="Garamond"/>
              <a:ea typeface="Garamond"/>
              <a:cs typeface="Garamond"/>
              <a:sym typeface="Garamond"/>
            </a:endParaRPr>
          </a:p>
          <a:p>
            <a:pPr indent="-431800" lvl="0" marL="444500" rtl="0" algn="l">
              <a:lnSpc>
                <a:spcPct val="100000"/>
              </a:lnSpc>
              <a:spcBef>
                <a:spcPts val="1805"/>
              </a:spcBef>
              <a:spcAft>
                <a:spcPts val="0"/>
              </a:spcAft>
              <a:buClr>
                <a:srgbClr val="92D050"/>
              </a:buClr>
              <a:buSzPts val="2750"/>
              <a:buFont typeface="Garamond"/>
              <a:buAutoNum type="alphaUcPeriod"/>
            </a:pPr>
            <a:r>
              <a:rPr b="1" lang="fr-FR" sz="2750">
                <a:solidFill>
                  <a:srgbClr val="FF0000"/>
                </a:solidFill>
                <a:latin typeface="Garamond"/>
                <a:ea typeface="Garamond"/>
                <a:cs typeface="Garamond"/>
                <a:sym typeface="Garamond"/>
              </a:rPr>
              <a:t>Rituel intime et interne.</a:t>
            </a:r>
            <a:endParaRPr sz="2750">
              <a:solidFill>
                <a:srgbClr val="FF0000"/>
              </a:solidFill>
              <a:latin typeface="Garamond"/>
              <a:ea typeface="Garamond"/>
              <a:cs typeface="Garamond"/>
              <a:sym typeface="Garamond"/>
            </a:endParaRPr>
          </a:p>
          <a:p>
            <a:pPr indent="-459105" lvl="0" marL="471805" rtl="0" algn="l">
              <a:lnSpc>
                <a:spcPct val="100000"/>
              </a:lnSpc>
              <a:spcBef>
                <a:spcPts val="1885"/>
              </a:spcBef>
              <a:spcAft>
                <a:spcPts val="0"/>
              </a:spcAft>
              <a:buClr>
                <a:srgbClr val="92D050"/>
              </a:buClr>
              <a:buSzPts val="2750"/>
              <a:buFont typeface="Garamond"/>
              <a:buAutoNum type="alphaUcPeriod"/>
            </a:pPr>
            <a:r>
              <a:rPr b="1" lang="fr-FR" sz="2750">
                <a:latin typeface="Garamond"/>
                <a:ea typeface="Garamond"/>
                <a:cs typeface="Garamond"/>
                <a:sym typeface="Garamond"/>
              </a:rPr>
              <a:t>Rituel de rangement d’objets.</a:t>
            </a:r>
            <a:endParaRPr sz="2750">
              <a:latin typeface="Garamond"/>
              <a:ea typeface="Garamond"/>
              <a:cs typeface="Garamond"/>
              <a:sym typeface="Garamond"/>
            </a:endParaRPr>
          </a:p>
          <a:p>
            <a:pPr indent="-433069" lvl="0" marL="445769" rtl="0" algn="l">
              <a:lnSpc>
                <a:spcPct val="100000"/>
              </a:lnSpc>
              <a:spcBef>
                <a:spcPts val="1875"/>
              </a:spcBef>
              <a:spcAft>
                <a:spcPts val="0"/>
              </a:spcAft>
              <a:buClr>
                <a:srgbClr val="92D050"/>
              </a:buClr>
              <a:buSzPts val="2750"/>
              <a:buFont typeface="Garamond"/>
              <a:buAutoNum type="alphaUcPeriod"/>
            </a:pPr>
            <a:r>
              <a:rPr b="1" lang="fr-FR" sz="2750">
                <a:latin typeface="Garamond"/>
                <a:ea typeface="Garamond"/>
                <a:cs typeface="Garamond"/>
                <a:sym typeface="Garamond"/>
              </a:rPr>
              <a:t>Rituel externe.</a:t>
            </a:r>
            <a:endParaRPr sz="2750">
              <a:latin typeface="Garamond"/>
              <a:ea typeface="Garamond"/>
              <a:cs typeface="Garamond"/>
              <a:sym typeface="Garamond"/>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8" name="Shape 1278"/>
        <p:cNvGrpSpPr/>
        <p:nvPr/>
      </p:nvGrpSpPr>
      <p:grpSpPr>
        <a:xfrm>
          <a:off x="0" y="0"/>
          <a:ext cx="0" cy="0"/>
          <a:chOff x="0" y="0"/>
          <a:chExt cx="0" cy="0"/>
        </a:xfrm>
      </p:grpSpPr>
      <p:sp>
        <p:nvSpPr>
          <p:cNvPr id="1279" name="Google Shape;1279;p155"/>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80" name="Google Shape;1280;p155"/>
          <p:cNvSpPr txBox="1"/>
          <p:nvPr>
            <p:ph type="title"/>
          </p:nvPr>
        </p:nvSpPr>
        <p:spPr>
          <a:xfrm>
            <a:off x="802005" y="636905"/>
            <a:ext cx="10587989" cy="1671955"/>
          </a:xfrm>
          <a:prstGeom prst="rect">
            <a:avLst/>
          </a:prstGeom>
          <a:noFill/>
          <a:ln>
            <a:noFill/>
          </a:ln>
        </p:spPr>
        <p:txBody>
          <a:bodyPr anchorCtr="0" anchor="t" bIns="0" lIns="0" spcFirstLastPara="1" rIns="0" wrap="square" tIns="311400">
            <a:spAutoFit/>
          </a:bodyPr>
          <a:lstStyle/>
          <a:p>
            <a:pPr indent="0" lvl="0" marL="585470" marR="5080" rtl="0" algn="l">
              <a:lnSpc>
                <a:spcPct val="100800"/>
              </a:lnSpc>
              <a:spcBef>
                <a:spcPts val="0"/>
              </a:spcBef>
              <a:spcAft>
                <a:spcPts val="0"/>
              </a:spcAft>
              <a:buNone/>
            </a:pPr>
            <a:r>
              <a:rPr lang="fr-FR"/>
              <a:t>Pour diagnostiquer un TOC, 3 éléments cliniques orientent fortement vers le diagnostic, lesquels ?</a:t>
            </a:r>
            <a:endParaRPr/>
          </a:p>
        </p:txBody>
      </p:sp>
      <p:sp>
        <p:nvSpPr>
          <p:cNvPr id="1281" name="Google Shape;1281;p15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282" name="Google Shape;1282;p155"/>
          <p:cNvSpPr txBox="1"/>
          <p:nvPr/>
        </p:nvSpPr>
        <p:spPr>
          <a:xfrm>
            <a:off x="1419225" y="2376104"/>
            <a:ext cx="8007984" cy="2568652"/>
          </a:xfrm>
          <a:prstGeom prst="rect">
            <a:avLst/>
          </a:prstGeom>
          <a:noFill/>
          <a:ln>
            <a:noFill/>
          </a:ln>
        </p:spPr>
        <p:txBody>
          <a:bodyPr anchorCtr="0" anchor="t" bIns="0" lIns="0" spcFirstLastPara="1" rIns="0" wrap="square" tIns="54600">
            <a:spAutoFit/>
          </a:bodyPr>
          <a:lstStyle/>
          <a:p>
            <a:pPr indent="-457200" lvl="0" marL="46990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La reconnaissance du caractère anormal des idées</a:t>
            </a:r>
            <a:endParaRPr sz="2750">
              <a:solidFill>
                <a:srgbClr val="FF0000"/>
              </a:solidFill>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Les ruminations autour de la sécurité des proches</a:t>
            </a:r>
            <a:endParaRPr sz="2750">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Les ruminations autour de l’avenir</a:t>
            </a:r>
            <a:endParaRPr sz="2750">
              <a:latin typeface="Garamond"/>
              <a:ea typeface="Garamond"/>
              <a:cs typeface="Garamond"/>
              <a:sym typeface="Garamond"/>
            </a:endParaRPr>
          </a:p>
          <a:p>
            <a:pPr indent="-456565" lvl="0" marL="469265" rtl="0" algn="l">
              <a:lnSpc>
                <a:spcPct val="100000"/>
              </a:lnSpc>
              <a:spcBef>
                <a:spcPts val="8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L’angoisse importante pour exprimer ces idées</a:t>
            </a:r>
            <a:endParaRPr sz="2750">
              <a:solidFill>
                <a:srgbClr val="FF0000"/>
              </a:solidFill>
              <a:latin typeface="Garamond"/>
              <a:ea typeface="Garamond"/>
              <a:cs typeface="Garamond"/>
              <a:sym typeface="Garamond"/>
            </a:endParaRPr>
          </a:p>
          <a:p>
            <a:pPr indent="-456565" lvl="0" marL="469265"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Le perfectionnisme</a:t>
            </a:r>
            <a:endParaRPr sz="2750">
              <a:solidFill>
                <a:srgbClr val="FF0000"/>
              </a:solidFill>
              <a:latin typeface="Garamond"/>
              <a:ea typeface="Garamond"/>
              <a:cs typeface="Garamond"/>
              <a:sym typeface="Garamond"/>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156"/>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88" name="Google Shape;1288;p156"/>
          <p:cNvSpPr txBox="1"/>
          <p:nvPr>
            <p:ph type="title"/>
          </p:nvPr>
        </p:nvSpPr>
        <p:spPr>
          <a:xfrm>
            <a:off x="802005" y="636905"/>
            <a:ext cx="10587989" cy="1671955"/>
          </a:xfrm>
          <a:prstGeom prst="rect">
            <a:avLst/>
          </a:prstGeom>
          <a:noFill/>
          <a:ln>
            <a:noFill/>
          </a:ln>
        </p:spPr>
        <p:txBody>
          <a:bodyPr anchorCtr="0" anchor="t" bIns="0" lIns="0" spcFirstLastPara="1" rIns="0" wrap="square" tIns="412350">
            <a:spAutoFit/>
          </a:bodyPr>
          <a:lstStyle/>
          <a:p>
            <a:pPr indent="0" lvl="0" marL="429894" rtl="0" algn="l">
              <a:lnSpc>
                <a:spcPct val="100000"/>
              </a:lnSpc>
              <a:spcBef>
                <a:spcPts val="0"/>
              </a:spcBef>
              <a:spcAft>
                <a:spcPts val="0"/>
              </a:spcAft>
              <a:buNone/>
            </a:pPr>
            <a:r>
              <a:rPr lang="fr-FR">
                <a:solidFill>
                  <a:srgbClr val="000000"/>
                </a:solidFill>
              </a:rPr>
              <a:t>Mr F. 30 ans, à chaque fois qu’il veut prier, sa pensée</a:t>
            </a:r>
            <a:endParaRPr/>
          </a:p>
          <a:p>
            <a:pPr indent="0" lvl="0" marL="429894" rtl="0" algn="l">
              <a:lnSpc>
                <a:spcPct val="100000"/>
              </a:lnSpc>
              <a:spcBef>
                <a:spcPts val="35"/>
              </a:spcBef>
              <a:spcAft>
                <a:spcPts val="0"/>
              </a:spcAft>
              <a:buNone/>
            </a:pPr>
            <a:r>
              <a:rPr lang="fr-FR">
                <a:solidFill>
                  <a:srgbClr val="000000"/>
                </a:solidFill>
              </a:rPr>
              <a:t>est envahie par des scènes sexuelles. Il s'agit:</a:t>
            </a:r>
            <a:endParaRPr/>
          </a:p>
        </p:txBody>
      </p:sp>
      <p:sp>
        <p:nvSpPr>
          <p:cNvPr id="1289" name="Google Shape;1289;p15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290" name="Google Shape;1290;p156"/>
          <p:cNvSpPr txBox="1"/>
          <p:nvPr/>
        </p:nvSpPr>
        <p:spPr>
          <a:xfrm>
            <a:off x="1375028" y="2387345"/>
            <a:ext cx="4882515" cy="3288029"/>
          </a:xfrm>
          <a:prstGeom prst="rect">
            <a:avLst/>
          </a:prstGeom>
          <a:noFill/>
          <a:ln>
            <a:noFill/>
          </a:ln>
        </p:spPr>
        <p:txBody>
          <a:bodyPr anchorCtr="0" anchor="t" bIns="0" lIns="0" spcFirstLastPara="1" rIns="0" wrap="square" tIns="241300">
            <a:spAutoFit/>
          </a:bodyPr>
          <a:lstStyle/>
          <a:p>
            <a:pPr indent="-414019" lvl="0" marL="426719" rtl="0" algn="l">
              <a:lnSpc>
                <a:spcPct val="100000"/>
              </a:lnSpc>
              <a:spcBef>
                <a:spcPts val="0"/>
              </a:spcBef>
              <a:spcAft>
                <a:spcPts val="0"/>
              </a:spcAft>
              <a:buClr>
                <a:srgbClr val="83992A"/>
              </a:buClr>
              <a:buSzPts val="2750"/>
              <a:buFont typeface="Garamond"/>
              <a:buAutoNum type="alphaUcPeriod"/>
            </a:pPr>
            <a:r>
              <a:rPr b="1" lang="fr-FR" sz="2750">
                <a:solidFill>
                  <a:srgbClr val="252525"/>
                </a:solidFill>
                <a:latin typeface="Garamond"/>
                <a:ea typeface="Garamond"/>
                <a:cs typeface="Garamond"/>
                <a:sym typeface="Garamond"/>
              </a:rPr>
              <a:t>D'une obsession phobique</a:t>
            </a:r>
            <a:endParaRPr sz="2750">
              <a:latin typeface="Garamond"/>
              <a:ea typeface="Garamond"/>
              <a:cs typeface="Garamond"/>
              <a:sym typeface="Garamond"/>
            </a:endParaRPr>
          </a:p>
          <a:p>
            <a:pPr indent="-421640" lvl="0" marL="434340" rtl="0" algn="l">
              <a:lnSpc>
                <a:spcPct val="100000"/>
              </a:lnSpc>
              <a:spcBef>
                <a:spcPts val="1810"/>
              </a:spcBef>
              <a:spcAft>
                <a:spcPts val="0"/>
              </a:spcAft>
              <a:buClr>
                <a:srgbClr val="83992A"/>
              </a:buClr>
              <a:buSzPts val="2750"/>
              <a:buFont typeface="Garamond"/>
              <a:buAutoNum type="alphaUcPeriod"/>
            </a:pPr>
            <a:r>
              <a:rPr b="1" lang="fr-FR" sz="2750">
                <a:solidFill>
                  <a:srgbClr val="252525"/>
                </a:solidFill>
                <a:latin typeface="Garamond"/>
                <a:ea typeface="Garamond"/>
                <a:cs typeface="Garamond"/>
                <a:sym typeface="Garamond"/>
              </a:rPr>
              <a:t>D’un délire onirique</a:t>
            </a:r>
            <a:endParaRPr sz="2750">
              <a:latin typeface="Garamond"/>
              <a:ea typeface="Garamond"/>
              <a:cs typeface="Garamond"/>
              <a:sym typeface="Garamond"/>
            </a:endParaRPr>
          </a:p>
          <a:p>
            <a:pPr indent="-431165" lvl="0" marL="443865" rtl="0" algn="l">
              <a:lnSpc>
                <a:spcPct val="100000"/>
              </a:lnSpc>
              <a:spcBef>
                <a:spcPts val="1880"/>
              </a:spcBef>
              <a:spcAft>
                <a:spcPts val="0"/>
              </a:spcAft>
              <a:buClr>
                <a:srgbClr val="83992A"/>
              </a:buClr>
              <a:buSzPts val="2750"/>
              <a:buFont typeface="Garamond"/>
              <a:buAutoNum type="alphaUcPeriod"/>
            </a:pPr>
            <a:r>
              <a:rPr b="1" lang="fr-FR" sz="2750">
                <a:solidFill>
                  <a:srgbClr val="FF0000"/>
                </a:solidFill>
                <a:latin typeface="Garamond"/>
                <a:ea typeface="Garamond"/>
                <a:cs typeface="Garamond"/>
                <a:sym typeface="Garamond"/>
              </a:rPr>
              <a:t>D'une obsession idéative</a:t>
            </a:r>
            <a:endParaRPr sz="2750">
              <a:solidFill>
                <a:srgbClr val="FF0000"/>
              </a:solidFill>
              <a:latin typeface="Garamond"/>
              <a:ea typeface="Garamond"/>
              <a:cs typeface="Garamond"/>
              <a:sym typeface="Garamond"/>
            </a:endParaRPr>
          </a:p>
          <a:p>
            <a:pPr indent="-448944" lvl="0" marL="461644" rtl="0" algn="l">
              <a:lnSpc>
                <a:spcPct val="100000"/>
              </a:lnSpc>
              <a:spcBef>
                <a:spcPts val="1810"/>
              </a:spcBef>
              <a:spcAft>
                <a:spcPts val="0"/>
              </a:spcAft>
              <a:buClr>
                <a:srgbClr val="83992A"/>
              </a:buClr>
              <a:buSzPts val="2750"/>
              <a:buFont typeface="Garamond"/>
              <a:buAutoNum type="alphaUcPeriod"/>
            </a:pPr>
            <a:r>
              <a:rPr b="1" lang="fr-FR" sz="2750">
                <a:solidFill>
                  <a:srgbClr val="252525"/>
                </a:solidFill>
                <a:latin typeface="Garamond"/>
                <a:ea typeface="Garamond"/>
                <a:cs typeface="Garamond"/>
                <a:sym typeface="Garamond"/>
              </a:rPr>
              <a:t>D'une obsession d'impulsion</a:t>
            </a:r>
            <a:endParaRPr sz="2750">
              <a:latin typeface="Garamond"/>
              <a:ea typeface="Garamond"/>
              <a:cs typeface="Garamond"/>
              <a:sym typeface="Garamond"/>
            </a:endParaRPr>
          </a:p>
          <a:p>
            <a:pPr indent="-433069" lvl="0" marL="445769" rtl="0" algn="l">
              <a:lnSpc>
                <a:spcPct val="100000"/>
              </a:lnSpc>
              <a:spcBef>
                <a:spcPts val="1880"/>
              </a:spcBef>
              <a:spcAft>
                <a:spcPts val="0"/>
              </a:spcAft>
              <a:buClr>
                <a:srgbClr val="83992A"/>
              </a:buClr>
              <a:buSzPts val="2750"/>
              <a:buFont typeface="Garamond"/>
              <a:buAutoNum type="alphaUcPeriod"/>
            </a:pPr>
            <a:r>
              <a:rPr b="1" lang="fr-FR" sz="2750">
                <a:solidFill>
                  <a:srgbClr val="252525"/>
                </a:solidFill>
                <a:latin typeface="Garamond"/>
                <a:ea typeface="Garamond"/>
                <a:cs typeface="Garamond"/>
                <a:sym typeface="Garamond"/>
              </a:rPr>
              <a:t>D'une phobie d'impulsion</a:t>
            </a:r>
            <a:endParaRPr sz="2750">
              <a:latin typeface="Garamond"/>
              <a:ea typeface="Garamond"/>
              <a:cs typeface="Garamond"/>
              <a:sym typeface="Garamond"/>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sp>
        <p:nvSpPr>
          <p:cNvPr id="1295" name="Google Shape;1295;p157"/>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96" name="Google Shape;1296;p157"/>
          <p:cNvSpPr txBox="1"/>
          <p:nvPr>
            <p:ph type="title"/>
          </p:nvPr>
        </p:nvSpPr>
        <p:spPr>
          <a:xfrm>
            <a:off x="1375028" y="975105"/>
            <a:ext cx="9446895"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t>Concernant	le	trouble	obsessionnel compulsif	:</a:t>
            </a:r>
            <a:endParaRPr sz="3950"/>
          </a:p>
        </p:txBody>
      </p:sp>
      <p:sp>
        <p:nvSpPr>
          <p:cNvPr id="1297" name="Google Shape;1297;p15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298" name="Google Shape;1298;p157"/>
          <p:cNvSpPr txBox="1"/>
          <p:nvPr/>
        </p:nvSpPr>
        <p:spPr>
          <a:xfrm>
            <a:off x="1539621" y="2411542"/>
            <a:ext cx="9610725" cy="3324860"/>
          </a:xfrm>
          <a:prstGeom prst="rect">
            <a:avLst/>
          </a:prstGeom>
          <a:noFill/>
          <a:ln>
            <a:noFill/>
          </a:ln>
        </p:spPr>
        <p:txBody>
          <a:bodyPr anchorCtr="0" anchor="t" bIns="0" lIns="0" spcFirstLastPara="1" rIns="0" wrap="square" tIns="199375">
            <a:spAutoFit/>
          </a:bodyPr>
          <a:lstStyle/>
          <a:p>
            <a:pPr indent="-351790" lvl="0" marL="364490" rtl="0" algn="l">
              <a:lnSpc>
                <a:spcPct val="100000"/>
              </a:lnSpc>
              <a:spcBef>
                <a:spcPts val="0"/>
              </a:spcBef>
              <a:spcAft>
                <a:spcPts val="0"/>
              </a:spcAft>
              <a:buClr>
                <a:srgbClr val="252525"/>
              </a:buClr>
              <a:buSzPts val="2400"/>
              <a:buFont typeface="Garamond"/>
              <a:buAutoNum type="alphaUcPeriod"/>
            </a:pPr>
            <a:r>
              <a:rPr b="1" lang="fr-FR" sz="2400">
                <a:solidFill>
                  <a:srgbClr val="252525"/>
                </a:solidFill>
                <a:latin typeface="Garamond"/>
                <a:ea typeface="Garamond"/>
                <a:cs typeface="Garamond"/>
                <a:sym typeface="Garamond"/>
              </a:rPr>
              <a:t>Le thème métaphysique est l’un des plus fréquents des obsessions</a:t>
            </a:r>
            <a:endParaRPr sz="2400">
              <a:latin typeface="Garamond"/>
              <a:ea typeface="Garamond"/>
              <a:cs typeface="Garamond"/>
              <a:sym typeface="Garamond"/>
            </a:endParaRPr>
          </a:p>
          <a:p>
            <a:pPr indent="0" lvl="0" marL="12700" rtl="0" algn="l">
              <a:lnSpc>
                <a:spcPct val="100000"/>
              </a:lnSpc>
              <a:spcBef>
                <a:spcPts val="1470"/>
              </a:spcBef>
              <a:spcAft>
                <a:spcPts val="0"/>
              </a:spcAft>
              <a:buNone/>
            </a:pPr>
            <a:r>
              <a:rPr b="1" lang="fr-FR" sz="2400">
                <a:solidFill>
                  <a:srgbClr val="252525"/>
                </a:solidFill>
                <a:latin typeface="Garamond"/>
                <a:ea typeface="Garamond"/>
                <a:cs typeface="Garamond"/>
                <a:sym typeface="Garamond"/>
              </a:rPr>
              <a:t>phobiques</a:t>
            </a:r>
            <a:endParaRPr sz="2400">
              <a:latin typeface="Garamond"/>
              <a:ea typeface="Garamond"/>
              <a:cs typeface="Garamond"/>
              <a:sym typeface="Garamond"/>
            </a:endParaRPr>
          </a:p>
          <a:p>
            <a:pPr indent="-361315" lvl="0" marL="374015" rtl="0" algn="l">
              <a:lnSpc>
                <a:spcPct val="100000"/>
              </a:lnSpc>
              <a:spcBef>
                <a:spcPts val="1405"/>
              </a:spcBef>
              <a:spcAft>
                <a:spcPts val="0"/>
              </a:spcAft>
              <a:buClr>
                <a:srgbClr val="FF0000"/>
              </a:buClr>
              <a:buSzPts val="2400"/>
              <a:buFont typeface="Garamond"/>
              <a:buAutoNum type="alphaUcPeriod" startAt="2"/>
            </a:pPr>
            <a:r>
              <a:rPr b="1" lang="fr-FR" sz="2400">
                <a:solidFill>
                  <a:srgbClr val="FF0000"/>
                </a:solidFill>
                <a:latin typeface="Garamond"/>
                <a:ea typeface="Garamond"/>
                <a:cs typeface="Garamond"/>
                <a:sym typeface="Garamond"/>
              </a:rPr>
              <a:t>Les obsessions impulsives sont marquées par une grande culpabilité</a:t>
            </a:r>
            <a:endParaRPr sz="2400">
              <a:solidFill>
                <a:srgbClr val="FF0000"/>
              </a:solidFill>
              <a:latin typeface="Garamond"/>
              <a:ea typeface="Garamond"/>
              <a:cs typeface="Garamond"/>
              <a:sym typeface="Garamond"/>
            </a:endParaRPr>
          </a:p>
          <a:p>
            <a:pPr indent="-370840" lvl="0" marL="383540" rtl="0" algn="l">
              <a:lnSpc>
                <a:spcPct val="100000"/>
              </a:lnSpc>
              <a:spcBef>
                <a:spcPts val="1475"/>
              </a:spcBef>
              <a:spcAft>
                <a:spcPts val="0"/>
              </a:spcAft>
              <a:buClr>
                <a:srgbClr val="252525"/>
              </a:buClr>
              <a:buSzPts val="2400"/>
              <a:buFont typeface="Garamond"/>
              <a:buAutoNum type="alphaUcPeriod" startAt="2"/>
            </a:pPr>
            <a:r>
              <a:rPr b="1" lang="fr-FR" sz="2400">
                <a:solidFill>
                  <a:srgbClr val="252525"/>
                </a:solidFill>
                <a:latin typeface="Garamond"/>
                <a:ea typeface="Garamond"/>
                <a:cs typeface="Garamond"/>
                <a:sym typeface="Garamond"/>
              </a:rPr>
              <a:t>Les compulsions ont pour but de procurer du plaisir</a:t>
            </a:r>
            <a:endParaRPr sz="2400">
              <a:latin typeface="Garamond"/>
              <a:ea typeface="Garamond"/>
              <a:cs typeface="Garamond"/>
              <a:sym typeface="Garamond"/>
            </a:endParaRPr>
          </a:p>
          <a:p>
            <a:pPr indent="-380365" lvl="0" marL="393065" rtl="0" algn="l">
              <a:lnSpc>
                <a:spcPct val="100000"/>
              </a:lnSpc>
              <a:spcBef>
                <a:spcPts val="1475"/>
              </a:spcBef>
              <a:spcAft>
                <a:spcPts val="0"/>
              </a:spcAft>
              <a:buClr>
                <a:srgbClr val="FF0000"/>
              </a:buClr>
              <a:buSzPts val="2400"/>
              <a:buFont typeface="Garamond"/>
              <a:buAutoNum type="alphaUcPeriod" startAt="2"/>
            </a:pPr>
            <a:r>
              <a:rPr b="1" lang="fr-FR" sz="2400">
                <a:solidFill>
                  <a:srgbClr val="FF0000"/>
                </a:solidFill>
                <a:latin typeface="Garamond"/>
                <a:ea typeface="Garamond"/>
                <a:cs typeface="Garamond"/>
                <a:sym typeface="Garamond"/>
              </a:rPr>
              <a:t>Les obsessions sont vécues avec une souffrance importante</a:t>
            </a:r>
            <a:endParaRPr sz="2400">
              <a:solidFill>
                <a:srgbClr val="FF0000"/>
              </a:solidFill>
              <a:latin typeface="Garamond"/>
              <a:ea typeface="Garamond"/>
              <a:cs typeface="Garamond"/>
              <a:sym typeface="Garamond"/>
            </a:endParaRPr>
          </a:p>
          <a:p>
            <a:pPr indent="-370840" lvl="0" marL="383540" rtl="0" algn="l">
              <a:lnSpc>
                <a:spcPct val="100000"/>
              </a:lnSpc>
              <a:spcBef>
                <a:spcPts val="1400"/>
              </a:spcBef>
              <a:spcAft>
                <a:spcPts val="0"/>
              </a:spcAft>
              <a:buClr>
                <a:srgbClr val="252525"/>
              </a:buClr>
              <a:buSzPts val="2400"/>
              <a:buFont typeface="Garamond"/>
              <a:buAutoNum type="alphaUcPeriod" startAt="2"/>
            </a:pPr>
            <a:r>
              <a:rPr b="1" lang="fr-FR" sz="2400">
                <a:solidFill>
                  <a:srgbClr val="252525"/>
                </a:solidFill>
                <a:latin typeface="Garamond"/>
                <a:ea typeface="Garamond"/>
                <a:cs typeface="Garamond"/>
                <a:sym typeface="Garamond"/>
              </a:rPr>
              <a:t>Les formes pures, obsessionnelles ou compulsives, sont plus fréquentes</a:t>
            </a:r>
            <a:endParaRPr sz="2400">
              <a:latin typeface="Garamond"/>
              <a:ea typeface="Garamond"/>
              <a:cs typeface="Garamond"/>
              <a:sym typeface="Garamond"/>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p158"/>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04" name="Google Shape;1304;p158"/>
          <p:cNvSpPr txBox="1"/>
          <p:nvPr/>
        </p:nvSpPr>
        <p:spPr>
          <a:xfrm>
            <a:off x="1583944" y="2460522"/>
            <a:ext cx="4437380" cy="3006592"/>
          </a:xfrm>
          <a:prstGeom prst="rect">
            <a:avLst/>
          </a:prstGeom>
          <a:noFill/>
          <a:ln>
            <a:noFill/>
          </a:ln>
        </p:spPr>
        <p:txBody>
          <a:bodyPr anchorCtr="0" anchor="t" bIns="0" lIns="0" spcFirstLastPara="1" rIns="0" wrap="square" tIns="183500">
            <a:spAutoFit/>
          </a:bodyPr>
          <a:lstStyle/>
          <a:p>
            <a:pPr indent="0" lvl="0" marL="12700" rtl="0" algn="l">
              <a:lnSpc>
                <a:spcPct val="100000"/>
              </a:lnSpc>
              <a:spcBef>
                <a:spcPts val="0"/>
              </a:spcBef>
              <a:spcAft>
                <a:spcPts val="0"/>
              </a:spcAft>
              <a:buNone/>
            </a:pPr>
            <a:r>
              <a:rPr b="1" lang="fr-FR" sz="2750">
                <a:solidFill>
                  <a:srgbClr val="FF0000"/>
                </a:solidFill>
                <a:latin typeface="Garamond"/>
                <a:ea typeface="Garamond"/>
                <a:cs typeface="Garamond"/>
                <a:sym typeface="Garamond"/>
              </a:rPr>
              <a:t>A- des actes compulsifs</a:t>
            </a:r>
            <a:endParaRPr sz="2750">
              <a:solidFill>
                <a:srgbClr val="FF0000"/>
              </a:solidFill>
              <a:latin typeface="Garamond"/>
              <a:ea typeface="Garamond"/>
              <a:cs typeface="Garamond"/>
              <a:sym typeface="Garamond"/>
            </a:endParaRPr>
          </a:p>
          <a:p>
            <a:pPr indent="0" lvl="0" marL="12700" rtl="0" algn="l">
              <a:lnSpc>
                <a:spcPct val="100000"/>
              </a:lnSpc>
              <a:spcBef>
                <a:spcPts val="1355"/>
              </a:spcBef>
              <a:spcAft>
                <a:spcPts val="0"/>
              </a:spcAft>
              <a:buNone/>
            </a:pPr>
            <a:r>
              <a:rPr b="1" lang="fr-FR" sz="2750">
                <a:solidFill>
                  <a:srgbClr val="FF0000"/>
                </a:solidFill>
                <a:latin typeface="Garamond"/>
                <a:ea typeface="Garamond"/>
                <a:cs typeface="Garamond"/>
                <a:sym typeface="Garamond"/>
              </a:rPr>
              <a:t>B- des rites conjuratoires</a:t>
            </a:r>
            <a:endParaRPr sz="2750">
              <a:solidFill>
                <a:srgbClr val="FF0000"/>
              </a:solidFill>
              <a:latin typeface="Garamond"/>
              <a:ea typeface="Garamond"/>
              <a:cs typeface="Garamond"/>
              <a:sym typeface="Garamond"/>
            </a:endParaRPr>
          </a:p>
          <a:p>
            <a:pPr indent="0" lvl="0" marL="12700" rtl="0" algn="l">
              <a:lnSpc>
                <a:spcPct val="100000"/>
              </a:lnSpc>
              <a:spcBef>
                <a:spcPts val="1355"/>
              </a:spcBef>
              <a:spcAft>
                <a:spcPts val="0"/>
              </a:spcAft>
              <a:buNone/>
            </a:pPr>
            <a:r>
              <a:rPr b="1" lang="fr-FR" sz="2750">
                <a:solidFill>
                  <a:srgbClr val="252525"/>
                </a:solidFill>
                <a:latin typeface="Garamond"/>
                <a:ea typeface="Garamond"/>
                <a:cs typeface="Garamond"/>
                <a:sym typeface="Garamond"/>
              </a:rPr>
              <a:t>C- une peur du regard d’atrui</a:t>
            </a:r>
            <a:endParaRPr sz="2750">
              <a:latin typeface="Garamond"/>
              <a:ea typeface="Garamond"/>
              <a:cs typeface="Garamond"/>
              <a:sym typeface="Garamond"/>
            </a:endParaRPr>
          </a:p>
          <a:p>
            <a:pPr indent="0" lvl="0" marL="12700" rtl="0" algn="l">
              <a:lnSpc>
                <a:spcPct val="100000"/>
              </a:lnSpc>
              <a:spcBef>
                <a:spcPts val="1355"/>
              </a:spcBef>
              <a:spcAft>
                <a:spcPts val="0"/>
              </a:spcAft>
              <a:buNone/>
            </a:pPr>
            <a:r>
              <a:rPr b="1" lang="fr-FR" sz="2750">
                <a:solidFill>
                  <a:srgbClr val="FF0000"/>
                </a:solidFill>
                <a:latin typeface="Garamond"/>
                <a:ea typeface="Garamond"/>
                <a:cs typeface="Garamond"/>
                <a:sym typeface="Garamond"/>
              </a:rPr>
              <a:t>D-des obsessions idéatives</a:t>
            </a:r>
            <a:endParaRPr sz="2750">
              <a:solidFill>
                <a:srgbClr val="FF0000"/>
              </a:solidFill>
              <a:latin typeface="Garamond"/>
              <a:ea typeface="Garamond"/>
              <a:cs typeface="Garamond"/>
              <a:sym typeface="Garamond"/>
            </a:endParaRPr>
          </a:p>
          <a:p>
            <a:pPr indent="0" lvl="0" marL="12700" rtl="0" algn="l">
              <a:lnSpc>
                <a:spcPct val="100000"/>
              </a:lnSpc>
              <a:spcBef>
                <a:spcPts val="1285"/>
              </a:spcBef>
              <a:spcAft>
                <a:spcPts val="0"/>
              </a:spcAft>
              <a:buNone/>
            </a:pPr>
            <a:r>
              <a:rPr b="1" lang="fr-FR" sz="2750">
                <a:solidFill>
                  <a:srgbClr val="252525"/>
                </a:solidFill>
                <a:latin typeface="Garamond"/>
                <a:ea typeface="Garamond"/>
                <a:cs typeface="Garamond"/>
                <a:sym typeface="Garamond"/>
              </a:rPr>
              <a:t>E- des flash back</a:t>
            </a:r>
            <a:endParaRPr sz="2750">
              <a:latin typeface="Garamond"/>
              <a:ea typeface="Garamond"/>
              <a:cs typeface="Garamond"/>
              <a:sym typeface="Garamond"/>
            </a:endParaRPr>
          </a:p>
        </p:txBody>
      </p:sp>
      <p:sp>
        <p:nvSpPr>
          <p:cNvPr id="1305" name="Google Shape;1305;p158"/>
          <p:cNvSpPr txBox="1"/>
          <p:nvPr>
            <p:ph type="title"/>
          </p:nvPr>
        </p:nvSpPr>
        <p:spPr>
          <a:xfrm>
            <a:off x="1427733" y="690879"/>
            <a:ext cx="9425940" cy="1666239"/>
          </a:xfrm>
          <a:prstGeom prst="rect">
            <a:avLst/>
          </a:prstGeom>
          <a:noFill/>
          <a:ln>
            <a:noFill/>
          </a:ln>
        </p:spPr>
        <p:txBody>
          <a:bodyPr anchorCtr="0" anchor="t" bIns="0" lIns="0" spcFirstLastPara="1" rIns="0" wrap="square" tIns="12050">
            <a:spAutoFit/>
          </a:bodyPr>
          <a:lstStyle/>
          <a:p>
            <a:pPr indent="0" lvl="0" marL="12700" marR="5080" rtl="0" algn="l">
              <a:lnSpc>
                <a:spcPct val="149500"/>
              </a:lnSpc>
              <a:spcBef>
                <a:spcPts val="0"/>
              </a:spcBef>
              <a:spcAft>
                <a:spcPts val="0"/>
              </a:spcAft>
              <a:buNone/>
            </a:pPr>
            <a:r>
              <a:rPr lang="fr-FR">
                <a:solidFill>
                  <a:srgbClr val="000000"/>
                </a:solidFill>
              </a:rPr>
              <a:t>Dans	le	trouble	obsessionnel	compulsif,	on trouve habituellement :</a:t>
            </a:r>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sp>
        <p:nvSpPr>
          <p:cNvPr id="1310" name="Google Shape;1310;p159"/>
          <p:cNvSpPr txBox="1"/>
          <p:nvPr>
            <p:ph type="title"/>
          </p:nvPr>
        </p:nvSpPr>
        <p:spPr>
          <a:xfrm>
            <a:off x="1355978" y="589280"/>
            <a:ext cx="9464675" cy="1852930"/>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t>Parmi les éléments suivants concernant la définition de l’impulsion, quel est celui qui </a:t>
            </a:r>
            <a:r>
              <a:rPr lang="fr-FR" sz="3950" u="sng"/>
              <a:t>est erroné ?	</a:t>
            </a:r>
            <a:endParaRPr sz="3950"/>
          </a:p>
        </p:txBody>
      </p:sp>
      <p:sp>
        <p:nvSpPr>
          <p:cNvPr id="1311" name="Google Shape;1311;p15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312" name="Google Shape;1312;p159"/>
          <p:cNvSpPr txBox="1"/>
          <p:nvPr/>
        </p:nvSpPr>
        <p:spPr>
          <a:xfrm>
            <a:off x="1375028" y="2492565"/>
            <a:ext cx="8878570" cy="3154045"/>
          </a:xfrm>
          <a:prstGeom prst="rect">
            <a:avLst/>
          </a:prstGeom>
          <a:noFill/>
          <a:ln>
            <a:noFill/>
          </a:ln>
        </p:spPr>
        <p:txBody>
          <a:bodyPr anchorCtr="0" anchor="t" bIns="0" lIns="0" spcFirstLastPara="1" rIns="0" wrap="square" tIns="241300">
            <a:spAutoFit/>
          </a:bodyPr>
          <a:lstStyle/>
          <a:p>
            <a:pPr indent="-418465" lvl="0" marL="431165" rtl="0" algn="l">
              <a:lnSpc>
                <a:spcPct val="100000"/>
              </a:lnSpc>
              <a:spcBef>
                <a:spcPts val="0"/>
              </a:spcBef>
              <a:spcAft>
                <a:spcPts val="0"/>
              </a:spcAft>
              <a:buClr>
                <a:srgbClr val="252525"/>
              </a:buClr>
              <a:buSzPts val="2750"/>
              <a:buFont typeface="Garamond"/>
              <a:buAutoNum type="alphaUcPeriod"/>
            </a:pPr>
            <a:r>
              <a:rPr b="1" lang="fr-FR" sz="2750">
                <a:solidFill>
                  <a:srgbClr val="252525"/>
                </a:solidFill>
                <a:latin typeface="Garamond"/>
                <a:ea typeface="Garamond"/>
                <a:cs typeface="Garamond"/>
                <a:sym typeface="Garamond"/>
              </a:rPr>
              <a:t>besoin impérieux</a:t>
            </a:r>
            <a:endParaRPr sz="2750">
              <a:latin typeface="Garamond"/>
              <a:ea typeface="Garamond"/>
              <a:cs typeface="Garamond"/>
              <a:sym typeface="Garamond"/>
            </a:endParaRPr>
          </a:p>
          <a:p>
            <a:pPr indent="-418465" lvl="0" marL="431165" rtl="0" algn="l">
              <a:lnSpc>
                <a:spcPct val="100000"/>
              </a:lnSpc>
              <a:spcBef>
                <a:spcPts val="1805"/>
              </a:spcBef>
              <a:spcAft>
                <a:spcPts val="0"/>
              </a:spcAft>
              <a:buClr>
                <a:srgbClr val="252525"/>
              </a:buClr>
              <a:buSzPts val="2750"/>
              <a:buFont typeface="Garamond"/>
              <a:buAutoNum type="alphaUcPeriod"/>
            </a:pPr>
            <a:r>
              <a:rPr b="1" lang="fr-FR" sz="2750">
                <a:solidFill>
                  <a:srgbClr val="252525"/>
                </a:solidFill>
                <a:latin typeface="Garamond"/>
                <a:ea typeface="Garamond"/>
                <a:cs typeface="Garamond"/>
                <a:sym typeface="Garamond"/>
              </a:rPr>
              <a:t>irruption soudaine dans le fonctionnement mental</a:t>
            </a:r>
            <a:endParaRPr sz="2750">
              <a:latin typeface="Garamond"/>
              <a:ea typeface="Garamond"/>
              <a:cs typeface="Garamond"/>
              <a:sym typeface="Garamond"/>
            </a:endParaRPr>
          </a:p>
          <a:p>
            <a:pPr indent="-370840" lvl="0" marL="383540" rtl="0" algn="l">
              <a:lnSpc>
                <a:spcPct val="100000"/>
              </a:lnSpc>
              <a:spcBef>
                <a:spcPts val="1555"/>
              </a:spcBef>
              <a:spcAft>
                <a:spcPts val="0"/>
              </a:spcAft>
              <a:buClr>
                <a:srgbClr val="FF0000"/>
              </a:buClr>
              <a:buSzPts val="2400"/>
              <a:buFont typeface="Garamond"/>
              <a:buAutoNum type="alphaUcPeriod"/>
            </a:pPr>
            <a:r>
              <a:rPr b="1" lang="fr-FR" sz="2400">
                <a:solidFill>
                  <a:srgbClr val="FF0000"/>
                </a:solidFill>
                <a:latin typeface="Garamond"/>
                <a:ea typeface="Garamond"/>
                <a:cs typeface="Garamond"/>
                <a:sym typeface="Garamond"/>
              </a:rPr>
              <a:t>ne porte exclusivement que sur des idées ou des sentiments</a:t>
            </a:r>
            <a:endParaRPr sz="2400">
              <a:solidFill>
                <a:srgbClr val="FF0000"/>
              </a:solidFill>
              <a:latin typeface="Garamond"/>
              <a:ea typeface="Garamond"/>
              <a:cs typeface="Garamond"/>
              <a:sym typeface="Garamond"/>
            </a:endParaRPr>
          </a:p>
          <a:p>
            <a:pPr indent="-447675" lvl="0" marL="460375" rtl="0" algn="l">
              <a:lnSpc>
                <a:spcPct val="100000"/>
              </a:lnSpc>
              <a:spcBef>
                <a:spcPts val="1580"/>
              </a:spcBef>
              <a:spcAft>
                <a:spcPts val="0"/>
              </a:spcAft>
              <a:buClr>
                <a:srgbClr val="252525"/>
              </a:buClr>
              <a:buSzPts val="2750"/>
              <a:buFont typeface="Garamond"/>
              <a:buAutoNum type="alphaUcPeriod"/>
            </a:pPr>
            <a:r>
              <a:rPr b="1" lang="fr-FR" sz="2750">
                <a:solidFill>
                  <a:srgbClr val="252525"/>
                </a:solidFill>
                <a:latin typeface="Garamond"/>
                <a:ea typeface="Garamond"/>
                <a:cs typeface="Garamond"/>
                <a:sym typeface="Garamond"/>
              </a:rPr>
              <a:t>à caractère brutal, dangereux ou incongru</a:t>
            </a:r>
            <a:endParaRPr sz="2750">
              <a:latin typeface="Garamond"/>
              <a:ea typeface="Garamond"/>
              <a:cs typeface="Garamond"/>
              <a:sym typeface="Garamond"/>
            </a:endParaRPr>
          </a:p>
          <a:p>
            <a:pPr indent="-437515" lvl="0" marL="450215" rtl="0" algn="l">
              <a:lnSpc>
                <a:spcPct val="100000"/>
              </a:lnSpc>
              <a:spcBef>
                <a:spcPts val="1805"/>
              </a:spcBef>
              <a:spcAft>
                <a:spcPts val="0"/>
              </a:spcAft>
              <a:buClr>
                <a:srgbClr val="252525"/>
              </a:buClr>
              <a:buSzPts val="2750"/>
              <a:buFont typeface="Garamond"/>
              <a:buAutoNum type="alphaUcPeriod"/>
            </a:pPr>
            <a:r>
              <a:rPr b="1" lang="fr-FR" sz="2750">
                <a:solidFill>
                  <a:srgbClr val="252525"/>
                </a:solidFill>
                <a:latin typeface="Garamond"/>
                <a:ea typeface="Garamond"/>
                <a:cs typeface="Garamond"/>
                <a:sym typeface="Garamond"/>
              </a:rPr>
              <a:t>dont l’exécution échappe au contrôle volontaire du sujet</a:t>
            </a:r>
            <a:endParaRPr sz="2750">
              <a:latin typeface="Garamond"/>
              <a:ea typeface="Garamond"/>
              <a:cs typeface="Garamond"/>
              <a:sym typeface="Garamond"/>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sp>
        <p:nvSpPr>
          <p:cNvPr id="1317" name="Google Shape;1317;p160"/>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18" name="Google Shape;1318;p160"/>
          <p:cNvSpPr txBox="1"/>
          <p:nvPr>
            <p:ph type="title"/>
          </p:nvPr>
        </p:nvSpPr>
        <p:spPr>
          <a:xfrm>
            <a:off x="1375028" y="669924"/>
            <a:ext cx="9448800" cy="63246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3950"/>
              <a:t>Parmi	les	signes	cliniques	suivants,	lequel</a:t>
            </a:r>
            <a:endParaRPr sz="3950"/>
          </a:p>
        </p:txBody>
      </p:sp>
      <p:sp>
        <p:nvSpPr>
          <p:cNvPr id="1319" name="Google Shape;1319;p16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320" name="Google Shape;1320;p160"/>
          <p:cNvSpPr txBox="1"/>
          <p:nvPr/>
        </p:nvSpPr>
        <p:spPr>
          <a:xfrm>
            <a:off x="1375028" y="1280413"/>
            <a:ext cx="9450070" cy="4502515"/>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b="1" lang="fr-FR" sz="3950">
                <a:solidFill>
                  <a:srgbClr val="252525"/>
                </a:solidFill>
                <a:latin typeface="Garamond"/>
                <a:ea typeface="Garamond"/>
                <a:cs typeface="Garamond"/>
                <a:sym typeface="Garamond"/>
              </a:rPr>
              <a:t>n’entre	pas	dans	le	tableau	de	TOC	:</a:t>
            </a:r>
            <a:endParaRPr sz="3950">
              <a:latin typeface="Garamond"/>
              <a:ea typeface="Garamond"/>
              <a:cs typeface="Garamond"/>
              <a:sym typeface="Garamond"/>
            </a:endParaRPr>
          </a:p>
          <a:p>
            <a:pPr indent="0" lvl="0" marL="0" rtl="0" algn="l">
              <a:lnSpc>
                <a:spcPct val="100000"/>
              </a:lnSpc>
              <a:spcBef>
                <a:spcPts val="2130"/>
              </a:spcBef>
              <a:spcAft>
                <a:spcPts val="0"/>
              </a:spcAft>
              <a:buNone/>
            </a:pPr>
            <a:r>
              <a:t/>
            </a:r>
            <a:endParaRPr sz="3950">
              <a:latin typeface="Garamond"/>
              <a:ea typeface="Garamond"/>
              <a:cs typeface="Garamond"/>
              <a:sym typeface="Garamond"/>
            </a:endParaRPr>
          </a:p>
          <a:p>
            <a:pPr indent="-413384" lvl="0" marL="426084" rtl="0" algn="l">
              <a:lnSpc>
                <a:spcPct val="100000"/>
              </a:lnSpc>
              <a:spcBef>
                <a:spcPts val="0"/>
              </a:spcBef>
              <a:spcAft>
                <a:spcPts val="0"/>
              </a:spcAft>
              <a:buClr>
                <a:srgbClr val="252525"/>
              </a:buClr>
              <a:buSzPts val="2750"/>
              <a:buFont typeface="Garamond"/>
              <a:buAutoNum type="alphaUcPeriod"/>
            </a:pPr>
            <a:r>
              <a:rPr b="1" lang="fr-FR" sz="2750">
                <a:solidFill>
                  <a:srgbClr val="252525"/>
                </a:solidFill>
                <a:latin typeface="Garamond"/>
                <a:ea typeface="Garamond"/>
                <a:cs typeface="Garamond"/>
                <a:sym typeface="Garamond"/>
              </a:rPr>
              <a:t>Doute permanente</a:t>
            </a:r>
            <a:endParaRPr sz="2750">
              <a:latin typeface="Garamond"/>
              <a:ea typeface="Garamond"/>
              <a:cs typeface="Garamond"/>
              <a:sym typeface="Garamond"/>
            </a:endParaRPr>
          </a:p>
          <a:p>
            <a:pPr indent="-418465" lvl="0" marL="431165" rtl="0" algn="l">
              <a:lnSpc>
                <a:spcPct val="100000"/>
              </a:lnSpc>
              <a:spcBef>
                <a:spcPts val="1810"/>
              </a:spcBef>
              <a:spcAft>
                <a:spcPts val="0"/>
              </a:spcAft>
              <a:buClr>
                <a:srgbClr val="252525"/>
              </a:buClr>
              <a:buSzPts val="2750"/>
              <a:buFont typeface="Garamond"/>
              <a:buAutoNum type="alphaUcPeriod"/>
            </a:pPr>
            <a:r>
              <a:rPr b="1" lang="fr-FR" sz="2750">
                <a:solidFill>
                  <a:srgbClr val="252525"/>
                </a:solidFill>
                <a:latin typeface="Garamond"/>
                <a:ea typeface="Garamond"/>
                <a:cs typeface="Garamond"/>
                <a:sym typeface="Garamond"/>
              </a:rPr>
              <a:t>Rumination mentale</a:t>
            </a:r>
            <a:endParaRPr sz="2750">
              <a:latin typeface="Garamond"/>
              <a:ea typeface="Garamond"/>
              <a:cs typeface="Garamond"/>
              <a:sym typeface="Garamond"/>
            </a:endParaRPr>
          </a:p>
          <a:p>
            <a:pPr indent="-427990" lvl="0" marL="440690" rtl="0" algn="l">
              <a:lnSpc>
                <a:spcPct val="100000"/>
              </a:lnSpc>
              <a:spcBef>
                <a:spcPts val="1730"/>
              </a:spcBef>
              <a:spcAft>
                <a:spcPts val="0"/>
              </a:spcAft>
              <a:buClr>
                <a:srgbClr val="FF0000"/>
              </a:buClr>
              <a:buSzPts val="2750"/>
              <a:buFont typeface="Garamond"/>
              <a:buAutoNum type="alphaUcPeriod"/>
            </a:pPr>
            <a:r>
              <a:rPr b="1" lang="fr-FR" sz="2750">
                <a:solidFill>
                  <a:srgbClr val="FF0000"/>
                </a:solidFill>
                <a:latin typeface="Garamond"/>
                <a:ea typeface="Garamond"/>
                <a:cs typeface="Garamond"/>
                <a:sym typeface="Garamond"/>
              </a:rPr>
              <a:t>Théâtralisme</a:t>
            </a:r>
            <a:endParaRPr sz="2750">
              <a:solidFill>
                <a:srgbClr val="FF0000"/>
              </a:solidFill>
              <a:latin typeface="Garamond"/>
              <a:ea typeface="Garamond"/>
              <a:cs typeface="Garamond"/>
              <a:sym typeface="Garamond"/>
            </a:endParaRPr>
          </a:p>
          <a:p>
            <a:pPr indent="-447040" lvl="0" marL="459740" rtl="0" algn="l">
              <a:lnSpc>
                <a:spcPct val="100000"/>
              </a:lnSpc>
              <a:spcBef>
                <a:spcPts val="1730"/>
              </a:spcBef>
              <a:spcAft>
                <a:spcPts val="0"/>
              </a:spcAft>
              <a:buClr>
                <a:srgbClr val="252525"/>
              </a:buClr>
              <a:buSzPts val="2750"/>
              <a:buFont typeface="Garamond"/>
              <a:buAutoNum type="alphaUcPeriod"/>
            </a:pPr>
            <a:r>
              <a:rPr b="1" lang="fr-FR" sz="2750">
                <a:solidFill>
                  <a:srgbClr val="252525"/>
                </a:solidFill>
                <a:latin typeface="Garamond"/>
                <a:ea typeface="Garamond"/>
                <a:cs typeface="Garamond"/>
                <a:sym typeface="Garamond"/>
              </a:rPr>
              <a:t>Irruption répétitive et lancinante de pensée intrusive</a:t>
            </a:r>
            <a:endParaRPr sz="2750">
              <a:latin typeface="Garamond"/>
              <a:ea typeface="Garamond"/>
              <a:cs typeface="Garamond"/>
              <a:sym typeface="Garamond"/>
            </a:endParaRPr>
          </a:p>
          <a:p>
            <a:pPr indent="-437515" lvl="0" marL="450215" rtl="0" algn="l">
              <a:lnSpc>
                <a:spcPct val="100000"/>
              </a:lnSpc>
              <a:spcBef>
                <a:spcPts val="1735"/>
              </a:spcBef>
              <a:spcAft>
                <a:spcPts val="0"/>
              </a:spcAft>
              <a:buClr>
                <a:srgbClr val="252525"/>
              </a:buClr>
              <a:buSzPts val="2750"/>
              <a:buFont typeface="Garamond"/>
              <a:buAutoNum type="alphaUcPeriod"/>
            </a:pPr>
            <a:r>
              <a:rPr b="1" lang="fr-FR" sz="2750">
                <a:solidFill>
                  <a:srgbClr val="252525"/>
                </a:solidFill>
                <a:latin typeface="Garamond"/>
                <a:ea typeface="Garamond"/>
                <a:cs typeface="Garamond"/>
                <a:sym typeface="Garamond"/>
              </a:rPr>
              <a:t>Ritualisation de la vie</a:t>
            </a:r>
            <a:endParaRPr sz="2750">
              <a:latin typeface="Garamond"/>
              <a:ea typeface="Garamond"/>
              <a:cs typeface="Garamond"/>
              <a:sym typeface="Garamond"/>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4" name="Shape 1324"/>
        <p:cNvGrpSpPr/>
        <p:nvPr/>
      </p:nvGrpSpPr>
      <p:grpSpPr>
        <a:xfrm>
          <a:off x="0" y="0"/>
          <a:ext cx="0" cy="0"/>
          <a:chOff x="0" y="0"/>
          <a:chExt cx="0" cy="0"/>
        </a:xfrm>
      </p:grpSpPr>
      <p:sp>
        <p:nvSpPr>
          <p:cNvPr id="1325" name="Google Shape;1325;p161"/>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26" name="Google Shape;1326;p161"/>
          <p:cNvSpPr txBox="1"/>
          <p:nvPr>
            <p:ph type="title"/>
          </p:nvPr>
        </p:nvSpPr>
        <p:spPr>
          <a:xfrm>
            <a:off x="1375028" y="975105"/>
            <a:ext cx="9446895"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t>L’obsession	est	spécifiée	par	les	éléments cliniques suivants, sauf	un. Lequel?</a:t>
            </a:r>
            <a:endParaRPr sz="3950"/>
          </a:p>
        </p:txBody>
      </p:sp>
      <p:sp>
        <p:nvSpPr>
          <p:cNvPr id="1327" name="Google Shape;1327;p16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328" name="Google Shape;1328;p161"/>
          <p:cNvSpPr txBox="1"/>
          <p:nvPr/>
        </p:nvSpPr>
        <p:spPr>
          <a:xfrm>
            <a:off x="1165225" y="2398394"/>
            <a:ext cx="9935210" cy="3273973"/>
          </a:xfrm>
          <a:prstGeom prst="rect">
            <a:avLst/>
          </a:prstGeom>
          <a:noFill/>
          <a:ln>
            <a:noFill/>
          </a:ln>
        </p:spPr>
        <p:txBody>
          <a:bodyPr anchorCtr="0" anchor="t" bIns="0" lIns="0" spcFirstLastPara="1" rIns="0" wrap="square" tIns="16500">
            <a:spAutoFit/>
          </a:bodyPr>
          <a:lstStyle/>
          <a:p>
            <a:pPr indent="-418465" lvl="0" marL="431165" rtl="0" algn="l">
              <a:lnSpc>
                <a:spcPct val="100000"/>
              </a:lnSpc>
              <a:spcBef>
                <a:spcPts val="0"/>
              </a:spcBef>
              <a:spcAft>
                <a:spcPts val="0"/>
              </a:spcAft>
              <a:buClr>
                <a:srgbClr val="252525"/>
              </a:buClr>
              <a:buSzPts val="2750"/>
              <a:buFont typeface="Garamond"/>
              <a:buAutoNum type="alphaUcPeriod"/>
            </a:pPr>
            <a:r>
              <a:rPr b="1" lang="fr-FR" sz="2750">
                <a:solidFill>
                  <a:srgbClr val="252525"/>
                </a:solidFill>
                <a:latin typeface="Garamond"/>
                <a:ea typeface="Garamond"/>
                <a:cs typeface="Garamond"/>
                <a:sym typeface="Garamond"/>
              </a:rPr>
              <a:t>Irruption dans la pensée d’un sentiment, d’une idée, d’une</a:t>
            </a:r>
            <a:endParaRPr sz="2750">
              <a:latin typeface="Garamond"/>
              <a:ea typeface="Garamond"/>
              <a:cs typeface="Garamond"/>
              <a:sym typeface="Garamond"/>
            </a:endParaRPr>
          </a:p>
          <a:p>
            <a:pPr indent="0" lvl="0" marL="12700" rtl="0" algn="l">
              <a:lnSpc>
                <a:spcPct val="100000"/>
              </a:lnSpc>
              <a:spcBef>
                <a:spcPts val="80"/>
              </a:spcBef>
              <a:spcAft>
                <a:spcPts val="0"/>
              </a:spcAft>
              <a:buNone/>
            </a:pPr>
            <a:r>
              <a:rPr b="1" lang="fr-FR" sz="2750">
                <a:solidFill>
                  <a:srgbClr val="252525"/>
                </a:solidFill>
                <a:latin typeface="Garamond"/>
                <a:ea typeface="Garamond"/>
                <a:cs typeface="Garamond"/>
                <a:sym typeface="Garamond"/>
              </a:rPr>
              <a:t>tendance</a:t>
            </a:r>
            <a:endParaRPr sz="2750">
              <a:latin typeface="Garamond"/>
              <a:ea typeface="Garamond"/>
              <a:cs typeface="Garamond"/>
              <a:sym typeface="Garamond"/>
            </a:endParaRPr>
          </a:p>
          <a:p>
            <a:pPr indent="-418465" lvl="0" marL="431165" rtl="0" algn="l">
              <a:lnSpc>
                <a:spcPct val="100000"/>
              </a:lnSpc>
              <a:spcBef>
                <a:spcPts val="1355"/>
              </a:spcBef>
              <a:spcAft>
                <a:spcPts val="0"/>
              </a:spcAft>
              <a:buClr>
                <a:srgbClr val="252525"/>
              </a:buClr>
              <a:buSzPts val="2750"/>
              <a:buFont typeface="Garamond"/>
              <a:buAutoNum type="alphaUcPeriod" startAt="2"/>
            </a:pPr>
            <a:r>
              <a:rPr b="1" lang="fr-FR" sz="2750">
                <a:solidFill>
                  <a:srgbClr val="252525"/>
                </a:solidFill>
                <a:latin typeface="Garamond"/>
                <a:ea typeface="Garamond"/>
                <a:cs typeface="Garamond"/>
                <a:sym typeface="Garamond"/>
              </a:rPr>
              <a:t>Apparait au sujet comme un phénomène morbide contraignant</a:t>
            </a:r>
            <a:endParaRPr sz="2750">
              <a:latin typeface="Garamond"/>
              <a:ea typeface="Garamond"/>
              <a:cs typeface="Garamond"/>
              <a:sym typeface="Garamond"/>
            </a:endParaRPr>
          </a:p>
          <a:p>
            <a:pPr indent="-427990" lvl="0" marL="440690" rtl="0" algn="l">
              <a:lnSpc>
                <a:spcPct val="100000"/>
              </a:lnSpc>
              <a:spcBef>
                <a:spcPts val="1355"/>
              </a:spcBef>
              <a:spcAft>
                <a:spcPts val="0"/>
              </a:spcAft>
              <a:buClr>
                <a:srgbClr val="FF0000"/>
              </a:buClr>
              <a:buSzPts val="2750"/>
              <a:buFont typeface="Garamond"/>
              <a:buAutoNum type="alphaUcPeriod" startAt="2"/>
            </a:pPr>
            <a:r>
              <a:rPr b="1" lang="fr-FR" sz="2750">
                <a:solidFill>
                  <a:srgbClr val="FF0000"/>
                </a:solidFill>
                <a:latin typeface="Garamond"/>
                <a:ea typeface="Garamond"/>
                <a:cs typeface="Garamond"/>
                <a:sym typeface="Garamond"/>
              </a:rPr>
              <a:t>Se situe en dehors de lui-même</a:t>
            </a:r>
            <a:endParaRPr sz="2750">
              <a:solidFill>
                <a:srgbClr val="FF0000"/>
              </a:solidFill>
              <a:latin typeface="Garamond"/>
              <a:ea typeface="Garamond"/>
              <a:cs typeface="Garamond"/>
              <a:sym typeface="Garamond"/>
            </a:endParaRPr>
          </a:p>
          <a:p>
            <a:pPr indent="-447675" lvl="0" marL="460375" rtl="0" algn="l">
              <a:lnSpc>
                <a:spcPct val="100000"/>
              </a:lnSpc>
              <a:spcBef>
                <a:spcPts val="1285"/>
              </a:spcBef>
              <a:spcAft>
                <a:spcPts val="0"/>
              </a:spcAft>
              <a:buClr>
                <a:srgbClr val="252525"/>
              </a:buClr>
              <a:buSzPts val="2750"/>
              <a:buFont typeface="Garamond"/>
              <a:buAutoNum type="alphaUcPeriod" startAt="2"/>
            </a:pPr>
            <a:r>
              <a:rPr b="1" lang="fr-FR" sz="2750">
                <a:solidFill>
                  <a:srgbClr val="252525"/>
                </a:solidFill>
                <a:latin typeface="Garamond"/>
                <a:ea typeface="Garamond"/>
                <a:cs typeface="Garamond"/>
                <a:sym typeface="Garamond"/>
              </a:rPr>
              <a:t>Déclenche de l’angoisse</a:t>
            </a:r>
            <a:endParaRPr sz="2750">
              <a:latin typeface="Garamond"/>
              <a:ea typeface="Garamond"/>
              <a:cs typeface="Garamond"/>
              <a:sym typeface="Garamond"/>
            </a:endParaRPr>
          </a:p>
          <a:p>
            <a:pPr indent="-437515" lvl="0" marL="450215" rtl="0" algn="l">
              <a:lnSpc>
                <a:spcPct val="100000"/>
              </a:lnSpc>
              <a:spcBef>
                <a:spcPts val="1355"/>
              </a:spcBef>
              <a:spcAft>
                <a:spcPts val="0"/>
              </a:spcAft>
              <a:buClr>
                <a:srgbClr val="252525"/>
              </a:buClr>
              <a:buSzPts val="2750"/>
              <a:buFont typeface="Garamond"/>
              <a:buAutoNum type="alphaUcPeriod" startAt="2"/>
            </a:pPr>
            <a:r>
              <a:rPr b="1" lang="fr-FR" sz="2750">
                <a:solidFill>
                  <a:srgbClr val="252525"/>
                </a:solidFill>
                <a:latin typeface="Garamond"/>
                <a:ea typeface="Garamond"/>
                <a:cs typeface="Garamond"/>
                <a:sym typeface="Garamond"/>
              </a:rPr>
              <a:t>S’accompagne d’une lutte anxieuse</a:t>
            </a:r>
            <a:endParaRPr sz="2750">
              <a:latin typeface="Garamond"/>
              <a:ea typeface="Garamond"/>
              <a:cs typeface="Garamond"/>
              <a:sym typeface="Garamond"/>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2" name="Shape 1332"/>
        <p:cNvGrpSpPr/>
        <p:nvPr/>
      </p:nvGrpSpPr>
      <p:grpSpPr>
        <a:xfrm>
          <a:off x="0" y="0"/>
          <a:ext cx="0" cy="0"/>
          <a:chOff x="0" y="0"/>
          <a:chExt cx="0" cy="0"/>
        </a:xfrm>
      </p:grpSpPr>
      <p:sp>
        <p:nvSpPr>
          <p:cNvPr id="1333" name="Google Shape;1333;p162"/>
          <p:cNvSpPr txBox="1"/>
          <p:nvPr>
            <p:ph type="title"/>
          </p:nvPr>
        </p:nvSpPr>
        <p:spPr>
          <a:xfrm>
            <a:off x="1414780" y="741362"/>
            <a:ext cx="9370060" cy="70104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4400">
                <a:solidFill>
                  <a:srgbClr val="006FC0"/>
                </a:solidFill>
              </a:rPr>
              <a:t>Trouble obsessionnel compulsif	(TOC)</a:t>
            </a:r>
            <a:endParaRPr sz="4400"/>
          </a:p>
        </p:txBody>
      </p:sp>
      <p:sp>
        <p:nvSpPr>
          <p:cNvPr id="1334" name="Google Shape;1334;p16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335" name="Google Shape;1335;p162"/>
          <p:cNvSpPr txBox="1"/>
          <p:nvPr/>
        </p:nvSpPr>
        <p:spPr>
          <a:xfrm>
            <a:off x="832167" y="1491549"/>
            <a:ext cx="10543540" cy="4293235"/>
          </a:xfrm>
          <a:prstGeom prst="rect">
            <a:avLst/>
          </a:prstGeom>
          <a:noFill/>
          <a:ln>
            <a:noFill/>
          </a:ln>
        </p:spPr>
        <p:txBody>
          <a:bodyPr anchorCtr="0" anchor="t" bIns="0" lIns="0" spcFirstLastPara="1" rIns="0" wrap="square" tIns="111750">
            <a:spAutoFit/>
          </a:bodyPr>
          <a:lstStyle/>
          <a:p>
            <a:pPr indent="-285115" lvl="0" marL="297815" rtl="0" algn="just">
              <a:lnSpc>
                <a:spcPct val="100000"/>
              </a:lnSpc>
              <a:spcBef>
                <a:spcPts val="0"/>
              </a:spcBef>
              <a:spcAft>
                <a:spcPts val="0"/>
              </a:spcAft>
              <a:buClr>
                <a:srgbClr val="83992A"/>
              </a:buClr>
              <a:buSzPts val="3200"/>
              <a:buFont typeface="Arial"/>
              <a:buChar char="•"/>
            </a:pPr>
            <a:r>
              <a:rPr lang="fr-FR" sz="2750">
                <a:solidFill>
                  <a:srgbClr val="252525"/>
                </a:solidFill>
                <a:latin typeface="Garamond"/>
                <a:ea typeface="Garamond"/>
                <a:cs typeface="Garamond"/>
                <a:sym typeface="Garamond"/>
              </a:rPr>
              <a:t>défini par la coexistence </a:t>
            </a:r>
            <a:r>
              <a:rPr b="1" lang="fr-FR" sz="2750">
                <a:solidFill>
                  <a:srgbClr val="C00000"/>
                </a:solidFill>
                <a:latin typeface="Garamond"/>
                <a:ea typeface="Garamond"/>
                <a:cs typeface="Garamond"/>
                <a:sym typeface="Garamond"/>
              </a:rPr>
              <a:t>d'obsessions et de compulsions.</a:t>
            </a:r>
            <a:endParaRPr sz="2750">
              <a:latin typeface="Garamond"/>
              <a:ea typeface="Garamond"/>
              <a:cs typeface="Garamond"/>
              <a:sym typeface="Garamond"/>
            </a:endParaRPr>
          </a:p>
          <a:p>
            <a:pPr indent="-285750" lvl="0" marL="298450" marR="5080" rtl="0" algn="just">
              <a:lnSpc>
                <a:spcPct val="102400"/>
              </a:lnSpc>
              <a:spcBef>
                <a:spcPts val="1280"/>
              </a:spcBef>
              <a:spcAft>
                <a:spcPts val="0"/>
              </a:spcAft>
              <a:buClr>
                <a:srgbClr val="83992A"/>
              </a:buClr>
              <a:buSzPts val="3200"/>
              <a:buFont typeface="Arial"/>
              <a:buChar char="•"/>
            </a:pPr>
            <a:r>
              <a:rPr b="1" lang="fr-FR" sz="2750">
                <a:solidFill>
                  <a:srgbClr val="006FC0"/>
                </a:solidFill>
                <a:latin typeface="Garamond"/>
                <a:ea typeface="Garamond"/>
                <a:cs typeface="Garamond"/>
                <a:sym typeface="Garamond"/>
              </a:rPr>
              <a:t>Les obsessions </a:t>
            </a:r>
            <a:r>
              <a:rPr lang="fr-FR" sz="2750">
                <a:solidFill>
                  <a:srgbClr val="252525"/>
                </a:solidFill>
                <a:latin typeface="Garamond"/>
                <a:ea typeface="Garamond"/>
                <a:cs typeface="Garamond"/>
                <a:sym typeface="Garamond"/>
              </a:rPr>
              <a:t>sont des </a:t>
            </a:r>
            <a:r>
              <a:rPr b="1" lang="fr-FR" sz="2750">
                <a:solidFill>
                  <a:srgbClr val="252525"/>
                </a:solidFill>
                <a:latin typeface="Garamond"/>
                <a:ea typeface="Garamond"/>
                <a:cs typeface="Garamond"/>
                <a:sym typeface="Garamond"/>
              </a:rPr>
              <a:t>idées, des pensées, des impulsions </a:t>
            </a:r>
            <a:r>
              <a:rPr lang="fr-FR" sz="2750">
                <a:solidFill>
                  <a:srgbClr val="252525"/>
                </a:solidFill>
                <a:latin typeface="Garamond"/>
                <a:ea typeface="Garamond"/>
                <a:cs typeface="Garamond"/>
                <a:sym typeface="Garamond"/>
              </a:rPr>
              <a:t>ou des représentations  </a:t>
            </a:r>
            <a:r>
              <a:rPr b="1" lang="fr-FR" sz="2750">
                <a:solidFill>
                  <a:srgbClr val="C00000"/>
                </a:solidFill>
                <a:latin typeface="Garamond"/>
                <a:ea typeface="Garamond"/>
                <a:cs typeface="Garamond"/>
                <a:sym typeface="Garamond"/>
              </a:rPr>
              <a:t>persistantes  </a:t>
            </a:r>
            <a:r>
              <a:rPr lang="fr-FR" sz="2750">
                <a:solidFill>
                  <a:srgbClr val="252525"/>
                </a:solidFill>
                <a:latin typeface="Garamond"/>
                <a:ea typeface="Garamond"/>
                <a:cs typeface="Garamond"/>
                <a:sym typeface="Garamond"/>
              </a:rPr>
              <a:t>qui  sont  vécues  comme  i</a:t>
            </a:r>
            <a:r>
              <a:rPr b="1" lang="fr-FR" sz="2750">
                <a:solidFill>
                  <a:srgbClr val="C00000"/>
                </a:solidFill>
                <a:latin typeface="Garamond"/>
                <a:ea typeface="Garamond"/>
                <a:cs typeface="Garamond"/>
                <a:sym typeface="Garamond"/>
              </a:rPr>
              <a:t>ntrusives  </a:t>
            </a:r>
            <a:r>
              <a:rPr lang="fr-FR" sz="2750">
                <a:solidFill>
                  <a:srgbClr val="252525"/>
                </a:solidFill>
                <a:latin typeface="Garamond"/>
                <a:ea typeface="Garamond"/>
                <a:cs typeface="Garamond"/>
                <a:sym typeface="Garamond"/>
              </a:rPr>
              <a:t>et inappropriées et qui entraînent une anxiété ou une souffrance importante.</a:t>
            </a:r>
            <a:endParaRPr sz="2750">
              <a:latin typeface="Garamond"/>
              <a:ea typeface="Garamond"/>
              <a:cs typeface="Garamond"/>
              <a:sym typeface="Garamond"/>
            </a:endParaRPr>
          </a:p>
          <a:p>
            <a:pPr indent="-285750" lvl="0" marL="298450" marR="6985" rtl="0" algn="just">
              <a:lnSpc>
                <a:spcPct val="102400"/>
              </a:lnSpc>
              <a:spcBef>
                <a:spcPts val="1200"/>
              </a:spcBef>
              <a:spcAft>
                <a:spcPts val="0"/>
              </a:spcAft>
              <a:buClr>
                <a:srgbClr val="83992A"/>
              </a:buClr>
              <a:buSzPts val="3200"/>
              <a:buFont typeface="Arial"/>
              <a:buChar char="•"/>
            </a:pPr>
            <a:r>
              <a:rPr b="1" lang="fr-FR" sz="2750">
                <a:solidFill>
                  <a:srgbClr val="006FC0"/>
                </a:solidFill>
                <a:latin typeface="Garamond"/>
                <a:ea typeface="Garamond"/>
                <a:cs typeface="Garamond"/>
                <a:sym typeface="Garamond"/>
              </a:rPr>
              <a:t>Les compulsions </a:t>
            </a:r>
            <a:r>
              <a:rPr lang="fr-FR" sz="2750">
                <a:solidFill>
                  <a:srgbClr val="252525"/>
                </a:solidFill>
                <a:latin typeface="Garamond"/>
                <a:ea typeface="Garamond"/>
                <a:cs typeface="Garamond"/>
                <a:sym typeface="Garamond"/>
              </a:rPr>
              <a:t>sont </a:t>
            </a:r>
            <a:r>
              <a:rPr b="1" lang="fr-FR" sz="2750">
                <a:solidFill>
                  <a:srgbClr val="C00000"/>
                </a:solidFill>
                <a:latin typeface="Garamond"/>
                <a:ea typeface="Garamond"/>
                <a:cs typeface="Garamond"/>
                <a:sym typeface="Garamond"/>
              </a:rPr>
              <a:t>des comportements répétitifs </a:t>
            </a:r>
            <a:r>
              <a:rPr lang="fr-FR" sz="2750">
                <a:solidFill>
                  <a:srgbClr val="252525"/>
                </a:solidFill>
                <a:latin typeface="Garamond"/>
                <a:ea typeface="Garamond"/>
                <a:cs typeface="Garamond"/>
                <a:sym typeface="Garamond"/>
              </a:rPr>
              <a:t>(p. ex., se laver les mains, ranger dans un certain ordre, vérifier) ou des actes mentaux (p. ex., prier, compter, répéter des mots de manière silencieuse) dont le but est  de  </a:t>
            </a:r>
            <a:r>
              <a:rPr b="1" lang="fr-FR" sz="2750">
                <a:solidFill>
                  <a:srgbClr val="C00000"/>
                </a:solidFill>
                <a:latin typeface="Garamond"/>
                <a:ea typeface="Garamond"/>
                <a:cs typeface="Garamond"/>
                <a:sym typeface="Garamond"/>
              </a:rPr>
              <a:t>prévenir  ou  de  réduire  l’anxiété  </a:t>
            </a:r>
            <a:r>
              <a:rPr lang="fr-FR" sz="2750">
                <a:solidFill>
                  <a:srgbClr val="252525"/>
                </a:solidFill>
                <a:latin typeface="Garamond"/>
                <a:ea typeface="Garamond"/>
                <a:cs typeface="Garamond"/>
                <a:sym typeface="Garamond"/>
              </a:rPr>
              <a:t>ou  la souffrance  et non  de procurer plaisir ou satisfaction.</a:t>
            </a:r>
            <a:endParaRPr sz="2750">
              <a:latin typeface="Garamond"/>
              <a:ea typeface="Garamond"/>
              <a:cs typeface="Garamond"/>
              <a:sym typeface="Garamond"/>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sp>
        <p:nvSpPr>
          <p:cNvPr id="1340" name="Google Shape;1340;p163"/>
          <p:cNvSpPr txBox="1"/>
          <p:nvPr>
            <p:ph type="title"/>
          </p:nvPr>
        </p:nvSpPr>
        <p:spPr>
          <a:xfrm>
            <a:off x="1893316" y="867155"/>
            <a:ext cx="7543165" cy="70104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4400">
                <a:solidFill>
                  <a:srgbClr val="006FC0"/>
                </a:solidFill>
              </a:rPr>
              <a:t>Trouble obsessionnel compulsif</a:t>
            </a:r>
            <a:endParaRPr sz="4400"/>
          </a:p>
        </p:txBody>
      </p:sp>
      <p:sp>
        <p:nvSpPr>
          <p:cNvPr id="1341" name="Google Shape;1341;p16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342" name="Google Shape;1342;p163"/>
          <p:cNvSpPr txBox="1"/>
          <p:nvPr/>
        </p:nvSpPr>
        <p:spPr>
          <a:xfrm>
            <a:off x="832167" y="1680386"/>
            <a:ext cx="10431780" cy="4013835"/>
          </a:xfrm>
          <a:prstGeom prst="rect">
            <a:avLst/>
          </a:prstGeom>
          <a:noFill/>
          <a:ln>
            <a:noFill/>
          </a:ln>
        </p:spPr>
        <p:txBody>
          <a:bodyPr anchorCtr="0" anchor="t" bIns="0" lIns="0" spcFirstLastPara="1" rIns="0" wrap="square" tIns="74275">
            <a:spAutoFit/>
          </a:bodyPr>
          <a:lstStyle/>
          <a:p>
            <a:pPr indent="-285115" lvl="0" marL="297815" rtl="0" algn="just">
              <a:lnSpc>
                <a:spcPct val="100000"/>
              </a:lnSpc>
              <a:spcBef>
                <a:spcPts val="0"/>
              </a:spcBef>
              <a:spcAft>
                <a:spcPts val="0"/>
              </a:spcAft>
              <a:buClr>
                <a:srgbClr val="83992A"/>
              </a:buClr>
              <a:buSzPts val="3000"/>
              <a:buFont typeface="Arial"/>
              <a:buChar char="•"/>
            </a:pPr>
            <a:r>
              <a:rPr lang="fr-FR" sz="2600">
                <a:solidFill>
                  <a:srgbClr val="252525"/>
                </a:solidFill>
                <a:latin typeface="Garamond"/>
                <a:ea typeface="Garamond"/>
                <a:cs typeface="Garamond"/>
                <a:sym typeface="Garamond"/>
              </a:rPr>
              <a:t>Il existe 3 types d’obsessions :</a:t>
            </a:r>
            <a:endParaRPr sz="2600">
              <a:latin typeface="Garamond"/>
              <a:ea typeface="Garamond"/>
              <a:cs typeface="Garamond"/>
              <a:sym typeface="Garamond"/>
            </a:endParaRPr>
          </a:p>
          <a:p>
            <a:pPr indent="-285750" lvl="0" marL="298450" marR="5715" rtl="0" algn="just">
              <a:lnSpc>
                <a:spcPct val="86900"/>
              </a:lnSpc>
              <a:spcBef>
                <a:spcPts val="1010"/>
              </a:spcBef>
              <a:spcAft>
                <a:spcPts val="0"/>
              </a:spcAft>
              <a:buClr>
                <a:srgbClr val="83992A"/>
              </a:buClr>
              <a:buSzPts val="3000"/>
              <a:buFont typeface="Garamond"/>
              <a:buChar char="-"/>
            </a:pPr>
            <a:r>
              <a:rPr b="1" lang="fr-FR" sz="2600">
                <a:solidFill>
                  <a:srgbClr val="C00000"/>
                </a:solidFill>
                <a:latin typeface="Garamond"/>
                <a:ea typeface="Garamond"/>
                <a:cs typeface="Garamond"/>
                <a:sym typeface="Garamond"/>
              </a:rPr>
              <a:t>Les obsessions idéatives </a:t>
            </a:r>
            <a:r>
              <a:rPr lang="fr-FR" sz="2600">
                <a:solidFill>
                  <a:srgbClr val="252525"/>
                </a:solidFill>
                <a:latin typeface="Garamond"/>
                <a:ea typeface="Garamond"/>
                <a:cs typeface="Garamond"/>
                <a:sym typeface="Garamond"/>
              </a:rPr>
              <a:t>ou « folie du doute » concernent les doutes et les scrupules, la crainte d’un oubli ou d’une erreur. Les thèmes les plus fréquents</a:t>
            </a:r>
            <a:endParaRPr sz="2600">
              <a:latin typeface="Garamond"/>
              <a:ea typeface="Garamond"/>
              <a:cs typeface="Garamond"/>
              <a:sym typeface="Garamond"/>
            </a:endParaRPr>
          </a:p>
          <a:p>
            <a:pPr indent="0" lvl="0" marL="298450" marR="5080" rtl="0" algn="just">
              <a:lnSpc>
                <a:spcPct val="106923"/>
              </a:lnSpc>
              <a:spcBef>
                <a:spcPts val="110"/>
              </a:spcBef>
              <a:spcAft>
                <a:spcPts val="0"/>
              </a:spcAft>
              <a:buNone/>
            </a:pPr>
            <a:r>
              <a:rPr lang="fr-FR" sz="2600">
                <a:solidFill>
                  <a:srgbClr val="252525"/>
                </a:solidFill>
                <a:latin typeface="Garamond"/>
                <a:ea typeface="Garamond"/>
                <a:cs typeface="Garamond"/>
                <a:sym typeface="Garamond"/>
              </a:rPr>
              <a:t>:taptaphysique (vie, mort, le pourquoi, le comment), religieux (existence ou non d’un dieu), moral (rumination d’image généralement obscène).</a:t>
            </a:r>
            <a:endParaRPr sz="2600">
              <a:latin typeface="Garamond"/>
              <a:ea typeface="Garamond"/>
              <a:cs typeface="Garamond"/>
              <a:sym typeface="Garamond"/>
            </a:endParaRPr>
          </a:p>
          <a:p>
            <a:pPr indent="-299085" lvl="0" marL="311785" marR="6985" rtl="0" algn="just">
              <a:lnSpc>
                <a:spcPct val="90300"/>
              </a:lnSpc>
              <a:spcBef>
                <a:spcPts val="1200"/>
              </a:spcBef>
              <a:spcAft>
                <a:spcPts val="0"/>
              </a:spcAft>
              <a:buClr>
                <a:srgbClr val="C00000"/>
              </a:buClr>
              <a:buSzPts val="2600"/>
              <a:buFont typeface="Garamond"/>
              <a:buChar char="-"/>
            </a:pPr>
            <a:r>
              <a:rPr b="1" lang="fr-FR" sz="2600">
                <a:solidFill>
                  <a:srgbClr val="C00000"/>
                </a:solidFill>
                <a:latin typeface="Garamond"/>
                <a:ea typeface="Garamond"/>
                <a:cs typeface="Garamond"/>
                <a:sym typeface="Garamond"/>
              </a:rPr>
              <a:t>Les  obsessions  phobiques  </a:t>
            </a:r>
            <a:r>
              <a:rPr lang="fr-FR" sz="2600">
                <a:solidFill>
                  <a:srgbClr val="252525"/>
                </a:solidFill>
                <a:latin typeface="Garamond"/>
                <a:ea typeface="Garamond"/>
                <a:cs typeface="Garamond"/>
                <a:sym typeface="Garamond"/>
              </a:rPr>
              <a:t>concernent  l’évocation  forcée  et  répétée  de certains  objets  ou  situations  dont  la  seule  pensée  engendre  l’angoisse  (en l’absence réelle de cet objet ou situation). Les thèmes renvoient aux notions de : propreté,  saleté,  contamination,  contracter  une  maladie,  être  victime  d’une affection organique ou de devenir fou</a:t>
            </a:r>
            <a:endParaRPr sz="2600">
              <a:latin typeface="Garamond"/>
              <a:ea typeface="Garamond"/>
              <a:cs typeface="Garamond"/>
              <a:sym typeface="Garamond"/>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6" name="Shape 1346"/>
        <p:cNvGrpSpPr/>
        <p:nvPr/>
      </p:nvGrpSpPr>
      <p:grpSpPr>
        <a:xfrm>
          <a:off x="0" y="0"/>
          <a:ext cx="0" cy="0"/>
          <a:chOff x="0" y="0"/>
          <a:chExt cx="0" cy="0"/>
        </a:xfrm>
      </p:grpSpPr>
      <p:sp>
        <p:nvSpPr>
          <p:cNvPr id="1347" name="Google Shape;1347;p164"/>
          <p:cNvSpPr txBox="1"/>
          <p:nvPr>
            <p:ph type="title"/>
          </p:nvPr>
        </p:nvSpPr>
        <p:spPr>
          <a:xfrm>
            <a:off x="2733039" y="867155"/>
            <a:ext cx="7548245" cy="70104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4400">
                <a:solidFill>
                  <a:srgbClr val="006FC0"/>
                </a:solidFill>
              </a:rPr>
              <a:t>Trouble obsessionnel compulsif</a:t>
            </a:r>
            <a:endParaRPr sz="4400"/>
          </a:p>
        </p:txBody>
      </p:sp>
      <p:sp>
        <p:nvSpPr>
          <p:cNvPr id="1348" name="Google Shape;1348;p16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349" name="Google Shape;1349;p164"/>
          <p:cNvSpPr txBox="1"/>
          <p:nvPr/>
        </p:nvSpPr>
        <p:spPr>
          <a:xfrm>
            <a:off x="877887" y="1851260"/>
            <a:ext cx="10492740" cy="3945254"/>
          </a:xfrm>
          <a:prstGeom prst="rect">
            <a:avLst/>
          </a:prstGeom>
          <a:noFill/>
          <a:ln>
            <a:noFill/>
          </a:ln>
        </p:spPr>
        <p:txBody>
          <a:bodyPr anchorCtr="0" anchor="t" bIns="0" lIns="0" spcFirstLastPara="1" rIns="0" wrap="square" tIns="11425">
            <a:spAutoFit/>
          </a:bodyPr>
          <a:lstStyle/>
          <a:p>
            <a:pPr indent="0" lvl="0" marL="12700" marR="5080" rtl="0" algn="just">
              <a:lnSpc>
                <a:spcPct val="130000"/>
              </a:lnSpc>
              <a:spcBef>
                <a:spcPts val="0"/>
              </a:spcBef>
              <a:spcAft>
                <a:spcPts val="0"/>
              </a:spcAft>
              <a:buNone/>
            </a:pPr>
            <a:r>
              <a:rPr b="1" lang="fr-FR" sz="2600">
                <a:solidFill>
                  <a:srgbClr val="C00000"/>
                </a:solidFill>
                <a:latin typeface="Garamond"/>
                <a:ea typeface="Garamond"/>
                <a:cs typeface="Garamond"/>
                <a:sym typeface="Garamond"/>
              </a:rPr>
              <a:t>-Les obsessions impulsives, appelées aussi phobies d’impulsion, </a:t>
            </a:r>
            <a:r>
              <a:rPr lang="fr-FR" sz="2600">
                <a:solidFill>
                  <a:srgbClr val="252525"/>
                </a:solidFill>
                <a:latin typeface="Garamond"/>
                <a:ea typeface="Garamond"/>
                <a:cs typeface="Garamond"/>
                <a:sym typeface="Garamond"/>
              </a:rPr>
              <a:t>consistent à craindre de faire un acte agressif  (pousser quelqu’un par la fenêtre, tuer son enfant avec un couteau), ou un acte indécent (dire des grossièretés aux femmes dans la rue).</a:t>
            </a:r>
            <a:endParaRPr sz="2600">
              <a:latin typeface="Garamond"/>
              <a:ea typeface="Garamond"/>
              <a:cs typeface="Garamond"/>
              <a:sym typeface="Garamond"/>
            </a:endParaRPr>
          </a:p>
          <a:p>
            <a:pPr indent="0" lvl="0" marL="12700" rtl="0" algn="l">
              <a:lnSpc>
                <a:spcPct val="100000"/>
              </a:lnSpc>
              <a:spcBef>
                <a:spcPts val="2135"/>
              </a:spcBef>
              <a:spcAft>
                <a:spcPts val="0"/>
              </a:spcAft>
              <a:buNone/>
            </a:pPr>
            <a:r>
              <a:rPr lang="fr-FR" sz="2600">
                <a:solidFill>
                  <a:srgbClr val="252525"/>
                </a:solidFill>
                <a:latin typeface="Garamond"/>
                <a:ea typeface="Garamond"/>
                <a:cs typeface="Garamond"/>
                <a:sym typeface="Garamond"/>
              </a:rPr>
              <a:t>*</a:t>
            </a:r>
            <a:r>
              <a:rPr b="1" lang="fr-FR" sz="2600">
                <a:solidFill>
                  <a:srgbClr val="252525"/>
                </a:solidFill>
                <a:latin typeface="Garamond"/>
                <a:ea typeface="Garamond"/>
                <a:cs typeface="Garamond"/>
                <a:sym typeface="Garamond"/>
              </a:rPr>
              <a:t>La lutte anxieuse est intense</a:t>
            </a:r>
            <a:r>
              <a:rPr lang="fr-FR" sz="2600">
                <a:solidFill>
                  <a:srgbClr val="252525"/>
                </a:solidFill>
                <a:latin typeface="Garamond"/>
                <a:ea typeface="Garamond"/>
                <a:cs typeface="Garamond"/>
                <a:sym typeface="Garamond"/>
              </a:rPr>
              <a:t>, la culpabilité est très grande ; mais l’acte redouté</a:t>
            </a:r>
            <a:endParaRPr sz="2600">
              <a:latin typeface="Garamond"/>
              <a:ea typeface="Garamond"/>
              <a:cs typeface="Garamond"/>
              <a:sym typeface="Garamond"/>
            </a:endParaRPr>
          </a:p>
          <a:p>
            <a:pPr indent="0" lvl="0" marL="12700" rtl="0" algn="l">
              <a:lnSpc>
                <a:spcPct val="100000"/>
              </a:lnSpc>
              <a:spcBef>
                <a:spcPts val="935"/>
              </a:spcBef>
              <a:spcAft>
                <a:spcPts val="0"/>
              </a:spcAft>
              <a:buNone/>
            </a:pPr>
            <a:r>
              <a:rPr lang="fr-FR" sz="2600">
                <a:solidFill>
                  <a:srgbClr val="252525"/>
                </a:solidFill>
                <a:latin typeface="Garamond"/>
                <a:ea typeface="Garamond"/>
                <a:cs typeface="Garamond"/>
                <a:sym typeface="Garamond"/>
              </a:rPr>
              <a:t>n’est jamais commis,</a:t>
            </a:r>
            <a:endParaRPr sz="2600">
              <a:latin typeface="Garamond"/>
              <a:ea typeface="Garamond"/>
              <a:cs typeface="Garamond"/>
              <a:sym typeface="Garamond"/>
            </a:endParaRPr>
          </a:p>
          <a:p>
            <a:pPr indent="0" lvl="0" marL="12700" rtl="0" algn="l">
              <a:lnSpc>
                <a:spcPct val="100000"/>
              </a:lnSpc>
              <a:spcBef>
                <a:spcPts val="2215"/>
              </a:spcBef>
              <a:spcAft>
                <a:spcPts val="0"/>
              </a:spcAft>
              <a:buNone/>
            </a:pPr>
            <a:r>
              <a:rPr lang="fr-FR" sz="2600">
                <a:solidFill>
                  <a:srgbClr val="252525"/>
                </a:solidFill>
                <a:latin typeface="Garamond"/>
                <a:ea typeface="Garamond"/>
                <a:cs typeface="Garamond"/>
                <a:sym typeface="Garamond"/>
              </a:rPr>
              <a:t>*l’acte redouté n’est jamais commis, tout au plus est-il ébauché.</a:t>
            </a:r>
            <a:endParaRPr sz="2600">
              <a:latin typeface="Garamond"/>
              <a:ea typeface="Garamond"/>
              <a:cs typeface="Garamond"/>
              <a:sym typeface="Garamond"/>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3" name="Shape 1353"/>
        <p:cNvGrpSpPr/>
        <p:nvPr/>
      </p:nvGrpSpPr>
      <p:grpSpPr>
        <a:xfrm>
          <a:off x="0" y="0"/>
          <a:ext cx="0" cy="0"/>
          <a:chOff x="0" y="0"/>
          <a:chExt cx="0" cy="0"/>
        </a:xfrm>
      </p:grpSpPr>
      <p:pic>
        <p:nvPicPr>
          <p:cNvPr id="1354" name="Google Shape;1354;p165"/>
          <p:cNvPicPr preferRelativeResize="0"/>
          <p:nvPr/>
        </p:nvPicPr>
        <p:blipFill rotWithShape="1">
          <a:blip r:embed="rId3">
            <a:alphaModFix/>
          </a:blip>
          <a:srcRect b="0" l="0" r="0" t="0"/>
          <a:stretch/>
        </p:blipFill>
        <p:spPr>
          <a:xfrm>
            <a:off x="3581400" y="1133475"/>
            <a:ext cx="5029200" cy="5029200"/>
          </a:xfrm>
          <a:prstGeom prst="rect">
            <a:avLst/>
          </a:prstGeom>
          <a:noFill/>
          <a:ln>
            <a:noFill/>
          </a:ln>
        </p:spPr>
      </p:pic>
      <p:sp>
        <p:nvSpPr>
          <p:cNvPr id="1355" name="Google Shape;1355;p16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9" name="Shape 1359"/>
        <p:cNvGrpSpPr/>
        <p:nvPr/>
      </p:nvGrpSpPr>
      <p:grpSpPr>
        <a:xfrm>
          <a:off x="0" y="0"/>
          <a:ext cx="0" cy="0"/>
          <a:chOff x="0" y="0"/>
          <a:chExt cx="0" cy="0"/>
        </a:xfrm>
      </p:grpSpPr>
      <p:sp>
        <p:nvSpPr>
          <p:cNvPr id="1360" name="Google Shape;1360;p166"/>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61" name="Google Shape;1361;p166"/>
          <p:cNvSpPr txBox="1"/>
          <p:nvPr/>
        </p:nvSpPr>
        <p:spPr>
          <a:xfrm>
            <a:off x="1522349" y="2473960"/>
            <a:ext cx="7926705" cy="3427220"/>
          </a:xfrm>
          <a:prstGeom prst="rect">
            <a:avLst/>
          </a:prstGeom>
          <a:noFill/>
          <a:ln>
            <a:noFill/>
          </a:ln>
        </p:spPr>
        <p:txBody>
          <a:bodyPr anchorCtr="0" anchor="t" bIns="0" lIns="0" spcFirstLastPara="1" rIns="0" wrap="square" tIns="13325">
            <a:spAutoFit/>
          </a:bodyPr>
          <a:lstStyle/>
          <a:p>
            <a:pPr indent="-419100" lvl="0" marL="431800" rtl="0" algn="l">
              <a:lnSpc>
                <a:spcPct val="100000"/>
              </a:lnSpc>
              <a:spcBef>
                <a:spcPts val="0"/>
              </a:spcBef>
              <a:spcAft>
                <a:spcPts val="0"/>
              </a:spcAft>
              <a:buClr>
                <a:srgbClr val="92D050"/>
              </a:buClr>
              <a:buSzPts val="2400"/>
              <a:buFont typeface="Garamond"/>
              <a:buAutoNum type="alphaUcPeriod"/>
            </a:pPr>
            <a:r>
              <a:rPr b="1" lang="fr-FR" sz="2400">
                <a:latin typeface="Garamond"/>
                <a:ea typeface="Garamond"/>
                <a:cs typeface="Garamond"/>
                <a:sym typeface="Garamond"/>
              </a:rPr>
              <a:t>Est la peur de vivre un évènement traumatique</a:t>
            </a:r>
            <a:endParaRPr sz="2400">
              <a:latin typeface="Garamond"/>
              <a:ea typeface="Garamond"/>
              <a:cs typeface="Garamond"/>
              <a:sym typeface="Garamond"/>
            </a:endParaRPr>
          </a:p>
          <a:p>
            <a:pPr indent="0" lvl="0" marL="0" rtl="0" algn="l">
              <a:lnSpc>
                <a:spcPct val="100000"/>
              </a:lnSpc>
              <a:spcBef>
                <a:spcPts val="130"/>
              </a:spcBef>
              <a:spcAft>
                <a:spcPts val="0"/>
              </a:spcAft>
              <a:buClr>
                <a:srgbClr val="92D050"/>
              </a:buClr>
              <a:buSzPts val="2400"/>
              <a:buFont typeface="Garamond"/>
              <a:buNone/>
            </a:pPr>
            <a:r>
              <a:t/>
            </a:r>
            <a:endParaRPr sz="2400">
              <a:latin typeface="Garamond"/>
              <a:ea typeface="Garamond"/>
              <a:cs typeface="Garamond"/>
              <a:sym typeface="Garamond"/>
            </a:endParaRPr>
          </a:p>
          <a:p>
            <a:pPr indent="-342265" lvl="0" marL="354965" rtl="0" algn="l">
              <a:lnSpc>
                <a:spcPct val="100000"/>
              </a:lnSpc>
              <a:spcBef>
                <a:spcPts val="0"/>
              </a:spcBef>
              <a:spcAft>
                <a:spcPts val="0"/>
              </a:spcAft>
              <a:buClr>
                <a:srgbClr val="92D050"/>
              </a:buClr>
              <a:buSzPts val="2400"/>
              <a:buFont typeface="Garamond"/>
              <a:buAutoNum type="alphaUcPeriod"/>
            </a:pPr>
            <a:r>
              <a:rPr b="1" lang="fr-FR" sz="2400">
                <a:solidFill>
                  <a:srgbClr val="FF0000"/>
                </a:solidFill>
                <a:latin typeface="Garamond"/>
                <a:ea typeface="Garamond"/>
                <a:cs typeface="Garamond"/>
                <a:sym typeface="Garamond"/>
              </a:rPr>
              <a:t>Fait suite à un traumatisme psychique</a:t>
            </a:r>
            <a:endParaRPr sz="2400">
              <a:solidFill>
                <a:srgbClr val="FF0000"/>
              </a:solidFill>
              <a:latin typeface="Garamond"/>
              <a:ea typeface="Garamond"/>
              <a:cs typeface="Garamond"/>
              <a:sym typeface="Garamond"/>
            </a:endParaRPr>
          </a:p>
          <a:p>
            <a:pPr indent="0" lvl="0" marL="0" rtl="0" algn="l">
              <a:lnSpc>
                <a:spcPct val="100000"/>
              </a:lnSpc>
              <a:spcBef>
                <a:spcPts val="200"/>
              </a:spcBef>
              <a:spcAft>
                <a:spcPts val="0"/>
              </a:spcAft>
              <a:buClr>
                <a:srgbClr val="92D050"/>
              </a:buClr>
              <a:buSzPts val="2400"/>
              <a:buFont typeface="Garamond"/>
              <a:buNone/>
            </a:pPr>
            <a:r>
              <a:t/>
            </a:r>
            <a:endParaRPr sz="2400">
              <a:latin typeface="Garamond"/>
              <a:ea typeface="Garamond"/>
              <a:cs typeface="Garamond"/>
              <a:sym typeface="Garamond"/>
            </a:endParaRPr>
          </a:p>
          <a:p>
            <a:pPr indent="-342265" lvl="0" marL="354965" rtl="0" algn="l">
              <a:lnSpc>
                <a:spcPct val="100000"/>
              </a:lnSpc>
              <a:spcBef>
                <a:spcPts val="0"/>
              </a:spcBef>
              <a:spcAft>
                <a:spcPts val="0"/>
              </a:spcAft>
              <a:buClr>
                <a:srgbClr val="92D050"/>
              </a:buClr>
              <a:buSzPts val="2400"/>
              <a:buFont typeface="Garamond"/>
              <a:buAutoNum type="alphaUcPeriod"/>
            </a:pPr>
            <a:r>
              <a:rPr b="1" lang="fr-FR" sz="2400">
                <a:latin typeface="Garamond"/>
                <a:ea typeface="Garamond"/>
                <a:cs typeface="Garamond"/>
                <a:sym typeface="Garamond"/>
              </a:rPr>
              <a:t>Est une forme de déni d’un évènement traumatique</a:t>
            </a:r>
            <a:endParaRPr sz="2400">
              <a:latin typeface="Garamond"/>
              <a:ea typeface="Garamond"/>
              <a:cs typeface="Garamond"/>
              <a:sym typeface="Garamond"/>
            </a:endParaRPr>
          </a:p>
          <a:p>
            <a:pPr indent="0" lvl="0" marL="0" rtl="0" algn="l">
              <a:lnSpc>
                <a:spcPct val="100000"/>
              </a:lnSpc>
              <a:spcBef>
                <a:spcPts val="204"/>
              </a:spcBef>
              <a:spcAft>
                <a:spcPts val="0"/>
              </a:spcAft>
              <a:buClr>
                <a:srgbClr val="92D050"/>
              </a:buClr>
              <a:buSzPts val="2400"/>
              <a:buFont typeface="Garamond"/>
              <a:buNone/>
            </a:pPr>
            <a:r>
              <a:t/>
            </a:r>
            <a:endParaRPr sz="2400">
              <a:latin typeface="Garamond"/>
              <a:ea typeface="Garamond"/>
              <a:cs typeface="Garamond"/>
              <a:sym typeface="Garamond"/>
            </a:endParaRPr>
          </a:p>
          <a:p>
            <a:pPr indent="-342265" lvl="0" marL="354965" rtl="0" algn="l">
              <a:lnSpc>
                <a:spcPct val="100000"/>
              </a:lnSpc>
              <a:spcBef>
                <a:spcPts val="0"/>
              </a:spcBef>
              <a:spcAft>
                <a:spcPts val="0"/>
              </a:spcAft>
              <a:buClr>
                <a:srgbClr val="92D050"/>
              </a:buClr>
              <a:buSzPts val="2400"/>
              <a:buFont typeface="Garamond"/>
              <a:buAutoNum type="alphaUcPeriod"/>
            </a:pPr>
            <a:r>
              <a:rPr b="1" lang="fr-FR" sz="2400">
                <a:solidFill>
                  <a:srgbClr val="FF0000"/>
                </a:solidFill>
                <a:latin typeface="Garamond"/>
                <a:ea typeface="Garamond"/>
                <a:cs typeface="Garamond"/>
                <a:sym typeface="Garamond"/>
              </a:rPr>
              <a:t>La reviviscence de l’évènement traumatique est évocatrice</a:t>
            </a:r>
            <a:endParaRPr sz="2400">
              <a:solidFill>
                <a:srgbClr val="FF0000"/>
              </a:solidFill>
              <a:latin typeface="Garamond"/>
              <a:ea typeface="Garamond"/>
              <a:cs typeface="Garamond"/>
              <a:sym typeface="Garamond"/>
            </a:endParaRPr>
          </a:p>
          <a:p>
            <a:pPr indent="0" lvl="0" marL="0" rtl="0" algn="l">
              <a:lnSpc>
                <a:spcPct val="100000"/>
              </a:lnSpc>
              <a:spcBef>
                <a:spcPts val="200"/>
              </a:spcBef>
              <a:spcAft>
                <a:spcPts val="0"/>
              </a:spcAft>
              <a:buClr>
                <a:srgbClr val="92D050"/>
              </a:buClr>
              <a:buSzPts val="2400"/>
              <a:buFont typeface="Garamond"/>
              <a:buNone/>
            </a:pPr>
            <a:r>
              <a:t/>
            </a:r>
            <a:endParaRPr sz="2400">
              <a:solidFill>
                <a:srgbClr val="FF0000"/>
              </a:solidFill>
              <a:latin typeface="Garamond"/>
              <a:ea typeface="Garamond"/>
              <a:cs typeface="Garamond"/>
              <a:sym typeface="Garamond"/>
            </a:endParaRPr>
          </a:p>
          <a:p>
            <a:pPr indent="-418465" lvl="0" marL="431165" rtl="0" algn="l">
              <a:lnSpc>
                <a:spcPct val="100000"/>
              </a:lnSpc>
              <a:spcBef>
                <a:spcPts val="0"/>
              </a:spcBef>
              <a:spcAft>
                <a:spcPts val="0"/>
              </a:spcAft>
              <a:buClr>
                <a:srgbClr val="92D050"/>
              </a:buClr>
              <a:buSzPts val="2400"/>
              <a:buFont typeface="Garamond"/>
              <a:buAutoNum type="alphaUcPeriod"/>
            </a:pPr>
            <a:r>
              <a:rPr b="1" lang="fr-FR" sz="2400">
                <a:solidFill>
                  <a:srgbClr val="FF0000"/>
                </a:solidFill>
                <a:latin typeface="Garamond"/>
                <a:ea typeface="Garamond"/>
                <a:cs typeface="Garamond"/>
                <a:sym typeface="Garamond"/>
              </a:rPr>
              <a:t>Les conduites d’évitement font partie de sa triade clinique</a:t>
            </a:r>
            <a:endParaRPr sz="2400">
              <a:solidFill>
                <a:srgbClr val="FF0000"/>
              </a:solidFill>
              <a:latin typeface="Garamond"/>
              <a:ea typeface="Garamond"/>
              <a:cs typeface="Garamond"/>
              <a:sym typeface="Garamond"/>
            </a:endParaRPr>
          </a:p>
        </p:txBody>
      </p:sp>
      <p:sp>
        <p:nvSpPr>
          <p:cNvPr id="1362" name="Google Shape;1362;p16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363" name="Google Shape;1363;p166"/>
          <p:cNvSpPr txBox="1"/>
          <p:nvPr>
            <p:ph type="title"/>
          </p:nvPr>
        </p:nvSpPr>
        <p:spPr>
          <a:xfrm>
            <a:off x="802005" y="636905"/>
            <a:ext cx="10587989" cy="1671955"/>
          </a:xfrm>
          <a:prstGeom prst="rect">
            <a:avLst/>
          </a:prstGeom>
          <a:noFill/>
          <a:ln>
            <a:noFill/>
          </a:ln>
        </p:spPr>
        <p:txBody>
          <a:bodyPr anchorCtr="0" anchor="t" bIns="0" lIns="0" spcFirstLastPara="1" rIns="0" wrap="square" tIns="852225">
            <a:spAutoFit/>
          </a:bodyPr>
          <a:lstStyle/>
          <a:p>
            <a:pPr indent="0" lvl="0" marL="595630" rtl="0" algn="l">
              <a:lnSpc>
                <a:spcPct val="100000"/>
              </a:lnSpc>
              <a:spcBef>
                <a:spcPts val="0"/>
              </a:spcBef>
              <a:spcAft>
                <a:spcPts val="0"/>
              </a:spcAft>
              <a:buNone/>
            </a:pPr>
            <a:r>
              <a:rPr lang="fr-FR" sz="3950">
                <a:solidFill>
                  <a:srgbClr val="000000"/>
                </a:solidFill>
              </a:rPr>
              <a:t>Le trouble stress post traumatique :</a:t>
            </a:r>
            <a:endParaRPr sz="3950"/>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7" name="Shape 1367"/>
        <p:cNvGrpSpPr/>
        <p:nvPr/>
      </p:nvGrpSpPr>
      <p:grpSpPr>
        <a:xfrm>
          <a:off x="0" y="0"/>
          <a:ext cx="0" cy="0"/>
          <a:chOff x="0" y="0"/>
          <a:chExt cx="0" cy="0"/>
        </a:xfrm>
      </p:grpSpPr>
      <p:sp>
        <p:nvSpPr>
          <p:cNvPr id="1368" name="Google Shape;1368;p167"/>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69" name="Google Shape;1369;p167"/>
          <p:cNvSpPr txBox="1"/>
          <p:nvPr>
            <p:ph type="title"/>
          </p:nvPr>
        </p:nvSpPr>
        <p:spPr>
          <a:xfrm>
            <a:off x="802005" y="636905"/>
            <a:ext cx="10587989" cy="1671955"/>
          </a:xfrm>
          <a:prstGeom prst="rect">
            <a:avLst/>
          </a:prstGeom>
          <a:noFill/>
          <a:ln>
            <a:noFill/>
          </a:ln>
        </p:spPr>
        <p:txBody>
          <a:bodyPr anchorCtr="0" anchor="t" bIns="0" lIns="0" spcFirstLastPara="1" rIns="0" wrap="square" tIns="354700">
            <a:spAutoFit/>
          </a:bodyPr>
          <a:lstStyle/>
          <a:p>
            <a:pPr indent="0" lvl="0" marL="712470" rtl="0" algn="l">
              <a:lnSpc>
                <a:spcPct val="100000"/>
              </a:lnSpc>
              <a:spcBef>
                <a:spcPts val="0"/>
              </a:spcBef>
              <a:spcAft>
                <a:spcPts val="0"/>
              </a:spcAft>
              <a:buNone/>
            </a:pPr>
            <a:r>
              <a:rPr lang="fr-FR" sz="3950">
                <a:solidFill>
                  <a:srgbClr val="000000"/>
                </a:solidFill>
              </a:rPr>
              <a:t>L’état de stress post traumatique comporte</a:t>
            </a:r>
            <a:endParaRPr sz="3950"/>
          </a:p>
          <a:p>
            <a:pPr indent="0" lvl="0" marL="585470" rtl="0" algn="l">
              <a:lnSpc>
                <a:spcPct val="100000"/>
              </a:lnSpc>
              <a:spcBef>
                <a:spcPts val="65"/>
              </a:spcBef>
              <a:spcAft>
                <a:spcPts val="0"/>
              </a:spcAft>
              <a:buNone/>
            </a:pPr>
            <a:r>
              <a:rPr lang="fr-FR" sz="3950">
                <a:solidFill>
                  <a:srgbClr val="000000"/>
                </a:solidFill>
              </a:rPr>
              <a:t>souvent :</a:t>
            </a:r>
            <a:endParaRPr sz="3950"/>
          </a:p>
        </p:txBody>
      </p:sp>
      <p:sp>
        <p:nvSpPr>
          <p:cNvPr id="1370" name="Google Shape;1370;p16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371" name="Google Shape;1371;p167"/>
          <p:cNvSpPr txBox="1"/>
          <p:nvPr/>
        </p:nvSpPr>
        <p:spPr>
          <a:xfrm>
            <a:off x="1375028" y="2524706"/>
            <a:ext cx="8769350" cy="2455159"/>
          </a:xfrm>
          <a:prstGeom prst="rect">
            <a:avLst/>
          </a:prstGeom>
          <a:noFill/>
          <a:ln>
            <a:noFill/>
          </a:ln>
        </p:spPr>
        <p:txBody>
          <a:bodyPr anchorCtr="0" anchor="t" bIns="0" lIns="0" spcFirstLastPara="1" rIns="0" wrap="square" tIns="56500">
            <a:spAutoFit/>
          </a:bodyPr>
          <a:lstStyle/>
          <a:p>
            <a:pPr indent="-514983" lvl="0" marL="527685" rtl="0" algn="l">
              <a:lnSpc>
                <a:spcPct val="100000"/>
              </a:lnSpc>
              <a:spcBef>
                <a:spcPts val="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Une humeur dysphorique</a:t>
            </a:r>
            <a:endParaRPr sz="2600">
              <a:solidFill>
                <a:srgbClr val="FF0000"/>
              </a:solidFill>
              <a:latin typeface="Garamond"/>
              <a:ea typeface="Garamond"/>
              <a:cs typeface="Garamond"/>
              <a:sym typeface="Garamond"/>
            </a:endParaRPr>
          </a:p>
          <a:p>
            <a:pPr indent="-514983" lvl="0" marL="527685" rtl="0" algn="l">
              <a:lnSpc>
                <a:spcPct val="100000"/>
              </a:lnSpc>
              <a:spcBef>
                <a:spcPts val="75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Une excitation psychique</a:t>
            </a:r>
            <a:endParaRPr sz="2600">
              <a:latin typeface="Garamond"/>
              <a:ea typeface="Garamond"/>
              <a:cs typeface="Garamond"/>
              <a:sym typeface="Garamond"/>
            </a:endParaRPr>
          </a:p>
          <a:p>
            <a:pPr indent="-514983" lvl="0" marL="527685" rtl="0" algn="l">
              <a:lnSpc>
                <a:spcPct val="100000"/>
              </a:lnSpc>
              <a:spcBef>
                <a:spcPts val="76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Une hyper activation neurovégétative</a:t>
            </a:r>
            <a:endParaRPr sz="2600">
              <a:solidFill>
                <a:srgbClr val="FF0000"/>
              </a:solidFill>
              <a:latin typeface="Garamond"/>
              <a:ea typeface="Garamond"/>
              <a:cs typeface="Garamond"/>
              <a:sym typeface="Garamond"/>
            </a:endParaRPr>
          </a:p>
          <a:p>
            <a:pPr indent="-513715" lvl="0" marL="526415"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Un émoussement de la réactivité</a:t>
            </a:r>
            <a:endParaRPr sz="2600">
              <a:solidFill>
                <a:srgbClr val="FF0000"/>
              </a:solidFill>
              <a:latin typeface="Garamond"/>
              <a:ea typeface="Garamond"/>
              <a:cs typeface="Garamond"/>
              <a:sym typeface="Garamond"/>
            </a:endParaRPr>
          </a:p>
          <a:p>
            <a:pPr indent="-514983" lvl="0" marL="527685" rtl="0" algn="l">
              <a:lnSpc>
                <a:spcPct val="100000"/>
              </a:lnSpc>
              <a:spcBef>
                <a:spcPts val="680"/>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Une envie irrépressible de revivre l’événement traumatique</a:t>
            </a:r>
            <a:endParaRPr sz="2600">
              <a:latin typeface="Garamond"/>
              <a:ea typeface="Garamond"/>
              <a:cs typeface="Garamond"/>
              <a:sym typeface="Garamond"/>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5" name="Shape 1375"/>
        <p:cNvGrpSpPr/>
        <p:nvPr/>
      </p:nvGrpSpPr>
      <p:grpSpPr>
        <a:xfrm>
          <a:off x="0" y="0"/>
          <a:ext cx="0" cy="0"/>
          <a:chOff x="0" y="0"/>
          <a:chExt cx="0" cy="0"/>
        </a:xfrm>
      </p:grpSpPr>
      <p:sp>
        <p:nvSpPr>
          <p:cNvPr id="1376" name="Google Shape;1376;p168"/>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77" name="Google Shape;1377;p168"/>
          <p:cNvSpPr txBox="1"/>
          <p:nvPr>
            <p:ph type="title"/>
          </p:nvPr>
        </p:nvSpPr>
        <p:spPr>
          <a:xfrm>
            <a:off x="802005" y="636905"/>
            <a:ext cx="10587989" cy="1671955"/>
          </a:xfrm>
          <a:prstGeom prst="rect">
            <a:avLst/>
          </a:prstGeom>
          <a:noFill/>
          <a:ln>
            <a:noFill/>
          </a:ln>
        </p:spPr>
        <p:txBody>
          <a:bodyPr anchorCtr="0" anchor="t" bIns="0" lIns="0" spcFirstLastPara="1" rIns="0" wrap="square" tIns="660000">
            <a:spAutoFit/>
          </a:bodyPr>
          <a:lstStyle/>
          <a:p>
            <a:pPr indent="0" lvl="0" marL="713105" rtl="0" algn="l">
              <a:lnSpc>
                <a:spcPct val="100000"/>
              </a:lnSpc>
              <a:spcBef>
                <a:spcPts val="0"/>
              </a:spcBef>
              <a:spcAft>
                <a:spcPts val="0"/>
              </a:spcAft>
              <a:buNone/>
            </a:pPr>
            <a:r>
              <a:rPr lang="fr-FR" sz="3950"/>
              <a:t>Le trouble stress post traumatique :</a:t>
            </a:r>
            <a:endParaRPr sz="3950"/>
          </a:p>
        </p:txBody>
      </p:sp>
      <p:sp>
        <p:nvSpPr>
          <p:cNvPr id="1378" name="Google Shape;1378;p16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379" name="Google Shape;1379;p168"/>
          <p:cNvSpPr txBox="1"/>
          <p:nvPr/>
        </p:nvSpPr>
        <p:spPr>
          <a:xfrm>
            <a:off x="1039177" y="2322226"/>
            <a:ext cx="8905875" cy="2851422"/>
          </a:xfrm>
          <a:prstGeom prst="rect">
            <a:avLst/>
          </a:prstGeom>
          <a:noFill/>
          <a:ln>
            <a:noFill/>
          </a:ln>
        </p:spPr>
        <p:txBody>
          <a:bodyPr anchorCtr="0" anchor="t" bIns="0" lIns="0" spcFirstLastPara="1" rIns="0" wrap="square" tIns="131425">
            <a:spAutoFit/>
          </a:bodyPr>
          <a:lstStyle/>
          <a:p>
            <a:pPr indent="-514350" lvl="0" marL="527050" rtl="0" algn="l">
              <a:lnSpc>
                <a:spcPct val="100000"/>
              </a:lnSpc>
              <a:spcBef>
                <a:spcPts val="0"/>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Survient après une rupture sentimentale</a:t>
            </a:r>
            <a:endParaRPr sz="2600">
              <a:latin typeface="Garamond"/>
              <a:ea typeface="Garamond"/>
              <a:cs typeface="Garamond"/>
              <a:sym typeface="Garamond"/>
            </a:endParaRPr>
          </a:p>
          <a:p>
            <a:pPr indent="-514350" lvl="0" marL="527050" rtl="0" algn="l">
              <a:lnSpc>
                <a:spcPct val="100000"/>
              </a:lnSpc>
              <a:spcBef>
                <a:spcPts val="1430"/>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Survient immédiatement après un traumatisme</a:t>
            </a:r>
            <a:endParaRPr sz="2600">
              <a:latin typeface="Garamond"/>
              <a:ea typeface="Garamond"/>
              <a:cs typeface="Garamond"/>
              <a:sym typeface="Garamond"/>
            </a:endParaRPr>
          </a:p>
          <a:p>
            <a:pPr indent="-514350" lvl="0" marL="527050" rtl="0" algn="l">
              <a:lnSpc>
                <a:spcPct val="100000"/>
              </a:lnSpc>
              <a:spcBef>
                <a:spcPts val="136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Comporte des cauchemars récurrents</a:t>
            </a:r>
            <a:endParaRPr sz="2600">
              <a:solidFill>
                <a:srgbClr val="FF0000"/>
              </a:solidFill>
              <a:latin typeface="Garamond"/>
              <a:ea typeface="Garamond"/>
              <a:cs typeface="Garamond"/>
              <a:sym typeface="Garamond"/>
            </a:endParaRPr>
          </a:p>
          <a:p>
            <a:pPr indent="-513715" lvl="0" marL="526415" rtl="0" algn="l">
              <a:lnSpc>
                <a:spcPct val="100000"/>
              </a:lnSpc>
              <a:spcBef>
                <a:spcPts val="13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Peut survenir	chez un témoin d’un événement traumatisant</a:t>
            </a:r>
            <a:endParaRPr sz="2600">
              <a:solidFill>
                <a:srgbClr val="FF0000"/>
              </a:solidFill>
              <a:latin typeface="Garamond"/>
              <a:ea typeface="Garamond"/>
              <a:cs typeface="Garamond"/>
              <a:sym typeface="Garamond"/>
            </a:endParaRPr>
          </a:p>
          <a:p>
            <a:pPr indent="-514350" lvl="0" marL="527050" rtl="0" algn="l">
              <a:lnSpc>
                <a:spcPct val="100000"/>
              </a:lnSpc>
              <a:spcBef>
                <a:spcPts val="1360"/>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Se traite par des anxiolytiques</a:t>
            </a:r>
            <a:endParaRPr sz="2600">
              <a:latin typeface="Garamond"/>
              <a:ea typeface="Garamond"/>
              <a:cs typeface="Garamond"/>
              <a:sym typeface="Garamond"/>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3" name="Shape 1383"/>
        <p:cNvGrpSpPr/>
        <p:nvPr/>
      </p:nvGrpSpPr>
      <p:grpSpPr>
        <a:xfrm>
          <a:off x="0" y="0"/>
          <a:ext cx="0" cy="0"/>
          <a:chOff x="0" y="0"/>
          <a:chExt cx="0" cy="0"/>
        </a:xfrm>
      </p:grpSpPr>
      <p:sp>
        <p:nvSpPr>
          <p:cNvPr id="1384" name="Google Shape;1384;p169"/>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85" name="Google Shape;1385;p169"/>
          <p:cNvSpPr txBox="1"/>
          <p:nvPr>
            <p:ph type="title"/>
          </p:nvPr>
        </p:nvSpPr>
        <p:spPr>
          <a:xfrm>
            <a:off x="802005" y="636905"/>
            <a:ext cx="10587989" cy="1671955"/>
          </a:xfrm>
          <a:prstGeom prst="rect">
            <a:avLst/>
          </a:prstGeom>
          <a:noFill/>
          <a:ln>
            <a:noFill/>
          </a:ln>
        </p:spPr>
        <p:txBody>
          <a:bodyPr anchorCtr="0" anchor="t" bIns="0" lIns="0" spcFirstLastPara="1" rIns="0" wrap="square" tIns="345800">
            <a:spAutoFit/>
          </a:bodyPr>
          <a:lstStyle/>
          <a:p>
            <a:pPr indent="127000" lvl="0" marL="585470" marR="5080" rtl="0" algn="l">
              <a:lnSpc>
                <a:spcPct val="101400"/>
              </a:lnSpc>
              <a:spcBef>
                <a:spcPts val="0"/>
              </a:spcBef>
              <a:spcAft>
                <a:spcPts val="0"/>
              </a:spcAft>
              <a:buNone/>
            </a:pPr>
            <a:r>
              <a:rPr lang="fr-FR" sz="3950"/>
              <a:t>Le trouble stress post traumatique se caractérise par :</a:t>
            </a:r>
            <a:endParaRPr sz="3950"/>
          </a:p>
        </p:txBody>
      </p:sp>
      <p:sp>
        <p:nvSpPr>
          <p:cNvPr id="1386" name="Google Shape;1386;p16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387" name="Google Shape;1387;p169"/>
          <p:cNvSpPr txBox="1"/>
          <p:nvPr/>
        </p:nvSpPr>
        <p:spPr>
          <a:xfrm>
            <a:off x="1375028" y="2524706"/>
            <a:ext cx="5702935" cy="2455159"/>
          </a:xfrm>
          <a:prstGeom prst="rect">
            <a:avLst/>
          </a:prstGeom>
          <a:noFill/>
          <a:ln>
            <a:noFill/>
          </a:ln>
        </p:spPr>
        <p:txBody>
          <a:bodyPr anchorCtr="0" anchor="t" bIns="0" lIns="0" spcFirstLastPara="1" rIns="0" wrap="square" tIns="56500">
            <a:spAutoFit/>
          </a:bodyPr>
          <a:lstStyle/>
          <a:p>
            <a:pPr indent="-514983" lvl="0" marL="527685" rtl="0" algn="l">
              <a:lnSpc>
                <a:spcPct val="100000"/>
              </a:lnSpc>
              <a:spcBef>
                <a:spcPts val="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Des expériences de flash-back</a:t>
            </a:r>
            <a:endParaRPr sz="2600">
              <a:solidFill>
                <a:srgbClr val="FF0000"/>
              </a:solidFill>
              <a:latin typeface="Garamond"/>
              <a:ea typeface="Garamond"/>
              <a:cs typeface="Garamond"/>
              <a:sym typeface="Garamond"/>
            </a:endParaRPr>
          </a:p>
          <a:p>
            <a:pPr indent="-514983" lvl="0" marL="527685"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Une hypersensibilité neurovégétative</a:t>
            </a:r>
            <a:endParaRPr sz="2600">
              <a:solidFill>
                <a:srgbClr val="FF0000"/>
              </a:solidFill>
              <a:latin typeface="Garamond"/>
              <a:ea typeface="Garamond"/>
              <a:cs typeface="Garamond"/>
              <a:sym typeface="Garamond"/>
            </a:endParaRPr>
          </a:p>
          <a:p>
            <a:pPr indent="-514983" lvl="0" marL="527685" rtl="0" algn="l">
              <a:lnSpc>
                <a:spcPct val="100000"/>
              </a:lnSpc>
              <a:spcBef>
                <a:spcPts val="76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Un syndrome d’évitement</a:t>
            </a:r>
            <a:endParaRPr sz="2600">
              <a:solidFill>
                <a:srgbClr val="FF0000"/>
              </a:solidFill>
              <a:latin typeface="Garamond"/>
              <a:ea typeface="Garamond"/>
              <a:cs typeface="Garamond"/>
              <a:sym typeface="Garamond"/>
            </a:endParaRPr>
          </a:p>
          <a:p>
            <a:pPr indent="-513715" lvl="0" marL="526415" rtl="0" algn="l">
              <a:lnSpc>
                <a:spcPct val="100000"/>
              </a:lnSpc>
              <a:spcBef>
                <a:spcPts val="75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Phobie d’impulsion</a:t>
            </a:r>
            <a:endParaRPr sz="2600">
              <a:latin typeface="Garamond"/>
              <a:ea typeface="Garamond"/>
              <a:cs typeface="Garamond"/>
              <a:sym typeface="Garamond"/>
            </a:endParaRPr>
          </a:p>
          <a:p>
            <a:pPr indent="-514983" lvl="0" marL="527685" rtl="0" algn="l">
              <a:lnSpc>
                <a:spcPct val="100000"/>
              </a:lnSpc>
              <a:spcBef>
                <a:spcPts val="680"/>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Un délire onirique</a:t>
            </a:r>
            <a:endParaRPr sz="2600">
              <a:latin typeface="Garamond"/>
              <a:ea typeface="Garamond"/>
              <a:cs typeface="Garamond"/>
              <a:sym typeface="Garamond"/>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1" name="Shape 1391"/>
        <p:cNvGrpSpPr/>
        <p:nvPr/>
      </p:nvGrpSpPr>
      <p:grpSpPr>
        <a:xfrm>
          <a:off x="0" y="0"/>
          <a:ext cx="0" cy="0"/>
          <a:chOff x="0" y="0"/>
          <a:chExt cx="0" cy="0"/>
        </a:xfrm>
      </p:grpSpPr>
      <p:sp>
        <p:nvSpPr>
          <p:cNvPr id="1392" name="Google Shape;1392;p170"/>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93" name="Google Shape;1393;p170"/>
          <p:cNvSpPr txBox="1"/>
          <p:nvPr>
            <p:ph type="title"/>
          </p:nvPr>
        </p:nvSpPr>
        <p:spPr>
          <a:xfrm>
            <a:off x="802005" y="636905"/>
            <a:ext cx="10587989" cy="1671955"/>
          </a:xfrm>
          <a:prstGeom prst="rect">
            <a:avLst/>
          </a:prstGeom>
          <a:noFill/>
          <a:ln>
            <a:noFill/>
          </a:ln>
        </p:spPr>
        <p:txBody>
          <a:bodyPr anchorCtr="0" anchor="t" bIns="0" lIns="0" spcFirstLastPara="1" rIns="0" wrap="square" tIns="687050">
            <a:spAutoFit/>
          </a:bodyPr>
          <a:lstStyle/>
          <a:p>
            <a:pPr indent="0" lvl="0" marL="700405" rtl="0" algn="l">
              <a:lnSpc>
                <a:spcPct val="100000"/>
              </a:lnSpc>
              <a:spcBef>
                <a:spcPts val="0"/>
              </a:spcBef>
              <a:spcAft>
                <a:spcPts val="0"/>
              </a:spcAft>
              <a:buNone/>
            </a:pPr>
            <a:r>
              <a:rPr lang="fr-FR">
                <a:solidFill>
                  <a:srgbClr val="000000"/>
                </a:solidFill>
              </a:rPr>
              <a:t>Les symptômes observés lors d’un TSPT sont :</a:t>
            </a:r>
            <a:endParaRPr/>
          </a:p>
        </p:txBody>
      </p:sp>
      <p:sp>
        <p:nvSpPr>
          <p:cNvPr id="1394" name="Google Shape;1394;p17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395" name="Google Shape;1395;p170"/>
          <p:cNvSpPr txBox="1"/>
          <p:nvPr/>
        </p:nvSpPr>
        <p:spPr>
          <a:xfrm>
            <a:off x="1375028" y="2469102"/>
            <a:ext cx="6154500" cy="2927100"/>
          </a:xfrm>
          <a:prstGeom prst="rect">
            <a:avLst/>
          </a:prstGeom>
          <a:noFill/>
          <a:ln>
            <a:noFill/>
          </a:ln>
        </p:spPr>
        <p:txBody>
          <a:bodyPr anchorCtr="0" anchor="t" bIns="0" lIns="0" spcFirstLastPara="1" rIns="0" wrap="square" tIns="546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La perturbation négative de l’humeur</a:t>
            </a:r>
            <a:endParaRPr sz="2750">
              <a:solidFill>
                <a:srgbClr val="FF0000"/>
              </a:solidFill>
              <a:latin typeface="Garamond"/>
              <a:ea typeface="Garamond"/>
              <a:cs typeface="Garamond"/>
              <a:sym typeface="Garamond"/>
            </a:endParaRPr>
          </a:p>
          <a:p>
            <a:pPr indent="-514350" lvl="0" marL="527050" rtl="0" algn="l">
              <a:lnSpc>
                <a:spcPct val="100000"/>
              </a:lnSpc>
              <a:spcBef>
                <a:spcPts val="8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Le syndrome de répétition</a:t>
            </a:r>
            <a:endParaRPr sz="2750">
              <a:solidFill>
                <a:srgbClr val="FF0000"/>
              </a:solidFill>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Les conduites d’évitement</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La fatigabilité</a:t>
            </a:r>
            <a:endParaRPr sz="2750">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La dissociation</a:t>
            </a:r>
            <a:endParaRPr b="1" sz="2750">
              <a:solidFill>
                <a:srgbClr val="FF0000"/>
              </a:solidFill>
              <a:latin typeface="Garamond"/>
              <a:ea typeface="Garamond"/>
              <a:cs typeface="Garamond"/>
              <a:sym typeface="Garamond"/>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9" name="Shape 1399"/>
        <p:cNvGrpSpPr/>
        <p:nvPr/>
      </p:nvGrpSpPr>
      <p:grpSpPr>
        <a:xfrm>
          <a:off x="0" y="0"/>
          <a:ext cx="0" cy="0"/>
          <a:chOff x="0" y="0"/>
          <a:chExt cx="0" cy="0"/>
        </a:xfrm>
      </p:grpSpPr>
      <p:sp>
        <p:nvSpPr>
          <p:cNvPr id="1400" name="Google Shape;1400;p171"/>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01" name="Google Shape;1401;p171"/>
          <p:cNvSpPr txBox="1"/>
          <p:nvPr>
            <p:ph type="title"/>
          </p:nvPr>
        </p:nvSpPr>
        <p:spPr>
          <a:xfrm>
            <a:off x="1375028" y="1020762"/>
            <a:ext cx="9543415" cy="1243330"/>
          </a:xfrm>
          <a:prstGeom prst="rect">
            <a:avLst/>
          </a:prstGeom>
          <a:noFill/>
          <a:ln>
            <a:noFill/>
          </a:ln>
        </p:spPr>
        <p:txBody>
          <a:bodyPr anchorCtr="0" anchor="t" bIns="0" lIns="0" spcFirstLastPara="1" rIns="0" wrap="square" tIns="8250">
            <a:spAutoFit/>
          </a:bodyPr>
          <a:lstStyle/>
          <a:p>
            <a:pPr indent="0" lvl="0" marL="12700" marR="5080" rtl="0" algn="l">
              <a:lnSpc>
                <a:spcPct val="101400"/>
              </a:lnSpc>
              <a:spcBef>
                <a:spcPts val="0"/>
              </a:spcBef>
              <a:spcAft>
                <a:spcPts val="0"/>
              </a:spcAft>
              <a:buNone/>
            </a:pPr>
            <a:r>
              <a:rPr lang="fr-FR" sz="3950">
                <a:solidFill>
                  <a:srgbClr val="000000"/>
                </a:solidFill>
              </a:rPr>
              <a:t>Parmi les symptômes spécifiques du syndrome psycho-traumatique, on retrouve :</a:t>
            </a:r>
            <a:endParaRPr sz="3950"/>
          </a:p>
        </p:txBody>
      </p:sp>
      <p:sp>
        <p:nvSpPr>
          <p:cNvPr id="1402" name="Google Shape;1402;p17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403" name="Google Shape;1403;p171"/>
          <p:cNvSpPr txBox="1"/>
          <p:nvPr/>
        </p:nvSpPr>
        <p:spPr>
          <a:xfrm>
            <a:off x="1521460" y="2218637"/>
            <a:ext cx="7373620" cy="3286760"/>
          </a:xfrm>
          <a:prstGeom prst="rect">
            <a:avLst/>
          </a:prstGeom>
          <a:noFill/>
          <a:ln>
            <a:noFill/>
          </a:ln>
        </p:spPr>
        <p:txBody>
          <a:bodyPr anchorCtr="0" anchor="t" bIns="0" lIns="0" spcFirstLastPara="1" rIns="0" wrap="square" tIns="240650">
            <a:spAutoFit/>
          </a:bodyPr>
          <a:lstStyle/>
          <a:p>
            <a:pPr indent="-324485" lvl="0" marL="337185" rtl="0" algn="l">
              <a:lnSpc>
                <a:spcPct val="100000"/>
              </a:lnSpc>
              <a:spcBef>
                <a:spcPts val="0"/>
              </a:spcBef>
              <a:spcAft>
                <a:spcPts val="0"/>
              </a:spcAft>
              <a:buClr>
                <a:srgbClr val="92D050"/>
              </a:buClr>
              <a:buSzPts val="2650"/>
              <a:buFont typeface="Garamond"/>
              <a:buAutoNum type="alphaUcPeriod"/>
            </a:pPr>
            <a:r>
              <a:rPr b="1" lang="fr-FR" sz="2750">
                <a:latin typeface="Garamond"/>
                <a:ea typeface="Garamond"/>
                <a:cs typeface="Garamond"/>
                <a:sym typeface="Garamond"/>
              </a:rPr>
              <a:t>Une asthénie.</a:t>
            </a:r>
            <a:endParaRPr sz="2750">
              <a:latin typeface="Garamond"/>
              <a:ea typeface="Garamond"/>
              <a:cs typeface="Garamond"/>
              <a:sym typeface="Garamond"/>
            </a:endParaRPr>
          </a:p>
          <a:p>
            <a:pPr indent="-332740" lvl="0" marL="345440" rtl="0" algn="l">
              <a:lnSpc>
                <a:spcPct val="100000"/>
              </a:lnSpc>
              <a:spcBef>
                <a:spcPts val="1805"/>
              </a:spcBef>
              <a:spcAft>
                <a:spcPts val="0"/>
              </a:spcAft>
              <a:buClr>
                <a:srgbClr val="92D050"/>
              </a:buClr>
              <a:buSzPts val="2650"/>
              <a:buFont typeface="Garamond"/>
              <a:buAutoNum type="alphaUcPeriod"/>
            </a:pPr>
            <a:r>
              <a:rPr b="1" lang="fr-FR" sz="2750">
                <a:solidFill>
                  <a:srgbClr val="FF0000"/>
                </a:solidFill>
                <a:latin typeface="Garamond"/>
                <a:ea typeface="Garamond"/>
                <a:cs typeface="Garamond"/>
                <a:sym typeface="Garamond"/>
              </a:rPr>
              <a:t>Des rêves répétitifs.</a:t>
            </a:r>
            <a:endParaRPr sz="2750">
              <a:solidFill>
                <a:srgbClr val="FF0000"/>
              </a:solidFill>
              <a:latin typeface="Garamond"/>
              <a:ea typeface="Garamond"/>
              <a:cs typeface="Garamond"/>
              <a:sym typeface="Garamond"/>
            </a:endParaRPr>
          </a:p>
          <a:p>
            <a:pPr indent="-332740" lvl="0" marL="345440" rtl="0" algn="l">
              <a:lnSpc>
                <a:spcPct val="100000"/>
              </a:lnSpc>
              <a:spcBef>
                <a:spcPts val="1880"/>
              </a:spcBef>
              <a:spcAft>
                <a:spcPts val="0"/>
              </a:spcAft>
              <a:buClr>
                <a:srgbClr val="92D050"/>
              </a:buClr>
              <a:buSzPts val="2650"/>
              <a:buFont typeface="Garamond"/>
              <a:buAutoNum type="alphaUcPeriod"/>
            </a:pPr>
            <a:r>
              <a:rPr b="1" lang="fr-FR" sz="2750">
                <a:solidFill>
                  <a:srgbClr val="FF0000"/>
                </a:solidFill>
                <a:latin typeface="Garamond"/>
                <a:ea typeface="Garamond"/>
                <a:cs typeface="Garamond"/>
                <a:sym typeface="Garamond"/>
              </a:rPr>
              <a:t>Evitement de tout ce qui rappelle l’évènement.</a:t>
            </a:r>
            <a:endParaRPr sz="2750">
              <a:solidFill>
                <a:srgbClr val="FF0000"/>
              </a:solidFill>
              <a:latin typeface="Garamond"/>
              <a:ea typeface="Garamond"/>
              <a:cs typeface="Garamond"/>
              <a:sym typeface="Garamond"/>
            </a:endParaRPr>
          </a:p>
          <a:p>
            <a:pPr indent="-369570" lvl="0" marL="382270" rtl="0" algn="l">
              <a:lnSpc>
                <a:spcPct val="100000"/>
              </a:lnSpc>
              <a:spcBef>
                <a:spcPts val="1885"/>
              </a:spcBef>
              <a:spcAft>
                <a:spcPts val="0"/>
              </a:spcAft>
              <a:buClr>
                <a:srgbClr val="92D050"/>
              </a:buClr>
              <a:buSzPts val="2650"/>
              <a:buFont typeface="Garamond"/>
              <a:buAutoNum type="alphaUcPeriod"/>
            </a:pPr>
            <a:r>
              <a:rPr b="1" lang="fr-FR" sz="2750">
                <a:latin typeface="Garamond"/>
                <a:ea typeface="Garamond"/>
                <a:cs typeface="Garamond"/>
                <a:sym typeface="Garamond"/>
              </a:rPr>
              <a:t>Une tristesse pathologique de l’humeur</a:t>
            </a:r>
            <a:endParaRPr sz="2750">
              <a:latin typeface="Garamond"/>
              <a:ea typeface="Garamond"/>
              <a:cs typeface="Garamond"/>
              <a:sym typeface="Garamond"/>
            </a:endParaRPr>
          </a:p>
          <a:p>
            <a:pPr indent="-344170" lvl="0" marL="356870" rtl="0" algn="l">
              <a:lnSpc>
                <a:spcPct val="100000"/>
              </a:lnSpc>
              <a:spcBef>
                <a:spcPts val="1805"/>
              </a:spcBef>
              <a:spcAft>
                <a:spcPts val="0"/>
              </a:spcAft>
              <a:buClr>
                <a:srgbClr val="92D050"/>
              </a:buClr>
              <a:buSzPts val="2650"/>
              <a:buFont typeface="Garamond"/>
              <a:buAutoNum type="alphaUcPeriod"/>
            </a:pPr>
            <a:r>
              <a:rPr b="1" lang="fr-FR" sz="2750">
                <a:latin typeface="Garamond"/>
                <a:ea typeface="Garamond"/>
                <a:cs typeface="Garamond"/>
                <a:sym typeface="Garamond"/>
              </a:rPr>
              <a:t>Une anxiété permanente.</a:t>
            </a:r>
            <a:endParaRPr sz="2750">
              <a:latin typeface="Garamond"/>
              <a:ea typeface="Garamond"/>
              <a:cs typeface="Garamond"/>
              <a:sym typeface="Garamond"/>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172"/>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09" name="Google Shape;1409;p172"/>
          <p:cNvSpPr txBox="1"/>
          <p:nvPr>
            <p:ph type="title"/>
          </p:nvPr>
        </p:nvSpPr>
        <p:spPr>
          <a:xfrm>
            <a:off x="1375028" y="872236"/>
            <a:ext cx="9456420"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solidFill>
                  <a:srgbClr val="000000"/>
                </a:solidFill>
              </a:rPr>
              <a:t>Le syndrome psycho-traumatique comporte les signes suivants :</a:t>
            </a:r>
            <a:endParaRPr sz="3950"/>
          </a:p>
        </p:txBody>
      </p:sp>
      <p:sp>
        <p:nvSpPr>
          <p:cNvPr id="1410" name="Google Shape;1410;p17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411" name="Google Shape;1411;p172"/>
          <p:cNvSpPr txBox="1"/>
          <p:nvPr/>
        </p:nvSpPr>
        <p:spPr>
          <a:xfrm>
            <a:off x="1375028" y="2469102"/>
            <a:ext cx="7369809" cy="2568652"/>
          </a:xfrm>
          <a:prstGeom prst="rect">
            <a:avLst/>
          </a:prstGeom>
          <a:noFill/>
          <a:ln>
            <a:noFill/>
          </a:ln>
        </p:spPr>
        <p:txBody>
          <a:bodyPr anchorCtr="0" anchor="t" bIns="0" lIns="0" spcFirstLastPara="1" rIns="0" wrap="square" tIns="546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reviviscence de l’événement traumatique</a:t>
            </a:r>
            <a:endParaRPr sz="2750">
              <a:solidFill>
                <a:srgbClr val="FF0000"/>
              </a:solidFill>
              <a:latin typeface="Garamond"/>
              <a:ea typeface="Garamond"/>
              <a:cs typeface="Garamond"/>
              <a:sym typeface="Garamond"/>
            </a:endParaRPr>
          </a:p>
          <a:p>
            <a:pPr indent="-514350" lvl="0" marL="527050" rtl="0" algn="l">
              <a:lnSpc>
                <a:spcPct val="100000"/>
              </a:lnSpc>
              <a:spcBef>
                <a:spcPts val="8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perturbation du sommeil</a:t>
            </a:r>
            <a:endParaRPr sz="2750">
              <a:solidFill>
                <a:srgbClr val="FF0000"/>
              </a:solidFill>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dépersonnalisation</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 délire de persécution</a:t>
            </a:r>
            <a:endParaRPr sz="2750">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Des réactions de sursaut</a:t>
            </a:r>
            <a:endParaRPr sz="2750">
              <a:solidFill>
                <a:srgbClr val="FF0000"/>
              </a:solidFill>
              <a:latin typeface="Garamond"/>
              <a:ea typeface="Garamond"/>
              <a:cs typeface="Garamond"/>
              <a:sym typeface="Garamond"/>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5" name="Shape 1415"/>
        <p:cNvGrpSpPr/>
        <p:nvPr/>
      </p:nvGrpSpPr>
      <p:grpSpPr>
        <a:xfrm>
          <a:off x="0" y="0"/>
          <a:ext cx="0" cy="0"/>
          <a:chOff x="0" y="0"/>
          <a:chExt cx="0" cy="0"/>
        </a:xfrm>
      </p:grpSpPr>
      <p:sp>
        <p:nvSpPr>
          <p:cNvPr id="1416" name="Google Shape;1416;p173"/>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17" name="Google Shape;1417;p173"/>
          <p:cNvSpPr txBox="1"/>
          <p:nvPr>
            <p:ph type="title"/>
          </p:nvPr>
        </p:nvSpPr>
        <p:spPr>
          <a:xfrm>
            <a:off x="802005" y="636905"/>
            <a:ext cx="10587989" cy="1671955"/>
          </a:xfrm>
          <a:prstGeom prst="rect">
            <a:avLst/>
          </a:prstGeom>
          <a:noFill/>
          <a:ln>
            <a:noFill/>
          </a:ln>
        </p:spPr>
        <p:txBody>
          <a:bodyPr anchorCtr="0" anchor="t" bIns="0" lIns="0" spcFirstLastPara="1" rIns="0" wrap="square" tIns="620125">
            <a:spAutoFit/>
          </a:bodyPr>
          <a:lstStyle/>
          <a:p>
            <a:pPr indent="0" lvl="0" marL="585470" rtl="0" algn="l">
              <a:lnSpc>
                <a:spcPct val="100000"/>
              </a:lnSpc>
              <a:spcBef>
                <a:spcPts val="0"/>
              </a:spcBef>
              <a:spcAft>
                <a:spcPts val="0"/>
              </a:spcAft>
              <a:buNone/>
            </a:pPr>
            <a:r>
              <a:rPr lang="fr-FR" sz="4400">
                <a:solidFill>
                  <a:srgbClr val="000000"/>
                </a:solidFill>
              </a:rPr>
              <a:t>Un trouble stress post-traumatique :</a:t>
            </a:r>
            <a:endParaRPr sz="4400"/>
          </a:p>
        </p:txBody>
      </p:sp>
      <p:sp>
        <p:nvSpPr>
          <p:cNvPr id="1418" name="Google Shape;1418;p17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419" name="Google Shape;1419;p173"/>
          <p:cNvSpPr txBox="1"/>
          <p:nvPr/>
        </p:nvSpPr>
        <p:spPr>
          <a:xfrm>
            <a:off x="1375028" y="2386985"/>
            <a:ext cx="9450070" cy="2958759"/>
          </a:xfrm>
          <a:prstGeom prst="rect">
            <a:avLst/>
          </a:prstGeom>
          <a:noFill/>
          <a:ln>
            <a:noFill/>
          </a:ln>
        </p:spPr>
        <p:txBody>
          <a:bodyPr anchorCtr="0" anchor="t" bIns="0" lIns="0" spcFirstLastPara="1" rIns="0" wrap="square" tIns="0">
            <a:spAutoFit/>
          </a:bodyPr>
          <a:lstStyle/>
          <a:p>
            <a:pPr indent="-514350" lvl="0" marL="527050" rtl="0" algn="l">
              <a:lnSpc>
                <a:spcPct val="134181"/>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Survient fréquemment après l’échec à un examen</a:t>
            </a:r>
            <a:endParaRPr sz="2750">
              <a:latin typeface="Garamond"/>
              <a:ea typeface="Garamond"/>
              <a:cs typeface="Garamond"/>
              <a:sym typeface="Garamond"/>
            </a:endParaRPr>
          </a:p>
          <a:p>
            <a:pPr indent="-514350" lvl="0" marL="527050" rtl="0" algn="l">
              <a:lnSpc>
                <a:spcPct val="100000"/>
              </a:lnSpc>
              <a:spcBef>
                <a:spcPts val="1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Apparait au décours immédiat d’un traumatisme</a:t>
            </a:r>
            <a:endParaRPr sz="2750">
              <a:latin typeface="Garamond"/>
              <a:ea typeface="Garamond"/>
              <a:cs typeface="Garamond"/>
              <a:sym typeface="Garamond"/>
            </a:endParaRPr>
          </a:p>
          <a:p>
            <a:pPr indent="-514350" lvl="0" marL="527050" rtl="0" algn="l">
              <a:lnSpc>
                <a:spcPct val="100000"/>
              </a:lnSpc>
              <a:spcBef>
                <a:spcPts val="6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Ne concerne généralement que les militaires</a:t>
            </a:r>
            <a:endParaRPr sz="2750">
              <a:latin typeface="Garamond"/>
              <a:ea typeface="Garamond"/>
              <a:cs typeface="Garamond"/>
              <a:sym typeface="Garamond"/>
            </a:endParaRPr>
          </a:p>
          <a:p>
            <a:pPr indent="-513715" lvl="0" marL="525780" marR="7620" rtl="0" algn="l">
              <a:lnSpc>
                <a:spcPct val="79700"/>
              </a:lnSpc>
              <a:spcBef>
                <a:spcPts val="9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Le	traitement	médicamenteux	repose	essentiellement	sur 	les antidépresseurs</a:t>
            </a:r>
            <a:endParaRPr sz="2750">
              <a:solidFill>
                <a:srgbClr val="FF0000"/>
              </a:solidFill>
              <a:latin typeface="Garamond"/>
              <a:ea typeface="Garamond"/>
              <a:cs typeface="Garamond"/>
              <a:sym typeface="Garamond"/>
            </a:endParaRPr>
          </a:p>
          <a:p>
            <a:pPr indent="-514350" lvl="0" marL="526415" marR="5080" rtl="0" algn="l">
              <a:lnSpc>
                <a:spcPct val="79700"/>
              </a:lnSpc>
              <a:spcBef>
                <a:spcPts val="10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Le	syndrome	de	reviviscence	constitue	un	signe 	pathognomonique</a:t>
            </a:r>
            <a:endParaRPr sz="2750">
              <a:solidFill>
                <a:srgbClr val="FF0000"/>
              </a:solidFill>
              <a:latin typeface="Garamond"/>
              <a:ea typeface="Garamond"/>
              <a:cs typeface="Garamond"/>
              <a:sym typeface="Garamond"/>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3" name="Shape 1423"/>
        <p:cNvGrpSpPr/>
        <p:nvPr/>
      </p:nvGrpSpPr>
      <p:grpSpPr>
        <a:xfrm>
          <a:off x="0" y="0"/>
          <a:ext cx="0" cy="0"/>
          <a:chOff x="0" y="0"/>
          <a:chExt cx="0" cy="0"/>
        </a:xfrm>
      </p:grpSpPr>
      <p:sp>
        <p:nvSpPr>
          <p:cNvPr id="1424" name="Google Shape;1424;p174"/>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25" name="Google Shape;1425;p174"/>
          <p:cNvSpPr txBox="1"/>
          <p:nvPr>
            <p:ph type="title"/>
          </p:nvPr>
        </p:nvSpPr>
        <p:spPr>
          <a:xfrm>
            <a:off x="1375028" y="975105"/>
            <a:ext cx="9446260"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t>Le	trouble	stress	post	traumatique	se caractérise par:</a:t>
            </a:r>
            <a:endParaRPr sz="3950"/>
          </a:p>
        </p:txBody>
      </p:sp>
      <p:sp>
        <p:nvSpPr>
          <p:cNvPr id="1426" name="Google Shape;1426;p17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427" name="Google Shape;1427;p174"/>
          <p:cNvSpPr txBox="1"/>
          <p:nvPr/>
        </p:nvSpPr>
        <p:spPr>
          <a:xfrm>
            <a:off x="1375028" y="2469102"/>
            <a:ext cx="6118860" cy="2568652"/>
          </a:xfrm>
          <a:prstGeom prst="rect">
            <a:avLst/>
          </a:prstGeom>
          <a:noFill/>
          <a:ln>
            <a:noFill/>
          </a:ln>
        </p:spPr>
        <p:txBody>
          <a:bodyPr anchorCtr="0" anchor="t" bIns="0" lIns="0" spcFirstLastPara="1" rIns="0" wrap="square" tIns="54600">
            <a:spAutoFit/>
          </a:bodyPr>
          <a:lstStyle/>
          <a:p>
            <a:pPr indent="-456565" lvl="0" marL="469265"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Des expériences de flash-back</a:t>
            </a:r>
            <a:endParaRPr sz="2750">
              <a:solidFill>
                <a:srgbClr val="FF0000"/>
              </a:solidFill>
              <a:latin typeface="Garamond"/>
              <a:ea typeface="Garamond"/>
              <a:cs typeface="Garamond"/>
              <a:sym typeface="Garamond"/>
            </a:endParaRPr>
          </a:p>
          <a:p>
            <a:pPr indent="-457200" lvl="0" marL="469900"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Des hallucinations visuelles</a:t>
            </a:r>
            <a:endParaRPr sz="2750">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anxiété anticipatoire</a:t>
            </a:r>
            <a:endParaRPr sz="2750">
              <a:latin typeface="Garamond"/>
              <a:ea typeface="Garamond"/>
              <a:cs typeface="Garamond"/>
              <a:sym typeface="Garamond"/>
            </a:endParaRPr>
          </a:p>
          <a:p>
            <a:pPr indent="-455930" lvl="0" marL="46863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hyper-réactivité neuro-végétative</a:t>
            </a:r>
            <a:endParaRPr sz="2750">
              <a:solidFill>
                <a:srgbClr val="FF0000"/>
              </a:solidFill>
              <a:latin typeface="Garamond"/>
              <a:ea typeface="Garamond"/>
              <a:cs typeface="Garamond"/>
              <a:sym typeface="Garamond"/>
            </a:endParaRPr>
          </a:p>
          <a:p>
            <a:pPr indent="-455930" lvl="0" marL="468630"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 évitement</a:t>
            </a:r>
            <a:endParaRPr sz="2750">
              <a:solidFill>
                <a:srgbClr val="FF0000"/>
              </a:solidFill>
              <a:latin typeface="Garamond"/>
              <a:ea typeface="Garamond"/>
              <a:cs typeface="Garamond"/>
              <a:sym typeface="Garamond"/>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1" name="Shape 1431"/>
        <p:cNvGrpSpPr/>
        <p:nvPr/>
      </p:nvGrpSpPr>
      <p:grpSpPr>
        <a:xfrm>
          <a:off x="0" y="0"/>
          <a:ext cx="0" cy="0"/>
          <a:chOff x="0" y="0"/>
          <a:chExt cx="0" cy="0"/>
        </a:xfrm>
      </p:grpSpPr>
      <p:sp>
        <p:nvSpPr>
          <p:cNvPr id="1432" name="Google Shape;1432;p175"/>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33" name="Google Shape;1433;p175"/>
          <p:cNvSpPr txBox="1"/>
          <p:nvPr>
            <p:ph type="title"/>
          </p:nvPr>
        </p:nvSpPr>
        <p:spPr>
          <a:xfrm>
            <a:off x="802005" y="636905"/>
            <a:ext cx="10587989" cy="1671955"/>
          </a:xfrm>
          <a:prstGeom prst="rect">
            <a:avLst/>
          </a:prstGeom>
          <a:noFill/>
          <a:ln>
            <a:noFill/>
          </a:ln>
        </p:spPr>
        <p:txBody>
          <a:bodyPr anchorCtr="0" anchor="t" bIns="0" lIns="0" spcFirstLastPara="1" rIns="0" wrap="square" tIns="620125">
            <a:spAutoFit/>
          </a:bodyPr>
          <a:lstStyle/>
          <a:p>
            <a:pPr indent="0" lvl="0" marL="585470" rtl="0" algn="l">
              <a:lnSpc>
                <a:spcPct val="100000"/>
              </a:lnSpc>
              <a:spcBef>
                <a:spcPts val="0"/>
              </a:spcBef>
              <a:spcAft>
                <a:spcPts val="0"/>
              </a:spcAft>
              <a:buNone/>
            </a:pPr>
            <a:r>
              <a:rPr lang="fr-FR" sz="4400">
                <a:solidFill>
                  <a:srgbClr val="000000"/>
                </a:solidFill>
              </a:rPr>
              <a:t>L’état de stress post-traumatique :</a:t>
            </a:r>
            <a:endParaRPr sz="4400"/>
          </a:p>
        </p:txBody>
      </p:sp>
      <p:sp>
        <p:nvSpPr>
          <p:cNvPr id="1434" name="Google Shape;1434;p17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435" name="Google Shape;1435;p175"/>
          <p:cNvSpPr txBox="1"/>
          <p:nvPr/>
        </p:nvSpPr>
        <p:spPr>
          <a:xfrm>
            <a:off x="1375028" y="2559861"/>
            <a:ext cx="8761730" cy="2218556"/>
          </a:xfrm>
          <a:prstGeom prst="rect">
            <a:avLst/>
          </a:prstGeom>
          <a:noFill/>
          <a:ln>
            <a:noFill/>
          </a:ln>
        </p:spPr>
        <p:txBody>
          <a:bodyPr anchorCtr="0" anchor="t" bIns="0" lIns="0" spcFirstLastPara="1" rIns="0" wrap="square" tIns="0">
            <a:spAutoFit/>
          </a:bodyPr>
          <a:lstStyle/>
          <a:p>
            <a:pPr indent="-513715" lvl="0" marL="526415" rtl="0" algn="l">
              <a:lnSpc>
                <a:spcPct val="134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Dure moins de 30 jours</a:t>
            </a:r>
            <a:endParaRPr sz="2750">
              <a:latin typeface="Garamond"/>
              <a:ea typeface="Garamond"/>
              <a:cs typeface="Garamond"/>
              <a:sym typeface="Garamond"/>
            </a:endParaRPr>
          </a:p>
          <a:p>
            <a:pPr indent="-514350" lvl="0" marL="527050" rtl="0" algn="l">
              <a:lnSpc>
                <a:spcPct val="100000"/>
              </a:lnSpc>
              <a:spcBef>
                <a:spcPts val="1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S’accompagne d’une désinhibition sexuelle</a:t>
            </a:r>
            <a:endParaRPr sz="2750">
              <a:latin typeface="Garamond"/>
              <a:ea typeface="Garamond"/>
              <a:cs typeface="Garamond"/>
              <a:sym typeface="Garamond"/>
            </a:endParaRPr>
          </a:p>
          <a:p>
            <a:pPr indent="-514350" lvl="0" marL="527050" rtl="0" algn="l">
              <a:lnSpc>
                <a:spcPct val="100000"/>
              </a:lnSpc>
              <a:spcBef>
                <a:spcPts val="6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Se caractérise par le syndrome de reviviscence</a:t>
            </a:r>
            <a:endParaRPr sz="2750">
              <a:solidFill>
                <a:srgbClr val="FF0000"/>
              </a:solidFill>
              <a:latin typeface="Garamond"/>
              <a:ea typeface="Garamond"/>
              <a:cs typeface="Garamond"/>
              <a:sym typeface="Garamond"/>
            </a:endParaRPr>
          </a:p>
          <a:p>
            <a:pPr indent="-513715" lvl="0" marL="526415" rtl="0" algn="l">
              <a:lnSpc>
                <a:spcPct val="100000"/>
              </a:lnSpc>
              <a:spcBef>
                <a:spcPts val="1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Survient immédiatement après un traumatisme majeur</a:t>
            </a:r>
            <a:endParaRPr sz="2750">
              <a:latin typeface="Garamond"/>
              <a:ea typeface="Garamond"/>
              <a:cs typeface="Garamond"/>
              <a:sym typeface="Garamond"/>
            </a:endParaRPr>
          </a:p>
          <a:p>
            <a:pPr indent="-513715" lvl="0" marL="526415" rtl="0" algn="l">
              <a:lnSpc>
                <a:spcPct val="100000"/>
              </a:lnSpc>
              <a:spcBef>
                <a:spcPts val="1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Est défini par la récurrence d’attaques de panique</a:t>
            </a:r>
            <a:endParaRPr sz="2750">
              <a:latin typeface="Garamond"/>
              <a:ea typeface="Garamond"/>
              <a:cs typeface="Garamond"/>
              <a:sym typeface="Garamond"/>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9" name="Shape 1439"/>
        <p:cNvGrpSpPr/>
        <p:nvPr/>
      </p:nvGrpSpPr>
      <p:grpSpPr>
        <a:xfrm>
          <a:off x="0" y="0"/>
          <a:ext cx="0" cy="0"/>
          <a:chOff x="0" y="0"/>
          <a:chExt cx="0" cy="0"/>
        </a:xfrm>
      </p:grpSpPr>
      <p:sp>
        <p:nvSpPr>
          <p:cNvPr id="1440" name="Google Shape;1440;p176"/>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41" name="Google Shape;1441;p176"/>
          <p:cNvSpPr txBox="1"/>
          <p:nvPr>
            <p:ph type="title"/>
          </p:nvPr>
        </p:nvSpPr>
        <p:spPr>
          <a:xfrm>
            <a:off x="802005" y="636905"/>
            <a:ext cx="10587989" cy="1671955"/>
          </a:xfrm>
          <a:prstGeom prst="rect">
            <a:avLst/>
          </a:prstGeom>
          <a:noFill/>
          <a:ln>
            <a:noFill/>
          </a:ln>
        </p:spPr>
        <p:txBody>
          <a:bodyPr anchorCtr="0" anchor="t" bIns="0" lIns="0" spcFirstLastPara="1" rIns="0" wrap="square" tIns="620125">
            <a:spAutoFit/>
          </a:bodyPr>
          <a:lstStyle/>
          <a:p>
            <a:pPr indent="0" lvl="0" marL="509269" rtl="0" algn="l">
              <a:lnSpc>
                <a:spcPct val="100000"/>
              </a:lnSpc>
              <a:spcBef>
                <a:spcPts val="0"/>
              </a:spcBef>
              <a:spcAft>
                <a:spcPts val="0"/>
              </a:spcAft>
              <a:buNone/>
            </a:pPr>
            <a:r>
              <a:rPr lang="fr-FR" sz="4400">
                <a:solidFill>
                  <a:srgbClr val="000000"/>
                </a:solidFill>
              </a:rPr>
              <a:t>Le trouble stress post-traumatique :</a:t>
            </a:r>
            <a:endParaRPr sz="4400"/>
          </a:p>
        </p:txBody>
      </p:sp>
      <p:sp>
        <p:nvSpPr>
          <p:cNvPr id="1442" name="Google Shape;1442;p17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443" name="Google Shape;1443;p176"/>
          <p:cNvSpPr txBox="1"/>
          <p:nvPr/>
        </p:nvSpPr>
        <p:spPr>
          <a:xfrm>
            <a:off x="1298828" y="2373630"/>
            <a:ext cx="9672320" cy="2848857"/>
          </a:xfrm>
          <a:prstGeom prst="rect">
            <a:avLst/>
          </a:prstGeom>
          <a:noFill/>
          <a:ln>
            <a:noFill/>
          </a:ln>
        </p:spPr>
        <p:txBody>
          <a:bodyPr anchorCtr="0" anchor="t" bIns="0" lIns="0" spcFirstLastPara="1" rIns="0" wrap="square" tIns="57775">
            <a:spAutoFit/>
          </a:bodyPr>
          <a:lstStyle/>
          <a:p>
            <a:pPr indent="-513715" lvl="0" marL="525780" marR="5080" rtl="0" algn="l">
              <a:lnSpc>
                <a:spcPct val="798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Survient	après	un	traumatisme	brutal,	violent,	et	hors	du 	commun</a:t>
            </a:r>
            <a:endParaRPr sz="2750">
              <a:solidFill>
                <a:srgbClr val="FF0000"/>
              </a:solidFill>
              <a:latin typeface="Garamond"/>
              <a:ea typeface="Garamond"/>
              <a:cs typeface="Garamond"/>
              <a:sym typeface="Garamond"/>
            </a:endParaRPr>
          </a:p>
          <a:p>
            <a:pPr indent="-513715" lvl="0" marL="526415" rtl="0" algn="l">
              <a:lnSpc>
                <a:spcPct val="100000"/>
              </a:lnSpc>
              <a:spcBef>
                <a:spcPts val="22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S’accompagne d’une hyperphagie, sans prise de poids.</a:t>
            </a:r>
            <a:endParaRPr sz="2750">
              <a:latin typeface="Garamond"/>
              <a:ea typeface="Garamond"/>
              <a:cs typeface="Garamond"/>
              <a:sym typeface="Garamond"/>
            </a:endParaRPr>
          </a:p>
          <a:p>
            <a:pPr indent="-513715" lvl="0" marL="525780" marR="9525" rtl="0" algn="l">
              <a:lnSpc>
                <a:spcPct val="79700"/>
              </a:lnSpc>
              <a:spcBef>
                <a:spcPts val="844"/>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Se	caractérise	par	un	évitement	des	stimuli	associés	au 	traumatisme</a:t>
            </a:r>
            <a:endParaRPr sz="2750">
              <a:solidFill>
                <a:srgbClr val="FF0000"/>
              </a:solidFill>
              <a:latin typeface="Garamond"/>
              <a:ea typeface="Garamond"/>
              <a:cs typeface="Garamond"/>
              <a:sym typeface="Garamond"/>
            </a:endParaRPr>
          </a:p>
          <a:p>
            <a:pPr indent="-514350" lvl="0" marL="527050" rtl="0" algn="l">
              <a:lnSpc>
                <a:spcPct val="100000"/>
              </a:lnSpc>
              <a:spcBef>
                <a:spcPts val="22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Évolue par crises</a:t>
            </a:r>
            <a:endParaRPr sz="2750">
              <a:latin typeface="Garamond"/>
              <a:ea typeface="Garamond"/>
              <a:cs typeface="Garamond"/>
              <a:sym typeface="Garamond"/>
            </a:endParaRPr>
          </a:p>
          <a:p>
            <a:pPr indent="-513080" lvl="0" marL="525780" rtl="0" algn="l">
              <a:lnSpc>
                <a:spcPct val="100000"/>
              </a:lnSpc>
              <a:spcBef>
                <a:spcPts val="1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Peut se compliquer d’agoraphobie</a:t>
            </a:r>
            <a:endParaRPr sz="2750">
              <a:latin typeface="Garamond"/>
              <a:ea typeface="Garamond"/>
              <a:cs typeface="Garamond"/>
              <a:sym typeface="Garamond"/>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7" name="Shape 1447"/>
        <p:cNvGrpSpPr/>
        <p:nvPr/>
      </p:nvGrpSpPr>
      <p:grpSpPr>
        <a:xfrm>
          <a:off x="0" y="0"/>
          <a:ext cx="0" cy="0"/>
          <a:chOff x="0" y="0"/>
          <a:chExt cx="0" cy="0"/>
        </a:xfrm>
      </p:grpSpPr>
      <p:sp>
        <p:nvSpPr>
          <p:cNvPr id="1448" name="Google Shape;1448;p177"/>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49" name="Google Shape;1449;p177"/>
          <p:cNvSpPr txBox="1"/>
          <p:nvPr>
            <p:ph type="title"/>
          </p:nvPr>
        </p:nvSpPr>
        <p:spPr>
          <a:xfrm>
            <a:off x="1375028" y="975105"/>
            <a:ext cx="10067925" cy="1242695"/>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3950">
                <a:solidFill>
                  <a:srgbClr val="000000"/>
                </a:solidFill>
              </a:rPr>
              <a:t>Dans le trouble stress post-traumatique,</a:t>
            </a:r>
            <a:endParaRPr sz="3950"/>
          </a:p>
          <a:p>
            <a:pPr indent="0" lvl="0" marL="12700" rtl="0" algn="l">
              <a:lnSpc>
                <a:spcPct val="100000"/>
              </a:lnSpc>
              <a:spcBef>
                <a:spcPts val="65"/>
              </a:spcBef>
              <a:spcAft>
                <a:spcPts val="0"/>
              </a:spcAft>
              <a:buNone/>
            </a:pPr>
            <a:r>
              <a:rPr lang="fr-FR" sz="3950">
                <a:solidFill>
                  <a:srgbClr val="000000"/>
                </a:solidFill>
              </a:rPr>
              <a:t>l’événement traumatique peut correspondre à :</a:t>
            </a:r>
            <a:endParaRPr sz="3950"/>
          </a:p>
        </p:txBody>
      </p:sp>
      <p:sp>
        <p:nvSpPr>
          <p:cNvPr id="1450" name="Google Shape;1450;p17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451" name="Google Shape;1451;p177"/>
          <p:cNvSpPr txBox="1"/>
          <p:nvPr/>
        </p:nvSpPr>
        <p:spPr>
          <a:xfrm>
            <a:off x="1375028" y="2477166"/>
            <a:ext cx="5142230" cy="2218556"/>
          </a:xfrm>
          <a:prstGeom prst="rect">
            <a:avLst/>
          </a:prstGeom>
          <a:noFill/>
          <a:ln>
            <a:noFill/>
          </a:ln>
        </p:spPr>
        <p:txBody>
          <a:bodyPr anchorCtr="0" anchor="t" bIns="0" lIns="0" spcFirstLastPara="1" rIns="0" wrap="square" tIns="0">
            <a:spAutoFit/>
          </a:bodyPr>
          <a:lstStyle/>
          <a:p>
            <a:pPr indent="-514350" lvl="0" marL="527050" rtl="0" algn="l">
              <a:lnSpc>
                <a:spcPct val="134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 stress professionnel</a:t>
            </a:r>
            <a:endParaRPr sz="2750">
              <a:latin typeface="Garamond"/>
              <a:ea typeface="Garamond"/>
              <a:cs typeface="Garamond"/>
              <a:sym typeface="Garamond"/>
            </a:endParaRPr>
          </a:p>
          <a:p>
            <a:pPr indent="-514350" lvl="0" marL="527050" rtl="0" algn="l">
              <a:lnSpc>
                <a:spcPct val="100000"/>
              </a:lnSpc>
              <a:spcBef>
                <a:spcPts val="1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 accident de la circulation</a:t>
            </a:r>
            <a:endParaRPr sz="2750">
              <a:solidFill>
                <a:srgbClr val="FF0000"/>
              </a:solidFill>
              <a:latin typeface="Garamond"/>
              <a:ea typeface="Garamond"/>
              <a:cs typeface="Garamond"/>
              <a:sym typeface="Garamond"/>
            </a:endParaRPr>
          </a:p>
          <a:p>
            <a:pPr indent="-514350" lvl="0" marL="527050" rtl="0" algn="l">
              <a:lnSpc>
                <a:spcPct val="100000"/>
              </a:lnSpc>
              <a:spcBef>
                <a:spcPts val="6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menace par arme blanche</a:t>
            </a:r>
            <a:endParaRPr sz="2750">
              <a:solidFill>
                <a:srgbClr val="FF0000"/>
              </a:solidFill>
              <a:latin typeface="Garamond"/>
              <a:ea typeface="Garamond"/>
              <a:cs typeface="Garamond"/>
              <a:sym typeface="Garamond"/>
            </a:endParaRPr>
          </a:p>
          <a:p>
            <a:pPr indent="-513715" lvl="0" marL="526415" rtl="0" algn="l">
              <a:lnSpc>
                <a:spcPct val="100000"/>
              </a:lnSpc>
              <a:spcBef>
                <a:spcPts val="1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déception amoureuse</a:t>
            </a:r>
            <a:endParaRPr sz="2750">
              <a:latin typeface="Garamond"/>
              <a:ea typeface="Garamond"/>
              <a:cs typeface="Garamond"/>
              <a:sym typeface="Garamond"/>
            </a:endParaRPr>
          </a:p>
          <a:p>
            <a:pPr indent="-514350" lvl="0" marL="527050" rtl="0" algn="l">
              <a:lnSpc>
                <a:spcPct val="100000"/>
              </a:lnSpc>
              <a:spcBef>
                <a:spcPts val="140"/>
              </a:spcBef>
              <a:spcAft>
                <a:spcPts val="0"/>
              </a:spcAft>
              <a:buClr>
                <a:srgbClr val="83992A"/>
              </a:buClr>
              <a:buSzPts val="3200"/>
              <a:buFont typeface="Garamond"/>
              <a:buAutoNum type="alphaUcPeriod"/>
            </a:pPr>
            <a:r>
              <a:rPr b="1" lang="fr-FR" sz="2750">
                <a:latin typeface="Garamond"/>
                <a:ea typeface="Garamond"/>
                <a:cs typeface="Garamond"/>
                <a:sym typeface="Garamond"/>
              </a:rPr>
              <a:t>Un deuil</a:t>
            </a:r>
            <a:endParaRPr sz="2750">
              <a:latin typeface="Garamond"/>
              <a:ea typeface="Garamond"/>
              <a:cs typeface="Garamond"/>
              <a:sym typeface="Garamond"/>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5" name="Shape 1455"/>
        <p:cNvGrpSpPr/>
        <p:nvPr/>
      </p:nvGrpSpPr>
      <p:grpSpPr>
        <a:xfrm>
          <a:off x="0" y="0"/>
          <a:ext cx="0" cy="0"/>
          <a:chOff x="0" y="0"/>
          <a:chExt cx="0" cy="0"/>
        </a:xfrm>
      </p:grpSpPr>
      <p:sp>
        <p:nvSpPr>
          <p:cNvPr id="1456" name="Google Shape;1456;p178"/>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57" name="Google Shape;1457;p178"/>
          <p:cNvSpPr txBox="1"/>
          <p:nvPr/>
        </p:nvSpPr>
        <p:spPr>
          <a:xfrm>
            <a:off x="4576064" y="975105"/>
            <a:ext cx="6247765" cy="63246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b="1" lang="fr-FR" sz="3950">
                <a:solidFill>
                  <a:srgbClr val="252525"/>
                </a:solidFill>
                <a:latin typeface="Garamond"/>
                <a:ea typeface="Garamond"/>
                <a:cs typeface="Garamond"/>
                <a:sym typeface="Garamond"/>
              </a:rPr>
              <a:t>le	trouble	stress	post-</a:t>
            </a:r>
            <a:endParaRPr sz="3950">
              <a:latin typeface="Garamond"/>
              <a:ea typeface="Garamond"/>
              <a:cs typeface="Garamond"/>
              <a:sym typeface="Garamond"/>
            </a:endParaRPr>
          </a:p>
        </p:txBody>
      </p:sp>
      <p:sp>
        <p:nvSpPr>
          <p:cNvPr id="1458" name="Google Shape;1458;p17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459" name="Google Shape;1459;p178"/>
          <p:cNvSpPr txBox="1"/>
          <p:nvPr>
            <p:ph type="title"/>
          </p:nvPr>
        </p:nvSpPr>
        <p:spPr>
          <a:xfrm>
            <a:off x="1375028" y="975105"/>
            <a:ext cx="2790190"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t>Concernant traumatique:</a:t>
            </a:r>
            <a:endParaRPr sz="3950"/>
          </a:p>
        </p:txBody>
      </p:sp>
      <p:sp>
        <p:nvSpPr>
          <p:cNvPr id="1460" name="Google Shape;1460;p178"/>
          <p:cNvSpPr txBox="1"/>
          <p:nvPr/>
        </p:nvSpPr>
        <p:spPr>
          <a:xfrm>
            <a:off x="924242" y="2426906"/>
            <a:ext cx="10358755" cy="3625215"/>
          </a:xfrm>
          <a:prstGeom prst="rect">
            <a:avLst/>
          </a:prstGeom>
          <a:noFill/>
          <a:ln>
            <a:noFill/>
          </a:ln>
        </p:spPr>
        <p:txBody>
          <a:bodyPr anchorCtr="0" anchor="t" bIns="0" lIns="0" spcFirstLastPara="1" rIns="0" wrap="square" tIns="0">
            <a:spAutoFit/>
          </a:bodyPr>
          <a:lstStyle/>
          <a:p>
            <a:pPr indent="-457200" lvl="0" marL="469900" rtl="0" algn="l">
              <a:lnSpc>
                <a:spcPct val="118958"/>
              </a:lnSpc>
              <a:spcBef>
                <a:spcPts val="0"/>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On	peut	rencontrer	un	temps	de	latence	avant	l’apparition	de	la</a:t>
            </a:r>
            <a:endParaRPr sz="2400">
              <a:solidFill>
                <a:srgbClr val="FF0000"/>
              </a:solidFill>
              <a:latin typeface="Garamond"/>
              <a:ea typeface="Garamond"/>
              <a:cs typeface="Garamond"/>
              <a:sym typeface="Garamond"/>
            </a:endParaRPr>
          </a:p>
          <a:p>
            <a:pPr indent="0" lvl="0" marL="469900" rtl="0" algn="l">
              <a:lnSpc>
                <a:spcPct val="111666"/>
              </a:lnSpc>
              <a:spcBef>
                <a:spcPts val="0"/>
              </a:spcBef>
              <a:spcAft>
                <a:spcPts val="0"/>
              </a:spcAft>
              <a:buNone/>
            </a:pPr>
            <a:r>
              <a:rPr b="1" lang="fr-FR" sz="2400">
                <a:solidFill>
                  <a:srgbClr val="FF0000"/>
                </a:solidFill>
                <a:latin typeface="Garamond"/>
                <a:ea typeface="Garamond"/>
                <a:cs typeface="Garamond"/>
                <a:sym typeface="Garamond"/>
              </a:rPr>
              <a:t>symptomatologie clinique</a:t>
            </a:r>
            <a:endParaRPr sz="2400">
              <a:solidFill>
                <a:srgbClr val="FF0000"/>
              </a:solidFill>
              <a:latin typeface="Garamond"/>
              <a:ea typeface="Garamond"/>
              <a:cs typeface="Garamond"/>
              <a:sym typeface="Garamond"/>
            </a:endParaRPr>
          </a:p>
          <a:p>
            <a:pPr indent="-456565" lvl="0" marL="469265" rtl="0" algn="l">
              <a:lnSpc>
                <a:spcPct val="129166"/>
              </a:lnSpc>
              <a:spcBef>
                <a:spcPts val="600"/>
              </a:spcBef>
              <a:spcAft>
                <a:spcPts val="0"/>
              </a:spcAft>
              <a:buClr>
                <a:srgbClr val="83992A"/>
              </a:buClr>
              <a:buSzPts val="2750"/>
              <a:buFont typeface="Garamond"/>
              <a:buAutoNum type="alphaUcPeriod" startAt="2"/>
            </a:pPr>
            <a:r>
              <a:rPr b="1" lang="fr-FR" sz="2400">
                <a:solidFill>
                  <a:srgbClr val="252525"/>
                </a:solidFill>
                <a:latin typeface="Garamond"/>
                <a:ea typeface="Garamond"/>
                <a:cs typeface="Garamond"/>
                <a:sym typeface="Garamond"/>
              </a:rPr>
              <a:t>L’évènement	en	cause	est	un	évènement	de	la	vie	quotidienne	auquel	le</a:t>
            </a:r>
            <a:endParaRPr sz="2400">
              <a:latin typeface="Garamond"/>
              <a:ea typeface="Garamond"/>
              <a:cs typeface="Garamond"/>
              <a:sym typeface="Garamond"/>
            </a:endParaRPr>
          </a:p>
          <a:p>
            <a:pPr indent="0" lvl="0" marL="469900" rtl="0" algn="l">
              <a:lnSpc>
                <a:spcPct val="111666"/>
              </a:lnSpc>
              <a:spcBef>
                <a:spcPts val="0"/>
              </a:spcBef>
              <a:spcAft>
                <a:spcPts val="0"/>
              </a:spcAft>
              <a:buNone/>
            </a:pPr>
            <a:r>
              <a:rPr b="1" lang="fr-FR" sz="2400">
                <a:solidFill>
                  <a:srgbClr val="252525"/>
                </a:solidFill>
                <a:latin typeface="Garamond"/>
                <a:ea typeface="Garamond"/>
                <a:cs typeface="Garamond"/>
                <a:sym typeface="Garamond"/>
              </a:rPr>
              <a:t>patient n’arrive pas à s’adapter</a:t>
            </a:r>
            <a:endParaRPr sz="2400">
              <a:latin typeface="Garamond"/>
              <a:ea typeface="Garamond"/>
              <a:cs typeface="Garamond"/>
              <a:sym typeface="Garamond"/>
            </a:endParaRPr>
          </a:p>
          <a:p>
            <a:pPr indent="-456565" lvl="0" marL="469265" rtl="0" algn="l">
              <a:lnSpc>
                <a:spcPct val="129166"/>
              </a:lnSpc>
              <a:spcBef>
                <a:spcPts val="600"/>
              </a:spcBef>
              <a:spcAft>
                <a:spcPts val="0"/>
              </a:spcAft>
              <a:buClr>
                <a:srgbClr val="83992A"/>
              </a:buClr>
              <a:buSzPts val="2750"/>
              <a:buFont typeface="Garamond"/>
              <a:buAutoNum type="alphaUcPeriod" startAt="3"/>
            </a:pPr>
            <a:r>
              <a:rPr b="1" lang="fr-FR" sz="2400">
                <a:solidFill>
                  <a:srgbClr val="FF0000"/>
                </a:solidFill>
                <a:latin typeface="Garamond"/>
                <a:ea typeface="Garamond"/>
                <a:cs typeface="Garamond"/>
                <a:sym typeface="Garamond"/>
              </a:rPr>
              <a:t>La réaction du sujet face à l’évènement traumatisant est caractérisée par un</a:t>
            </a:r>
            <a:endParaRPr sz="2400">
              <a:solidFill>
                <a:srgbClr val="FF0000"/>
              </a:solidFill>
              <a:latin typeface="Garamond"/>
              <a:ea typeface="Garamond"/>
              <a:cs typeface="Garamond"/>
              <a:sym typeface="Garamond"/>
            </a:endParaRPr>
          </a:p>
          <a:p>
            <a:pPr indent="0" lvl="0" marL="469900" rtl="0" algn="l">
              <a:lnSpc>
                <a:spcPct val="111666"/>
              </a:lnSpc>
              <a:spcBef>
                <a:spcPts val="0"/>
              </a:spcBef>
              <a:spcAft>
                <a:spcPts val="0"/>
              </a:spcAft>
              <a:buNone/>
            </a:pPr>
            <a:r>
              <a:rPr b="1" lang="fr-FR" sz="2400">
                <a:solidFill>
                  <a:srgbClr val="FF0000"/>
                </a:solidFill>
                <a:latin typeface="Garamond"/>
                <a:ea typeface="Garamond"/>
                <a:cs typeface="Garamond"/>
                <a:sym typeface="Garamond"/>
              </a:rPr>
              <a:t>sentiment d’impuissance ou d’horreur</a:t>
            </a:r>
            <a:endParaRPr sz="2400">
              <a:solidFill>
                <a:srgbClr val="FF0000"/>
              </a:solidFill>
              <a:latin typeface="Garamond"/>
              <a:ea typeface="Garamond"/>
              <a:cs typeface="Garamond"/>
              <a:sym typeface="Garamond"/>
            </a:endParaRPr>
          </a:p>
          <a:p>
            <a:pPr indent="-456565" lvl="0" marL="469265" rtl="0" algn="l">
              <a:lnSpc>
                <a:spcPct val="100000"/>
              </a:lnSpc>
              <a:spcBef>
                <a:spcPts val="525"/>
              </a:spcBef>
              <a:spcAft>
                <a:spcPts val="0"/>
              </a:spcAft>
              <a:buClr>
                <a:srgbClr val="83992A"/>
              </a:buClr>
              <a:buSzPts val="2750"/>
              <a:buFont typeface="Garamond"/>
              <a:buAutoNum type="alphaUcPeriod" startAt="4"/>
            </a:pPr>
            <a:r>
              <a:rPr b="1" lang="fr-FR" sz="2400">
                <a:solidFill>
                  <a:srgbClr val="FF0000"/>
                </a:solidFill>
                <a:latin typeface="Garamond"/>
                <a:ea typeface="Garamond"/>
                <a:cs typeface="Garamond"/>
                <a:sym typeface="Garamond"/>
              </a:rPr>
              <a:t>Tout stimuli évoquant le traumatisme est évité</a:t>
            </a:r>
            <a:endParaRPr sz="2400">
              <a:solidFill>
                <a:srgbClr val="FF0000"/>
              </a:solidFill>
              <a:latin typeface="Garamond"/>
              <a:ea typeface="Garamond"/>
              <a:cs typeface="Garamond"/>
              <a:sym typeface="Garamond"/>
            </a:endParaRPr>
          </a:p>
          <a:p>
            <a:pPr indent="-456565" lvl="0" marL="469265" rtl="0" algn="l">
              <a:lnSpc>
                <a:spcPct val="129166"/>
              </a:lnSpc>
              <a:spcBef>
                <a:spcPts val="530"/>
              </a:spcBef>
              <a:spcAft>
                <a:spcPts val="0"/>
              </a:spcAft>
              <a:buClr>
                <a:srgbClr val="83992A"/>
              </a:buClr>
              <a:buSzPts val="2750"/>
              <a:buFont typeface="Garamond"/>
              <a:buAutoNum type="alphaUcPeriod" startAt="4"/>
            </a:pPr>
            <a:r>
              <a:rPr b="1" lang="fr-FR" sz="2400">
                <a:solidFill>
                  <a:srgbClr val="252525"/>
                </a:solidFill>
                <a:latin typeface="Garamond"/>
                <a:ea typeface="Garamond"/>
                <a:cs typeface="Garamond"/>
                <a:sym typeface="Garamond"/>
              </a:rPr>
              <a:t>La	perplexité	anxieuse	accompagne	la	réexposition	à	l’évènement</a:t>
            </a:r>
            <a:endParaRPr sz="2400">
              <a:latin typeface="Garamond"/>
              <a:ea typeface="Garamond"/>
              <a:cs typeface="Garamond"/>
              <a:sym typeface="Garamond"/>
            </a:endParaRPr>
          </a:p>
          <a:p>
            <a:pPr indent="0" lvl="0" marL="469900" rtl="0" algn="l">
              <a:lnSpc>
                <a:spcPct val="111666"/>
              </a:lnSpc>
              <a:spcBef>
                <a:spcPts val="0"/>
              </a:spcBef>
              <a:spcAft>
                <a:spcPts val="0"/>
              </a:spcAft>
              <a:buNone/>
            </a:pPr>
            <a:r>
              <a:rPr b="1" lang="fr-FR" sz="2400">
                <a:solidFill>
                  <a:srgbClr val="252525"/>
                </a:solidFill>
                <a:latin typeface="Garamond"/>
                <a:ea typeface="Garamond"/>
                <a:cs typeface="Garamond"/>
                <a:sym typeface="Garamond"/>
              </a:rPr>
              <a:t>traumatisant</a:t>
            </a:r>
            <a:endParaRPr sz="2400">
              <a:latin typeface="Garamond"/>
              <a:ea typeface="Garamond"/>
              <a:cs typeface="Garamond"/>
              <a:sym typeface="Garamond"/>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4" name="Shape 1464"/>
        <p:cNvGrpSpPr/>
        <p:nvPr/>
      </p:nvGrpSpPr>
      <p:grpSpPr>
        <a:xfrm>
          <a:off x="0" y="0"/>
          <a:ext cx="0" cy="0"/>
          <a:chOff x="0" y="0"/>
          <a:chExt cx="0" cy="0"/>
        </a:xfrm>
      </p:grpSpPr>
      <p:sp>
        <p:nvSpPr>
          <p:cNvPr id="1465" name="Google Shape;1465;p179"/>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66" name="Google Shape;1466;p179"/>
          <p:cNvSpPr txBox="1"/>
          <p:nvPr>
            <p:ph type="title"/>
          </p:nvPr>
        </p:nvSpPr>
        <p:spPr>
          <a:xfrm>
            <a:off x="802005" y="636905"/>
            <a:ext cx="10587989" cy="1671955"/>
          </a:xfrm>
          <a:prstGeom prst="rect">
            <a:avLst/>
          </a:prstGeom>
          <a:noFill/>
          <a:ln>
            <a:noFill/>
          </a:ln>
        </p:spPr>
        <p:txBody>
          <a:bodyPr anchorCtr="0" anchor="t" bIns="0" lIns="0" spcFirstLastPara="1" rIns="0" wrap="square" tIns="620125">
            <a:spAutoFit/>
          </a:bodyPr>
          <a:lstStyle/>
          <a:p>
            <a:pPr indent="0" lvl="0" marL="585470" rtl="0" algn="l">
              <a:lnSpc>
                <a:spcPct val="100000"/>
              </a:lnSpc>
              <a:spcBef>
                <a:spcPts val="0"/>
              </a:spcBef>
              <a:spcAft>
                <a:spcPts val="0"/>
              </a:spcAft>
              <a:buNone/>
            </a:pPr>
            <a:r>
              <a:rPr lang="fr-FR" sz="4400">
                <a:solidFill>
                  <a:srgbClr val="000000"/>
                </a:solidFill>
              </a:rPr>
              <a:t>Dans l’état de stress post traumatique </a:t>
            </a:r>
            <a:r>
              <a:rPr b="0" lang="fr-FR" sz="4400">
                <a:solidFill>
                  <a:srgbClr val="000000"/>
                </a:solidFill>
                <a:latin typeface="Garamond"/>
                <a:ea typeface="Garamond"/>
                <a:cs typeface="Garamond"/>
                <a:sym typeface="Garamond"/>
              </a:rPr>
              <a:t>:</a:t>
            </a:r>
            <a:endParaRPr sz="4400">
              <a:latin typeface="Garamond"/>
              <a:ea typeface="Garamond"/>
              <a:cs typeface="Garamond"/>
              <a:sym typeface="Garamond"/>
            </a:endParaRPr>
          </a:p>
        </p:txBody>
      </p:sp>
      <p:sp>
        <p:nvSpPr>
          <p:cNvPr id="1467" name="Google Shape;1467;p17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468" name="Google Shape;1468;p179"/>
          <p:cNvSpPr txBox="1"/>
          <p:nvPr>
            <p:ph idx="1" type="body"/>
          </p:nvPr>
        </p:nvSpPr>
        <p:spPr>
          <a:xfrm>
            <a:off x="1375028" y="2402586"/>
            <a:ext cx="9363075" cy="2568652"/>
          </a:xfrm>
          <a:prstGeom prst="rect">
            <a:avLst/>
          </a:prstGeom>
          <a:noFill/>
          <a:ln>
            <a:noFill/>
          </a:ln>
        </p:spPr>
        <p:txBody>
          <a:bodyPr anchorCtr="0" anchor="t" bIns="0" lIns="0" spcFirstLastPara="1" rIns="0" wrap="square" tIns="54600">
            <a:spAutoFit/>
          </a:bodyPr>
          <a:lstStyle/>
          <a:p>
            <a:pPr indent="-456565" lvl="0" marL="469265" rtl="0" algn="l">
              <a:lnSpc>
                <a:spcPct val="100000"/>
              </a:lnSpc>
              <a:spcBef>
                <a:spcPts val="0"/>
              </a:spcBef>
              <a:spcAft>
                <a:spcPts val="0"/>
              </a:spcAft>
              <a:buClr>
                <a:srgbClr val="83992A"/>
              </a:buClr>
              <a:buSzPts val="3142"/>
              <a:buFont typeface="Garamond"/>
              <a:buAutoNum type="alphaUcPeriod"/>
            </a:pPr>
            <a:r>
              <a:rPr lang="fr-FR"/>
              <a:t>Les symptômes sont tous spécifiques</a:t>
            </a:r>
            <a:endParaRPr/>
          </a:p>
          <a:p>
            <a:pPr indent="-456565" lvl="0" marL="469265" rtl="0" algn="l">
              <a:lnSpc>
                <a:spcPct val="100000"/>
              </a:lnSpc>
              <a:spcBef>
                <a:spcPts val="815"/>
              </a:spcBef>
              <a:spcAft>
                <a:spcPts val="0"/>
              </a:spcAft>
              <a:buClr>
                <a:srgbClr val="83992A"/>
              </a:buClr>
              <a:buSzPts val="3142"/>
              <a:buFont typeface="Garamond"/>
              <a:buAutoNum type="alphaUcPeriod"/>
            </a:pPr>
            <a:r>
              <a:rPr lang="fr-FR">
                <a:solidFill>
                  <a:srgbClr val="FF0000"/>
                </a:solidFill>
              </a:rPr>
              <a:t>Le syndrome de répétition est pathognomonique</a:t>
            </a:r>
            <a:endParaRPr/>
          </a:p>
          <a:p>
            <a:pPr indent="-456565" lvl="0" marL="469265" rtl="0" algn="l">
              <a:lnSpc>
                <a:spcPct val="100000"/>
              </a:lnSpc>
              <a:spcBef>
                <a:spcPts val="815"/>
              </a:spcBef>
              <a:spcAft>
                <a:spcPts val="0"/>
              </a:spcAft>
              <a:buClr>
                <a:srgbClr val="83992A"/>
              </a:buClr>
              <a:buSzPts val="3142"/>
              <a:buFont typeface="Garamond"/>
              <a:buAutoNum type="alphaUcPeriod"/>
            </a:pPr>
            <a:r>
              <a:rPr lang="fr-FR">
                <a:solidFill>
                  <a:srgbClr val="FF0000"/>
                </a:solidFill>
              </a:rPr>
              <a:t>L’association à une dépression est fréquente</a:t>
            </a:r>
            <a:endParaRPr/>
          </a:p>
          <a:p>
            <a:pPr indent="-455930" lvl="0" marL="468630" rtl="0" algn="l">
              <a:lnSpc>
                <a:spcPct val="100000"/>
              </a:lnSpc>
              <a:spcBef>
                <a:spcPts val="819"/>
              </a:spcBef>
              <a:spcAft>
                <a:spcPts val="0"/>
              </a:spcAft>
              <a:buClr>
                <a:srgbClr val="83992A"/>
              </a:buClr>
              <a:buSzPts val="3142"/>
              <a:buFont typeface="Garamond"/>
              <a:buAutoNum type="alphaUcPeriod"/>
            </a:pPr>
            <a:r>
              <a:rPr lang="fr-FR">
                <a:solidFill>
                  <a:srgbClr val="FF0000"/>
                </a:solidFill>
              </a:rPr>
              <a:t>Les accès de colère peuvent faire partie du tableau clinique</a:t>
            </a:r>
            <a:endParaRPr/>
          </a:p>
          <a:p>
            <a:pPr indent="-455930" lvl="0" marL="468630" rtl="0" algn="l">
              <a:lnSpc>
                <a:spcPct val="100000"/>
              </a:lnSpc>
              <a:spcBef>
                <a:spcPts val="740"/>
              </a:spcBef>
              <a:spcAft>
                <a:spcPts val="0"/>
              </a:spcAft>
              <a:buClr>
                <a:srgbClr val="83992A"/>
              </a:buClr>
              <a:buSzPts val="3142"/>
              <a:buFont typeface="Garamond"/>
              <a:buAutoNum type="alphaUcPeriod"/>
            </a:pPr>
            <a:r>
              <a:rPr lang="fr-FR">
                <a:solidFill>
                  <a:srgbClr val="FF0000"/>
                </a:solidFill>
              </a:rPr>
              <a:t>Le temps de latence peut être asymptomatique</a:t>
            </a:r>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2" name="Shape 1472"/>
        <p:cNvGrpSpPr/>
        <p:nvPr/>
      </p:nvGrpSpPr>
      <p:grpSpPr>
        <a:xfrm>
          <a:off x="0" y="0"/>
          <a:ext cx="0" cy="0"/>
          <a:chOff x="0" y="0"/>
          <a:chExt cx="0" cy="0"/>
        </a:xfrm>
      </p:grpSpPr>
      <p:sp>
        <p:nvSpPr>
          <p:cNvPr id="1473" name="Google Shape;1473;p180"/>
          <p:cNvSpPr txBox="1"/>
          <p:nvPr>
            <p:ph type="title"/>
          </p:nvPr>
        </p:nvSpPr>
        <p:spPr>
          <a:xfrm>
            <a:off x="1298828" y="761365"/>
            <a:ext cx="9577705" cy="1671955"/>
          </a:xfrm>
          <a:prstGeom prst="rect">
            <a:avLst/>
          </a:prstGeom>
          <a:noFill/>
          <a:ln>
            <a:noFill/>
          </a:ln>
        </p:spPr>
        <p:txBody>
          <a:bodyPr anchorCtr="0" anchor="t" bIns="0" lIns="0" spcFirstLastPara="1" rIns="0" wrap="square" tIns="13325">
            <a:spAutoFit/>
          </a:bodyPr>
          <a:lstStyle/>
          <a:p>
            <a:pPr indent="0" lvl="0" marL="12700" marR="5080" rtl="0" algn="l">
              <a:lnSpc>
                <a:spcPct val="100000"/>
              </a:lnSpc>
              <a:spcBef>
                <a:spcPts val="0"/>
              </a:spcBef>
              <a:spcAft>
                <a:spcPts val="0"/>
              </a:spcAft>
              <a:buNone/>
            </a:pPr>
            <a:r>
              <a:rPr lang="fr-FR">
                <a:solidFill>
                  <a:srgbClr val="000000"/>
                </a:solidFill>
              </a:rPr>
              <a:t>La méthode habituellement utilisée pour prévenir l’installation d’un ESPT après un évènement t</a:t>
            </a:r>
            <a:r>
              <a:rPr lang="fr-FR" u="sng">
                <a:solidFill>
                  <a:srgbClr val="000000"/>
                </a:solidFill>
              </a:rPr>
              <a:t>raumatique est :	</a:t>
            </a:r>
            <a:endParaRPr/>
          </a:p>
        </p:txBody>
      </p:sp>
      <p:sp>
        <p:nvSpPr>
          <p:cNvPr id="1474" name="Google Shape;1474;p18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475" name="Google Shape;1475;p180"/>
          <p:cNvSpPr txBox="1"/>
          <p:nvPr/>
        </p:nvSpPr>
        <p:spPr>
          <a:xfrm>
            <a:off x="1152207" y="2645473"/>
            <a:ext cx="10068560" cy="2551981"/>
          </a:xfrm>
          <a:prstGeom prst="rect">
            <a:avLst/>
          </a:prstGeom>
          <a:noFill/>
          <a:ln>
            <a:noFill/>
          </a:ln>
        </p:spPr>
        <p:txBody>
          <a:bodyPr anchorCtr="0" anchor="t" bIns="0" lIns="0" spcFirstLastPara="1" rIns="0" wrap="square" tIns="0">
            <a:spAutoFit/>
          </a:bodyPr>
          <a:lstStyle/>
          <a:p>
            <a:pPr indent="-513715" lvl="0" marL="526415" rtl="0" algn="l">
              <a:lnSpc>
                <a:spcPct val="115454"/>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L’EMDR (désensibilisation et retraitement par les mouvements</a:t>
            </a:r>
            <a:endParaRPr sz="2750">
              <a:latin typeface="Garamond"/>
              <a:ea typeface="Garamond"/>
              <a:cs typeface="Garamond"/>
              <a:sym typeface="Garamond"/>
            </a:endParaRPr>
          </a:p>
          <a:p>
            <a:pPr indent="0" lvl="0" marL="527050" rtl="0" algn="l">
              <a:lnSpc>
                <a:spcPct val="107454"/>
              </a:lnSpc>
              <a:spcBef>
                <a:spcPts val="0"/>
              </a:spcBef>
              <a:spcAft>
                <a:spcPts val="0"/>
              </a:spcAft>
              <a:buNone/>
            </a:pPr>
            <a:r>
              <a:rPr b="1" lang="fr-FR" sz="2750">
                <a:solidFill>
                  <a:srgbClr val="252525"/>
                </a:solidFill>
                <a:latin typeface="Garamond"/>
                <a:ea typeface="Garamond"/>
                <a:cs typeface="Garamond"/>
                <a:sym typeface="Garamond"/>
              </a:rPr>
              <a:t>oculaires)</a:t>
            </a:r>
            <a:endParaRPr sz="2750">
              <a:latin typeface="Garamond"/>
              <a:ea typeface="Garamond"/>
              <a:cs typeface="Garamond"/>
              <a:sym typeface="Garamond"/>
            </a:endParaRPr>
          </a:p>
          <a:p>
            <a:pPr indent="-513715" lvl="0" marL="526415" rtl="0" algn="l">
              <a:lnSpc>
                <a:spcPct val="100000"/>
              </a:lnSpc>
              <a:spcBef>
                <a:spcPts val="229"/>
              </a:spcBef>
              <a:spcAft>
                <a:spcPts val="0"/>
              </a:spcAft>
              <a:buClr>
                <a:srgbClr val="83992A"/>
              </a:buClr>
              <a:buSzPts val="3200"/>
              <a:buFont typeface="Garamond"/>
              <a:buAutoNum type="alphaUcPeriod" startAt="2"/>
            </a:pPr>
            <a:r>
              <a:rPr b="1" lang="fr-FR" sz="2750">
                <a:solidFill>
                  <a:srgbClr val="FF0000"/>
                </a:solidFill>
                <a:latin typeface="Garamond"/>
                <a:ea typeface="Garamond"/>
                <a:cs typeface="Garamond"/>
                <a:sym typeface="Garamond"/>
              </a:rPr>
              <a:t>Le débriefing</a:t>
            </a:r>
            <a:endParaRPr sz="2750">
              <a:solidFill>
                <a:srgbClr val="FF0000"/>
              </a:solidFill>
              <a:latin typeface="Garamond"/>
              <a:ea typeface="Garamond"/>
              <a:cs typeface="Garamond"/>
              <a:sym typeface="Garamond"/>
            </a:endParaRPr>
          </a:p>
          <a:p>
            <a:pPr indent="-513715" lvl="0" marL="526415" rtl="0" algn="l">
              <a:lnSpc>
                <a:spcPct val="100000"/>
              </a:lnSpc>
              <a:spcBef>
                <a:spcPts val="65"/>
              </a:spcBef>
              <a:spcAft>
                <a:spcPts val="0"/>
              </a:spcAft>
              <a:buClr>
                <a:srgbClr val="83992A"/>
              </a:buClr>
              <a:buSzPts val="3200"/>
              <a:buFont typeface="Garamond"/>
              <a:buAutoNum type="alphaUcPeriod" startAt="2"/>
            </a:pPr>
            <a:r>
              <a:rPr b="1" lang="fr-FR" sz="2750">
                <a:solidFill>
                  <a:srgbClr val="252525"/>
                </a:solidFill>
                <a:latin typeface="Garamond"/>
                <a:ea typeface="Garamond"/>
                <a:cs typeface="Garamond"/>
                <a:sym typeface="Garamond"/>
              </a:rPr>
              <a:t>L’hypnose</a:t>
            </a:r>
            <a:endParaRPr sz="2750">
              <a:latin typeface="Garamond"/>
              <a:ea typeface="Garamond"/>
              <a:cs typeface="Garamond"/>
              <a:sym typeface="Garamond"/>
            </a:endParaRPr>
          </a:p>
          <a:p>
            <a:pPr indent="-513715" lvl="0" marL="526415" rtl="0" algn="l">
              <a:lnSpc>
                <a:spcPct val="100000"/>
              </a:lnSpc>
              <a:spcBef>
                <a:spcPts val="140"/>
              </a:spcBef>
              <a:spcAft>
                <a:spcPts val="0"/>
              </a:spcAft>
              <a:buClr>
                <a:srgbClr val="83992A"/>
              </a:buClr>
              <a:buSzPts val="3200"/>
              <a:buFont typeface="Garamond"/>
              <a:buAutoNum type="alphaUcPeriod" startAt="2"/>
            </a:pPr>
            <a:r>
              <a:rPr b="1" lang="fr-FR" sz="2750">
                <a:solidFill>
                  <a:srgbClr val="252525"/>
                </a:solidFill>
                <a:latin typeface="Garamond"/>
                <a:ea typeface="Garamond"/>
                <a:cs typeface="Garamond"/>
                <a:sym typeface="Garamond"/>
              </a:rPr>
              <a:t>La psychanalyse</a:t>
            </a:r>
            <a:endParaRPr sz="2750">
              <a:latin typeface="Garamond"/>
              <a:ea typeface="Garamond"/>
              <a:cs typeface="Garamond"/>
              <a:sym typeface="Garamond"/>
            </a:endParaRPr>
          </a:p>
          <a:p>
            <a:pPr indent="-513715" lvl="0" marL="526415" rtl="0" algn="l">
              <a:lnSpc>
                <a:spcPct val="100000"/>
              </a:lnSpc>
              <a:spcBef>
                <a:spcPts val="140"/>
              </a:spcBef>
              <a:spcAft>
                <a:spcPts val="0"/>
              </a:spcAft>
              <a:buClr>
                <a:srgbClr val="83992A"/>
              </a:buClr>
              <a:buSzPts val="3200"/>
              <a:buFont typeface="Garamond"/>
              <a:buAutoNum type="alphaUcPeriod" startAt="2"/>
            </a:pPr>
            <a:r>
              <a:rPr b="1" lang="fr-FR" sz="2750">
                <a:solidFill>
                  <a:srgbClr val="252525"/>
                </a:solidFill>
                <a:latin typeface="Garamond"/>
                <a:ea typeface="Garamond"/>
                <a:cs typeface="Garamond"/>
                <a:sym typeface="Garamond"/>
              </a:rPr>
              <a:t>Les thérapies interpersonnelles</a:t>
            </a:r>
            <a:endParaRPr sz="2750">
              <a:latin typeface="Garamond"/>
              <a:ea typeface="Garamond"/>
              <a:cs typeface="Garamond"/>
              <a:sym typeface="Garamond"/>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9" name="Shape 1479"/>
        <p:cNvGrpSpPr/>
        <p:nvPr/>
      </p:nvGrpSpPr>
      <p:grpSpPr>
        <a:xfrm>
          <a:off x="0" y="0"/>
          <a:ext cx="0" cy="0"/>
          <a:chOff x="0" y="0"/>
          <a:chExt cx="0" cy="0"/>
        </a:xfrm>
      </p:grpSpPr>
      <p:sp>
        <p:nvSpPr>
          <p:cNvPr id="1480" name="Google Shape;1480;p181"/>
          <p:cNvSpPr txBox="1"/>
          <p:nvPr>
            <p:ph type="title"/>
          </p:nvPr>
        </p:nvSpPr>
        <p:spPr>
          <a:xfrm>
            <a:off x="735012" y="892810"/>
            <a:ext cx="9199245" cy="57531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fr-FR"/>
              <a:t>Trouble stress post traumatique selon le DSM 5</a:t>
            </a:r>
            <a:endParaRPr/>
          </a:p>
        </p:txBody>
      </p:sp>
      <p:sp>
        <p:nvSpPr>
          <p:cNvPr id="1481" name="Google Shape;1481;p18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482" name="Google Shape;1482;p181"/>
          <p:cNvSpPr txBox="1"/>
          <p:nvPr/>
        </p:nvSpPr>
        <p:spPr>
          <a:xfrm>
            <a:off x="832167" y="1586547"/>
            <a:ext cx="10633075" cy="4537710"/>
          </a:xfrm>
          <a:prstGeom prst="rect">
            <a:avLst/>
          </a:prstGeom>
          <a:noFill/>
          <a:ln>
            <a:noFill/>
          </a:ln>
        </p:spPr>
        <p:txBody>
          <a:bodyPr anchorCtr="0" anchor="t" bIns="0" lIns="0" spcFirstLastPara="1" rIns="0" wrap="square" tIns="12050">
            <a:spAutoFit/>
          </a:bodyPr>
          <a:lstStyle/>
          <a:p>
            <a:pPr indent="0" lvl="0" marL="12700" marR="5080" rtl="0" algn="l">
              <a:lnSpc>
                <a:spcPct val="133900"/>
              </a:lnSpc>
              <a:spcBef>
                <a:spcPts val="0"/>
              </a:spcBef>
              <a:spcAft>
                <a:spcPts val="0"/>
              </a:spcAft>
              <a:buNone/>
            </a:pPr>
            <a:r>
              <a:rPr lang="fr-FR" sz="2150">
                <a:solidFill>
                  <a:srgbClr val="252525"/>
                </a:solidFill>
                <a:latin typeface="Garamond"/>
                <a:ea typeface="Garamond"/>
                <a:cs typeface="Garamond"/>
                <a:sym typeface="Garamond"/>
              </a:rPr>
              <a:t>le sujet a été </a:t>
            </a:r>
            <a:r>
              <a:rPr b="1" lang="fr-FR" sz="2150">
                <a:solidFill>
                  <a:srgbClr val="C00000"/>
                </a:solidFill>
                <a:latin typeface="Garamond"/>
                <a:ea typeface="Garamond"/>
                <a:cs typeface="Garamond"/>
                <a:sym typeface="Garamond"/>
              </a:rPr>
              <a:t>confronté à la mort ou à une menace de mort, à une blessure grave ou à des violences sexuelles d’une ou plusieurs façons suivantes :</a:t>
            </a:r>
            <a:endParaRPr sz="2150">
              <a:latin typeface="Garamond"/>
              <a:ea typeface="Garamond"/>
              <a:cs typeface="Garamond"/>
              <a:sym typeface="Garamond"/>
            </a:endParaRPr>
          </a:p>
          <a:p>
            <a:pPr indent="-253365" lvl="0" marL="266065" rtl="0" algn="just">
              <a:lnSpc>
                <a:spcPct val="100000"/>
              </a:lnSpc>
              <a:spcBef>
                <a:spcPts val="2000"/>
              </a:spcBef>
              <a:spcAft>
                <a:spcPts val="0"/>
              </a:spcAft>
              <a:buClr>
                <a:srgbClr val="C00000"/>
              </a:buClr>
              <a:buSzPts val="2150"/>
              <a:buFont typeface="Garamond"/>
              <a:buAutoNum type="arabicPeriod"/>
            </a:pPr>
            <a:r>
              <a:rPr b="1" lang="fr-FR" sz="2150">
                <a:latin typeface="Garamond"/>
                <a:ea typeface="Garamond"/>
                <a:cs typeface="Garamond"/>
                <a:sym typeface="Garamond"/>
              </a:rPr>
              <a:t>en étant </a:t>
            </a:r>
            <a:r>
              <a:rPr b="1" lang="fr-FR" sz="2150">
                <a:solidFill>
                  <a:srgbClr val="00AF50"/>
                </a:solidFill>
                <a:latin typeface="Garamond"/>
                <a:ea typeface="Garamond"/>
                <a:cs typeface="Garamond"/>
                <a:sym typeface="Garamond"/>
              </a:rPr>
              <a:t>directement exposé </a:t>
            </a:r>
            <a:r>
              <a:rPr b="1" lang="fr-FR" sz="2150">
                <a:latin typeface="Garamond"/>
                <a:ea typeface="Garamond"/>
                <a:cs typeface="Garamond"/>
                <a:sym typeface="Garamond"/>
              </a:rPr>
              <a:t>à un ou plusieurs événements traumatisants ;</a:t>
            </a:r>
            <a:endParaRPr sz="2150">
              <a:latin typeface="Garamond"/>
              <a:ea typeface="Garamond"/>
              <a:cs typeface="Garamond"/>
              <a:sym typeface="Garamond"/>
            </a:endParaRPr>
          </a:p>
          <a:p>
            <a:pPr indent="-273685" lvl="0" marL="286385" rtl="0" algn="just">
              <a:lnSpc>
                <a:spcPct val="100000"/>
              </a:lnSpc>
              <a:spcBef>
                <a:spcPts val="2000"/>
              </a:spcBef>
              <a:spcAft>
                <a:spcPts val="0"/>
              </a:spcAft>
              <a:buSzPts val="2150"/>
              <a:buFont typeface="Garamond"/>
              <a:buAutoNum type="arabicPeriod"/>
            </a:pPr>
            <a:r>
              <a:rPr b="1" lang="fr-FR" sz="2150">
                <a:latin typeface="Garamond"/>
                <a:ea typeface="Garamond"/>
                <a:cs typeface="Garamond"/>
                <a:sym typeface="Garamond"/>
              </a:rPr>
              <a:t>en étant </a:t>
            </a:r>
            <a:r>
              <a:rPr b="1" lang="fr-FR" sz="2150">
                <a:solidFill>
                  <a:srgbClr val="00AF50"/>
                </a:solidFill>
                <a:latin typeface="Garamond"/>
                <a:ea typeface="Garamond"/>
                <a:cs typeface="Garamond"/>
                <a:sym typeface="Garamond"/>
              </a:rPr>
              <a:t>témoin direct </a:t>
            </a:r>
            <a:r>
              <a:rPr b="1" lang="fr-FR" sz="2150">
                <a:latin typeface="Garamond"/>
                <a:ea typeface="Garamond"/>
                <a:cs typeface="Garamond"/>
                <a:sym typeface="Garamond"/>
              </a:rPr>
              <a:t>d’un ou plusieurs événements traumatisants ;</a:t>
            </a:r>
            <a:endParaRPr sz="2150">
              <a:latin typeface="Garamond"/>
              <a:ea typeface="Garamond"/>
              <a:cs typeface="Garamond"/>
              <a:sym typeface="Garamond"/>
            </a:endParaRPr>
          </a:p>
          <a:p>
            <a:pPr indent="-295910" lvl="0" marL="308610" marR="8255" rtl="0" algn="just">
              <a:lnSpc>
                <a:spcPct val="133900"/>
              </a:lnSpc>
              <a:spcBef>
                <a:spcPts val="1055"/>
              </a:spcBef>
              <a:spcAft>
                <a:spcPts val="0"/>
              </a:spcAft>
              <a:buSzPts val="2150"/>
              <a:buFont typeface="Garamond"/>
              <a:buAutoNum type="arabicPeriod"/>
            </a:pPr>
            <a:r>
              <a:rPr b="1" lang="fr-FR" sz="2150">
                <a:latin typeface="Garamond"/>
                <a:ea typeface="Garamond"/>
                <a:cs typeface="Garamond"/>
                <a:sym typeface="Garamond"/>
              </a:rPr>
              <a:t>en apprenant qu’un ou plusieurs </a:t>
            </a:r>
            <a:r>
              <a:rPr b="1" lang="fr-FR" sz="2150">
                <a:solidFill>
                  <a:srgbClr val="00AF50"/>
                </a:solidFill>
                <a:latin typeface="Garamond"/>
                <a:ea typeface="Garamond"/>
                <a:cs typeface="Garamond"/>
                <a:sym typeface="Garamond"/>
              </a:rPr>
              <a:t>événements traumatisants sont arrivés à un membre de sa famille proche ou un ami proche</a:t>
            </a:r>
            <a:r>
              <a:rPr b="1" lang="fr-FR" sz="2150">
                <a:latin typeface="Garamond"/>
                <a:ea typeface="Garamond"/>
                <a:cs typeface="Garamond"/>
                <a:sym typeface="Garamond"/>
              </a:rPr>
              <a:t>. Dans les cas de la mort ou de la menace de mort d’un membre de la famille ou d’un ami, l’événement doit avoir été violent ou accidentel ;</a:t>
            </a:r>
            <a:endParaRPr sz="2150">
              <a:latin typeface="Garamond"/>
              <a:ea typeface="Garamond"/>
              <a:cs typeface="Garamond"/>
              <a:sym typeface="Garamond"/>
            </a:endParaRPr>
          </a:p>
          <a:p>
            <a:pPr indent="-285115" lvl="0" marL="297815" marR="5080" rtl="0" algn="just">
              <a:lnSpc>
                <a:spcPct val="133900"/>
              </a:lnSpc>
              <a:spcBef>
                <a:spcPts val="1125"/>
              </a:spcBef>
              <a:spcAft>
                <a:spcPts val="0"/>
              </a:spcAft>
              <a:buSzPts val="2150"/>
              <a:buFont typeface="Garamond"/>
              <a:buAutoNum type="arabicPeriod"/>
            </a:pPr>
            <a:r>
              <a:rPr b="1" lang="fr-FR" sz="2150">
                <a:latin typeface="Garamond"/>
                <a:ea typeface="Garamond"/>
                <a:cs typeface="Garamond"/>
                <a:sym typeface="Garamond"/>
              </a:rPr>
              <a:t>en étant </a:t>
            </a:r>
            <a:r>
              <a:rPr b="1" lang="fr-FR" sz="2150">
                <a:solidFill>
                  <a:srgbClr val="00AF50"/>
                </a:solidFill>
                <a:latin typeface="Garamond"/>
                <a:ea typeface="Garamond"/>
                <a:cs typeface="Garamond"/>
                <a:sym typeface="Garamond"/>
              </a:rPr>
              <a:t>exposé de manière répétée ou extrême </a:t>
            </a:r>
            <a:r>
              <a:rPr b="1" lang="fr-FR" sz="2150">
                <a:latin typeface="Garamond"/>
                <a:ea typeface="Garamond"/>
                <a:cs typeface="Garamond"/>
                <a:sym typeface="Garamond"/>
              </a:rPr>
              <a:t>à des détails horribles d’un événement traumatisant</a:t>
            </a:r>
            <a:endParaRPr sz="2150">
              <a:latin typeface="Garamond"/>
              <a:ea typeface="Garamond"/>
              <a:cs typeface="Garamond"/>
              <a:sym typeface="Garamond"/>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6" name="Shape 1486"/>
        <p:cNvGrpSpPr/>
        <p:nvPr/>
      </p:nvGrpSpPr>
      <p:grpSpPr>
        <a:xfrm>
          <a:off x="0" y="0"/>
          <a:ext cx="0" cy="0"/>
          <a:chOff x="0" y="0"/>
          <a:chExt cx="0" cy="0"/>
        </a:xfrm>
      </p:grpSpPr>
      <p:sp>
        <p:nvSpPr>
          <p:cNvPr id="1487" name="Google Shape;1487;p182"/>
          <p:cNvSpPr txBox="1"/>
          <p:nvPr>
            <p:ph type="title"/>
          </p:nvPr>
        </p:nvSpPr>
        <p:spPr>
          <a:xfrm>
            <a:off x="805815" y="605155"/>
            <a:ext cx="10503535" cy="955040"/>
          </a:xfrm>
          <a:prstGeom prst="rect">
            <a:avLst/>
          </a:prstGeom>
          <a:noFill/>
          <a:ln>
            <a:noFill/>
          </a:ln>
        </p:spPr>
        <p:txBody>
          <a:bodyPr anchorCtr="0" anchor="t" bIns="0" lIns="0" spcFirstLastPara="1" rIns="0" wrap="square" tIns="57775">
            <a:spAutoFit/>
          </a:bodyPr>
          <a:lstStyle/>
          <a:p>
            <a:pPr indent="0" lvl="0" marL="12700" marR="5080" rtl="0" algn="l">
              <a:lnSpc>
                <a:spcPct val="110281"/>
              </a:lnSpc>
              <a:spcBef>
                <a:spcPts val="0"/>
              </a:spcBef>
              <a:spcAft>
                <a:spcPts val="0"/>
              </a:spcAft>
              <a:buNone/>
            </a:pPr>
            <a:r>
              <a:rPr lang="fr-FR" sz="3200">
                <a:solidFill>
                  <a:srgbClr val="006FC0"/>
                </a:solidFill>
              </a:rPr>
              <a:t>B. </a:t>
            </a:r>
            <a:r>
              <a:rPr b="0" lang="fr-FR" sz="2750">
                <a:solidFill>
                  <a:srgbClr val="000000"/>
                </a:solidFill>
                <a:latin typeface="Garamond"/>
                <a:ea typeface="Garamond"/>
                <a:cs typeface="Garamond"/>
                <a:sym typeface="Garamond"/>
              </a:rPr>
              <a:t>Présence d’un ou plusieurs symptômes d’intrusion suivants associés à un ou plusieurs événements traumatisants (ET):</a:t>
            </a:r>
            <a:endParaRPr sz="2750">
              <a:latin typeface="Garamond"/>
              <a:ea typeface="Garamond"/>
              <a:cs typeface="Garamond"/>
              <a:sym typeface="Garamond"/>
            </a:endParaRPr>
          </a:p>
        </p:txBody>
      </p:sp>
      <p:sp>
        <p:nvSpPr>
          <p:cNvPr id="1488" name="Google Shape;1488;p18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489" name="Google Shape;1489;p182"/>
          <p:cNvSpPr txBox="1"/>
          <p:nvPr/>
        </p:nvSpPr>
        <p:spPr>
          <a:xfrm>
            <a:off x="805815" y="1530349"/>
            <a:ext cx="10516870" cy="4302760"/>
          </a:xfrm>
          <a:prstGeom prst="rect">
            <a:avLst/>
          </a:prstGeom>
          <a:noFill/>
          <a:ln>
            <a:noFill/>
          </a:ln>
        </p:spPr>
        <p:txBody>
          <a:bodyPr anchorCtr="0" anchor="t" bIns="0" lIns="0" spcFirstLastPara="1" rIns="0" wrap="square" tIns="16500">
            <a:spAutoFit/>
          </a:bodyPr>
          <a:lstStyle/>
          <a:p>
            <a:pPr indent="-457200" lvl="0" marL="469900" rtl="0" algn="l">
              <a:lnSpc>
                <a:spcPct val="100000"/>
              </a:lnSpc>
              <a:spcBef>
                <a:spcPts val="0"/>
              </a:spcBef>
              <a:spcAft>
                <a:spcPts val="0"/>
              </a:spcAft>
              <a:buSzPts val="2750"/>
              <a:buFont typeface="Garamond"/>
              <a:buAutoNum type="arabicPeriod"/>
            </a:pPr>
            <a:r>
              <a:rPr b="1" lang="fr-FR" sz="2750">
                <a:latin typeface="Garamond"/>
                <a:ea typeface="Garamond"/>
                <a:cs typeface="Garamond"/>
                <a:sym typeface="Garamond"/>
              </a:rPr>
              <a:t>Souvenirs répétitifs</a:t>
            </a:r>
            <a:r>
              <a:rPr lang="fr-FR" sz="2750">
                <a:latin typeface="Garamond"/>
                <a:ea typeface="Garamond"/>
                <a:cs typeface="Garamond"/>
                <a:sym typeface="Garamond"/>
              </a:rPr>
              <a:t>, involontaires et envahissants du ou des ET.</a:t>
            </a:r>
            <a:endParaRPr sz="2750">
              <a:latin typeface="Garamond"/>
              <a:ea typeface="Garamond"/>
              <a:cs typeface="Garamond"/>
              <a:sym typeface="Garamond"/>
            </a:endParaRPr>
          </a:p>
          <a:p>
            <a:pPr indent="-457833" lvl="0" marL="469900" marR="10160" rtl="0" algn="l">
              <a:lnSpc>
                <a:spcPct val="102400"/>
              </a:lnSpc>
              <a:spcBef>
                <a:spcPts val="0"/>
              </a:spcBef>
              <a:spcAft>
                <a:spcPts val="0"/>
              </a:spcAft>
              <a:buSzPts val="2750"/>
              <a:buFont typeface="Garamond"/>
              <a:buAutoNum type="arabicPeriod"/>
            </a:pPr>
            <a:r>
              <a:rPr b="1" lang="fr-FR" sz="2750">
                <a:latin typeface="Garamond"/>
                <a:ea typeface="Garamond"/>
                <a:cs typeface="Garamond"/>
                <a:sym typeface="Garamond"/>
              </a:rPr>
              <a:t>Rêves	récurrents	</a:t>
            </a:r>
            <a:r>
              <a:rPr lang="fr-FR" sz="2750">
                <a:latin typeface="Garamond"/>
                <a:ea typeface="Garamond"/>
                <a:cs typeface="Garamond"/>
                <a:sym typeface="Garamond"/>
              </a:rPr>
              <a:t>dont	le	contenu	ou	les	émotions,	ou	les	deux,	sont liés à l’événement et qui provoquent un sentiment de détresse.</a:t>
            </a:r>
            <a:endParaRPr sz="2750">
              <a:latin typeface="Garamond"/>
              <a:ea typeface="Garamond"/>
              <a:cs typeface="Garamond"/>
              <a:sym typeface="Garamond"/>
            </a:endParaRPr>
          </a:p>
          <a:p>
            <a:pPr indent="-457200" lvl="0" marL="469900" rtl="0" algn="l">
              <a:lnSpc>
                <a:spcPct val="100000"/>
              </a:lnSpc>
              <a:spcBef>
                <a:spcPts val="80"/>
              </a:spcBef>
              <a:spcAft>
                <a:spcPts val="0"/>
              </a:spcAft>
              <a:buSzPts val="2750"/>
              <a:buFont typeface="Garamond"/>
              <a:buAutoNum type="arabicPeriod"/>
            </a:pPr>
            <a:r>
              <a:rPr b="1" lang="fr-FR" sz="2750">
                <a:latin typeface="Garamond"/>
                <a:ea typeface="Garamond"/>
                <a:cs typeface="Garamond"/>
                <a:sym typeface="Garamond"/>
              </a:rPr>
              <a:t>Réactions dissociatives </a:t>
            </a:r>
            <a:r>
              <a:rPr lang="fr-FR" sz="2750">
                <a:latin typeface="Garamond"/>
                <a:ea typeface="Garamond"/>
                <a:cs typeface="Garamond"/>
                <a:sym typeface="Garamond"/>
              </a:rPr>
              <a:t>(p. ex. rappels d’images, flashbacks)</a:t>
            </a:r>
            <a:endParaRPr sz="2750">
              <a:latin typeface="Garamond"/>
              <a:ea typeface="Garamond"/>
              <a:cs typeface="Garamond"/>
              <a:sym typeface="Garamond"/>
            </a:endParaRPr>
          </a:p>
          <a:p>
            <a:pPr indent="-455929" lvl="0" marL="467994" marR="5080" rtl="0" algn="just">
              <a:lnSpc>
                <a:spcPct val="101200"/>
              </a:lnSpc>
              <a:spcBef>
                <a:spcPts val="40"/>
              </a:spcBef>
              <a:spcAft>
                <a:spcPts val="0"/>
              </a:spcAft>
              <a:buSzPts val="2750"/>
              <a:buFont typeface="Garamond"/>
              <a:buAutoNum type="arabicPeriod"/>
            </a:pPr>
            <a:r>
              <a:rPr b="1" lang="fr-FR" sz="2750">
                <a:latin typeface="Garamond"/>
                <a:ea typeface="Garamond"/>
                <a:cs typeface="Garamond"/>
                <a:sym typeface="Garamond"/>
              </a:rPr>
              <a:t>Sentiment  intense  ou  prolongé  de  détresse  psychique  lors  de 	l’exposition </a:t>
            </a:r>
            <a:r>
              <a:rPr lang="fr-FR" sz="2750">
                <a:latin typeface="Garamond"/>
                <a:ea typeface="Garamond"/>
                <a:cs typeface="Garamond"/>
                <a:sym typeface="Garamond"/>
              </a:rPr>
              <a:t>à des indices internes ou externes évoquant ou ressemblant 	à un aspect de l’ET;</a:t>
            </a:r>
            <a:endParaRPr sz="2750">
              <a:latin typeface="Garamond"/>
              <a:ea typeface="Garamond"/>
              <a:cs typeface="Garamond"/>
              <a:sym typeface="Garamond"/>
            </a:endParaRPr>
          </a:p>
          <a:p>
            <a:pPr indent="-456565" lvl="0" marL="468630" marR="11430" rtl="0" algn="just">
              <a:lnSpc>
                <a:spcPct val="102400"/>
              </a:lnSpc>
              <a:spcBef>
                <a:spcPts val="0"/>
              </a:spcBef>
              <a:spcAft>
                <a:spcPts val="0"/>
              </a:spcAft>
              <a:buSzPts val="2750"/>
              <a:buFont typeface="Garamond"/>
              <a:buAutoNum type="arabicPeriod"/>
            </a:pPr>
            <a:r>
              <a:rPr b="1" lang="fr-FR" sz="2750">
                <a:latin typeface="Garamond"/>
                <a:ea typeface="Garamond"/>
                <a:cs typeface="Garamond"/>
                <a:sym typeface="Garamond"/>
              </a:rPr>
              <a:t>Réactions  physiologiques  marquées  lors  de  l’exposition  </a:t>
            </a:r>
            <a:r>
              <a:rPr lang="fr-FR" sz="2750">
                <a:latin typeface="Garamond"/>
                <a:ea typeface="Garamond"/>
                <a:cs typeface="Garamond"/>
                <a:sym typeface="Garamond"/>
              </a:rPr>
              <a:t>à  des 	indices internes ou externes pouvant évoquer ou ressembler à un aspect 	du ou des ET</a:t>
            </a:r>
            <a:endParaRPr sz="2750">
              <a:latin typeface="Garamond"/>
              <a:ea typeface="Garamond"/>
              <a:cs typeface="Garamond"/>
              <a:sym typeface="Garamond"/>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3" name="Shape 1493"/>
        <p:cNvGrpSpPr/>
        <p:nvPr/>
      </p:nvGrpSpPr>
      <p:grpSpPr>
        <a:xfrm>
          <a:off x="0" y="0"/>
          <a:ext cx="0" cy="0"/>
          <a:chOff x="0" y="0"/>
          <a:chExt cx="0" cy="0"/>
        </a:xfrm>
      </p:grpSpPr>
      <p:sp>
        <p:nvSpPr>
          <p:cNvPr id="1494" name="Google Shape;1494;p183"/>
          <p:cNvSpPr txBox="1"/>
          <p:nvPr/>
        </p:nvSpPr>
        <p:spPr>
          <a:xfrm>
            <a:off x="755650" y="709612"/>
            <a:ext cx="10703560" cy="4785360"/>
          </a:xfrm>
          <a:prstGeom prst="rect">
            <a:avLst/>
          </a:prstGeom>
          <a:noFill/>
          <a:ln>
            <a:noFill/>
          </a:ln>
        </p:spPr>
        <p:txBody>
          <a:bodyPr anchorCtr="0" anchor="t" bIns="0" lIns="0" spcFirstLastPara="1" rIns="0" wrap="square" tIns="15875">
            <a:spAutoFit/>
          </a:bodyPr>
          <a:lstStyle/>
          <a:p>
            <a:pPr indent="0" lvl="0" marL="12700" rtl="0" algn="l">
              <a:lnSpc>
                <a:spcPct val="119230"/>
              </a:lnSpc>
              <a:spcBef>
                <a:spcPts val="0"/>
              </a:spcBef>
              <a:spcAft>
                <a:spcPts val="0"/>
              </a:spcAft>
              <a:buNone/>
            </a:pPr>
            <a:r>
              <a:rPr b="1" lang="fr-FR" sz="2600">
                <a:solidFill>
                  <a:srgbClr val="006FC0"/>
                </a:solidFill>
                <a:latin typeface="Garamond"/>
                <a:ea typeface="Garamond"/>
                <a:cs typeface="Garamond"/>
                <a:sym typeface="Garamond"/>
              </a:rPr>
              <a:t>C : Évitement persistant des stimuli </a:t>
            </a:r>
            <a:r>
              <a:rPr lang="fr-FR" sz="2600">
                <a:latin typeface="Garamond"/>
                <a:ea typeface="Garamond"/>
                <a:cs typeface="Garamond"/>
                <a:sym typeface="Garamond"/>
              </a:rPr>
              <a:t>associés à un ou plusieurs ET</a:t>
            </a:r>
            <a:endParaRPr sz="2600">
              <a:latin typeface="Garamond"/>
              <a:ea typeface="Garamond"/>
              <a:cs typeface="Garamond"/>
              <a:sym typeface="Garamond"/>
            </a:endParaRPr>
          </a:p>
          <a:p>
            <a:pPr indent="0" lvl="0" marL="12700" rtl="0" algn="l">
              <a:lnSpc>
                <a:spcPct val="119230"/>
              </a:lnSpc>
              <a:spcBef>
                <a:spcPts val="0"/>
              </a:spcBef>
              <a:spcAft>
                <a:spcPts val="0"/>
              </a:spcAft>
              <a:buNone/>
            </a:pPr>
            <a:r>
              <a:rPr b="1" lang="fr-FR" sz="2600">
                <a:solidFill>
                  <a:srgbClr val="006FC0"/>
                </a:solidFill>
                <a:latin typeface="Garamond"/>
                <a:ea typeface="Garamond"/>
                <a:cs typeface="Garamond"/>
                <a:sym typeface="Garamond"/>
              </a:rPr>
              <a:t>D : Altérations des cognitions et de l’humeur </a:t>
            </a:r>
            <a:r>
              <a:rPr lang="fr-FR" sz="2600">
                <a:latin typeface="Garamond"/>
                <a:ea typeface="Garamond"/>
                <a:cs typeface="Garamond"/>
                <a:sym typeface="Garamond"/>
              </a:rPr>
              <a:t>associées à un ou plusieurs ET:</a:t>
            </a:r>
            <a:endParaRPr sz="2600">
              <a:latin typeface="Garamond"/>
              <a:ea typeface="Garamond"/>
              <a:cs typeface="Garamond"/>
              <a:sym typeface="Garamond"/>
            </a:endParaRPr>
          </a:p>
          <a:p>
            <a:pPr indent="-457200" lvl="0" marL="469900" rtl="0" algn="l">
              <a:lnSpc>
                <a:spcPct val="100000"/>
              </a:lnSpc>
              <a:spcBef>
                <a:spcPts val="35"/>
              </a:spcBef>
              <a:spcAft>
                <a:spcPts val="0"/>
              </a:spcAft>
              <a:buSzPts val="2600"/>
              <a:buFont typeface="Garamond"/>
              <a:buAutoNum type="arabicPeriod"/>
            </a:pPr>
            <a:r>
              <a:rPr lang="fr-FR" sz="2600">
                <a:latin typeface="Garamond"/>
                <a:ea typeface="Garamond"/>
                <a:cs typeface="Garamond"/>
                <a:sym typeface="Garamond"/>
              </a:rPr>
              <a:t>Incapacité de se souvenir d’éléments importants du ou des ET</a:t>
            </a:r>
            <a:endParaRPr sz="2600">
              <a:latin typeface="Garamond"/>
              <a:ea typeface="Garamond"/>
              <a:cs typeface="Garamond"/>
              <a:sym typeface="Garamond"/>
            </a:endParaRPr>
          </a:p>
          <a:p>
            <a:pPr indent="-457833" lvl="0" marL="469900" marR="14604" rtl="0" algn="l">
              <a:lnSpc>
                <a:spcPct val="118461"/>
              </a:lnSpc>
              <a:spcBef>
                <a:spcPts val="170"/>
              </a:spcBef>
              <a:spcAft>
                <a:spcPts val="0"/>
              </a:spcAft>
              <a:buSzPts val="2600"/>
              <a:buFont typeface="Garamond"/>
              <a:buAutoNum type="arabicPeriod"/>
            </a:pPr>
            <a:r>
              <a:rPr lang="fr-FR" sz="2600">
                <a:latin typeface="Garamond"/>
                <a:ea typeface="Garamond"/>
                <a:cs typeface="Garamond"/>
                <a:sym typeface="Garamond"/>
              </a:rPr>
              <a:t>Croyances	ou	attentes	négatives,	persistantes	et	exagérées	à	propos	de	soi même, d’autrui ou du monde, (p. ex., « Je suis une mauvaise personne »)</a:t>
            </a:r>
            <a:endParaRPr sz="2600">
              <a:latin typeface="Garamond"/>
              <a:ea typeface="Garamond"/>
              <a:cs typeface="Garamond"/>
              <a:sym typeface="Garamond"/>
            </a:endParaRPr>
          </a:p>
          <a:p>
            <a:pPr indent="-457200" lvl="0" marL="469900" rtl="0" algn="l">
              <a:lnSpc>
                <a:spcPct val="116730"/>
              </a:lnSpc>
              <a:spcBef>
                <a:spcPts val="0"/>
              </a:spcBef>
              <a:spcAft>
                <a:spcPts val="0"/>
              </a:spcAft>
              <a:buSzPts val="2600"/>
              <a:buFont typeface="Garamond"/>
              <a:buAutoNum type="arabicPeriod"/>
            </a:pPr>
            <a:r>
              <a:rPr lang="fr-FR" sz="2600">
                <a:latin typeface="Garamond"/>
                <a:ea typeface="Garamond"/>
                <a:cs typeface="Garamond"/>
                <a:sym typeface="Garamond"/>
              </a:rPr>
              <a:t>Idées déformées persistantes concernant la cause ou les conséquences de l’ET</a:t>
            </a:r>
            <a:endParaRPr sz="2600">
              <a:latin typeface="Garamond"/>
              <a:ea typeface="Garamond"/>
              <a:cs typeface="Garamond"/>
              <a:sym typeface="Garamond"/>
            </a:endParaRPr>
          </a:p>
          <a:p>
            <a:pPr indent="0" lvl="0" marL="469900" rtl="0" algn="l">
              <a:lnSpc>
                <a:spcPct val="119230"/>
              </a:lnSpc>
              <a:spcBef>
                <a:spcPts val="0"/>
              </a:spcBef>
              <a:spcAft>
                <a:spcPts val="0"/>
              </a:spcAft>
              <a:buNone/>
            </a:pPr>
            <a:r>
              <a:rPr lang="fr-FR" sz="2600">
                <a:latin typeface="Garamond"/>
                <a:ea typeface="Garamond"/>
                <a:cs typeface="Garamond"/>
                <a:sym typeface="Garamond"/>
              </a:rPr>
              <a:t>qui poussent la personne à se blâmer ou à blâmer autrui ;</a:t>
            </a:r>
            <a:endParaRPr sz="2600">
              <a:latin typeface="Garamond"/>
              <a:ea typeface="Garamond"/>
              <a:cs typeface="Garamond"/>
              <a:sym typeface="Garamond"/>
            </a:endParaRPr>
          </a:p>
          <a:p>
            <a:pPr indent="-457833" lvl="0" marL="469900" marR="5080" rtl="0" algn="l">
              <a:lnSpc>
                <a:spcPct val="101099"/>
              </a:lnSpc>
              <a:spcBef>
                <a:spcPts val="0"/>
              </a:spcBef>
              <a:spcAft>
                <a:spcPts val="0"/>
              </a:spcAft>
              <a:buSzPts val="2600"/>
              <a:buFont typeface="Garamond"/>
              <a:buAutoNum type="arabicPeriod" startAt="4"/>
            </a:pPr>
            <a:r>
              <a:rPr lang="fr-FR" sz="2600">
                <a:latin typeface="Garamond"/>
                <a:ea typeface="Garamond"/>
                <a:cs typeface="Garamond"/>
                <a:sym typeface="Garamond"/>
              </a:rPr>
              <a:t>État émotionnel négatif	persistant (p. ex. peur, horreur, colère, culpabilité, ou honte) ;</a:t>
            </a:r>
            <a:endParaRPr sz="2600">
              <a:latin typeface="Garamond"/>
              <a:ea typeface="Garamond"/>
              <a:cs typeface="Garamond"/>
              <a:sym typeface="Garamond"/>
            </a:endParaRPr>
          </a:p>
          <a:p>
            <a:pPr indent="-457200" lvl="0" marL="469900" rtl="0" algn="l">
              <a:lnSpc>
                <a:spcPct val="118461"/>
              </a:lnSpc>
              <a:spcBef>
                <a:spcPts val="0"/>
              </a:spcBef>
              <a:spcAft>
                <a:spcPts val="0"/>
              </a:spcAft>
              <a:buSzPts val="2600"/>
              <a:buFont typeface="Garamond"/>
              <a:buAutoNum type="arabicPeriod" startAt="4"/>
            </a:pPr>
            <a:r>
              <a:rPr lang="fr-FR" sz="2600">
                <a:latin typeface="Garamond"/>
                <a:ea typeface="Garamond"/>
                <a:cs typeface="Garamond"/>
                <a:sym typeface="Garamond"/>
              </a:rPr>
              <a:t>Réduction nette de l’intérêt pour des activités importantes</a:t>
            </a:r>
            <a:endParaRPr sz="2600">
              <a:latin typeface="Garamond"/>
              <a:ea typeface="Garamond"/>
              <a:cs typeface="Garamond"/>
              <a:sym typeface="Garamond"/>
            </a:endParaRPr>
          </a:p>
          <a:p>
            <a:pPr indent="-457200" lvl="0" marL="469900" rtl="0" algn="l">
              <a:lnSpc>
                <a:spcPct val="119230"/>
              </a:lnSpc>
              <a:spcBef>
                <a:spcPts val="35"/>
              </a:spcBef>
              <a:spcAft>
                <a:spcPts val="0"/>
              </a:spcAft>
              <a:buSzPts val="2600"/>
              <a:buFont typeface="Garamond"/>
              <a:buAutoNum type="arabicPeriod" startAt="4"/>
            </a:pPr>
            <a:r>
              <a:rPr lang="fr-FR" sz="2600">
                <a:latin typeface="Garamond"/>
                <a:ea typeface="Garamond"/>
                <a:cs typeface="Garamond"/>
                <a:sym typeface="Garamond"/>
              </a:rPr>
              <a:t>Sentiments de détachement ou de devenir étranger par rapport aux autres ;</a:t>
            </a:r>
            <a:endParaRPr sz="2600">
              <a:latin typeface="Garamond"/>
              <a:ea typeface="Garamond"/>
              <a:cs typeface="Garamond"/>
              <a:sym typeface="Garamond"/>
            </a:endParaRPr>
          </a:p>
          <a:p>
            <a:pPr indent="-457200" lvl="0" marL="469900" rtl="0" algn="l">
              <a:lnSpc>
                <a:spcPct val="119230"/>
              </a:lnSpc>
              <a:spcBef>
                <a:spcPts val="0"/>
              </a:spcBef>
              <a:spcAft>
                <a:spcPts val="0"/>
              </a:spcAft>
              <a:buSzPts val="2600"/>
              <a:buFont typeface="Garamond"/>
              <a:buAutoNum type="arabicPeriod" startAt="4"/>
            </a:pPr>
            <a:r>
              <a:rPr lang="fr-FR" sz="2600">
                <a:latin typeface="Garamond"/>
                <a:ea typeface="Garamond"/>
                <a:cs typeface="Garamond"/>
                <a:sym typeface="Garamond"/>
              </a:rPr>
              <a:t>Incapacité	persistante	de	ressentir	des	émotions	positives	(p.	ex.	incapacité</a:t>
            </a:r>
            <a:endParaRPr sz="2600">
              <a:latin typeface="Garamond"/>
              <a:ea typeface="Garamond"/>
              <a:cs typeface="Garamond"/>
              <a:sym typeface="Garamond"/>
            </a:endParaRPr>
          </a:p>
        </p:txBody>
      </p:sp>
      <p:sp>
        <p:nvSpPr>
          <p:cNvPr id="1495" name="Google Shape;1495;p183"/>
          <p:cNvSpPr txBox="1"/>
          <p:nvPr/>
        </p:nvSpPr>
        <p:spPr>
          <a:xfrm>
            <a:off x="1213167" y="5515365"/>
            <a:ext cx="8939530" cy="401320"/>
          </a:xfrm>
          <a:prstGeom prst="rect">
            <a:avLst/>
          </a:prstGeom>
          <a:noFill/>
          <a:ln>
            <a:noFill/>
          </a:ln>
        </p:spPr>
        <p:txBody>
          <a:bodyPr anchorCtr="0" anchor="t" bIns="0" lIns="0" spcFirstLastPara="1" rIns="0" wrap="square" tIns="0">
            <a:spAutoFit/>
          </a:bodyPr>
          <a:lstStyle/>
          <a:p>
            <a:pPr indent="0" lvl="0" marL="12700" rtl="0" algn="l">
              <a:lnSpc>
                <a:spcPct val="110961"/>
              </a:lnSpc>
              <a:spcBef>
                <a:spcPts val="0"/>
              </a:spcBef>
              <a:spcAft>
                <a:spcPts val="0"/>
              </a:spcAft>
              <a:buNone/>
            </a:pPr>
            <a:r>
              <a:rPr lang="fr-FR" sz="2600">
                <a:latin typeface="Garamond"/>
                <a:ea typeface="Garamond"/>
                <a:cs typeface="Garamond"/>
                <a:sym typeface="Garamond"/>
              </a:rPr>
              <a:t>d’éprouver des sentiments de bonheur, de satisfaction ou d’affection).</a:t>
            </a:r>
            <a:endParaRPr sz="2600">
              <a:latin typeface="Garamond"/>
              <a:ea typeface="Garamond"/>
              <a:cs typeface="Garamond"/>
              <a:sym typeface="Garamond"/>
            </a:endParaRPr>
          </a:p>
        </p:txBody>
      </p:sp>
      <p:sp>
        <p:nvSpPr>
          <p:cNvPr id="1496" name="Google Shape;1496;p18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0" name="Shape 1500"/>
        <p:cNvGrpSpPr/>
        <p:nvPr/>
      </p:nvGrpSpPr>
      <p:grpSpPr>
        <a:xfrm>
          <a:off x="0" y="0"/>
          <a:ext cx="0" cy="0"/>
          <a:chOff x="0" y="0"/>
          <a:chExt cx="0" cy="0"/>
        </a:xfrm>
      </p:grpSpPr>
      <p:sp>
        <p:nvSpPr>
          <p:cNvPr id="1501" name="Google Shape;1501;p184"/>
          <p:cNvSpPr txBox="1"/>
          <p:nvPr>
            <p:ph type="title"/>
          </p:nvPr>
        </p:nvSpPr>
        <p:spPr>
          <a:xfrm>
            <a:off x="869632" y="748665"/>
            <a:ext cx="10728325" cy="3924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fr-FR" sz="2400">
                <a:solidFill>
                  <a:srgbClr val="006FC0"/>
                </a:solidFill>
              </a:rPr>
              <a:t>E : Profondes modifications de l’état d’éveil et de la réactivité associées à un ou</a:t>
            </a:r>
            <a:endParaRPr sz="2400"/>
          </a:p>
        </p:txBody>
      </p:sp>
      <p:sp>
        <p:nvSpPr>
          <p:cNvPr id="1502" name="Google Shape;1502;p184"/>
          <p:cNvSpPr txBox="1"/>
          <p:nvPr/>
        </p:nvSpPr>
        <p:spPr>
          <a:xfrm>
            <a:off x="793432" y="1121092"/>
            <a:ext cx="10801985" cy="4417060"/>
          </a:xfrm>
          <a:prstGeom prst="rect">
            <a:avLst/>
          </a:prstGeom>
          <a:noFill/>
          <a:ln>
            <a:noFill/>
          </a:ln>
        </p:spPr>
        <p:txBody>
          <a:bodyPr anchorCtr="0" anchor="t" bIns="0" lIns="0" spcFirstLastPara="1" rIns="0" wrap="square" tIns="12700">
            <a:spAutoFit/>
          </a:bodyPr>
          <a:lstStyle/>
          <a:p>
            <a:pPr indent="0" lvl="0" marL="12700" rtl="0" algn="l">
              <a:lnSpc>
                <a:spcPct val="119375"/>
              </a:lnSpc>
              <a:spcBef>
                <a:spcPts val="0"/>
              </a:spcBef>
              <a:spcAft>
                <a:spcPts val="0"/>
              </a:spcAft>
              <a:buNone/>
            </a:pPr>
            <a:r>
              <a:rPr b="1" lang="fr-FR" sz="2400">
                <a:solidFill>
                  <a:srgbClr val="006FC0"/>
                </a:solidFill>
                <a:latin typeface="Garamond"/>
                <a:ea typeface="Garamond"/>
                <a:cs typeface="Garamond"/>
                <a:sym typeface="Garamond"/>
              </a:rPr>
              <a:t>plusieurs ET</a:t>
            </a:r>
            <a:endParaRPr sz="2400">
              <a:latin typeface="Garamond"/>
              <a:ea typeface="Garamond"/>
              <a:cs typeface="Garamond"/>
              <a:sym typeface="Garamond"/>
            </a:endParaRPr>
          </a:p>
          <a:p>
            <a:pPr indent="-342900" lvl="0" marL="355600" rtl="0" algn="l">
              <a:lnSpc>
                <a:spcPct val="119375"/>
              </a:lnSpc>
              <a:spcBef>
                <a:spcPts val="0"/>
              </a:spcBef>
              <a:spcAft>
                <a:spcPts val="0"/>
              </a:spcAft>
              <a:buSzPts val="2400"/>
              <a:buFont typeface="Garamond"/>
              <a:buAutoNum type="arabicPeriod"/>
            </a:pPr>
            <a:r>
              <a:rPr lang="fr-FR" sz="2400">
                <a:latin typeface="Garamond"/>
                <a:ea typeface="Garamond"/>
                <a:cs typeface="Garamond"/>
                <a:sym typeface="Garamond"/>
              </a:rPr>
              <a:t>Irritabilité	et	accès	de	colère	qui	s’expriment	typiquement	sous	forme	d’agression</a:t>
            </a:r>
            <a:endParaRPr sz="2400">
              <a:latin typeface="Garamond"/>
              <a:ea typeface="Garamond"/>
              <a:cs typeface="Garamond"/>
              <a:sym typeface="Garamond"/>
            </a:endParaRPr>
          </a:p>
          <a:p>
            <a:pPr indent="0" lvl="0" marL="355600" rtl="0" algn="l">
              <a:lnSpc>
                <a:spcPct val="119583"/>
              </a:lnSpc>
              <a:spcBef>
                <a:spcPts val="50"/>
              </a:spcBef>
              <a:spcAft>
                <a:spcPts val="0"/>
              </a:spcAft>
              <a:buNone/>
            </a:pPr>
            <a:r>
              <a:rPr lang="fr-FR" sz="2400">
                <a:latin typeface="Garamond"/>
                <a:ea typeface="Garamond"/>
                <a:cs typeface="Garamond"/>
                <a:sym typeface="Garamond"/>
              </a:rPr>
              <a:t>verbale ou physique envers des personnes ou des objets ;</a:t>
            </a:r>
            <a:endParaRPr sz="2400">
              <a:latin typeface="Garamond"/>
              <a:ea typeface="Garamond"/>
              <a:cs typeface="Garamond"/>
              <a:sym typeface="Garamond"/>
            </a:endParaRPr>
          </a:p>
          <a:p>
            <a:pPr indent="-342900" lvl="0" marL="355600" rtl="0" algn="l">
              <a:lnSpc>
                <a:spcPct val="118958"/>
              </a:lnSpc>
              <a:spcBef>
                <a:spcPts val="0"/>
              </a:spcBef>
              <a:spcAft>
                <a:spcPts val="0"/>
              </a:spcAft>
              <a:buSzPts val="2400"/>
              <a:buFont typeface="Garamond"/>
              <a:buAutoNum type="arabicPeriod" startAt="2"/>
            </a:pPr>
            <a:r>
              <a:rPr lang="fr-FR" sz="2400">
                <a:latin typeface="Garamond"/>
                <a:ea typeface="Garamond"/>
                <a:cs typeface="Garamond"/>
                <a:sym typeface="Garamond"/>
              </a:rPr>
              <a:t>Comportement irréfléchi ou autodestructeur ;</a:t>
            </a:r>
            <a:endParaRPr sz="2400">
              <a:latin typeface="Garamond"/>
              <a:ea typeface="Garamond"/>
              <a:cs typeface="Garamond"/>
              <a:sym typeface="Garamond"/>
            </a:endParaRPr>
          </a:p>
          <a:p>
            <a:pPr indent="-342900" lvl="0" marL="355600" rtl="0" algn="l">
              <a:lnSpc>
                <a:spcPct val="119375"/>
              </a:lnSpc>
              <a:spcBef>
                <a:spcPts val="0"/>
              </a:spcBef>
              <a:spcAft>
                <a:spcPts val="0"/>
              </a:spcAft>
              <a:buSzPts val="2400"/>
              <a:buFont typeface="Garamond"/>
              <a:buAutoNum type="arabicPeriod" startAt="2"/>
            </a:pPr>
            <a:r>
              <a:rPr lang="fr-FR" sz="2400">
                <a:latin typeface="Garamond"/>
                <a:ea typeface="Garamond"/>
                <a:cs typeface="Garamond"/>
                <a:sym typeface="Garamond"/>
              </a:rPr>
              <a:t>Hypervigilance ;</a:t>
            </a:r>
            <a:endParaRPr sz="2400">
              <a:latin typeface="Garamond"/>
              <a:ea typeface="Garamond"/>
              <a:cs typeface="Garamond"/>
              <a:sym typeface="Garamond"/>
            </a:endParaRPr>
          </a:p>
          <a:p>
            <a:pPr indent="-342900" lvl="0" marL="355600" rtl="0" algn="l">
              <a:lnSpc>
                <a:spcPct val="119375"/>
              </a:lnSpc>
              <a:spcBef>
                <a:spcPts val="50"/>
              </a:spcBef>
              <a:spcAft>
                <a:spcPts val="0"/>
              </a:spcAft>
              <a:buSzPts val="2400"/>
              <a:buFont typeface="Garamond"/>
              <a:buAutoNum type="arabicPeriod" startAt="2"/>
            </a:pPr>
            <a:r>
              <a:rPr lang="fr-FR" sz="2400">
                <a:latin typeface="Garamond"/>
                <a:ea typeface="Garamond"/>
                <a:cs typeface="Garamond"/>
                <a:sym typeface="Garamond"/>
              </a:rPr>
              <a:t>Réaction de sursaut exagéré ;</a:t>
            </a:r>
            <a:endParaRPr sz="2400">
              <a:latin typeface="Garamond"/>
              <a:ea typeface="Garamond"/>
              <a:cs typeface="Garamond"/>
              <a:sym typeface="Garamond"/>
            </a:endParaRPr>
          </a:p>
          <a:p>
            <a:pPr indent="-342900" lvl="0" marL="355600" rtl="0" algn="l">
              <a:lnSpc>
                <a:spcPct val="119375"/>
              </a:lnSpc>
              <a:spcBef>
                <a:spcPts val="0"/>
              </a:spcBef>
              <a:spcAft>
                <a:spcPts val="0"/>
              </a:spcAft>
              <a:buSzPts val="2400"/>
              <a:buFont typeface="Garamond"/>
              <a:buAutoNum type="arabicPeriod" startAt="2"/>
            </a:pPr>
            <a:r>
              <a:rPr lang="fr-FR" sz="2400">
                <a:latin typeface="Garamond"/>
                <a:ea typeface="Garamond"/>
                <a:cs typeface="Garamond"/>
                <a:sym typeface="Garamond"/>
              </a:rPr>
              <a:t>Problèmes de concentration ;</a:t>
            </a:r>
            <a:endParaRPr sz="2400">
              <a:latin typeface="Garamond"/>
              <a:ea typeface="Garamond"/>
              <a:cs typeface="Garamond"/>
              <a:sym typeface="Garamond"/>
            </a:endParaRPr>
          </a:p>
          <a:p>
            <a:pPr indent="-342900" lvl="0" marL="355600" rtl="0" algn="l">
              <a:lnSpc>
                <a:spcPct val="119375"/>
              </a:lnSpc>
              <a:spcBef>
                <a:spcPts val="50"/>
              </a:spcBef>
              <a:spcAft>
                <a:spcPts val="0"/>
              </a:spcAft>
              <a:buSzPts val="2400"/>
              <a:buFont typeface="Garamond"/>
              <a:buAutoNum type="arabicPeriod" startAt="2"/>
            </a:pPr>
            <a:r>
              <a:rPr lang="fr-FR" sz="2400">
                <a:latin typeface="Garamond"/>
                <a:ea typeface="Garamond"/>
                <a:cs typeface="Garamond"/>
                <a:sym typeface="Garamond"/>
              </a:rPr>
              <a:t>Troubles du sommeil (p. ex. difficulté à s’endormir ou sommeil interrompu ou agité).</a:t>
            </a:r>
            <a:endParaRPr sz="2400">
              <a:latin typeface="Garamond"/>
              <a:ea typeface="Garamond"/>
              <a:cs typeface="Garamond"/>
              <a:sym typeface="Garamond"/>
            </a:endParaRPr>
          </a:p>
          <a:p>
            <a:pPr indent="0" lvl="0" marL="88265" rtl="0" algn="l">
              <a:lnSpc>
                <a:spcPct val="118958"/>
              </a:lnSpc>
              <a:spcBef>
                <a:spcPts val="0"/>
              </a:spcBef>
              <a:spcAft>
                <a:spcPts val="0"/>
              </a:spcAft>
              <a:buNone/>
            </a:pPr>
            <a:r>
              <a:rPr b="1" lang="fr-FR" sz="2400">
                <a:solidFill>
                  <a:srgbClr val="006FC0"/>
                </a:solidFill>
                <a:latin typeface="Garamond"/>
                <a:ea typeface="Garamond"/>
                <a:cs typeface="Garamond"/>
                <a:sym typeface="Garamond"/>
              </a:rPr>
              <a:t>F : La perturbation dure plus d’un mois.</a:t>
            </a:r>
            <a:endParaRPr sz="2400">
              <a:latin typeface="Garamond"/>
              <a:ea typeface="Garamond"/>
              <a:cs typeface="Garamond"/>
              <a:sym typeface="Garamond"/>
            </a:endParaRPr>
          </a:p>
          <a:p>
            <a:pPr indent="0" lvl="0" marL="88265" rtl="0" algn="l">
              <a:lnSpc>
                <a:spcPct val="119375"/>
              </a:lnSpc>
              <a:spcBef>
                <a:spcPts val="0"/>
              </a:spcBef>
              <a:spcAft>
                <a:spcPts val="0"/>
              </a:spcAft>
              <a:buNone/>
            </a:pPr>
            <a:r>
              <a:rPr b="1" lang="fr-FR" sz="2400">
                <a:solidFill>
                  <a:srgbClr val="006FC0"/>
                </a:solidFill>
                <a:latin typeface="Garamond"/>
                <a:ea typeface="Garamond"/>
                <a:cs typeface="Garamond"/>
                <a:sym typeface="Garamond"/>
              </a:rPr>
              <a:t>G	:	La	perturbation	entraîne	une	souffrance	cliniquement	significative	</a:t>
            </a:r>
            <a:r>
              <a:rPr lang="fr-FR" sz="2400">
                <a:latin typeface="Garamond"/>
                <a:ea typeface="Garamond"/>
                <a:cs typeface="Garamond"/>
                <a:sym typeface="Garamond"/>
              </a:rPr>
              <a:t>ou	une</a:t>
            </a:r>
            <a:endParaRPr sz="2400">
              <a:latin typeface="Garamond"/>
              <a:ea typeface="Garamond"/>
              <a:cs typeface="Garamond"/>
              <a:sym typeface="Garamond"/>
            </a:endParaRPr>
          </a:p>
          <a:p>
            <a:pPr indent="0" lvl="0" marL="12700" rtl="0" algn="l">
              <a:lnSpc>
                <a:spcPct val="119375"/>
              </a:lnSpc>
              <a:spcBef>
                <a:spcPts val="50"/>
              </a:spcBef>
              <a:spcAft>
                <a:spcPts val="0"/>
              </a:spcAft>
              <a:buNone/>
            </a:pPr>
            <a:r>
              <a:rPr lang="fr-FR" sz="2400">
                <a:latin typeface="Garamond"/>
                <a:ea typeface="Garamond"/>
                <a:cs typeface="Garamond"/>
                <a:sym typeface="Garamond"/>
              </a:rPr>
              <a:t>incapacité	importante	dans	les	dimensions	sociale,	professionnelle,	ou	toute	autre</a:t>
            </a:r>
            <a:endParaRPr sz="2400">
              <a:latin typeface="Garamond"/>
              <a:ea typeface="Garamond"/>
              <a:cs typeface="Garamond"/>
              <a:sym typeface="Garamond"/>
            </a:endParaRPr>
          </a:p>
          <a:p>
            <a:pPr indent="0" lvl="0" marL="12700" rtl="0" algn="l">
              <a:lnSpc>
                <a:spcPct val="119375"/>
              </a:lnSpc>
              <a:spcBef>
                <a:spcPts val="0"/>
              </a:spcBef>
              <a:spcAft>
                <a:spcPts val="0"/>
              </a:spcAft>
              <a:buNone/>
            </a:pPr>
            <a:r>
              <a:rPr lang="fr-FR" sz="2400">
                <a:latin typeface="Garamond"/>
                <a:ea typeface="Garamond"/>
                <a:cs typeface="Garamond"/>
                <a:sym typeface="Garamond"/>
              </a:rPr>
              <a:t>dimension importante du fonctionnement.</a:t>
            </a:r>
            <a:endParaRPr sz="2400">
              <a:latin typeface="Garamond"/>
              <a:ea typeface="Garamond"/>
              <a:cs typeface="Garamond"/>
              <a:sym typeface="Garamond"/>
            </a:endParaRPr>
          </a:p>
        </p:txBody>
      </p:sp>
      <p:sp>
        <p:nvSpPr>
          <p:cNvPr id="1503" name="Google Shape;1503;p184"/>
          <p:cNvSpPr txBox="1"/>
          <p:nvPr/>
        </p:nvSpPr>
        <p:spPr>
          <a:xfrm>
            <a:off x="8692515" y="5518150"/>
            <a:ext cx="2898775" cy="67500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fr-FR" sz="2400">
                <a:solidFill>
                  <a:srgbClr val="006FC0"/>
                </a:solidFill>
                <a:latin typeface="Garamond"/>
                <a:ea typeface="Garamond"/>
                <a:cs typeface="Garamond"/>
                <a:sym typeface="Garamond"/>
              </a:rPr>
              <a:t>physiologiques	d’une</a:t>
            </a:r>
            <a:endParaRPr sz="2400">
              <a:latin typeface="Garamond"/>
              <a:ea typeface="Garamond"/>
              <a:cs typeface="Garamond"/>
              <a:sym typeface="Garamond"/>
            </a:endParaRPr>
          </a:p>
          <a:p>
            <a:pPr indent="0" lvl="0" marL="0" marR="768985" rtl="0" algn="r">
              <a:lnSpc>
                <a:spcPct val="100000"/>
              </a:lnSpc>
              <a:spcBef>
                <a:spcPts val="1085"/>
              </a:spcBef>
              <a:spcAft>
                <a:spcPts val="0"/>
              </a:spcAft>
              <a:buNone/>
            </a:pPr>
            <a:r>
              <a:rPr lang="fr-FR" sz="950">
                <a:latin typeface="Garamond"/>
                <a:ea typeface="Garamond"/>
                <a:cs typeface="Garamond"/>
                <a:sym typeface="Garamond"/>
              </a:rPr>
              <a:t>184</a:t>
            </a:r>
            <a:endParaRPr sz="950">
              <a:latin typeface="Garamond"/>
              <a:ea typeface="Garamond"/>
              <a:cs typeface="Garamond"/>
              <a:sym typeface="Garamond"/>
            </a:endParaRPr>
          </a:p>
        </p:txBody>
      </p:sp>
      <p:sp>
        <p:nvSpPr>
          <p:cNvPr id="1504" name="Google Shape;1504;p184"/>
          <p:cNvSpPr txBox="1"/>
          <p:nvPr/>
        </p:nvSpPr>
        <p:spPr>
          <a:xfrm>
            <a:off x="793432" y="5518150"/>
            <a:ext cx="7712709" cy="754380"/>
          </a:xfrm>
          <a:prstGeom prst="rect">
            <a:avLst/>
          </a:prstGeom>
          <a:noFill/>
          <a:ln>
            <a:noFill/>
          </a:ln>
        </p:spPr>
        <p:txBody>
          <a:bodyPr anchorCtr="0" anchor="t" bIns="0" lIns="0" spcFirstLastPara="1" rIns="0" wrap="square" tIns="27925">
            <a:spAutoFit/>
          </a:bodyPr>
          <a:lstStyle/>
          <a:p>
            <a:pPr indent="76200" lvl="0" marL="12700" marR="5080" rtl="0" algn="l">
              <a:lnSpc>
                <a:spcPct val="118750"/>
              </a:lnSpc>
              <a:spcBef>
                <a:spcPts val="0"/>
              </a:spcBef>
              <a:spcAft>
                <a:spcPts val="0"/>
              </a:spcAft>
              <a:buNone/>
            </a:pPr>
            <a:r>
              <a:rPr b="1" lang="fr-FR" sz="2400">
                <a:solidFill>
                  <a:srgbClr val="006FC0"/>
                </a:solidFill>
                <a:latin typeface="Garamond"/>
                <a:ea typeface="Garamond"/>
                <a:cs typeface="Garamond"/>
                <a:sym typeface="Garamond"/>
              </a:rPr>
              <a:t>H	:	La	perturbation	n’est	pas	attribuable	aux	effets substance </a:t>
            </a:r>
            <a:r>
              <a:rPr lang="fr-FR" sz="2400">
                <a:latin typeface="Garamond"/>
                <a:ea typeface="Garamond"/>
                <a:cs typeface="Garamond"/>
                <a:sym typeface="Garamond"/>
              </a:rPr>
              <a:t>ou à une autre affection.</a:t>
            </a:r>
            <a:endParaRPr sz="2400">
              <a:latin typeface="Garamond"/>
              <a:ea typeface="Garamond"/>
              <a:cs typeface="Garamond"/>
              <a:sym typeface="Garamond"/>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8" name="Shape 1508"/>
        <p:cNvGrpSpPr/>
        <p:nvPr/>
      </p:nvGrpSpPr>
      <p:grpSpPr>
        <a:xfrm>
          <a:off x="0" y="0"/>
          <a:ext cx="0" cy="0"/>
          <a:chOff x="0" y="0"/>
          <a:chExt cx="0" cy="0"/>
        </a:xfrm>
      </p:grpSpPr>
      <p:sp>
        <p:nvSpPr>
          <p:cNvPr id="1509" name="Google Shape;1509;p185"/>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10" name="Google Shape;1510;p185"/>
          <p:cNvSpPr txBox="1"/>
          <p:nvPr>
            <p:ph type="title"/>
          </p:nvPr>
        </p:nvSpPr>
        <p:spPr>
          <a:xfrm>
            <a:off x="1065212" y="744474"/>
            <a:ext cx="9715500" cy="1118870"/>
          </a:xfrm>
          <a:prstGeom prst="rect">
            <a:avLst/>
          </a:prstGeom>
          <a:noFill/>
          <a:ln>
            <a:noFill/>
          </a:ln>
        </p:spPr>
        <p:txBody>
          <a:bodyPr anchorCtr="0" anchor="t" bIns="0" lIns="0" spcFirstLastPara="1" rIns="0" wrap="square" tIns="31100">
            <a:spAutoFit/>
          </a:bodyPr>
          <a:lstStyle/>
          <a:p>
            <a:pPr indent="0" lvl="0" marL="12700" marR="5080" rtl="0" algn="l">
              <a:lnSpc>
                <a:spcPct val="118888"/>
              </a:lnSpc>
              <a:spcBef>
                <a:spcPts val="0"/>
              </a:spcBef>
              <a:spcAft>
                <a:spcPts val="0"/>
              </a:spcAft>
              <a:buNone/>
            </a:pPr>
            <a:r>
              <a:rPr lang="fr-FR"/>
              <a:t>Etat de stress post-traumatique (ou Trouble stress post traumatique selon le DSM 5)</a:t>
            </a:r>
            <a:endParaRPr/>
          </a:p>
        </p:txBody>
      </p:sp>
      <p:sp>
        <p:nvSpPr>
          <p:cNvPr id="1511" name="Google Shape;1511;p18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512" name="Google Shape;1512;p185"/>
          <p:cNvSpPr txBox="1"/>
          <p:nvPr/>
        </p:nvSpPr>
        <p:spPr>
          <a:xfrm>
            <a:off x="917575" y="1812592"/>
            <a:ext cx="10365105" cy="3998595"/>
          </a:xfrm>
          <a:prstGeom prst="rect">
            <a:avLst/>
          </a:prstGeom>
          <a:noFill/>
          <a:ln>
            <a:noFill/>
          </a:ln>
        </p:spPr>
        <p:txBody>
          <a:bodyPr anchorCtr="0" anchor="t" bIns="0" lIns="0" spcFirstLastPara="1" rIns="0" wrap="square" tIns="166350">
            <a:spAutoFit/>
          </a:bodyPr>
          <a:lstStyle/>
          <a:p>
            <a:pPr indent="0" lvl="0" marL="12700" rtl="0" algn="l">
              <a:lnSpc>
                <a:spcPct val="100000"/>
              </a:lnSpc>
              <a:spcBef>
                <a:spcPts val="0"/>
              </a:spcBef>
              <a:spcAft>
                <a:spcPts val="0"/>
              </a:spcAft>
              <a:buNone/>
            </a:pPr>
            <a:r>
              <a:rPr b="1" lang="fr-FR" sz="2400">
                <a:solidFill>
                  <a:srgbClr val="252525"/>
                </a:solidFill>
                <a:latin typeface="Garamond"/>
                <a:ea typeface="Garamond"/>
                <a:cs typeface="Garamond"/>
                <a:sym typeface="Garamond"/>
              </a:rPr>
              <a:t>La triade clinique </a:t>
            </a:r>
            <a:r>
              <a:rPr lang="fr-FR" sz="2400">
                <a:solidFill>
                  <a:srgbClr val="252525"/>
                </a:solidFill>
                <a:latin typeface="Garamond"/>
                <a:ea typeface="Garamond"/>
                <a:cs typeface="Garamond"/>
                <a:sym typeface="Garamond"/>
              </a:rPr>
              <a:t>de l’état de stress post-traumatique est :</a:t>
            </a:r>
            <a:endParaRPr sz="2400">
              <a:latin typeface="Garamond"/>
              <a:ea typeface="Garamond"/>
              <a:cs typeface="Garamond"/>
              <a:sym typeface="Garamond"/>
            </a:endParaRPr>
          </a:p>
          <a:p>
            <a:pPr indent="-361950" lvl="0" marL="374650" rtl="0" algn="l">
              <a:lnSpc>
                <a:spcPct val="100000"/>
              </a:lnSpc>
              <a:spcBef>
                <a:spcPts val="1780"/>
              </a:spcBef>
              <a:spcAft>
                <a:spcPts val="0"/>
              </a:spcAft>
              <a:buClr>
                <a:srgbClr val="83992A"/>
              </a:buClr>
              <a:buSzPts val="2750"/>
              <a:buFont typeface="Arial"/>
              <a:buChar char="•"/>
            </a:pPr>
            <a:r>
              <a:rPr b="1" lang="fr-FR" sz="2400">
                <a:solidFill>
                  <a:srgbClr val="C00000"/>
                </a:solidFill>
                <a:latin typeface="Garamond"/>
                <a:ea typeface="Garamond"/>
                <a:cs typeface="Garamond"/>
                <a:sym typeface="Garamond"/>
              </a:rPr>
              <a:t>le syndrome de répétition </a:t>
            </a:r>
            <a:r>
              <a:rPr lang="fr-FR" sz="2400">
                <a:solidFill>
                  <a:srgbClr val="252525"/>
                </a:solidFill>
                <a:latin typeface="Garamond"/>
                <a:ea typeface="Garamond"/>
                <a:cs typeface="Garamond"/>
                <a:sym typeface="Garamond"/>
              </a:rPr>
              <a:t>(reviviscence du traumatisme),</a:t>
            </a:r>
            <a:endParaRPr sz="2400">
              <a:latin typeface="Garamond"/>
              <a:ea typeface="Garamond"/>
              <a:cs typeface="Garamond"/>
              <a:sym typeface="Garamond"/>
            </a:endParaRPr>
          </a:p>
          <a:p>
            <a:pPr indent="-361950" lvl="0" marL="374650" rtl="0" algn="l">
              <a:lnSpc>
                <a:spcPct val="100000"/>
              </a:lnSpc>
              <a:spcBef>
                <a:spcPts val="1475"/>
              </a:spcBef>
              <a:spcAft>
                <a:spcPts val="0"/>
              </a:spcAft>
              <a:buClr>
                <a:srgbClr val="83992A"/>
              </a:buClr>
              <a:buSzPts val="2750"/>
              <a:buFont typeface="Arial"/>
              <a:buChar char="•"/>
            </a:pPr>
            <a:r>
              <a:rPr b="1" lang="fr-FR" sz="2400">
                <a:solidFill>
                  <a:srgbClr val="C00000"/>
                </a:solidFill>
                <a:latin typeface="Garamond"/>
                <a:ea typeface="Garamond"/>
                <a:cs typeface="Garamond"/>
                <a:sym typeface="Garamond"/>
              </a:rPr>
              <a:t>les conduites d’évitement </a:t>
            </a:r>
            <a:r>
              <a:rPr lang="fr-FR" sz="2400">
                <a:solidFill>
                  <a:srgbClr val="252525"/>
                </a:solidFill>
                <a:latin typeface="Garamond"/>
                <a:ea typeface="Garamond"/>
                <a:cs typeface="Garamond"/>
                <a:sym typeface="Garamond"/>
              </a:rPr>
              <a:t>(de tout stimuli évoquant le traumatisme)</a:t>
            </a:r>
            <a:endParaRPr sz="2400">
              <a:latin typeface="Garamond"/>
              <a:ea typeface="Garamond"/>
              <a:cs typeface="Garamond"/>
              <a:sym typeface="Garamond"/>
            </a:endParaRPr>
          </a:p>
          <a:p>
            <a:pPr indent="-285750" lvl="0" marL="298450" rtl="0" algn="l">
              <a:lnSpc>
                <a:spcPct val="100000"/>
              </a:lnSpc>
              <a:spcBef>
                <a:spcPts val="1475"/>
              </a:spcBef>
              <a:spcAft>
                <a:spcPts val="0"/>
              </a:spcAft>
              <a:buClr>
                <a:srgbClr val="83992A"/>
              </a:buClr>
              <a:buSzPts val="2750"/>
              <a:buFont typeface="Arial"/>
              <a:buChar char="•"/>
            </a:pPr>
            <a:r>
              <a:rPr b="1" lang="fr-FR" sz="2400">
                <a:solidFill>
                  <a:srgbClr val="C00000"/>
                </a:solidFill>
                <a:latin typeface="Garamond"/>
                <a:ea typeface="Garamond"/>
                <a:cs typeface="Garamond"/>
                <a:sym typeface="Garamond"/>
              </a:rPr>
              <a:t>l’hyperactivité neurovégétative </a:t>
            </a:r>
            <a:r>
              <a:rPr lang="fr-FR" sz="2400">
                <a:solidFill>
                  <a:srgbClr val="252525"/>
                </a:solidFill>
                <a:latin typeface="Garamond"/>
                <a:ea typeface="Garamond"/>
                <a:cs typeface="Garamond"/>
                <a:sym typeface="Garamond"/>
              </a:rPr>
              <a:t>(irritabilité, difficulté de concentration, réaction de</a:t>
            </a:r>
            <a:endParaRPr sz="2400">
              <a:latin typeface="Garamond"/>
              <a:ea typeface="Garamond"/>
              <a:cs typeface="Garamond"/>
              <a:sym typeface="Garamond"/>
            </a:endParaRPr>
          </a:p>
          <a:p>
            <a:pPr indent="0" lvl="0" marL="298450" rtl="0" algn="l">
              <a:lnSpc>
                <a:spcPct val="100000"/>
              </a:lnSpc>
              <a:spcBef>
                <a:spcPts val="275"/>
              </a:spcBef>
              <a:spcAft>
                <a:spcPts val="0"/>
              </a:spcAft>
              <a:buNone/>
            </a:pPr>
            <a:r>
              <a:rPr lang="fr-FR" sz="2400">
                <a:solidFill>
                  <a:srgbClr val="252525"/>
                </a:solidFill>
                <a:latin typeface="Garamond"/>
                <a:ea typeface="Garamond"/>
                <a:cs typeface="Garamond"/>
                <a:sym typeface="Garamond"/>
              </a:rPr>
              <a:t>sursaut).</a:t>
            </a:r>
            <a:endParaRPr sz="2400">
              <a:latin typeface="Garamond"/>
              <a:ea typeface="Garamond"/>
              <a:cs typeface="Garamond"/>
              <a:sym typeface="Garamond"/>
            </a:endParaRPr>
          </a:p>
          <a:p>
            <a:pPr indent="-285115" lvl="0" marL="297180" marR="5080" rtl="0" algn="just">
              <a:lnSpc>
                <a:spcPct val="109600"/>
              </a:lnSpc>
              <a:spcBef>
                <a:spcPts val="1195"/>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Les autres signes de l’état de stress post-traumatique sont : </a:t>
            </a:r>
            <a:r>
              <a:rPr b="1" lang="fr-FR" sz="2400">
                <a:solidFill>
                  <a:srgbClr val="252525"/>
                </a:solidFill>
                <a:latin typeface="Garamond"/>
                <a:ea typeface="Garamond"/>
                <a:cs typeface="Garamond"/>
                <a:sym typeface="Garamond"/>
              </a:rPr>
              <a:t>l’hypervigilance, les 	troubles du sommeil, les troubles cognitifs, les troubles psychosomatiques et 	les autres manifestations anxieuses.</a:t>
            </a:r>
            <a:endParaRPr sz="2400">
              <a:latin typeface="Garamond"/>
              <a:ea typeface="Garamond"/>
              <a:cs typeface="Garamond"/>
              <a:sym typeface="Garamond"/>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6" name="Shape 1516"/>
        <p:cNvGrpSpPr/>
        <p:nvPr/>
      </p:nvGrpSpPr>
      <p:grpSpPr>
        <a:xfrm>
          <a:off x="0" y="0"/>
          <a:ext cx="0" cy="0"/>
          <a:chOff x="0" y="0"/>
          <a:chExt cx="0" cy="0"/>
        </a:xfrm>
      </p:grpSpPr>
      <p:sp>
        <p:nvSpPr>
          <p:cNvPr id="1517" name="Google Shape;1517;p186"/>
          <p:cNvSpPr txBox="1"/>
          <p:nvPr>
            <p:ph type="title"/>
          </p:nvPr>
        </p:nvSpPr>
        <p:spPr>
          <a:xfrm>
            <a:off x="1232217" y="1153160"/>
            <a:ext cx="9592310"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t>Des symptômes anxieux peuvent être causés p</a:t>
            </a:r>
            <a:r>
              <a:rPr lang="fr-FR" sz="3950" u="sng"/>
              <a:t> ar :	</a:t>
            </a:r>
            <a:endParaRPr sz="3950"/>
          </a:p>
        </p:txBody>
      </p:sp>
      <p:sp>
        <p:nvSpPr>
          <p:cNvPr id="1518" name="Google Shape;1518;p18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519" name="Google Shape;1519;p186"/>
          <p:cNvSpPr txBox="1"/>
          <p:nvPr/>
        </p:nvSpPr>
        <p:spPr>
          <a:xfrm>
            <a:off x="1375028" y="2583523"/>
            <a:ext cx="5617845" cy="2455800"/>
          </a:xfrm>
          <a:prstGeom prst="rect">
            <a:avLst/>
          </a:prstGeom>
          <a:noFill/>
          <a:ln>
            <a:noFill/>
          </a:ln>
        </p:spPr>
        <p:txBody>
          <a:bodyPr anchorCtr="0" anchor="t" bIns="0" lIns="0" spcFirstLastPara="1" rIns="0" wrap="square" tIns="57150">
            <a:spAutoFit/>
          </a:bodyPr>
          <a:lstStyle/>
          <a:p>
            <a:pPr indent="-514983" lvl="0" marL="527685" rtl="0" algn="l">
              <a:lnSpc>
                <a:spcPct val="100000"/>
              </a:lnSpc>
              <a:spcBef>
                <a:spcPts val="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Une embolie pulmonaire</a:t>
            </a:r>
            <a:endParaRPr sz="2600">
              <a:solidFill>
                <a:srgbClr val="FF0000"/>
              </a:solidFill>
              <a:latin typeface="Garamond"/>
              <a:ea typeface="Garamond"/>
              <a:cs typeface="Garamond"/>
              <a:sym typeface="Garamond"/>
            </a:endParaRPr>
          </a:p>
          <a:p>
            <a:pPr indent="-514983" lvl="0" marL="527685"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Une anémie</a:t>
            </a:r>
            <a:endParaRPr sz="2600">
              <a:solidFill>
                <a:srgbClr val="FF0000"/>
              </a:solidFill>
              <a:latin typeface="Garamond"/>
              <a:ea typeface="Garamond"/>
              <a:cs typeface="Garamond"/>
              <a:sym typeface="Garamond"/>
            </a:endParaRPr>
          </a:p>
          <a:p>
            <a:pPr indent="-514983" lvl="0" marL="527685"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Un sevrage alcoolique</a:t>
            </a:r>
            <a:endParaRPr sz="2600">
              <a:solidFill>
                <a:srgbClr val="FF0000"/>
              </a:solidFill>
              <a:latin typeface="Garamond"/>
              <a:ea typeface="Garamond"/>
              <a:cs typeface="Garamond"/>
              <a:sym typeface="Garamond"/>
            </a:endParaRPr>
          </a:p>
          <a:p>
            <a:pPr indent="-513715" lvl="0" marL="526415" rtl="0" algn="l">
              <a:lnSpc>
                <a:spcPct val="100000"/>
              </a:lnSpc>
              <a:spcBef>
                <a:spcPts val="75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Un AVC hémorragique</a:t>
            </a:r>
            <a:endParaRPr sz="2600">
              <a:latin typeface="Garamond"/>
              <a:ea typeface="Garamond"/>
              <a:cs typeface="Garamond"/>
              <a:sym typeface="Garamond"/>
            </a:endParaRPr>
          </a:p>
          <a:p>
            <a:pPr indent="-514983" lvl="0" marL="527685" rtl="0" algn="l">
              <a:lnSpc>
                <a:spcPct val="100000"/>
              </a:lnSpc>
              <a:spcBef>
                <a:spcPts val="68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Une intoxication aux amphétamines</a:t>
            </a:r>
            <a:endParaRPr sz="2600">
              <a:solidFill>
                <a:srgbClr val="FF0000"/>
              </a:solidFill>
              <a:latin typeface="Garamond"/>
              <a:ea typeface="Garamond"/>
              <a:cs typeface="Garamond"/>
              <a:sym typeface="Garamond"/>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3" name="Shape 1523"/>
        <p:cNvGrpSpPr/>
        <p:nvPr/>
      </p:nvGrpSpPr>
      <p:grpSpPr>
        <a:xfrm>
          <a:off x="0" y="0"/>
          <a:ext cx="0" cy="0"/>
          <a:chOff x="0" y="0"/>
          <a:chExt cx="0" cy="0"/>
        </a:xfrm>
      </p:grpSpPr>
      <p:sp>
        <p:nvSpPr>
          <p:cNvPr id="1524" name="Google Shape;1524;p187"/>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25" name="Google Shape;1525;p187"/>
          <p:cNvSpPr txBox="1"/>
          <p:nvPr>
            <p:ph type="title"/>
          </p:nvPr>
        </p:nvSpPr>
        <p:spPr>
          <a:xfrm>
            <a:off x="802005" y="636905"/>
            <a:ext cx="10587989" cy="1671955"/>
          </a:xfrm>
          <a:prstGeom prst="rect">
            <a:avLst/>
          </a:prstGeom>
          <a:noFill/>
          <a:ln>
            <a:noFill/>
          </a:ln>
        </p:spPr>
        <p:txBody>
          <a:bodyPr anchorCtr="0" anchor="t" bIns="0" lIns="0" spcFirstLastPara="1" rIns="0" wrap="square" tIns="612125">
            <a:spAutoFit/>
          </a:bodyPr>
          <a:lstStyle/>
          <a:p>
            <a:pPr indent="114300" lvl="0" marL="492759" marR="5080" rtl="0" algn="l">
              <a:lnSpc>
                <a:spcPct val="118888"/>
              </a:lnSpc>
              <a:spcBef>
                <a:spcPts val="0"/>
              </a:spcBef>
              <a:spcAft>
                <a:spcPts val="0"/>
              </a:spcAft>
              <a:buNone/>
            </a:pPr>
            <a:r>
              <a:rPr lang="fr-FR"/>
              <a:t>Le développement de symptômes anxieux chez une femme âgée de 55 ans doit faire évoquer :</a:t>
            </a:r>
            <a:endParaRPr/>
          </a:p>
        </p:txBody>
      </p:sp>
      <p:sp>
        <p:nvSpPr>
          <p:cNvPr id="1526" name="Google Shape;1526;p18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527" name="Google Shape;1527;p187"/>
          <p:cNvSpPr txBox="1"/>
          <p:nvPr/>
        </p:nvSpPr>
        <p:spPr>
          <a:xfrm>
            <a:off x="1375028" y="2649420"/>
            <a:ext cx="7753350" cy="2455159"/>
          </a:xfrm>
          <a:prstGeom prst="rect">
            <a:avLst/>
          </a:prstGeom>
          <a:noFill/>
          <a:ln>
            <a:noFill/>
          </a:ln>
        </p:spPr>
        <p:txBody>
          <a:bodyPr anchorCtr="0" anchor="t" bIns="0" lIns="0" spcFirstLastPara="1" rIns="0" wrap="square" tIns="56500">
            <a:spAutoFit/>
          </a:bodyPr>
          <a:lstStyle/>
          <a:p>
            <a:pPr indent="-514983" lvl="0" marL="527685" rtl="0" algn="l">
              <a:lnSpc>
                <a:spcPct val="100000"/>
              </a:lnSpc>
              <a:spcBef>
                <a:spcPts val="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Une hyperthyroïdie</a:t>
            </a:r>
            <a:endParaRPr sz="2600">
              <a:solidFill>
                <a:srgbClr val="FF0000"/>
              </a:solidFill>
              <a:latin typeface="Garamond"/>
              <a:ea typeface="Garamond"/>
              <a:cs typeface="Garamond"/>
              <a:sym typeface="Garamond"/>
            </a:endParaRPr>
          </a:p>
          <a:p>
            <a:pPr indent="-514983" lvl="0" marL="527685" rtl="0" algn="l">
              <a:lnSpc>
                <a:spcPct val="100000"/>
              </a:lnSpc>
              <a:spcBef>
                <a:spcPts val="75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Un diabète</a:t>
            </a:r>
            <a:endParaRPr sz="2600">
              <a:latin typeface="Garamond"/>
              <a:ea typeface="Garamond"/>
              <a:cs typeface="Garamond"/>
              <a:sym typeface="Garamond"/>
            </a:endParaRPr>
          </a:p>
          <a:p>
            <a:pPr indent="-514983" lvl="0" marL="527685" rtl="0" algn="l">
              <a:lnSpc>
                <a:spcPct val="100000"/>
              </a:lnSpc>
              <a:spcBef>
                <a:spcPts val="76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Une sclérose en plaques</a:t>
            </a:r>
            <a:endParaRPr sz="2600">
              <a:solidFill>
                <a:srgbClr val="FF0000"/>
              </a:solidFill>
              <a:latin typeface="Garamond"/>
              <a:ea typeface="Garamond"/>
              <a:cs typeface="Garamond"/>
              <a:sym typeface="Garamond"/>
            </a:endParaRPr>
          </a:p>
          <a:p>
            <a:pPr indent="-513715" lvl="0" marL="526415"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Un sevrage aux benzodiazépines</a:t>
            </a:r>
            <a:endParaRPr sz="2600">
              <a:solidFill>
                <a:srgbClr val="FF0000"/>
              </a:solidFill>
              <a:latin typeface="Garamond"/>
              <a:ea typeface="Garamond"/>
              <a:cs typeface="Garamond"/>
              <a:sym typeface="Garamond"/>
            </a:endParaRPr>
          </a:p>
          <a:p>
            <a:pPr indent="-514983" lvl="0" marL="527685" rtl="0" algn="l">
              <a:lnSpc>
                <a:spcPct val="100000"/>
              </a:lnSpc>
              <a:spcBef>
                <a:spcPts val="68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Un traitement antihypertenseur récemment prescrit</a:t>
            </a:r>
            <a:endParaRPr sz="2600">
              <a:solidFill>
                <a:srgbClr val="FF0000"/>
              </a:solidFill>
              <a:latin typeface="Garamond"/>
              <a:ea typeface="Garamond"/>
              <a:cs typeface="Garamond"/>
              <a:sym typeface="Garamond"/>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1" name="Shape 1531"/>
        <p:cNvGrpSpPr/>
        <p:nvPr/>
      </p:nvGrpSpPr>
      <p:grpSpPr>
        <a:xfrm>
          <a:off x="0" y="0"/>
          <a:ext cx="0" cy="0"/>
          <a:chOff x="0" y="0"/>
          <a:chExt cx="0" cy="0"/>
        </a:xfrm>
      </p:grpSpPr>
      <p:pic>
        <p:nvPicPr>
          <p:cNvPr id="1532" name="Google Shape;1532;p188"/>
          <p:cNvPicPr preferRelativeResize="0"/>
          <p:nvPr/>
        </p:nvPicPr>
        <p:blipFill rotWithShape="1">
          <a:blip r:embed="rId3">
            <a:alphaModFix/>
          </a:blip>
          <a:srcRect b="0" l="0" r="0" t="0"/>
          <a:stretch/>
        </p:blipFill>
        <p:spPr>
          <a:xfrm>
            <a:off x="4181475" y="1495425"/>
            <a:ext cx="3838575" cy="3867150"/>
          </a:xfrm>
          <a:prstGeom prst="rect">
            <a:avLst/>
          </a:prstGeom>
          <a:noFill/>
          <a:ln>
            <a:noFill/>
          </a:ln>
        </p:spPr>
      </p:pic>
      <p:sp>
        <p:nvSpPr>
          <p:cNvPr id="1533" name="Google Shape;1533;p18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7" name="Shape 1537"/>
        <p:cNvGrpSpPr/>
        <p:nvPr/>
      </p:nvGrpSpPr>
      <p:grpSpPr>
        <a:xfrm>
          <a:off x="0" y="0"/>
          <a:ext cx="0" cy="0"/>
          <a:chOff x="0" y="0"/>
          <a:chExt cx="0" cy="0"/>
        </a:xfrm>
      </p:grpSpPr>
      <p:sp>
        <p:nvSpPr>
          <p:cNvPr id="1538" name="Google Shape;1538;p189"/>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39" name="Google Shape;1539;p189"/>
          <p:cNvSpPr txBox="1"/>
          <p:nvPr>
            <p:ph type="title"/>
          </p:nvPr>
        </p:nvSpPr>
        <p:spPr>
          <a:xfrm>
            <a:off x="802005" y="636905"/>
            <a:ext cx="10587989" cy="1671955"/>
          </a:xfrm>
          <a:prstGeom prst="rect">
            <a:avLst/>
          </a:prstGeom>
          <a:noFill/>
          <a:ln>
            <a:noFill/>
          </a:ln>
        </p:spPr>
        <p:txBody>
          <a:bodyPr anchorCtr="0" anchor="t" bIns="0" lIns="0" spcFirstLastPara="1" rIns="0" wrap="square" tIns="645775">
            <a:spAutoFit/>
          </a:bodyPr>
          <a:lstStyle/>
          <a:p>
            <a:pPr indent="0" lvl="0" marL="662940" rtl="0" algn="l">
              <a:lnSpc>
                <a:spcPct val="100000"/>
              </a:lnSpc>
              <a:spcBef>
                <a:spcPts val="0"/>
              </a:spcBef>
              <a:spcAft>
                <a:spcPts val="0"/>
              </a:spcAft>
              <a:buNone/>
            </a:pPr>
            <a:r>
              <a:rPr lang="fr-FR" sz="4400">
                <a:solidFill>
                  <a:srgbClr val="000000"/>
                </a:solidFill>
              </a:rPr>
              <a:t>Les benzodiazépines :</a:t>
            </a:r>
            <a:endParaRPr sz="4400"/>
          </a:p>
        </p:txBody>
      </p:sp>
      <p:sp>
        <p:nvSpPr>
          <p:cNvPr id="1540" name="Google Shape;1540;p18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541" name="Google Shape;1541;p189"/>
          <p:cNvSpPr txBox="1"/>
          <p:nvPr/>
        </p:nvSpPr>
        <p:spPr>
          <a:xfrm>
            <a:off x="1291844" y="2456155"/>
            <a:ext cx="7543800" cy="2568011"/>
          </a:xfrm>
          <a:prstGeom prst="rect">
            <a:avLst/>
          </a:prstGeom>
          <a:noFill/>
          <a:ln>
            <a:noFill/>
          </a:ln>
        </p:spPr>
        <p:txBody>
          <a:bodyPr anchorCtr="0" anchor="t" bIns="0" lIns="0" spcFirstLastPara="1" rIns="0" wrap="square" tIns="53975">
            <a:spAutoFit/>
          </a:bodyPr>
          <a:lstStyle/>
          <a:p>
            <a:pPr indent="-513715" lvl="0" marL="526415"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Sont des antagonistes des récepteurs GABA</a:t>
            </a:r>
            <a:endParaRPr sz="2750">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Ont un effet myorelaxant</a:t>
            </a:r>
            <a:endParaRPr sz="2750">
              <a:solidFill>
                <a:srgbClr val="FF0000"/>
              </a:solidFill>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Interférent avec le SNA</a:t>
            </a:r>
            <a:endParaRPr sz="2750">
              <a:latin typeface="Garamond"/>
              <a:ea typeface="Garamond"/>
              <a:cs typeface="Garamond"/>
              <a:sym typeface="Garamond"/>
            </a:endParaRPr>
          </a:p>
          <a:p>
            <a:pPr indent="-513080" lvl="0" marL="525780"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Sont C.I dans la myasthénie</a:t>
            </a:r>
            <a:endParaRPr sz="2750">
              <a:solidFill>
                <a:srgbClr val="FF0000"/>
              </a:solidFill>
              <a:latin typeface="Garamond"/>
              <a:ea typeface="Garamond"/>
              <a:cs typeface="Garamond"/>
              <a:sym typeface="Garamond"/>
            </a:endParaRPr>
          </a:p>
          <a:p>
            <a:pPr indent="-513080" lvl="0" marL="525780" rtl="0" algn="l">
              <a:lnSpc>
                <a:spcPct val="100000"/>
              </a:lnSpc>
              <a:spcBef>
                <a:spcPts val="8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Peuvent induire une apnée chez le nouveau-né</a:t>
            </a:r>
            <a:endParaRPr sz="2750">
              <a:solidFill>
                <a:srgbClr val="FF0000"/>
              </a:solidFill>
              <a:latin typeface="Garamond"/>
              <a:ea typeface="Garamond"/>
              <a:cs typeface="Garamond"/>
              <a:sym typeface="Garamond"/>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5" name="Shape 1545"/>
        <p:cNvGrpSpPr/>
        <p:nvPr/>
      </p:nvGrpSpPr>
      <p:grpSpPr>
        <a:xfrm>
          <a:off x="0" y="0"/>
          <a:ext cx="0" cy="0"/>
          <a:chOff x="0" y="0"/>
          <a:chExt cx="0" cy="0"/>
        </a:xfrm>
      </p:grpSpPr>
      <p:sp>
        <p:nvSpPr>
          <p:cNvPr id="1546" name="Google Shape;1546;p190"/>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47" name="Google Shape;1547;p190"/>
          <p:cNvSpPr txBox="1"/>
          <p:nvPr>
            <p:ph type="title"/>
          </p:nvPr>
        </p:nvSpPr>
        <p:spPr>
          <a:xfrm>
            <a:off x="802005" y="636905"/>
            <a:ext cx="10587989" cy="1671955"/>
          </a:xfrm>
          <a:prstGeom prst="rect">
            <a:avLst/>
          </a:prstGeom>
          <a:noFill/>
          <a:ln>
            <a:noFill/>
          </a:ln>
        </p:spPr>
        <p:txBody>
          <a:bodyPr anchorCtr="0" anchor="t" bIns="0" lIns="0" spcFirstLastPara="1" rIns="0" wrap="square" tIns="890950">
            <a:spAutoFit/>
          </a:bodyPr>
          <a:lstStyle/>
          <a:p>
            <a:pPr indent="0" lvl="0" marL="652780" rtl="0" algn="l">
              <a:lnSpc>
                <a:spcPct val="100000"/>
              </a:lnSpc>
              <a:spcBef>
                <a:spcPts val="0"/>
              </a:spcBef>
              <a:spcAft>
                <a:spcPts val="0"/>
              </a:spcAft>
              <a:buNone/>
            </a:pPr>
            <a:r>
              <a:rPr lang="fr-FR" sz="4400"/>
              <a:t>Les benzodiazépines :</a:t>
            </a:r>
            <a:endParaRPr sz="4400"/>
          </a:p>
        </p:txBody>
      </p:sp>
      <p:sp>
        <p:nvSpPr>
          <p:cNvPr id="1548" name="Google Shape;1548;p19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549" name="Google Shape;1549;p190"/>
          <p:cNvSpPr txBox="1"/>
          <p:nvPr/>
        </p:nvSpPr>
        <p:spPr>
          <a:xfrm>
            <a:off x="1375028" y="2583523"/>
            <a:ext cx="7872730" cy="2455800"/>
          </a:xfrm>
          <a:prstGeom prst="rect">
            <a:avLst/>
          </a:prstGeom>
          <a:noFill/>
          <a:ln>
            <a:noFill/>
          </a:ln>
        </p:spPr>
        <p:txBody>
          <a:bodyPr anchorCtr="0" anchor="t" bIns="0" lIns="0" spcFirstLastPara="1" rIns="0" wrap="square" tIns="57150">
            <a:spAutoFit/>
          </a:bodyPr>
          <a:lstStyle/>
          <a:p>
            <a:pPr indent="-514983" lvl="0" marL="527685" rtl="0" algn="l">
              <a:lnSpc>
                <a:spcPct val="100000"/>
              </a:lnSpc>
              <a:spcBef>
                <a:spcPts val="0"/>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Sont rapidement absorbées par voie intra musculaire</a:t>
            </a:r>
            <a:endParaRPr sz="2600">
              <a:latin typeface="Garamond"/>
              <a:ea typeface="Garamond"/>
              <a:cs typeface="Garamond"/>
              <a:sym typeface="Garamond"/>
            </a:endParaRPr>
          </a:p>
          <a:p>
            <a:pPr indent="-514983" lvl="0" marL="527685"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Ont un métabolisme hépatique</a:t>
            </a:r>
            <a:endParaRPr sz="2600">
              <a:solidFill>
                <a:srgbClr val="FF0000"/>
              </a:solidFill>
              <a:latin typeface="Garamond"/>
              <a:ea typeface="Garamond"/>
              <a:cs typeface="Garamond"/>
              <a:sym typeface="Garamond"/>
            </a:endParaRPr>
          </a:p>
          <a:p>
            <a:pPr indent="-514983" lvl="0" marL="527685"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Peuvent donner une recrudescence anxieuse</a:t>
            </a:r>
            <a:endParaRPr sz="2600">
              <a:solidFill>
                <a:srgbClr val="FF0000"/>
              </a:solidFill>
              <a:latin typeface="Garamond"/>
              <a:ea typeface="Garamond"/>
              <a:cs typeface="Garamond"/>
              <a:sym typeface="Garamond"/>
            </a:endParaRPr>
          </a:p>
          <a:p>
            <a:pPr indent="-513715" lvl="0" marL="526415"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Peuvent donner des troubles de la mémoire</a:t>
            </a:r>
            <a:endParaRPr sz="2600">
              <a:solidFill>
                <a:srgbClr val="FF0000"/>
              </a:solidFill>
              <a:latin typeface="Garamond"/>
              <a:ea typeface="Garamond"/>
              <a:cs typeface="Garamond"/>
              <a:sym typeface="Garamond"/>
            </a:endParaRPr>
          </a:p>
          <a:p>
            <a:pPr indent="-514983" lvl="0" marL="527685" rtl="0" algn="l">
              <a:lnSpc>
                <a:spcPct val="100000"/>
              </a:lnSpc>
              <a:spcBef>
                <a:spcPts val="68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Leur élimination est biliaire</a:t>
            </a:r>
            <a:endParaRPr sz="2600">
              <a:latin typeface="Garamond"/>
              <a:ea typeface="Garamond"/>
              <a:cs typeface="Garamond"/>
              <a:sym typeface="Garamond"/>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3" name="Shape 1553"/>
        <p:cNvGrpSpPr/>
        <p:nvPr/>
      </p:nvGrpSpPr>
      <p:grpSpPr>
        <a:xfrm>
          <a:off x="0" y="0"/>
          <a:ext cx="0" cy="0"/>
          <a:chOff x="0" y="0"/>
          <a:chExt cx="0" cy="0"/>
        </a:xfrm>
      </p:grpSpPr>
      <p:sp>
        <p:nvSpPr>
          <p:cNvPr id="1554" name="Google Shape;1554;p191"/>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55" name="Google Shape;1555;p191"/>
          <p:cNvSpPr txBox="1"/>
          <p:nvPr>
            <p:ph type="title"/>
          </p:nvPr>
        </p:nvSpPr>
        <p:spPr>
          <a:xfrm>
            <a:off x="1375028" y="1419288"/>
            <a:ext cx="5249545" cy="70104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4400"/>
              <a:t>Les benzodiazépines :</a:t>
            </a:r>
            <a:endParaRPr sz="4400"/>
          </a:p>
        </p:txBody>
      </p:sp>
      <p:sp>
        <p:nvSpPr>
          <p:cNvPr id="1556" name="Google Shape;1556;p19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557" name="Google Shape;1557;p191"/>
          <p:cNvSpPr txBox="1"/>
          <p:nvPr/>
        </p:nvSpPr>
        <p:spPr>
          <a:xfrm>
            <a:off x="1268349" y="2299769"/>
            <a:ext cx="9980930" cy="3592195"/>
          </a:xfrm>
          <a:prstGeom prst="rect">
            <a:avLst/>
          </a:prstGeom>
          <a:noFill/>
          <a:ln>
            <a:noFill/>
          </a:ln>
        </p:spPr>
        <p:txBody>
          <a:bodyPr anchorCtr="0" anchor="t" bIns="0" lIns="0" spcFirstLastPara="1" rIns="0" wrap="square" tIns="206375">
            <a:spAutoFit/>
          </a:bodyPr>
          <a:lstStyle/>
          <a:p>
            <a:pPr indent="-342265" lvl="0" marL="354965" rtl="0" algn="l">
              <a:lnSpc>
                <a:spcPct val="100000"/>
              </a:lnSpc>
              <a:spcBef>
                <a:spcPts val="0"/>
              </a:spcBef>
              <a:spcAft>
                <a:spcPts val="0"/>
              </a:spcAft>
              <a:buClr>
                <a:srgbClr val="92D050"/>
              </a:buClr>
              <a:buSzPts val="2550"/>
              <a:buFont typeface="Garamond"/>
              <a:buAutoNum type="alphaUcPeriod"/>
            </a:pPr>
            <a:r>
              <a:rPr b="1" lang="fr-FR" sz="2600">
                <a:latin typeface="Garamond"/>
                <a:ea typeface="Garamond"/>
                <a:cs typeface="Garamond"/>
                <a:sym typeface="Garamond"/>
              </a:rPr>
              <a:t>Sont le traitement de fond de choix des troubles anxieux</a:t>
            </a:r>
            <a:endParaRPr sz="2600">
              <a:latin typeface="Garamond"/>
              <a:ea typeface="Garamond"/>
              <a:cs typeface="Garamond"/>
              <a:sym typeface="Garamond"/>
            </a:endParaRPr>
          </a:p>
          <a:p>
            <a:pPr indent="-342900" lvl="0" marL="355600" rtl="0" algn="l">
              <a:lnSpc>
                <a:spcPct val="100000"/>
              </a:lnSpc>
              <a:spcBef>
                <a:spcPts val="1530"/>
              </a:spcBef>
              <a:spcAft>
                <a:spcPts val="0"/>
              </a:spcAft>
              <a:buClr>
                <a:srgbClr val="92D050"/>
              </a:buClr>
              <a:buSzPts val="2550"/>
              <a:buFont typeface="Garamond"/>
              <a:buAutoNum type="alphaUcPeriod"/>
            </a:pPr>
            <a:r>
              <a:rPr b="1" lang="fr-FR" sz="2600">
                <a:latin typeface="Garamond"/>
                <a:ea typeface="Garamond"/>
                <a:cs typeface="Garamond"/>
                <a:sym typeface="Garamond"/>
              </a:rPr>
              <a:t>Ont des propriétés anxiolytiques, sédatives et antipsychotiques</a:t>
            </a:r>
            <a:endParaRPr sz="2600">
              <a:latin typeface="Garamond"/>
              <a:ea typeface="Garamond"/>
              <a:cs typeface="Garamond"/>
              <a:sym typeface="Garamond"/>
            </a:endParaRPr>
          </a:p>
          <a:p>
            <a:pPr indent="-342265" lvl="0" marL="354965" rtl="0" algn="l">
              <a:lnSpc>
                <a:spcPct val="100000"/>
              </a:lnSpc>
              <a:spcBef>
                <a:spcPts val="1614"/>
              </a:spcBef>
              <a:spcAft>
                <a:spcPts val="0"/>
              </a:spcAft>
              <a:buClr>
                <a:srgbClr val="92D050"/>
              </a:buClr>
              <a:buSzPts val="2550"/>
              <a:buFont typeface="Garamond"/>
              <a:buAutoNum type="alphaUcPeriod"/>
            </a:pPr>
            <a:r>
              <a:rPr b="1" lang="fr-FR" sz="2600">
                <a:latin typeface="Garamond"/>
                <a:ea typeface="Garamond"/>
                <a:cs typeface="Garamond"/>
                <a:sym typeface="Garamond"/>
              </a:rPr>
              <a:t>Sont bien tolérées, notamment en cas de leur arrêt brutal</a:t>
            </a:r>
            <a:endParaRPr sz="2600">
              <a:latin typeface="Garamond"/>
              <a:ea typeface="Garamond"/>
              <a:cs typeface="Garamond"/>
              <a:sym typeface="Garamond"/>
            </a:endParaRPr>
          </a:p>
          <a:p>
            <a:pPr indent="-349250" lvl="0" marL="356235" rtl="0" algn="l">
              <a:lnSpc>
                <a:spcPct val="100000"/>
              </a:lnSpc>
              <a:spcBef>
                <a:spcPts val="1535"/>
              </a:spcBef>
              <a:spcAft>
                <a:spcPts val="0"/>
              </a:spcAft>
              <a:buClr>
                <a:srgbClr val="92D050"/>
              </a:buClr>
              <a:buSzPts val="2550"/>
              <a:buFont typeface="Garamond"/>
              <a:buAutoNum type="alphaUcPeriod"/>
            </a:pPr>
            <a:r>
              <a:rPr b="1" lang="fr-FR" sz="2600">
                <a:solidFill>
                  <a:srgbClr val="FF0000"/>
                </a:solidFill>
                <a:latin typeface="Garamond"/>
                <a:ea typeface="Garamond"/>
                <a:cs typeface="Garamond"/>
                <a:sym typeface="Garamond"/>
              </a:rPr>
              <a:t>Sont associées à un risque élevé de dépendance</a:t>
            </a:r>
            <a:endParaRPr sz="2600">
              <a:solidFill>
                <a:srgbClr val="FF0000"/>
              </a:solidFill>
              <a:latin typeface="Garamond"/>
              <a:ea typeface="Garamond"/>
              <a:cs typeface="Garamond"/>
              <a:sym typeface="Garamond"/>
            </a:endParaRPr>
          </a:p>
          <a:p>
            <a:pPr indent="-342265" lvl="0" marL="354965" rtl="0" algn="l">
              <a:lnSpc>
                <a:spcPct val="100000"/>
              </a:lnSpc>
              <a:spcBef>
                <a:spcPts val="1540"/>
              </a:spcBef>
              <a:spcAft>
                <a:spcPts val="0"/>
              </a:spcAft>
              <a:buClr>
                <a:srgbClr val="92D050"/>
              </a:buClr>
              <a:buSzPts val="2550"/>
              <a:buFont typeface="Garamond"/>
              <a:buAutoNum type="alphaUcPeriod"/>
            </a:pPr>
            <a:r>
              <a:rPr b="1" lang="fr-FR" sz="2600">
                <a:latin typeface="Garamond"/>
                <a:ea typeface="Garamond"/>
                <a:cs typeface="Garamond"/>
                <a:sym typeface="Garamond"/>
              </a:rPr>
              <a:t>Sont prescrits pendant une durée ne dépassant pas les 6 mois pour le</a:t>
            </a:r>
            <a:endParaRPr sz="2600">
              <a:latin typeface="Garamond"/>
              <a:ea typeface="Garamond"/>
              <a:cs typeface="Garamond"/>
              <a:sym typeface="Garamond"/>
            </a:endParaRPr>
          </a:p>
          <a:p>
            <a:pPr indent="0" lvl="0" marL="355600" rtl="0" algn="l">
              <a:lnSpc>
                <a:spcPct val="100000"/>
              </a:lnSpc>
              <a:spcBef>
                <a:spcPts val="1610"/>
              </a:spcBef>
              <a:spcAft>
                <a:spcPts val="0"/>
              </a:spcAft>
              <a:buNone/>
            </a:pPr>
            <a:r>
              <a:rPr b="1" lang="fr-FR" sz="2600">
                <a:latin typeface="Garamond"/>
                <a:ea typeface="Garamond"/>
                <a:cs typeface="Garamond"/>
                <a:sym typeface="Garamond"/>
              </a:rPr>
              <a:t>traitement de l’anxiété</a:t>
            </a:r>
            <a:endParaRPr sz="2600">
              <a:latin typeface="Garamond"/>
              <a:ea typeface="Garamond"/>
              <a:cs typeface="Garamond"/>
              <a:sym typeface="Garamond"/>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1" name="Shape 1561"/>
        <p:cNvGrpSpPr/>
        <p:nvPr/>
      </p:nvGrpSpPr>
      <p:grpSpPr>
        <a:xfrm>
          <a:off x="0" y="0"/>
          <a:ext cx="0" cy="0"/>
          <a:chOff x="0" y="0"/>
          <a:chExt cx="0" cy="0"/>
        </a:xfrm>
      </p:grpSpPr>
      <p:sp>
        <p:nvSpPr>
          <p:cNvPr id="1562" name="Google Shape;1562;p192"/>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63" name="Google Shape;1563;p192"/>
          <p:cNvSpPr txBox="1"/>
          <p:nvPr>
            <p:ph type="title"/>
          </p:nvPr>
        </p:nvSpPr>
        <p:spPr>
          <a:xfrm>
            <a:off x="802005" y="636905"/>
            <a:ext cx="10587989" cy="1671955"/>
          </a:xfrm>
          <a:prstGeom prst="rect">
            <a:avLst/>
          </a:prstGeom>
          <a:noFill/>
          <a:ln>
            <a:noFill/>
          </a:ln>
        </p:spPr>
        <p:txBody>
          <a:bodyPr anchorCtr="0" anchor="t" bIns="0" lIns="0" spcFirstLastPara="1" rIns="0" wrap="square" tIns="299650">
            <a:spAutoFit/>
          </a:bodyPr>
          <a:lstStyle/>
          <a:p>
            <a:pPr indent="0" lvl="0" marL="585470" marR="5080" rtl="0" algn="l">
              <a:lnSpc>
                <a:spcPct val="119545"/>
              </a:lnSpc>
              <a:spcBef>
                <a:spcPts val="0"/>
              </a:spcBef>
              <a:spcAft>
                <a:spcPts val="0"/>
              </a:spcAft>
              <a:buNone/>
            </a:pPr>
            <a:r>
              <a:rPr lang="fr-FR" sz="4400"/>
              <a:t>Les effets secondaires des anxiolytiques sont :</a:t>
            </a:r>
            <a:endParaRPr sz="4400"/>
          </a:p>
        </p:txBody>
      </p:sp>
      <p:sp>
        <p:nvSpPr>
          <p:cNvPr id="1564" name="Google Shape;1564;p19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565" name="Google Shape;1565;p192"/>
          <p:cNvSpPr txBox="1"/>
          <p:nvPr/>
        </p:nvSpPr>
        <p:spPr>
          <a:xfrm>
            <a:off x="1405636" y="2626616"/>
            <a:ext cx="5570855" cy="2218556"/>
          </a:xfrm>
          <a:prstGeom prst="rect">
            <a:avLst/>
          </a:prstGeom>
          <a:noFill/>
          <a:ln>
            <a:noFill/>
          </a:ln>
        </p:spPr>
        <p:txBody>
          <a:bodyPr anchorCtr="0" anchor="t" bIns="0" lIns="0" spcFirstLastPara="1" rIns="0" wrap="square" tIns="0">
            <a:spAutoFit/>
          </a:bodyPr>
          <a:lstStyle/>
          <a:p>
            <a:pPr indent="-514350" lvl="0" marL="527050" rtl="0" algn="l">
              <a:lnSpc>
                <a:spcPct val="134181"/>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amnésie antérograde</a:t>
            </a:r>
            <a:endParaRPr sz="2750">
              <a:solidFill>
                <a:srgbClr val="FF0000"/>
              </a:solidFill>
              <a:latin typeface="Garamond"/>
              <a:ea typeface="Garamond"/>
              <a:cs typeface="Garamond"/>
              <a:sym typeface="Garamond"/>
            </a:endParaRPr>
          </a:p>
          <a:p>
            <a:pPr indent="-513715" lvl="0" marL="526415" rtl="0" algn="l">
              <a:lnSpc>
                <a:spcPct val="100000"/>
              </a:lnSpc>
              <a:spcBef>
                <a:spcPts val="1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Des symptômes extrapyramidaux</a:t>
            </a:r>
            <a:endParaRPr sz="2750">
              <a:latin typeface="Garamond"/>
              <a:ea typeface="Garamond"/>
              <a:cs typeface="Garamond"/>
              <a:sym typeface="Garamond"/>
            </a:endParaRPr>
          </a:p>
          <a:p>
            <a:pPr indent="-513715" lvl="0" marL="526415" rtl="0" algn="l">
              <a:lnSpc>
                <a:spcPct val="100000"/>
              </a:lnSpc>
              <a:spcBef>
                <a:spcPts val="6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Une somnolence</a:t>
            </a:r>
            <a:endParaRPr sz="2750">
              <a:solidFill>
                <a:srgbClr val="FF0000"/>
              </a:solidFill>
              <a:latin typeface="Garamond"/>
              <a:ea typeface="Garamond"/>
              <a:cs typeface="Garamond"/>
              <a:sym typeface="Garamond"/>
            </a:endParaRPr>
          </a:p>
          <a:p>
            <a:pPr indent="-513080" lvl="0" marL="525780" rtl="0" algn="l">
              <a:lnSpc>
                <a:spcPct val="100000"/>
              </a:lnSpc>
              <a:spcBef>
                <a:spcPts val="1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Des palpitations</a:t>
            </a:r>
            <a:endParaRPr sz="2750">
              <a:latin typeface="Garamond"/>
              <a:ea typeface="Garamond"/>
              <a:cs typeface="Garamond"/>
              <a:sym typeface="Garamond"/>
            </a:endParaRPr>
          </a:p>
          <a:p>
            <a:pPr indent="-513715" lvl="0" marL="526415" rtl="0" algn="l">
              <a:lnSpc>
                <a:spcPct val="100000"/>
              </a:lnSpc>
              <a:spcBef>
                <a:spcPts val="1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Des troubles sphinctériens</a:t>
            </a:r>
            <a:endParaRPr sz="2750">
              <a:latin typeface="Garamond"/>
              <a:ea typeface="Garamond"/>
              <a:cs typeface="Garamond"/>
              <a:sym typeface="Garamond"/>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9" name="Shape 1569"/>
        <p:cNvGrpSpPr/>
        <p:nvPr/>
      </p:nvGrpSpPr>
      <p:grpSpPr>
        <a:xfrm>
          <a:off x="0" y="0"/>
          <a:ext cx="0" cy="0"/>
          <a:chOff x="0" y="0"/>
          <a:chExt cx="0" cy="0"/>
        </a:xfrm>
      </p:grpSpPr>
      <p:sp>
        <p:nvSpPr>
          <p:cNvPr id="1570" name="Google Shape;1570;p193"/>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71" name="Google Shape;1571;p193"/>
          <p:cNvSpPr txBox="1"/>
          <p:nvPr>
            <p:ph type="title"/>
          </p:nvPr>
        </p:nvSpPr>
        <p:spPr>
          <a:xfrm>
            <a:off x="802005" y="636905"/>
            <a:ext cx="10587989" cy="1671955"/>
          </a:xfrm>
          <a:prstGeom prst="rect">
            <a:avLst/>
          </a:prstGeom>
          <a:noFill/>
          <a:ln>
            <a:noFill/>
          </a:ln>
        </p:spPr>
        <p:txBody>
          <a:bodyPr anchorCtr="0" anchor="t" bIns="0" lIns="0" spcFirstLastPara="1" rIns="0" wrap="square" tIns="789050">
            <a:spAutoFit/>
          </a:bodyPr>
          <a:lstStyle/>
          <a:p>
            <a:pPr indent="0" lvl="0" marL="497205" rtl="0" algn="l">
              <a:lnSpc>
                <a:spcPct val="100000"/>
              </a:lnSpc>
              <a:spcBef>
                <a:spcPts val="0"/>
              </a:spcBef>
              <a:spcAft>
                <a:spcPts val="0"/>
              </a:spcAft>
              <a:buNone/>
            </a:pPr>
            <a:r>
              <a:rPr lang="fr-FR" sz="4400"/>
              <a:t>La prescription des anxiolytiques :</a:t>
            </a:r>
            <a:endParaRPr sz="4400"/>
          </a:p>
        </p:txBody>
      </p:sp>
      <p:sp>
        <p:nvSpPr>
          <p:cNvPr id="1572" name="Google Shape;1572;p19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573" name="Google Shape;1573;p193"/>
          <p:cNvSpPr txBox="1"/>
          <p:nvPr/>
        </p:nvSpPr>
        <p:spPr>
          <a:xfrm>
            <a:off x="1299210" y="2446019"/>
            <a:ext cx="9518650" cy="426720"/>
          </a:xfrm>
          <a:prstGeom prst="rect">
            <a:avLst/>
          </a:prstGeom>
          <a:noFill/>
          <a:ln>
            <a:noFill/>
          </a:ln>
        </p:spPr>
        <p:txBody>
          <a:bodyPr anchorCtr="0" anchor="t" bIns="0" lIns="0" spcFirstLastPara="1" rIns="0" wrap="square" tIns="0">
            <a:spAutoFit/>
          </a:bodyPr>
          <a:lstStyle/>
          <a:p>
            <a:pPr indent="0" lvl="0" marL="12700" rtl="0" algn="l">
              <a:lnSpc>
                <a:spcPct val="110966"/>
              </a:lnSpc>
              <a:spcBef>
                <a:spcPts val="0"/>
              </a:spcBef>
              <a:spcAft>
                <a:spcPts val="0"/>
              </a:spcAft>
              <a:buNone/>
            </a:pPr>
            <a:r>
              <a:rPr b="1" lang="fr-FR" sz="3000">
                <a:solidFill>
                  <a:srgbClr val="83992A"/>
                </a:solidFill>
                <a:latin typeface="Garamond"/>
                <a:ea typeface="Garamond"/>
                <a:cs typeface="Garamond"/>
                <a:sym typeface="Garamond"/>
              </a:rPr>
              <a:t>A.	</a:t>
            </a:r>
            <a:r>
              <a:rPr b="1" lang="fr-FR" sz="2600">
                <a:solidFill>
                  <a:srgbClr val="252525"/>
                </a:solidFill>
                <a:latin typeface="Garamond"/>
                <a:ea typeface="Garamond"/>
                <a:cs typeface="Garamond"/>
                <a:sym typeface="Garamond"/>
              </a:rPr>
              <a:t>Ne doit pas dépasser trois mois pour le traitement de l’insomnie</a:t>
            </a:r>
            <a:endParaRPr sz="2600">
              <a:latin typeface="Garamond"/>
              <a:ea typeface="Garamond"/>
              <a:cs typeface="Garamond"/>
              <a:sym typeface="Garamond"/>
            </a:endParaRPr>
          </a:p>
        </p:txBody>
      </p:sp>
      <p:sp>
        <p:nvSpPr>
          <p:cNvPr id="1574" name="Google Shape;1574;p193"/>
          <p:cNvSpPr txBox="1"/>
          <p:nvPr/>
        </p:nvSpPr>
        <p:spPr>
          <a:xfrm>
            <a:off x="10145394" y="2999803"/>
            <a:ext cx="1065530" cy="426084"/>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b="1" lang="fr-FR" sz="2600">
                <a:solidFill>
                  <a:srgbClr val="252525"/>
                </a:solidFill>
                <a:latin typeface="Garamond"/>
                <a:ea typeface="Garamond"/>
                <a:cs typeface="Garamond"/>
                <a:sym typeface="Garamond"/>
              </a:rPr>
              <a:t>en	cas</a:t>
            </a:r>
            <a:endParaRPr sz="2600">
              <a:latin typeface="Garamond"/>
              <a:ea typeface="Garamond"/>
              <a:cs typeface="Garamond"/>
              <a:sym typeface="Garamond"/>
            </a:endParaRPr>
          </a:p>
        </p:txBody>
      </p:sp>
      <p:sp>
        <p:nvSpPr>
          <p:cNvPr id="1575" name="Google Shape;1575;p193"/>
          <p:cNvSpPr txBox="1"/>
          <p:nvPr/>
        </p:nvSpPr>
        <p:spPr>
          <a:xfrm>
            <a:off x="1299210" y="2999803"/>
            <a:ext cx="8624570" cy="2328843"/>
          </a:xfrm>
          <a:prstGeom prst="rect">
            <a:avLst/>
          </a:prstGeom>
          <a:noFill/>
          <a:ln>
            <a:noFill/>
          </a:ln>
        </p:spPr>
        <p:txBody>
          <a:bodyPr anchorCtr="0" anchor="t" bIns="0" lIns="0" spcFirstLastPara="1" rIns="0" wrap="square" tIns="0">
            <a:spAutoFit/>
          </a:bodyPr>
          <a:lstStyle/>
          <a:p>
            <a:pPr indent="-514350" lvl="0" marL="527050" rtl="0" algn="l">
              <a:lnSpc>
                <a:spcPct val="125576"/>
              </a:lnSpc>
              <a:spcBef>
                <a:spcPts val="0"/>
              </a:spcBef>
              <a:spcAft>
                <a:spcPts val="0"/>
              </a:spcAft>
              <a:buClr>
                <a:srgbClr val="83992A"/>
              </a:buClr>
              <a:buSzPts val="3000"/>
              <a:buFont typeface="Garamond"/>
              <a:buAutoNum type="alphaUcPeriod" startAt="2"/>
            </a:pPr>
            <a:r>
              <a:rPr b="1" lang="fr-FR" sz="2600">
                <a:solidFill>
                  <a:srgbClr val="252525"/>
                </a:solidFill>
                <a:latin typeface="Garamond"/>
                <a:ea typeface="Garamond"/>
                <a:cs typeface="Garamond"/>
                <a:sym typeface="Garamond"/>
              </a:rPr>
              <a:t>Permet	une	association	d’un	deuxième	anxiolytique</a:t>
            </a:r>
            <a:endParaRPr sz="2600">
              <a:latin typeface="Garamond"/>
              <a:ea typeface="Garamond"/>
              <a:cs typeface="Garamond"/>
              <a:sym typeface="Garamond"/>
            </a:endParaRPr>
          </a:p>
          <a:p>
            <a:pPr indent="0" lvl="0" marL="527685" rtl="0" algn="l">
              <a:lnSpc>
                <a:spcPct val="117692"/>
              </a:lnSpc>
              <a:spcBef>
                <a:spcPts val="0"/>
              </a:spcBef>
              <a:spcAft>
                <a:spcPts val="0"/>
              </a:spcAft>
              <a:buNone/>
            </a:pPr>
            <a:r>
              <a:rPr b="1" lang="fr-FR" sz="2600">
                <a:solidFill>
                  <a:srgbClr val="252525"/>
                </a:solidFill>
                <a:latin typeface="Garamond"/>
                <a:ea typeface="Garamond"/>
                <a:cs typeface="Garamond"/>
                <a:sym typeface="Garamond"/>
              </a:rPr>
              <a:t>d’inefficacité du premier</a:t>
            </a:r>
            <a:endParaRPr sz="2600">
              <a:latin typeface="Garamond"/>
              <a:ea typeface="Garamond"/>
              <a:cs typeface="Garamond"/>
              <a:sym typeface="Garamond"/>
            </a:endParaRPr>
          </a:p>
          <a:p>
            <a:pPr indent="-514350" lvl="0" marL="527050" rtl="0" algn="l">
              <a:lnSpc>
                <a:spcPct val="100000"/>
              </a:lnSpc>
              <a:spcBef>
                <a:spcPts val="835"/>
              </a:spcBef>
              <a:spcAft>
                <a:spcPts val="0"/>
              </a:spcAft>
              <a:buClr>
                <a:srgbClr val="83992A"/>
              </a:buClr>
              <a:buSzPts val="3000"/>
              <a:buFont typeface="Garamond"/>
              <a:buAutoNum type="alphaUcPeriod" startAt="3"/>
            </a:pPr>
            <a:r>
              <a:rPr b="1" lang="fr-FR" sz="2600">
                <a:solidFill>
                  <a:srgbClr val="FF0000"/>
                </a:solidFill>
                <a:latin typeface="Garamond"/>
                <a:ea typeface="Garamond"/>
                <a:cs typeface="Garamond"/>
                <a:sym typeface="Garamond"/>
              </a:rPr>
              <a:t>Doit être régulièrement réévaluée</a:t>
            </a:r>
            <a:endParaRPr sz="2600">
              <a:solidFill>
                <a:srgbClr val="FF0000"/>
              </a:solidFill>
              <a:latin typeface="Garamond"/>
              <a:ea typeface="Garamond"/>
              <a:cs typeface="Garamond"/>
              <a:sym typeface="Garamond"/>
            </a:endParaRPr>
          </a:p>
          <a:p>
            <a:pPr indent="-513715" lvl="0" marL="526415" rtl="0" algn="l">
              <a:lnSpc>
                <a:spcPct val="100000"/>
              </a:lnSpc>
              <a:spcBef>
                <a:spcPts val="750"/>
              </a:spcBef>
              <a:spcAft>
                <a:spcPts val="0"/>
              </a:spcAft>
              <a:buClr>
                <a:srgbClr val="83992A"/>
              </a:buClr>
              <a:buSzPts val="3000"/>
              <a:buFont typeface="Garamond"/>
              <a:buAutoNum type="alphaUcPeriod" startAt="3"/>
            </a:pPr>
            <a:r>
              <a:rPr b="1" lang="fr-FR" sz="2600">
                <a:solidFill>
                  <a:srgbClr val="252525"/>
                </a:solidFill>
                <a:latin typeface="Garamond"/>
                <a:ea typeface="Garamond"/>
                <a:cs typeface="Garamond"/>
                <a:sym typeface="Garamond"/>
              </a:rPr>
              <a:t>Est dénuée de risques chez le sujet âgé</a:t>
            </a:r>
            <a:endParaRPr sz="2600">
              <a:latin typeface="Garamond"/>
              <a:ea typeface="Garamond"/>
              <a:cs typeface="Garamond"/>
              <a:sym typeface="Garamond"/>
            </a:endParaRPr>
          </a:p>
          <a:p>
            <a:pPr indent="-514350" lvl="0" marL="527050" rtl="0" algn="l">
              <a:lnSpc>
                <a:spcPct val="100000"/>
              </a:lnSpc>
              <a:spcBef>
                <a:spcPts val="760"/>
              </a:spcBef>
              <a:spcAft>
                <a:spcPts val="0"/>
              </a:spcAft>
              <a:buClr>
                <a:srgbClr val="83992A"/>
              </a:buClr>
              <a:buSzPts val="3000"/>
              <a:buFont typeface="Garamond"/>
              <a:buAutoNum type="alphaUcPeriod" startAt="3"/>
            </a:pPr>
            <a:r>
              <a:rPr b="1" lang="fr-FR" sz="2600">
                <a:solidFill>
                  <a:srgbClr val="252525"/>
                </a:solidFill>
                <a:latin typeface="Garamond"/>
                <a:ea typeface="Garamond"/>
                <a:cs typeface="Garamond"/>
                <a:sym typeface="Garamond"/>
              </a:rPr>
              <a:t>Peut être systématiquement renouvelée le premier mois</a:t>
            </a:r>
            <a:endParaRPr sz="2600">
              <a:latin typeface="Garamond"/>
              <a:ea typeface="Garamond"/>
              <a:cs typeface="Garamond"/>
              <a:sym typeface="Garamond"/>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9" name="Shape 1579"/>
        <p:cNvGrpSpPr/>
        <p:nvPr/>
      </p:nvGrpSpPr>
      <p:grpSpPr>
        <a:xfrm>
          <a:off x="0" y="0"/>
          <a:ext cx="0" cy="0"/>
          <a:chOff x="0" y="0"/>
          <a:chExt cx="0" cy="0"/>
        </a:xfrm>
      </p:grpSpPr>
      <p:sp>
        <p:nvSpPr>
          <p:cNvPr id="1580" name="Google Shape;1580;p194"/>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81" name="Google Shape;1581;p194"/>
          <p:cNvSpPr txBox="1"/>
          <p:nvPr>
            <p:ph type="title"/>
          </p:nvPr>
        </p:nvSpPr>
        <p:spPr>
          <a:xfrm>
            <a:off x="802005" y="636905"/>
            <a:ext cx="10587989" cy="1671955"/>
          </a:xfrm>
          <a:prstGeom prst="rect">
            <a:avLst/>
          </a:prstGeom>
          <a:noFill/>
          <a:ln>
            <a:noFill/>
          </a:ln>
        </p:spPr>
        <p:txBody>
          <a:bodyPr anchorCtr="0" anchor="t" bIns="0" lIns="0" spcFirstLastPara="1" rIns="0" wrap="square" tIns="793675">
            <a:spAutoFit/>
          </a:bodyPr>
          <a:lstStyle/>
          <a:p>
            <a:pPr indent="0" lvl="0" marL="582930" rtl="0" algn="l">
              <a:lnSpc>
                <a:spcPct val="100000"/>
              </a:lnSpc>
              <a:spcBef>
                <a:spcPts val="0"/>
              </a:spcBef>
              <a:spcAft>
                <a:spcPts val="0"/>
              </a:spcAft>
              <a:buNone/>
            </a:pPr>
            <a:r>
              <a:rPr lang="fr-FR" sz="4400">
                <a:solidFill>
                  <a:srgbClr val="000000"/>
                </a:solidFill>
              </a:rPr>
              <a:t>L’arrêt d’un anxiolytique :</a:t>
            </a:r>
            <a:endParaRPr sz="4400"/>
          </a:p>
        </p:txBody>
      </p:sp>
      <p:sp>
        <p:nvSpPr>
          <p:cNvPr id="1582" name="Google Shape;1582;p19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583" name="Google Shape;1583;p194"/>
          <p:cNvSpPr txBox="1"/>
          <p:nvPr/>
        </p:nvSpPr>
        <p:spPr>
          <a:xfrm>
            <a:off x="1094739" y="2379142"/>
            <a:ext cx="10455910" cy="2469266"/>
          </a:xfrm>
          <a:prstGeom prst="rect">
            <a:avLst/>
          </a:prstGeom>
          <a:noFill/>
          <a:ln>
            <a:noFill/>
          </a:ln>
        </p:spPr>
        <p:txBody>
          <a:bodyPr anchorCtr="0" anchor="t" bIns="0" lIns="0" spcFirstLastPara="1" rIns="0" wrap="square" tIns="57775">
            <a:spAutoFit/>
          </a:bodyPr>
          <a:lstStyle/>
          <a:p>
            <a:pPr indent="-514350" lvl="0" marL="527050" rtl="0" algn="l">
              <a:lnSpc>
                <a:spcPct val="100000"/>
              </a:lnSpc>
              <a:spcBef>
                <a:spcPts val="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Expose au risque de réapparition des symptômes initiaux</a:t>
            </a:r>
            <a:endParaRPr sz="2600">
              <a:solidFill>
                <a:srgbClr val="FF0000"/>
              </a:solidFill>
              <a:latin typeface="Garamond"/>
              <a:ea typeface="Garamond"/>
              <a:cs typeface="Garamond"/>
              <a:sym typeface="Garamond"/>
            </a:endParaRPr>
          </a:p>
          <a:p>
            <a:pPr indent="-514350" lvl="0" marL="527050" rtl="0" algn="l">
              <a:lnSpc>
                <a:spcPct val="100000"/>
              </a:lnSpc>
              <a:spcBef>
                <a:spcPts val="760"/>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Se fait en réduisant la posologie de 50% toutes les semaines</a:t>
            </a:r>
            <a:endParaRPr sz="2600">
              <a:latin typeface="Garamond"/>
              <a:ea typeface="Garamond"/>
              <a:cs typeface="Garamond"/>
              <a:sym typeface="Garamond"/>
            </a:endParaRPr>
          </a:p>
          <a:p>
            <a:pPr indent="-514350" lvl="0" marL="527050"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Se fait en réduisant la posologie de 50% tous les 15 jours si dépendance</a:t>
            </a:r>
            <a:endParaRPr sz="2600">
              <a:solidFill>
                <a:srgbClr val="FF0000"/>
              </a:solidFill>
              <a:latin typeface="Garamond"/>
              <a:ea typeface="Garamond"/>
              <a:cs typeface="Garamond"/>
              <a:sym typeface="Garamond"/>
            </a:endParaRPr>
          </a:p>
          <a:p>
            <a:pPr indent="-513080" lvl="0" marL="525780" rtl="0" algn="l">
              <a:lnSpc>
                <a:spcPct val="100000"/>
              </a:lnSpc>
              <a:spcBef>
                <a:spcPts val="75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Est d’autant plus difficile que la posologie est élevée</a:t>
            </a:r>
            <a:endParaRPr sz="2600">
              <a:solidFill>
                <a:srgbClr val="FF0000"/>
              </a:solidFill>
              <a:latin typeface="Garamond"/>
              <a:ea typeface="Garamond"/>
              <a:cs typeface="Garamond"/>
              <a:sym typeface="Garamond"/>
            </a:endParaRPr>
          </a:p>
          <a:p>
            <a:pPr indent="-514350" lvl="0" marL="527050" rtl="0" algn="l">
              <a:lnSpc>
                <a:spcPct val="100000"/>
              </a:lnSpc>
              <a:spcBef>
                <a:spcPts val="76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Doit être progressif</a:t>
            </a:r>
            <a:endParaRPr sz="2600">
              <a:solidFill>
                <a:srgbClr val="FF0000"/>
              </a:solidFill>
              <a:latin typeface="Garamond"/>
              <a:ea typeface="Garamond"/>
              <a:cs typeface="Garamond"/>
              <a:sym typeface="Garamond"/>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7" name="Shape 1587"/>
        <p:cNvGrpSpPr/>
        <p:nvPr/>
      </p:nvGrpSpPr>
      <p:grpSpPr>
        <a:xfrm>
          <a:off x="0" y="0"/>
          <a:ext cx="0" cy="0"/>
          <a:chOff x="0" y="0"/>
          <a:chExt cx="0" cy="0"/>
        </a:xfrm>
      </p:grpSpPr>
      <p:sp>
        <p:nvSpPr>
          <p:cNvPr id="1588" name="Google Shape;1588;p195"/>
          <p:cNvSpPr txBox="1"/>
          <p:nvPr>
            <p:ph type="title"/>
          </p:nvPr>
        </p:nvSpPr>
        <p:spPr>
          <a:xfrm>
            <a:off x="1375028" y="1068069"/>
            <a:ext cx="9445625" cy="1377950"/>
          </a:xfrm>
          <a:prstGeom prst="rect">
            <a:avLst/>
          </a:prstGeom>
          <a:noFill/>
          <a:ln>
            <a:noFill/>
          </a:ln>
        </p:spPr>
        <p:txBody>
          <a:bodyPr anchorCtr="0" anchor="t" bIns="0" lIns="0" spcFirstLastPara="1" rIns="0" wrap="square" tIns="9525">
            <a:spAutoFit/>
          </a:bodyPr>
          <a:lstStyle/>
          <a:p>
            <a:pPr indent="0" lvl="0" marL="12700" marR="5080" rtl="0" algn="l">
              <a:lnSpc>
                <a:spcPct val="101000"/>
              </a:lnSpc>
              <a:spcBef>
                <a:spcPts val="0"/>
              </a:spcBef>
              <a:spcAft>
                <a:spcPts val="0"/>
              </a:spcAft>
              <a:buNone/>
            </a:pPr>
            <a:r>
              <a:rPr lang="fr-FR" sz="4400">
                <a:solidFill>
                  <a:srgbClr val="000000"/>
                </a:solidFill>
              </a:rPr>
              <a:t>Les traitements prolongés par les </a:t>
            </a:r>
            <a:r>
              <a:rPr lang="fr-FR" sz="4400" u="sng">
                <a:solidFill>
                  <a:srgbClr val="000000"/>
                </a:solidFill>
              </a:rPr>
              <a:t>benzodiazépines peuvent provoquer </a:t>
            </a:r>
            <a:r>
              <a:rPr lang="fr-FR" sz="4400" u="sng"/>
              <a:t>:	</a:t>
            </a:r>
            <a:endParaRPr sz="4400"/>
          </a:p>
        </p:txBody>
      </p:sp>
      <p:sp>
        <p:nvSpPr>
          <p:cNvPr id="1589" name="Google Shape;1589;p19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590" name="Google Shape;1590;p195"/>
          <p:cNvSpPr txBox="1"/>
          <p:nvPr/>
        </p:nvSpPr>
        <p:spPr>
          <a:xfrm>
            <a:off x="1375028" y="2583523"/>
            <a:ext cx="5312410" cy="2455800"/>
          </a:xfrm>
          <a:prstGeom prst="rect">
            <a:avLst/>
          </a:prstGeom>
          <a:noFill/>
          <a:ln>
            <a:noFill/>
          </a:ln>
        </p:spPr>
        <p:txBody>
          <a:bodyPr anchorCtr="0" anchor="t" bIns="0" lIns="0" spcFirstLastPara="1" rIns="0" wrap="square" tIns="57150">
            <a:spAutoFit/>
          </a:bodyPr>
          <a:lstStyle/>
          <a:p>
            <a:pPr indent="-514983" lvl="0" marL="527685" rtl="0" algn="l">
              <a:lnSpc>
                <a:spcPct val="100000"/>
              </a:lnSpc>
              <a:spcBef>
                <a:spcPts val="0"/>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Des troubles du rythme cardiaque</a:t>
            </a:r>
            <a:endParaRPr sz="2600">
              <a:latin typeface="Garamond"/>
              <a:ea typeface="Garamond"/>
              <a:cs typeface="Garamond"/>
              <a:sym typeface="Garamond"/>
            </a:endParaRPr>
          </a:p>
          <a:p>
            <a:pPr indent="-514983" lvl="0" marL="527685"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Des chutes</a:t>
            </a:r>
            <a:endParaRPr sz="2600">
              <a:solidFill>
                <a:srgbClr val="FF0000"/>
              </a:solidFill>
              <a:latin typeface="Garamond"/>
              <a:ea typeface="Garamond"/>
              <a:cs typeface="Garamond"/>
              <a:sym typeface="Garamond"/>
            </a:endParaRPr>
          </a:p>
          <a:p>
            <a:pPr indent="-514983" lvl="0" marL="527685" rtl="0" algn="l">
              <a:lnSpc>
                <a:spcPct val="100000"/>
              </a:lnSpc>
              <a:spcBef>
                <a:spcPts val="75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Une insomnie</a:t>
            </a:r>
            <a:endParaRPr sz="2600">
              <a:latin typeface="Garamond"/>
              <a:ea typeface="Garamond"/>
              <a:cs typeface="Garamond"/>
              <a:sym typeface="Garamond"/>
            </a:endParaRPr>
          </a:p>
          <a:p>
            <a:pPr indent="-513715" lvl="0" marL="526415"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Des troubles mnésiques</a:t>
            </a:r>
            <a:endParaRPr sz="2600">
              <a:solidFill>
                <a:srgbClr val="FF0000"/>
              </a:solidFill>
              <a:latin typeface="Garamond"/>
              <a:ea typeface="Garamond"/>
              <a:cs typeface="Garamond"/>
              <a:sym typeface="Garamond"/>
            </a:endParaRPr>
          </a:p>
          <a:p>
            <a:pPr indent="-514983" lvl="0" marL="527685" rtl="0" algn="l">
              <a:lnSpc>
                <a:spcPct val="100000"/>
              </a:lnSpc>
              <a:spcBef>
                <a:spcPts val="68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Une dépendance physique</a:t>
            </a:r>
            <a:endParaRPr sz="2600">
              <a:solidFill>
                <a:srgbClr val="FF0000"/>
              </a:solidFill>
              <a:latin typeface="Garamond"/>
              <a:ea typeface="Garamond"/>
              <a:cs typeface="Garamond"/>
              <a:sym typeface="Garamond"/>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4" name="Shape 1594"/>
        <p:cNvGrpSpPr/>
        <p:nvPr/>
      </p:nvGrpSpPr>
      <p:grpSpPr>
        <a:xfrm>
          <a:off x="0" y="0"/>
          <a:ext cx="0" cy="0"/>
          <a:chOff x="0" y="0"/>
          <a:chExt cx="0" cy="0"/>
        </a:xfrm>
      </p:grpSpPr>
      <p:sp>
        <p:nvSpPr>
          <p:cNvPr id="1595" name="Google Shape;1595;p196"/>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96" name="Google Shape;1596;p196"/>
          <p:cNvSpPr txBox="1"/>
          <p:nvPr>
            <p:ph type="title"/>
          </p:nvPr>
        </p:nvSpPr>
        <p:spPr>
          <a:xfrm>
            <a:off x="802005" y="636905"/>
            <a:ext cx="10587989" cy="1671955"/>
          </a:xfrm>
          <a:prstGeom prst="rect">
            <a:avLst/>
          </a:prstGeom>
          <a:noFill/>
          <a:ln>
            <a:noFill/>
          </a:ln>
        </p:spPr>
        <p:txBody>
          <a:bodyPr anchorCtr="0" anchor="t" bIns="0" lIns="0" spcFirstLastPara="1" rIns="0" wrap="square" tIns="793675">
            <a:spAutoFit/>
          </a:bodyPr>
          <a:lstStyle/>
          <a:p>
            <a:pPr indent="0" lvl="0" marL="688340" rtl="0" algn="l">
              <a:lnSpc>
                <a:spcPct val="100000"/>
              </a:lnSpc>
              <a:spcBef>
                <a:spcPts val="0"/>
              </a:spcBef>
              <a:spcAft>
                <a:spcPts val="0"/>
              </a:spcAft>
              <a:buNone/>
            </a:pPr>
            <a:r>
              <a:rPr lang="fr-FR" sz="4400"/>
              <a:t>Les benzodiazépines :</a:t>
            </a:r>
            <a:endParaRPr sz="4400"/>
          </a:p>
        </p:txBody>
      </p:sp>
      <p:sp>
        <p:nvSpPr>
          <p:cNvPr id="1597" name="Google Shape;1597;p19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598" name="Google Shape;1598;p196"/>
          <p:cNvSpPr txBox="1"/>
          <p:nvPr/>
        </p:nvSpPr>
        <p:spPr>
          <a:xfrm>
            <a:off x="1375028" y="2473525"/>
            <a:ext cx="8528685" cy="2467983"/>
          </a:xfrm>
          <a:prstGeom prst="rect">
            <a:avLst/>
          </a:prstGeom>
          <a:noFill/>
          <a:ln>
            <a:noFill/>
          </a:ln>
        </p:spPr>
        <p:txBody>
          <a:bodyPr anchorCtr="0" anchor="t" bIns="0" lIns="0" spcFirstLastPara="1" rIns="0" wrap="square" tIns="56500">
            <a:spAutoFit/>
          </a:bodyPr>
          <a:lstStyle/>
          <a:p>
            <a:pPr indent="-514983" lvl="0" marL="527685" rtl="0" algn="l">
              <a:lnSpc>
                <a:spcPct val="100000"/>
              </a:lnSpc>
              <a:spcBef>
                <a:spcPts val="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Ont un métabolisme hépatique</a:t>
            </a:r>
            <a:endParaRPr sz="2600">
              <a:solidFill>
                <a:srgbClr val="FF0000"/>
              </a:solidFill>
              <a:latin typeface="Garamond"/>
              <a:ea typeface="Garamond"/>
              <a:cs typeface="Garamond"/>
              <a:sym typeface="Garamond"/>
            </a:endParaRPr>
          </a:p>
          <a:p>
            <a:pPr indent="-514983" lvl="0" marL="527685"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Ont un effet myorelaxant</a:t>
            </a:r>
            <a:endParaRPr sz="2600">
              <a:solidFill>
                <a:srgbClr val="FF0000"/>
              </a:solidFill>
              <a:latin typeface="Garamond"/>
              <a:ea typeface="Garamond"/>
              <a:cs typeface="Garamond"/>
              <a:sym typeface="Garamond"/>
            </a:endParaRPr>
          </a:p>
          <a:p>
            <a:pPr indent="-514983" lvl="0" marL="527685" rtl="0" algn="l">
              <a:lnSpc>
                <a:spcPct val="100000"/>
              </a:lnSpc>
              <a:spcBef>
                <a:spcPts val="760"/>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Sont contre indiqués dans l’épilepsie</a:t>
            </a:r>
            <a:endParaRPr sz="2600">
              <a:latin typeface="Garamond"/>
              <a:ea typeface="Garamond"/>
              <a:cs typeface="Garamond"/>
              <a:sym typeface="Garamond"/>
            </a:endParaRPr>
          </a:p>
          <a:p>
            <a:pPr indent="-513715" lvl="0" marL="526415"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Sont efficaces dans le traitement des attaques de panique</a:t>
            </a:r>
            <a:endParaRPr sz="2600">
              <a:solidFill>
                <a:srgbClr val="FF0000"/>
              </a:solidFill>
              <a:latin typeface="Garamond"/>
              <a:ea typeface="Garamond"/>
              <a:cs typeface="Garamond"/>
              <a:sym typeface="Garamond"/>
            </a:endParaRPr>
          </a:p>
          <a:p>
            <a:pPr indent="-514983" lvl="0" marL="527685" rtl="0" algn="l">
              <a:lnSpc>
                <a:spcPct val="100000"/>
              </a:lnSpc>
              <a:spcBef>
                <a:spcPts val="75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Ont une action cérébrale exclusive</a:t>
            </a:r>
            <a:endParaRPr sz="2600">
              <a:latin typeface="Garamond"/>
              <a:ea typeface="Garamond"/>
              <a:cs typeface="Garamond"/>
              <a:sym typeface="Garamond"/>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2" name="Shape 1602"/>
        <p:cNvGrpSpPr/>
        <p:nvPr/>
      </p:nvGrpSpPr>
      <p:grpSpPr>
        <a:xfrm>
          <a:off x="0" y="0"/>
          <a:ext cx="0" cy="0"/>
          <a:chOff x="0" y="0"/>
          <a:chExt cx="0" cy="0"/>
        </a:xfrm>
      </p:grpSpPr>
      <p:sp>
        <p:nvSpPr>
          <p:cNvPr id="1603" name="Google Shape;1603;p197"/>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04" name="Google Shape;1604;p197"/>
          <p:cNvSpPr txBox="1"/>
          <p:nvPr>
            <p:ph type="title"/>
          </p:nvPr>
        </p:nvSpPr>
        <p:spPr>
          <a:xfrm>
            <a:off x="802005" y="636905"/>
            <a:ext cx="10587989" cy="1671955"/>
          </a:xfrm>
          <a:prstGeom prst="rect">
            <a:avLst/>
          </a:prstGeom>
          <a:noFill/>
          <a:ln>
            <a:noFill/>
          </a:ln>
        </p:spPr>
        <p:txBody>
          <a:bodyPr anchorCtr="0" anchor="t" bIns="0" lIns="0" spcFirstLastPara="1" rIns="0" wrap="square" tIns="273725">
            <a:spAutoFit/>
          </a:bodyPr>
          <a:lstStyle/>
          <a:p>
            <a:pPr indent="0" lvl="0" marL="585470" marR="5080" rtl="0" algn="l">
              <a:lnSpc>
                <a:spcPct val="101000"/>
              </a:lnSpc>
              <a:spcBef>
                <a:spcPts val="0"/>
              </a:spcBef>
              <a:spcAft>
                <a:spcPts val="0"/>
              </a:spcAft>
              <a:buNone/>
            </a:pPr>
            <a:r>
              <a:rPr lang="fr-FR" sz="4400"/>
              <a:t>Quelles sont les propriétés pharmacologiques des benzodiazépines ?</a:t>
            </a:r>
            <a:endParaRPr sz="4400"/>
          </a:p>
        </p:txBody>
      </p:sp>
      <p:sp>
        <p:nvSpPr>
          <p:cNvPr id="1605" name="Google Shape;1605;p19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606" name="Google Shape;1606;p197"/>
          <p:cNvSpPr txBox="1"/>
          <p:nvPr/>
        </p:nvSpPr>
        <p:spPr>
          <a:xfrm>
            <a:off x="1375028" y="2473525"/>
            <a:ext cx="3285490" cy="2467983"/>
          </a:xfrm>
          <a:prstGeom prst="rect">
            <a:avLst/>
          </a:prstGeom>
          <a:noFill/>
          <a:ln>
            <a:noFill/>
          </a:ln>
        </p:spPr>
        <p:txBody>
          <a:bodyPr anchorCtr="0" anchor="t" bIns="0" lIns="0" spcFirstLastPara="1" rIns="0" wrap="square" tIns="56500">
            <a:spAutoFit/>
          </a:bodyPr>
          <a:lstStyle/>
          <a:p>
            <a:pPr indent="-514983" lvl="0" marL="527685" rtl="0" algn="l">
              <a:lnSpc>
                <a:spcPct val="100000"/>
              </a:lnSpc>
              <a:spcBef>
                <a:spcPts val="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Anxiolytiques</a:t>
            </a:r>
            <a:endParaRPr sz="2600">
              <a:solidFill>
                <a:srgbClr val="FF0000"/>
              </a:solidFill>
              <a:latin typeface="Garamond"/>
              <a:ea typeface="Garamond"/>
              <a:cs typeface="Garamond"/>
              <a:sym typeface="Garamond"/>
            </a:endParaRPr>
          </a:p>
          <a:p>
            <a:pPr indent="-514983" lvl="0" marL="527685"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Sédatives</a:t>
            </a:r>
            <a:endParaRPr sz="2600">
              <a:solidFill>
                <a:srgbClr val="FF0000"/>
              </a:solidFill>
              <a:latin typeface="Garamond"/>
              <a:ea typeface="Garamond"/>
              <a:cs typeface="Garamond"/>
              <a:sym typeface="Garamond"/>
            </a:endParaRPr>
          </a:p>
          <a:p>
            <a:pPr indent="-514983" lvl="0" marL="527685" rtl="0" algn="l">
              <a:lnSpc>
                <a:spcPct val="100000"/>
              </a:lnSpc>
              <a:spcBef>
                <a:spcPts val="760"/>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Vasodilatatrices</a:t>
            </a:r>
            <a:endParaRPr sz="2600">
              <a:latin typeface="Garamond"/>
              <a:ea typeface="Garamond"/>
              <a:cs typeface="Garamond"/>
              <a:sym typeface="Garamond"/>
            </a:endParaRPr>
          </a:p>
          <a:p>
            <a:pPr indent="-513715" lvl="0" marL="526415"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Myorelaxantes</a:t>
            </a:r>
            <a:endParaRPr sz="2600">
              <a:solidFill>
                <a:srgbClr val="FF0000"/>
              </a:solidFill>
              <a:latin typeface="Garamond"/>
              <a:ea typeface="Garamond"/>
              <a:cs typeface="Garamond"/>
              <a:sym typeface="Garamond"/>
            </a:endParaRPr>
          </a:p>
          <a:p>
            <a:pPr indent="-514983" lvl="0" marL="527685"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Anti-convulsivantes</a:t>
            </a:r>
            <a:endParaRPr sz="2600">
              <a:solidFill>
                <a:srgbClr val="FF0000"/>
              </a:solidFill>
              <a:latin typeface="Garamond"/>
              <a:ea typeface="Garamond"/>
              <a:cs typeface="Garamond"/>
              <a:sym typeface="Garamond"/>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0" name="Shape 1610"/>
        <p:cNvGrpSpPr/>
        <p:nvPr/>
      </p:nvGrpSpPr>
      <p:grpSpPr>
        <a:xfrm>
          <a:off x="0" y="0"/>
          <a:ext cx="0" cy="0"/>
          <a:chOff x="0" y="0"/>
          <a:chExt cx="0" cy="0"/>
        </a:xfrm>
      </p:grpSpPr>
      <p:sp>
        <p:nvSpPr>
          <p:cNvPr id="1611" name="Google Shape;1611;p198"/>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12" name="Google Shape;1612;p198"/>
          <p:cNvSpPr txBox="1"/>
          <p:nvPr>
            <p:ph type="title"/>
          </p:nvPr>
        </p:nvSpPr>
        <p:spPr>
          <a:xfrm>
            <a:off x="802005" y="636905"/>
            <a:ext cx="10587989" cy="1671955"/>
          </a:xfrm>
          <a:prstGeom prst="rect">
            <a:avLst/>
          </a:prstGeom>
          <a:noFill/>
          <a:ln>
            <a:noFill/>
          </a:ln>
        </p:spPr>
        <p:txBody>
          <a:bodyPr anchorCtr="0" anchor="t" bIns="0" lIns="0" spcFirstLastPara="1" rIns="0" wrap="square" tIns="741725">
            <a:spAutoFit/>
          </a:bodyPr>
          <a:lstStyle/>
          <a:p>
            <a:pPr indent="0" lvl="0" marL="717550" rtl="0" algn="l">
              <a:lnSpc>
                <a:spcPct val="100000"/>
              </a:lnSpc>
              <a:spcBef>
                <a:spcPts val="0"/>
              </a:spcBef>
              <a:spcAft>
                <a:spcPts val="0"/>
              </a:spcAft>
              <a:buNone/>
            </a:pPr>
            <a:r>
              <a:rPr lang="fr-FR" sz="4400"/>
              <a:t>Les benzodiazépines :</a:t>
            </a:r>
            <a:endParaRPr sz="4400"/>
          </a:p>
        </p:txBody>
      </p:sp>
      <p:sp>
        <p:nvSpPr>
          <p:cNvPr id="1613" name="Google Shape;1613;p19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614" name="Google Shape;1614;p198"/>
          <p:cNvSpPr txBox="1"/>
          <p:nvPr/>
        </p:nvSpPr>
        <p:spPr>
          <a:xfrm>
            <a:off x="1375028" y="2469102"/>
            <a:ext cx="5166360" cy="2568652"/>
          </a:xfrm>
          <a:prstGeom prst="rect">
            <a:avLst/>
          </a:prstGeom>
          <a:noFill/>
          <a:ln>
            <a:noFill/>
          </a:ln>
        </p:spPr>
        <p:txBody>
          <a:bodyPr anchorCtr="0" anchor="t" bIns="0" lIns="0" spcFirstLastPara="1" rIns="0" wrap="square" tIns="546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Ont un effet diurétique</a:t>
            </a:r>
            <a:endParaRPr sz="2750">
              <a:latin typeface="Garamond"/>
              <a:ea typeface="Garamond"/>
              <a:cs typeface="Garamond"/>
              <a:sym typeface="Garamond"/>
            </a:endParaRPr>
          </a:p>
          <a:p>
            <a:pPr indent="-514350" lvl="0" marL="527050"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Ont un effet antiémétique</a:t>
            </a:r>
            <a:endParaRPr sz="2750">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Ont un effet hyper-uricémiant</a:t>
            </a:r>
            <a:endParaRPr sz="2750">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Ont un effet antiinflammatoire</a:t>
            </a:r>
            <a:endParaRPr sz="2750">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Ont un effet hypnotique</a:t>
            </a:r>
            <a:endParaRPr sz="2750">
              <a:solidFill>
                <a:srgbClr val="FF0000"/>
              </a:solidFill>
              <a:latin typeface="Garamond"/>
              <a:ea typeface="Garamond"/>
              <a:cs typeface="Garamond"/>
              <a:sym typeface="Garamond"/>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8" name="Shape 1618"/>
        <p:cNvGrpSpPr/>
        <p:nvPr/>
      </p:nvGrpSpPr>
      <p:grpSpPr>
        <a:xfrm>
          <a:off x="0" y="0"/>
          <a:ext cx="0" cy="0"/>
          <a:chOff x="0" y="0"/>
          <a:chExt cx="0" cy="0"/>
        </a:xfrm>
      </p:grpSpPr>
      <p:sp>
        <p:nvSpPr>
          <p:cNvPr id="1619" name="Google Shape;1619;p199"/>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20" name="Google Shape;1620;p199"/>
          <p:cNvSpPr txBox="1"/>
          <p:nvPr>
            <p:ph type="title"/>
          </p:nvPr>
        </p:nvSpPr>
        <p:spPr>
          <a:xfrm>
            <a:off x="710247" y="487680"/>
            <a:ext cx="10823575" cy="1852930"/>
          </a:xfrm>
          <a:prstGeom prst="rect">
            <a:avLst/>
          </a:prstGeom>
          <a:noFill/>
          <a:ln>
            <a:noFill/>
          </a:ln>
        </p:spPr>
        <p:txBody>
          <a:bodyPr anchorCtr="0" anchor="t" bIns="0" lIns="0" spcFirstLastPara="1" rIns="0" wrap="square" tIns="7600">
            <a:spAutoFit/>
          </a:bodyPr>
          <a:lstStyle/>
          <a:p>
            <a:pPr indent="127000" lvl="0" marL="12700" marR="5080" rtl="0" algn="l">
              <a:lnSpc>
                <a:spcPct val="101400"/>
              </a:lnSpc>
              <a:spcBef>
                <a:spcPts val="0"/>
              </a:spcBef>
              <a:spcAft>
                <a:spcPts val="0"/>
              </a:spcAft>
              <a:buNone/>
            </a:pPr>
            <a:r>
              <a:rPr lang="fr-FR" sz="3950"/>
              <a:t>Parmi les propriétés pharmacologiques suivantes, une seule ne s'applique pas aux benzodiazépines.</a:t>
            </a:r>
            <a:endParaRPr sz="3950"/>
          </a:p>
          <a:p>
            <a:pPr indent="0" lvl="0" marL="12700" rtl="0" algn="l">
              <a:lnSpc>
                <a:spcPct val="100000"/>
              </a:lnSpc>
              <a:spcBef>
                <a:spcPts val="70"/>
              </a:spcBef>
              <a:spcAft>
                <a:spcPts val="0"/>
              </a:spcAft>
              <a:buNone/>
            </a:pPr>
            <a:r>
              <a:rPr lang="fr-FR" sz="3950"/>
              <a:t>Laquelle?</a:t>
            </a:r>
            <a:endParaRPr sz="3950"/>
          </a:p>
        </p:txBody>
      </p:sp>
      <p:sp>
        <p:nvSpPr>
          <p:cNvPr id="1621" name="Google Shape;1621;p19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622" name="Google Shape;1622;p199"/>
          <p:cNvSpPr txBox="1"/>
          <p:nvPr/>
        </p:nvSpPr>
        <p:spPr>
          <a:xfrm>
            <a:off x="1375028" y="2754919"/>
            <a:ext cx="4263390" cy="2346796"/>
          </a:xfrm>
          <a:prstGeom prst="rect">
            <a:avLst/>
          </a:prstGeom>
          <a:noFill/>
          <a:ln>
            <a:noFill/>
          </a:ln>
        </p:spPr>
        <p:txBody>
          <a:bodyPr anchorCtr="0" anchor="t" bIns="0" lIns="0" spcFirstLastPara="1" rIns="0" wrap="square" tIns="127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Anxiolytiques</a:t>
            </a:r>
            <a:endParaRPr sz="2750">
              <a:latin typeface="Garamond"/>
              <a:ea typeface="Garamond"/>
              <a:cs typeface="Garamond"/>
              <a:sym typeface="Garamond"/>
            </a:endParaRPr>
          </a:p>
          <a:p>
            <a:pPr indent="-514350" lvl="0" marL="527050" rtl="0" algn="l">
              <a:lnSpc>
                <a:spcPct val="100000"/>
              </a:lnSpc>
              <a:spcBef>
                <a:spcPts val="440"/>
              </a:spcBef>
              <a:spcAft>
                <a:spcPts val="0"/>
              </a:spcAft>
              <a:buClr>
                <a:srgbClr val="83992A"/>
              </a:buClr>
              <a:buSzPts val="3200"/>
              <a:buFont typeface="Garamond"/>
              <a:buAutoNum type="alphaUcPeriod"/>
            </a:pPr>
            <a:r>
              <a:rPr b="1" lang="fr-FR" sz="2750">
                <a:latin typeface="Garamond"/>
                <a:ea typeface="Garamond"/>
                <a:cs typeface="Garamond"/>
                <a:sym typeface="Garamond"/>
              </a:rPr>
              <a:t>Myorelaxantes</a:t>
            </a:r>
            <a:endParaRPr sz="2750">
              <a:latin typeface="Garamond"/>
              <a:ea typeface="Garamond"/>
              <a:cs typeface="Garamond"/>
              <a:sym typeface="Garamond"/>
            </a:endParaRPr>
          </a:p>
          <a:p>
            <a:pPr indent="-514350" lvl="0" marL="527050" rtl="0" algn="l">
              <a:lnSpc>
                <a:spcPct val="100000"/>
              </a:lnSpc>
              <a:spcBef>
                <a:spcPts val="44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Stimulantes respiratoires</a:t>
            </a:r>
            <a:endParaRPr sz="2750">
              <a:solidFill>
                <a:srgbClr val="FF0000"/>
              </a:solidFill>
              <a:latin typeface="Garamond"/>
              <a:ea typeface="Garamond"/>
              <a:cs typeface="Garamond"/>
              <a:sym typeface="Garamond"/>
            </a:endParaRPr>
          </a:p>
          <a:p>
            <a:pPr indent="-513715" lvl="0" marL="526415" rtl="0" algn="l">
              <a:lnSpc>
                <a:spcPct val="100000"/>
              </a:lnSpc>
              <a:spcBef>
                <a:spcPts val="43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Anti-convulsivantes</a:t>
            </a:r>
            <a:endParaRPr sz="2750">
              <a:latin typeface="Garamond"/>
              <a:ea typeface="Garamond"/>
              <a:cs typeface="Garamond"/>
              <a:sym typeface="Garamond"/>
            </a:endParaRPr>
          </a:p>
          <a:p>
            <a:pPr indent="-513715" lvl="0" marL="526415" rtl="0" algn="l">
              <a:lnSpc>
                <a:spcPct val="100000"/>
              </a:lnSpc>
              <a:spcBef>
                <a:spcPts val="5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sédatives</a:t>
            </a:r>
            <a:endParaRPr sz="2750">
              <a:latin typeface="Garamond"/>
              <a:ea typeface="Garamond"/>
              <a:cs typeface="Garamond"/>
              <a:sym typeface="Garamond"/>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6" name="Shape 1626"/>
        <p:cNvGrpSpPr/>
        <p:nvPr/>
      </p:nvGrpSpPr>
      <p:grpSpPr>
        <a:xfrm>
          <a:off x="0" y="0"/>
          <a:ext cx="0" cy="0"/>
          <a:chOff x="0" y="0"/>
          <a:chExt cx="0" cy="0"/>
        </a:xfrm>
      </p:grpSpPr>
      <p:sp>
        <p:nvSpPr>
          <p:cNvPr id="1627" name="Google Shape;1627;p200"/>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28" name="Google Shape;1628;p200"/>
          <p:cNvSpPr txBox="1"/>
          <p:nvPr>
            <p:ph type="title"/>
          </p:nvPr>
        </p:nvSpPr>
        <p:spPr>
          <a:xfrm>
            <a:off x="1375028" y="900493"/>
            <a:ext cx="8984615" cy="1378585"/>
          </a:xfrm>
          <a:prstGeom prst="rect">
            <a:avLst/>
          </a:prstGeom>
          <a:noFill/>
          <a:ln>
            <a:noFill/>
          </a:ln>
        </p:spPr>
        <p:txBody>
          <a:bodyPr anchorCtr="0" anchor="t" bIns="0" lIns="0" spcFirstLastPara="1" rIns="0" wrap="square" tIns="10150">
            <a:spAutoFit/>
          </a:bodyPr>
          <a:lstStyle/>
          <a:p>
            <a:pPr indent="0" lvl="0" marL="12700" marR="5080" rtl="0" algn="l">
              <a:lnSpc>
                <a:spcPct val="101000"/>
              </a:lnSpc>
              <a:spcBef>
                <a:spcPts val="0"/>
              </a:spcBef>
              <a:spcAft>
                <a:spcPts val="0"/>
              </a:spcAft>
              <a:buNone/>
            </a:pPr>
            <a:r>
              <a:rPr lang="fr-FR" sz="4400">
                <a:solidFill>
                  <a:srgbClr val="000000"/>
                </a:solidFill>
              </a:rPr>
              <a:t>Quelles sont les règles de prescription des benzodiazépines ?</a:t>
            </a:r>
            <a:endParaRPr sz="4400"/>
          </a:p>
        </p:txBody>
      </p:sp>
      <p:sp>
        <p:nvSpPr>
          <p:cNvPr id="1629" name="Google Shape;1629;p20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630" name="Google Shape;1630;p200"/>
          <p:cNvSpPr txBox="1"/>
          <p:nvPr/>
        </p:nvSpPr>
        <p:spPr>
          <a:xfrm>
            <a:off x="1375028" y="2422296"/>
            <a:ext cx="9274810" cy="2927725"/>
          </a:xfrm>
          <a:prstGeom prst="rect">
            <a:avLst/>
          </a:prstGeom>
          <a:noFill/>
          <a:ln>
            <a:noFill/>
          </a:ln>
        </p:spPr>
        <p:txBody>
          <a:bodyPr anchorCtr="0" anchor="t" bIns="0" lIns="0" spcFirstLastPara="1" rIns="0" wrap="square" tIns="57150">
            <a:spAutoFit/>
          </a:bodyPr>
          <a:lstStyle/>
          <a:p>
            <a:pPr indent="-514983" lvl="0" marL="527685" rtl="0" algn="l">
              <a:lnSpc>
                <a:spcPct val="100000"/>
              </a:lnSpc>
              <a:spcBef>
                <a:spcPts val="0"/>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Pas plus de 8 semaines.</a:t>
            </a:r>
            <a:endParaRPr sz="2600">
              <a:latin typeface="Garamond"/>
              <a:ea typeface="Garamond"/>
              <a:cs typeface="Garamond"/>
              <a:sym typeface="Garamond"/>
            </a:endParaRPr>
          </a:p>
          <a:p>
            <a:pPr indent="-514983" lvl="0" marL="527685" rtl="0" algn="l">
              <a:lnSpc>
                <a:spcPct val="100000"/>
              </a:lnSpc>
              <a:spcBef>
                <a:spcPts val="76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Durée limitée en prévention de la dépendance.</a:t>
            </a:r>
            <a:endParaRPr sz="2600">
              <a:solidFill>
                <a:srgbClr val="FF0000"/>
              </a:solidFill>
              <a:latin typeface="Garamond"/>
              <a:ea typeface="Garamond"/>
              <a:cs typeface="Garamond"/>
              <a:sym typeface="Garamond"/>
            </a:endParaRPr>
          </a:p>
          <a:p>
            <a:pPr indent="-514983" lvl="0" marL="527685" rtl="0" algn="l">
              <a:lnSpc>
                <a:spcPct val="100000"/>
              </a:lnSpc>
              <a:spcBef>
                <a:spcPts val="75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Deux benzodiazépines peuvent être prescrites en même temps</a:t>
            </a:r>
            <a:endParaRPr sz="2600">
              <a:latin typeface="Garamond"/>
              <a:ea typeface="Garamond"/>
              <a:cs typeface="Garamond"/>
              <a:sym typeface="Garamond"/>
            </a:endParaRPr>
          </a:p>
          <a:p>
            <a:pPr indent="-514350" lvl="0" marL="527050" rtl="0" algn="l">
              <a:lnSpc>
                <a:spcPct val="100000"/>
              </a:lnSpc>
              <a:spcBef>
                <a:spcPts val="75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La grossesse est une contre-indication absolue</a:t>
            </a:r>
            <a:endParaRPr sz="2600">
              <a:latin typeface="Garamond"/>
              <a:ea typeface="Garamond"/>
              <a:cs typeface="Garamond"/>
              <a:sym typeface="Garamond"/>
            </a:endParaRPr>
          </a:p>
          <a:p>
            <a:pPr indent="-515619" lvl="0" marL="527685" marR="725170" rtl="0" algn="l">
              <a:lnSpc>
                <a:spcPct val="118461"/>
              </a:lnSpc>
              <a:spcBef>
                <a:spcPts val="129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En cas d’insuffisance hépatique, la molécule indiquée est l’alprazolam</a:t>
            </a:r>
            <a:endParaRPr sz="2600">
              <a:latin typeface="Garamond"/>
              <a:ea typeface="Garamond"/>
              <a:cs typeface="Garamond"/>
              <a:sym typeface="Garamond"/>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4" name="Shape 1634"/>
        <p:cNvGrpSpPr/>
        <p:nvPr/>
      </p:nvGrpSpPr>
      <p:grpSpPr>
        <a:xfrm>
          <a:off x="0" y="0"/>
          <a:ext cx="0" cy="0"/>
          <a:chOff x="0" y="0"/>
          <a:chExt cx="0" cy="0"/>
        </a:xfrm>
      </p:grpSpPr>
      <p:sp>
        <p:nvSpPr>
          <p:cNvPr id="1635" name="Google Shape;1635;p201"/>
          <p:cNvSpPr txBox="1"/>
          <p:nvPr>
            <p:ph type="title"/>
          </p:nvPr>
        </p:nvSpPr>
        <p:spPr>
          <a:xfrm>
            <a:off x="1247457" y="565785"/>
            <a:ext cx="10206990" cy="1852930"/>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solidFill>
                  <a:srgbClr val="000000"/>
                </a:solidFill>
              </a:rPr>
              <a:t>Parmi les propositions suivantes concernant les benzodiazépines, laquelle (lesquelles) est</a:t>
            </a:r>
            <a:endParaRPr sz="3950"/>
          </a:p>
          <a:p>
            <a:pPr indent="0" lvl="0" marL="12700" rtl="0" algn="l">
              <a:lnSpc>
                <a:spcPct val="100000"/>
              </a:lnSpc>
              <a:spcBef>
                <a:spcPts val="70"/>
              </a:spcBef>
              <a:spcAft>
                <a:spcPts val="0"/>
              </a:spcAft>
              <a:buNone/>
            </a:pPr>
            <a:r>
              <a:rPr lang="fr-FR" sz="3950">
                <a:solidFill>
                  <a:srgbClr val="000000"/>
                </a:solidFill>
              </a:rPr>
              <a:t>(</a:t>
            </a:r>
            <a:r>
              <a:rPr lang="fr-FR" sz="3950" u="sng">
                <a:solidFill>
                  <a:srgbClr val="000000"/>
                </a:solidFill>
              </a:rPr>
              <a:t> sont) exacte(s) ?	</a:t>
            </a:r>
            <a:endParaRPr sz="3950"/>
          </a:p>
        </p:txBody>
      </p:sp>
      <p:sp>
        <p:nvSpPr>
          <p:cNvPr id="1636" name="Google Shape;1636;p20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637" name="Google Shape;1637;p201"/>
          <p:cNvSpPr txBox="1"/>
          <p:nvPr/>
        </p:nvSpPr>
        <p:spPr>
          <a:xfrm>
            <a:off x="1247139" y="2618739"/>
            <a:ext cx="9872345" cy="2831544"/>
          </a:xfrm>
          <a:prstGeom prst="rect">
            <a:avLst/>
          </a:prstGeom>
          <a:noFill/>
          <a:ln>
            <a:noFill/>
          </a:ln>
        </p:spPr>
        <p:txBody>
          <a:bodyPr anchorCtr="0" anchor="t" bIns="0" lIns="0" spcFirstLastPara="1" rIns="0" wrap="square" tIns="0">
            <a:spAutoFit/>
          </a:bodyPr>
          <a:lstStyle/>
          <a:p>
            <a:pPr indent="-514350" lvl="0" marL="527050" rtl="0" algn="l">
              <a:lnSpc>
                <a:spcPct val="125769"/>
              </a:lnSpc>
              <a:spcBef>
                <a:spcPts val="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C’est le traitement médicamenteux de choix d’une crise d’angoisse</a:t>
            </a:r>
            <a:endParaRPr sz="2600">
              <a:solidFill>
                <a:srgbClr val="FF0000"/>
              </a:solidFill>
              <a:latin typeface="Garamond"/>
              <a:ea typeface="Garamond"/>
              <a:cs typeface="Garamond"/>
              <a:sym typeface="Garamond"/>
            </a:endParaRPr>
          </a:p>
          <a:p>
            <a:pPr indent="0" lvl="0" marL="527685" rtl="0" algn="l">
              <a:lnSpc>
                <a:spcPct val="117692"/>
              </a:lnSpc>
              <a:spcBef>
                <a:spcPts val="0"/>
              </a:spcBef>
              <a:spcAft>
                <a:spcPts val="0"/>
              </a:spcAft>
              <a:buNone/>
            </a:pPr>
            <a:r>
              <a:rPr b="1" lang="fr-FR" sz="2600">
                <a:solidFill>
                  <a:srgbClr val="FF0000"/>
                </a:solidFill>
                <a:latin typeface="Garamond"/>
                <a:ea typeface="Garamond"/>
                <a:cs typeface="Garamond"/>
                <a:sym typeface="Garamond"/>
              </a:rPr>
              <a:t>aigue.</a:t>
            </a:r>
            <a:endParaRPr sz="2600">
              <a:solidFill>
                <a:srgbClr val="FF0000"/>
              </a:solidFill>
              <a:latin typeface="Garamond"/>
              <a:ea typeface="Garamond"/>
              <a:cs typeface="Garamond"/>
              <a:sym typeface="Garamond"/>
            </a:endParaRPr>
          </a:p>
          <a:p>
            <a:pPr indent="-514350" lvl="0" marL="527050" rtl="0" algn="l">
              <a:lnSpc>
                <a:spcPct val="100000"/>
              </a:lnSpc>
              <a:spcBef>
                <a:spcPts val="835"/>
              </a:spcBef>
              <a:spcAft>
                <a:spcPts val="0"/>
              </a:spcAft>
              <a:buClr>
                <a:srgbClr val="83992A"/>
              </a:buClr>
              <a:buSzPts val="3000"/>
              <a:buFont typeface="Garamond"/>
              <a:buAutoNum type="alphaUcPeriod" startAt="2"/>
            </a:pPr>
            <a:r>
              <a:rPr b="1" lang="fr-FR" sz="2600">
                <a:solidFill>
                  <a:srgbClr val="252525"/>
                </a:solidFill>
                <a:latin typeface="Garamond"/>
                <a:ea typeface="Garamond"/>
                <a:cs typeface="Garamond"/>
                <a:sym typeface="Garamond"/>
              </a:rPr>
              <a:t>Ils sont efficaces après un délai d’action de 08 jours</a:t>
            </a:r>
            <a:endParaRPr sz="2600">
              <a:latin typeface="Garamond"/>
              <a:ea typeface="Garamond"/>
              <a:cs typeface="Garamond"/>
              <a:sym typeface="Garamond"/>
            </a:endParaRPr>
          </a:p>
          <a:p>
            <a:pPr indent="-514350" lvl="0" marL="527050" rtl="0" algn="l">
              <a:lnSpc>
                <a:spcPct val="100000"/>
              </a:lnSpc>
              <a:spcBef>
                <a:spcPts val="755"/>
              </a:spcBef>
              <a:spcAft>
                <a:spcPts val="0"/>
              </a:spcAft>
              <a:buClr>
                <a:srgbClr val="83992A"/>
              </a:buClr>
              <a:buSzPts val="3000"/>
              <a:buFont typeface="Garamond"/>
              <a:buAutoNum type="alphaUcPeriod" startAt="2"/>
            </a:pPr>
            <a:r>
              <a:rPr b="1" lang="fr-FR" sz="2600">
                <a:solidFill>
                  <a:srgbClr val="252525"/>
                </a:solidFill>
                <a:latin typeface="Garamond"/>
                <a:ea typeface="Garamond"/>
                <a:cs typeface="Garamond"/>
                <a:sym typeface="Garamond"/>
              </a:rPr>
              <a:t>Elles abaissent le seuil convulsivant</a:t>
            </a:r>
            <a:endParaRPr sz="2600">
              <a:latin typeface="Garamond"/>
              <a:ea typeface="Garamond"/>
              <a:cs typeface="Garamond"/>
              <a:sym typeface="Garamond"/>
            </a:endParaRPr>
          </a:p>
          <a:p>
            <a:pPr indent="-513715" lvl="0" marL="526415" rtl="0" algn="l">
              <a:lnSpc>
                <a:spcPct val="100000"/>
              </a:lnSpc>
              <a:spcBef>
                <a:spcPts val="755"/>
              </a:spcBef>
              <a:spcAft>
                <a:spcPts val="0"/>
              </a:spcAft>
              <a:buClr>
                <a:srgbClr val="83992A"/>
              </a:buClr>
              <a:buSzPts val="3000"/>
              <a:buFont typeface="Garamond"/>
              <a:buAutoNum type="alphaUcPeriod" startAt="2"/>
            </a:pPr>
            <a:r>
              <a:rPr b="1" lang="fr-FR" sz="2600">
                <a:solidFill>
                  <a:srgbClr val="FF0000"/>
                </a:solidFill>
                <a:latin typeface="Garamond"/>
                <a:ea typeface="Garamond"/>
                <a:cs typeface="Garamond"/>
                <a:sym typeface="Garamond"/>
              </a:rPr>
              <a:t>Elles favorisent l’endormissement</a:t>
            </a:r>
            <a:endParaRPr sz="2600">
              <a:solidFill>
                <a:srgbClr val="FF0000"/>
              </a:solidFill>
              <a:latin typeface="Garamond"/>
              <a:ea typeface="Garamond"/>
              <a:cs typeface="Garamond"/>
              <a:sym typeface="Garamond"/>
            </a:endParaRPr>
          </a:p>
          <a:p>
            <a:pPr indent="-514350" lvl="0" marL="527050" rtl="0" algn="l">
              <a:lnSpc>
                <a:spcPct val="100000"/>
              </a:lnSpc>
              <a:spcBef>
                <a:spcPts val="760"/>
              </a:spcBef>
              <a:spcAft>
                <a:spcPts val="0"/>
              </a:spcAft>
              <a:buClr>
                <a:srgbClr val="83992A"/>
              </a:buClr>
              <a:buSzPts val="3000"/>
              <a:buFont typeface="Garamond"/>
              <a:buAutoNum type="alphaUcPeriod" startAt="2"/>
            </a:pPr>
            <a:r>
              <a:rPr b="1" lang="fr-FR" sz="2600">
                <a:solidFill>
                  <a:srgbClr val="FF0000"/>
                </a:solidFill>
                <a:latin typeface="Garamond"/>
                <a:ea typeface="Garamond"/>
                <a:cs typeface="Garamond"/>
                <a:sym typeface="Garamond"/>
              </a:rPr>
              <a:t>Elles ont un effet myorelaxant</a:t>
            </a:r>
            <a:endParaRPr sz="2600">
              <a:solidFill>
                <a:srgbClr val="FF0000"/>
              </a:solidFill>
              <a:latin typeface="Garamond"/>
              <a:ea typeface="Garamond"/>
              <a:cs typeface="Garamond"/>
              <a:sym typeface="Garamond"/>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1" name="Shape 1641"/>
        <p:cNvGrpSpPr/>
        <p:nvPr/>
      </p:nvGrpSpPr>
      <p:grpSpPr>
        <a:xfrm>
          <a:off x="0" y="0"/>
          <a:ext cx="0" cy="0"/>
          <a:chOff x="0" y="0"/>
          <a:chExt cx="0" cy="0"/>
        </a:xfrm>
      </p:grpSpPr>
      <p:sp>
        <p:nvSpPr>
          <p:cNvPr id="1642" name="Google Shape;1642;p202"/>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43" name="Google Shape;1643;p202"/>
          <p:cNvSpPr txBox="1"/>
          <p:nvPr>
            <p:ph type="title"/>
          </p:nvPr>
        </p:nvSpPr>
        <p:spPr>
          <a:xfrm>
            <a:off x="1375028" y="975105"/>
            <a:ext cx="7779384"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solidFill>
                  <a:srgbClr val="000000"/>
                </a:solidFill>
              </a:rPr>
              <a:t>Quels sont les troubles couramment améliorés par les benzodiazépines ?</a:t>
            </a:r>
            <a:endParaRPr sz="3950"/>
          </a:p>
        </p:txBody>
      </p:sp>
      <p:sp>
        <p:nvSpPr>
          <p:cNvPr id="1644" name="Google Shape;1644;p20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645" name="Google Shape;1645;p202"/>
          <p:cNvSpPr txBox="1"/>
          <p:nvPr/>
        </p:nvSpPr>
        <p:spPr>
          <a:xfrm>
            <a:off x="1479803" y="2362390"/>
            <a:ext cx="8496300" cy="3306445"/>
          </a:xfrm>
          <a:prstGeom prst="rect">
            <a:avLst/>
          </a:prstGeom>
          <a:noFill/>
          <a:ln>
            <a:noFill/>
          </a:ln>
        </p:spPr>
        <p:txBody>
          <a:bodyPr anchorCtr="0" anchor="t" bIns="0" lIns="0" spcFirstLastPara="1" rIns="0" wrap="square" tIns="250825">
            <a:spAutoFit/>
          </a:bodyPr>
          <a:lstStyle/>
          <a:p>
            <a:pPr indent="-456565" lvl="0" marL="469265" rtl="0" algn="l">
              <a:lnSpc>
                <a:spcPct val="100000"/>
              </a:lnSpc>
              <a:spcBef>
                <a:spcPts val="0"/>
              </a:spcBef>
              <a:spcAft>
                <a:spcPts val="0"/>
              </a:spcAft>
              <a:buClr>
                <a:srgbClr val="92D050"/>
              </a:buClr>
              <a:buSzPts val="2750"/>
              <a:buFont typeface="Garamond"/>
              <a:buAutoNum type="alphaUcPeriod"/>
            </a:pPr>
            <a:r>
              <a:rPr b="1" lang="fr-FR" sz="2750">
                <a:latin typeface="Garamond"/>
                <a:ea typeface="Garamond"/>
                <a:cs typeface="Garamond"/>
                <a:sym typeface="Garamond"/>
              </a:rPr>
              <a:t>L'anxiété diffuse ou généralisée de niveau névrotique</a:t>
            </a:r>
            <a:endParaRPr sz="2750">
              <a:latin typeface="Garamond"/>
              <a:ea typeface="Garamond"/>
              <a:cs typeface="Garamond"/>
              <a:sym typeface="Garamond"/>
            </a:endParaRPr>
          </a:p>
          <a:p>
            <a:pPr indent="-457200" lvl="0" marL="469900" rtl="0" algn="l">
              <a:lnSpc>
                <a:spcPct val="100000"/>
              </a:lnSpc>
              <a:spcBef>
                <a:spcPts val="1880"/>
              </a:spcBef>
              <a:spcAft>
                <a:spcPts val="0"/>
              </a:spcAft>
              <a:buClr>
                <a:srgbClr val="92D050"/>
              </a:buClr>
              <a:buSzPts val="2750"/>
              <a:buFont typeface="Garamond"/>
              <a:buAutoNum type="alphaUcPeriod"/>
            </a:pPr>
            <a:r>
              <a:rPr b="1" lang="fr-FR" sz="2750">
                <a:latin typeface="Garamond"/>
                <a:ea typeface="Garamond"/>
                <a:cs typeface="Garamond"/>
                <a:sym typeface="Garamond"/>
              </a:rPr>
              <a:t>La dépression</a:t>
            </a:r>
            <a:endParaRPr sz="2750">
              <a:latin typeface="Garamond"/>
              <a:ea typeface="Garamond"/>
              <a:cs typeface="Garamond"/>
              <a:sym typeface="Garamond"/>
            </a:endParaRPr>
          </a:p>
          <a:p>
            <a:pPr indent="-455930" lvl="0" marL="468630" rtl="0" algn="l">
              <a:lnSpc>
                <a:spcPct val="100000"/>
              </a:lnSpc>
              <a:spcBef>
                <a:spcPts val="1805"/>
              </a:spcBef>
              <a:spcAft>
                <a:spcPts val="0"/>
              </a:spcAft>
              <a:buClr>
                <a:srgbClr val="92D050"/>
              </a:buClr>
              <a:buSzPts val="2750"/>
              <a:buFont typeface="Garamond"/>
              <a:buAutoNum type="alphaUcPeriod"/>
            </a:pPr>
            <a:r>
              <a:rPr b="1" lang="fr-FR" sz="2750">
                <a:solidFill>
                  <a:srgbClr val="FF0000"/>
                </a:solidFill>
                <a:latin typeface="Garamond"/>
                <a:ea typeface="Garamond"/>
                <a:cs typeface="Garamond"/>
                <a:sym typeface="Garamond"/>
              </a:rPr>
              <a:t>Les épisodes d'attaque de panique</a:t>
            </a:r>
            <a:endParaRPr sz="2750">
              <a:solidFill>
                <a:srgbClr val="FF0000"/>
              </a:solidFill>
              <a:latin typeface="Garamond"/>
              <a:ea typeface="Garamond"/>
              <a:cs typeface="Garamond"/>
              <a:sym typeface="Garamond"/>
            </a:endParaRPr>
          </a:p>
          <a:p>
            <a:pPr indent="-456565" lvl="0" marL="469265" rtl="0" algn="l">
              <a:lnSpc>
                <a:spcPct val="100000"/>
              </a:lnSpc>
              <a:spcBef>
                <a:spcPts val="1885"/>
              </a:spcBef>
              <a:spcAft>
                <a:spcPts val="0"/>
              </a:spcAft>
              <a:buClr>
                <a:srgbClr val="92D050"/>
              </a:buClr>
              <a:buSzPts val="2750"/>
              <a:buFont typeface="Garamond"/>
              <a:buAutoNum type="alphaUcPeriod"/>
            </a:pPr>
            <a:r>
              <a:rPr b="1" lang="fr-FR" sz="2750">
                <a:solidFill>
                  <a:srgbClr val="FF0000"/>
                </a:solidFill>
                <a:latin typeface="Garamond"/>
                <a:ea typeface="Garamond"/>
                <a:cs typeface="Garamond"/>
                <a:sym typeface="Garamond"/>
              </a:rPr>
              <a:t>L'insomnie d'endormissement</a:t>
            </a:r>
            <a:endParaRPr sz="2750">
              <a:solidFill>
                <a:srgbClr val="FF0000"/>
              </a:solidFill>
              <a:latin typeface="Garamond"/>
              <a:ea typeface="Garamond"/>
              <a:cs typeface="Garamond"/>
              <a:sym typeface="Garamond"/>
            </a:endParaRPr>
          </a:p>
          <a:p>
            <a:pPr indent="-456565" lvl="0" marL="469265" rtl="0" algn="l">
              <a:lnSpc>
                <a:spcPct val="100000"/>
              </a:lnSpc>
              <a:spcBef>
                <a:spcPts val="1880"/>
              </a:spcBef>
              <a:spcAft>
                <a:spcPts val="0"/>
              </a:spcAft>
              <a:buClr>
                <a:srgbClr val="92D050"/>
              </a:buClr>
              <a:buSzPts val="2750"/>
              <a:buFont typeface="Garamond"/>
              <a:buAutoNum type="alphaUcPeriod"/>
            </a:pPr>
            <a:r>
              <a:rPr b="1" lang="fr-FR" sz="2750">
                <a:latin typeface="Garamond"/>
                <a:ea typeface="Garamond"/>
                <a:cs typeface="Garamond"/>
                <a:sym typeface="Garamond"/>
              </a:rPr>
              <a:t>Les obsessions avec rituels compulsionnels</a:t>
            </a:r>
            <a:endParaRPr sz="2750">
              <a:latin typeface="Garamond"/>
              <a:ea typeface="Garamond"/>
              <a:cs typeface="Garamond"/>
              <a:sym typeface="Garamond"/>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9" name="Shape 1649"/>
        <p:cNvGrpSpPr/>
        <p:nvPr/>
      </p:nvGrpSpPr>
      <p:grpSpPr>
        <a:xfrm>
          <a:off x="0" y="0"/>
          <a:ext cx="0" cy="0"/>
          <a:chOff x="0" y="0"/>
          <a:chExt cx="0" cy="0"/>
        </a:xfrm>
      </p:grpSpPr>
      <p:sp>
        <p:nvSpPr>
          <p:cNvPr id="1650" name="Google Shape;1650;p203"/>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51" name="Google Shape;1651;p203"/>
          <p:cNvSpPr txBox="1"/>
          <p:nvPr>
            <p:ph type="title"/>
          </p:nvPr>
        </p:nvSpPr>
        <p:spPr>
          <a:xfrm>
            <a:off x="802005" y="636905"/>
            <a:ext cx="10587989" cy="1671955"/>
          </a:xfrm>
          <a:prstGeom prst="rect">
            <a:avLst/>
          </a:prstGeom>
          <a:noFill/>
          <a:ln>
            <a:noFill/>
          </a:ln>
        </p:spPr>
        <p:txBody>
          <a:bodyPr anchorCtr="0" anchor="t" bIns="0" lIns="0" spcFirstLastPara="1" rIns="0" wrap="square" tIns="499100">
            <a:spAutoFit/>
          </a:bodyPr>
          <a:lstStyle/>
          <a:p>
            <a:pPr indent="0" lvl="0" marL="621030" rtl="0" algn="l">
              <a:lnSpc>
                <a:spcPct val="100000"/>
              </a:lnSpc>
              <a:spcBef>
                <a:spcPts val="0"/>
              </a:spcBef>
              <a:spcAft>
                <a:spcPts val="0"/>
              </a:spcAft>
              <a:buNone/>
            </a:pPr>
            <a:r>
              <a:rPr lang="fr-FR" sz="4400"/>
              <a:t>Concernant la prescription des BZD :</a:t>
            </a:r>
            <a:endParaRPr sz="4400"/>
          </a:p>
        </p:txBody>
      </p:sp>
      <p:sp>
        <p:nvSpPr>
          <p:cNvPr id="1652" name="Google Shape;1652;p20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653" name="Google Shape;1653;p203"/>
          <p:cNvSpPr txBox="1"/>
          <p:nvPr/>
        </p:nvSpPr>
        <p:spPr>
          <a:xfrm>
            <a:off x="1302385" y="2516441"/>
            <a:ext cx="9869170" cy="3070071"/>
          </a:xfrm>
          <a:prstGeom prst="rect">
            <a:avLst/>
          </a:prstGeom>
          <a:noFill/>
          <a:ln>
            <a:noFill/>
          </a:ln>
        </p:spPr>
        <p:txBody>
          <a:bodyPr anchorCtr="0" anchor="t" bIns="0" lIns="0" spcFirstLastPara="1" rIns="0" wrap="square" tIns="0">
            <a:spAutoFit/>
          </a:bodyPr>
          <a:lstStyle/>
          <a:p>
            <a:pPr indent="-457200" lvl="0" marL="469900" rtl="0" algn="l">
              <a:lnSpc>
                <a:spcPct val="126874"/>
              </a:lnSpc>
              <a:spcBef>
                <a:spcPts val="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Leur dose journalière doit être augmentée jusqu’à arriver à la dose</a:t>
            </a:r>
            <a:endParaRPr sz="2400">
              <a:latin typeface="Garamond"/>
              <a:ea typeface="Garamond"/>
              <a:cs typeface="Garamond"/>
              <a:sym typeface="Garamond"/>
            </a:endParaRPr>
          </a:p>
          <a:p>
            <a:pPr indent="0" lvl="0" marL="469900" rtl="0" algn="l">
              <a:lnSpc>
                <a:spcPct val="119583"/>
              </a:lnSpc>
              <a:spcBef>
                <a:spcPts val="0"/>
              </a:spcBef>
              <a:spcAft>
                <a:spcPts val="0"/>
              </a:spcAft>
              <a:buNone/>
            </a:pPr>
            <a:r>
              <a:rPr b="1" lang="fr-FR" sz="2400">
                <a:solidFill>
                  <a:srgbClr val="252525"/>
                </a:solidFill>
                <a:latin typeface="Garamond"/>
                <a:ea typeface="Garamond"/>
                <a:cs typeface="Garamond"/>
                <a:sym typeface="Garamond"/>
              </a:rPr>
              <a:t>efficace</a:t>
            </a:r>
            <a:endParaRPr sz="2400">
              <a:latin typeface="Garamond"/>
              <a:ea typeface="Garamond"/>
              <a:cs typeface="Garamond"/>
              <a:sym typeface="Garamond"/>
            </a:endParaRPr>
          </a:p>
          <a:p>
            <a:pPr indent="-456565" lvl="0" marL="468630" marR="469900" rtl="0" algn="l">
              <a:lnSpc>
                <a:spcPct val="119166"/>
              </a:lnSpc>
              <a:spcBef>
                <a:spcPts val="1285"/>
              </a:spcBef>
              <a:spcAft>
                <a:spcPts val="0"/>
              </a:spcAft>
              <a:buClr>
                <a:srgbClr val="83992A"/>
              </a:buClr>
              <a:buSzPts val="2750"/>
              <a:buFont typeface="Garamond"/>
              <a:buAutoNum type="alphaUcPeriod" startAt="2"/>
            </a:pPr>
            <a:r>
              <a:rPr b="1" lang="fr-FR" sz="2400">
                <a:solidFill>
                  <a:srgbClr val="252525"/>
                </a:solidFill>
                <a:latin typeface="Garamond"/>
                <a:ea typeface="Garamond"/>
                <a:cs typeface="Garamond"/>
                <a:sym typeface="Garamond"/>
              </a:rPr>
              <a:t>Le renouvellement du traitement doit être systématique lors des deux 	premiers mois</a:t>
            </a:r>
            <a:endParaRPr sz="2400">
              <a:latin typeface="Garamond"/>
              <a:ea typeface="Garamond"/>
              <a:cs typeface="Garamond"/>
              <a:sym typeface="Garamond"/>
            </a:endParaRPr>
          </a:p>
          <a:p>
            <a:pPr indent="-456565" lvl="0" marL="469265" rtl="0" algn="l">
              <a:lnSpc>
                <a:spcPct val="100000"/>
              </a:lnSpc>
              <a:spcBef>
                <a:spcPts val="725"/>
              </a:spcBef>
              <a:spcAft>
                <a:spcPts val="0"/>
              </a:spcAft>
              <a:buClr>
                <a:srgbClr val="83992A"/>
              </a:buClr>
              <a:buSzPts val="2750"/>
              <a:buFont typeface="Garamond"/>
              <a:buAutoNum type="alphaUcPeriod" startAt="2"/>
            </a:pPr>
            <a:r>
              <a:rPr b="1" lang="fr-FR" sz="2400">
                <a:solidFill>
                  <a:srgbClr val="FF0000"/>
                </a:solidFill>
                <a:latin typeface="Garamond"/>
                <a:ea typeface="Garamond"/>
                <a:cs typeface="Garamond"/>
                <a:sym typeface="Garamond"/>
              </a:rPr>
              <a:t>La confusion est un effet secondaire redouté chez le sujet âgé</a:t>
            </a:r>
            <a:endParaRPr sz="2400">
              <a:solidFill>
                <a:srgbClr val="FF0000"/>
              </a:solidFill>
              <a:latin typeface="Garamond"/>
              <a:ea typeface="Garamond"/>
              <a:cs typeface="Garamond"/>
              <a:sym typeface="Garamond"/>
            </a:endParaRPr>
          </a:p>
          <a:p>
            <a:pPr indent="-456565" lvl="0" marL="469265" rtl="0" algn="l">
              <a:lnSpc>
                <a:spcPct val="100000"/>
              </a:lnSpc>
              <a:spcBef>
                <a:spcPts val="755"/>
              </a:spcBef>
              <a:spcAft>
                <a:spcPts val="0"/>
              </a:spcAft>
              <a:buClr>
                <a:srgbClr val="83992A"/>
              </a:buClr>
              <a:buSzPts val="2750"/>
              <a:buFont typeface="Garamond"/>
              <a:buAutoNum type="alphaUcPeriod" startAt="2"/>
            </a:pPr>
            <a:r>
              <a:rPr b="1" lang="fr-FR" sz="2400">
                <a:solidFill>
                  <a:srgbClr val="252525"/>
                </a:solidFill>
                <a:latin typeface="Garamond"/>
                <a:ea typeface="Garamond"/>
                <a:cs typeface="Garamond"/>
                <a:sym typeface="Garamond"/>
              </a:rPr>
              <a:t>La durée de prescription ne doit pas dépasser 10 semaines</a:t>
            </a:r>
            <a:endParaRPr sz="2400">
              <a:latin typeface="Garamond"/>
              <a:ea typeface="Garamond"/>
              <a:cs typeface="Garamond"/>
              <a:sym typeface="Garamond"/>
            </a:endParaRPr>
          </a:p>
          <a:p>
            <a:pPr indent="-457200" lvl="0" marL="469900" rtl="0" algn="l">
              <a:lnSpc>
                <a:spcPct val="100000"/>
              </a:lnSpc>
              <a:spcBef>
                <a:spcPts val="835"/>
              </a:spcBef>
              <a:spcAft>
                <a:spcPts val="0"/>
              </a:spcAft>
              <a:buClr>
                <a:srgbClr val="83992A"/>
              </a:buClr>
              <a:buSzPts val="2750"/>
              <a:buFont typeface="Garamond"/>
              <a:buAutoNum type="alphaUcPeriod" startAt="2"/>
            </a:pPr>
            <a:r>
              <a:rPr b="1" lang="fr-FR" sz="2400">
                <a:solidFill>
                  <a:srgbClr val="252525"/>
                </a:solidFill>
                <a:latin typeface="Garamond"/>
                <a:ea typeface="Garamond"/>
                <a:cs typeface="Garamond"/>
                <a:sym typeface="Garamond"/>
              </a:rPr>
              <a:t>Leur association avec les antidépresseurs tricycliques est contre indiquée</a:t>
            </a:r>
            <a:endParaRPr sz="2400">
              <a:latin typeface="Garamond"/>
              <a:ea typeface="Garamond"/>
              <a:cs typeface="Garamond"/>
              <a:sym typeface="Garamond"/>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7" name="Shape 1657"/>
        <p:cNvGrpSpPr/>
        <p:nvPr/>
      </p:nvGrpSpPr>
      <p:grpSpPr>
        <a:xfrm>
          <a:off x="0" y="0"/>
          <a:ext cx="0" cy="0"/>
          <a:chOff x="0" y="0"/>
          <a:chExt cx="0" cy="0"/>
        </a:xfrm>
      </p:grpSpPr>
      <p:sp>
        <p:nvSpPr>
          <p:cNvPr id="1658" name="Google Shape;1658;p204"/>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59" name="Google Shape;1659;p204"/>
          <p:cNvSpPr txBox="1"/>
          <p:nvPr>
            <p:ph type="title"/>
          </p:nvPr>
        </p:nvSpPr>
        <p:spPr>
          <a:xfrm>
            <a:off x="1375028" y="975105"/>
            <a:ext cx="9452610"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t>Concernant	la	prescription	des benzodiazépines:</a:t>
            </a:r>
            <a:endParaRPr sz="3950"/>
          </a:p>
        </p:txBody>
      </p:sp>
      <p:sp>
        <p:nvSpPr>
          <p:cNvPr id="1660" name="Google Shape;1660;p20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661" name="Google Shape;1661;p204"/>
          <p:cNvSpPr txBox="1"/>
          <p:nvPr/>
        </p:nvSpPr>
        <p:spPr>
          <a:xfrm>
            <a:off x="1375028" y="2469651"/>
            <a:ext cx="10105390" cy="3653790"/>
          </a:xfrm>
          <a:prstGeom prst="rect">
            <a:avLst/>
          </a:prstGeom>
          <a:noFill/>
          <a:ln>
            <a:noFill/>
          </a:ln>
        </p:spPr>
        <p:txBody>
          <a:bodyPr anchorCtr="0" anchor="t" bIns="0" lIns="0" spcFirstLastPara="1" rIns="0" wrap="square" tIns="63500">
            <a:spAutoFit/>
          </a:bodyPr>
          <a:lstStyle/>
          <a:p>
            <a:pPr indent="-457200" lvl="0" marL="469900" rtl="0" algn="l">
              <a:lnSpc>
                <a:spcPct val="100000"/>
              </a:lnSpc>
              <a:spcBef>
                <a:spcPts val="0"/>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La dose minimale efficace est recommandée</a:t>
            </a:r>
            <a:endParaRPr sz="2400">
              <a:solidFill>
                <a:srgbClr val="FF0000"/>
              </a:solidFill>
              <a:latin typeface="Garamond"/>
              <a:ea typeface="Garamond"/>
              <a:cs typeface="Garamond"/>
              <a:sym typeface="Garamond"/>
            </a:endParaRPr>
          </a:p>
          <a:p>
            <a:pPr indent="-455930" lvl="0" marL="468630" rtl="0" algn="l">
              <a:lnSpc>
                <a:spcPct val="135583"/>
              </a:lnSpc>
              <a:spcBef>
                <a:spcPts val="83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Leur prescription est envisagée dès l’instauration des approches non</a:t>
            </a:r>
            <a:endParaRPr sz="2400">
              <a:latin typeface="Garamond"/>
              <a:ea typeface="Garamond"/>
              <a:cs typeface="Garamond"/>
              <a:sym typeface="Garamond"/>
            </a:endParaRPr>
          </a:p>
          <a:p>
            <a:pPr indent="0" lvl="0" marL="469900" rtl="0" algn="l">
              <a:lnSpc>
                <a:spcPct val="118125"/>
              </a:lnSpc>
              <a:spcBef>
                <a:spcPts val="0"/>
              </a:spcBef>
              <a:spcAft>
                <a:spcPts val="0"/>
              </a:spcAft>
              <a:buNone/>
            </a:pPr>
            <a:r>
              <a:rPr b="1" lang="fr-FR" sz="2400">
                <a:solidFill>
                  <a:srgbClr val="252525"/>
                </a:solidFill>
                <a:latin typeface="Garamond"/>
                <a:ea typeface="Garamond"/>
                <a:cs typeface="Garamond"/>
                <a:sym typeface="Garamond"/>
              </a:rPr>
              <a:t>médicamenteuses</a:t>
            </a:r>
            <a:endParaRPr sz="2400">
              <a:latin typeface="Garamond"/>
              <a:ea typeface="Garamond"/>
              <a:cs typeface="Garamond"/>
              <a:sym typeface="Garamond"/>
            </a:endParaRPr>
          </a:p>
          <a:p>
            <a:pPr indent="-455929" lvl="0" marL="467994" marR="379730" rtl="0" algn="l">
              <a:lnSpc>
                <a:spcPct val="119166"/>
              </a:lnSpc>
              <a:spcBef>
                <a:spcPts val="1290"/>
              </a:spcBef>
              <a:spcAft>
                <a:spcPts val="0"/>
              </a:spcAft>
              <a:buClr>
                <a:srgbClr val="83992A"/>
              </a:buClr>
              <a:buSzPts val="2750"/>
              <a:buFont typeface="Garamond"/>
              <a:buAutoNum type="alphaUcPeriod" startAt="3"/>
            </a:pPr>
            <a:r>
              <a:rPr b="1" lang="fr-FR" sz="2400">
                <a:solidFill>
                  <a:srgbClr val="FF0000"/>
                </a:solidFill>
                <a:latin typeface="Garamond"/>
                <a:ea typeface="Garamond"/>
                <a:cs typeface="Garamond"/>
                <a:sym typeface="Garamond"/>
              </a:rPr>
              <a:t>La réapparition transitoire des symptômes initiaux peut survenir lors de 	leur arrêt</a:t>
            </a:r>
            <a:endParaRPr sz="2400">
              <a:solidFill>
                <a:srgbClr val="FF0000"/>
              </a:solidFill>
              <a:latin typeface="Garamond"/>
              <a:ea typeface="Garamond"/>
              <a:cs typeface="Garamond"/>
              <a:sym typeface="Garamond"/>
            </a:endParaRPr>
          </a:p>
          <a:p>
            <a:pPr indent="-457200" lvl="0" marL="469900" rtl="0" algn="l">
              <a:lnSpc>
                <a:spcPct val="100000"/>
              </a:lnSpc>
              <a:spcBef>
                <a:spcPts val="725"/>
              </a:spcBef>
              <a:spcAft>
                <a:spcPts val="0"/>
              </a:spcAft>
              <a:buClr>
                <a:srgbClr val="83992A"/>
              </a:buClr>
              <a:buSzPts val="2750"/>
              <a:buFont typeface="Garamond"/>
              <a:buAutoNum type="alphaUcPeriod" startAt="3"/>
            </a:pPr>
            <a:r>
              <a:rPr b="1" lang="fr-FR" sz="2400">
                <a:solidFill>
                  <a:srgbClr val="FF0000"/>
                </a:solidFill>
                <a:latin typeface="Garamond"/>
                <a:ea typeface="Garamond"/>
                <a:cs typeface="Garamond"/>
                <a:sym typeface="Garamond"/>
              </a:rPr>
              <a:t>Leur durée de prescription ne doit pas excéder un mois pour les insomnies</a:t>
            </a:r>
            <a:endParaRPr sz="2400">
              <a:solidFill>
                <a:srgbClr val="FF0000"/>
              </a:solidFill>
              <a:latin typeface="Garamond"/>
              <a:ea typeface="Garamond"/>
              <a:cs typeface="Garamond"/>
              <a:sym typeface="Garamond"/>
            </a:endParaRPr>
          </a:p>
          <a:p>
            <a:pPr indent="-456565" lvl="0" marL="468630" marR="1712595" rtl="0" algn="l">
              <a:lnSpc>
                <a:spcPct val="118750"/>
              </a:lnSpc>
              <a:spcBef>
                <a:spcPts val="1300"/>
              </a:spcBef>
              <a:spcAft>
                <a:spcPts val="0"/>
              </a:spcAft>
              <a:buClr>
                <a:srgbClr val="83992A"/>
              </a:buClr>
              <a:buSzPts val="2750"/>
              <a:buFont typeface="Garamond"/>
              <a:buAutoNum type="alphaUcPeriod" startAt="3"/>
            </a:pPr>
            <a:r>
              <a:rPr b="1" lang="fr-FR" sz="2400">
                <a:solidFill>
                  <a:srgbClr val="252525"/>
                </a:solidFill>
                <a:latin typeface="Garamond"/>
                <a:ea typeface="Garamond"/>
                <a:cs typeface="Garamond"/>
                <a:sym typeface="Garamond"/>
              </a:rPr>
              <a:t>Si la symptomatologie persiste, elles peuvent être reconduites 	systématiquement</a:t>
            </a:r>
            <a:endParaRPr sz="2400">
              <a:latin typeface="Garamond"/>
              <a:ea typeface="Garamond"/>
              <a:cs typeface="Garamond"/>
              <a:sym typeface="Garamond"/>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5" name="Shape 1665"/>
        <p:cNvGrpSpPr/>
        <p:nvPr/>
      </p:nvGrpSpPr>
      <p:grpSpPr>
        <a:xfrm>
          <a:off x="0" y="0"/>
          <a:ext cx="0" cy="0"/>
          <a:chOff x="0" y="0"/>
          <a:chExt cx="0" cy="0"/>
        </a:xfrm>
      </p:grpSpPr>
      <p:sp>
        <p:nvSpPr>
          <p:cNvPr id="1666" name="Google Shape;1666;p205"/>
          <p:cNvSpPr txBox="1"/>
          <p:nvPr>
            <p:ph type="title"/>
          </p:nvPr>
        </p:nvSpPr>
        <p:spPr>
          <a:xfrm>
            <a:off x="1375028" y="518794"/>
            <a:ext cx="3618229"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t>Concernant benzodiazépines</a:t>
            </a:r>
            <a:endParaRPr sz="3950"/>
          </a:p>
        </p:txBody>
      </p:sp>
      <p:sp>
        <p:nvSpPr>
          <p:cNvPr id="1667" name="Google Shape;1667;p20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668" name="Google Shape;1668;p205"/>
          <p:cNvSpPr txBox="1"/>
          <p:nvPr/>
        </p:nvSpPr>
        <p:spPr>
          <a:xfrm>
            <a:off x="4967985" y="518794"/>
            <a:ext cx="5859780" cy="1242695"/>
          </a:xfrm>
          <a:prstGeom prst="rect">
            <a:avLst/>
          </a:prstGeom>
          <a:noFill/>
          <a:ln>
            <a:noFill/>
          </a:ln>
        </p:spPr>
        <p:txBody>
          <a:bodyPr anchorCtr="0" anchor="t" bIns="0" lIns="0" spcFirstLastPara="1" rIns="0" wrap="square" tIns="7600">
            <a:spAutoFit/>
          </a:bodyPr>
          <a:lstStyle/>
          <a:p>
            <a:pPr indent="-374015" lvl="0" marL="386080" marR="5080" rtl="0" algn="l">
              <a:lnSpc>
                <a:spcPct val="101400"/>
              </a:lnSpc>
              <a:spcBef>
                <a:spcPts val="0"/>
              </a:spcBef>
              <a:spcAft>
                <a:spcPts val="0"/>
              </a:spcAft>
              <a:buNone/>
            </a:pPr>
            <a:r>
              <a:rPr b="1" lang="fr-FR" sz="3950">
                <a:solidFill>
                  <a:srgbClr val="252525"/>
                </a:solidFill>
                <a:latin typeface="Garamond"/>
                <a:ea typeface="Garamond"/>
                <a:cs typeface="Garamond"/>
                <a:sym typeface="Garamond"/>
              </a:rPr>
              <a:t>la		prescription	des dans		le	traitement	des</a:t>
            </a:r>
            <a:endParaRPr sz="3950">
              <a:latin typeface="Garamond"/>
              <a:ea typeface="Garamond"/>
              <a:cs typeface="Garamond"/>
              <a:sym typeface="Garamond"/>
            </a:endParaRPr>
          </a:p>
        </p:txBody>
      </p:sp>
      <p:sp>
        <p:nvSpPr>
          <p:cNvPr id="1669" name="Google Shape;1669;p205"/>
          <p:cNvSpPr txBox="1"/>
          <p:nvPr/>
        </p:nvSpPr>
        <p:spPr>
          <a:xfrm>
            <a:off x="1375028" y="1493931"/>
            <a:ext cx="9612630" cy="3721532"/>
          </a:xfrm>
          <a:prstGeom prst="rect">
            <a:avLst/>
          </a:prstGeom>
          <a:noFill/>
          <a:ln>
            <a:noFill/>
          </a:ln>
        </p:spPr>
        <p:txBody>
          <a:bodyPr anchorCtr="0" anchor="t" bIns="0" lIns="0" spcFirstLastPara="1" rIns="0" wrap="square" tIns="261600">
            <a:spAutoFit/>
          </a:bodyPr>
          <a:lstStyle/>
          <a:p>
            <a:pPr indent="0" lvl="0" marL="12700" rtl="0" algn="l">
              <a:lnSpc>
                <a:spcPct val="100000"/>
              </a:lnSpc>
              <a:spcBef>
                <a:spcPts val="0"/>
              </a:spcBef>
              <a:spcAft>
                <a:spcPts val="0"/>
              </a:spcAft>
              <a:buNone/>
            </a:pPr>
            <a:r>
              <a:rPr b="1" lang="fr-FR" sz="3950" u="sng">
                <a:solidFill>
                  <a:srgbClr val="252525"/>
                </a:solidFill>
                <a:latin typeface="Garamond"/>
                <a:ea typeface="Garamond"/>
                <a:cs typeface="Garamond"/>
                <a:sym typeface="Garamond"/>
              </a:rPr>
              <a:t>troubles anxieux:	</a:t>
            </a:r>
            <a:endParaRPr sz="3950">
              <a:latin typeface="Garamond"/>
              <a:ea typeface="Garamond"/>
              <a:cs typeface="Garamond"/>
              <a:sym typeface="Garamond"/>
            </a:endParaRPr>
          </a:p>
          <a:p>
            <a:pPr indent="-457200" lvl="0" marL="469900" rtl="0" algn="l">
              <a:lnSpc>
                <a:spcPct val="100000"/>
              </a:lnSpc>
              <a:spcBef>
                <a:spcPts val="1385"/>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Celles avec une ½ vie longue sont recommandées dans le TAG</a:t>
            </a:r>
            <a:endParaRPr sz="2400">
              <a:latin typeface="Garamond"/>
              <a:ea typeface="Garamond"/>
              <a:cs typeface="Garamond"/>
              <a:sym typeface="Garamond"/>
            </a:endParaRPr>
          </a:p>
          <a:p>
            <a:pPr indent="-455930" lvl="0" marL="468630" rtl="0" algn="l">
              <a:lnSpc>
                <a:spcPct val="100000"/>
              </a:lnSpc>
              <a:spcBef>
                <a:spcPts val="83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Elles ont une action rapide sur les signes psychiques de l’anxiété</a:t>
            </a:r>
            <a:endParaRPr sz="2400">
              <a:latin typeface="Garamond"/>
              <a:ea typeface="Garamond"/>
              <a:cs typeface="Garamond"/>
              <a:sym typeface="Garamond"/>
            </a:endParaRPr>
          </a:p>
          <a:p>
            <a:pPr indent="-455930" lvl="0" marL="468630" rtl="0" algn="l">
              <a:lnSpc>
                <a:spcPct val="135416"/>
              </a:lnSpc>
              <a:spcBef>
                <a:spcPts val="755"/>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Leur utilisation expose au risque de dépendance et de troubles de la</a:t>
            </a:r>
            <a:endParaRPr sz="2400">
              <a:solidFill>
                <a:srgbClr val="FF0000"/>
              </a:solidFill>
              <a:latin typeface="Garamond"/>
              <a:ea typeface="Garamond"/>
              <a:cs typeface="Garamond"/>
              <a:sym typeface="Garamond"/>
            </a:endParaRPr>
          </a:p>
          <a:p>
            <a:pPr indent="0" lvl="0" marL="469900" rtl="0" algn="l">
              <a:lnSpc>
                <a:spcPct val="117916"/>
              </a:lnSpc>
              <a:spcBef>
                <a:spcPts val="0"/>
              </a:spcBef>
              <a:spcAft>
                <a:spcPts val="0"/>
              </a:spcAft>
              <a:buNone/>
            </a:pPr>
            <a:r>
              <a:rPr b="1" lang="fr-FR" sz="2400">
                <a:solidFill>
                  <a:srgbClr val="FF0000"/>
                </a:solidFill>
                <a:latin typeface="Garamond"/>
                <a:ea typeface="Garamond"/>
                <a:cs typeface="Garamond"/>
                <a:sym typeface="Garamond"/>
              </a:rPr>
              <a:t>mémoire</a:t>
            </a:r>
            <a:endParaRPr sz="2400">
              <a:solidFill>
                <a:srgbClr val="FF0000"/>
              </a:solidFill>
              <a:latin typeface="Garamond"/>
              <a:ea typeface="Garamond"/>
              <a:cs typeface="Garamond"/>
              <a:sym typeface="Garamond"/>
            </a:endParaRPr>
          </a:p>
          <a:p>
            <a:pPr indent="-456565" lvl="0" marL="469265" rtl="0" algn="l">
              <a:lnSpc>
                <a:spcPct val="100000"/>
              </a:lnSpc>
              <a:spcBef>
                <a:spcPts val="825"/>
              </a:spcBef>
              <a:spcAft>
                <a:spcPts val="0"/>
              </a:spcAft>
              <a:buClr>
                <a:srgbClr val="83992A"/>
              </a:buClr>
              <a:buSzPts val="2750"/>
              <a:buFont typeface="Garamond"/>
              <a:buAutoNum type="alphaUcPeriod" startAt="4"/>
            </a:pPr>
            <a:r>
              <a:rPr b="1" lang="fr-FR" sz="2400">
                <a:solidFill>
                  <a:srgbClr val="252525"/>
                </a:solidFill>
                <a:latin typeface="Garamond"/>
                <a:ea typeface="Garamond"/>
                <a:cs typeface="Garamond"/>
                <a:sym typeface="Garamond"/>
              </a:rPr>
              <a:t>Le recours à la voie intramusculaire permet une absorption rapide</a:t>
            </a:r>
            <a:endParaRPr sz="2400">
              <a:latin typeface="Garamond"/>
              <a:ea typeface="Garamond"/>
              <a:cs typeface="Garamond"/>
              <a:sym typeface="Garamond"/>
            </a:endParaRPr>
          </a:p>
          <a:p>
            <a:pPr indent="-456565" lvl="0" marL="469265" rtl="0" algn="l">
              <a:lnSpc>
                <a:spcPct val="100000"/>
              </a:lnSpc>
              <a:spcBef>
                <a:spcPts val="755"/>
              </a:spcBef>
              <a:spcAft>
                <a:spcPts val="0"/>
              </a:spcAft>
              <a:buClr>
                <a:srgbClr val="83992A"/>
              </a:buClr>
              <a:buSzPts val="2750"/>
              <a:buFont typeface="Garamond"/>
              <a:buAutoNum type="alphaUcPeriod" startAt="4"/>
            </a:pPr>
            <a:r>
              <a:rPr b="1" lang="fr-FR" sz="2400">
                <a:solidFill>
                  <a:srgbClr val="FF0000"/>
                </a:solidFill>
                <a:latin typeface="Garamond"/>
                <a:ea typeface="Garamond"/>
                <a:cs typeface="Garamond"/>
                <a:sym typeface="Garamond"/>
              </a:rPr>
              <a:t>Leur arrêt peut être à l’origine d’un syndrome confusionnel</a:t>
            </a:r>
            <a:endParaRPr sz="2400">
              <a:solidFill>
                <a:srgbClr val="FF0000"/>
              </a:solidFill>
              <a:latin typeface="Garamond"/>
              <a:ea typeface="Garamond"/>
              <a:cs typeface="Garamond"/>
              <a:sym typeface="Garamond"/>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3" name="Shape 1673"/>
        <p:cNvGrpSpPr/>
        <p:nvPr/>
      </p:nvGrpSpPr>
      <p:grpSpPr>
        <a:xfrm>
          <a:off x="0" y="0"/>
          <a:ext cx="0" cy="0"/>
          <a:chOff x="0" y="0"/>
          <a:chExt cx="0" cy="0"/>
        </a:xfrm>
      </p:grpSpPr>
      <p:sp>
        <p:nvSpPr>
          <p:cNvPr id="1674" name="Google Shape;1674;p206"/>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75" name="Google Shape;1675;p206"/>
          <p:cNvSpPr txBox="1"/>
          <p:nvPr>
            <p:ph type="title"/>
          </p:nvPr>
        </p:nvSpPr>
        <p:spPr>
          <a:xfrm>
            <a:off x="802005" y="636905"/>
            <a:ext cx="10587989" cy="1671955"/>
          </a:xfrm>
          <a:prstGeom prst="rect">
            <a:avLst/>
          </a:prstGeom>
          <a:noFill/>
          <a:ln>
            <a:noFill/>
          </a:ln>
        </p:spPr>
        <p:txBody>
          <a:bodyPr anchorCtr="0" anchor="t" bIns="0" lIns="0" spcFirstLastPara="1" rIns="0" wrap="square" tIns="381675">
            <a:spAutoFit/>
          </a:bodyPr>
          <a:lstStyle/>
          <a:p>
            <a:pPr indent="0" lvl="0" marL="0" rtl="0" algn="l">
              <a:lnSpc>
                <a:spcPct val="100000"/>
              </a:lnSpc>
              <a:spcBef>
                <a:spcPts val="0"/>
              </a:spcBef>
              <a:spcAft>
                <a:spcPts val="0"/>
              </a:spcAft>
              <a:buNone/>
            </a:pPr>
            <a:r>
              <a:rPr lang="fr-FR" sz="4400"/>
              <a:t>Les benzodiazépines sont indiquées dans :</a:t>
            </a:r>
            <a:endParaRPr sz="4400"/>
          </a:p>
        </p:txBody>
      </p:sp>
      <p:sp>
        <p:nvSpPr>
          <p:cNvPr id="1676" name="Google Shape;1676;p20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677" name="Google Shape;1677;p206"/>
          <p:cNvSpPr txBox="1"/>
          <p:nvPr/>
        </p:nvSpPr>
        <p:spPr>
          <a:xfrm>
            <a:off x="1375028" y="2530738"/>
            <a:ext cx="5334000" cy="2468625"/>
          </a:xfrm>
          <a:prstGeom prst="rect">
            <a:avLst/>
          </a:prstGeom>
          <a:noFill/>
          <a:ln>
            <a:noFill/>
          </a:ln>
        </p:spPr>
        <p:txBody>
          <a:bodyPr anchorCtr="0" anchor="t" bIns="0" lIns="0" spcFirstLastPara="1" rIns="0" wrap="square" tIns="57150">
            <a:spAutoFit/>
          </a:bodyPr>
          <a:lstStyle/>
          <a:p>
            <a:pPr indent="-514983" lvl="0" marL="527685" rtl="0" algn="l">
              <a:lnSpc>
                <a:spcPct val="100000"/>
              </a:lnSpc>
              <a:spcBef>
                <a:spcPts val="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Le sevrage alcoolique</a:t>
            </a:r>
            <a:endParaRPr sz="2600">
              <a:solidFill>
                <a:srgbClr val="FF0000"/>
              </a:solidFill>
              <a:latin typeface="Garamond"/>
              <a:ea typeface="Garamond"/>
              <a:cs typeface="Garamond"/>
              <a:sym typeface="Garamond"/>
            </a:endParaRPr>
          </a:p>
          <a:p>
            <a:pPr indent="-514983" lvl="0" marL="527685" rtl="0" algn="l">
              <a:lnSpc>
                <a:spcPct val="100000"/>
              </a:lnSpc>
              <a:spcBef>
                <a:spcPts val="760"/>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La crise aigue d’angoisse</a:t>
            </a:r>
            <a:endParaRPr sz="2600">
              <a:solidFill>
                <a:srgbClr val="FF0000"/>
              </a:solidFill>
              <a:latin typeface="Garamond"/>
              <a:ea typeface="Garamond"/>
              <a:cs typeface="Garamond"/>
              <a:sym typeface="Garamond"/>
            </a:endParaRPr>
          </a:p>
          <a:p>
            <a:pPr indent="-514983" lvl="0" marL="527685" rtl="0" algn="l">
              <a:lnSpc>
                <a:spcPct val="100000"/>
              </a:lnSpc>
              <a:spcBef>
                <a:spcPts val="75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Le trouble obsessionnel compulsif</a:t>
            </a:r>
            <a:endParaRPr sz="2600">
              <a:latin typeface="Garamond"/>
              <a:ea typeface="Garamond"/>
              <a:cs typeface="Garamond"/>
              <a:sym typeface="Garamond"/>
            </a:endParaRPr>
          </a:p>
          <a:p>
            <a:pPr indent="-514350" lvl="0" marL="527050"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L’insomnie occasionnelle</a:t>
            </a:r>
            <a:endParaRPr sz="2600">
              <a:solidFill>
                <a:srgbClr val="FF0000"/>
              </a:solidFill>
              <a:latin typeface="Garamond"/>
              <a:ea typeface="Garamond"/>
              <a:cs typeface="Garamond"/>
              <a:sym typeface="Garamond"/>
            </a:endParaRPr>
          </a:p>
          <a:p>
            <a:pPr indent="-514983" lvl="0" marL="527685" rtl="0" algn="l">
              <a:lnSpc>
                <a:spcPct val="100000"/>
              </a:lnSpc>
              <a:spcBef>
                <a:spcPts val="75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La dépression</a:t>
            </a:r>
            <a:endParaRPr sz="2600">
              <a:latin typeface="Garamond"/>
              <a:ea typeface="Garamond"/>
              <a:cs typeface="Garamond"/>
              <a:sym typeface="Garamond"/>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1" name="Shape 1681"/>
        <p:cNvGrpSpPr/>
        <p:nvPr/>
      </p:nvGrpSpPr>
      <p:grpSpPr>
        <a:xfrm>
          <a:off x="0" y="0"/>
          <a:ext cx="0" cy="0"/>
          <a:chOff x="0" y="0"/>
          <a:chExt cx="0" cy="0"/>
        </a:xfrm>
      </p:grpSpPr>
      <p:sp>
        <p:nvSpPr>
          <p:cNvPr id="1682" name="Google Shape;1682;p207"/>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83" name="Google Shape;1683;p207"/>
          <p:cNvSpPr txBox="1"/>
          <p:nvPr>
            <p:ph type="title"/>
          </p:nvPr>
        </p:nvSpPr>
        <p:spPr>
          <a:xfrm>
            <a:off x="802005" y="636905"/>
            <a:ext cx="10587989" cy="1671955"/>
          </a:xfrm>
          <a:prstGeom prst="rect">
            <a:avLst/>
          </a:prstGeom>
          <a:noFill/>
          <a:ln>
            <a:noFill/>
          </a:ln>
        </p:spPr>
        <p:txBody>
          <a:bodyPr anchorCtr="0" anchor="t" bIns="0" lIns="0" spcFirstLastPara="1" rIns="0" wrap="square" tIns="345800">
            <a:spAutoFit/>
          </a:bodyPr>
          <a:lstStyle/>
          <a:p>
            <a:pPr indent="0" lvl="0" marL="585470" marR="5080" rtl="0" algn="l">
              <a:lnSpc>
                <a:spcPct val="101400"/>
              </a:lnSpc>
              <a:spcBef>
                <a:spcPts val="0"/>
              </a:spcBef>
              <a:spcAft>
                <a:spcPts val="0"/>
              </a:spcAft>
              <a:buNone/>
            </a:pPr>
            <a:r>
              <a:rPr lang="fr-FR" sz="3950"/>
              <a:t>Le traitement qui ne fait pas partie de la famille des anxiolytiques est :</a:t>
            </a:r>
            <a:endParaRPr sz="3950"/>
          </a:p>
        </p:txBody>
      </p:sp>
      <p:sp>
        <p:nvSpPr>
          <p:cNvPr id="1684" name="Google Shape;1684;p20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685" name="Google Shape;1685;p207"/>
          <p:cNvSpPr txBox="1"/>
          <p:nvPr/>
        </p:nvSpPr>
        <p:spPr>
          <a:xfrm>
            <a:off x="1375028" y="2469102"/>
            <a:ext cx="4668520" cy="2568652"/>
          </a:xfrm>
          <a:prstGeom prst="rect">
            <a:avLst/>
          </a:prstGeom>
          <a:noFill/>
          <a:ln>
            <a:noFill/>
          </a:ln>
        </p:spPr>
        <p:txBody>
          <a:bodyPr anchorCtr="0" anchor="t" bIns="0" lIns="0" spcFirstLastPara="1" rIns="0" wrap="square" tIns="546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Hydroxyzine (Atarax®)</a:t>
            </a:r>
            <a:endParaRPr sz="2750">
              <a:latin typeface="Garamond"/>
              <a:ea typeface="Garamond"/>
              <a:cs typeface="Garamond"/>
              <a:sym typeface="Garamond"/>
            </a:endParaRPr>
          </a:p>
          <a:p>
            <a:pPr indent="-514350" lvl="0" marL="527050"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Meprobamate (Equanil®)</a:t>
            </a:r>
            <a:endParaRPr sz="2750">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Propanolol (Avlocardyl®)</a:t>
            </a:r>
            <a:endParaRPr sz="2750">
              <a:latin typeface="Garamond"/>
              <a:ea typeface="Garamond"/>
              <a:cs typeface="Garamond"/>
              <a:sym typeface="Garamond"/>
            </a:endParaRPr>
          </a:p>
          <a:p>
            <a:pPr indent="-603885" lvl="0" marL="61658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Etifoxine (Strésam®)</a:t>
            </a:r>
            <a:endParaRPr sz="2750">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Propériciazine(Neuleptil®)</a:t>
            </a:r>
            <a:endParaRPr sz="2750">
              <a:solidFill>
                <a:srgbClr val="FF0000"/>
              </a:solidFill>
              <a:latin typeface="Garamond"/>
              <a:ea typeface="Garamond"/>
              <a:cs typeface="Garamond"/>
              <a:sym typeface="Garamond"/>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9" name="Shape 1689"/>
        <p:cNvGrpSpPr/>
        <p:nvPr/>
      </p:nvGrpSpPr>
      <p:grpSpPr>
        <a:xfrm>
          <a:off x="0" y="0"/>
          <a:ext cx="0" cy="0"/>
          <a:chOff x="0" y="0"/>
          <a:chExt cx="0" cy="0"/>
        </a:xfrm>
      </p:grpSpPr>
      <p:sp>
        <p:nvSpPr>
          <p:cNvPr id="1690" name="Google Shape;1690;p208"/>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91" name="Google Shape;1691;p208"/>
          <p:cNvSpPr txBox="1"/>
          <p:nvPr>
            <p:ph type="title"/>
          </p:nvPr>
        </p:nvSpPr>
        <p:spPr>
          <a:xfrm>
            <a:off x="802005" y="636905"/>
            <a:ext cx="10587989" cy="1671955"/>
          </a:xfrm>
          <a:prstGeom prst="rect">
            <a:avLst/>
          </a:prstGeom>
          <a:noFill/>
          <a:ln>
            <a:noFill/>
          </a:ln>
        </p:spPr>
        <p:txBody>
          <a:bodyPr anchorCtr="0" anchor="t" bIns="0" lIns="0" spcFirstLastPara="1" rIns="0" wrap="square" tIns="299650">
            <a:spAutoFit/>
          </a:bodyPr>
          <a:lstStyle/>
          <a:p>
            <a:pPr indent="0" lvl="0" marL="441325" marR="5080" rtl="0" algn="l">
              <a:lnSpc>
                <a:spcPct val="119545"/>
              </a:lnSpc>
              <a:spcBef>
                <a:spcPts val="0"/>
              </a:spcBef>
              <a:spcAft>
                <a:spcPts val="0"/>
              </a:spcAft>
              <a:buNone/>
            </a:pPr>
            <a:r>
              <a:rPr lang="fr-FR" sz="4400">
                <a:solidFill>
                  <a:srgbClr val="000000"/>
                </a:solidFill>
              </a:rPr>
              <a:t>Le(s) médicament(s) faisant partie de la famille des benzodiazépines est (sont) :</a:t>
            </a:r>
            <a:endParaRPr sz="4400"/>
          </a:p>
        </p:txBody>
      </p:sp>
      <p:sp>
        <p:nvSpPr>
          <p:cNvPr id="1692" name="Google Shape;1692;p20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693" name="Google Shape;1693;p208"/>
          <p:cNvSpPr txBox="1"/>
          <p:nvPr/>
        </p:nvSpPr>
        <p:spPr>
          <a:xfrm>
            <a:off x="1375028" y="2469102"/>
            <a:ext cx="4639310" cy="2568652"/>
          </a:xfrm>
          <a:prstGeom prst="rect">
            <a:avLst/>
          </a:prstGeom>
          <a:noFill/>
          <a:ln>
            <a:noFill/>
          </a:ln>
        </p:spPr>
        <p:txBody>
          <a:bodyPr anchorCtr="0" anchor="t" bIns="0" lIns="0" spcFirstLastPara="1" rIns="0" wrap="square" tIns="546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Meprobamate (Equanil®)</a:t>
            </a:r>
            <a:endParaRPr sz="2750">
              <a:latin typeface="Garamond"/>
              <a:ea typeface="Garamond"/>
              <a:cs typeface="Garamond"/>
              <a:sym typeface="Garamond"/>
            </a:endParaRPr>
          </a:p>
          <a:p>
            <a:pPr indent="-514350" lvl="0" marL="527050"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Hydroxyzine (Atarax®)</a:t>
            </a:r>
            <a:endParaRPr sz="2750">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Diazépam (Valium®)</a:t>
            </a:r>
            <a:endParaRPr sz="2750">
              <a:solidFill>
                <a:srgbClr val="FF0000"/>
              </a:solidFill>
              <a:latin typeface="Garamond"/>
              <a:ea typeface="Garamond"/>
              <a:cs typeface="Garamond"/>
              <a:sym typeface="Garamond"/>
            </a:endParaRPr>
          </a:p>
          <a:p>
            <a:pPr indent="-603885" lvl="0" marL="61658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Chlorazépate (Tranxène®)</a:t>
            </a:r>
            <a:endParaRPr sz="2750">
              <a:solidFill>
                <a:srgbClr val="FF0000"/>
              </a:solidFill>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Imipramine (Tofranil®)</a:t>
            </a:r>
            <a:endParaRPr sz="2750">
              <a:latin typeface="Garamond"/>
              <a:ea typeface="Garamond"/>
              <a:cs typeface="Garamond"/>
              <a:sym typeface="Garamond"/>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7" name="Shape 1697"/>
        <p:cNvGrpSpPr/>
        <p:nvPr/>
      </p:nvGrpSpPr>
      <p:grpSpPr>
        <a:xfrm>
          <a:off x="0" y="0"/>
          <a:ext cx="0" cy="0"/>
          <a:chOff x="0" y="0"/>
          <a:chExt cx="0" cy="0"/>
        </a:xfrm>
      </p:grpSpPr>
      <p:sp>
        <p:nvSpPr>
          <p:cNvPr id="1698" name="Google Shape;1698;p209"/>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99" name="Google Shape;1699;p209"/>
          <p:cNvSpPr txBox="1"/>
          <p:nvPr>
            <p:ph type="title"/>
          </p:nvPr>
        </p:nvSpPr>
        <p:spPr>
          <a:xfrm>
            <a:off x="802005" y="636905"/>
            <a:ext cx="10587989" cy="1671955"/>
          </a:xfrm>
          <a:prstGeom prst="rect">
            <a:avLst/>
          </a:prstGeom>
          <a:noFill/>
          <a:ln>
            <a:noFill/>
          </a:ln>
        </p:spPr>
        <p:txBody>
          <a:bodyPr anchorCtr="0" anchor="t" bIns="0" lIns="0" spcFirstLastPara="1" rIns="0" wrap="square" tIns="299650">
            <a:spAutoFit/>
          </a:bodyPr>
          <a:lstStyle/>
          <a:p>
            <a:pPr indent="0" lvl="0" marL="238125" marR="5080" rtl="0" algn="l">
              <a:lnSpc>
                <a:spcPct val="119545"/>
              </a:lnSpc>
              <a:spcBef>
                <a:spcPts val="0"/>
              </a:spcBef>
              <a:spcAft>
                <a:spcPts val="0"/>
              </a:spcAft>
              <a:buNone/>
            </a:pPr>
            <a:r>
              <a:rPr lang="fr-FR" sz="4400"/>
              <a:t>Les contre-indications des benzodiazépines sont :</a:t>
            </a:r>
            <a:endParaRPr sz="4400"/>
          </a:p>
        </p:txBody>
      </p:sp>
      <p:sp>
        <p:nvSpPr>
          <p:cNvPr id="1700" name="Google Shape;1700;p20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701" name="Google Shape;1701;p209"/>
          <p:cNvSpPr txBox="1"/>
          <p:nvPr/>
        </p:nvSpPr>
        <p:spPr>
          <a:xfrm>
            <a:off x="1375028" y="2469102"/>
            <a:ext cx="4457065" cy="2568652"/>
          </a:xfrm>
          <a:prstGeom prst="rect">
            <a:avLst/>
          </a:prstGeom>
          <a:noFill/>
          <a:ln>
            <a:noFill/>
          </a:ln>
        </p:spPr>
        <p:txBody>
          <a:bodyPr anchorCtr="0" anchor="t" bIns="0" lIns="0" spcFirstLastPara="1" rIns="0" wrap="square" tIns="546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L’insuffisance respiratoire</a:t>
            </a:r>
            <a:endParaRPr sz="2750">
              <a:solidFill>
                <a:srgbClr val="FF0000"/>
              </a:solidFill>
              <a:latin typeface="Garamond"/>
              <a:ea typeface="Garamond"/>
              <a:cs typeface="Garamond"/>
              <a:sym typeface="Garamond"/>
            </a:endParaRPr>
          </a:p>
          <a:p>
            <a:pPr indent="-514350" lvl="0" marL="527050"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L’insuffisance cardiaque</a:t>
            </a:r>
            <a:endParaRPr sz="2750">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La myasthénie</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L’épilepsie</a:t>
            </a:r>
            <a:endParaRPr sz="2750">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L’apnée de sommeil</a:t>
            </a:r>
            <a:endParaRPr sz="2750">
              <a:solidFill>
                <a:srgbClr val="FF0000"/>
              </a:solidFill>
              <a:latin typeface="Garamond"/>
              <a:ea typeface="Garamond"/>
              <a:cs typeface="Garamond"/>
              <a:sym typeface="Garamond"/>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5" name="Shape 1705"/>
        <p:cNvGrpSpPr/>
        <p:nvPr/>
      </p:nvGrpSpPr>
      <p:grpSpPr>
        <a:xfrm>
          <a:off x="0" y="0"/>
          <a:ext cx="0" cy="0"/>
          <a:chOff x="0" y="0"/>
          <a:chExt cx="0" cy="0"/>
        </a:xfrm>
      </p:grpSpPr>
      <p:sp>
        <p:nvSpPr>
          <p:cNvPr id="1706" name="Google Shape;1706;p210"/>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07" name="Google Shape;1707;p210"/>
          <p:cNvSpPr txBox="1"/>
          <p:nvPr>
            <p:ph type="title"/>
          </p:nvPr>
        </p:nvSpPr>
        <p:spPr>
          <a:xfrm>
            <a:off x="802005" y="636905"/>
            <a:ext cx="10587989" cy="1671955"/>
          </a:xfrm>
          <a:prstGeom prst="rect">
            <a:avLst/>
          </a:prstGeom>
          <a:noFill/>
          <a:ln>
            <a:noFill/>
          </a:ln>
        </p:spPr>
        <p:txBody>
          <a:bodyPr anchorCtr="0" anchor="t" bIns="0" lIns="0" spcFirstLastPara="1" rIns="0" wrap="square" tIns="288850">
            <a:spAutoFit/>
          </a:bodyPr>
          <a:lstStyle/>
          <a:p>
            <a:pPr indent="0" lvl="0" marL="434340" rtl="0" algn="l">
              <a:lnSpc>
                <a:spcPct val="119772"/>
              </a:lnSpc>
              <a:spcBef>
                <a:spcPts val="0"/>
              </a:spcBef>
              <a:spcAft>
                <a:spcPts val="0"/>
              </a:spcAft>
              <a:buNone/>
            </a:pPr>
            <a:r>
              <a:rPr lang="fr-FR" sz="4400">
                <a:solidFill>
                  <a:srgbClr val="000000"/>
                </a:solidFill>
              </a:rPr>
              <a:t>Les effets secondaires les plus retrouvés en</a:t>
            </a:r>
            <a:endParaRPr sz="4400"/>
          </a:p>
          <a:p>
            <a:pPr indent="0" lvl="0" marL="294640" rtl="0" algn="l">
              <a:lnSpc>
                <a:spcPct val="119772"/>
              </a:lnSpc>
              <a:spcBef>
                <a:spcPts val="0"/>
              </a:spcBef>
              <a:spcAft>
                <a:spcPts val="0"/>
              </a:spcAft>
              <a:buNone/>
            </a:pPr>
            <a:r>
              <a:rPr lang="fr-FR" sz="4400">
                <a:solidFill>
                  <a:srgbClr val="000000"/>
                </a:solidFill>
              </a:rPr>
              <a:t>cas de prescription d’anxiolytiques sont :</a:t>
            </a:r>
            <a:endParaRPr sz="4400"/>
          </a:p>
        </p:txBody>
      </p:sp>
      <p:sp>
        <p:nvSpPr>
          <p:cNvPr id="1708" name="Google Shape;1708;p21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709" name="Google Shape;1709;p210"/>
          <p:cNvSpPr txBox="1"/>
          <p:nvPr/>
        </p:nvSpPr>
        <p:spPr>
          <a:xfrm>
            <a:off x="1375028" y="2469102"/>
            <a:ext cx="7369809" cy="2568652"/>
          </a:xfrm>
          <a:prstGeom prst="rect">
            <a:avLst/>
          </a:prstGeom>
          <a:noFill/>
          <a:ln>
            <a:noFill/>
          </a:ln>
        </p:spPr>
        <p:txBody>
          <a:bodyPr anchorCtr="0" anchor="t" bIns="0" lIns="0" spcFirstLastPara="1" rIns="0" wrap="square" tIns="546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Les troubles de l’accommodation visuelle</a:t>
            </a:r>
            <a:endParaRPr sz="2750">
              <a:latin typeface="Garamond"/>
              <a:ea typeface="Garamond"/>
              <a:cs typeface="Garamond"/>
              <a:sym typeface="Garamond"/>
            </a:endParaRPr>
          </a:p>
          <a:p>
            <a:pPr indent="-514350" lvl="0" marL="527050" rtl="0" algn="l">
              <a:lnSpc>
                <a:spcPct val="100000"/>
              </a:lnSpc>
              <a:spcBef>
                <a:spcPts val="8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Les troubles de mémoire</a:t>
            </a:r>
            <a:endParaRPr sz="2750">
              <a:solidFill>
                <a:srgbClr val="FF0000"/>
              </a:solidFill>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Les troubles sphinctériens</a:t>
            </a:r>
            <a:endParaRPr sz="2750">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Les troubles de la vigilance diurne</a:t>
            </a:r>
            <a:endParaRPr sz="2750">
              <a:solidFill>
                <a:srgbClr val="FF0000"/>
              </a:solidFill>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Les troubles neurologiques extra-pyramidaux</a:t>
            </a:r>
            <a:endParaRPr sz="2750">
              <a:latin typeface="Garamond"/>
              <a:ea typeface="Garamond"/>
              <a:cs typeface="Garamond"/>
              <a:sym typeface="Garamond"/>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3" name="Shape 1713"/>
        <p:cNvGrpSpPr/>
        <p:nvPr/>
      </p:nvGrpSpPr>
      <p:grpSpPr>
        <a:xfrm>
          <a:off x="0" y="0"/>
          <a:ext cx="0" cy="0"/>
          <a:chOff x="0" y="0"/>
          <a:chExt cx="0" cy="0"/>
        </a:xfrm>
      </p:grpSpPr>
      <p:sp>
        <p:nvSpPr>
          <p:cNvPr id="1714" name="Google Shape;1714;p211"/>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15" name="Google Shape;1715;p211"/>
          <p:cNvSpPr txBox="1"/>
          <p:nvPr>
            <p:ph type="title"/>
          </p:nvPr>
        </p:nvSpPr>
        <p:spPr>
          <a:xfrm>
            <a:off x="802005" y="636905"/>
            <a:ext cx="10587989" cy="1671955"/>
          </a:xfrm>
          <a:prstGeom prst="rect">
            <a:avLst/>
          </a:prstGeom>
          <a:noFill/>
          <a:ln>
            <a:noFill/>
          </a:ln>
        </p:spPr>
        <p:txBody>
          <a:bodyPr anchorCtr="0" anchor="t" bIns="0" lIns="0" spcFirstLastPara="1" rIns="0" wrap="square" tIns="299650">
            <a:spAutoFit/>
          </a:bodyPr>
          <a:lstStyle/>
          <a:p>
            <a:pPr indent="0" lvl="0" marL="585470" marR="5080" rtl="0" algn="l">
              <a:lnSpc>
                <a:spcPct val="119545"/>
              </a:lnSpc>
              <a:spcBef>
                <a:spcPts val="0"/>
              </a:spcBef>
              <a:spcAft>
                <a:spcPts val="0"/>
              </a:spcAft>
              <a:buNone/>
            </a:pPr>
            <a:r>
              <a:rPr lang="fr-FR" sz="4400">
                <a:solidFill>
                  <a:srgbClr val="000000"/>
                </a:solidFill>
              </a:rPr>
              <a:t>Le Diazépam (Valium) est contre indiqué en cas de :</a:t>
            </a:r>
            <a:endParaRPr sz="4400"/>
          </a:p>
        </p:txBody>
      </p:sp>
      <p:sp>
        <p:nvSpPr>
          <p:cNvPr id="1716" name="Google Shape;1716;p21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717" name="Google Shape;1717;p211"/>
          <p:cNvSpPr txBox="1"/>
          <p:nvPr/>
        </p:nvSpPr>
        <p:spPr>
          <a:xfrm>
            <a:off x="1375028" y="2469102"/>
            <a:ext cx="4532630" cy="2568652"/>
          </a:xfrm>
          <a:prstGeom prst="rect">
            <a:avLst/>
          </a:prstGeom>
          <a:noFill/>
          <a:ln>
            <a:noFill/>
          </a:ln>
        </p:spPr>
        <p:txBody>
          <a:bodyPr anchorCtr="0" anchor="t" bIns="0" lIns="0" spcFirstLastPara="1" rIns="0" wrap="square" tIns="546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Insuffisance hypophysaire</a:t>
            </a:r>
            <a:endParaRPr sz="2750">
              <a:latin typeface="Garamond"/>
              <a:ea typeface="Garamond"/>
              <a:cs typeface="Garamond"/>
              <a:sym typeface="Garamond"/>
            </a:endParaRPr>
          </a:p>
          <a:p>
            <a:pPr indent="-514350" lvl="0" marL="527050"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Insuffisance cardiaque</a:t>
            </a:r>
            <a:endParaRPr sz="2750">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Insuffisance rénale</a:t>
            </a:r>
            <a:endParaRPr sz="2750">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Insuffisance respiratoire</a:t>
            </a:r>
            <a:endParaRPr sz="2750">
              <a:solidFill>
                <a:srgbClr val="FF0000"/>
              </a:solidFill>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Insuffisance surrénalienne</a:t>
            </a:r>
            <a:endParaRPr sz="2750">
              <a:latin typeface="Garamond"/>
              <a:ea typeface="Garamond"/>
              <a:cs typeface="Garamond"/>
              <a:sym typeface="Garamond"/>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1" name="Shape 1721"/>
        <p:cNvGrpSpPr/>
        <p:nvPr/>
      </p:nvGrpSpPr>
      <p:grpSpPr>
        <a:xfrm>
          <a:off x="0" y="0"/>
          <a:ext cx="0" cy="0"/>
          <a:chOff x="0" y="0"/>
          <a:chExt cx="0" cy="0"/>
        </a:xfrm>
      </p:grpSpPr>
      <p:sp>
        <p:nvSpPr>
          <p:cNvPr id="1722" name="Google Shape;1722;p212"/>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23" name="Google Shape;1723;p212"/>
          <p:cNvSpPr txBox="1"/>
          <p:nvPr>
            <p:ph type="title"/>
          </p:nvPr>
        </p:nvSpPr>
        <p:spPr>
          <a:xfrm>
            <a:off x="802005" y="636905"/>
            <a:ext cx="10587989" cy="1671955"/>
          </a:xfrm>
          <a:prstGeom prst="rect">
            <a:avLst/>
          </a:prstGeom>
          <a:noFill/>
          <a:ln>
            <a:noFill/>
          </a:ln>
        </p:spPr>
        <p:txBody>
          <a:bodyPr anchorCtr="0" anchor="t" bIns="0" lIns="0" spcFirstLastPara="1" rIns="0" wrap="square" tIns="299650">
            <a:spAutoFit/>
          </a:bodyPr>
          <a:lstStyle/>
          <a:p>
            <a:pPr indent="0" lvl="0" marL="480059" marR="5080" rtl="0" algn="l">
              <a:lnSpc>
                <a:spcPct val="119545"/>
              </a:lnSpc>
              <a:spcBef>
                <a:spcPts val="0"/>
              </a:spcBef>
              <a:spcAft>
                <a:spcPts val="0"/>
              </a:spcAft>
              <a:buNone/>
            </a:pPr>
            <a:r>
              <a:rPr lang="fr-FR" sz="4400">
                <a:solidFill>
                  <a:srgbClr val="000000"/>
                </a:solidFill>
              </a:rPr>
              <a:t>Les contre-indications absolues de la prescription des benzodiazépines sont :</a:t>
            </a:r>
            <a:endParaRPr sz="4400"/>
          </a:p>
        </p:txBody>
      </p:sp>
      <p:sp>
        <p:nvSpPr>
          <p:cNvPr id="1724" name="Google Shape;1724;p21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725" name="Google Shape;1725;p212"/>
          <p:cNvSpPr txBox="1"/>
          <p:nvPr/>
        </p:nvSpPr>
        <p:spPr>
          <a:xfrm>
            <a:off x="1375028" y="2469102"/>
            <a:ext cx="4333875" cy="2568652"/>
          </a:xfrm>
          <a:prstGeom prst="rect">
            <a:avLst/>
          </a:prstGeom>
          <a:noFill/>
          <a:ln>
            <a:noFill/>
          </a:ln>
        </p:spPr>
        <p:txBody>
          <a:bodyPr anchorCtr="0" anchor="t" bIns="0" lIns="0" spcFirstLastPara="1" rIns="0" wrap="square" tIns="546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L’adénome de la prostate</a:t>
            </a:r>
            <a:endParaRPr sz="2750">
              <a:latin typeface="Garamond"/>
              <a:ea typeface="Garamond"/>
              <a:cs typeface="Garamond"/>
              <a:sym typeface="Garamond"/>
            </a:endParaRPr>
          </a:p>
          <a:p>
            <a:pPr indent="-514350" lvl="0" marL="527050" rtl="0" algn="l">
              <a:lnSpc>
                <a:spcPct val="100000"/>
              </a:lnSpc>
              <a:spcBef>
                <a:spcPts val="8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myasthénie</a:t>
            </a:r>
            <a:endParaRPr sz="2750">
              <a:solidFill>
                <a:srgbClr val="FF0000"/>
              </a:solidFill>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Epilepsie</a:t>
            </a:r>
            <a:endParaRPr sz="2750">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AVC récent</a:t>
            </a:r>
            <a:endParaRPr sz="2750">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Asthme aigue grave</a:t>
            </a:r>
            <a:endParaRPr sz="2750">
              <a:solidFill>
                <a:srgbClr val="FF0000"/>
              </a:solidFill>
              <a:latin typeface="Garamond"/>
              <a:ea typeface="Garamond"/>
              <a:cs typeface="Garamond"/>
              <a:sym typeface="Garamond"/>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9" name="Shape 1729"/>
        <p:cNvGrpSpPr/>
        <p:nvPr/>
      </p:nvGrpSpPr>
      <p:grpSpPr>
        <a:xfrm>
          <a:off x="0" y="0"/>
          <a:ext cx="0" cy="0"/>
          <a:chOff x="0" y="0"/>
          <a:chExt cx="0" cy="0"/>
        </a:xfrm>
      </p:grpSpPr>
      <p:sp>
        <p:nvSpPr>
          <p:cNvPr id="1730" name="Google Shape;1730;p213"/>
          <p:cNvSpPr txBox="1"/>
          <p:nvPr>
            <p:ph type="title"/>
          </p:nvPr>
        </p:nvSpPr>
        <p:spPr>
          <a:xfrm>
            <a:off x="1182052" y="612774"/>
            <a:ext cx="10101580" cy="1852930"/>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solidFill>
                  <a:srgbClr val="000000"/>
                </a:solidFill>
              </a:rPr>
              <a:t>Les inhibiteurs de la recapture de la sérotonine sont indiqués dans le traitement des troubles s</a:t>
            </a:r>
            <a:r>
              <a:rPr lang="fr-FR" sz="3950" u="sng">
                <a:solidFill>
                  <a:srgbClr val="000000"/>
                </a:solidFill>
              </a:rPr>
              <a:t>uivants :	</a:t>
            </a:r>
            <a:endParaRPr sz="3950"/>
          </a:p>
        </p:txBody>
      </p:sp>
      <p:sp>
        <p:nvSpPr>
          <p:cNvPr id="1731" name="Google Shape;1731;p21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732" name="Google Shape;1732;p213"/>
          <p:cNvSpPr txBox="1"/>
          <p:nvPr/>
        </p:nvSpPr>
        <p:spPr>
          <a:xfrm>
            <a:off x="1187132" y="2639671"/>
            <a:ext cx="5996940" cy="2568011"/>
          </a:xfrm>
          <a:prstGeom prst="rect">
            <a:avLst/>
          </a:prstGeom>
          <a:noFill/>
          <a:ln>
            <a:noFill/>
          </a:ln>
        </p:spPr>
        <p:txBody>
          <a:bodyPr anchorCtr="0" anchor="t" bIns="0" lIns="0" spcFirstLastPara="1" rIns="0" wrap="square" tIns="53975">
            <a:spAutoFit/>
          </a:bodyPr>
          <a:lstStyle/>
          <a:p>
            <a:pPr indent="-742950" lvl="0" marL="7556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Troubles obsessionnels compulsifs</a:t>
            </a:r>
            <a:endParaRPr sz="2750">
              <a:solidFill>
                <a:srgbClr val="FF0000"/>
              </a:solidFill>
              <a:latin typeface="Garamond"/>
              <a:ea typeface="Garamond"/>
              <a:cs typeface="Garamond"/>
              <a:sym typeface="Garamond"/>
            </a:endParaRPr>
          </a:p>
          <a:p>
            <a:pPr indent="-742950" lvl="0" marL="75565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Trouble anxiété généralisée</a:t>
            </a:r>
            <a:endParaRPr sz="2750">
              <a:solidFill>
                <a:srgbClr val="FF0000"/>
              </a:solidFill>
              <a:latin typeface="Garamond"/>
              <a:ea typeface="Garamond"/>
              <a:cs typeface="Garamond"/>
              <a:sym typeface="Garamond"/>
            </a:endParaRPr>
          </a:p>
          <a:p>
            <a:pPr indent="-742950" lvl="0" marL="75565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Phobies sociales</a:t>
            </a:r>
            <a:endParaRPr sz="2750">
              <a:solidFill>
                <a:srgbClr val="FF0000"/>
              </a:solidFill>
              <a:latin typeface="Garamond"/>
              <a:ea typeface="Garamond"/>
              <a:cs typeface="Garamond"/>
              <a:sym typeface="Garamond"/>
            </a:endParaRPr>
          </a:p>
          <a:p>
            <a:pPr indent="-742950" lvl="0" marL="755650" rtl="0" algn="l">
              <a:lnSpc>
                <a:spcPct val="100000"/>
              </a:lnSpc>
              <a:spcBef>
                <a:spcPts val="740"/>
              </a:spcBef>
              <a:spcAft>
                <a:spcPts val="0"/>
              </a:spcAft>
              <a:buClr>
                <a:srgbClr val="83992A"/>
              </a:buClr>
              <a:buSzPts val="3200"/>
              <a:buFont typeface="Garamond"/>
              <a:buAutoNum type="alphaUcPeriod"/>
            </a:pPr>
            <a:r>
              <a:rPr b="1" lang="fr-FR" sz="2750">
                <a:latin typeface="Garamond"/>
                <a:ea typeface="Garamond"/>
                <a:cs typeface="Garamond"/>
                <a:sym typeface="Garamond"/>
              </a:rPr>
              <a:t>Phobies spécifiques</a:t>
            </a:r>
            <a:endParaRPr sz="2750">
              <a:latin typeface="Garamond"/>
              <a:ea typeface="Garamond"/>
              <a:cs typeface="Garamond"/>
              <a:sym typeface="Garamond"/>
            </a:endParaRPr>
          </a:p>
          <a:p>
            <a:pPr indent="-742950" lvl="0" marL="755650"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Agoraphobie</a:t>
            </a:r>
            <a:endParaRPr sz="2750">
              <a:latin typeface="Garamond"/>
              <a:ea typeface="Garamond"/>
              <a:cs typeface="Garamond"/>
              <a:sym typeface="Garamond"/>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6" name="Shape 1736"/>
        <p:cNvGrpSpPr/>
        <p:nvPr/>
      </p:nvGrpSpPr>
      <p:grpSpPr>
        <a:xfrm>
          <a:off x="0" y="0"/>
          <a:ext cx="0" cy="0"/>
          <a:chOff x="0" y="0"/>
          <a:chExt cx="0" cy="0"/>
        </a:xfrm>
      </p:grpSpPr>
      <p:sp>
        <p:nvSpPr>
          <p:cNvPr id="1737" name="Google Shape;1737;p214"/>
          <p:cNvSpPr txBox="1"/>
          <p:nvPr>
            <p:ph type="title"/>
          </p:nvPr>
        </p:nvSpPr>
        <p:spPr>
          <a:xfrm>
            <a:off x="1182052" y="612774"/>
            <a:ext cx="10101580" cy="1852930"/>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solidFill>
                  <a:srgbClr val="000000"/>
                </a:solidFill>
              </a:rPr>
              <a:t>Les inhibiteurs de la recapture de la sérotonine sont indiqués dans le traitement des troubles s</a:t>
            </a:r>
            <a:r>
              <a:rPr lang="fr-FR" sz="3950" u="sng">
                <a:solidFill>
                  <a:srgbClr val="000000"/>
                </a:solidFill>
              </a:rPr>
              <a:t>uivants :	</a:t>
            </a:r>
            <a:endParaRPr sz="3950"/>
          </a:p>
        </p:txBody>
      </p:sp>
      <p:sp>
        <p:nvSpPr>
          <p:cNvPr id="1738" name="Google Shape;1738;p21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739" name="Google Shape;1739;p214"/>
          <p:cNvSpPr txBox="1"/>
          <p:nvPr/>
        </p:nvSpPr>
        <p:spPr>
          <a:xfrm>
            <a:off x="1187132" y="2639671"/>
            <a:ext cx="5996940" cy="2568011"/>
          </a:xfrm>
          <a:prstGeom prst="rect">
            <a:avLst/>
          </a:prstGeom>
          <a:noFill/>
          <a:ln>
            <a:noFill/>
          </a:ln>
        </p:spPr>
        <p:txBody>
          <a:bodyPr anchorCtr="0" anchor="t" bIns="0" lIns="0" spcFirstLastPara="1" rIns="0" wrap="square" tIns="53975">
            <a:spAutoFit/>
          </a:bodyPr>
          <a:lstStyle/>
          <a:p>
            <a:pPr indent="-742950" lvl="0" marL="7556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Troubles obsessionnels compulsifs</a:t>
            </a:r>
            <a:endParaRPr sz="2750">
              <a:solidFill>
                <a:srgbClr val="FF0000"/>
              </a:solidFill>
              <a:latin typeface="Garamond"/>
              <a:ea typeface="Garamond"/>
              <a:cs typeface="Garamond"/>
              <a:sym typeface="Garamond"/>
            </a:endParaRPr>
          </a:p>
          <a:p>
            <a:pPr indent="-742950" lvl="0" marL="75565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dépression</a:t>
            </a:r>
            <a:endParaRPr sz="2750">
              <a:solidFill>
                <a:srgbClr val="FF0000"/>
              </a:solidFill>
              <a:latin typeface="Garamond"/>
              <a:ea typeface="Garamond"/>
              <a:cs typeface="Garamond"/>
              <a:sym typeface="Garamond"/>
            </a:endParaRPr>
          </a:p>
          <a:p>
            <a:pPr indent="-742950" lvl="0" marL="75565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Phobies sociales</a:t>
            </a:r>
            <a:endParaRPr sz="2750">
              <a:solidFill>
                <a:srgbClr val="FF0000"/>
              </a:solidFill>
              <a:latin typeface="Garamond"/>
              <a:ea typeface="Garamond"/>
              <a:cs typeface="Garamond"/>
              <a:sym typeface="Garamond"/>
            </a:endParaRPr>
          </a:p>
          <a:p>
            <a:pPr indent="-742950" lvl="0" marL="755650" rtl="0" algn="l">
              <a:lnSpc>
                <a:spcPct val="100000"/>
              </a:lnSpc>
              <a:spcBef>
                <a:spcPts val="740"/>
              </a:spcBef>
              <a:spcAft>
                <a:spcPts val="0"/>
              </a:spcAft>
              <a:buClr>
                <a:srgbClr val="83992A"/>
              </a:buClr>
              <a:buSzPts val="3200"/>
              <a:buFont typeface="Garamond"/>
              <a:buAutoNum type="alphaUcPeriod"/>
            </a:pPr>
            <a:r>
              <a:rPr b="1" lang="fr-FR" sz="2750">
                <a:latin typeface="Garamond"/>
                <a:ea typeface="Garamond"/>
                <a:cs typeface="Garamond"/>
                <a:sym typeface="Garamond"/>
              </a:rPr>
              <a:t>hallucinations</a:t>
            </a:r>
            <a:endParaRPr sz="2750">
              <a:latin typeface="Garamond"/>
              <a:ea typeface="Garamond"/>
              <a:cs typeface="Garamond"/>
              <a:sym typeface="Garamond"/>
            </a:endParaRPr>
          </a:p>
          <a:p>
            <a:pPr indent="-742950" lvl="0" marL="755650"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Maladie de Parkinson</a:t>
            </a:r>
            <a:endParaRPr sz="2750">
              <a:latin typeface="Garamond"/>
              <a:ea typeface="Garamond"/>
              <a:cs typeface="Garamond"/>
              <a:sym typeface="Garamond"/>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3" name="Shape 1743"/>
        <p:cNvGrpSpPr/>
        <p:nvPr/>
      </p:nvGrpSpPr>
      <p:grpSpPr>
        <a:xfrm>
          <a:off x="0" y="0"/>
          <a:ext cx="0" cy="0"/>
          <a:chOff x="0" y="0"/>
          <a:chExt cx="0" cy="0"/>
        </a:xfrm>
      </p:grpSpPr>
      <p:sp>
        <p:nvSpPr>
          <p:cNvPr id="1744" name="Google Shape;1744;p215"/>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45" name="Google Shape;1745;p215"/>
          <p:cNvSpPr txBox="1"/>
          <p:nvPr>
            <p:ph type="title"/>
          </p:nvPr>
        </p:nvSpPr>
        <p:spPr>
          <a:xfrm>
            <a:off x="802005" y="636905"/>
            <a:ext cx="10587989" cy="1671955"/>
          </a:xfrm>
          <a:prstGeom prst="rect">
            <a:avLst/>
          </a:prstGeom>
          <a:noFill/>
          <a:ln>
            <a:noFill/>
          </a:ln>
        </p:spPr>
        <p:txBody>
          <a:bodyPr anchorCtr="0" anchor="t" bIns="0" lIns="0" spcFirstLastPara="1" rIns="0" wrap="square" tIns="372975">
            <a:spAutoFit/>
          </a:bodyPr>
          <a:lstStyle/>
          <a:p>
            <a:pPr indent="0" lvl="0" marL="454659" marR="5080" rtl="0" algn="l">
              <a:lnSpc>
                <a:spcPct val="118888"/>
              </a:lnSpc>
              <a:spcBef>
                <a:spcPts val="0"/>
              </a:spcBef>
              <a:spcAft>
                <a:spcPts val="0"/>
              </a:spcAft>
              <a:buNone/>
            </a:pPr>
            <a:r>
              <a:rPr lang="fr-FR">
                <a:solidFill>
                  <a:srgbClr val="000000"/>
                </a:solidFill>
              </a:rPr>
              <a:t>La Venlafaxine est habituellement prescrite dans le traitement de :</a:t>
            </a:r>
            <a:endParaRPr/>
          </a:p>
        </p:txBody>
      </p:sp>
      <p:sp>
        <p:nvSpPr>
          <p:cNvPr id="1746" name="Google Shape;1746;p21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747" name="Google Shape;1747;p215"/>
          <p:cNvSpPr txBox="1"/>
          <p:nvPr/>
        </p:nvSpPr>
        <p:spPr>
          <a:xfrm>
            <a:off x="1375028" y="2650239"/>
            <a:ext cx="4907915" cy="2218556"/>
          </a:xfrm>
          <a:prstGeom prst="rect">
            <a:avLst/>
          </a:prstGeom>
          <a:noFill/>
          <a:ln>
            <a:noFill/>
          </a:ln>
        </p:spPr>
        <p:txBody>
          <a:bodyPr anchorCtr="0" anchor="t" bIns="0" lIns="0" spcFirstLastPara="1" rIns="0" wrap="square" tIns="0">
            <a:spAutoFit/>
          </a:bodyPr>
          <a:lstStyle/>
          <a:p>
            <a:pPr indent="-743585" lvl="0" marL="756285" rtl="0" algn="l">
              <a:lnSpc>
                <a:spcPct val="134000"/>
              </a:lnSpc>
              <a:spcBef>
                <a:spcPts val="0"/>
              </a:spcBef>
              <a:spcAft>
                <a:spcPts val="0"/>
              </a:spcAft>
              <a:buClr>
                <a:srgbClr val="83992A"/>
              </a:buClr>
              <a:buSzPts val="3200"/>
              <a:buFont typeface="Garamond"/>
              <a:buAutoNum type="alphaUcPeriod"/>
            </a:pPr>
            <a:r>
              <a:rPr b="1" lang="fr-FR" sz="2750">
                <a:latin typeface="Garamond"/>
                <a:ea typeface="Garamond"/>
                <a:cs typeface="Garamond"/>
                <a:sym typeface="Garamond"/>
              </a:rPr>
              <a:t>La phobie des tonnerres</a:t>
            </a:r>
            <a:endParaRPr sz="2750">
              <a:latin typeface="Garamond"/>
              <a:ea typeface="Garamond"/>
              <a:cs typeface="Garamond"/>
              <a:sym typeface="Garamond"/>
            </a:endParaRPr>
          </a:p>
          <a:p>
            <a:pPr indent="-743585" lvl="0" marL="756285" rtl="0" algn="l">
              <a:lnSpc>
                <a:spcPct val="100000"/>
              </a:lnSpc>
              <a:spcBef>
                <a:spcPts val="1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Trouble panique</a:t>
            </a:r>
            <a:endParaRPr sz="2750">
              <a:solidFill>
                <a:srgbClr val="FF0000"/>
              </a:solidFill>
              <a:latin typeface="Garamond"/>
              <a:ea typeface="Garamond"/>
              <a:cs typeface="Garamond"/>
              <a:sym typeface="Garamond"/>
            </a:endParaRPr>
          </a:p>
          <a:p>
            <a:pPr indent="-743585" lvl="0" marL="756285" rtl="0" algn="l">
              <a:lnSpc>
                <a:spcPct val="100000"/>
              </a:lnSpc>
              <a:spcBef>
                <a:spcPts val="140"/>
              </a:spcBef>
              <a:spcAft>
                <a:spcPts val="0"/>
              </a:spcAft>
              <a:buClr>
                <a:srgbClr val="83992A"/>
              </a:buClr>
              <a:buSzPts val="3200"/>
              <a:buFont typeface="Garamond"/>
              <a:buAutoNum type="alphaUcPeriod"/>
            </a:pPr>
            <a:r>
              <a:rPr b="1" lang="fr-FR" sz="2750">
                <a:latin typeface="Garamond"/>
                <a:ea typeface="Garamond"/>
                <a:cs typeface="Garamond"/>
                <a:sym typeface="Garamond"/>
              </a:rPr>
              <a:t>Agoraphobie</a:t>
            </a:r>
            <a:endParaRPr sz="2750">
              <a:latin typeface="Garamond"/>
              <a:ea typeface="Garamond"/>
              <a:cs typeface="Garamond"/>
              <a:sym typeface="Garamond"/>
            </a:endParaRPr>
          </a:p>
          <a:p>
            <a:pPr indent="-743585" lvl="0" marL="756285" rtl="0" algn="l">
              <a:lnSpc>
                <a:spcPct val="100000"/>
              </a:lnSpc>
              <a:spcBef>
                <a:spcPts val="1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Phobie sociale</a:t>
            </a:r>
            <a:endParaRPr sz="2750">
              <a:solidFill>
                <a:srgbClr val="FF0000"/>
              </a:solidFill>
              <a:latin typeface="Garamond"/>
              <a:ea typeface="Garamond"/>
              <a:cs typeface="Garamond"/>
              <a:sym typeface="Garamond"/>
            </a:endParaRPr>
          </a:p>
          <a:p>
            <a:pPr indent="-743585" lvl="0" marL="756285" rtl="0" algn="l">
              <a:lnSpc>
                <a:spcPct val="100000"/>
              </a:lnSpc>
              <a:spcBef>
                <a:spcPts val="1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Trouble anxiété généralisée</a:t>
            </a:r>
            <a:endParaRPr sz="2750">
              <a:solidFill>
                <a:srgbClr val="FF0000"/>
              </a:solidFill>
              <a:latin typeface="Garamond"/>
              <a:ea typeface="Garamond"/>
              <a:cs typeface="Garamond"/>
              <a:sym typeface="Garamond"/>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1" name="Shape 1751"/>
        <p:cNvGrpSpPr/>
        <p:nvPr/>
      </p:nvGrpSpPr>
      <p:grpSpPr>
        <a:xfrm>
          <a:off x="0" y="0"/>
          <a:ext cx="0" cy="0"/>
          <a:chOff x="0" y="0"/>
          <a:chExt cx="0" cy="0"/>
        </a:xfrm>
      </p:grpSpPr>
      <p:sp>
        <p:nvSpPr>
          <p:cNvPr id="1752" name="Google Shape;1752;p216"/>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53" name="Google Shape;1753;p216"/>
          <p:cNvSpPr txBox="1"/>
          <p:nvPr>
            <p:ph type="title"/>
          </p:nvPr>
        </p:nvSpPr>
        <p:spPr>
          <a:xfrm>
            <a:off x="1375028" y="975105"/>
            <a:ext cx="9135745"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t>Le traitement de la phobie sociale est basé sur :</a:t>
            </a:r>
            <a:endParaRPr sz="3950"/>
          </a:p>
        </p:txBody>
      </p:sp>
      <p:sp>
        <p:nvSpPr>
          <p:cNvPr id="1754" name="Google Shape;1754;p21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755" name="Google Shape;1755;p216"/>
          <p:cNvSpPr txBox="1"/>
          <p:nvPr/>
        </p:nvSpPr>
        <p:spPr>
          <a:xfrm>
            <a:off x="1375028" y="2350704"/>
            <a:ext cx="3712210" cy="2568652"/>
          </a:xfrm>
          <a:prstGeom prst="rect">
            <a:avLst/>
          </a:prstGeom>
          <a:noFill/>
          <a:ln>
            <a:noFill/>
          </a:ln>
        </p:spPr>
        <p:txBody>
          <a:bodyPr anchorCtr="0" anchor="t" bIns="0" lIns="0" spcFirstLastPara="1" rIns="0" wrap="square" tIns="546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L’affirmation de soi</a:t>
            </a:r>
            <a:endParaRPr sz="2750">
              <a:solidFill>
                <a:srgbClr val="FF0000"/>
              </a:solidFill>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L’exposition graduée</a:t>
            </a:r>
            <a:endParaRPr sz="2750">
              <a:solidFill>
                <a:srgbClr val="FF0000"/>
              </a:solidFill>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La Fluoxétine</a:t>
            </a:r>
            <a:endParaRPr sz="2750">
              <a:latin typeface="Garamond"/>
              <a:ea typeface="Garamond"/>
              <a:cs typeface="Garamond"/>
              <a:sym typeface="Garamond"/>
            </a:endParaRPr>
          </a:p>
          <a:p>
            <a:pPr indent="-513715" lvl="0" marL="526415" rtl="0" algn="l">
              <a:lnSpc>
                <a:spcPct val="100000"/>
              </a:lnSpc>
              <a:spcBef>
                <a:spcPts val="8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La Sertraline</a:t>
            </a:r>
            <a:endParaRPr sz="2750">
              <a:solidFill>
                <a:srgbClr val="FF0000"/>
              </a:solidFill>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Le Propanolol</a:t>
            </a:r>
            <a:endParaRPr sz="2750">
              <a:solidFill>
                <a:srgbClr val="FF0000"/>
              </a:solidFill>
              <a:latin typeface="Garamond"/>
              <a:ea typeface="Garamond"/>
              <a:cs typeface="Garamond"/>
              <a:sym typeface="Garamond"/>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9" name="Shape 1759"/>
        <p:cNvGrpSpPr/>
        <p:nvPr/>
      </p:nvGrpSpPr>
      <p:grpSpPr>
        <a:xfrm>
          <a:off x="0" y="0"/>
          <a:ext cx="0" cy="0"/>
          <a:chOff x="0" y="0"/>
          <a:chExt cx="0" cy="0"/>
        </a:xfrm>
      </p:grpSpPr>
      <p:sp>
        <p:nvSpPr>
          <p:cNvPr id="1760" name="Google Shape;1760;p217"/>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61" name="Google Shape;1761;p217"/>
          <p:cNvSpPr txBox="1"/>
          <p:nvPr>
            <p:ph type="title"/>
          </p:nvPr>
        </p:nvSpPr>
        <p:spPr>
          <a:xfrm>
            <a:off x="1375028" y="669924"/>
            <a:ext cx="8802370" cy="1242695"/>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3950"/>
              <a:t>Le traitement d’une crise aigüe d’anxiété</a:t>
            </a:r>
            <a:endParaRPr sz="3950"/>
          </a:p>
          <a:p>
            <a:pPr indent="0" lvl="0" marL="12700" rtl="0" algn="l">
              <a:lnSpc>
                <a:spcPct val="100000"/>
              </a:lnSpc>
              <a:spcBef>
                <a:spcPts val="65"/>
              </a:spcBef>
              <a:spcAft>
                <a:spcPts val="0"/>
              </a:spcAft>
              <a:buNone/>
            </a:pPr>
            <a:r>
              <a:rPr lang="fr-FR" sz="3950"/>
              <a:t>est :</a:t>
            </a:r>
            <a:endParaRPr sz="3950"/>
          </a:p>
        </p:txBody>
      </p:sp>
      <p:sp>
        <p:nvSpPr>
          <p:cNvPr id="1762" name="Google Shape;1762;p21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763" name="Google Shape;1763;p217"/>
          <p:cNvSpPr txBox="1"/>
          <p:nvPr/>
        </p:nvSpPr>
        <p:spPr>
          <a:xfrm>
            <a:off x="1375028" y="2288474"/>
            <a:ext cx="4058285" cy="2568652"/>
          </a:xfrm>
          <a:prstGeom prst="rect">
            <a:avLst/>
          </a:prstGeom>
          <a:noFill/>
          <a:ln>
            <a:noFill/>
          </a:ln>
        </p:spPr>
        <p:txBody>
          <a:bodyPr anchorCtr="0" anchor="t" bIns="0" lIns="0" spcFirstLastPara="1" rIns="0" wrap="square" tIns="546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Lorazépam (Temesta*)</a:t>
            </a:r>
            <a:endParaRPr sz="2750">
              <a:solidFill>
                <a:srgbClr val="FF0000"/>
              </a:solidFill>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Amitriptyline (Amyril*)</a:t>
            </a:r>
            <a:endParaRPr sz="2750">
              <a:latin typeface="Garamond"/>
              <a:ea typeface="Garamond"/>
              <a:cs typeface="Garamond"/>
              <a:sym typeface="Garamond"/>
            </a:endParaRPr>
          </a:p>
          <a:p>
            <a:pPr indent="-514350" lvl="0" marL="527050" rtl="0" algn="l">
              <a:lnSpc>
                <a:spcPct val="100000"/>
              </a:lnSpc>
              <a:spcBef>
                <a:spcPts val="8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Psychoéducation</a:t>
            </a:r>
            <a:endParaRPr sz="2750">
              <a:solidFill>
                <a:srgbClr val="FF0000"/>
              </a:solidFill>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Paroxétine (Deroxat*)</a:t>
            </a:r>
            <a:endParaRPr sz="2750">
              <a:latin typeface="Garamond"/>
              <a:ea typeface="Garamond"/>
              <a:cs typeface="Garamond"/>
              <a:sym typeface="Garamond"/>
            </a:endParaRPr>
          </a:p>
          <a:p>
            <a:pPr indent="-514350" lvl="0" marL="527050"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Contrôle respiratoire</a:t>
            </a:r>
            <a:endParaRPr sz="2750">
              <a:solidFill>
                <a:srgbClr val="FF0000"/>
              </a:solidFill>
              <a:latin typeface="Garamond"/>
              <a:ea typeface="Garamond"/>
              <a:cs typeface="Garamond"/>
              <a:sym typeface="Garamond"/>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7" name="Shape 1767"/>
        <p:cNvGrpSpPr/>
        <p:nvPr/>
      </p:nvGrpSpPr>
      <p:grpSpPr>
        <a:xfrm>
          <a:off x="0" y="0"/>
          <a:ext cx="0" cy="0"/>
          <a:chOff x="0" y="0"/>
          <a:chExt cx="0" cy="0"/>
        </a:xfrm>
      </p:grpSpPr>
      <p:sp>
        <p:nvSpPr>
          <p:cNvPr id="1768" name="Google Shape;1768;p218"/>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69" name="Google Shape;1769;p218"/>
          <p:cNvSpPr txBox="1"/>
          <p:nvPr>
            <p:ph type="title"/>
          </p:nvPr>
        </p:nvSpPr>
        <p:spPr>
          <a:xfrm>
            <a:off x="802005" y="636905"/>
            <a:ext cx="10587989" cy="1671955"/>
          </a:xfrm>
          <a:prstGeom prst="rect">
            <a:avLst/>
          </a:prstGeom>
          <a:noFill/>
          <a:ln>
            <a:noFill/>
          </a:ln>
        </p:spPr>
        <p:txBody>
          <a:bodyPr anchorCtr="0" anchor="t" bIns="0" lIns="0" spcFirstLastPara="1" rIns="0" wrap="square" tIns="354700">
            <a:spAutoFit/>
          </a:bodyPr>
          <a:lstStyle/>
          <a:p>
            <a:pPr indent="0" lvl="0" marL="91440" rtl="0" algn="l">
              <a:lnSpc>
                <a:spcPct val="100000"/>
              </a:lnSpc>
              <a:spcBef>
                <a:spcPts val="0"/>
              </a:spcBef>
              <a:spcAft>
                <a:spcPts val="0"/>
              </a:spcAft>
              <a:buNone/>
            </a:pPr>
            <a:r>
              <a:rPr lang="fr-FR" sz="3950"/>
              <a:t>Une seule molécule n’est pas indiquée dans le</a:t>
            </a:r>
            <a:endParaRPr sz="3950"/>
          </a:p>
          <a:p>
            <a:pPr indent="0" lvl="0" marL="91440" rtl="0" algn="l">
              <a:lnSpc>
                <a:spcPct val="100000"/>
              </a:lnSpc>
              <a:spcBef>
                <a:spcPts val="65"/>
              </a:spcBef>
              <a:spcAft>
                <a:spcPts val="0"/>
              </a:spcAft>
              <a:buNone/>
            </a:pPr>
            <a:r>
              <a:rPr lang="fr-FR" sz="3950"/>
              <a:t>traitement médicamenteux du trouble panique :</a:t>
            </a:r>
            <a:endParaRPr sz="3950"/>
          </a:p>
        </p:txBody>
      </p:sp>
      <p:sp>
        <p:nvSpPr>
          <p:cNvPr id="1770" name="Google Shape;1770;p21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771" name="Google Shape;1771;p218"/>
          <p:cNvSpPr txBox="1"/>
          <p:nvPr/>
        </p:nvSpPr>
        <p:spPr>
          <a:xfrm>
            <a:off x="1397888" y="2712085"/>
            <a:ext cx="3406775" cy="2546851"/>
          </a:xfrm>
          <a:prstGeom prst="rect">
            <a:avLst/>
          </a:prstGeom>
          <a:noFill/>
          <a:ln>
            <a:noFill/>
          </a:ln>
        </p:spPr>
        <p:txBody>
          <a:bodyPr anchorCtr="0" anchor="t" bIns="0" lIns="0" spcFirstLastPara="1" rIns="0" wrap="square" tIns="0">
            <a:spAutoFit/>
          </a:bodyPr>
          <a:lstStyle/>
          <a:p>
            <a:pPr indent="-514350" lvl="0" marL="527050" rtl="0" algn="l">
              <a:lnSpc>
                <a:spcPct val="126874"/>
              </a:lnSpc>
              <a:spcBef>
                <a:spcPts val="0"/>
              </a:spcBef>
              <a:spcAft>
                <a:spcPts val="0"/>
              </a:spcAft>
              <a:buClr>
                <a:srgbClr val="83992A"/>
              </a:buClr>
              <a:buSzPts val="3650"/>
              <a:buFont typeface="Garamond"/>
              <a:buAutoNum type="alphaUcPeriod"/>
            </a:pPr>
            <a:r>
              <a:rPr b="1" lang="fr-FR" sz="3200">
                <a:solidFill>
                  <a:srgbClr val="252525"/>
                </a:solidFill>
                <a:latin typeface="Garamond"/>
                <a:ea typeface="Garamond"/>
                <a:cs typeface="Garamond"/>
                <a:sym typeface="Garamond"/>
              </a:rPr>
              <a:t>La Paroxétine</a:t>
            </a:r>
            <a:endParaRPr sz="3200">
              <a:latin typeface="Garamond"/>
              <a:ea typeface="Garamond"/>
              <a:cs typeface="Garamond"/>
              <a:sym typeface="Garamond"/>
            </a:endParaRPr>
          </a:p>
          <a:p>
            <a:pPr indent="-514350" lvl="0" marL="527050" rtl="0" algn="l">
              <a:lnSpc>
                <a:spcPct val="100000"/>
              </a:lnSpc>
              <a:spcBef>
                <a:spcPts val="50"/>
              </a:spcBef>
              <a:spcAft>
                <a:spcPts val="0"/>
              </a:spcAft>
              <a:buClr>
                <a:srgbClr val="83992A"/>
              </a:buClr>
              <a:buSzPts val="3650"/>
              <a:buFont typeface="Garamond"/>
              <a:buAutoNum type="alphaUcPeriod"/>
            </a:pPr>
            <a:r>
              <a:rPr b="1" lang="fr-FR" sz="3200">
                <a:solidFill>
                  <a:srgbClr val="FF0000"/>
                </a:solidFill>
                <a:latin typeface="Garamond"/>
                <a:ea typeface="Garamond"/>
                <a:cs typeface="Garamond"/>
                <a:sym typeface="Garamond"/>
              </a:rPr>
              <a:t>La Fluoxétine</a:t>
            </a:r>
            <a:endParaRPr sz="3200">
              <a:solidFill>
                <a:srgbClr val="FF0000"/>
              </a:solidFill>
              <a:latin typeface="Garamond"/>
              <a:ea typeface="Garamond"/>
              <a:cs typeface="Garamond"/>
              <a:sym typeface="Garamond"/>
            </a:endParaRPr>
          </a:p>
          <a:p>
            <a:pPr indent="-514350" lvl="0" marL="527050" rtl="0" algn="l">
              <a:lnSpc>
                <a:spcPct val="100000"/>
              </a:lnSpc>
              <a:spcBef>
                <a:spcPts val="50"/>
              </a:spcBef>
              <a:spcAft>
                <a:spcPts val="0"/>
              </a:spcAft>
              <a:buClr>
                <a:srgbClr val="83992A"/>
              </a:buClr>
              <a:buSzPts val="3650"/>
              <a:buFont typeface="Garamond"/>
              <a:buAutoNum type="alphaUcPeriod"/>
            </a:pPr>
            <a:r>
              <a:rPr b="1" lang="fr-FR" sz="3200">
                <a:solidFill>
                  <a:srgbClr val="252525"/>
                </a:solidFill>
                <a:latin typeface="Garamond"/>
                <a:ea typeface="Garamond"/>
                <a:cs typeface="Garamond"/>
                <a:sym typeface="Garamond"/>
              </a:rPr>
              <a:t>La Sertraline</a:t>
            </a:r>
            <a:endParaRPr sz="3200">
              <a:latin typeface="Garamond"/>
              <a:ea typeface="Garamond"/>
              <a:cs typeface="Garamond"/>
              <a:sym typeface="Garamond"/>
            </a:endParaRPr>
          </a:p>
          <a:p>
            <a:pPr indent="-513715" lvl="0" marL="526415" rtl="0" algn="l">
              <a:lnSpc>
                <a:spcPct val="100000"/>
              </a:lnSpc>
              <a:spcBef>
                <a:spcPts val="55"/>
              </a:spcBef>
              <a:spcAft>
                <a:spcPts val="0"/>
              </a:spcAft>
              <a:buClr>
                <a:srgbClr val="83992A"/>
              </a:buClr>
              <a:buSzPts val="3650"/>
              <a:buFont typeface="Garamond"/>
              <a:buAutoNum type="alphaUcPeriod"/>
            </a:pPr>
            <a:r>
              <a:rPr b="1" lang="fr-FR" sz="3200">
                <a:solidFill>
                  <a:srgbClr val="252525"/>
                </a:solidFill>
                <a:latin typeface="Garamond"/>
                <a:ea typeface="Garamond"/>
                <a:cs typeface="Garamond"/>
                <a:sym typeface="Garamond"/>
              </a:rPr>
              <a:t>La Escitalopram</a:t>
            </a:r>
            <a:endParaRPr sz="3200">
              <a:latin typeface="Garamond"/>
              <a:ea typeface="Garamond"/>
              <a:cs typeface="Garamond"/>
              <a:sym typeface="Garamond"/>
            </a:endParaRPr>
          </a:p>
          <a:p>
            <a:pPr indent="-513715" lvl="0" marL="526415" rtl="0" algn="l">
              <a:lnSpc>
                <a:spcPct val="100000"/>
              </a:lnSpc>
              <a:spcBef>
                <a:spcPts val="125"/>
              </a:spcBef>
              <a:spcAft>
                <a:spcPts val="0"/>
              </a:spcAft>
              <a:buClr>
                <a:srgbClr val="83992A"/>
              </a:buClr>
              <a:buSzPts val="3650"/>
              <a:buFont typeface="Garamond"/>
              <a:buAutoNum type="alphaUcPeriod"/>
            </a:pPr>
            <a:r>
              <a:rPr b="1" lang="fr-FR" sz="3200">
                <a:solidFill>
                  <a:srgbClr val="252525"/>
                </a:solidFill>
                <a:latin typeface="Garamond"/>
                <a:ea typeface="Garamond"/>
                <a:cs typeface="Garamond"/>
                <a:sym typeface="Garamond"/>
              </a:rPr>
              <a:t>La Venlafaxine</a:t>
            </a:r>
            <a:endParaRPr sz="3200">
              <a:latin typeface="Garamond"/>
              <a:ea typeface="Garamond"/>
              <a:cs typeface="Garamond"/>
              <a:sym typeface="Garamond"/>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5" name="Shape 1775"/>
        <p:cNvGrpSpPr/>
        <p:nvPr/>
      </p:nvGrpSpPr>
      <p:grpSpPr>
        <a:xfrm>
          <a:off x="0" y="0"/>
          <a:ext cx="0" cy="0"/>
          <a:chOff x="0" y="0"/>
          <a:chExt cx="0" cy="0"/>
        </a:xfrm>
      </p:grpSpPr>
      <p:sp>
        <p:nvSpPr>
          <p:cNvPr id="1776" name="Google Shape;1776;p219"/>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77" name="Google Shape;1777;p219"/>
          <p:cNvSpPr txBox="1"/>
          <p:nvPr>
            <p:ph type="title"/>
          </p:nvPr>
        </p:nvSpPr>
        <p:spPr>
          <a:xfrm>
            <a:off x="802005" y="636905"/>
            <a:ext cx="10587989" cy="1671955"/>
          </a:xfrm>
          <a:prstGeom prst="rect">
            <a:avLst/>
          </a:prstGeom>
          <a:noFill/>
          <a:ln>
            <a:noFill/>
          </a:ln>
        </p:spPr>
        <p:txBody>
          <a:bodyPr anchorCtr="0" anchor="t" bIns="0" lIns="0" spcFirstLastPara="1" rIns="0" wrap="square" tIns="7600">
            <a:spAutoFit/>
          </a:bodyPr>
          <a:lstStyle/>
          <a:p>
            <a:pPr indent="127000" lvl="0" marL="294640" marR="5080" rtl="0" algn="l">
              <a:lnSpc>
                <a:spcPct val="101400"/>
              </a:lnSpc>
              <a:spcBef>
                <a:spcPts val="0"/>
              </a:spcBef>
              <a:spcAft>
                <a:spcPts val="0"/>
              </a:spcAft>
              <a:buNone/>
            </a:pPr>
            <a:r>
              <a:rPr lang="fr-FR" sz="3950"/>
              <a:t>Les thérapeutiques possibles des troubles anxieux comportent :</a:t>
            </a:r>
            <a:endParaRPr sz="3950"/>
          </a:p>
        </p:txBody>
      </p:sp>
      <p:sp>
        <p:nvSpPr>
          <p:cNvPr id="1778" name="Google Shape;1778;p21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779" name="Google Shape;1779;p219"/>
          <p:cNvSpPr txBox="1"/>
          <p:nvPr/>
        </p:nvSpPr>
        <p:spPr>
          <a:xfrm>
            <a:off x="1375028" y="2356072"/>
            <a:ext cx="6932295" cy="2568652"/>
          </a:xfrm>
          <a:prstGeom prst="rect">
            <a:avLst/>
          </a:prstGeom>
          <a:noFill/>
          <a:ln>
            <a:noFill/>
          </a:ln>
        </p:spPr>
        <p:txBody>
          <a:bodyPr anchorCtr="0" anchor="t" bIns="0" lIns="0" spcFirstLastPara="1" rIns="0" wrap="square" tIns="546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Les thérapies cognitivo-comportementales</a:t>
            </a:r>
            <a:endParaRPr sz="2750">
              <a:solidFill>
                <a:srgbClr val="FF0000"/>
              </a:solidFill>
              <a:latin typeface="Garamond"/>
              <a:ea typeface="Garamond"/>
              <a:cs typeface="Garamond"/>
              <a:sym typeface="Garamond"/>
            </a:endParaRPr>
          </a:p>
          <a:p>
            <a:pPr indent="-514350" lvl="0" marL="527050" rtl="0" algn="l">
              <a:lnSpc>
                <a:spcPct val="100000"/>
              </a:lnSpc>
              <a:spcBef>
                <a:spcPts val="8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Les anxiolytiques</a:t>
            </a:r>
            <a:endParaRPr sz="2750">
              <a:solidFill>
                <a:srgbClr val="FF0000"/>
              </a:solidFill>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Les neuroleptiques</a:t>
            </a:r>
            <a:endParaRPr sz="2750">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Les thymorégulateurs</a:t>
            </a:r>
            <a:endParaRPr sz="2750">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Les antidépresseurs.</a:t>
            </a:r>
            <a:endParaRPr sz="2750">
              <a:solidFill>
                <a:srgbClr val="FF0000"/>
              </a:solidFill>
              <a:latin typeface="Garamond"/>
              <a:ea typeface="Garamond"/>
              <a:cs typeface="Garamond"/>
              <a:sym typeface="Garamond"/>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3" name="Shape 1783"/>
        <p:cNvGrpSpPr/>
        <p:nvPr/>
      </p:nvGrpSpPr>
      <p:grpSpPr>
        <a:xfrm>
          <a:off x="0" y="0"/>
          <a:ext cx="0" cy="0"/>
          <a:chOff x="0" y="0"/>
          <a:chExt cx="0" cy="0"/>
        </a:xfrm>
      </p:grpSpPr>
      <p:sp>
        <p:nvSpPr>
          <p:cNvPr id="1784" name="Google Shape;1784;p220"/>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85" name="Google Shape;1785;p220"/>
          <p:cNvSpPr txBox="1"/>
          <p:nvPr>
            <p:ph type="title"/>
          </p:nvPr>
        </p:nvSpPr>
        <p:spPr>
          <a:xfrm>
            <a:off x="802005" y="636905"/>
            <a:ext cx="10587989" cy="1671955"/>
          </a:xfrm>
          <a:prstGeom prst="rect">
            <a:avLst/>
          </a:prstGeom>
          <a:noFill/>
          <a:ln>
            <a:noFill/>
          </a:ln>
        </p:spPr>
        <p:txBody>
          <a:bodyPr anchorCtr="0" anchor="t" bIns="0" lIns="0" spcFirstLastPara="1" rIns="0" wrap="square" tIns="345800">
            <a:spAutoFit/>
          </a:bodyPr>
          <a:lstStyle/>
          <a:p>
            <a:pPr indent="127000" lvl="0" marL="585470" marR="5080" rtl="0" algn="l">
              <a:lnSpc>
                <a:spcPct val="101400"/>
              </a:lnSpc>
              <a:spcBef>
                <a:spcPts val="0"/>
              </a:spcBef>
              <a:spcAft>
                <a:spcPts val="0"/>
              </a:spcAft>
              <a:buNone/>
            </a:pPr>
            <a:r>
              <a:rPr lang="fr-FR" sz="3950"/>
              <a:t>Le traitement de fond des troubles anxieux repose sur :</a:t>
            </a:r>
            <a:endParaRPr sz="3950"/>
          </a:p>
        </p:txBody>
      </p:sp>
      <p:sp>
        <p:nvSpPr>
          <p:cNvPr id="1786" name="Google Shape;1786;p22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787" name="Google Shape;1787;p220"/>
          <p:cNvSpPr txBox="1"/>
          <p:nvPr/>
        </p:nvSpPr>
        <p:spPr>
          <a:xfrm>
            <a:off x="1375028" y="2526982"/>
            <a:ext cx="8449945" cy="2757165"/>
          </a:xfrm>
          <a:prstGeom prst="rect">
            <a:avLst/>
          </a:prstGeom>
          <a:noFill/>
          <a:ln>
            <a:noFill/>
          </a:ln>
        </p:spPr>
        <p:txBody>
          <a:bodyPr anchorCtr="0" anchor="t" bIns="0" lIns="0" spcFirstLastPara="1" rIns="0" wrap="square" tIns="0">
            <a:spAutoFit/>
          </a:bodyPr>
          <a:lstStyle/>
          <a:p>
            <a:pPr indent="-514350" lvl="0" marL="527050" rtl="0" algn="l">
              <a:lnSpc>
                <a:spcPct val="122181"/>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Les antidépresseurs ayant pour cible l’axe</a:t>
            </a:r>
            <a:endParaRPr sz="2750">
              <a:solidFill>
                <a:srgbClr val="FF0000"/>
              </a:solidFill>
              <a:latin typeface="Garamond"/>
              <a:ea typeface="Garamond"/>
              <a:cs typeface="Garamond"/>
              <a:sym typeface="Garamond"/>
            </a:endParaRPr>
          </a:p>
          <a:p>
            <a:pPr indent="0" lvl="0" marL="527685" rtl="0" algn="l">
              <a:lnSpc>
                <a:spcPct val="114363"/>
              </a:lnSpc>
              <a:spcBef>
                <a:spcPts val="0"/>
              </a:spcBef>
              <a:spcAft>
                <a:spcPts val="0"/>
              </a:spcAft>
              <a:buNone/>
            </a:pPr>
            <a:r>
              <a:rPr b="1" lang="fr-FR" sz="2750">
                <a:solidFill>
                  <a:srgbClr val="FF0000"/>
                </a:solidFill>
                <a:latin typeface="Garamond"/>
                <a:ea typeface="Garamond"/>
                <a:cs typeface="Garamond"/>
                <a:sym typeface="Garamond"/>
              </a:rPr>
              <a:t>sérotoninergique</a:t>
            </a:r>
            <a:endParaRPr sz="2750">
              <a:solidFill>
                <a:srgbClr val="FF0000"/>
              </a:solidFill>
              <a:latin typeface="Garamond"/>
              <a:ea typeface="Garamond"/>
              <a:cs typeface="Garamond"/>
              <a:sym typeface="Garamond"/>
            </a:endParaRPr>
          </a:p>
          <a:p>
            <a:pPr indent="-514350" lvl="0" marL="527050" rtl="0" algn="l">
              <a:lnSpc>
                <a:spcPct val="100000"/>
              </a:lnSpc>
              <a:spcBef>
                <a:spcPts val="530"/>
              </a:spcBef>
              <a:spcAft>
                <a:spcPts val="0"/>
              </a:spcAft>
              <a:buClr>
                <a:srgbClr val="83992A"/>
              </a:buClr>
              <a:buSzPts val="3200"/>
              <a:buFont typeface="Garamond"/>
              <a:buAutoNum type="alphaUcPeriod" startAt="2"/>
            </a:pPr>
            <a:r>
              <a:rPr b="1" lang="fr-FR" sz="2750">
                <a:solidFill>
                  <a:srgbClr val="252525"/>
                </a:solidFill>
                <a:latin typeface="Garamond"/>
                <a:ea typeface="Garamond"/>
                <a:cs typeface="Garamond"/>
                <a:sym typeface="Garamond"/>
              </a:rPr>
              <a:t>Les neuroleptiques</a:t>
            </a:r>
            <a:endParaRPr sz="2750">
              <a:latin typeface="Garamond"/>
              <a:ea typeface="Garamond"/>
              <a:cs typeface="Garamond"/>
              <a:sym typeface="Garamond"/>
            </a:endParaRPr>
          </a:p>
          <a:p>
            <a:pPr indent="-514350" lvl="0" marL="527050" rtl="0" algn="l">
              <a:lnSpc>
                <a:spcPct val="100000"/>
              </a:lnSpc>
              <a:spcBef>
                <a:spcPts val="440"/>
              </a:spcBef>
              <a:spcAft>
                <a:spcPts val="0"/>
              </a:spcAft>
              <a:buClr>
                <a:srgbClr val="83992A"/>
              </a:buClr>
              <a:buSzPts val="3200"/>
              <a:buFont typeface="Garamond"/>
              <a:buAutoNum type="alphaUcPeriod" startAt="2"/>
            </a:pPr>
            <a:r>
              <a:rPr b="1" lang="fr-FR" sz="2750">
                <a:solidFill>
                  <a:srgbClr val="252525"/>
                </a:solidFill>
                <a:latin typeface="Garamond"/>
                <a:ea typeface="Garamond"/>
                <a:cs typeface="Garamond"/>
                <a:sym typeface="Garamond"/>
              </a:rPr>
              <a:t>Les anticonvulsivants</a:t>
            </a:r>
            <a:endParaRPr sz="2750">
              <a:latin typeface="Garamond"/>
              <a:ea typeface="Garamond"/>
              <a:cs typeface="Garamond"/>
              <a:sym typeface="Garamond"/>
            </a:endParaRPr>
          </a:p>
          <a:p>
            <a:pPr indent="-513715" lvl="0" marL="526415" rtl="0" algn="l">
              <a:lnSpc>
                <a:spcPct val="100000"/>
              </a:lnSpc>
              <a:spcBef>
                <a:spcPts val="440"/>
              </a:spcBef>
              <a:spcAft>
                <a:spcPts val="0"/>
              </a:spcAft>
              <a:buClr>
                <a:srgbClr val="83992A"/>
              </a:buClr>
              <a:buSzPts val="3200"/>
              <a:buFont typeface="Garamond"/>
              <a:buAutoNum type="alphaUcPeriod" startAt="2"/>
            </a:pPr>
            <a:r>
              <a:rPr b="1" lang="fr-FR" sz="2750">
                <a:solidFill>
                  <a:srgbClr val="FF0000"/>
                </a:solidFill>
                <a:latin typeface="Garamond"/>
                <a:ea typeface="Garamond"/>
                <a:cs typeface="Garamond"/>
                <a:sym typeface="Garamond"/>
              </a:rPr>
              <a:t>Les psychothérapies cognitives et comportementales</a:t>
            </a:r>
            <a:endParaRPr sz="2750">
              <a:solidFill>
                <a:srgbClr val="FF0000"/>
              </a:solidFill>
              <a:latin typeface="Garamond"/>
              <a:ea typeface="Garamond"/>
              <a:cs typeface="Garamond"/>
              <a:sym typeface="Garamond"/>
            </a:endParaRPr>
          </a:p>
          <a:p>
            <a:pPr indent="-513715" lvl="0" marL="526415" rtl="0" algn="l">
              <a:lnSpc>
                <a:spcPct val="100000"/>
              </a:lnSpc>
              <a:spcBef>
                <a:spcPts val="515"/>
              </a:spcBef>
              <a:spcAft>
                <a:spcPts val="0"/>
              </a:spcAft>
              <a:buClr>
                <a:srgbClr val="83992A"/>
              </a:buClr>
              <a:buSzPts val="3200"/>
              <a:buFont typeface="Garamond"/>
              <a:buAutoNum type="alphaUcPeriod" startAt="2"/>
            </a:pPr>
            <a:r>
              <a:rPr b="1" lang="fr-FR" sz="2750">
                <a:solidFill>
                  <a:srgbClr val="252525"/>
                </a:solidFill>
                <a:latin typeface="Garamond"/>
                <a:ea typeface="Garamond"/>
                <a:cs typeface="Garamond"/>
                <a:sym typeface="Garamond"/>
              </a:rPr>
              <a:t>La sismothérapie.</a:t>
            </a:r>
            <a:endParaRPr sz="2750">
              <a:latin typeface="Garamond"/>
              <a:ea typeface="Garamond"/>
              <a:cs typeface="Garamond"/>
              <a:sym typeface="Garamond"/>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1" name="Shape 1791"/>
        <p:cNvGrpSpPr/>
        <p:nvPr/>
      </p:nvGrpSpPr>
      <p:grpSpPr>
        <a:xfrm>
          <a:off x="0" y="0"/>
          <a:ext cx="0" cy="0"/>
          <a:chOff x="0" y="0"/>
          <a:chExt cx="0" cy="0"/>
        </a:xfrm>
      </p:grpSpPr>
      <p:sp>
        <p:nvSpPr>
          <p:cNvPr id="1792" name="Google Shape;1792;p221"/>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93" name="Google Shape;1793;p221"/>
          <p:cNvSpPr txBox="1"/>
          <p:nvPr>
            <p:ph type="title"/>
          </p:nvPr>
        </p:nvSpPr>
        <p:spPr>
          <a:xfrm>
            <a:off x="1084262" y="975105"/>
            <a:ext cx="9199880" cy="1242695"/>
          </a:xfrm>
          <a:prstGeom prst="rect">
            <a:avLst/>
          </a:prstGeom>
          <a:noFill/>
          <a:ln>
            <a:noFill/>
          </a:ln>
        </p:spPr>
        <p:txBody>
          <a:bodyPr anchorCtr="0" anchor="t" bIns="0" lIns="0" spcFirstLastPara="1" rIns="0" wrap="square" tIns="7600">
            <a:spAutoFit/>
          </a:bodyPr>
          <a:lstStyle/>
          <a:p>
            <a:pPr indent="127000" lvl="0" marL="12700" marR="5080" rtl="0" algn="l">
              <a:lnSpc>
                <a:spcPct val="101400"/>
              </a:lnSpc>
              <a:spcBef>
                <a:spcPts val="0"/>
              </a:spcBef>
              <a:spcAft>
                <a:spcPts val="0"/>
              </a:spcAft>
              <a:buNone/>
            </a:pPr>
            <a:r>
              <a:rPr lang="fr-FR" sz="3950">
                <a:solidFill>
                  <a:srgbClr val="000000"/>
                </a:solidFill>
              </a:rPr>
              <a:t>Le traitement biologique de fond de choix des troubles anxieux repose sur :</a:t>
            </a:r>
            <a:endParaRPr sz="3950"/>
          </a:p>
        </p:txBody>
      </p:sp>
      <p:sp>
        <p:nvSpPr>
          <p:cNvPr id="1794" name="Google Shape;1794;p22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795" name="Google Shape;1795;p221"/>
          <p:cNvSpPr txBox="1"/>
          <p:nvPr/>
        </p:nvSpPr>
        <p:spPr>
          <a:xfrm>
            <a:off x="1375028" y="2469102"/>
            <a:ext cx="3809365" cy="2568652"/>
          </a:xfrm>
          <a:prstGeom prst="rect">
            <a:avLst/>
          </a:prstGeom>
          <a:noFill/>
          <a:ln>
            <a:noFill/>
          </a:ln>
        </p:spPr>
        <p:txBody>
          <a:bodyPr anchorCtr="0" anchor="t" bIns="0" lIns="0" spcFirstLastPara="1" rIns="0" wrap="square" tIns="54600">
            <a:spAutoFit/>
          </a:bodyPr>
          <a:lstStyle/>
          <a:p>
            <a:pPr indent="-514350" lvl="0" marL="52705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Les antidépresseurs</a:t>
            </a:r>
            <a:endParaRPr sz="2750">
              <a:solidFill>
                <a:srgbClr val="FF0000"/>
              </a:solidFill>
              <a:latin typeface="Garamond"/>
              <a:ea typeface="Garamond"/>
              <a:cs typeface="Garamond"/>
              <a:sym typeface="Garamond"/>
            </a:endParaRPr>
          </a:p>
          <a:p>
            <a:pPr indent="-514350" lvl="0" marL="527050" rtl="0" algn="l">
              <a:lnSpc>
                <a:spcPct val="100000"/>
              </a:lnSpc>
              <a:spcBef>
                <a:spcPts val="819"/>
              </a:spcBef>
              <a:spcAft>
                <a:spcPts val="0"/>
              </a:spcAft>
              <a:buClr>
                <a:srgbClr val="83992A"/>
              </a:buClr>
              <a:buSzPts val="3200"/>
              <a:buFont typeface="Garamond"/>
              <a:buAutoNum type="alphaUcPeriod"/>
            </a:pPr>
            <a:r>
              <a:rPr b="1" lang="fr-FR" sz="2750">
                <a:latin typeface="Garamond"/>
                <a:ea typeface="Garamond"/>
                <a:cs typeface="Garamond"/>
                <a:sym typeface="Garamond"/>
              </a:rPr>
              <a:t>Les neuroleptiques</a:t>
            </a:r>
            <a:endParaRPr sz="2750">
              <a:latin typeface="Garamond"/>
              <a:ea typeface="Garamond"/>
              <a:cs typeface="Garamond"/>
              <a:sym typeface="Garamond"/>
            </a:endParaRPr>
          </a:p>
          <a:p>
            <a:pPr indent="-514350" lvl="0" marL="527050" rtl="0" algn="l">
              <a:lnSpc>
                <a:spcPct val="100000"/>
              </a:lnSpc>
              <a:spcBef>
                <a:spcPts val="815"/>
              </a:spcBef>
              <a:spcAft>
                <a:spcPts val="0"/>
              </a:spcAft>
              <a:buClr>
                <a:srgbClr val="83992A"/>
              </a:buClr>
              <a:buSzPts val="3200"/>
              <a:buFont typeface="Garamond"/>
              <a:buAutoNum type="alphaUcPeriod"/>
            </a:pPr>
            <a:r>
              <a:rPr b="1" lang="fr-FR" sz="2750">
                <a:latin typeface="Garamond"/>
                <a:ea typeface="Garamond"/>
                <a:cs typeface="Garamond"/>
                <a:sym typeface="Garamond"/>
              </a:rPr>
              <a:t>Les anxiolytiques</a:t>
            </a:r>
            <a:endParaRPr sz="2750">
              <a:latin typeface="Garamond"/>
              <a:ea typeface="Garamond"/>
              <a:cs typeface="Garamond"/>
              <a:sym typeface="Garamond"/>
            </a:endParaRPr>
          </a:p>
          <a:p>
            <a:pPr indent="-513715" lvl="0" marL="526415" rtl="0" algn="l">
              <a:lnSpc>
                <a:spcPct val="100000"/>
              </a:lnSpc>
              <a:spcBef>
                <a:spcPts val="815"/>
              </a:spcBef>
              <a:spcAft>
                <a:spcPts val="0"/>
              </a:spcAft>
              <a:buClr>
                <a:srgbClr val="83992A"/>
              </a:buClr>
              <a:buSzPts val="3200"/>
              <a:buFont typeface="Garamond"/>
              <a:buAutoNum type="alphaUcPeriod"/>
            </a:pPr>
            <a:r>
              <a:rPr b="1" lang="fr-FR" sz="2750">
                <a:latin typeface="Garamond"/>
                <a:ea typeface="Garamond"/>
                <a:cs typeface="Garamond"/>
                <a:sym typeface="Garamond"/>
              </a:rPr>
              <a:t>Les hypnotiques</a:t>
            </a:r>
            <a:endParaRPr sz="2750">
              <a:latin typeface="Garamond"/>
              <a:ea typeface="Garamond"/>
              <a:cs typeface="Garamond"/>
              <a:sym typeface="Garamond"/>
            </a:endParaRPr>
          </a:p>
          <a:p>
            <a:pPr indent="-513715" lvl="0" marL="526415" rtl="0" algn="l">
              <a:lnSpc>
                <a:spcPct val="100000"/>
              </a:lnSpc>
              <a:spcBef>
                <a:spcPts val="740"/>
              </a:spcBef>
              <a:spcAft>
                <a:spcPts val="0"/>
              </a:spcAft>
              <a:buClr>
                <a:srgbClr val="83992A"/>
              </a:buClr>
              <a:buSzPts val="3200"/>
              <a:buFont typeface="Garamond"/>
              <a:buAutoNum type="alphaUcPeriod"/>
            </a:pPr>
            <a:r>
              <a:rPr b="1" lang="fr-FR" sz="2750">
                <a:latin typeface="Garamond"/>
                <a:ea typeface="Garamond"/>
                <a:cs typeface="Garamond"/>
                <a:sym typeface="Garamond"/>
              </a:rPr>
              <a:t>Les thymorégulateurs</a:t>
            </a:r>
            <a:endParaRPr sz="2750">
              <a:latin typeface="Garamond"/>
              <a:ea typeface="Garamond"/>
              <a:cs typeface="Garamond"/>
              <a:sym typeface="Garamond"/>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9" name="Shape 1799"/>
        <p:cNvGrpSpPr/>
        <p:nvPr/>
      </p:nvGrpSpPr>
      <p:grpSpPr>
        <a:xfrm>
          <a:off x="0" y="0"/>
          <a:ext cx="0" cy="0"/>
          <a:chOff x="0" y="0"/>
          <a:chExt cx="0" cy="0"/>
        </a:xfrm>
      </p:grpSpPr>
      <p:sp>
        <p:nvSpPr>
          <p:cNvPr id="1800" name="Google Shape;1800;p222"/>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01" name="Google Shape;1801;p222"/>
          <p:cNvSpPr txBox="1"/>
          <p:nvPr>
            <p:ph type="title"/>
          </p:nvPr>
        </p:nvSpPr>
        <p:spPr>
          <a:xfrm>
            <a:off x="1375028" y="975105"/>
            <a:ext cx="9445625"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t>Parmi	les	propositions	suivantes,	indiquer le mécanisme d’action de la paroxétine:</a:t>
            </a:r>
            <a:endParaRPr sz="3950"/>
          </a:p>
        </p:txBody>
      </p:sp>
      <p:sp>
        <p:nvSpPr>
          <p:cNvPr id="1802" name="Google Shape;1802;p22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803" name="Google Shape;1803;p222"/>
          <p:cNvSpPr txBox="1"/>
          <p:nvPr/>
        </p:nvSpPr>
        <p:spPr>
          <a:xfrm>
            <a:off x="1375028" y="2469102"/>
            <a:ext cx="10153015" cy="2568652"/>
          </a:xfrm>
          <a:prstGeom prst="rect">
            <a:avLst/>
          </a:prstGeom>
          <a:noFill/>
          <a:ln>
            <a:noFill/>
          </a:ln>
        </p:spPr>
        <p:txBody>
          <a:bodyPr anchorCtr="0" anchor="t" bIns="0" lIns="0" spcFirstLastPara="1" rIns="0" wrap="square" tIns="54600">
            <a:spAutoFit/>
          </a:bodyPr>
          <a:lstStyle/>
          <a:p>
            <a:pPr indent="-456565" lvl="0" marL="469265"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Inhibiteur spécifique des MAO</a:t>
            </a:r>
            <a:endParaRPr sz="2750">
              <a:latin typeface="Garamond"/>
              <a:ea typeface="Garamond"/>
              <a:cs typeface="Garamond"/>
              <a:sym typeface="Garamond"/>
            </a:endParaRPr>
          </a:p>
          <a:p>
            <a:pPr indent="-457200" lvl="0" marL="469900"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Inhibiteur spécifique de la MAO A</a:t>
            </a:r>
            <a:endParaRPr sz="2750">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Provoque une déplétion d’amines biogènes</a:t>
            </a:r>
            <a:endParaRPr sz="2750">
              <a:latin typeface="Garamond"/>
              <a:ea typeface="Garamond"/>
              <a:cs typeface="Garamond"/>
              <a:sym typeface="Garamond"/>
            </a:endParaRPr>
          </a:p>
          <a:p>
            <a:pPr indent="-455930" lvl="0" marL="46863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Inhibiteur de la recapture de la sérotonine et de la noradrénaline</a:t>
            </a:r>
            <a:endParaRPr sz="2750">
              <a:latin typeface="Garamond"/>
              <a:ea typeface="Garamond"/>
              <a:cs typeface="Garamond"/>
              <a:sym typeface="Garamond"/>
            </a:endParaRPr>
          </a:p>
          <a:p>
            <a:pPr indent="-455930" lvl="0" marL="468630"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Inhibiteur sélectif	de la recapture de la sérotonine</a:t>
            </a:r>
            <a:endParaRPr sz="2750">
              <a:solidFill>
                <a:srgbClr val="FF0000"/>
              </a:solidFill>
              <a:latin typeface="Garamond"/>
              <a:ea typeface="Garamond"/>
              <a:cs typeface="Garamond"/>
              <a:sym typeface="Garamond"/>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7" name="Shape 1807"/>
        <p:cNvGrpSpPr/>
        <p:nvPr/>
      </p:nvGrpSpPr>
      <p:grpSpPr>
        <a:xfrm>
          <a:off x="0" y="0"/>
          <a:ext cx="0" cy="0"/>
          <a:chOff x="0" y="0"/>
          <a:chExt cx="0" cy="0"/>
        </a:xfrm>
      </p:grpSpPr>
      <p:sp>
        <p:nvSpPr>
          <p:cNvPr id="1808" name="Google Shape;1808;p223"/>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09" name="Google Shape;1809;p223"/>
          <p:cNvSpPr txBox="1"/>
          <p:nvPr/>
        </p:nvSpPr>
        <p:spPr>
          <a:xfrm>
            <a:off x="8925814" y="975105"/>
            <a:ext cx="1901189" cy="63246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b="1" lang="fr-FR" sz="3950">
                <a:solidFill>
                  <a:srgbClr val="252525"/>
                </a:solidFill>
                <a:latin typeface="Garamond"/>
                <a:ea typeface="Garamond"/>
                <a:cs typeface="Garamond"/>
                <a:sym typeface="Garamond"/>
              </a:rPr>
              <a:t>suivants,</a:t>
            </a:r>
            <a:endParaRPr sz="3950">
              <a:latin typeface="Garamond"/>
              <a:ea typeface="Garamond"/>
              <a:cs typeface="Garamond"/>
              <a:sym typeface="Garamond"/>
            </a:endParaRPr>
          </a:p>
        </p:txBody>
      </p:sp>
      <p:sp>
        <p:nvSpPr>
          <p:cNvPr id="1810" name="Google Shape;1810;p22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811" name="Google Shape;1811;p223"/>
          <p:cNvSpPr txBox="1"/>
          <p:nvPr>
            <p:ph type="title"/>
          </p:nvPr>
        </p:nvSpPr>
        <p:spPr>
          <a:xfrm>
            <a:off x="1375028" y="975105"/>
            <a:ext cx="7529830"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t>Quels	médicaments,	parmi	les sont utilisés comme anxiolytiques?</a:t>
            </a:r>
            <a:endParaRPr sz="3950"/>
          </a:p>
        </p:txBody>
      </p:sp>
      <p:sp>
        <p:nvSpPr>
          <p:cNvPr id="1812" name="Google Shape;1812;p223"/>
          <p:cNvSpPr txBox="1"/>
          <p:nvPr/>
        </p:nvSpPr>
        <p:spPr>
          <a:xfrm>
            <a:off x="1308100" y="2563471"/>
            <a:ext cx="5349875" cy="2568011"/>
          </a:xfrm>
          <a:prstGeom prst="rect">
            <a:avLst/>
          </a:prstGeom>
          <a:noFill/>
          <a:ln>
            <a:noFill/>
          </a:ln>
        </p:spPr>
        <p:txBody>
          <a:bodyPr anchorCtr="0" anchor="t" bIns="0" lIns="0" spcFirstLastPara="1" rIns="0" wrap="square" tIns="53975">
            <a:spAutoFit/>
          </a:bodyPr>
          <a:lstStyle/>
          <a:p>
            <a:pPr indent="-457200" lvl="0" marL="46990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Diazépam (VALIUM)</a:t>
            </a:r>
            <a:endParaRPr sz="2750">
              <a:solidFill>
                <a:srgbClr val="FF0000"/>
              </a:solidFill>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Buspirone (BUSPAR)</a:t>
            </a:r>
            <a:endParaRPr sz="2750">
              <a:solidFill>
                <a:srgbClr val="FF0000"/>
              </a:solidFill>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Carabamazépine (TEGRETOL)</a:t>
            </a:r>
            <a:endParaRPr sz="2750">
              <a:latin typeface="Garamond"/>
              <a:ea typeface="Garamond"/>
              <a:cs typeface="Garamond"/>
              <a:sym typeface="Garamond"/>
            </a:endParaRPr>
          </a:p>
          <a:p>
            <a:pPr indent="-456565" lvl="0" marL="469265"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Méthyldopa (ALDOMET)</a:t>
            </a:r>
            <a:endParaRPr sz="2750">
              <a:latin typeface="Garamond"/>
              <a:ea typeface="Garamond"/>
              <a:cs typeface="Garamond"/>
              <a:sym typeface="Garamond"/>
            </a:endParaRPr>
          </a:p>
          <a:p>
            <a:pPr indent="-455930" lvl="0" marL="468630" rtl="0" algn="l">
              <a:lnSpc>
                <a:spcPct val="100000"/>
              </a:lnSpc>
              <a:spcBef>
                <a:spcPts val="7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Cimétidine (TAGAMET)</a:t>
            </a:r>
            <a:endParaRPr sz="2750">
              <a:latin typeface="Garamond"/>
              <a:ea typeface="Garamond"/>
              <a:cs typeface="Garamond"/>
              <a:sym typeface="Garamond"/>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6" name="Shape 1816"/>
        <p:cNvGrpSpPr/>
        <p:nvPr/>
      </p:nvGrpSpPr>
      <p:grpSpPr>
        <a:xfrm>
          <a:off x="0" y="0"/>
          <a:ext cx="0" cy="0"/>
          <a:chOff x="0" y="0"/>
          <a:chExt cx="0" cy="0"/>
        </a:xfrm>
      </p:grpSpPr>
      <p:sp>
        <p:nvSpPr>
          <p:cNvPr id="1817" name="Google Shape;1817;p224"/>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18" name="Google Shape;1818;p224"/>
          <p:cNvSpPr txBox="1"/>
          <p:nvPr>
            <p:ph type="title"/>
          </p:nvPr>
        </p:nvSpPr>
        <p:spPr>
          <a:xfrm>
            <a:off x="1375028" y="1035938"/>
            <a:ext cx="9449435" cy="1128395"/>
          </a:xfrm>
          <a:prstGeom prst="rect">
            <a:avLst/>
          </a:prstGeom>
          <a:noFill/>
          <a:ln>
            <a:noFill/>
          </a:ln>
        </p:spPr>
        <p:txBody>
          <a:bodyPr anchorCtr="0" anchor="t" bIns="0" lIns="0" spcFirstLastPara="1" rIns="0" wrap="square" tIns="8250">
            <a:spAutoFit/>
          </a:bodyPr>
          <a:lstStyle/>
          <a:p>
            <a:pPr indent="0" lvl="0" marL="12700" marR="5080" rtl="0" algn="l">
              <a:lnSpc>
                <a:spcPct val="100899"/>
              </a:lnSpc>
              <a:spcBef>
                <a:spcPts val="0"/>
              </a:spcBef>
              <a:spcAft>
                <a:spcPts val="0"/>
              </a:spcAft>
              <a:buNone/>
            </a:pPr>
            <a:r>
              <a:rPr lang="fr-FR"/>
              <a:t>Parmi	les	affirmations	suivantes	concernant	les BZD, lesquelles sont exactes?</a:t>
            </a:r>
            <a:endParaRPr/>
          </a:p>
        </p:txBody>
      </p:sp>
      <p:sp>
        <p:nvSpPr>
          <p:cNvPr id="1819" name="Google Shape;1819;p22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820" name="Google Shape;1820;p224"/>
          <p:cNvSpPr txBox="1"/>
          <p:nvPr/>
        </p:nvSpPr>
        <p:spPr>
          <a:xfrm>
            <a:off x="1131887" y="2506281"/>
            <a:ext cx="10090150" cy="3063467"/>
          </a:xfrm>
          <a:prstGeom prst="rect">
            <a:avLst/>
          </a:prstGeom>
          <a:noFill/>
          <a:ln>
            <a:noFill/>
          </a:ln>
        </p:spPr>
        <p:txBody>
          <a:bodyPr anchorCtr="0" anchor="t" bIns="0" lIns="0" spcFirstLastPara="1" rIns="0" wrap="square" tIns="0">
            <a:spAutoFit/>
          </a:bodyPr>
          <a:lstStyle/>
          <a:p>
            <a:pPr indent="-457200" lvl="0" marL="469900" rtl="0" algn="l">
              <a:lnSpc>
                <a:spcPct val="126666"/>
              </a:lnSpc>
              <a:spcBef>
                <a:spcPts val="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Au	niveau sanguin, elles sont très faiblement liées aux protéines</a:t>
            </a:r>
            <a:endParaRPr sz="2400">
              <a:latin typeface="Garamond"/>
              <a:ea typeface="Garamond"/>
              <a:cs typeface="Garamond"/>
              <a:sym typeface="Garamond"/>
            </a:endParaRPr>
          </a:p>
          <a:p>
            <a:pPr indent="0" lvl="0" marL="469900" rtl="0" algn="l">
              <a:lnSpc>
                <a:spcPct val="119583"/>
              </a:lnSpc>
              <a:spcBef>
                <a:spcPts val="0"/>
              </a:spcBef>
              <a:spcAft>
                <a:spcPts val="0"/>
              </a:spcAft>
              <a:buNone/>
            </a:pPr>
            <a:r>
              <a:rPr b="1" lang="fr-FR" sz="2400">
                <a:solidFill>
                  <a:srgbClr val="252525"/>
                </a:solidFill>
                <a:latin typeface="Garamond"/>
                <a:ea typeface="Garamond"/>
                <a:cs typeface="Garamond"/>
                <a:sym typeface="Garamond"/>
              </a:rPr>
              <a:t>plasmatiques</a:t>
            </a:r>
            <a:endParaRPr sz="2400">
              <a:latin typeface="Garamond"/>
              <a:ea typeface="Garamond"/>
              <a:cs typeface="Garamond"/>
              <a:sym typeface="Garamond"/>
            </a:endParaRPr>
          </a:p>
          <a:p>
            <a:pPr indent="-456565" lvl="0" marL="469265" rtl="0" algn="l">
              <a:lnSpc>
                <a:spcPct val="100000"/>
              </a:lnSpc>
              <a:spcBef>
                <a:spcPts val="825"/>
              </a:spcBef>
              <a:spcAft>
                <a:spcPts val="0"/>
              </a:spcAft>
              <a:buClr>
                <a:srgbClr val="83992A"/>
              </a:buClr>
              <a:buSzPts val="2750"/>
              <a:buFont typeface="Garamond"/>
              <a:buAutoNum type="alphaUcPeriod" startAt="2"/>
            </a:pPr>
            <a:r>
              <a:rPr b="1" lang="fr-FR" sz="2400">
                <a:solidFill>
                  <a:srgbClr val="252525"/>
                </a:solidFill>
                <a:latin typeface="Garamond"/>
                <a:ea typeface="Garamond"/>
                <a:cs typeface="Garamond"/>
                <a:sym typeface="Garamond"/>
              </a:rPr>
              <a:t>Elles ne sont pas contre-indiquées en cas d’insuffisance respiratoire sévère</a:t>
            </a:r>
            <a:endParaRPr sz="2400">
              <a:latin typeface="Garamond"/>
              <a:ea typeface="Garamond"/>
              <a:cs typeface="Garamond"/>
              <a:sym typeface="Garamond"/>
            </a:endParaRPr>
          </a:p>
          <a:p>
            <a:pPr indent="-456565" lvl="0" marL="469265" rtl="0" algn="l">
              <a:lnSpc>
                <a:spcPct val="100000"/>
              </a:lnSpc>
              <a:spcBef>
                <a:spcPts val="755"/>
              </a:spcBef>
              <a:spcAft>
                <a:spcPts val="0"/>
              </a:spcAft>
              <a:buClr>
                <a:srgbClr val="83992A"/>
              </a:buClr>
              <a:buSzPts val="2750"/>
              <a:buFont typeface="Garamond"/>
              <a:buAutoNum type="alphaUcPeriod" startAt="2"/>
            </a:pPr>
            <a:r>
              <a:rPr b="1" lang="fr-FR" sz="2400">
                <a:solidFill>
                  <a:srgbClr val="252525"/>
                </a:solidFill>
                <a:latin typeface="Garamond"/>
                <a:ea typeface="Garamond"/>
                <a:cs typeface="Garamond"/>
                <a:sym typeface="Garamond"/>
              </a:rPr>
              <a:t>Elles agissent en inhibant la transmission du GABA</a:t>
            </a:r>
            <a:endParaRPr sz="2400">
              <a:latin typeface="Garamond"/>
              <a:ea typeface="Garamond"/>
              <a:cs typeface="Garamond"/>
              <a:sym typeface="Garamond"/>
            </a:endParaRPr>
          </a:p>
          <a:p>
            <a:pPr indent="-456565" lvl="0" marL="469265" rtl="0" algn="l">
              <a:lnSpc>
                <a:spcPct val="100000"/>
              </a:lnSpc>
              <a:spcBef>
                <a:spcPts val="755"/>
              </a:spcBef>
              <a:spcAft>
                <a:spcPts val="0"/>
              </a:spcAft>
              <a:buClr>
                <a:srgbClr val="83992A"/>
              </a:buClr>
              <a:buSzPts val="2750"/>
              <a:buFont typeface="Garamond"/>
              <a:buAutoNum type="alphaUcPeriod" startAt="2"/>
            </a:pPr>
            <a:r>
              <a:rPr b="1" lang="fr-FR" sz="2400">
                <a:latin typeface="Garamond"/>
                <a:ea typeface="Garamond"/>
                <a:cs typeface="Garamond"/>
                <a:sym typeface="Garamond"/>
              </a:rPr>
              <a:t>Elles ont toutes un métabolisme hépatique</a:t>
            </a:r>
            <a:endParaRPr sz="2400">
              <a:latin typeface="Garamond"/>
              <a:ea typeface="Garamond"/>
              <a:cs typeface="Garamond"/>
              <a:sym typeface="Garamond"/>
            </a:endParaRPr>
          </a:p>
          <a:p>
            <a:pPr indent="-457200" lvl="0" marL="469900" rtl="0" algn="l">
              <a:lnSpc>
                <a:spcPct val="137083"/>
              </a:lnSpc>
              <a:spcBef>
                <a:spcPts val="755"/>
              </a:spcBef>
              <a:spcAft>
                <a:spcPts val="0"/>
              </a:spcAft>
              <a:buClr>
                <a:srgbClr val="83992A"/>
              </a:buClr>
              <a:buSzPts val="2750"/>
              <a:buFont typeface="Garamond"/>
              <a:buAutoNum type="alphaUcPeriod" startAt="2"/>
            </a:pPr>
            <a:r>
              <a:rPr b="1" lang="fr-FR" sz="2400">
                <a:solidFill>
                  <a:srgbClr val="FF0000"/>
                </a:solidFill>
                <a:latin typeface="Garamond"/>
                <a:ea typeface="Garamond"/>
                <a:cs typeface="Garamond"/>
                <a:sym typeface="Garamond"/>
              </a:rPr>
              <a:t>Elles peuvent entrainer un état de dépendance en cas de traitement</a:t>
            </a:r>
            <a:endParaRPr sz="2400">
              <a:solidFill>
                <a:srgbClr val="FF0000"/>
              </a:solidFill>
              <a:latin typeface="Garamond"/>
              <a:ea typeface="Garamond"/>
              <a:cs typeface="Garamond"/>
              <a:sym typeface="Garamond"/>
            </a:endParaRPr>
          </a:p>
          <a:p>
            <a:pPr indent="0" lvl="0" marL="469900" rtl="0" algn="l">
              <a:lnSpc>
                <a:spcPct val="119583"/>
              </a:lnSpc>
              <a:spcBef>
                <a:spcPts val="0"/>
              </a:spcBef>
              <a:spcAft>
                <a:spcPts val="0"/>
              </a:spcAft>
              <a:buNone/>
            </a:pPr>
            <a:r>
              <a:rPr b="1" lang="fr-FR" sz="2400">
                <a:solidFill>
                  <a:srgbClr val="FF0000"/>
                </a:solidFill>
                <a:latin typeface="Garamond"/>
                <a:ea typeface="Garamond"/>
                <a:cs typeface="Garamond"/>
                <a:sym typeface="Garamond"/>
              </a:rPr>
              <a:t>prolongé</a:t>
            </a:r>
            <a:endParaRPr sz="2400">
              <a:solidFill>
                <a:srgbClr val="FF0000"/>
              </a:solidFill>
              <a:latin typeface="Garamond"/>
              <a:ea typeface="Garamond"/>
              <a:cs typeface="Garamond"/>
              <a:sym typeface="Garamond"/>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4" name="Shape 1824"/>
        <p:cNvGrpSpPr/>
        <p:nvPr/>
      </p:nvGrpSpPr>
      <p:grpSpPr>
        <a:xfrm>
          <a:off x="0" y="0"/>
          <a:ext cx="0" cy="0"/>
          <a:chOff x="0" y="0"/>
          <a:chExt cx="0" cy="0"/>
        </a:xfrm>
      </p:grpSpPr>
      <p:sp>
        <p:nvSpPr>
          <p:cNvPr id="1825" name="Google Shape;1825;p225"/>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26" name="Google Shape;1826;p225"/>
          <p:cNvSpPr txBox="1"/>
          <p:nvPr>
            <p:ph type="title"/>
          </p:nvPr>
        </p:nvSpPr>
        <p:spPr>
          <a:xfrm>
            <a:off x="1375028" y="975105"/>
            <a:ext cx="9446260"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t>Parmi	les	propositions	suivantes,	la(les) quelle(s) est(sont) exacte(s)?</a:t>
            </a:r>
            <a:endParaRPr sz="3950"/>
          </a:p>
        </p:txBody>
      </p:sp>
      <p:sp>
        <p:nvSpPr>
          <p:cNvPr id="1827" name="Google Shape;1827;p22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828" name="Google Shape;1828;p225"/>
          <p:cNvSpPr txBox="1"/>
          <p:nvPr/>
        </p:nvSpPr>
        <p:spPr>
          <a:xfrm>
            <a:off x="1375028" y="2469102"/>
            <a:ext cx="9230360" cy="2568652"/>
          </a:xfrm>
          <a:prstGeom prst="rect">
            <a:avLst/>
          </a:prstGeom>
          <a:noFill/>
          <a:ln>
            <a:noFill/>
          </a:ln>
        </p:spPr>
        <p:txBody>
          <a:bodyPr anchorCtr="0" anchor="t" bIns="0" lIns="0" spcFirstLastPara="1" rIns="0" wrap="square" tIns="54600">
            <a:spAutoFit/>
          </a:bodyPr>
          <a:lstStyle/>
          <a:p>
            <a:pPr indent="-456565" lvl="0" marL="469265" rtl="0" algn="l">
              <a:lnSpc>
                <a:spcPct val="100000"/>
              </a:lnSpc>
              <a:spcBef>
                <a:spcPts val="0"/>
              </a:spcBef>
              <a:spcAft>
                <a:spcPts val="0"/>
              </a:spcAft>
              <a:buClr>
                <a:srgbClr val="83992A"/>
              </a:buClr>
              <a:buSzPts val="3200"/>
              <a:buFont typeface="Garamond"/>
              <a:buAutoNum type="alphaUcPeriod"/>
            </a:pPr>
            <a:r>
              <a:rPr b="1" lang="fr-FR" sz="2750">
                <a:latin typeface="Garamond"/>
                <a:ea typeface="Garamond"/>
                <a:cs typeface="Garamond"/>
                <a:sym typeface="Garamond"/>
              </a:rPr>
              <a:t>Le méprobamate est une benzodiazépine anxiolytique</a:t>
            </a:r>
            <a:endParaRPr sz="2750">
              <a:latin typeface="Garamond"/>
              <a:ea typeface="Garamond"/>
              <a:cs typeface="Garamond"/>
              <a:sym typeface="Garamond"/>
            </a:endParaRPr>
          </a:p>
          <a:p>
            <a:pPr indent="-457200" lvl="0" marL="469900" rtl="0" algn="l">
              <a:lnSpc>
                <a:spcPct val="100000"/>
              </a:lnSpc>
              <a:spcBef>
                <a:spcPts val="8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Le valium est un nom commercial du diazépam</a:t>
            </a:r>
            <a:endParaRPr sz="2750">
              <a:solidFill>
                <a:srgbClr val="FF0000"/>
              </a:solidFill>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latin typeface="Garamond"/>
                <a:ea typeface="Garamond"/>
                <a:cs typeface="Garamond"/>
                <a:sym typeface="Garamond"/>
              </a:rPr>
              <a:t>L’hydroxysine (atarax) est un anxiolytique très puissant</a:t>
            </a:r>
            <a:endParaRPr sz="2750">
              <a:latin typeface="Garamond"/>
              <a:ea typeface="Garamond"/>
              <a:cs typeface="Garamond"/>
              <a:sym typeface="Garamond"/>
            </a:endParaRPr>
          </a:p>
          <a:p>
            <a:pPr indent="-455930" lvl="0" marL="468630" rtl="0" algn="l">
              <a:lnSpc>
                <a:spcPct val="100000"/>
              </a:lnSpc>
              <a:spcBef>
                <a:spcPts val="815"/>
              </a:spcBef>
              <a:spcAft>
                <a:spcPts val="0"/>
              </a:spcAft>
              <a:buClr>
                <a:srgbClr val="83992A"/>
              </a:buClr>
              <a:buSzPts val="3200"/>
              <a:buFont typeface="Garamond"/>
              <a:buAutoNum type="alphaUcPeriod"/>
            </a:pPr>
            <a:r>
              <a:rPr b="1" lang="fr-FR" sz="2750">
                <a:latin typeface="Garamond"/>
                <a:ea typeface="Garamond"/>
                <a:cs typeface="Garamond"/>
                <a:sym typeface="Garamond"/>
              </a:rPr>
              <a:t>Les BZD donnent des effets indésirables extrapyramidaux</a:t>
            </a:r>
            <a:endParaRPr sz="2750">
              <a:latin typeface="Garamond"/>
              <a:ea typeface="Garamond"/>
              <a:cs typeface="Garamond"/>
              <a:sym typeface="Garamond"/>
            </a:endParaRPr>
          </a:p>
          <a:p>
            <a:pPr indent="-455930" lvl="0" marL="468630"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Certaines BDZ peuvent être utilisées en anesthésiologie</a:t>
            </a:r>
            <a:endParaRPr sz="2750">
              <a:solidFill>
                <a:srgbClr val="FF0000"/>
              </a:solidFill>
              <a:latin typeface="Garamond"/>
              <a:ea typeface="Garamond"/>
              <a:cs typeface="Garamond"/>
              <a:sym typeface="Garamond"/>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2" name="Shape 1832"/>
        <p:cNvGrpSpPr/>
        <p:nvPr/>
      </p:nvGrpSpPr>
      <p:grpSpPr>
        <a:xfrm>
          <a:off x="0" y="0"/>
          <a:ext cx="0" cy="0"/>
          <a:chOff x="0" y="0"/>
          <a:chExt cx="0" cy="0"/>
        </a:xfrm>
      </p:grpSpPr>
      <p:sp>
        <p:nvSpPr>
          <p:cNvPr id="1833" name="Google Shape;1833;p226"/>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34" name="Google Shape;1834;p226"/>
          <p:cNvSpPr txBox="1"/>
          <p:nvPr>
            <p:ph type="title"/>
          </p:nvPr>
        </p:nvSpPr>
        <p:spPr>
          <a:xfrm>
            <a:off x="1375028" y="852805"/>
            <a:ext cx="9848850" cy="1500505"/>
          </a:xfrm>
          <a:prstGeom prst="rect">
            <a:avLst/>
          </a:prstGeom>
          <a:noFill/>
          <a:ln>
            <a:noFill/>
          </a:ln>
        </p:spPr>
        <p:txBody>
          <a:bodyPr anchorCtr="0" anchor="t" bIns="0" lIns="0" spcFirstLastPara="1" rIns="0" wrap="square" tIns="12700">
            <a:spAutoFit/>
          </a:bodyPr>
          <a:lstStyle/>
          <a:p>
            <a:pPr indent="0" lvl="0" marL="12700" marR="5080" rtl="0" algn="just">
              <a:lnSpc>
                <a:spcPct val="100800"/>
              </a:lnSpc>
              <a:spcBef>
                <a:spcPts val="0"/>
              </a:spcBef>
              <a:spcAft>
                <a:spcPts val="0"/>
              </a:spcAft>
              <a:buNone/>
            </a:pPr>
            <a:r>
              <a:rPr lang="fr-FR" sz="3200"/>
              <a:t>A la suite du traitement de plusieurs années d’un trouble panique par BZD (valium), il est possible d’observer, lors d’une interruption brutale  du traitement:</a:t>
            </a:r>
            <a:endParaRPr sz="3200"/>
          </a:p>
        </p:txBody>
      </p:sp>
      <p:sp>
        <p:nvSpPr>
          <p:cNvPr id="1835" name="Google Shape;1835;p22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836" name="Google Shape;1836;p226"/>
          <p:cNvSpPr txBox="1"/>
          <p:nvPr/>
        </p:nvSpPr>
        <p:spPr>
          <a:xfrm>
            <a:off x="1375028" y="2469651"/>
            <a:ext cx="4799330" cy="2321148"/>
          </a:xfrm>
          <a:prstGeom prst="rect">
            <a:avLst/>
          </a:prstGeom>
          <a:noFill/>
          <a:ln>
            <a:noFill/>
          </a:ln>
        </p:spPr>
        <p:txBody>
          <a:bodyPr anchorCtr="0" anchor="t" bIns="0" lIns="0" spcFirstLastPara="1" rIns="0" wrap="square" tIns="63500">
            <a:spAutoFit/>
          </a:bodyPr>
          <a:lstStyle/>
          <a:p>
            <a:pPr indent="-457200" lvl="0" marL="469900" rtl="0" algn="l">
              <a:lnSpc>
                <a:spcPct val="100000"/>
              </a:lnSpc>
              <a:spcBef>
                <a:spcPts val="0"/>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Des convulsions</a:t>
            </a:r>
            <a:endParaRPr sz="2400">
              <a:solidFill>
                <a:srgbClr val="FF0000"/>
              </a:solidFill>
              <a:latin typeface="Garamond"/>
              <a:ea typeface="Garamond"/>
              <a:cs typeface="Garamond"/>
              <a:sym typeface="Garamond"/>
            </a:endParaRPr>
          </a:p>
          <a:p>
            <a:pPr indent="-455930" lvl="0" marL="468630" rtl="0" algn="l">
              <a:lnSpc>
                <a:spcPct val="100000"/>
              </a:lnSpc>
              <a:spcBef>
                <a:spcPts val="830"/>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Une recrudescence des angoisses</a:t>
            </a:r>
            <a:endParaRPr sz="2400">
              <a:solidFill>
                <a:srgbClr val="FF0000"/>
              </a:solidFill>
              <a:latin typeface="Garamond"/>
              <a:ea typeface="Garamond"/>
              <a:cs typeface="Garamond"/>
              <a:sym typeface="Garamond"/>
            </a:endParaRPr>
          </a:p>
          <a:p>
            <a:pPr indent="-455930" lvl="0" marL="468630" rtl="0" algn="l">
              <a:lnSpc>
                <a:spcPct val="100000"/>
              </a:lnSpc>
              <a:spcBef>
                <a:spcPts val="755"/>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Un état délirant</a:t>
            </a:r>
            <a:endParaRPr sz="2400">
              <a:latin typeface="Garamond"/>
              <a:ea typeface="Garamond"/>
              <a:cs typeface="Garamond"/>
              <a:sym typeface="Garamond"/>
            </a:endParaRPr>
          </a:p>
          <a:p>
            <a:pPr indent="-457200" lvl="0" marL="469900" rtl="0" algn="l">
              <a:lnSpc>
                <a:spcPct val="100000"/>
              </a:lnSpc>
              <a:spcBef>
                <a:spcPts val="76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Un accès mélancolique</a:t>
            </a:r>
            <a:endParaRPr sz="2400">
              <a:latin typeface="Garamond"/>
              <a:ea typeface="Garamond"/>
              <a:cs typeface="Garamond"/>
              <a:sym typeface="Garamond"/>
            </a:endParaRPr>
          </a:p>
          <a:p>
            <a:pPr indent="-456565" lvl="0" marL="469265" rtl="0" algn="l">
              <a:lnSpc>
                <a:spcPct val="100000"/>
              </a:lnSpc>
              <a:spcBef>
                <a:spcPts val="755"/>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Une insomnie</a:t>
            </a:r>
            <a:endParaRPr sz="2400">
              <a:solidFill>
                <a:srgbClr val="FF0000"/>
              </a:solidFill>
              <a:latin typeface="Garamond"/>
              <a:ea typeface="Garamond"/>
              <a:cs typeface="Garamond"/>
              <a:sym typeface="Garamond"/>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0" name="Shape 1840"/>
        <p:cNvGrpSpPr/>
        <p:nvPr/>
      </p:nvGrpSpPr>
      <p:grpSpPr>
        <a:xfrm>
          <a:off x="0" y="0"/>
          <a:ext cx="0" cy="0"/>
          <a:chOff x="0" y="0"/>
          <a:chExt cx="0" cy="0"/>
        </a:xfrm>
      </p:grpSpPr>
      <p:graphicFrame>
        <p:nvGraphicFramePr>
          <p:cNvPr id="1841" name="Google Shape;1841;p227"/>
          <p:cNvGraphicFramePr/>
          <p:nvPr/>
        </p:nvGraphicFramePr>
        <p:xfrm>
          <a:off x="782789" y="1046352"/>
          <a:ext cx="3000000" cy="3000000"/>
        </p:xfrm>
        <a:graphic>
          <a:graphicData uri="http://schemas.openxmlformats.org/drawingml/2006/table">
            <a:tbl>
              <a:tblPr bandRow="1" firstRow="1">
                <a:noFill/>
                <a:tableStyleId>{0C16B6DF-085E-4D25-8193-6A2E42BCCFAC}</a:tableStyleId>
              </a:tblPr>
              <a:tblGrid>
                <a:gridCol w="1929125"/>
                <a:gridCol w="1960875"/>
                <a:gridCol w="1679575"/>
                <a:gridCol w="1561475"/>
                <a:gridCol w="1782450"/>
                <a:gridCol w="1782450"/>
              </a:tblGrid>
              <a:tr h="761375">
                <a:tc>
                  <a:txBody>
                    <a:bodyPr/>
                    <a:lstStyle/>
                    <a:p>
                      <a:pPr indent="0" lvl="0" marL="0" marR="0" rtl="0" algn="l">
                        <a:lnSpc>
                          <a:spcPct val="100000"/>
                        </a:lnSpc>
                        <a:spcBef>
                          <a:spcPts val="0"/>
                        </a:spcBef>
                        <a:spcAft>
                          <a:spcPts val="0"/>
                        </a:spcAft>
                        <a:buNone/>
                      </a:pPr>
                      <a:r>
                        <a:t/>
                      </a:r>
                      <a:endParaRPr sz="24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83992A"/>
                    </a:solidFill>
                  </a:tcPr>
                </a:tc>
                <a:tc>
                  <a:txBody>
                    <a:bodyPr/>
                    <a:lstStyle/>
                    <a:p>
                      <a:pPr indent="0" lvl="0" marL="0" marR="42545" rtl="0" algn="ctr">
                        <a:lnSpc>
                          <a:spcPct val="100000"/>
                        </a:lnSpc>
                        <a:spcBef>
                          <a:spcPts val="0"/>
                        </a:spcBef>
                        <a:spcAft>
                          <a:spcPts val="0"/>
                        </a:spcAft>
                        <a:buNone/>
                      </a:pPr>
                      <a:r>
                        <a:rPr b="1" lang="fr-FR" sz="2400" u="none" cap="none" strike="noStrike">
                          <a:solidFill>
                            <a:srgbClr val="FFFFFF"/>
                          </a:solidFill>
                          <a:latin typeface="Garamond"/>
                          <a:ea typeface="Garamond"/>
                          <a:cs typeface="Garamond"/>
                          <a:sym typeface="Garamond"/>
                        </a:rPr>
                        <a:t>Escitalopram</a:t>
                      </a:r>
                      <a:endParaRPr sz="2400" u="none" cap="none" strike="noStrike">
                        <a:latin typeface="Garamond"/>
                        <a:ea typeface="Garamond"/>
                        <a:cs typeface="Garamond"/>
                        <a:sym typeface="Garamond"/>
                      </a:endParaRPr>
                    </a:p>
                  </a:txBody>
                  <a:tcPr marT="190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83992A"/>
                    </a:solidFill>
                  </a:tcPr>
                </a:tc>
                <a:tc>
                  <a:txBody>
                    <a:bodyPr/>
                    <a:lstStyle/>
                    <a:p>
                      <a:pPr indent="0" lvl="0" marL="94615" marR="0" rtl="0" algn="l">
                        <a:lnSpc>
                          <a:spcPct val="100000"/>
                        </a:lnSpc>
                        <a:spcBef>
                          <a:spcPts val="0"/>
                        </a:spcBef>
                        <a:spcAft>
                          <a:spcPts val="0"/>
                        </a:spcAft>
                        <a:buNone/>
                      </a:pPr>
                      <a:r>
                        <a:rPr b="1" lang="fr-FR" sz="2400" u="none" cap="none" strike="noStrike">
                          <a:solidFill>
                            <a:srgbClr val="FFFFFF"/>
                          </a:solidFill>
                          <a:latin typeface="Garamond"/>
                          <a:ea typeface="Garamond"/>
                          <a:cs typeface="Garamond"/>
                          <a:sym typeface="Garamond"/>
                        </a:rPr>
                        <a:t>Fluoxetine</a:t>
                      </a:r>
                      <a:endParaRPr sz="2400" u="none" cap="none" strike="noStrike">
                        <a:latin typeface="Garamond"/>
                        <a:ea typeface="Garamond"/>
                        <a:cs typeface="Garamond"/>
                        <a:sym typeface="Garamond"/>
                      </a:endParaRPr>
                    </a:p>
                  </a:txBody>
                  <a:tcPr marT="190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83992A"/>
                    </a:solidFill>
                  </a:tcPr>
                </a:tc>
                <a:tc>
                  <a:txBody>
                    <a:bodyPr/>
                    <a:lstStyle/>
                    <a:p>
                      <a:pPr indent="0" lvl="0" marL="95885" marR="0" rtl="0" algn="l">
                        <a:lnSpc>
                          <a:spcPct val="100000"/>
                        </a:lnSpc>
                        <a:spcBef>
                          <a:spcPts val="0"/>
                        </a:spcBef>
                        <a:spcAft>
                          <a:spcPts val="0"/>
                        </a:spcAft>
                        <a:buNone/>
                      </a:pPr>
                      <a:r>
                        <a:rPr b="1" lang="fr-FR" sz="2400" u="none" cap="none" strike="noStrike">
                          <a:solidFill>
                            <a:srgbClr val="FFFFFF"/>
                          </a:solidFill>
                          <a:latin typeface="Garamond"/>
                          <a:ea typeface="Garamond"/>
                          <a:cs typeface="Garamond"/>
                          <a:sym typeface="Garamond"/>
                        </a:rPr>
                        <a:t>Sertraline</a:t>
                      </a:r>
                      <a:endParaRPr sz="2400" u="none" cap="none" strike="noStrike">
                        <a:latin typeface="Garamond"/>
                        <a:ea typeface="Garamond"/>
                        <a:cs typeface="Garamond"/>
                        <a:sym typeface="Garamond"/>
                      </a:endParaRPr>
                    </a:p>
                  </a:txBody>
                  <a:tcPr marT="190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83992A"/>
                    </a:solidFill>
                  </a:tcPr>
                </a:tc>
                <a:tc>
                  <a:txBody>
                    <a:bodyPr/>
                    <a:lstStyle/>
                    <a:p>
                      <a:pPr indent="0" lvl="0" marL="97155" marR="0" rtl="0" algn="l">
                        <a:lnSpc>
                          <a:spcPct val="100000"/>
                        </a:lnSpc>
                        <a:spcBef>
                          <a:spcPts val="0"/>
                        </a:spcBef>
                        <a:spcAft>
                          <a:spcPts val="0"/>
                        </a:spcAft>
                        <a:buNone/>
                      </a:pPr>
                      <a:r>
                        <a:rPr b="1" lang="fr-FR" sz="2400" u="none" cap="none" strike="noStrike">
                          <a:solidFill>
                            <a:srgbClr val="FFFFFF"/>
                          </a:solidFill>
                          <a:latin typeface="Garamond"/>
                          <a:ea typeface="Garamond"/>
                          <a:cs typeface="Garamond"/>
                          <a:sym typeface="Garamond"/>
                        </a:rPr>
                        <a:t>Paroxetine</a:t>
                      </a:r>
                      <a:endParaRPr sz="2400" u="none" cap="none" strike="noStrike">
                        <a:latin typeface="Garamond"/>
                        <a:ea typeface="Garamond"/>
                        <a:cs typeface="Garamond"/>
                        <a:sym typeface="Garamond"/>
                      </a:endParaRPr>
                    </a:p>
                  </a:txBody>
                  <a:tcPr marT="190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83992A"/>
                    </a:solidFill>
                  </a:tcPr>
                </a:tc>
                <a:tc>
                  <a:txBody>
                    <a:bodyPr/>
                    <a:lstStyle/>
                    <a:p>
                      <a:pPr indent="0" lvl="0" marL="99060" marR="0" rtl="0" algn="l">
                        <a:lnSpc>
                          <a:spcPct val="100000"/>
                        </a:lnSpc>
                        <a:spcBef>
                          <a:spcPts val="0"/>
                        </a:spcBef>
                        <a:spcAft>
                          <a:spcPts val="0"/>
                        </a:spcAft>
                        <a:buNone/>
                      </a:pPr>
                      <a:r>
                        <a:rPr b="1" lang="fr-FR" sz="2400" u="none" cap="none" strike="noStrike">
                          <a:solidFill>
                            <a:srgbClr val="FFFFFF"/>
                          </a:solidFill>
                          <a:latin typeface="Garamond"/>
                          <a:ea typeface="Garamond"/>
                          <a:cs typeface="Garamond"/>
                          <a:sym typeface="Garamond"/>
                        </a:rPr>
                        <a:t>Venlafaxine</a:t>
                      </a:r>
                      <a:endParaRPr sz="2400" u="none" cap="none" strike="noStrike">
                        <a:latin typeface="Garamond"/>
                        <a:ea typeface="Garamond"/>
                        <a:cs typeface="Garamond"/>
                        <a:sym typeface="Garamond"/>
                      </a:endParaRPr>
                    </a:p>
                  </a:txBody>
                  <a:tcPr marT="190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83992A"/>
                    </a:solidFill>
                  </a:tcPr>
                </a:tc>
              </a:tr>
              <a:tr h="1188075">
                <a:tc>
                  <a:txBody>
                    <a:bodyPr/>
                    <a:lstStyle/>
                    <a:p>
                      <a:pPr indent="634" lvl="0" marL="241300" marR="231775" rtl="0" algn="ctr">
                        <a:lnSpc>
                          <a:spcPct val="100400"/>
                        </a:lnSpc>
                        <a:spcBef>
                          <a:spcPts val="0"/>
                        </a:spcBef>
                        <a:spcAft>
                          <a:spcPts val="0"/>
                        </a:spcAft>
                        <a:buNone/>
                      </a:pPr>
                      <a:r>
                        <a:rPr b="1" lang="fr-FR" sz="2400" u="none" cap="none" strike="noStrike">
                          <a:latin typeface="Garamond"/>
                          <a:ea typeface="Garamond"/>
                          <a:cs typeface="Garamond"/>
                          <a:sym typeface="Garamond"/>
                        </a:rPr>
                        <a:t>Trouble anxiété généralisée</a:t>
                      </a:r>
                      <a:endParaRPr sz="2400" u="none" cap="none" strike="noStrike">
                        <a:latin typeface="Garamond"/>
                        <a:ea typeface="Garamond"/>
                        <a:cs typeface="Garamond"/>
                        <a:sym typeface="Garamond"/>
                      </a:endParaRPr>
                    </a:p>
                  </a:txBody>
                  <a:tcPr marT="184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9DECD"/>
                    </a:solidFill>
                  </a:tcPr>
                </a:tc>
                <a:tc>
                  <a:txBody>
                    <a:bodyPr/>
                    <a:lstStyle/>
                    <a:p>
                      <a:pPr indent="0" lvl="0" marL="5715" marR="0" rtl="0" algn="ctr">
                        <a:lnSpc>
                          <a:spcPct val="100000"/>
                        </a:lnSpc>
                        <a:spcBef>
                          <a:spcPts val="0"/>
                        </a:spcBef>
                        <a:spcAft>
                          <a:spcPts val="0"/>
                        </a:spcAft>
                        <a:buNone/>
                      </a:pPr>
                      <a:r>
                        <a:rPr lang="fr-FR" sz="3600" u="none" cap="none" strike="noStrike">
                          <a:latin typeface="Garamond"/>
                          <a:ea typeface="Garamond"/>
                          <a:cs typeface="Garamond"/>
                          <a:sym typeface="Garamond"/>
                        </a:rPr>
                        <a:t>X</a:t>
                      </a:r>
                      <a:endParaRPr sz="3600" u="none" cap="none" strike="noStrike">
                        <a:latin typeface="Garamond"/>
                        <a:ea typeface="Garamond"/>
                        <a:cs typeface="Garamond"/>
                        <a:sym typeface="Garamond"/>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9DECD"/>
                    </a:solidFill>
                  </a:tcPr>
                </a:tc>
                <a:tc>
                  <a:txBody>
                    <a:bodyPr/>
                    <a:lstStyle/>
                    <a:p>
                      <a:pPr indent="0" lvl="0" marL="0" marR="0" rtl="0" algn="l">
                        <a:lnSpc>
                          <a:spcPct val="100000"/>
                        </a:lnSpc>
                        <a:spcBef>
                          <a:spcPts val="0"/>
                        </a:spcBef>
                        <a:spcAft>
                          <a:spcPts val="0"/>
                        </a:spcAft>
                        <a:buNone/>
                      </a:pPr>
                      <a:r>
                        <a:t/>
                      </a:r>
                      <a:endParaRPr sz="24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9DECD"/>
                    </a:solidFill>
                  </a:tcPr>
                </a:tc>
                <a:tc>
                  <a:txBody>
                    <a:bodyPr/>
                    <a:lstStyle/>
                    <a:p>
                      <a:pPr indent="0" lvl="0" marL="0" marR="0" rtl="0" algn="l">
                        <a:lnSpc>
                          <a:spcPct val="100000"/>
                        </a:lnSpc>
                        <a:spcBef>
                          <a:spcPts val="0"/>
                        </a:spcBef>
                        <a:spcAft>
                          <a:spcPts val="0"/>
                        </a:spcAft>
                        <a:buNone/>
                      </a:pPr>
                      <a:r>
                        <a:t/>
                      </a:r>
                      <a:endParaRPr sz="24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9DECD"/>
                    </a:solidFill>
                  </a:tcPr>
                </a:tc>
                <a:tc>
                  <a:txBody>
                    <a:bodyPr/>
                    <a:lstStyle/>
                    <a:p>
                      <a:pPr indent="0" lvl="0" marL="13334" marR="0" rtl="0" algn="ctr">
                        <a:lnSpc>
                          <a:spcPct val="100000"/>
                        </a:lnSpc>
                        <a:spcBef>
                          <a:spcPts val="0"/>
                        </a:spcBef>
                        <a:spcAft>
                          <a:spcPts val="0"/>
                        </a:spcAft>
                        <a:buNone/>
                      </a:pPr>
                      <a:r>
                        <a:rPr lang="fr-FR" sz="3600" u="none" cap="none" strike="noStrike">
                          <a:latin typeface="Garamond"/>
                          <a:ea typeface="Garamond"/>
                          <a:cs typeface="Garamond"/>
                          <a:sym typeface="Garamond"/>
                        </a:rPr>
                        <a:t>X</a:t>
                      </a:r>
                      <a:endParaRPr sz="3600" u="none" cap="none" strike="noStrike">
                        <a:latin typeface="Garamond"/>
                        <a:ea typeface="Garamond"/>
                        <a:cs typeface="Garamond"/>
                        <a:sym typeface="Garamond"/>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9DECD"/>
                    </a:solidFill>
                  </a:tcPr>
                </a:tc>
                <a:tc>
                  <a:txBody>
                    <a:bodyPr/>
                    <a:lstStyle/>
                    <a:p>
                      <a:pPr indent="0" lvl="0" marL="16510" marR="0" rtl="0" algn="ctr">
                        <a:lnSpc>
                          <a:spcPct val="100000"/>
                        </a:lnSpc>
                        <a:spcBef>
                          <a:spcPts val="0"/>
                        </a:spcBef>
                        <a:spcAft>
                          <a:spcPts val="0"/>
                        </a:spcAft>
                        <a:buNone/>
                      </a:pPr>
                      <a:r>
                        <a:rPr lang="fr-FR" sz="3600" u="none" cap="none" strike="noStrike">
                          <a:latin typeface="Garamond"/>
                          <a:ea typeface="Garamond"/>
                          <a:cs typeface="Garamond"/>
                          <a:sym typeface="Garamond"/>
                        </a:rPr>
                        <a:t>X</a:t>
                      </a:r>
                      <a:endParaRPr sz="3600" u="none" cap="none" strike="noStrike">
                        <a:latin typeface="Garamond"/>
                        <a:ea typeface="Garamond"/>
                        <a:cs typeface="Garamond"/>
                        <a:sym typeface="Garamond"/>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9DECD"/>
                    </a:solidFill>
                  </a:tcPr>
                </a:tc>
              </a:tr>
              <a:tr h="1250950">
                <a:tc>
                  <a:txBody>
                    <a:bodyPr/>
                    <a:lstStyle/>
                    <a:p>
                      <a:pPr indent="-41909" lvl="0" marL="498475" marR="445769" rtl="0" algn="just">
                        <a:lnSpc>
                          <a:spcPct val="100400"/>
                        </a:lnSpc>
                        <a:spcBef>
                          <a:spcPts val="0"/>
                        </a:spcBef>
                        <a:spcAft>
                          <a:spcPts val="0"/>
                        </a:spcAft>
                        <a:buNone/>
                      </a:pPr>
                      <a:r>
                        <a:rPr b="1" lang="fr-FR" sz="2400" u="none" cap="none" strike="noStrike">
                          <a:latin typeface="Garamond"/>
                          <a:ea typeface="Garamond"/>
                          <a:cs typeface="Garamond"/>
                          <a:sym typeface="Garamond"/>
                        </a:rPr>
                        <a:t>Trouble anxiété sociale</a:t>
                      </a:r>
                      <a:endParaRPr sz="2400" u="none" cap="none" strike="noStrike">
                        <a:latin typeface="Garamond"/>
                        <a:ea typeface="Garamond"/>
                        <a:cs typeface="Garamond"/>
                        <a:sym typeface="Garamond"/>
                      </a:endParaRPr>
                    </a:p>
                  </a:txBody>
                  <a:tcPr marT="203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CEEE8"/>
                    </a:solidFill>
                  </a:tcPr>
                </a:tc>
                <a:tc>
                  <a:txBody>
                    <a:bodyPr/>
                    <a:lstStyle/>
                    <a:p>
                      <a:pPr indent="0" lvl="0" marL="5715" marR="0" rtl="0" algn="ctr">
                        <a:lnSpc>
                          <a:spcPct val="100000"/>
                        </a:lnSpc>
                        <a:spcBef>
                          <a:spcPts val="0"/>
                        </a:spcBef>
                        <a:spcAft>
                          <a:spcPts val="0"/>
                        </a:spcAft>
                        <a:buNone/>
                      </a:pPr>
                      <a:r>
                        <a:rPr lang="fr-FR" sz="3600" u="none" cap="none" strike="noStrike">
                          <a:latin typeface="Garamond"/>
                          <a:ea typeface="Garamond"/>
                          <a:cs typeface="Garamond"/>
                          <a:sym typeface="Garamond"/>
                        </a:rPr>
                        <a:t>X</a:t>
                      </a:r>
                      <a:endParaRPr sz="3600" u="none" cap="none" strike="noStrike">
                        <a:latin typeface="Garamond"/>
                        <a:ea typeface="Garamond"/>
                        <a:cs typeface="Garamond"/>
                        <a:sym typeface="Garamond"/>
                      </a:endParaRPr>
                    </a:p>
                  </a:txBody>
                  <a:tcPr marT="120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CEEE8"/>
                    </a:solidFill>
                  </a:tcPr>
                </a:tc>
                <a:tc>
                  <a:txBody>
                    <a:bodyPr/>
                    <a:lstStyle/>
                    <a:p>
                      <a:pPr indent="0" lvl="0" marL="0" marR="0" rtl="0" algn="l">
                        <a:lnSpc>
                          <a:spcPct val="100000"/>
                        </a:lnSpc>
                        <a:spcBef>
                          <a:spcPts val="0"/>
                        </a:spcBef>
                        <a:spcAft>
                          <a:spcPts val="0"/>
                        </a:spcAft>
                        <a:buNone/>
                      </a:pPr>
                      <a:r>
                        <a:t/>
                      </a:r>
                      <a:endParaRPr sz="24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CEEE8"/>
                    </a:solidFill>
                  </a:tcPr>
                </a:tc>
                <a:tc>
                  <a:txBody>
                    <a:bodyPr/>
                    <a:lstStyle/>
                    <a:p>
                      <a:pPr indent="0" lvl="0" marL="10795" marR="0" rtl="0" algn="ctr">
                        <a:lnSpc>
                          <a:spcPct val="100000"/>
                        </a:lnSpc>
                        <a:spcBef>
                          <a:spcPts val="0"/>
                        </a:spcBef>
                        <a:spcAft>
                          <a:spcPts val="0"/>
                        </a:spcAft>
                        <a:buNone/>
                      </a:pPr>
                      <a:r>
                        <a:rPr lang="fr-FR" sz="3600" u="none" cap="none" strike="noStrike">
                          <a:latin typeface="Garamond"/>
                          <a:ea typeface="Garamond"/>
                          <a:cs typeface="Garamond"/>
                          <a:sym typeface="Garamond"/>
                        </a:rPr>
                        <a:t>X</a:t>
                      </a:r>
                      <a:endParaRPr sz="3600" u="none" cap="none" strike="noStrike">
                        <a:latin typeface="Garamond"/>
                        <a:ea typeface="Garamond"/>
                        <a:cs typeface="Garamond"/>
                        <a:sym typeface="Garamond"/>
                      </a:endParaRPr>
                    </a:p>
                  </a:txBody>
                  <a:tcPr marT="120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CEEE8"/>
                    </a:solidFill>
                  </a:tcPr>
                </a:tc>
                <a:tc>
                  <a:txBody>
                    <a:bodyPr/>
                    <a:lstStyle/>
                    <a:p>
                      <a:pPr indent="0" lvl="0" marL="13334" marR="0" rtl="0" algn="ctr">
                        <a:lnSpc>
                          <a:spcPct val="100000"/>
                        </a:lnSpc>
                        <a:spcBef>
                          <a:spcPts val="0"/>
                        </a:spcBef>
                        <a:spcAft>
                          <a:spcPts val="0"/>
                        </a:spcAft>
                        <a:buNone/>
                      </a:pPr>
                      <a:r>
                        <a:rPr lang="fr-FR" sz="3600" u="none" cap="none" strike="noStrike">
                          <a:latin typeface="Garamond"/>
                          <a:ea typeface="Garamond"/>
                          <a:cs typeface="Garamond"/>
                          <a:sym typeface="Garamond"/>
                        </a:rPr>
                        <a:t>X</a:t>
                      </a:r>
                      <a:endParaRPr sz="3600" u="none" cap="none" strike="noStrike">
                        <a:latin typeface="Garamond"/>
                        <a:ea typeface="Garamond"/>
                        <a:cs typeface="Garamond"/>
                        <a:sym typeface="Garamond"/>
                      </a:endParaRPr>
                    </a:p>
                  </a:txBody>
                  <a:tcPr marT="120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CEEE8"/>
                    </a:solidFill>
                  </a:tcPr>
                </a:tc>
                <a:tc>
                  <a:txBody>
                    <a:bodyPr/>
                    <a:lstStyle/>
                    <a:p>
                      <a:pPr indent="0" lvl="0" marL="16510" marR="0" rtl="0" algn="ctr">
                        <a:lnSpc>
                          <a:spcPct val="100000"/>
                        </a:lnSpc>
                        <a:spcBef>
                          <a:spcPts val="0"/>
                        </a:spcBef>
                        <a:spcAft>
                          <a:spcPts val="0"/>
                        </a:spcAft>
                        <a:buNone/>
                      </a:pPr>
                      <a:r>
                        <a:rPr lang="fr-FR" sz="3600" u="none" cap="none" strike="noStrike">
                          <a:latin typeface="Garamond"/>
                          <a:ea typeface="Garamond"/>
                          <a:cs typeface="Garamond"/>
                          <a:sym typeface="Garamond"/>
                        </a:rPr>
                        <a:t>X</a:t>
                      </a:r>
                      <a:endParaRPr sz="3600" u="none" cap="none" strike="noStrike">
                        <a:latin typeface="Garamond"/>
                        <a:ea typeface="Garamond"/>
                        <a:cs typeface="Garamond"/>
                        <a:sym typeface="Garamond"/>
                      </a:endParaRPr>
                    </a:p>
                  </a:txBody>
                  <a:tcPr marT="120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CEEE8"/>
                    </a:solidFill>
                  </a:tcPr>
                </a:tc>
              </a:tr>
              <a:tr h="1239525">
                <a:tc>
                  <a:txBody>
                    <a:bodyPr/>
                    <a:lstStyle/>
                    <a:p>
                      <a:pPr indent="0" lvl="0" marL="456565" marR="0" rtl="0" algn="l">
                        <a:lnSpc>
                          <a:spcPct val="100000"/>
                        </a:lnSpc>
                        <a:spcBef>
                          <a:spcPts val="0"/>
                        </a:spcBef>
                        <a:spcAft>
                          <a:spcPts val="0"/>
                        </a:spcAft>
                        <a:buNone/>
                      </a:pPr>
                      <a:r>
                        <a:rPr b="1" lang="fr-FR" sz="2400" u="none" cap="none" strike="noStrike">
                          <a:latin typeface="Garamond"/>
                          <a:ea typeface="Garamond"/>
                          <a:cs typeface="Garamond"/>
                          <a:sym typeface="Garamond"/>
                        </a:rPr>
                        <a:t>Trouble</a:t>
                      </a:r>
                      <a:endParaRPr sz="2400" u="none" cap="none" strike="noStrike">
                        <a:latin typeface="Garamond"/>
                        <a:ea typeface="Garamond"/>
                        <a:cs typeface="Garamond"/>
                        <a:sym typeface="Garamond"/>
                      </a:endParaRPr>
                    </a:p>
                    <a:p>
                      <a:pPr indent="0" lvl="0" marL="441325" marR="0" rtl="0" algn="l">
                        <a:lnSpc>
                          <a:spcPct val="100000"/>
                        </a:lnSpc>
                        <a:spcBef>
                          <a:spcPts val="45"/>
                        </a:spcBef>
                        <a:spcAft>
                          <a:spcPts val="0"/>
                        </a:spcAft>
                        <a:buNone/>
                      </a:pPr>
                      <a:r>
                        <a:rPr b="1" lang="fr-FR" sz="2400" u="none" cap="none" strike="noStrike">
                          <a:latin typeface="Garamond"/>
                          <a:ea typeface="Garamond"/>
                          <a:cs typeface="Garamond"/>
                          <a:sym typeface="Garamond"/>
                        </a:rPr>
                        <a:t>panique</a:t>
                      </a:r>
                      <a:endParaRPr sz="2400" u="none" cap="none" strike="noStrike">
                        <a:latin typeface="Garamond"/>
                        <a:ea typeface="Garamond"/>
                        <a:cs typeface="Garamond"/>
                        <a:sym typeface="Garamond"/>
                      </a:endParaRPr>
                    </a:p>
                  </a:txBody>
                  <a:tcPr marT="235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9DECD"/>
                    </a:solidFill>
                  </a:tcPr>
                </a:tc>
                <a:tc>
                  <a:txBody>
                    <a:bodyPr/>
                    <a:lstStyle/>
                    <a:p>
                      <a:pPr indent="0" lvl="0" marL="5715" marR="0" rtl="0" algn="ctr">
                        <a:lnSpc>
                          <a:spcPct val="100000"/>
                        </a:lnSpc>
                        <a:spcBef>
                          <a:spcPts val="0"/>
                        </a:spcBef>
                        <a:spcAft>
                          <a:spcPts val="0"/>
                        </a:spcAft>
                        <a:buNone/>
                      </a:pPr>
                      <a:r>
                        <a:rPr lang="fr-FR" sz="3600" u="none" cap="none" strike="noStrike">
                          <a:latin typeface="Garamond"/>
                          <a:ea typeface="Garamond"/>
                          <a:cs typeface="Garamond"/>
                          <a:sym typeface="Garamond"/>
                        </a:rPr>
                        <a:t>X</a:t>
                      </a:r>
                      <a:endParaRPr sz="3600" u="none" cap="none" strike="noStrike">
                        <a:latin typeface="Garamond"/>
                        <a:ea typeface="Garamond"/>
                        <a:cs typeface="Garamond"/>
                        <a:sym typeface="Garamond"/>
                      </a:endParaRPr>
                    </a:p>
                  </a:txBody>
                  <a:tcPr marT="139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9DECD"/>
                    </a:solidFill>
                  </a:tcPr>
                </a:tc>
                <a:tc>
                  <a:txBody>
                    <a:bodyPr/>
                    <a:lstStyle/>
                    <a:p>
                      <a:pPr indent="0" lvl="0" marL="0" marR="0" rtl="0" algn="l">
                        <a:lnSpc>
                          <a:spcPct val="100000"/>
                        </a:lnSpc>
                        <a:spcBef>
                          <a:spcPts val="0"/>
                        </a:spcBef>
                        <a:spcAft>
                          <a:spcPts val="0"/>
                        </a:spcAft>
                        <a:buNone/>
                      </a:pPr>
                      <a:r>
                        <a:t/>
                      </a:r>
                      <a:endParaRPr sz="24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9DECD"/>
                    </a:solidFill>
                  </a:tcPr>
                </a:tc>
                <a:tc>
                  <a:txBody>
                    <a:bodyPr/>
                    <a:lstStyle/>
                    <a:p>
                      <a:pPr indent="0" lvl="0" marL="10795" marR="0" rtl="0" algn="ctr">
                        <a:lnSpc>
                          <a:spcPct val="100000"/>
                        </a:lnSpc>
                        <a:spcBef>
                          <a:spcPts val="0"/>
                        </a:spcBef>
                        <a:spcAft>
                          <a:spcPts val="0"/>
                        </a:spcAft>
                        <a:buNone/>
                      </a:pPr>
                      <a:r>
                        <a:rPr lang="fr-FR" sz="3600" u="none" cap="none" strike="noStrike">
                          <a:latin typeface="Garamond"/>
                          <a:ea typeface="Garamond"/>
                          <a:cs typeface="Garamond"/>
                          <a:sym typeface="Garamond"/>
                        </a:rPr>
                        <a:t>X</a:t>
                      </a:r>
                      <a:endParaRPr sz="3600" u="none" cap="none" strike="noStrike">
                        <a:latin typeface="Garamond"/>
                        <a:ea typeface="Garamond"/>
                        <a:cs typeface="Garamond"/>
                        <a:sym typeface="Garamond"/>
                      </a:endParaRPr>
                    </a:p>
                  </a:txBody>
                  <a:tcPr marT="139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9DECD"/>
                    </a:solidFill>
                  </a:tcPr>
                </a:tc>
                <a:tc>
                  <a:txBody>
                    <a:bodyPr/>
                    <a:lstStyle/>
                    <a:p>
                      <a:pPr indent="0" lvl="0" marL="13334" marR="0" rtl="0" algn="ctr">
                        <a:lnSpc>
                          <a:spcPct val="100000"/>
                        </a:lnSpc>
                        <a:spcBef>
                          <a:spcPts val="0"/>
                        </a:spcBef>
                        <a:spcAft>
                          <a:spcPts val="0"/>
                        </a:spcAft>
                        <a:buNone/>
                      </a:pPr>
                      <a:r>
                        <a:rPr lang="fr-FR" sz="3600" u="none" cap="none" strike="noStrike">
                          <a:latin typeface="Garamond"/>
                          <a:ea typeface="Garamond"/>
                          <a:cs typeface="Garamond"/>
                          <a:sym typeface="Garamond"/>
                        </a:rPr>
                        <a:t>X</a:t>
                      </a:r>
                      <a:endParaRPr sz="3600" u="none" cap="none" strike="noStrike">
                        <a:latin typeface="Garamond"/>
                        <a:ea typeface="Garamond"/>
                        <a:cs typeface="Garamond"/>
                        <a:sym typeface="Garamond"/>
                      </a:endParaRPr>
                    </a:p>
                  </a:txBody>
                  <a:tcPr marT="139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9DECD"/>
                    </a:solidFill>
                  </a:tcPr>
                </a:tc>
                <a:tc>
                  <a:txBody>
                    <a:bodyPr/>
                    <a:lstStyle/>
                    <a:p>
                      <a:pPr indent="0" lvl="0" marL="16510" marR="0" rtl="0" algn="ctr">
                        <a:lnSpc>
                          <a:spcPct val="100000"/>
                        </a:lnSpc>
                        <a:spcBef>
                          <a:spcPts val="0"/>
                        </a:spcBef>
                        <a:spcAft>
                          <a:spcPts val="0"/>
                        </a:spcAft>
                        <a:buNone/>
                      </a:pPr>
                      <a:r>
                        <a:rPr lang="fr-FR" sz="3600" u="none" cap="none" strike="noStrike">
                          <a:latin typeface="Garamond"/>
                          <a:ea typeface="Garamond"/>
                          <a:cs typeface="Garamond"/>
                          <a:sym typeface="Garamond"/>
                        </a:rPr>
                        <a:t>X</a:t>
                      </a:r>
                      <a:endParaRPr sz="3600" u="none" cap="none" strike="noStrike">
                        <a:latin typeface="Garamond"/>
                        <a:ea typeface="Garamond"/>
                        <a:cs typeface="Garamond"/>
                        <a:sym typeface="Garamond"/>
                      </a:endParaRPr>
                    </a:p>
                  </a:txBody>
                  <a:tcPr marT="139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9DECD"/>
                    </a:solidFill>
                  </a:tcPr>
                </a:tc>
              </a:tr>
            </a:tbl>
          </a:graphicData>
        </a:graphic>
      </p:graphicFrame>
      <p:sp>
        <p:nvSpPr>
          <p:cNvPr id="1842" name="Google Shape;1842;p22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6" name="Shape 1846"/>
        <p:cNvGrpSpPr/>
        <p:nvPr/>
      </p:nvGrpSpPr>
      <p:grpSpPr>
        <a:xfrm>
          <a:off x="0" y="0"/>
          <a:ext cx="0" cy="0"/>
          <a:chOff x="0" y="0"/>
          <a:chExt cx="0" cy="0"/>
        </a:xfrm>
      </p:grpSpPr>
      <p:sp>
        <p:nvSpPr>
          <p:cNvPr id="1847" name="Google Shape;1847;p228"/>
          <p:cNvSpPr txBox="1"/>
          <p:nvPr>
            <p:ph type="title"/>
          </p:nvPr>
        </p:nvSpPr>
        <p:spPr>
          <a:xfrm>
            <a:off x="3393440" y="2346325"/>
            <a:ext cx="5418455" cy="112458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fr-FR" sz="7200">
                <a:solidFill>
                  <a:srgbClr val="61731F"/>
                </a:solidFill>
              </a:rPr>
              <a:t>Cas clinique 1</a:t>
            </a:r>
            <a:endParaRPr sz="7200"/>
          </a:p>
        </p:txBody>
      </p:sp>
      <p:sp>
        <p:nvSpPr>
          <p:cNvPr id="1848" name="Google Shape;1848;p22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2" name="Shape 1852"/>
        <p:cNvGrpSpPr/>
        <p:nvPr/>
      </p:nvGrpSpPr>
      <p:grpSpPr>
        <a:xfrm>
          <a:off x="0" y="0"/>
          <a:ext cx="0" cy="0"/>
          <a:chOff x="0" y="0"/>
          <a:chExt cx="0" cy="0"/>
        </a:xfrm>
      </p:grpSpPr>
      <p:sp>
        <p:nvSpPr>
          <p:cNvPr id="1853" name="Google Shape;1853;p229"/>
          <p:cNvSpPr txBox="1"/>
          <p:nvPr/>
        </p:nvSpPr>
        <p:spPr>
          <a:xfrm>
            <a:off x="832167" y="1534446"/>
            <a:ext cx="10452100" cy="4536440"/>
          </a:xfrm>
          <a:prstGeom prst="rect">
            <a:avLst/>
          </a:prstGeom>
          <a:noFill/>
          <a:ln>
            <a:noFill/>
          </a:ln>
        </p:spPr>
        <p:txBody>
          <a:bodyPr anchorCtr="0" anchor="t" bIns="0" lIns="0" spcFirstLastPara="1" rIns="0" wrap="square" tIns="13325">
            <a:spAutoFit/>
          </a:bodyPr>
          <a:lstStyle/>
          <a:p>
            <a:pPr indent="-285750" lvl="0" marL="298450" marR="5080" rtl="0" algn="just">
              <a:lnSpc>
                <a:spcPct val="142800"/>
              </a:lnSpc>
              <a:spcBef>
                <a:spcPts val="0"/>
              </a:spcBef>
              <a:spcAft>
                <a:spcPts val="0"/>
              </a:spcAft>
              <a:buClr>
                <a:srgbClr val="83992A"/>
              </a:buClr>
              <a:buSzPts val="3200"/>
              <a:buFont typeface="Arial"/>
              <a:buChar char="•"/>
            </a:pPr>
            <a:r>
              <a:rPr b="1" lang="fr-FR" sz="2750">
                <a:solidFill>
                  <a:srgbClr val="252525"/>
                </a:solidFill>
                <a:latin typeface="Garamond"/>
                <a:ea typeface="Garamond"/>
                <a:cs typeface="Garamond"/>
                <a:sym typeface="Garamond"/>
              </a:rPr>
              <a:t>Vous recevez aux urgences une femme de 28 ans, amenée par son mari pour malaise.  La patiente vous décrit avoir brutalement eu le souffle coupé, une douleur dans la poitrine et des palpitations. Ces symptômes lui ont fait très peur. Elle vous demande de l’aide " j'ai eu l'impression que j’allais mourir".</a:t>
            </a:r>
            <a:endParaRPr sz="2750">
              <a:latin typeface="Garamond"/>
              <a:ea typeface="Garamond"/>
              <a:cs typeface="Garamond"/>
              <a:sym typeface="Garamond"/>
            </a:endParaRPr>
          </a:p>
          <a:p>
            <a:pPr indent="-266700" lvl="0" marL="279400" marR="964564" rtl="0" algn="just">
              <a:lnSpc>
                <a:spcPct val="179800"/>
              </a:lnSpc>
              <a:spcBef>
                <a:spcPts val="80"/>
              </a:spcBef>
              <a:spcAft>
                <a:spcPts val="0"/>
              </a:spcAft>
              <a:buClr>
                <a:srgbClr val="83992A"/>
              </a:buClr>
              <a:buSzPts val="3200"/>
              <a:buFont typeface="Arial"/>
              <a:buChar char="•"/>
            </a:pPr>
            <a:r>
              <a:rPr lang="fr-FR" sz="2750">
                <a:solidFill>
                  <a:srgbClr val="83992A"/>
                </a:solidFill>
                <a:latin typeface="Garamond"/>
                <a:ea typeface="Garamond"/>
                <a:cs typeface="Garamond"/>
                <a:sym typeface="Garamond"/>
              </a:rPr>
              <a:t>	</a:t>
            </a:r>
            <a:r>
              <a:rPr b="1" lang="fr-FR" sz="2750">
                <a:solidFill>
                  <a:srgbClr val="252525"/>
                </a:solidFill>
                <a:latin typeface="Garamond"/>
                <a:ea typeface="Garamond"/>
                <a:cs typeface="Garamond"/>
                <a:sym typeface="Garamond"/>
              </a:rPr>
              <a:t>L'examen clinique : FC = 100/min, régulier, TA 12/7 cm Hg, T = 37,3°C.</a:t>
            </a:r>
            <a:endParaRPr sz="2750">
              <a:latin typeface="Garamond"/>
              <a:ea typeface="Garamond"/>
              <a:cs typeface="Garamond"/>
              <a:sym typeface="Garamond"/>
            </a:endParaRPr>
          </a:p>
        </p:txBody>
      </p:sp>
      <p:sp>
        <p:nvSpPr>
          <p:cNvPr id="1854" name="Google Shape;1854;p22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855" name="Google Shape;1855;p229"/>
          <p:cNvSpPr txBox="1"/>
          <p:nvPr>
            <p:ph type="title"/>
          </p:nvPr>
        </p:nvSpPr>
        <p:spPr>
          <a:xfrm>
            <a:off x="4319904" y="766444"/>
            <a:ext cx="3018155" cy="63246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3950">
                <a:solidFill>
                  <a:srgbClr val="61731F"/>
                </a:solidFill>
              </a:rPr>
              <a:t>Cas clinique 1</a:t>
            </a:r>
            <a:endParaRPr sz="3950"/>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9" name="Shape 1859"/>
        <p:cNvGrpSpPr/>
        <p:nvPr/>
      </p:nvGrpSpPr>
      <p:grpSpPr>
        <a:xfrm>
          <a:off x="0" y="0"/>
          <a:ext cx="0" cy="0"/>
          <a:chOff x="0" y="0"/>
          <a:chExt cx="0" cy="0"/>
        </a:xfrm>
      </p:grpSpPr>
      <p:sp>
        <p:nvSpPr>
          <p:cNvPr id="1860" name="Google Shape;1860;p230"/>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61" name="Google Shape;1861;p230"/>
          <p:cNvSpPr txBox="1"/>
          <p:nvPr>
            <p:ph type="title"/>
          </p:nvPr>
        </p:nvSpPr>
        <p:spPr>
          <a:xfrm>
            <a:off x="802005" y="636905"/>
            <a:ext cx="10587989" cy="1671955"/>
          </a:xfrm>
          <a:prstGeom prst="rect">
            <a:avLst/>
          </a:prstGeom>
          <a:noFill/>
          <a:ln>
            <a:noFill/>
          </a:ln>
        </p:spPr>
        <p:txBody>
          <a:bodyPr anchorCtr="0" anchor="t" bIns="0" lIns="0" spcFirstLastPara="1" rIns="0" wrap="square" tIns="403475">
            <a:spAutoFit/>
          </a:bodyPr>
          <a:lstStyle/>
          <a:p>
            <a:pPr indent="0" lvl="0" marL="585470" marR="5080" rtl="0" algn="l">
              <a:lnSpc>
                <a:spcPct val="118888"/>
              </a:lnSpc>
              <a:spcBef>
                <a:spcPts val="0"/>
              </a:spcBef>
              <a:spcAft>
                <a:spcPts val="0"/>
              </a:spcAft>
              <a:buNone/>
            </a:pPr>
            <a:r>
              <a:rPr lang="fr-FR">
                <a:solidFill>
                  <a:srgbClr val="000000"/>
                </a:solidFill>
              </a:rPr>
              <a:t>1- Quels diagnostics doivent être éliminés en urgence ?</a:t>
            </a:r>
            <a:endParaRPr/>
          </a:p>
        </p:txBody>
      </p:sp>
      <p:sp>
        <p:nvSpPr>
          <p:cNvPr id="1862" name="Google Shape;1862;p23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863" name="Google Shape;1863;p230"/>
          <p:cNvSpPr txBox="1"/>
          <p:nvPr/>
        </p:nvSpPr>
        <p:spPr>
          <a:xfrm>
            <a:off x="1375028" y="2469102"/>
            <a:ext cx="3880485" cy="2568652"/>
          </a:xfrm>
          <a:prstGeom prst="rect">
            <a:avLst/>
          </a:prstGeom>
          <a:noFill/>
          <a:ln>
            <a:noFill/>
          </a:ln>
        </p:spPr>
        <p:txBody>
          <a:bodyPr anchorCtr="0" anchor="t" bIns="0" lIns="0" spcFirstLastPara="1" rIns="0" wrap="square" tIns="54600">
            <a:spAutoFit/>
          </a:bodyPr>
          <a:lstStyle/>
          <a:p>
            <a:pPr indent="-456565" lvl="0" marL="469265"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Embolie pulmonaire</a:t>
            </a:r>
            <a:endParaRPr sz="2750">
              <a:solidFill>
                <a:srgbClr val="FF0000"/>
              </a:solidFill>
              <a:latin typeface="Garamond"/>
              <a:ea typeface="Garamond"/>
              <a:cs typeface="Garamond"/>
              <a:sym typeface="Garamond"/>
            </a:endParaRPr>
          </a:p>
          <a:p>
            <a:pPr indent="-457200" lvl="0" marL="469900" rtl="0" algn="l">
              <a:lnSpc>
                <a:spcPct val="100000"/>
              </a:lnSpc>
              <a:spcBef>
                <a:spcPts val="8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Infarctus du myocarde</a:t>
            </a:r>
            <a:endParaRPr sz="2750">
              <a:solidFill>
                <a:srgbClr val="FF0000"/>
              </a:solidFill>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Péritonite</a:t>
            </a:r>
            <a:endParaRPr sz="2750">
              <a:latin typeface="Garamond"/>
              <a:ea typeface="Garamond"/>
              <a:cs typeface="Garamond"/>
              <a:sym typeface="Garamond"/>
            </a:endParaRPr>
          </a:p>
          <a:p>
            <a:pPr indent="-455930" lvl="0" marL="46863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Crise d'asthme</a:t>
            </a:r>
            <a:endParaRPr sz="2750">
              <a:solidFill>
                <a:srgbClr val="FF0000"/>
              </a:solidFill>
              <a:latin typeface="Garamond"/>
              <a:ea typeface="Garamond"/>
              <a:cs typeface="Garamond"/>
              <a:sym typeface="Garamond"/>
            </a:endParaRPr>
          </a:p>
          <a:p>
            <a:pPr indent="-455930" lvl="0" marL="468630"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phéochromocytome</a:t>
            </a:r>
            <a:endParaRPr sz="2750">
              <a:solidFill>
                <a:srgbClr val="FF0000"/>
              </a:solidFill>
              <a:latin typeface="Garamond"/>
              <a:ea typeface="Garamond"/>
              <a:cs typeface="Garamond"/>
              <a:sym typeface="Garamond"/>
            </a:endParaRPr>
          </a:p>
        </p:txBody>
      </p: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7" name="Shape 1867"/>
        <p:cNvGrpSpPr/>
        <p:nvPr/>
      </p:nvGrpSpPr>
      <p:grpSpPr>
        <a:xfrm>
          <a:off x="0" y="0"/>
          <a:ext cx="0" cy="0"/>
          <a:chOff x="0" y="0"/>
          <a:chExt cx="0" cy="0"/>
        </a:xfrm>
      </p:grpSpPr>
      <p:sp>
        <p:nvSpPr>
          <p:cNvPr id="1868" name="Google Shape;1868;p231"/>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69" name="Google Shape;1869;p231"/>
          <p:cNvSpPr txBox="1"/>
          <p:nvPr>
            <p:ph type="title"/>
          </p:nvPr>
        </p:nvSpPr>
        <p:spPr>
          <a:xfrm>
            <a:off x="802005" y="636905"/>
            <a:ext cx="10587989" cy="1671955"/>
          </a:xfrm>
          <a:prstGeom prst="rect">
            <a:avLst/>
          </a:prstGeom>
          <a:noFill/>
          <a:ln>
            <a:noFill/>
          </a:ln>
        </p:spPr>
        <p:txBody>
          <a:bodyPr anchorCtr="0" anchor="t" bIns="0" lIns="0" spcFirstLastPara="1" rIns="0" wrap="square" tIns="372350">
            <a:spAutoFit/>
          </a:bodyPr>
          <a:lstStyle/>
          <a:p>
            <a:pPr indent="0" lvl="0" marL="585470" marR="5080" rtl="0" algn="l">
              <a:lnSpc>
                <a:spcPct val="101400"/>
              </a:lnSpc>
              <a:spcBef>
                <a:spcPts val="0"/>
              </a:spcBef>
              <a:spcAft>
                <a:spcPts val="0"/>
              </a:spcAft>
              <a:buNone/>
            </a:pPr>
            <a:r>
              <a:rPr lang="fr-FR" sz="3950"/>
              <a:t>2- Justifiez la prescription des examens complémentaires :</a:t>
            </a:r>
            <a:endParaRPr sz="3950"/>
          </a:p>
        </p:txBody>
      </p:sp>
      <p:sp>
        <p:nvSpPr>
          <p:cNvPr id="1870" name="Google Shape;1870;p23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871" name="Google Shape;1871;p231"/>
          <p:cNvSpPr txBox="1"/>
          <p:nvPr/>
        </p:nvSpPr>
        <p:spPr>
          <a:xfrm>
            <a:off x="1375028" y="2469102"/>
            <a:ext cx="6341110" cy="2568652"/>
          </a:xfrm>
          <a:prstGeom prst="rect">
            <a:avLst/>
          </a:prstGeom>
          <a:noFill/>
          <a:ln>
            <a:noFill/>
          </a:ln>
        </p:spPr>
        <p:txBody>
          <a:bodyPr anchorCtr="0" anchor="t" bIns="0" lIns="0" spcFirstLastPara="1" rIns="0" wrap="square" tIns="54600">
            <a:spAutoFit/>
          </a:bodyPr>
          <a:lstStyle/>
          <a:p>
            <a:pPr indent="-456565" lvl="0" marL="469265"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L’âge jeune de la patiente</a:t>
            </a:r>
            <a:endParaRPr sz="2750">
              <a:latin typeface="Garamond"/>
              <a:ea typeface="Garamond"/>
              <a:cs typeface="Garamond"/>
              <a:sym typeface="Garamond"/>
            </a:endParaRPr>
          </a:p>
          <a:p>
            <a:pPr indent="-457200" lvl="0" marL="469900"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La présence d’un facteur de stress</a:t>
            </a:r>
            <a:endParaRPr sz="2750">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La présence de symptômes à l’examen</a:t>
            </a:r>
            <a:endParaRPr sz="2750">
              <a:solidFill>
                <a:srgbClr val="FF0000"/>
              </a:solidFill>
              <a:latin typeface="Garamond"/>
              <a:ea typeface="Garamond"/>
              <a:cs typeface="Garamond"/>
              <a:sym typeface="Garamond"/>
            </a:endParaRPr>
          </a:p>
          <a:p>
            <a:pPr indent="-455930" lvl="0" marL="468630"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Il s’agit d’un premier épisode</a:t>
            </a:r>
            <a:endParaRPr sz="2750">
              <a:solidFill>
                <a:srgbClr val="FF0000"/>
              </a:solidFill>
              <a:latin typeface="Garamond"/>
              <a:ea typeface="Garamond"/>
              <a:cs typeface="Garamond"/>
              <a:sym typeface="Garamond"/>
            </a:endParaRPr>
          </a:p>
          <a:p>
            <a:pPr indent="-455930" lvl="0" marL="468630"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Il faut éliminer une urgence somatique</a:t>
            </a:r>
            <a:endParaRPr sz="2750">
              <a:solidFill>
                <a:srgbClr val="FF0000"/>
              </a:solidFill>
              <a:latin typeface="Garamond"/>
              <a:ea typeface="Garamond"/>
              <a:cs typeface="Garamond"/>
              <a:sym typeface="Garamond"/>
            </a:endParaRPr>
          </a:p>
        </p:txBody>
      </p:sp>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5" name="Shape 1875"/>
        <p:cNvGrpSpPr/>
        <p:nvPr/>
      </p:nvGrpSpPr>
      <p:grpSpPr>
        <a:xfrm>
          <a:off x="0" y="0"/>
          <a:ext cx="0" cy="0"/>
          <a:chOff x="0" y="0"/>
          <a:chExt cx="0" cy="0"/>
        </a:xfrm>
      </p:grpSpPr>
      <p:sp>
        <p:nvSpPr>
          <p:cNvPr id="1876" name="Google Shape;1876;p232"/>
          <p:cNvSpPr txBox="1"/>
          <p:nvPr>
            <p:ph type="title"/>
          </p:nvPr>
        </p:nvSpPr>
        <p:spPr>
          <a:xfrm>
            <a:off x="1375028" y="639444"/>
            <a:ext cx="9445625" cy="1852930"/>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solidFill>
                  <a:srgbClr val="000000"/>
                </a:solidFill>
              </a:rPr>
              <a:t>3- Vous ne retrouvez aucune anomalie aux examens complémentaires. Quel diagnostic </a:t>
            </a:r>
            <a:r>
              <a:rPr lang="fr-FR" sz="3950" u="sng">
                <a:solidFill>
                  <a:srgbClr val="000000"/>
                </a:solidFill>
              </a:rPr>
              <a:t>retenir ?	</a:t>
            </a:r>
            <a:endParaRPr sz="3950"/>
          </a:p>
        </p:txBody>
      </p:sp>
      <p:sp>
        <p:nvSpPr>
          <p:cNvPr id="1877" name="Google Shape;1877;p23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878" name="Google Shape;1878;p232"/>
          <p:cNvSpPr txBox="1"/>
          <p:nvPr/>
        </p:nvSpPr>
        <p:spPr>
          <a:xfrm>
            <a:off x="1375028" y="2469102"/>
            <a:ext cx="4625340" cy="2568652"/>
          </a:xfrm>
          <a:prstGeom prst="rect">
            <a:avLst/>
          </a:prstGeom>
          <a:noFill/>
          <a:ln>
            <a:noFill/>
          </a:ln>
        </p:spPr>
        <p:txBody>
          <a:bodyPr anchorCtr="0" anchor="t" bIns="0" lIns="0" spcFirstLastPara="1" rIns="0" wrap="square" tIns="54600">
            <a:spAutoFit/>
          </a:bodyPr>
          <a:lstStyle/>
          <a:p>
            <a:pPr indent="-456565" lvl="0" marL="469265"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Etat de stress aigu</a:t>
            </a:r>
            <a:endParaRPr sz="2750">
              <a:latin typeface="Garamond"/>
              <a:ea typeface="Garamond"/>
              <a:cs typeface="Garamond"/>
              <a:sym typeface="Garamond"/>
            </a:endParaRPr>
          </a:p>
          <a:p>
            <a:pPr indent="-546735" lvl="0" marL="559435" rtl="0" algn="l">
              <a:lnSpc>
                <a:spcPct val="100000"/>
              </a:lnSpc>
              <a:spcBef>
                <a:spcPts val="8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Attaque de panique</a:t>
            </a:r>
            <a:endParaRPr sz="2750">
              <a:solidFill>
                <a:srgbClr val="FF0000"/>
              </a:solidFill>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Trouble panique</a:t>
            </a:r>
            <a:endParaRPr sz="2750">
              <a:latin typeface="Garamond"/>
              <a:ea typeface="Garamond"/>
              <a:cs typeface="Garamond"/>
              <a:sym typeface="Garamond"/>
            </a:endParaRPr>
          </a:p>
          <a:p>
            <a:pPr indent="-455930" lvl="0" marL="46863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Bouffé délirante aigue</a:t>
            </a:r>
            <a:endParaRPr sz="2750">
              <a:latin typeface="Garamond"/>
              <a:ea typeface="Garamond"/>
              <a:cs typeface="Garamond"/>
              <a:sym typeface="Garamond"/>
            </a:endParaRPr>
          </a:p>
          <a:p>
            <a:pPr indent="-455930" lvl="0" marL="468630" rtl="0" algn="l">
              <a:lnSpc>
                <a:spcPct val="100000"/>
              </a:lnSpc>
              <a:spcBef>
                <a:spcPts val="7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Trouble anxiété généralisée</a:t>
            </a:r>
            <a:endParaRPr sz="2750">
              <a:latin typeface="Garamond"/>
              <a:ea typeface="Garamond"/>
              <a:cs typeface="Garamond"/>
              <a:sym typeface="Garamond"/>
            </a:endParaRPr>
          </a:p>
        </p:txBody>
      </p:sp>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2" name="Shape 1882"/>
        <p:cNvGrpSpPr/>
        <p:nvPr/>
      </p:nvGrpSpPr>
      <p:grpSpPr>
        <a:xfrm>
          <a:off x="0" y="0"/>
          <a:ext cx="0" cy="0"/>
          <a:chOff x="0" y="0"/>
          <a:chExt cx="0" cy="0"/>
        </a:xfrm>
      </p:grpSpPr>
      <p:sp>
        <p:nvSpPr>
          <p:cNvPr id="1883" name="Google Shape;1883;p233"/>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84" name="Google Shape;1884;p233"/>
          <p:cNvSpPr txBox="1"/>
          <p:nvPr>
            <p:ph type="title"/>
          </p:nvPr>
        </p:nvSpPr>
        <p:spPr>
          <a:xfrm>
            <a:off x="802005" y="636905"/>
            <a:ext cx="10587989" cy="1671955"/>
          </a:xfrm>
          <a:prstGeom prst="rect">
            <a:avLst/>
          </a:prstGeom>
          <a:noFill/>
          <a:ln>
            <a:noFill/>
          </a:ln>
        </p:spPr>
        <p:txBody>
          <a:bodyPr anchorCtr="0" anchor="t" bIns="0" lIns="0" spcFirstLastPara="1" rIns="0" wrap="square" tIns="269225">
            <a:spAutoFit/>
          </a:bodyPr>
          <a:lstStyle/>
          <a:p>
            <a:pPr indent="0" lvl="0" marL="585470" marR="5080" rtl="0" algn="l">
              <a:lnSpc>
                <a:spcPct val="101400"/>
              </a:lnSpc>
              <a:spcBef>
                <a:spcPts val="0"/>
              </a:spcBef>
              <a:spcAft>
                <a:spcPts val="0"/>
              </a:spcAft>
              <a:buNone/>
            </a:pPr>
            <a:r>
              <a:rPr lang="fr-FR" sz="3950">
                <a:solidFill>
                  <a:srgbClr val="000000"/>
                </a:solidFill>
              </a:rPr>
              <a:t>4- Quelle prise en charge proposez-vous en première intention?</a:t>
            </a:r>
            <a:endParaRPr sz="3950"/>
          </a:p>
        </p:txBody>
      </p:sp>
      <p:sp>
        <p:nvSpPr>
          <p:cNvPr id="1885" name="Google Shape;1885;p23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886" name="Google Shape;1886;p233"/>
          <p:cNvSpPr txBox="1"/>
          <p:nvPr/>
        </p:nvSpPr>
        <p:spPr>
          <a:xfrm>
            <a:off x="1375028" y="2469102"/>
            <a:ext cx="4356735" cy="2568652"/>
          </a:xfrm>
          <a:prstGeom prst="rect">
            <a:avLst/>
          </a:prstGeom>
          <a:noFill/>
          <a:ln>
            <a:noFill/>
          </a:ln>
        </p:spPr>
        <p:txBody>
          <a:bodyPr anchorCtr="0" anchor="t" bIns="0" lIns="0" spcFirstLastPara="1" rIns="0" wrap="square" tIns="54600">
            <a:spAutoFit/>
          </a:bodyPr>
          <a:lstStyle/>
          <a:p>
            <a:pPr indent="-456565" lvl="0" marL="469265" rtl="0" algn="l">
              <a:lnSpc>
                <a:spcPct val="100000"/>
              </a:lnSpc>
              <a:spcBef>
                <a:spcPts val="0"/>
              </a:spcBef>
              <a:spcAft>
                <a:spcPts val="0"/>
              </a:spcAft>
              <a:buClr>
                <a:srgbClr val="83992A"/>
              </a:buClr>
              <a:buSzPts val="3200"/>
              <a:buFont typeface="Garamond"/>
              <a:buAutoNum type="alphaUcPeriod"/>
            </a:pPr>
            <a:r>
              <a:rPr b="1" lang="fr-FR" sz="2750">
                <a:latin typeface="Garamond"/>
                <a:ea typeface="Garamond"/>
                <a:cs typeface="Garamond"/>
                <a:sym typeface="Garamond"/>
              </a:rPr>
              <a:t>Hospitalisation</a:t>
            </a:r>
            <a:endParaRPr sz="2750">
              <a:latin typeface="Garamond"/>
              <a:ea typeface="Garamond"/>
              <a:cs typeface="Garamond"/>
              <a:sym typeface="Garamond"/>
            </a:endParaRPr>
          </a:p>
          <a:p>
            <a:pPr indent="-457200" lvl="0" marL="469900" rtl="0" algn="l">
              <a:lnSpc>
                <a:spcPct val="100000"/>
              </a:lnSpc>
              <a:spcBef>
                <a:spcPts val="8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Réassurance</a:t>
            </a:r>
            <a:endParaRPr sz="2750">
              <a:solidFill>
                <a:srgbClr val="FF0000"/>
              </a:solidFill>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latin typeface="Garamond"/>
                <a:ea typeface="Garamond"/>
                <a:cs typeface="Garamond"/>
                <a:sym typeface="Garamond"/>
              </a:rPr>
              <a:t>Benzodiazépines</a:t>
            </a:r>
            <a:endParaRPr sz="2750">
              <a:latin typeface="Garamond"/>
              <a:ea typeface="Garamond"/>
              <a:cs typeface="Garamond"/>
              <a:sym typeface="Garamond"/>
            </a:endParaRPr>
          </a:p>
          <a:p>
            <a:pPr indent="-545465" lvl="0" marL="558165" rtl="0" algn="l">
              <a:lnSpc>
                <a:spcPct val="100000"/>
              </a:lnSpc>
              <a:spcBef>
                <a:spcPts val="815"/>
              </a:spcBef>
              <a:spcAft>
                <a:spcPts val="0"/>
              </a:spcAft>
              <a:buClr>
                <a:srgbClr val="83992A"/>
              </a:buClr>
              <a:buSzPts val="3200"/>
              <a:buFont typeface="Garamond"/>
              <a:buAutoNum type="alphaUcPeriod"/>
            </a:pPr>
            <a:r>
              <a:rPr b="1" lang="fr-FR" sz="2750">
                <a:latin typeface="Garamond"/>
                <a:ea typeface="Garamond"/>
                <a:cs typeface="Garamond"/>
                <a:sym typeface="Garamond"/>
              </a:rPr>
              <a:t>Antidépresseur</a:t>
            </a:r>
            <a:endParaRPr sz="2750">
              <a:latin typeface="Garamond"/>
              <a:ea typeface="Garamond"/>
              <a:cs typeface="Garamond"/>
              <a:sym typeface="Garamond"/>
            </a:endParaRPr>
          </a:p>
          <a:p>
            <a:pPr indent="-545465" lvl="0" marL="558165"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Techniques de relaxation</a:t>
            </a:r>
            <a:endParaRPr sz="2750">
              <a:solidFill>
                <a:srgbClr val="FF0000"/>
              </a:solidFill>
              <a:latin typeface="Garamond"/>
              <a:ea typeface="Garamond"/>
              <a:cs typeface="Garamond"/>
              <a:sym typeface="Garamond"/>
            </a:endParaRPr>
          </a:p>
        </p:txBody>
      </p:sp>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0" name="Shape 1890"/>
        <p:cNvGrpSpPr/>
        <p:nvPr/>
      </p:nvGrpSpPr>
      <p:grpSpPr>
        <a:xfrm>
          <a:off x="0" y="0"/>
          <a:ext cx="0" cy="0"/>
          <a:chOff x="0" y="0"/>
          <a:chExt cx="0" cy="0"/>
        </a:xfrm>
      </p:grpSpPr>
      <p:sp>
        <p:nvSpPr>
          <p:cNvPr id="1891" name="Google Shape;1891;p234"/>
          <p:cNvSpPr txBox="1"/>
          <p:nvPr/>
        </p:nvSpPr>
        <p:spPr>
          <a:xfrm>
            <a:off x="832167" y="1532953"/>
            <a:ext cx="10546715" cy="4617085"/>
          </a:xfrm>
          <a:prstGeom prst="rect">
            <a:avLst/>
          </a:prstGeom>
          <a:noFill/>
          <a:ln>
            <a:noFill/>
          </a:ln>
        </p:spPr>
        <p:txBody>
          <a:bodyPr anchorCtr="0" anchor="t" bIns="0" lIns="0" spcFirstLastPara="1" rIns="0" wrap="square" tIns="6350">
            <a:spAutoFit/>
          </a:bodyPr>
          <a:lstStyle/>
          <a:p>
            <a:pPr indent="-285750" lvl="0" marL="298450" marR="13334" rtl="0" algn="just">
              <a:lnSpc>
                <a:spcPct val="102299"/>
              </a:lnSpc>
              <a:spcBef>
                <a:spcPts val="0"/>
              </a:spcBef>
              <a:spcAft>
                <a:spcPts val="0"/>
              </a:spcAft>
              <a:buClr>
                <a:srgbClr val="83992A"/>
              </a:buClr>
              <a:buSzPts val="3200"/>
              <a:buFont typeface="Arial"/>
              <a:buChar char="•"/>
            </a:pPr>
            <a:r>
              <a:rPr b="1" lang="fr-FR" sz="2750">
                <a:solidFill>
                  <a:srgbClr val="252525"/>
                </a:solidFill>
                <a:latin typeface="Garamond"/>
                <a:ea typeface="Garamond"/>
                <a:cs typeface="Garamond"/>
                <a:sym typeface="Garamond"/>
              </a:rPr>
              <a:t>Six  mois  plus  tard</a:t>
            </a:r>
            <a:r>
              <a:rPr lang="fr-FR" sz="2750">
                <a:solidFill>
                  <a:srgbClr val="252525"/>
                </a:solidFill>
                <a:latin typeface="Garamond"/>
                <a:ea typeface="Garamond"/>
                <a:cs typeface="Garamond"/>
                <a:sym typeface="Garamond"/>
              </a:rPr>
              <a:t>,  la  patiente  vous  dit  que  </a:t>
            </a:r>
            <a:r>
              <a:rPr b="1" lang="fr-FR" sz="2750">
                <a:solidFill>
                  <a:srgbClr val="C00000"/>
                </a:solidFill>
                <a:latin typeface="Garamond"/>
                <a:ea typeface="Garamond"/>
                <a:cs typeface="Garamond"/>
                <a:sym typeface="Garamond"/>
              </a:rPr>
              <a:t>les  malaises  se  sont multipliés</a:t>
            </a:r>
            <a:r>
              <a:rPr lang="fr-FR" sz="2750">
                <a:solidFill>
                  <a:srgbClr val="252525"/>
                </a:solidFill>
                <a:latin typeface="Garamond"/>
                <a:ea typeface="Garamond"/>
                <a:cs typeface="Garamond"/>
                <a:sym typeface="Garamond"/>
              </a:rPr>
              <a:t>. Elle </a:t>
            </a:r>
            <a:r>
              <a:rPr b="1" lang="fr-FR" sz="2750">
                <a:solidFill>
                  <a:srgbClr val="C00000"/>
                </a:solidFill>
                <a:latin typeface="Garamond"/>
                <a:ea typeface="Garamond"/>
                <a:cs typeface="Garamond"/>
                <a:sym typeface="Garamond"/>
              </a:rPr>
              <a:t>craint de plus en plus </a:t>
            </a:r>
            <a:r>
              <a:rPr lang="fr-FR" sz="2750">
                <a:solidFill>
                  <a:srgbClr val="252525"/>
                </a:solidFill>
                <a:latin typeface="Garamond"/>
                <a:ea typeface="Garamond"/>
                <a:cs typeface="Garamond"/>
                <a:sym typeface="Garamond"/>
              </a:rPr>
              <a:t>ces crises et </a:t>
            </a:r>
            <a:r>
              <a:rPr b="1" lang="fr-FR" sz="2750">
                <a:solidFill>
                  <a:srgbClr val="252525"/>
                </a:solidFill>
                <a:latin typeface="Garamond"/>
                <a:ea typeface="Garamond"/>
                <a:cs typeface="Garamond"/>
                <a:sym typeface="Garamond"/>
              </a:rPr>
              <a:t>les redoute</a:t>
            </a:r>
            <a:r>
              <a:rPr lang="fr-FR" sz="2750">
                <a:solidFill>
                  <a:srgbClr val="252525"/>
                </a:solidFill>
                <a:latin typeface="Garamond"/>
                <a:ea typeface="Garamond"/>
                <a:cs typeface="Garamond"/>
                <a:sym typeface="Garamond"/>
              </a:rPr>
              <a:t>.</a:t>
            </a:r>
            <a:endParaRPr sz="2750">
              <a:latin typeface="Garamond"/>
              <a:ea typeface="Garamond"/>
              <a:cs typeface="Garamond"/>
              <a:sym typeface="Garamond"/>
            </a:endParaRPr>
          </a:p>
          <a:p>
            <a:pPr indent="-285750" lvl="0" marL="298450" marR="5080" rtl="0" algn="just">
              <a:lnSpc>
                <a:spcPct val="101299"/>
              </a:lnSpc>
              <a:spcBef>
                <a:spcPts val="1315"/>
              </a:spcBef>
              <a:spcAft>
                <a:spcPts val="0"/>
              </a:spcAft>
              <a:buClr>
                <a:srgbClr val="83992A"/>
              </a:buClr>
              <a:buSzPts val="3200"/>
              <a:buFont typeface="Arial"/>
              <a:buChar char="•"/>
            </a:pPr>
            <a:r>
              <a:rPr lang="fr-FR" sz="2750">
                <a:solidFill>
                  <a:srgbClr val="252525"/>
                </a:solidFill>
                <a:latin typeface="Garamond"/>
                <a:ea typeface="Garamond"/>
                <a:cs typeface="Garamond"/>
                <a:sym typeface="Garamond"/>
              </a:rPr>
              <a:t>Elle  décrit  ces  crises  comme  survenant  très  brutalement,  à  l'emporte- pièce, </a:t>
            </a:r>
            <a:r>
              <a:rPr b="1" lang="fr-FR" sz="2750">
                <a:solidFill>
                  <a:srgbClr val="252525"/>
                </a:solidFill>
                <a:latin typeface="Garamond"/>
                <a:ea typeface="Garamond"/>
                <a:cs typeface="Garamond"/>
                <a:sym typeface="Garamond"/>
              </a:rPr>
              <a:t>dans plusieurs endroits notamment les transports publics et les grandes surfaces</a:t>
            </a:r>
            <a:r>
              <a:rPr lang="fr-FR" sz="2750">
                <a:solidFill>
                  <a:srgbClr val="252525"/>
                </a:solidFill>
                <a:latin typeface="Garamond"/>
                <a:ea typeface="Garamond"/>
                <a:cs typeface="Garamond"/>
                <a:sym typeface="Garamond"/>
              </a:rPr>
              <a:t>.</a:t>
            </a:r>
            <a:endParaRPr sz="2750">
              <a:latin typeface="Garamond"/>
              <a:ea typeface="Garamond"/>
              <a:cs typeface="Garamond"/>
              <a:sym typeface="Garamond"/>
            </a:endParaRPr>
          </a:p>
          <a:p>
            <a:pPr indent="-285750" lvl="0" marL="298450" marR="5080" rtl="0" algn="just">
              <a:lnSpc>
                <a:spcPct val="101899"/>
              </a:lnSpc>
              <a:spcBef>
                <a:spcPts val="1290"/>
              </a:spcBef>
              <a:spcAft>
                <a:spcPts val="0"/>
              </a:spcAft>
              <a:buClr>
                <a:srgbClr val="83992A"/>
              </a:buClr>
              <a:buSzPts val="3200"/>
              <a:buFont typeface="Arial"/>
              <a:buChar char="•"/>
            </a:pPr>
            <a:r>
              <a:rPr lang="fr-FR" sz="2750">
                <a:solidFill>
                  <a:srgbClr val="252525"/>
                </a:solidFill>
                <a:latin typeface="Garamond"/>
                <a:ea typeface="Garamond"/>
                <a:cs typeface="Garamond"/>
                <a:sym typeface="Garamond"/>
              </a:rPr>
              <a:t>Elle se sent tout à coup comme </a:t>
            </a:r>
            <a:r>
              <a:rPr b="1" lang="fr-FR" sz="2750">
                <a:solidFill>
                  <a:srgbClr val="C00000"/>
                </a:solidFill>
                <a:latin typeface="Garamond"/>
                <a:ea typeface="Garamond"/>
                <a:cs typeface="Garamond"/>
                <a:sym typeface="Garamond"/>
              </a:rPr>
              <a:t>étrangère  à elle-même</a:t>
            </a:r>
            <a:r>
              <a:rPr lang="fr-FR" sz="2750">
                <a:solidFill>
                  <a:srgbClr val="252525"/>
                </a:solidFill>
                <a:latin typeface="Garamond"/>
                <a:ea typeface="Garamond"/>
                <a:cs typeface="Garamond"/>
                <a:sym typeface="Garamond"/>
              </a:rPr>
              <a:t>, </a:t>
            </a:r>
            <a:r>
              <a:rPr b="1" lang="fr-FR" sz="2750">
                <a:solidFill>
                  <a:srgbClr val="C00000"/>
                </a:solidFill>
                <a:latin typeface="Garamond"/>
                <a:ea typeface="Garamond"/>
                <a:cs typeface="Garamond"/>
                <a:sym typeface="Garamond"/>
              </a:rPr>
              <a:t>a peur de devenir  folle et de  mourir</a:t>
            </a:r>
            <a:r>
              <a:rPr lang="fr-FR" sz="2750">
                <a:solidFill>
                  <a:srgbClr val="252525"/>
                </a:solidFill>
                <a:latin typeface="Garamond"/>
                <a:ea typeface="Garamond"/>
                <a:cs typeface="Garamond"/>
                <a:sym typeface="Garamond"/>
              </a:rPr>
              <a:t>.  Elle n'arrive  plus  à  respirer, </a:t>
            </a:r>
            <a:r>
              <a:rPr b="1" lang="fr-FR" sz="2750">
                <a:solidFill>
                  <a:srgbClr val="252525"/>
                </a:solidFill>
                <a:latin typeface="Garamond"/>
                <a:ea typeface="Garamond"/>
                <a:cs typeface="Garamond"/>
                <a:sym typeface="Garamond"/>
              </a:rPr>
              <a:t>tremble</a:t>
            </a:r>
            <a:r>
              <a:rPr lang="fr-FR" sz="2750">
                <a:solidFill>
                  <a:srgbClr val="252525"/>
                </a:solidFill>
                <a:latin typeface="Garamond"/>
                <a:ea typeface="Garamond"/>
                <a:cs typeface="Garamond"/>
                <a:sym typeface="Garamond"/>
              </a:rPr>
              <a:t>,  et présente </a:t>
            </a:r>
            <a:r>
              <a:rPr b="1" lang="fr-FR" sz="2750">
                <a:solidFill>
                  <a:srgbClr val="252525"/>
                </a:solidFill>
                <a:latin typeface="Garamond"/>
                <a:ea typeface="Garamond"/>
                <a:cs typeface="Garamond"/>
                <a:sym typeface="Garamond"/>
              </a:rPr>
              <a:t>une sudation excessive</a:t>
            </a:r>
            <a:r>
              <a:rPr lang="fr-FR" sz="2750">
                <a:solidFill>
                  <a:srgbClr val="252525"/>
                </a:solidFill>
                <a:latin typeface="Garamond"/>
                <a:ea typeface="Garamond"/>
                <a:cs typeface="Garamond"/>
                <a:sym typeface="Garamond"/>
              </a:rPr>
              <a:t>. Elle vous confie </a:t>
            </a:r>
            <a:r>
              <a:rPr b="1" lang="fr-FR" sz="2750">
                <a:solidFill>
                  <a:srgbClr val="C00000"/>
                </a:solidFill>
                <a:latin typeface="Garamond"/>
                <a:ea typeface="Garamond"/>
                <a:cs typeface="Garamond"/>
                <a:sym typeface="Garamond"/>
              </a:rPr>
              <a:t>qu'ayant peur des crises</a:t>
            </a:r>
            <a:r>
              <a:rPr lang="fr-FR" sz="2750">
                <a:solidFill>
                  <a:srgbClr val="252525"/>
                </a:solidFill>
                <a:latin typeface="Garamond"/>
                <a:ea typeface="Garamond"/>
                <a:cs typeface="Garamond"/>
                <a:sym typeface="Garamond"/>
              </a:rPr>
              <a:t>, elle </a:t>
            </a:r>
            <a:r>
              <a:rPr b="1" lang="fr-FR" sz="2750">
                <a:solidFill>
                  <a:srgbClr val="252525"/>
                </a:solidFill>
                <a:latin typeface="Garamond"/>
                <a:ea typeface="Garamond"/>
                <a:cs typeface="Garamond"/>
                <a:sym typeface="Garamond"/>
              </a:rPr>
              <a:t>n'ose plus sortir de chez elle </a:t>
            </a:r>
            <a:r>
              <a:rPr lang="fr-FR" sz="2750">
                <a:solidFill>
                  <a:srgbClr val="252525"/>
                </a:solidFill>
                <a:latin typeface="Garamond"/>
                <a:ea typeface="Garamond"/>
                <a:cs typeface="Garamond"/>
                <a:sym typeface="Garamond"/>
              </a:rPr>
              <a:t>sans son mari, qui du coup doit toujours s'occuper d'elle.</a:t>
            </a:r>
            <a:endParaRPr sz="2750">
              <a:latin typeface="Garamond"/>
              <a:ea typeface="Garamond"/>
              <a:cs typeface="Garamond"/>
              <a:sym typeface="Garamond"/>
            </a:endParaRPr>
          </a:p>
        </p:txBody>
      </p:sp>
      <p:sp>
        <p:nvSpPr>
          <p:cNvPr id="1892" name="Google Shape;1892;p23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893" name="Google Shape;1893;p234"/>
          <p:cNvSpPr txBox="1"/>
          <p:nvPr>
            <p:ph type="title"/>
          </p:nvPr>
        </p:nvSpPr>
        <p:spPr>
          <a:xfrm>
            <a:off x="4198365" y="830580"/>
            <a:ext cx="2722880" cy="57531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fr-FR">
                <a:solidFill>
                  <a:srgbClr val="61731F"/>
                </a:solidFill>
              </a:rPr>
              <a:t>Cas clinique 1</a:t>
            </a:r>
            <a:endParaRPr/>
          </a:p>
        </p:txBody>
      </p:sp>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7" name="Shape 1897"/>
        <p:cNvGrpSpPr/>
        <p:nvPr/>
      </p:nvGrpSpPr>
      <p:grpSpPr>
        <a:xfrm>
          <a:off x="0" y="0"/>
          <a:ext cx="0" cy="0"/>
          <a:chOff x="0" y="0"/>
          <a:chExt cx="0" cy="0"/>
        </a:xfrm>
      </p:grpSpPr>
      <p:sp>
        <p:nvSpPr>
          <p:cNvPr id="1898" name="Google Shape;1898;p235"/>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99" name="Google Shape;1899;p235"/>
          <p:cNvSpPr txBox="1"/>
          <p:nvPr>
            <p:ph type="title"/>
          </p:nvPr>
        </p:nvSpPr>
        <p:spPr>
          <a:xfrm>
            <a:off x="802005" y="636905"/>
            <a:ext cx="10587989" cy="1671955"/>
          </a:xfrm>
          <a:prstGeom prst="rect">
            <a:avLst/>
          </a:prstGeom>
          <a:noFill/>
          <a:ln>
            <a:noFill/>
          </a:ln>
        </p:spPr>
        <p:txBody>
          <a:bodyPr anchorCtr="0" anchor="t" bIns="0" lIns="0" spcFirstLastPara="1" rIns="0" wrap="square" tIns="341875">
            <a:spAutoFit/>
          </a:bodyPr>
          <a:lstStyle/>
          <a:p>
            <a:pPr indent="0" lvl="0" marL="585470" marR="5080" rtl="0" algn="l">
              <a:lnSpc>
                <a:spcPct val="101400"/>
              </a:lnSpc>
              <a:spcBef>
                <a:spcPts val="0"/>
              </a:spcBef>
              <a:spcAft>
                <a:spcPts val="0"/>
              </a:spcAft>
              <a:buNone/>
            </a:pPr>
            <a:r>
              <a:rPr lang="fr-FR" sz="3950"/>
              <a:t>5- </a:t>
            </a:r>
            <a:r>
              <a:rPr lang="fr-FR" sz="3950">
                <a:solidFill>
                  <a:srgbClr val="000000"/>
                </a:solidFill>
              </a:rPr>
              <a:t>Quels sont les symptômes clés que vous relevez ?</a:t>
            </a:r>
            <a:endParaRPr sz="3950"/>
          </a:p>
        </p:txBody>
      </p:sp>
      <p:sp>
        <p:nvSpPr>
          <p:cNvPr id="1900" name="Google Shape;1900;p23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901" name="Google Shape;1901;p235"/>
          <p:cNvSpPr txBox="1"/>
          <p:nvPr/>
        </p:nvSpPr>
        <p:spPr>
          <a:xfrm>
            <a:off x="1375028" y="2469102"/>
            <a:ext cx="4015104" cy="2568652"/>
          </a:xfrm>
          <a:prstGeom prst="rect">
            <a:avLst/>
          </a:prstGeom>
          <a:noFill/>
          <a:ln>
            <a:noFill/>
          </a:ln>
        </p:spPr>
        <p:txBody>
          <a:bodyPr anchorCtr="0" anchor="t" bIns="0" lIns="0" spcFirstLastPara="1" rIns="0" wrap="square" tIns="54600">
            <a:spAutoFit/>
          </a:bodyPr>
          <a:lstStyle/>
          <a:p>
            <a:pPr indent="-456565" lvl="0" marL="469265"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Symptômes dissociatifs</a:t>
            </a:r>
            <a:endParaRPr sz="2750">
              <a:solidFill>
                <a:srgbClr val="FF0000"/>
              </a:solidFill>
              <a:latin typeface="Garamond"/>
              <a:ea typeface="Garamond"/>
              <a:cs typeface="Garamond"/>
              <a:sym typeface="Garamond"/>
            </a:endParaRPr>
          </a:p>
          <a:p>
            <a:pPr indent="-457200" lvl="0" marL="469900"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Déréalisation</a:t>
            </a:r>
            <a:endParaRPr sz="2750">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Conduites d’évitement</a:t>
            </a:r>
            <a:endParaRPr sz="2750">
              <a:solidFill>
                <a:srgbClr val="FF0000"/>
              </a:solidFill>
              <a:latin typeface="Garamond"/>
              <a:ea typeface="Garamond"/>
              <a:cs typeface="Garamond"/>
              <a:sym typeface="Garamond"/>
            </a:endParaRPr>
          </a:p>
          <a:p>
            <a:pPr indent="-455930" lvl="0" marL="46863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Syndrome de répétition</a:t>
            </a:r>
            <a:endParaRPr sz="2750">
              <a:latin typeface="Garamond"/>
              <a:ea typeface="Garamond"/>
              <a:cs typeface="Garamond"/>
              <a:sym typeface="Garamond"/>
            </a:endParaRPr>
          </a:p>
          <a:p>
            <a:pPr indent="-455930" lvl="0" marL="468630"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Anxiété anticipatoire</a:t>
            </a:r>
            <a:endParaRPr sz="2750">
              <a:solidFill>
                <a:srgbClr val="FF0000"/>
              </a:solidFill>
              <a:latin typeface="Garamond"/>
              <a:ea typeface="Garamond"/>
              <a:cs typeface="Garamond"/>
              <a:sym typeface="Garamond"/>
            </a:endParaRPr>
          </a:p>
        </p:txBody>
      </p:sp>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5" name="Shape 1905"/>
        <p:cNvGrpSpPr/>
        <p:nvPr/>
      </p:nvGrpSpPr>
      <p:grpSpPr>
        <a:xfrm>
          <a:off x="0" y="0"/>
          <a:ext cx="0" cy="0"/>
          <a:chOff x="0" y="0"/>
          <a:chExt cx="0" cy="0"/>
        </a:xfrm>
      </p:grpSpPr>
      <p:sp>
        <p:nvSpPr>
          <p:cNvPr id="1906" name="Google Shape;1906;p236"/>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07" name="Google Shape;1907;p236"/>
          <p:cNvSpPr txBox="1"/>
          <p:nvPr>
            <p:ph type="title"/>
          </p:nvPr>
        </p:nvSpPr>
        <p:spPr>
          <a:xfrm>
            <a:off x="802005" y="636905"/>
            <a:ext cx="10587989" cy="1671955"/>
          </a:xfrm>
          <a:prstGeom prst="rect">
            <a:avLst/>
          </a:prstGeom>
          <a:noFill/>
          <a:ln>
            <a:noFill/>
          </a:ln>
        </p:spPr>
        <p:txBody>
          <a:bodyPr anchorCtr="0" anchor="t" bIns="0" lIns="0" spcFirstLastPara="1" rIns="0" wrap="square" tIns="616200">
            <a:spAutoFit/>
          </a:bodyPr>
          <a:lstStyle/>
          <a:p>
            <a:pPr indent="0" lvl="0" marL="585470" rtl="0" algn="l">
              <a:lnSpc>
                <a:spcPct val="100000"/>
              </a:lnSpc>
              <a:spcBef>
                <a:spcPts val="0"/>
              </a:spcBef>
              <a:spcAft>
                <a:spcPts val="0"/>
              </a:spcAft>
              <a:buNone/>
            </a:pPr>
            <a:r>
              <a:rPr lang="fr-FR" sz="4400"/>
              <a:t>6- Quel est votre diagnostic ?</a:t>
            </a:r>
            <a:endParaRPr sz="4400"/>
          </a:p>
        </p:txBody>
      </p:sp>
      <p:sp>
        <p:nvSpPr>
          <p:cNvPr id="1908" name="Google Shape;1908;p23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909" name="Google Shape;1909;p236"/>
          <p:cNvSpPr txBox="1"/>
          <p:nvPr/>
        </p:nvSpPr>
        <p:spPr>
          <a:xfrm>
            <a:off x="1375028" y="2469102"/>
            <a:ext cx="5719445" cy="2568652"/>
          </a:xfrm>
          <a:prstGeom prst="rect">
            <a:avLst/>
          </a:prstGeom>
          <a:noFill/>
          <a:ln>
            <a:noFill/>
          </a:ln>
        </p:spPr>
        <p:txBody>
          <a:bodyPr anchorCtr="0" anchor="t" bIns="0" lIns="0" spcFirstLastPara="1" rIns="0" wrap="square" tIns="54600">
            <a:spAutoFit/>
          </a:bodyPr>
          <a:lstStyle/>
          <a:p>
            <a:pPr indent="-456565" lvl="0" marL="469265"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Trouble anxieux généralisé</a:t>
            </a:r>
            <a:endParaRPr sz="2750">
              <a:latin typeface="Garamond"/>
              <a:ea typeface="Garamond"/>
              <a:cs typeface="Garamond"/>
              <a:sym typeface="Garamond"/>
            </a:endParaRPr>
          </a:p>
          <a:p>
            <a:pPr indent="-457200" lvl="0" marL="469900" rtl="0" algn="l">
              <a:lnSpc>
                <a:spcPct val="100000"/>
              </a:lnSpc>
              <a:spcBef>
                <a:spcPts val="8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Trouble panique avec agoraphobie</a:t>
            </a:r>
            <a:endParaRPr sz="2750">
              <a:solidFill>
                <a:srgbClr val="FF0000"/>
              </a:solidFill>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Etat de stress aigu</a:t>
            </a:r>
            <a:endParaRPr sz="2750">
              <a:latin typeface="Garamond"/>
              <a:ea typeface="Garamond"/>
              <a:cs typeface="Garamond"/>
              <a:sym typeface="Garamond"/>
            </a:endParaRPr>
          </a:p>
          <a:p>
            <a:pPr indent="-455930" lvl="0" marL="46863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Trouble panique sans agoraphobie</a:t>
            </a:r>
            <a:endParaRPr sz="2750">
              <a:latin typeface="Garamond"/>
              <a:ea typeface="Garamond"/>
              <a:cs typeface="Garamond"/>
              <a:sym typeface="Garamond"/>
            </a:endParaRPr>
          </a:p>
          <a:p>
            <a:pPr indent="-455930" lvl="0" marL="468630" rtl="0" algn="l">
              <a:lnSpc>
                <a:spcPct val="100000"/>
              </a:lnSpc>
              <a:spcBef>
                <a:spcPts val="7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Episode dépressif	majeur</a:t>
            </a:r>
            <a:endParaRPr sz="2750">
              <a:latin typeface="Garamond"/>
              <a:ea typeface="Garamond"/>
              <a:cs typeface="Garamond"/>
              <a:sym typeface="Garamond"/>
            </a:endParaRPr>
          </a:p>
        </p:txBody>
      </p:sp>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3" name="Shape 1913"/>
        <p:cNvGrpSpPr/>
        <p:nvPr/>
      </p:nvGrpSpPr>
      <p:grpSpPr>
        <a:xfrm>
          <a:off x="0" y="0"/>
          <a:ext cx="0" cy="0"/>
          <a:chOff x="0" y="0"/>
          <a:chExt cx="0" cy="0"/>
        </a:xfrm>
      </p:grpSpPr>
      <p:sp>
        <p:nvSpPr>
          <p:cNvPr id="1914" name="Google Shape;1914;p237"/>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15" name="Google Shape;1915;p237"/>
          <p:cNvSpPr txBox="1"/>
          <p:nvPr>
            <p:ph type="title"/>
          </p:nvPr>
        </p:nvSpPr>
        <p:spPr>
          <a:xfrm>
            <a:off x="1375028" y="895730"/>
            <a:ext cx="9162415"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t>7- </a:t>
            </a:r>
            <a:r>
              <a:rPr lang="fr-FR" sz="3950">
                <a:solidFill>
                  <a:srgbClr val="000000"/>
                </a:solidFill>
              </a:rPr>
              <a:t>Une chimiothérapie est-elle indiquée au long court ?</a:t>
            </a:r>
            <a:endParaRPr sz="3950"/>
          </a:p>
        </p:txBody>
      </p:sp>
      <p:sp>
        <p:nvSpPr>
          <p:cNvPr id="1916" name="Google Shape;1916;p23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917" name="Google Shape;1917;p237"/>
          <p:cNvSpPr txBox="1"/>
          <p:nvPr/>
        </p:nvSpPr>
        <p:spPr>
          <a:xfrm>
            <a:off x="1363980" y="2538952"/>
            <a:ext cx="8259445" cy="2348079"/>
          </a:xfrm>
          <a:prstGeom prst="rect">
            <a:avLst/>
          </a:prstGeom>
          <a:noFill/>
          <a:ln>
            <a:noFill/>
          </a:ln>
        </p:spPr>
        <p:txBody>
          <a:bodyPr anchorCtr="0" anchor="t" bIns="0" lIns="0" spcFirstLastPara="1" rIns="0" wrap="square" tIns="13950">
            <a:spAutoFit/>
          </a:bodyPr>
          <a:lstStyle/>
          <a:p>
            <a:pPr indent="-457200" lvl="0" marL="469900"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Oui, un ISRS</a:t>
            </a:r>
            <a:endParaRPr sz="2750">
              <a:solidFill>
                <a:srgbClr val="FF0000"/>
              </a:solidFill>
              <a:latin typeface="Garamond"/>
              <a:ea typeface="Garamond"/>
              <a:cs typeface="Garamond"/>
              <a:sym typeface="Garamond"/>
            </a:endParaRPr>
          </a:p>
          <a:p>
            <a:pPr indent="-456565" lvl="0" marL="469265" rtl="0" algn="l">
              <a:lnSpc>
                <a:spcPct val="100000"/>
              </a:lnSpc>
              <a:spcBef>
                <a:spcPts val="4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Oui, un thymorégulateur</a:t>
            </a:r>
            <a:endParaRPr sz="2750">
              <a:latin typeface="Garamond"/>
              <a:ea typeface="Garamond"/>
              <a:cs typeface="Garamond"/>
              <a:sym typeface="Garamond"/>
            </a:endParaRPr>
          </a:p>
          <a:p>
            <a:pPr indent="-456565" lvl="0" marL="469265" rtl="0" algn="l">
              <a:lnSpc>
                <a:spcPct val="100000"/>
              </a:lnSpc>
              <a:spcBef>
                <a:spcPts val="4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Oui, une benzodiazépine</a:t>
            </a:r>
            <a:endParaRPr sz="2750">
              <a:latin typeface="Garamond"/>
              <a:ea typeface="Garamond"/>
              <a:cs typeface="Garamond"/>
              <a:sym typeface="Garamond"/>
            </a:endParaRPr>
          </a:p>
          <a:p>
            <a:pPr indent="-455930" lvl="0" marL="468630" rtl="0" algn="l">
              <a:lnSpc>
                <a:spcPct val="100000"/>
              </a:lnSpc>
              <a:spcBef>
                <a:spcPts val="4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Non, il n’y a pas d’efficacité démontrée</a:t>
            </a:r>
            <a:endParaRPr sz="2750">
              <a:latin typeface="Garamond"/>
              <a:ea typeface="Garamond"/>
              <a:cs typeface="Garamond"/>
              <a:sym typeface="Garamond"/>
            </a:endParaRPr>
          </a:p>
          <a:p>
            <a:pPr indent="-456565" lvl="0" marL="469265" rtl="0" algn="l">
              <a:lnSpc>
                <a:spcPct val="100000"/>
              </a:lnSpc>
              <a:spcBef>
                <a:spcPts val="52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Non, il y a un risque d’aggraver la symptomatologie</a:t>
            </a:r>
            <a:endParaRPr sz="2750">
              <a:latin typeface="Garamond"/>
              <a:ea typeface="Garamond"/>
              <a:cs typeface="Garamond"/>
              <a:sym typeface="Garamond"/>
            </a:endParaRPr>
          </a:p>
        </p:txBody>
      </p:sp>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1" name="Shape 1921"/>
        <p:cNvGrpSpPr/>
        <p:nvPr/>
      </p:nvGrpSpPr>
      <p:grpSpPr>
        <a:xfrm>
          <a:off x="0" y="0"/>
          <a:ext cx="0" cy="0"/>
          <a:chOff x="0" y="0"/>
          <a:chExt cx="0" cy="0"/>
        </a:xfrm>
      </p:grpSpPr>
      <p:sp>
        <p:nvSpPr>
          <p:cNvPr id="1922" name="Google Shape;1922;p238"/>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23" name="Google Shape;1923;p238"/>
          <p:cNvSpPr txBox="1"/>
          <p:nvPr>
            <p:ph type="title"/>
          </p:nvPr>
        </p:nvSpPr>
        <p:spPr>
          <a:xfrm>
            <a:off x="802005" y="636905"/>
            <a:ext cx="10587989" cy="1671955"/>
          </a:xfrm>
          <a:prstGeom prst="rect">
            <a:avLst/>
          </a:prstGeom>
          <a:noFill/>
          <a:ln>
            <a:noFill/>
          </a:ln>
        </p:spPr>
        <p:txBody>
          <a:bodyPr anchorCtr="0" anchor="t" bIns="0" lIns="0" spcFirstLastPara="1" rIns="0" wrap="square" tIns="165725">
            <a:spAutoFit/>
          </a:bodyPr>
          <a:lstStyle/>
          <a:p>
            <a:pPr indent="0" lvl="0" marL="248284" marR="5080" rtl="0" algn="l">
              <a:lnSpc>
                <a:spcPct val="100699"/>
              </a:lnSpc>
              <a:spcBef>
                <a:spcPts val="0"/>
              </a:spcBef>
              <a:spcAft>
                <a:spcPts val="0"/>
              </a:spcAft>
              <a:buNone/>
            </a:pPr>
            <a:r>
              <a:rPr lang="fr-FR" sz="3200"/>
              <a:t>8</a:t>
            </a:r>
            <a:r>
              <a:rPr lang="fr-FR" sz="3200">
                <a:solidFill>
                  <a:srgbClr val="000000"/>
                </a:solidFill>
              </a:rPr>
              <a:t>- En plus du traitement médicamenteux quelles techniques psychothérapeutiques pourraient être les plus bénéfiques à cette patiente?</a:t>
            </a:r>
            <a:endParaRPr sz="3200"/>
          </a:p>
        </p:txBody>
      </p:sp>
      <p:sp>
        <p:nvSpPr>
          <p:cNvPr id="1924" name="Google Shape;1924;p23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925" name="Google Shape;1925;p238"/>
          <p:cNvSpPr txBox="1"/>
          <p:nvPr/>
        </p:nvSpPr>
        <p:spPr>
          <a:xfrm>
            <a:off x="1375028" y="2469102"/>
            <a:ext cx="8905240" cy="2568652"/>
          </a:xfrm>
          <a:prstGeom prst="rect">
            <a:avLst/>
          </a:prstGeom>
          <a:noFill/>
          <a:ln>
            <a:noFill/>
          </a:ln>
        </p:spPr>
        <p:txBody>
          <a:bodyPr anchorCtr="0" anchor="t" bIns="0" lIns="0" spcFirstLastPara="1" rIns="0" wrap="square" tIns="54600">
            <a:spAutoFit/>
          </a:bodyPr>
          <a:lstStyle/>
          <a:p>
            <a:pPr indent="-456565" lvl="0" marL="469265" rtl="0" algn="l">
              <a:lnSpc>
                <a:spcPct val="100000"/>
              </a:lnSpc>
              <a:spcBef>
                <a:spcPts val="0"/>
              </a:spcBef>
              <a:spcAft>
                <a:spcPts val="0"/>
              </a:spcAft>
              <a:buClr>
                <a:srgbClr val="83992A"/>
              </a:buClr>
              <a:buSzPts val="3200"/>
              <a:buFont typeface="Garamond"/>
              <a:buAutoNum type="alphaUcPeriod"/>
            </a:pPr>
            <a:r>
              <a:rPr b="1" lang="fr-FR" sz="2750">
                <a:latin typeface="Garamond"/>
                <a:ea typeface="Garamond"/>
                <a:cs typeface="Garamond"/>
                <a:sym typeface="Garamond"/>
              </a:rPr>
              <a:t>Techniques d’inspiration psychanalytique</a:t>
            </a:r>
            <a:endParaRPr sz="2750">
              <a:latin typeface="Garamond"/>
              <a:ea typeface="Garamond"/>
              <a:cs typeface="Garamond"/>
              <a:sym typeface="Garamond"/>
            </a:endParaRPr>
          </a:p>
          <a:p>
            <a:pPr indent="-457200" lvl="0" marL="469900" rtl="0" algn="l">
              <a:lnSpc>
                <a:spcPct val="100000"/>
              </a:lnSpc>
              <a:spcBef>
                <a:spcPts val="819"/>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Techniques de relaxation</a:t>
            </a:r>
            <a:endParaRPr sz="2750">
              <a:solidFill>
                <a:srgbClr val="FF0000"/>
              </a:solidFill>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Psychothérapie d’orientation cognitive</a:t>
            </a:r>
            <a:endParaRPr sz="2750">
              <a:solidFill>
                <a:srgbClr val="FF0000"/>
              </a:solidFill>
              <a:latin typeface="Garamond"/>
              <a:ea typeface="Garamond"/>
              <a:cs typeface="Garamond"/>
              <a:sym typeface="Garamond"/>
            </a:endParaRPr>
          </a:p>
          <a:p>
            <a:pPr indent="-455930" lvl="0" marL="468630" rtl="0" algn="l">
              <a:lnSpc>
                <a:spcPct val="100000"/>
              </a:lnSpc>
              <a:spcBef>
                <a:spcPts val="815"/>
              </a:spcBef>
              <a:spcAft>
                <a:spcPts val="0"/>
              </a:spcAft>
              <a:buClr>
                <a:srgbClr val="83992A"/>
              </a:buClr>
              <a:buSzPts val="3200"/>
              <a:buFont typeface="Garamond"/>
              <a:buAutoNum type="alphaUcPeriod"/>
            </a:pPr>
            <a:r>
              <a:rPr b="1" lang="fr-FR" sz="2750">
                <a:latin typeface="Garamond"/>
                <a:ea typeface="Garamond"/>
                <a:cs typeface="Garamond"/>
                <a:sym typeface="Garamond"/>
              </a:rPr>
              <a:t>Psychothérapie d’orientation systémique</a:t>
            </a:r>
            <a:endParaRPr sz="2750">
              <a:latin typeface="Garamond"/>
              <a:ea typeface="Garamond"/>
              <a:cs typeface="Garamond"/>
              <a:sym typeface="Garamond"/>
            </a:endParaRPr>
          </a:p>
          <a:p>
            <a:pPr indent="-455930" lvl="0" marL="468630" rtl="0" algn="l">
              <a:lnSpc>
                <a:spcPct val="100000"/>
              </a:lnSpc>
              <a:spcBef>
                <a:spcPts val="740"/>
              </a:spcBef>
              <a:spcAft>
                <a:spcPts val="0"/>
              </a:spcAft>
              <a:buClr>
                <a:srgbClr val="83992A"/>
              </a:buClr>
              <a:buSzPts val="3200"/>
              <a:buFont typeface="Garamond"/>
              <a:buAutoNum type="alphaUcPeriod"/>
            </a:pPr>
            <a:r>
              <a:rPr b="1" lang="fr-FR" sz="2750">
                <a:latin typeface="Garamond"/>
                <a:ea typeface="Garamond"/>
                <a:cs typeface="Garamond"/>
                <a:sym typeface="Garamond"/>
              </a:rPr>
              <a:t>Technique de la stimulation magnétique transcrânienne</a:t>
            </a:r>
            <a:endParaRPr sz="2750">
              <a:latin typeface="Garamond"/>
              <a:ea typeface="Garamond"/>
              <a:cs typeface="Garamond"/>
              <a:sym typeface="Garamond"/>
            </a:endParaRPr>
          </a:p>
        </p:txBody>
      </p:sp>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9" name="Shape 1929"/>
        <p:cNvGrpSpPr/>
        <p:nvPr/>
      </p:nvGrpSpPr>
      <p:grpSpPr>
        <a:xfrm>
          <a:off x="0" y="0"/>
          <a:ext cx="0" cy="0"/>
          <a:chOff x="0" y="0"/>
          <a:chExt cx="0" cy="0"/>
        </a:xfrm>
      </p:grpSpPr>
      <p:sp>
        <p:nvSpPr>
          <p:cNvPr id="1930" name="Google Shape;1930;p239"/>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31" name="Google Shape;1931;p239"/>
          <p:cNvSpPr txBox="1"/>
          <p:nvPr>
            <p:ph type="title"/>
          </p:nvPr>
        </p:nvSpPr>
        <p:spPr>
          <a:xfrm>
            <a:off x="802005" y="636905"/>
            <a:ext cx="10587989" cy="1671955"/>
          </a:xfrm>
          <a:prstGeom prst="rect">
            <a:avLst/>
          </a:prstGeom>
          <a:noFill/>
          <a:ln>
            <a:noFill/>
          </a:ln>
        </p:spPr>
        <p:txBody>
          <a:bodyPr anchorCtr="0" anchor="t" bIns="0" lIns="0" spcFirstLastPara="1" rIns="0" wrap="square" tIns="315200">
            <a:spAutoFit/>
          </a:bodyPr>
          <a:lstStyle/>
          <a:p>
            <a:pPr indent="0" lvl="0" marL="585470" marR="5080" rtl="0" algn="l">
              <a:lnSpc>
                <a:spcPct val="101400"/>
              </a:lnSpc>
              <a:spcBef>
                <a:spcPts val="0"/>
              </a:spcBef>
              <a:spcAft>
                <a:spcPts val="0"/>
              </a:spcAft>
              <a:buNone/>
            </a:pPr>
            <a:r>
              <a:rPr lang="fr-FR" sz="3950"/>
              <a:t>9- Quelles complications sont à redouter à moyen et à long terme ?</a:t>
            </a:r>
            <a:endParaRPr sz="3950"/>
          </a:p>
        </p:txBody>
      </p:sp>
      <p:sp>
        <p:nvSpPr>
          <p:cNvPr id="1932" name="Google Shape;1932;p23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933" name="Google Shape;1933;p239"/>
          <p:cNvSpPr txBox="1"/>
          <p:nvPr/>
        </p:nvSpPr>
        <p:spPr>
          <a:xfrm>
            <a:off x="1375028" y="2425743"/>
            <a:ext cx="3536950" cy="2568652"/>
          </a:xfrm>
          <a:prstGeom prst="rect">
            <a:avLst/>
          </a:prstGeom>
          <a:noFill/>
          <a:ln>
            <a:noFill/>
          </a:ln>
        </p:spPr>
        <p:txBody>
          <a:bodyPr anchorCtr="0" anchor="t" bIns="0" lIns="0" spcFirstLastPara="1" rIns="0" wrap="square" tIns="54600">
            <a:spAutoFit/>
          </a:bodyPr>
          <a:lstStyle/>
          <a:p>
            <a:pPr indent="-456565" lvl="0" marL="469265"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Trouble dépressif</a:t>
            </a:r>
            <a:endParaRPr sz="2750">
              <a:solidFill>
                <a:srgbClr val="FF0000"/>
              </a:solidFill>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Abus de substance</a:t>
            </a:r>
            <a:endParaRPr sz="2750">
              <a:solidFill>
                <a:srgbClr val="FF0000"/>
              </a:solidFill>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schizophrénie</a:t>
            </a:r>
            <a:endParaRPr sz="2750">
              <a:latin typeface="Garamond"/>
              <a:ea typeface="Garamond"/>
              <a:cs typeface="Garamond"/>
              <a:sym typeface="Garamond"/>
            </a:endParaRPr>
          </a:p>
          <a:p>
            <a:pPr indent="-455930" lvl="0" marL="468630" rtl="0" algn="l">
              <a:lnSpc>
                <a:spcPct val="100000"/>
              </a:lnSpc>
              <a:spcBef>
                <a:spcPts val="82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 trouble bipolaire</a:t>
            </a:r>
            <a:endParaRPr sz="2750">
              <a:latin typeface="Garamond"/>
              <a:ea typeface="Garamond"/>
              <a:cs typeface="Garamond"/>
              <a:sym typeface="Garamond"/>
            </a:endParaRPr>
          </a:p>
          <a:p>
            <a:pPr indent="-455930" lvl="0" marL="468630" rtl="0" algn="l">
              <a:lnSpc>
                <a:spcPct val="100000"/>
              </a:lnSpc>
              <a:spcBef>
                <a:spcPts val="74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Conduite suicidaire</a:t>
            </a:r>
            <a:endParaRPr sz="2750">
              <a:solidFill>
                <a:srgbClr val="FF0000"/>
              </a:solidFill>
              <a:latin typeface="Garamond"/>
              <a:ea typeface="Garamond"/>
              <a:cs typeface="Garamond"/>
              <a:sym typeface="Garamond"/>
            </a:endParaRPr>
          </a:p>
        </p:txBody>
      </p:sp>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7" name="Shape 1937"/>
        <p:cNvGrpSpPr/>
        <p:nvPr/>
      </p:nvGrpSpPr>
      <p:grpSpPr>
        <a:xfrm>
          <a:off x="0" y="0"/>
          <a:ext cx="0" cy="0"/>
          <a:chOff x="0" y="0"/>
          <a:chExt cx="0" cy="0"/>
        </a:xfrm>
      </p:grpSpPr>
      <p:sp>
        <p:nvSpPr>
          <p:cNvPr id="1938" name="Google Shape;1938;p240"/>
          <p:cNvSpPr txBox="1"/>
          <p:nvPr>
            <p:ph type="title"/>
          </p:nvPr>
        </p:nvSpPr>
        <p:spPr>
          <a:xfrm>
            <a:off x="3360165" y="2346325"/>
            <a:ext cx="5485130" cy="112458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fr-FR" sz="7200">
                <a:solidFill>
                  <a:srgbClr val="61731F"/>
                </a:solidFill>
              </a:rPr>
              <a:t>Cas clinique 2</a:t>
            </a:r>
            <a:endParaRPr sz="7200"/>
          </a:p>
        </p:txBody>
      </p:sp>
      <p:sp>
        <p:nvSpPr>
          <p:cNvPr id="1939" name="Google Shape;1939;p24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3" name="Shape 1943"/>
        <p:cNvGrpSpPr/>
        <p:nvPr/>
      </p:nvGrpSpPr>
      <p:grpSpPr>
        <a:xfrm>
          <a:off x="0" y="0"/>
          <a:ext cx="0" cy="0"/>
          <a:chOff x="0" y="0"/>
          <a:chExt cx="0" cy="0"/>
        </a:xfrm>
      </p:grpSpPr>
      <p:sp>
        <p:nvSpPr>
          <p:cNvPr id="1944" name="Google Shape;1944;p241"/>
          <p:cNvSpPr txBox="1"/>
          <p:nvPr/>
        </p:nvSpPr>
        <p:spPr>
          <a:xfrm>
            <a:off x="1011237" y="839409"/>
            <a:ext cx="10363835" cy="5975162"/>
          </a:xfrm>
          <a:prstGeom prst="rect">
            <a:avLst/>
          </a:prstGeom>
          <a:noFill/>
          <a:ln>
            <a:noFill/>
          </a:ln>
        </p:spPr>
        <p:txBody>
          <a:bodyPr anchorCtr="0" anchor="t" bIns="0" lIns="0" spcFirstLastPara="1" rIns="0" wrap="square" tIns="15225">
            <a:spAutoFit/>
          </a:bodyPr>
          <a:lstStyle/>
          <a:p>
            <a:pPr indent="0" lvl="0" marL="12700" marR="5080" rtl="0" algn="just">
              <a:lnSpc>
                <a:spcPct val="150300"/>
              </a:lnSpc>
              <a:spcBef>
                <a:spcPts val="0"/>
              </a:spcBef>
              <a:spcAft>
                <a:spcPts val="0"/>
              </a:spcAft>
              <a:buNone/>
            </a:pPr>
            <a:r>
              <a:rPr b="1" lang="fr-FR" sz="2400">
                <a:latin typeface="Garamond"/>
                <a:ea typeface="Garamond"/>
                <a:cs typeface="Garamond"/>
                <a:sym typeface="Garamond"/>
              </a:rPr>
              <a:t>Motif de consultation :</a:t>
            </a:r>
            <a:endParaRPr/>
          </a:p>
          <a:p>
            <a:pPr indent="0" lvl="0" marL="12700" marR="5080" rtl="0" algn="just">
              <a:spcBef>
                <a:spcPts val="120"/>
              </a:spcBef>
              <a:spcAft>
                <a:spcPts val="0"/>
              </a:spcAft>
              <a:buNone/>
            </a:pPr>
            <a:r>
              <a:rPr lang="fr-FR" sz="2400">
                <a:latin typeface="Garamond"/>
                <a:ea typeface="Garamond"/>
                <a:cs typeface="Garamond"/>
                <a:sym typeface="Garamond"/>
              </a:rPr>
              <a:t>Madame R., 32 ans, institutrice, consulte à la demande de son mari, préoccupé pour certaines de ces habitudes jugées inhabituelles</a:t>
            </a:r>
            <a:endParaRPr/>
          </a:p>
          <a:p>
            <a:pPr indent="0" lvl="0" marL="12700" marR="5080" rtl="0" algn="just">
              <a:lnSpc>
                <a:spcPct val="150300"/>
              </a:lnSpc>
              <a:spcBef>
                <a:spcPts val="120"/>
              </a:spcBef>
              <a:spcAft>
                <a:spcPts val="0"/>
              </a:spcAft>
              <a:buNone/>
            </a:pPr>
            <a:r>
              <a:rPr b="1" lang="fr-FR" sz="2400">
                <a:latin typeface="Garamond"/>
                <a:ea typeface="Garamond"/>
                <a:cs typeface="Garamond"/>
                <a:sym typeface="Garamond"/>
              </a:rPr>
              <a:t>Présentation clinique :</a:t>
            </a:r>
            <a:endParaRPr/>
          </a:p>
          <a:p>
            <a:pPr indent="0" lvl="0" marL="12700" marR="5080" rtl="0" algn="just">
              <a:spcBef>
                <a:spcPts val="120"/>
              </a:spcBef>
              <a:spcAft>
                <a:spcPts val="0"/>
              </a:spcAft>
              <a:buNone/>
            </a:pPr>
            <a:r>
              <a:rPr lang="fr-FR" sz="2400">
                <a:latin typeface="Garamond"/>
                <a:ea typeface="Garamond"/>
                <a:cs typeface="Garamond"/>
                <a:sym typeface="Garamond"/>
              </a:rPr>
              <a:t>La patiente rapporte des comportements répétitifs associés à des pensées intrusives. </a:t>
            </a:r>
            <a:endParaRPr/>
          </a:p>
          <a:p>
            <a:pPr indent="0" lvl="0" marL="12700" marR="5080" rtl="0" algn="just">
              <a:spcBef>
                <a:spcPts val="120"/>
              </a:spcBef>
              <a:spcAft>
                <a:spcPts val="0"/>
              </a:spcAft>
              <a:buNone/>
            </a:pPr>
            <a:r>
              <a:rPr lang="fr-FR" sz="2400">
                <a:latin typeface="Garamond"/>
                <a:ea typeface="Garamond"/>
                <a:cs typeface="Garamond"/>
                <a:sym typeface="Garamond"/>
              </a:rPr>
              <a:t>Elle vérifie systématiquement à trois reprises la fermeture des portes de la maison, par doute qu’elle les a oubliées ouvertes. Elle évite de toucher la poignée par peur de contamination par des virus.</a:t>
            </a:r>
            <a:endParaRPr/>
          </a:p>
          <a:p>
            <a:pPr indent="0" lvl="0" marL="12700" marR="5080" rtl="0" algn="just">
              <a:spcBef>
                <a:spcPts val="120"/>
              </a:spcBef>
              <a:spcAft>
                <a:spcPts val="0"/>
              </a:spcAft>
              <a:buNone/>
            </a:pPr>
            <a:r>
              <a:rPr lang="fr-FR" sz="2400">
                <a:latin typeface="Garamond"/>
                <a:ea typeface="Garamond"/>
                <a:cs typeface="Garamond"/>
                <a:sym typeface="Garamond"/>
              </a:rPr>
              <a:t>Par ailleurs, elle s’absente fréquemment de l’école car elle est gênée par une idée obsédante qui l’incite à étrangler un des élèves.</a:t>
            </a:r>
            <a:endParaRPr/>
          </a:p>
          <a:p>
            <a:pPr indent="0" lvl="0" marL="12700" marR="5080" rtl="0" algn="just">
              <a:spcBef>
                <a:spcPts val="120"/>
              </a:spcBef>
              <a:spcAft>
                <a:spcPts val="0"/>
              </a:spcAft>
              <a:buNone/>
            </a:pPr>
            <a:r>
              <a:rPr lang="fr-FR" sz="2400">
                <a:latin typeface="Garamond"/>
                <a:ea typeface="Garamond"/>
                <a:cs typeface="Garamond"/>
                <a:sym typeface="Garamond"/>
              </a:rPr>
              <a:t>Pour chasser cette idée elle a l’habitude de réciter des versants du Coran 7 fois tout en mettant sa main droite sur sa tête.</a:t>
            </a:r>
            <a:endParaRPr/>
          </a:p>
          <a:p>
            <a:pPr indent="0" lvl="0" marL="12700" marR="5080" rtl="0" algn="just">
              <a:lnSpc>
                <a:spcPct val="150300"/>
              </a:lnSpc>
              <a:spcBef>
                <a:spcPts val="120"/>
              </a:spcBef>
              <a:spcAft>
                <a:spcPts val="0"/>
              </a:spcAft>
              <a:buNone/>
            </a:pPr>
            <a:r>
              <a:t/>
            </a:r>
            <a:endParaRPr sz="2400">
              <a:latin typeface="Garamond"/>
              <a:ea typeface="Garamond"/>
              <a:cs typeface="Garamond"/>
              <a:sym typeface="Garamond"/>
            </a:endParaRPr>
          </a:p>
          <a:p>
            <a:pPr indent="0" lvl="0" marL="12700" marR="5080" rtl="0" algn="just">
              <a:lnSpc>
                <a:spcPct val="150300"/>
              </a:lnSpc>
              <a:spcBef>
                <a:spcPts val="120"/>
              </a:spcBef>
              <a:spcAft>
                <a:spcPts val="0"/>
              </a:spcAft>
              <a:buNone/>
            </a:pPr>
            <a:r>
              <a:t/>
            </a:r>
            <a:endParaRPr sz="2400">
              <a:latin typeface="Garamond"/>
              <a:ea typeface="Garamond"/>
              <a:cs typeface="Garamond"/>
              <a:sym typeface="Garamond"/>
            </a:endParaRPr>
          </a:p>
        </p:txBody>
      </p:sp>
      <p:sp>
        <p:nvSpPr>
          <p:cNvPr id="1945" name="Google Shape;1945;p24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9" name="Shape 1949"/>
        <p:cNvGrpSpPr/>
        <p:nvPr/>
      </p:nvGrpSpPr>
      <p:grpSpPr>
        <a:xfrm>
          <a:off x="0" y="0"/>
          <a:ext cx="0" cy="0"/>
          <a:chOff x="0" y="0"/>
          <a:chExt cx="0" cy="0"/>
        </a:xfrm>
      </p:grpSpPr>
      <p:sp>
        <p:nvSpPr>
          <p:cNvPr id="1950" name="Google Shape;1950;p242"/>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51" name="Google Shape;1951;p242"/>
          <p:cNvSpPr txBox="1"/>
          <p:nvPr>
            <p:ph type="title"/>
          </p:nvPr>
        </p:nvSpPr>
        <p:spPr>
          <a:xfrm>
            <a:off x="802005" y="636905"/>
            <a:ext cx="10587989" cy="921020"/>
          </a:xfrm>
          <a:prstGeom prst="rect">
            <a:avLst/>
          </a:prstGeom>
          <a:noFill/>
          <a:ln>
            <a:noFill/>
          </a:ln>
        </p:spPr>
        <p:txBody>
          <a:bodyPr anchorCtr="0" anchor="t" bIns="0" lIns="0" spcFirstLastPara="1" rIns="0" wrap="square" tIns="315200">
            <a:spAutoFit/>
          </a:bodyPr>
          <a:lstStyle/>
          <a:p>
            <a:pPr indent="0" lvl="0" marL="585470" marR="5080" rtl="0" algn="l">
              <a:lnSpc>
                <a:spcPct val="101400"/>
              </a:lnSpc>
              <a:spcBef>
                <a:spcPts val="0"/>
              </a:spcBef>
              <a:spcAft>
                <a:spcPts val="0"/>
              </a:spcAft>
              <a:buNone/>
            </a:pPr>
            <a:r>
              <a:rPr lang="fr-FR" sz="3950"/>
              <a:t>1- Les pensées de cette patiente :</a:t>
            </a:r>
            <a:endParaRPr sz="3950"/>
          </a:p>
        </p:txBody>
      </p:sp>
      <p:sp>
        <p:nvSpPr>
          <p:cNvPr id="1952" name="Google Shape;1952;p24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953" name="Google Shape;1953;p242"/>
          <p:cNvSpPr txBox="1"/>
          <p:nvPr/>
        </p:nvSpPr>
        <p:spPr>
          <a:xfrm>
            <a:off x="1375028" y="2425743"/>
            <a:ext cx="6778372" cy="2568652"/>
          </a:xfrm>
          <a:prstGeom prst="rect">
            <a:avLst/>
          </a:prstGeom>
          <a:noFill/>
          <a:ln>
            <a:noFill/>
          </a:ln>
        </p:spPr>
        <p:txBody>
          <a:bodyPr anchorCtr="0" anchor="t" bIns="0" lIns="0" spcFirstLastPara="1" rIns="0" wrap="square" tIns="54600">
            <a:spAutoFit/>
          </a:bodyPr>
          <a:lstStyle/>
          <a:p>
            <a:pPr indent="-456565" lvl="0" marL="469265"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Sont égodystoniques</a:t>
            </a:r>
            <a:endParaRPr sz="2750">
              <a:solidFill>
                <a:srgbClr val="FF0000"/>
              </a:solidFill>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Sont reconnus comme inappropriés</a:t>
            </a:r>
            <a:endParaRPr sz="2750">
              <a:solidFill>
                <a:srgbClr val="FF0000"/>
              </a:solidFill>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Imprègnes son fonctionnement psychique</a:t>
            </a:r>
            <a:endParaRPr sz="2750">
              <a:solidFill>
                <a:srgbClr val="FF0000"/>
              </a:solidFill>
              <a:latin typeface="Garamond"/>
              <a:ea typeface="Garamond"/>
              <a:cs typeface="Garamond"/>
              <a:sym typeface="Garamond"/>
            </a:endParaRPr>
          </a:p>
          <a:p>
            <a:pPr indent="-455930" lvl="0" marL="468630" rtl="0" algn="l">
              <a:lnSpc>
                <a:spcPct val="100000"/>
              </a:lnSpc>
              <a:spcBef>
                <a:spcPts val="820"/>
              </a:spcBef>
              <a:spcAft>
                <a:spcPts val="0"/>
              </a:spcAft>
              <a:buClr>
                <a:srgbClr val="83992A"/>
              </a:buClr>
              <a:buSzPts val="3200"/>
              <a:buFont typeface="Garamond"/>
              <a:buAutoNum type="alphaUcPeriod"/>
            </a:pPr>
            <a:r>
              <a:rPr b="1" lang="fr-FR" sz="2750">
                <a:solidFill>
                  <a:schemeClr val="dk1"/>
                </a:solidFill>
                <a:latin typeface="Garamond"/>
                <a:ea typeface="Garamond"/>
                <a:cs typeface="Garamond"/>
                <a:sym typeface="Garamond"/>
              </a:rPr>
              <a:t>Sont vécues avec indifférence </a:t>
            </a:r>
            <a:endParaRPr sz="2750">
              <a:solidFill>
                <a:schemeClr val="dk1"/>
              </a:solidFill>
              <a:latin typeface="Garamond"/>
              <a:ea typeface="Garamond"/>
              <a:cs typeface="Garamond"/>
              <a:sym typeface="Garamond"/>
            </a:endParaRPr>
          </a:p>
          <a:p>
            <a:pPr indent="-455930" lvl="0" marL="468630" rtl="0" algn="l">
              <a:lnSpc>
                <a:spcPct val="100000"/>
              </a:lnSpc>
              <a:spcBef>
                <a:spcPts val="740"/>
              </a:spcBef>
              <a:spcAft>
                <a:spcPts val="0"/>
              </a:spcAft>
              <a:buClr>
                <a:srgbClr val="83992A"/>
              </a:buClr>
              <a:buSzPts val="3200"/>
              <a:buFont typeface="Garamond"/>
              <a:buAutoNum type="alphaUcPeriod"/>
            </a:pPr>
            <a:r>
              <a:rPr b="1" lang="fr-FR" sz="2750">
                <a:solidFill>
                  <a:schemeClr val="dk1"/>
                </a:solidFill>
                <a:latin typeface="Garamond"/>
                <a:ea typeface="Garamond"/>
                <a:cs typeface="Garamond"/>
                <a:sym typeface="Garamond"/>
              </a:rPr>
              <a:t>Sont sans retentissement sur sa vie</a:t>
            </a:r>
            <a:endParaRPr sz="2750">
              <a:solidFill>
                <a:schemeClr val="dk1"/>
              </a:solidFill>
              <a:latin typeface="Garamond"/>
              <a:ea typeface="Garamond"/>
              <a:cs typeface="Garamond"/>
              <a:sym typeface="Garamond"/>
            </a:endParaRPr>
          </a:p>
        </p:txBody>
      </p:sp>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7" name="Shape 1957"/>
        <p:cNvGrpSpPr/>
        <p:nvPr/>
      </p:nvGrpSpPr>
      <p:grpSpPr>
        <a:xfrm>
          <a:off x="0" y="0"/>
          <a:ext cx="0" cy="0"/>
          <a:chOff x="0" y="0"/>
          <a:chExt cx="0" cy="0"/>
        </a:xfrm>
      </p:grpSpPr>
      <p:sp>
        <p:nvSpPr>
          <p:cNvPr id="1958" name="Google Shape;1958;p243"/>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59" name="Google Shape;1959;p243"/>
          <p:cNvSpPr txBox="1"/>
          <p:nvPr>
            <p:ph type="title"/>
          </p:nvPr>
        </p:nvSpPr>
        <p:spPr>
          <a:xfrm>
            <a:off x="802005" y="636905"/>
            <a:ext cx="10587989" cy="1534971"/>
          </a:xfrm>
          <a:prstGeom prst="rect">
            <a:avLst/>
          </a:prstGeom>
          <a:noFill/>
          <a:ln>
            <a:noFill/>
          </a:ln>
        </p:spPr>
        <p:txBody>
          <a:bodyPr anchorCtr="0" anchor="t" bIns="0" lIns="0" spcFirstLastPara="1" rIns="0" wrap="square" tIns="315200">
            <a:spAutoFit/>
          </a:bodyPr>
          <a:lstStyle/>
          <a:p>
            <a:pPr indent="0" lvl="0" marL="585470" marR="5080" rtl="0" algn="l">
              <a:lnSpc>
                <a:spcPct val="101400"/>
              </a:lnSpc>
              <a:spcBef>
                <a:spcPts val="0"/>
              </a:spcBef>
              <a:spcAft>
                <a:spcPts val="0"/>
              </a:spcAft>
              <a:buNone/>
            </a:pPr>
            <a:r>
              <a:rPr lang="fr-FR" sz="3950"/>
              <a:t>2- La crainte obsédante d’être contaminée par des virus est une :</a:t>
            </a:r>
            <a:endParaRPr sz="3950"/>
          </a:p>
        </p:txBody>
      </p:sp>
      <p:sp>
        <p:nvSpPr>
          <p:cNvPr id="1960" name="Google Shape;1960;p24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961" name="Google Shape;1961;p243"/>
          <p:cNvSpPr txBox="1"/>
          <p:nvPr/>
        </p:nvSpPr>
        <p:spPr>
          <a:xfrm>
            <a:off x="1375028" y="2425743"/>
            <a:ext cx="6778372" cy="2568652"/>
          </a:xfrm>
          <a:prstGeom prst="rect">
            <a:avLst/>
          </a:prstGeom>
          <a:noFill/>
          <a:ln>
            <a:noFill/>
          </a:ln>
        </p:spPr>
        <p:txBody>
          <a:bodyPr anchorCtr="0" anchor="t" bIns="0" lIns="0" spcFirstLastPara="1" rIns="0" wrap="square" tIns="54600">
            <a:spAutoFit/>
          </a:bodyPr>
          <a:lstStyle/>
          <a:p>
            <a:pPr indent="-456565" lvl="0" marL="469265"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Obsession phobique</a:t>
            </a:r>
            <a:endParaRPr sz="2750">
              <a:solidFill>
                <a:srgbClr val="FF0000"/>
              </a:solidFill>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chemeClr val="dk1"/>
                </a:solidFill>
                <a:latin typeface="Garamond"/>
                <a:ea typeface="Garamond"/>
                <a:cs typeface="Garamond"/>
                <a:sym typeface="Garamond"/>
              </a:rPr>
              <a:t>Nosophobie</a:t>
            </a:r>
            <a:endParaRPr sz="2750">
              <a:solidFill>
                <a:schemeClr val="dk1"/>
              </a:solidFill>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chemeClr val="dk1"/>
                </a:solidFill>
                <a:latin typeface="Garamond"/>
                <a:ea typeface="Garamond"/>
                <a:cs typeface="Garamond"/>
                <a:sym typeface="Garamond"/>
              </a:rPr>
              <a:t>Phobie spécifique</a:t>
            </a:r>
            <a:endParaRPr sz="2750">
              <a:solidFill>
                <a:schemeClr val="dk1"/>
              </a:solidFill>
              <a:latin typeface="Garamond"/>
              <a:ea typeface="Garamond"/>
              <a:cs typeface="Garamond"/>
              <a:sym typeface="Garamond"/>
            </a:endParaRPr>
          </a:p>
          <a:p>
            <a:pPr indent="-455930" lvl="0" marL="468630" rtl="0" algn="l">
              <a:lnSpc>
                <a:spcPct val="100000"/>
              </a:lnSpc>
              <a:spcBef>
                <a:spcPts val="820"/>
              </a:spcBef>
              <a:spcAft>
                <a:spcPts val="0"/>
              </a:spcAft>
              <a:buClr>
                <a:srgbClr val="83992A"/>
              </a:buClr>
              <a:buSzPts val="3200"/>
              <a:buFont typeface="Garamond"/>
              <a:buAutoNum type="alphaUcPeriod"/>
            </a:pPr>
            <a:r>
              <a:rPr b="1" lang="fr-FR" sz="2750">
                <a:solidFill>
                  <a:schemeClr val="dk1"/>
                </a:solidFill>
                <a:latin typeface="Garamond"/>
                <a:ea typeface="Garamond"/>
                <a:cs typeface="Garamond"/>
                <a:sym typeface="Garamond"/>
              </a:rPr>
              <a:t>Obsession idéative</a:t>
            </a:r>
            <a:endParaRPr sz="2750">
              <a:solidFill>
                <a:schemeClr val="dk1"/>
              </a:solidFill>
              <a:latin typeface="Garamond"/>
              <a:ea typeface="Garamond"/>
              <a:cs typeface="Garamond"/>
              <a:sym typeface="Garamond"/>
            </a:endParaRPr>
          </a:p>
          <a:p>
            <a:pPr indent="-455930" lvl="0" marL="468630" rtl="0" algn="l">
              <a:lnSpc>
                <a:spcPct val="100000"/>
              </a:lnSpc>
              <a:spcBef>
                <a:spcPts val="740"/>
              </a:spcBef>
              <a:spcAft>
                <a:spcPts val="0"/>
              </a:spcAft>
              <a:buClr>
                <a:srgbClr val="83992A"/>
              </a:buClr>
              <a:buSzPts val="3200"/>
              <a:buFont typeface="Garamond"/>
              <a:buAutoNum type="alphaUcPeriod"/>
            </a:pPr>
            <a:r>
              <a:rPr b="1" lang="fr-FR" sz="2750">
                <a:solidFill>
                  <a:schemeClr val="dk1"/>
                </a:solidFill>
                <a:latin typeface="Garamond"/>
                <a:ea typeface="Garamond"/>
                <a:cs typeface="Garamond"/>
                <a:sym typeface="Garamond"/>
              </a:rPr>
              <a:t>Une conduite d’évitement</a:t>
            </a:r>
            <a:endParaRPr sz="2750">
              <a:solidFill>
                <a:schemeClr val="dk1"/>
              </a:solidFill>
              <a:latin typeface="Garamond"/>
              <a:ea typeface="Garamond"/>
              <a:cs typeface="Garamond"/>
              <a:sym typeface="Garamond"/>
            </a:endParaRPr>
          </a:p>
        </p:txBody>
      </p:sp>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5" name="Shape 1965"/>
        <p:cNvGrpSpPr/>
        <p:nvPr/>
      </p:nvGrpSpPr>
      <p:grpSpPr>
        <a:xfrm>
          <a:off x="0" y="0"/>
          <a:ext cx="0" cy="0"/>
          <a:chOff x="0" y="0"/>
          <a:chExt cx="0" cy="0"/>
        </a:xfrm>
      </p:grpSpPr>
      <p:sp>
        <p:nvSpPr>
          <p:cNvPr id="1966" name="Google Shape;1966;p244"/>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67" name="Google Shape;1967;p244"/>
          <p:cNvSpPr txBox="1"/>
          <p:nvPr>
            <p:ph type="title"/>
          </p:nvPr>
        </p:nvSpPr>
        <p:spPr>
          <a:xfrm>
            <a:off x="802005" y="636905"/>
            <a:ext cx="10587989" cy="921020"/>
          </a:xfrm>
          <a:prstGeom prst="rect">
            <a:avLst/>
          </a:prstGeom>
          <a:noFill/>
          <a:ln>
            <a:noFill/>
          </a:ln>
        </p:spPr>
        <p:txBody>
          <a:bodyPr anchorCtr="0" anchor="t" bIns="0" lIns="0" spcFirstLastPara="1" rIns="0" wrap="square" tIns="315200">
            <a:spAutoFit/>
          </a:bodyPr>
          <a:lstStyle/>
          <a:p>
            <a:pPr indent="0" lvl="0" marL="585470" marR="5080" rtl="0" algn="l">
              <a:lnSpc>
                <a:spcPct val="101400"/>
              </a:lnSpc>
              <a:spcBef>
                <a:spcPts val="0"/>
              </a:spcBef>
              <a:spcAft>
                <a:spcPts val="0"/>
              </a:spcAft>
              <a:buNone/>
            </a:pPr>
            <a:r>
              <a:rPr lang="fr-FR" sz="3950"/>
              <a:t>3- Le fait de vérifier la fermeture des portes :</a:t>
            </a:r>
            <a:endParaRPr sz="3950"/>
          </a:p>
        </p:txBody>
      </p:sp>
      <p:sp>
        <p:nvSpPr>
          <p:cNvPr id="1968" name="Google Shape;1968;p24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969" name="Google Shape;1969;p244"/>
          <p:cNvSpPr txBox="1"/>
          <p:nvPr/>
        </p:nvSpPr>
        <p:spPr>
          <a:xfrm>
            <a:off x="1375028" y="2425743"/>
            <a:ext cx="6778372" cy="2568652"/>
          </a:xfrm>
          <a:prstGeom prst="rect">
            <a:avLst/>
          </a:prstGeom>
          <a:noFill/>
          <a:ln>
            <a:noFill/>
          </a:ln>
        </p:spPr>
        <p:txBody>
          <a:bodyPr anchorCtr="0" anchor="t" bIns="0" lIns="0" spcFirstLastPara="1" rIns="0" wrap="square" tIns="54600">
            <a:spAutoFit/>
          </a:bodyPr>
          <a:lstStyle/>
          <a:p>
            <a:pPr indent="-456565" lvl="0" marL="469265"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Correspond à des compulsions</a:t>
            </a:r>
            <a:endParaRPr sz="2750">
              <a:solidFill>
                <a:srgbClr val="FF0000"/>
              </a:solidFill>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chemeClr val="dk1"/>
                </a:solidFill>
                <a:latin typeface="Garamond"/>
                <a:ea typeface="Garamond"/>
                <a:cs typeface="Garamond"/>
                <a:sym typeface="Garamond"/>
              </a:rPr>
              <a:t>Correspond à un évitement </a:t>
            </a:r>
            <a:endParaRPr sz="2750">
              <a:solidFill>
                <a:schemeClr val="dk1"/>
              </a:solidFill>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Renvoie à des obsessions idéatives </a:t>
            </a:r>
            <a:endParaRPr sz="2750">
              <a:solidFill>
                <a:srgbClr val="FF0000"/>
              </a:solidFill>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chemeClr val="dk1"/>
                </a:solidFill>
                <a:latin typeface="Garamond"/>
                <a:ea typeface="Garamond"/>
                <a:cs typeface="Garamond"/>
                <a:sym typeface="Garamond"/>
              </a:rPr>
              <a:t>Renvoie à des obsessions phobiques </a:t>
            </a:r>
            <a:endParaRPr sz="2750">
              <a:solidFill>
                <a:schemeClr val="dk1"/>
              </a:solidFill>
              <a:latin typeface="Garamond"/>
              <a:ea typeface="Garamond"/>
              <a:cs typeface="Garamond"/>
              <a:sym typeface="Garamond"/>
            </a:endParaRPr>
          </a:p>
          <a:p>
            <a:pPr indent="-455930" lvl="0" marL="468630" rtl="0" algn="l">
              <a:lnSpc>
                <a:spcPct val="100000"/>
              </a:lnSpc>
              <a:spcBef>
                <a:spcPts val="740"/>
              </a:spcBef>
              <a:spcAft>
                <a:spcPts val="0"/>
              </a:spcAft>
              <a:buClr>
                <a:srgbClr val="83992A"/>
              </a:buClr>
              <a:buSzPts val="3200"/>
              <a:buFont typeface="Garamond"/>
              <a:buAutoNum type="alphaUcPeriod"/>
            </a:pPr>
            <a:r>
              <a:rPr b="1" lang="fr-FR" sz="2750">
                <a:solidFill>
                  <a:schemeClr val="dk1"/>
                </a:solidFill>
                <a:latin typeface="Garamond"/>
                <a:ea typeface="Garamond"/>
                <a:cs typeface="Garamond"/>
                <a:sym typeface="Garamond"/>
              </a:rPr>
              <a:t>Correspond à un automatisme mental</a:t>
            </a:r>
            <a:endParaRPr sz="2750">
              <a:solidFill>
                <a:schemeClr val="dk1"/>
              </a:solidFill>
              <a:latin typeface="Garamond"/>
              <a:ea typeface="Garamond"/>
              <a:cs typeface="Garamond"/>
              <a:sym typeface="Garamond"/>
            </a:endParaRPr>
          </a:p>
        </p:txBody>
      </p:sp>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3" name="Shape 1973"/>
        <p:cNvGrpSpPr/>
        <p:nvPr/>
      </p:nvGrpSpPr>
      <p:grpSpPr>
        <a:xfrm>
          <a:off x="0" y="0"/>
          <a:ext cx="0" cy="0"/>
          <a:chOff x="0" y="0"/>
          <a:chExt cx="0" cy="0"/>
        </a:xfrm>
      </p:grpSpPr>
      <p:sp>
        <p:nvSpPr>
          <p:cNvPr id="1974" name="Google Shape;1974;p245"/>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75" name="Google Shape;1975;p245"/>
          <p:cNvSpPr txBox="1"/>
          <p:nvPr>
            <p:ph type="title"/>
          </p:nvPr>
        </p:nvSpPr>
        <p:spPr>
          <a:xfrm>
            <a:off x="802005" y="636905"/>
            <a:ext cx="10587989" cy="1534971"/>
          </a:xfrm>
          <a:prstGeom prst="rect">
            <a:avLst/>
          </a:prstGeom>
          <a:noFill/>
          <a:ln>
            <a:noFill/>
          </a:ln>
        </p:spPr>
        <p:txBody>
          <a:bodyPr anchorCtr="0" anchor="t" bIns="0" lIns="0" spcFirstLastPara="1" rIns="0" wrap="square" tIns="315200">
            <a:spAutoFit/>
          </a:bodyPr>
          <a:lstStyle/>
          <a:p>
            <a:pPr indent="0" lvl="0" marL="585470" marR="5080" rtl="0" algn="l">
              <a:lnSpc>
                <a:spcPct val="101400"/>
              </a:lnSpc>
              <a:spcBef>
                <a:spcPts val="0"/>
              </a:spcBef>
              <a:spcAft>
                <a:spcPts val="0"/>
              </a:spcAft>
              <a:buNone/>
            </a:pPr>
            <a:r>
              <a:rPr lang="fr-FR" sz="3950"/>
              <a:t>4- L’idée obsédante qui l’incite à étrangler</a:t>
            </a:r>
            <a:br>
              <a:rPr lang="fr-FR" sz="3950"/>
            </a:br>
            <a:r>
              <a:rPr lang="fr-FR" sz="3950"/>
              <a:t>un des élèves est une :</a:t>
            </a:r>
            <a:endParaRPr sz="3950"/>
          </a:p>
        </p:txBody>
      </p:sp>
      <p:sp>
        <p:nvSpPr>
          <p:cNvPr id="1976" name="Google Shape;1976;p24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977" name="Google Shape;1977;p245"/>
          <p:cNvSpPr txBox="1"/>
          <p:nvPr/>
        </p:nvSpPr>
        <p:spPr>
          <a:xfrm>
            <a:off x="1375028" y="2425743"/>
            <a:ext cx="6778372" cy="2568652"/>
          </a:xfrm>
          <a:prstGeom prst="rect">
            <a:avLst/>
          </a:prstGeom>
          <a:noFill/>
          <a:ln>
            <a:noFill/>
          </a:ln>
        </p:spPr>
        <p:txBody>
          <a:bodyPr anchorCtr="0" anchor="t" bIns="0" lIns="0" spcFirstLastPara="1" rIns="0" wrap="square" tIns="54600">
            <a:spAutoFit/>
          </a:bodyPr>
          <a:lstStyle/>
          <a:p>
            <a:pPr indent="-456565" lvl="0" marL="469265"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Obsession impulsive </a:t>
            </a:r>
            <a:endParaRPr sz="2750">
              <a:solidFill>
                <a:srgbClr val="FF0000"/>
              </a:solidFill>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chemeClr val="dk1"/>
                </a:solidFill>
                <a:latin typeface="Garamond"/>
                <a:ea typeface="Garamond"/>
                <a:cs typeface="Garamond"/>
                <a:sym typeface="Garamond"/>
              </a:rPr>
              <a:t>Obsession idéative</a:t>
            </a:r>
            <a:endParaRPr sz="2750">
              <a:solidFill>
                <a:schemeClr val="dk1"/>
              </a:solidFill>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Phobie d’impulsion</a:t>
            </a:r>
            <a:endParaRPr sz="2750">
              <a:solidFill>
                <a:srgbClr val="FF0000"/>
              </a:solidFill>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chemeClr val="dk1"/>
                </a:solidFill>
                <a:latin typeface="Garamond"/>
                <a:ea typeface="Garamond"/>
                <a:cs typeface="Garamond"/>
                <a:sym typeface="Garamond"/>
              </a:rPr>
              <a:t>Obsession anxieuse</a:t>
            </a:r>
            <a:endParaRPr sz="2750">
              <a:solidFill>
                <a:schemeClr val="dk1"/>
              </a:solidFill>
              <a:latin typeface="Garamond"/>
              <a:ea typeface="Garamond"/>
              <a:cs typeface="Garamond"/>
              <a:sym typeface="Garamond"/>
            </a:endParaRPr>
          </a:p>
          <a:p>
            <a:pPr indent="-455930" lvl="0" marL="468630" rtl="0" algn="l">
              <a:lnSpc>
                <a:spcPct val="100000"/>
              </a:lnSpc>
              <a:spcBef>
                <a:spcPts val="740"/>
              </a:spcBef>
              <a:spcAft>
                <a:spcPts val="0"/>
              </a:spcAft>
              <a:buClr>
                <a:srgbClr val="83992A"/>
              </a:buClr>
              <a:buSzPts val="3200"/>
              <a:buFont typeface="Garamond"/>
              <a:buAutoNum type="alphaUcPeriod"/>
            </a:pPr>
            <a:r>
              <a:rPr b="1" lang="fr-FR" sz="2750">
                <a:solidFill>
                  <a:schemeClr val="dk1"/>
                </a:solidFill>
                <a:latin typeface="Garamond"/>
                <a:ea typeface="Garamond"/>
                <a:cs typeface="Garamond"/>
                <a:sym typeface="Garamond"/>
              </a:rPr>
              <a:t>Obsession phobique</a:t>
            </a:r>
            <a:endParaRPr sz="2750">
              <a:solidFill>
                <a:schemeClr val="dk1"/>
              </a:solidFill>
              <a:latin typeface="Garamond"/>
              <a:ea typeface="Garamond"/>
              <a:cs typeface="Garamond"/>
              <a:sym typeface="Garamond"/>
            </a:endParaRPr>
          </a:p>
        </p:txBody>
      </p:sp>
    </p:spTree>
  </p:cSld>
  <p:clrMapOvr>
    <a:masterClrMapping/>
  </p:clrMapOvr>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1" name="Shape 1981"/>
        <p:cNvGrpSpPr/>
        <p:nvPr/>
      </p:nvGrpSpPr>
      <p:grpSpPr>
        <a:xfrm>
          <a:off x="0" y="0"/>
          <a:ext cx="0" cy="0"/>
          <a:chOff x="0" y="0"/>
          <a:chExt cx="0" cy="0"/>
        </a:xfrm>
      </p:grpSpPr>
      <p:sp>
        <p:nvSpPr>
          <p:cNvPr id="1982" name="Google Shape;1982;p246"/>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83" name="Google Shape;1983;p246"/>
          <p:cNvSpPr txBox="1"/>
          <p:nvPr>
            <p:ph type="title"/>
          </p:nvPr>
        </p:nvSpPr>
        <p:spPr>
          <a:xfrm>
            <a:off x="802005" y="636905"/>
            <a:ext cx="10587989" cy="1534971"/>
          </a:xfrm>
          <a:prstGeom prst="rect">
            <a:avLst/>
          </a:prstGeom>
          <a:noFill/>
          <a:ln>
            <a:noFill/>
          </a:ln>
        </p:spPr>
        <p:txBody>
          <a:bodyPr anchorCtr="0" anchor="t" bIns="0" lIns="0" spcFirstLastPara="1" rIns="0" wrap="square" tIns="315200">
            <a:spAutoFit/>
          </a:bodyPr>
          <a:lstStyle/>
          <a:p>
            <a:pPr indent="0" lvl="0" marL="585470" marR="5080" rtl="0" algn="l">
              <a:lnSpc>
                <a:spcPct val="101400"/>
              </a:lnSpc>
              <a:spcBef>
                <a:spcPts val="0"/>
              </a:spcBef>
              <a:spcAft>
                <a:spcPts val="0"/>
              </a:spcAft>
              <a:buNone/>
            </a:pPr>
            <a:r>
              <a:rPr lang="fr-FR" sz="3950"/>
              <a:t>5- Le diagnostic le plus probable chez</a:t>
            </a:r>
            <a:br>
              <a:rPr lang="fr-FR" sz="3950"/>
            </a:br>
            <a:r>
              <a:rPr lang="fr-FR" sz="3950"/>
              <a:t>cette patiente :</a:t>
            </a:r>
            <a:endParaRPr sz="3950"/>
          </a:p>
        </p:txBody>
      </p:sp>
      <p:sp>
        <p:nvSpPr>
          <p:cNvPr id="1984" name="Google Shape;1984;p24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1985" name="Google Shape;1985;p246"/>
          <p:cNvSpPr txBox="1"/>
          <p:nvPr/>
        </p:nvSpPr>
        <p:spPr>
          <a:xfrm>
            <a:off x="1375028" y="2425743"/>
            <a:ext cx="6778372" cy="2376292"/>
          </a:xfrm>
          <a:prstGeom prst="rect">
            <a:avLst/>
          </a:prstGeom>
          <a:noFill/>
          <a:ln>
            <a:noFill/>
          </a:ln>
        </p:spPr>
        <p:txBody>
          <a:bodyPr anchorCtr="0" anchor="t" bIns="0" lIns="0" spcFirstLastPara="1" rIns="0" wrap="square" tIns="54600">
            <a:spAutoFit/>
          </a:bodyPr>
          <a:lstStyle/>
          <a:p>
            <a:pPr indent="-456565" lvl="0" marL="469265" rtl="0" algn="l">
              <a:lnSpc>
                <a:spcPct val="100000"/>
              </a:lnSpc>
              <a:spcBef>
                <a:spcPts val="0"/>
              </a:spcBef>
              <a:spcAft>
                <a:spcPts val="0"/>
              </a:spcAft>
              <a:buClr>
                <a:srgbClr val="83992A"/>
              </a:buClr>
              <a:buSzPts val="3200"/>
              <a:buFont typeface="Garamond"/>
              <a:buAutoNum type="alphaUcPeriod"/>
            </a:pPr>
            <a:r>
              <a:rPr b="1" lang="fr-FR" sz="2750">
                <a:solidFill>
                  <a:schemeClr val="dk1"/>
                </a:solidFill>
                <a:latin typeface="Garamond"/>
                <a:ea typeface="Garamond"/>
                <a:cs typeface="Garamond"/>
                <a:sym typeface="Garamond"/>
              </a:rPr>
              <a:t>Une Schizophrénie</a:t>
            </a:r>
            <a:endParaRPr/>
          </a:p>
          <a:p>
            <a:pPr indent="-456565" lvl="0" marL="469265" rtl="0" algn="l">
              <a:lnSpc>
                <a:spcPct val="100000"/>
              </a:lnSpc>
              <a:spcBef>
                <a:spcPts val="430"/>
              </a:spcBef>
              <a:spcAft>
                <a:spcPts val="0"/>
              </a:spcAft>
              <a:buClr>
                <a:srgbClr val="83992A"/>
              </a:buClr>
              <a:buSzPts val="3200"/>
              <a:buFont typeface="Garamond"/>
              <a:buAutoNum type="alphaUcPeriod"/>
            </a:pPr>
            <a:r>
              <a:rPr b="1" lang="fr-FR" sz="2750">
                <a:solidFill>
                  <a:schemeClr val="dk1"/>
                </a:solidFill>
                <a:latin typeface="Garamond"/>
                <a:ea typeface="Garamond"/>
                <a:cs typeface="Garamond"/>
                <a:sym typeface="Garamond"/>
              </a:rPr>
              <a:t>Un trouble anxiété généralisée</a:t>
            </a:r>
            <a:endParaRPr/>
          </a:p>
          <a:p>
            <a:pPr indent="-456565" lvl="0" marL="469265" rtl="0" algn="l">
              <a:lnSpc>
                <a:spcPct val="100000"/>
              </a:lnSpc>
              <a:spcBef>
                <a:spcPts val="43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 trouble obsessionnel compulsif</a:t>
            </a:r>
            <a:endParaRPr/>
          </a:p>
          <a:p>
            <a:pPr indent="-456565" lvl="0" marL="469265" rtl="0" algn="l">
              <a:lnSpc>
                <a:spcPct val="100000"/>
              </a:lnSpc>
              <a:spcBef>
                <a:spcPts val="430"/>
              </a:spcBef>
              <a:spcAft>
                <a:spcPts val="0"/>
              </a:spcAft>
              <a:buClr>
                <a:srgbClr val="83992A"/>
              </a:buClr>
              <a:buSzPts val="3200"/>
              <a:buFont typeface="Garamond"/>
              <a:buAutoNum type="alphaUcPeriod"/>
            </a:pPr>
            <a:r>
              <a:rPr b="1" lang="fr-FR" sz="2750">
                <a:solidFill>
                  <a:schemeClr val="dk1"/>
                </a:solidFill>
                <a:latin typeface="Garamond"/>
                <a:ea typeface="Garamond"/>
                <a:cs typeface="Garamond"/>
                <a:sym typeface="Garamond"/>
              </a:rPr>
              <a:t>Un trouble délirant</a:t>
            </a:r>
            <a:endParaRPr/>
          </a:p>
          <a:p>
            <a:pPr indent="-456565" lvl="0" marL="469265" rtl="0" algn="l">
              <a:lnSpc>
                <a:spcPct val="100000"/>
              </a:lnSpc>
              <a:spcBef>
                <a:spcPts val="430"/>
              </a:spcBef>
              <a:spcAft>
                <a:spcPts val="0"/>
              </a:spcAft>
              <a:buClr>
                <a:srgbClr val="83992A"/>
              </a:buClr>
              <a:buSzPts val="3200"/>
              <a:buFont typeface="Garamond"/>
              <a:buAutoNum type="alphaUcPeriod"/>
            </a:pPr>
            <a:r>
              <a:rPr b="1" lang="fr-FR" sz="2750">
                <a:solidFill>
                  <a:schemeClr val="dk1"/>
                </a:solidFill>
                <a:latin typeface="Garamond"/>
                <a:ea typeface="Garamond"/>
                <a:cs typeface="Garamond"/>
                <a:sym typeface="Garamond"/>
              </a:rPr>
              <a:t>Un état de stress post traumatique</a:t>
            </a:r>
            <a:endParaRPr sz="2750">
              <a:solidFill>
                <a:schemeClr val="dk1"/>
              </a:solidFill>
              <a:latin typeface="Garamond"/>
              <a:ea typeface="Garamond"/>
              <a:cs typeface="Garamond"/>
              <a:sym typeface="Garamond"/>
            </a:endParaRPr>
          </a:p>
        </p:txBody>
      </p:sp>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9" name="Shape 1989"/>
        <p:cNvGrpSpPr/>
        <p:nvPr/>
      </p:nvGrpSpPr>
      <p:grpSpPr>
        <a:xfrm>
          <a:off x="0" y="0"/>
          <a:ext cx="0" cy="0"/>
          <a:chOff x="0" y="0"/>
          <a:chExt cx="0" cy="0"/>
        </a:xfrm>
      </p:grpSpPr>
      <p:sp>
        <p:nvSpPr>
          <p:cNvPr id="1990" name="Google Shape;1990;p247"/>
          <p:cNvSpPr txBox="1"/>
          <p:nvPr>
            <p:ph type="title"/>
          </p:nvPr>
        </p:nvSpPr>
        <p:spPr>
          <a:xfrm>
            <a:off x="3584321" y="2447861"/>
            <a:ext cx="5028565" cy="103251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fr-FR" sz="6600">
                <a:solidFill>
                  <a:srgbClr val="61731F"/>
                </a:solidFill>
              </a:rPr>
              <a:t>Cas clinique 3</a:t>
            </a:r>
            <a:endParaRPr sz="6600"/>
          </a:p>
        </p:txBody>
      </p:sp>
      <p:sp>
        <p:nvSpPr>
          <p:cNvPr id="1991" name="Google Shape;1991;p24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5" name="Shape 1995"/>
        <p:cNvGrpSpPr/>
        <p:nvPr/>
      </p:nvGrpSpPr>
      <p:grpSpPr>
        <a:xfrm>
          <a:off x="0" y="0"/>
          <a:ext cx="0" cy="0"/>
          <a:chOff x="0" y="0"/>
          <a:chExt cx="0" cy="0"/>
        </a:xfrm>
      </p:grpSpPr>
      <p:sp>
        <p:nvSpPr>
          <p:cNvPr id="1996" name="Google Shape;1996;p248"/>
          <p:cNvSpPr txBox="1"/>
          <p:nvPr/>
        </p:nvSpPr>
        <p:spPr>
          <a:xfrm>
            <a:off x="731519" y="655895"/>
            <a:ext cx="10703560" cy="4727575"/>
          </a:xfrm>
          <a:prstGeom prst="rect">
            <a:avLst/>
          </a:prstGeom>
          <a:noFill/>
          <a:ln>
            <a:noFill/>
          </a:ln>
        </p:spPr>
        <p:txBody>
          <a:bodyPr anchorCtr="0" anchor="t" bIns="0" lIns="0" spcFirstLastPara="1" rIns="0" wrap="square" tIns="16500">
            <a:spAutoFit/>
          </a:bodyPr>
          <a:lstStyle/>
          <a:p>
            <a:pPr indent="-284480" lvl="0" marL="296545" marR="5080" rtl="0" algn="just">
              <a:lnSpc>
                <a:spcPct val="150000"/>
              </a:lnSpc>
              <a:spcBef>
                <a:spcPts val="0"/>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Monsieur Ahmed, âgé de 27 ans, cadre supérieur dans une société, consulte pour une 	</a:t>
            </a:r>
            <a:r>
              <a:rPr b="1" lang="fr-FR" sz="2400">
                <a:solidFill>
                  <a:srgbClr val="252525"/>
                </a:solidFill>
                <a:latin typeface="Garamond"/>
                <a:ea typeface="Garamond"/>
                <a:cs typeface="Garamond"/>
                <a:sym typeface="Garamond"/>
              </a:rPr>
              <a:t>peur  intense et   handicapante déclenchée au début de chaque réunion de 	travail</a:t>
            </a:r>
            <a:r>
              <a:rPr lang="fr-FR" sz="2400">
                <a:solidFill>
                  <a:srgbClr val="252525"/>
                </a:solidFill>
                <a:latin typeface="Garamond"/>
                <a:ea typeface="Garamond"/>
                <a:cs typeface="Garamond"/>
                <a:sym typeface="Garamond"/>
              </a:rPr>
              <a:t>.</a:t>
            </a:r>
            <a:endParaRPr sz="2400">
              <a:latin typeface="Garamond"/>
              <a:ea typeface="Garamond"/>
              <a:cs typeface="Garamond"/>
              <a:sym typeface="Garamond"/>
            </a:endParaRPr>
          </a:p>
          <a:p>
            <a:pPr indent="-284480" lvl="0" marL="296545" marR="11430" rtl="0" algn="just">
              <a:lnSpc>
                <a:spcPct val="149900"/>
              </a:lnSpc>
              <a:spcBef>
                <a:spcPts val="1240"/>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En effet, Ahmed a  </a:t>
            </a:r>
            <a:r>
              <a:rPr b="1" lang="fr-FR" sz="2400">
                <a:solidFill>
                  <a:srgbClr val="252525"/>
                </a:solidFill>
                <a:latin typeface="Garamond"/>
                <a:ea typeface="Garamond"/>
                <a:cs typeface="Garamond"/>
                <a:sym typeface="Garamond"/>
              </a:rPr>
              <a:t>peur des  regards des autres</a:t>
            </a:r>
            <a:r>
              <a:rPr lang="fr-FR" sz="2400">
                <a:solidFill>
                  <a:srgbClr val="252525"/>
                </a:solidFill>
                <a:latin typeface="Garamond"/>
                <a:ea typeface="Garamond"/>
                <a:cs typeface="Garamond"/>
                <a:sym typeface="Garamond"/>
              </a:rPr>
              <a:t>. Il craint toujours </a:t>
            </a:r>
            <a:r>
              <a:rPr b="1" lang="fr-FR" sz="2400">
                <a:solidFill>
                  <a:srgbClr val="252525"/>
                </a:solidFill>
                <a:latin typeface="Garamond"/>
                <a:ea typeface="Garamond"/>
                <a:cs typeface="Garamond"/>
                <a:sym typeface="Garamond"/>
              </a:rPr>
              <a:t>être jugé et 	critiqué  </a:t>
            </a:r>
            <a:r>
              <a:rPr lang="fr-FR" sz="2400">
                <a:solidFill>
                  <a:srgbClr val="252525"/>
                </a:solidFill>
                <a:latin typeface="Garamond"/>
                <a:ea typeface="Garamond"/>
                <a:cs typeface="Garamond"/>
                <a:sym typeface="Garamond"/>
              </a:rPr>
              <a:t>par  ses  collègues.  Dès  que  la   réunion  commence,  sa  </a:t>
            </a:r>
            <a:r>
              <a:rPr b="1" lang="fr-FR" sz="2400">
                <a:solidFill>
                  <a:srgbClr val="252525"/>
                </a:solidFill>
                <a:latin typeface="Garamond"/>
                <a:ea typeface="Garamond"/>
                <a:cs typeface="Garamond"/>
                <a:sym typeface="Garamond"/>
              </a:rPr>
              <a:t>voix  devient 	tremblante, il transpire à fond, et son cœur bat très fort.</a:t>
            </a:r>
            <a:endParaRPr sz="2400">
              <a:latin typeface="Garamond"/>
              <a:ea typeface="Garamond"/>
              <a:cs typeface="Garamond"/>
              <a:sym typeface="Garamond"/>
            </a:endParaRPr>
          </a:p>
          <a:p>
            <a:pPr indent="-285115" lvl="0" marL="297815" rtl="0" algn="l">
              <a:lnSpc>
                <a:spcPct val="100000"/>
              </a:lnSpc>
              <a:spcBef>
                <a:spcPts val="2600"/>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Ces symptômes ne font qu’aggraver ses craintes, au point qu’il </a:t>
            </a:r>
            <a:r>
              <a:rPr b="1" lang="fr-FR" sz="2400">
                <a:solidFill>
                  <a:srgbClr val="252525"/>
                </a:solidFill>
                <a:latin typeface="Garamond"/>
                <a:ea typeface="Garamond"/>
                <a:cs typeface="Garamond"/>
                <a:sym typeface="Garamond"/>
              </a:rPr>
              <a:t>évitait de plus en plus</a:t>
            </a:r>
            <a:endParaRPr sz="2400">
              <a:latin typeface="Garamond"/>
              <a:ea typeface="Garamond"/>
              <a:cs typeface="Garamond"/>
              <a:sym typeface="Garamond"/>
            </a:endParaRPr>
          </a:p>
          <a:p>
            <a:pPr indent="0" lvl="0" marL="297815" rtl="0" algn="l">
              <a:lnSpc>
                <a:spcPct val="100000"/>
              </a:lnSpc>
              <a:spcBef>
                <a:spcPts val="1475"/>
              </a:spcBef>
              <a:spcAft>
                <a:spcPts val="0"/>
              </a:spcAft>
              <a:buNone/>
            </a:pPr>
            <a:r>
              <a:rPr b="1" lang="fr-FR" sz="2400">
                <a:solidFill>
                  <a:srgbClr val="252525"/>
                </a:solidFill>
                <a:latin typeface="Garamond"/>
                <a:ea typeface="Garamond"/>
                <a:cs typeface="Garamond"/>
                <a:sym typeface="Garamond"/>
              </a:rPr>
              <a:t>d’assister aux réunions, </a:t>
            </a:r>
            <a:r>
              <a:rPr lang="fr-FR" sz="2400">
                <a:solidFill>
                  <a:srgbClr val="252525"/>
                </a:solidFill>
                <a:latin typeface="Garamond"/>
                <a:ea typeface="Garamond"/>
                <a:cs typeface="Garamond"/>
                <a:sym typeface="Garamond"/>
              </a:rPr>
              <a:t>et cherchait à chaque fois un prétexte pour s’en échapper.</a:t>
            </a:r>
            <a:endParaRPr sz="2400">
              <a:latin typeface="Garamond"/>
              <a:ea typeface="Garamond"/>
              <a:cs typeface="Garamond"/>
              <a:sym typeface="Garamond"/>
            </a:endParaRPr>
          </a:p>
        </p:txBody>
      </p:sp>
      <p:sp>
        <p:nvSpPr>
          <p:cNvPr id="1997" name="Google Shape;1997;p24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2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1" name="Shape 2001"/>
        <p:cNvGrpSpPr/>
        <p:nvPr/>
      </p:nvGrpSpPr>
      <p:grpSpPr>
        <a:xfrm>
          <a:off x="0" y="0"/>
          <a:ext cx="0" cy="0"/>
          <a:chOff x="0" y="0"/>
          <a:chExt cx="0" cy="0"/>
        </a:xfrm>
      </p:grpSpPr>
      <p:sp>
        <p:nvSpPr>
          <p:cNvPr id="2002" name="Google Shape;2002;p249"/>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003" name="Google Shape;2003;p249"/>
          <p:cNvSpPr txBox="1"/>
          <p:nvPr>
            <p:ph type="title"/>
          </p:nvPr>
        </p:nvSpPr>
        <p:spPr>
          <a:xfrm>
            <a:off x="1056639" y="1075436"/>
            <a:ext cx="10118725" cy="1128395"/>
          </a:xfrm>
          <a:prstGeom prst="rect">
            <a:avLst/>
          </a:prstGeom>
          <a:noFill/>
          <a:ln>
            <a:noFill/>
          </a:ln>
        </p:spPr>
        <p:txBody>
          <a:bodyPr anchorCtr="0" anchor="t" bIns="0" lIns="0" spcFirstLastPara="1" rIns="0" wrap="square" tIns="8875">
            <a:spAutoFit/>
          </a:bodyPr>
          <a:lstStyle/>
          <a:p>
            <a:pPr indent="0" lvl="0" marL="12700" marR="5080" rtl="0" algn="l">
              <a:lnSpc>
                <a:spcPct val="100800"/>
              </a:lnSpc>
              <a:spcBef>
                <a:spcPts val="0"/>
              </a:spcBef>
              <a:spcAft>
                <a:spcPts val="0"/>
              </a:spcAft>
              <a:buNone/>
            </a:pPr>
            <a:r>
              <a:rPr lang="fr-FR">
                <a:solidFill>
                  <a:schemeClr val="dk1"/>
                </a:solidFill>
              </a:rPr>
              <a:t>1.	Quels	sont	les	signes	cliniques	évoquant	un trouble anxiété sociale dans cette observation ?</a:t>
            </a:r>
            <a:endParaRPr/>
          </a:p>
        </p:txBody>
      </p:sp>
      <p:sp>
        <p:nvSpPr>
          <p:cNvPr id="2004" name="Google Shape;2004;p24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005" name="Google Shape;2005;p249"/>
          <p:cNvSpPr txBox="1"/>
          <p:nvPr/>
        </p:nvSpPr>
        <p:spPr>
          <a:xfrm>
            <a:off x="1056639" y="2611056"/>
            <a:ext cx="10116820" cy="3014980"/>
          </a:xfrm>
          <a:prstGeom prst="rect">
            <a:avLst/>
          </a:prstGeom>
          <a:noFill/>
          <a:ln>
            <a:noFill/>
          </a:ln>
        </p:spPr>
        <p:txBody>
          <a:bodyPr anchorCtr="0" anchor="t" bIns="0" lIns="0" spcFirstLastPara="1" rIns="0" wrap="square" tIns="15875">
            <a:spAutoFit/>
          </a:bodyPr>
          <a:lstStyle/>
          <a:p>
            <a:pPr indent="-456565" lvl="0" marL="469265" rtl="0" algn="l">
              <a:lnSpc>
                <a:spcPct val="100000"/>
              </a:lnSpc>
              <a:spcBef>
                <a:spcPts val="0"/>
              </a:spcBef>
              <a:spcAft>
                <a:spcPts val="0"/>
              </a:spcAft>
              <a:buClr>
                <a:srgbClr val="FF0000"/>
              </a:buClr>
              <a:buSzPts val="2750"/>
              <a:buFont typeface="Garamond"/>
              <a:buAutoNum type="alphaUcPeriod"/>
            </a:pPr>
            <a:r>
              <a:rPr b="1" lang="fr-FR" sz="2750">
                <a:solidFill>
                  <a:srgbClr val="FF0000"/>
                </a:solidFill>
                <a:latin typeface="Garamond"/>
                <a:ea typeface="Garamond"/>
                <a:cs typeface="Garamond"/>
                <a:sym typeface="Garamond"/>
              </a:rPr>
              <a:t>La peur intense d’une situation sociale impliquant l’observation</a:t>
            </a:r>
            <a:endParaRPr sz="2750">
              <a:solidFill>
                <a:srgbClr val="FF0000"/>
              </a:solidFill>
              <a:latin typeface="Garamond"/>
              <a:ea typeface="Garamond"/>
              <a:cs typeface="Garamond"/>
              <a:sym typeface="Garamond"/>
            </a:endParaRPr>
          </a:p>
          <a:p>
            <a:pPr indent="0" lvl="0" marL="469900" rtl="0" algn="l">
              <a:lnSpc>
                <a:spcPct val="100000"/>
              </a:lnSpc>
              <a:spcBef>
                <a:spcPts val="80"/>
              </a:spcBef>
              <a:spcAft>
                <a:spcPts val="0"/>
              </a:spcAft>
              <a:buNone/>
            </a:pPr>
            <a:r>
              <a:rPr b="1" lang="fr-FR" sz="2750">
                <a:solidFill>
                  <a:srgbClr val="FF0000"/>
                </a:solidFill>
                <a:latin typeface="Garamond"/>
                <a:ea typeface="Garamond"/>
                <a:cs typeface="Garamond"/>
                <a:sym typeface="Garamond"/>
              </a:rPr>
              <a:t>et l’interaction avec autrui</a:t>
            </a:r>
            <a:endParaRPr sz="2750">
              <a:solidFill>
                <a:srgbClr val="FF0000"/>
              </a:solidFill>
              <a:latin typeface="Garamond"/>
              <a:ea typeface="Garamond"/>
              <a:cs typeface="Garamond"/>
              <a:sym typeface="Garamond"/>
            </a:endParaRPr>
          </a:p>
          <a:p>
            <a:pPr indent="-456565" lvl="0" marL="469265" rtl="0" algn="l">
              <a:lnSpc>
                <a:spcPct val="100000"/>
              </a:lnSpc>
              <a:spcBef>
                <a:spcPts val="80"/>
              </a:spcBef>
              <a:spcAft>
                <a:spcPts val="0"/>
              </a:spcAft>
              <a:buSzPts val="2750"/>
              <a:buFont typeface="Garamond"/>
              <a:buAutoNum type="alphaUcPeriod" startAt="2"/>
            </a:pPr>
            <a:r>
              <a:rPr b="1" lang="fr-FR" sz="2750">
                <a:latin typeface="Garamond"/>
                <a:ea typeface="Garamond"/>
                <a:cs typeface="Garamond"/>
                <a:sym typeface="Garamond"/>
              </a:rPr>
              <a:t>L’anhédonie</a:t>
            </a:r>
            <a:endParaRPr sz="2750">
              <a:latin typeface="Garamond"/>
              <a:ea typeface="Garamond"/>
              <a:cs typeface="Garamond"/>
              <a:sym typeface="Garamond"/>
            </a:endParaRPr>
          </a:p>
          <a:p>
            <a:pPr indent="-456565" lvl="0" marL="469265" rtl="0" algn="l">
              <a:lnSpc>
                <a:spcPct val="100000"/>
              </a:lnSpc>
              <a:spcBef>
                <a:spcPts val="80"/>
              </a:spcBef>
              <a:spcAft>
                <a:spcPts val="0"/>
              </a:spcAft>
              <a:buClr>
                <a:srgbClr val="FF0000"/>
              </a:buClr>
              <a:buSzPts val="2750"/>
              <a:buFont typeface="Garamond"/>
              <a:buAutoNum type="alphaUcPeriod" startAt="2"/>
            </a:pPr>
            <a:r>
              <a:rPr b="1" lang="fr-FR" sz="2750">
                <a:solidFill>
                  <a:srgbClr val="FF0000"/>
                </a:solidFill>
                <a:latin typeface="Garamond"/>
                <a:ea typeface="Garamond"/>
                <a:cs typeface="Garamond"/>
                <a:sym typeface="Garamond"/>
              </a:rPr>
              <a:t>Les	symptômes	somatiques	de	l’anxiété	déclenchée	lors	de</a:t>
            </a:r>
            <a:endParaRPr sz="2750">
              <a:solidFill>
                <a:srgbClr val="FF0000"/>
              </a:solidFill>
              <a:latin typeface="Garamond"/>
              <a:ea typeface="Garamond"/>
              <a:cs typeface="Garamond"/>
              <a:sym typeface="Garamond"/>
            </a:endParaRPr>
          </a:p>
          <a:p>
            <a:pPr indent="0" lvl="0" marL="469900" rtl="0" algn="l">
              <a:lnSpc>
                <a:spcPct val="100000"/>
              </a:lnSpc>
              <a:spcBef>
                <a:spcPts val="80"/>
              </a:spcBef>
              <a:spcAft>
                <a:spcPts val="0"/>
              </a:spcAft>
              <a:buNone/>
            </a:pPr>
            <a:r>
              <a:rPr b="1" lang="fr-FR" sz="2750">
                <a:solidFill>
                  <a:srgbClr val="FF0000"/>
                </a:solidFill>
                <a:latin typeface="Garamond"/>
                <a:ea typeface="Garamond"/>
                <a:cs typeface="Garamond"/>
                <a:sym typeface="Garamond"/>
              </a:rPr>
              <a:t>l’exposition à la situation redoutable</a:t>
            </a:r>
            <a:endParaRPr sz="2750">
              <a:solidFill>
                <a:srgbClr val="FF0000"/>
              </a:solidFill>
              <a:latin typeface="Garamond"/>
              <a:ea typeface="Garamond"/>
              <a:cs typeface="Garamond"/>
              <a:sym typeface="Garamond"/>
            </a:endParaRPr>
          </a:p>
          <a:p>
            <a:pPr indent="-456565" lvl="0" marL="469265" rtl="0" algn="l">
              <a:lnSpc>
                <a:spcPct val="100000"/>
              </a:lnSpc>
              <a:spcBef>
                <a:spcPts val="5"/>
              </a:spcBef>
              <a:spcAft>
                <a:spcPts val="0"/>
              </a:spcAft>
              <a:buClr>
                <a:srgbClr val="FF0000"/>
              </a:buClr>
              <a:buSzPts val="2750"/>
              <a:buFont typeface="Garamond"/>
              <a:buAutoNum type="alphaUcPeriod" startAt="4"/>
            </a:pPr>
            <a:r>
              <a:rPr b="1" lang="fr-FR" sz="2750">
                <a:solidFill>
                  <a:srgbClr val="FF0000"/>
                </a:solidFill>
                <a:latin typeface="Garamond"/>
                <a:ea typeface="Garamond"/>
                <a:cs typeface="Garamond"/>
                <a:sym typeface="Garamond"/>
              </a:rPr>
              <a:t>L’évitement de la situation redoutable</a:t>
            </a:r>
            <a:endParaRPr sz="2750">
              <a:solidFill>
                <a:srgbClr val="FF0000"/>
              </a:solidFill>
              <a:latin typeface="Garamond"/>
              <a:ea typeface="Garamond"/>
              <a:cs typeface="Garamond"/>
              <a:sym typeface="Garamond"/>
            </a:endParaRPr>
          </a:p>
          <a:p>
            <a:pPr indent="-456565" lvl="0" marL="469265" rtl="0" algn="l">
              <a:lnSpc>
                <a:spcPct val="100000"/>
              </a:lnSpc>
              <a:spcBef>
                <a:spcPts val="80"/>
              </a:spcBef>
              <a:spcAft>
                <a:spcPts val="0"/>
              </a:spcAft>
              <a:buSzPts val="2750"/>
              <a:buFont typeface="Garamond"/>
              <a:buAutoNum type="alphaUcPeriod" startAt="4"/>
            </a:pPr>
            <a:r>
              <a:rPr b="1" lang="fr-FR" sz="2750">
                <a:latin typeface="Garamond"/>
                <a:ea typeface="Garamond"/>
                <a:cs typeface="Garamond"/>
                <a:sym typeface="Garamond"/>
              </a:rPr>
              <a:t>La tachypsychie</a:t>
            </a:r>
            <a:endParaRPr sz="2750">
              <a:latin typeface="Garamond"/>
              <a:ea typeface="Garamond"/>
              <a:cs typeface="Garamond"/>
              <a:sym typeface="Garamond"/>
            </a:endParaRPr>
          </a:p>
        </p:txBody>
      </p:sp>
    </p:spTree>
  </p:cSld>
  <p:clrMapOvr>
    <a:masterClrMapping/>
  </p:clrMapOvr>
</p:sld>
</file>

<file path=ppt/slides/slide2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9" name="Shape 2009"/>
        <p:cNvGrpSpPr/>
        <p:nvPr/>
      </p:nvGrpSpPr>
      <p:grpSpPr>
        <a:xfrm>
          <a:off x="0" y="0"/>
          <a:ext cx="0" cy="0"/>
          <a:chOff x="0" y="0"/>
          <a:chExt cx="0" cy="0"/>
        </a:xfrm>
      </p:grpSpPr>
      <p:sp>
        <p:nvSpPr>
          <p:cNvPr id="2010" name="Google Shape;2010;p250"/>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011" name="Google Shape;2011;p250"/>
          <p:cNvSpPr txBox="1"/>
          <p:nvPr>
            <p:ph type="title"/>
          </p:nvPr>
        </p:nvSpPr>
        <p:spPr>
          <a:xfrm>
            <a:off x="1095692" y="1210055"/>
            <a:ext cx="10184130" cy="1127760"/>
          </a:xfrm>
          <a:prstGeom prst="rect">
            <a:avLst/>
          </a:prstGeom>
          <a:noFill/>
          <a:ln>
            <a:noFill/>
          </a:ln>
        </p:spPr>
        <p:txBody>
          <a:bodyPr anchorCtr="0" anchor="t" bIns="0" lIns="0" spcFirstLastPara="1" rIns="0" wrap="square" tIns="8875">
            <a:spAutoFit/>
          </a:bodyPr>
          <a:lstStyle/>
          <a:p>
            <a:pPr indent="-514984" lvl="0" marL="527050" marR="5080" rtl="0" algn="l">
              <a:lnSpc>
                <a:spcPct val="100800"/>
              </a:lnSpc>
              <a:spcBef>
                <a:spcPts val="0"/>
              </a:spcBef>
              <a:spcAft>
                <a:spcPts val="0"/>
              </a:spcAft>
              <a:buNone/>
            </a:pPr>
            <a:r>
              <a:rPr lang="fr-FR">
                <a:solidFill>
                  <a:schemeClr val="dk1"/>
                </a:solidFill>
              </a:rPr>
              <a:t>2.	Quel(s) est (sont) le(s) traitement(s) de fond envisageable(s) chez ce patient en 1ère intention ?</a:t>
            </a:r>
            <a:endParaRPr/>
          </a:p>
        </p:txBody>
      </p:sp>
      <p:sp>
        <p:nvSpPr>
          <p:cNvPr id="2012" name="Google Shape;2012;p25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013" name="Google Shape;2013;p250"/>
          <p:cNvSpPr txBox="1"/>
          <p:nvPr/>
        </p:nvSpPr>
        <p:spPr>
          <a:xfrm>
            <a:off x="1095692" y="2535555"/>
            <a:ext cx="9977755" cy="2585720"/>
          </a:xfrm>
          <a:prstGeom prst="rect">
            <a:avLst/>
          </a:prstGeom>
          <a:noFill/>
          <a:ln>
            <a:noFill/>
          </a:ln>
        </p:spPr>
        <p:txBody>
          <a:bodyPr anchorCtr="0" anchor="t" bIns="0" lIns="0" spcFirstLastPara="1" rIns="0" wrap="square" tIns="6350">
            <a:spAutoFit/>
          </a:bodyPr>
          <a:lstStyle/>
          <a:p>
            <a:pPr indent="-457833" lvl="0" marL="469900" marR="5080" rtl="0" algn="l">
              <a:lnSpc>
                <a:spcPct val="102400"/>
              </a:lnSpc>
              <a:spcBef>
                <a:spcPts val="0"/>
              </a:spcBef>
              <a:spcAft>
                <a:spcPts val="0"/>
              </a:spcAft>
              <a:buClr>
                <a:srgbClr val="FF0000"/>
              </a:buClr>
              <a:buSzPts val="2750"/>
              <a:buFont typeface="Garamond"/>
              <a:buAutoNum type="alphaUcPeriod"/>
            </a:pPr>
            <a:r>
              <a:rPr b="1" lang="fr-FR" sz="2750">
                <a:solidFill>
                  <a:srgbClr val="FF0000"/>
                </a:solidFill>
                <a:latin typeface="Garamond"/>
                <a:ea typeface="Garamond"/>
                <a:cs typeface="Garamond"/>
                <a:sym typeface="Garamond"/>
              </a:rPr>
              <a:t>Un antidépresseur de type inhibiteur sélectif	de la recapture de la sérotonine</a:t>
            </a:r>
            <a:endParaRPr sz="2750">
              <a:solidFill>
                <a:srgbClr val="FF0000"/>
              </a:solidFill>
              <a:latin typeface="Garamond"/>
              <a:ea typeface="Garamond"/>
              <a:cs typeface="Garamond"/>
              <a:sym typeface="Garamond"/>
            </a:endParaRPr>
          </a:p>
          <a:p>
            <a:pPr indent="-457200" lvl="0" marL="469900" rtl="0" algn="l">
              <a:lnSpc>
                <a:spcPct val="100000"/>
              </a:lnSpc>
              <a:spcBef>
                <a:spcPts val="80"/>
              </a:spcBef>
              <a:spcAft>
                <a:spcPts val="0"/>
              </a:spcAft>
              <a:buSzPts val="2750"/>
              <a:buFont typeface="Garamond"/>
              <a:buAutoNum type="alphaUcPeriod"/>
            </a:pPr>
            <a:r>
              <a:rPr b="1" lang="fr-FR" sz="2750">
                <a:latin typeface="Garamond"/>
                <a:ea typeface="Garamond"/>
                <a:cs typeface="Garamond"/>
                <a:sym typeface="Garamond"/>
              </a:rPr>
              <a:t>Un thymorégulateur</a:t>
            </a:r>
            <a:endParaRPr sz="2750">
              <a:latin typeface="Garamond"/>
              <a:ea typeface="Garamond"/>
              <a:cs typeface="Garamond"/>
              <a:sym typeface="Garamond"/>
            </a:endParaRPr>
          </a:p>
          <a:p>
            <a:pPr indent="-457200" lvl="0" marL="469900" rtl="0" algn="l">
              <a:lnSpc>
                <a:spcPct val="100000"/>
              </a:lnSpc>
              <a:spcBef>
                <a:spcPts val="5"/>
              </a:spcBef>
              <a:spcAft>
                <a:spcPts val="0"/>
              </a:spcAft>
              <a:buSzPts val="2750"/>
              <a:buFont typeface="Garamond"/>
              <a:buAutoNum type="alphaUcPeriod"/>
            </a:pPr>
            <a:r>
              <a:rPr b="1" lang="fr-FR" sz="2750">
                <a:latin typeface="Garamond"/>
                <a:ea typeface="Garamond"/>
                <a:cs typeface="Garamond"/>
                <a:sym typeface="Garamond"/>
              </a:rPr>
              <a:t>Un antipsychotique atypique</a:t>
            </a:r>
            <a:endParaRPr sz="2750">
              <a:latin typeface="Garamond"/>
              <a:ea typeface="Garamond"/>
              <a:cs typeface="Garamond"/>
              <a:sym typeface="Garamond"/>
            </a:endParaRPr>
          </a:p>
          <a:p>
            <a:pPr indent="-457200" lvl="0" marL="469900" rtl="0" algn="l">
              <a:lnSpc>
                <a:spcPct val="100000"/>
              </a:lnSpc>
              <a:spcBef>
                <a:spcPts val="75"/>
              </a:spcBef>
              <a:spcAft>
                <a:spcPts val="0"/>
              </a:spcAft>
              <a:buSzPts val="2750"/>
              <a:buFont typeface="Garamond"/>
              <a:buAutoNum type="alphaUcPeriod"/>
            </a:pPr>
            <a:r>
              <a:rPr b="1" lang="fr-FR" sz="2750">
                <a:latin typeface="Garamond"/>
                <a:ea typeface="Garamond"/>
                <a:cs typeface="Garamond"/>
                <a:sym typeface="Garamond"/>
              </a:rPr>
              <a:t>Une benzodiazépine</a:t>
            </a:r>
            <a:endParaRPr sz="2750">
              <a:latin typeface="Garamond"/>
              <a:ea typeface="Garamond"/>
              <a:cs typeface="Garamond"/>
              <a:sym typeface="Garamond"/>
            </a:endParaRPr>
          </a:p>
          <a:p>
            <a:pPr indent="-457200" lvl="0" marL="469900" rtl="0" algn="l">
              <a:lnSpc>
                <a:spcPct val="100000"/>
              </a:lnSpc>
              <a:spcBef>
                <a:spcPts val="80"/>
              </a:spcBef>
              <a:spcAft>
                <a:spcPts val="0"/>
              </a:spcAft>
              <a:buClr>
                <a:srgbClr val="FF0000"/>
              </a:buClr>
              <a:buSzPts val="2750"/>
              <a:buFont typeface="Garamond"/>
              <a:buAutoNum type="alphaUcPeriod"/>
            </a:pPr>
            <a:r>
              <a:rPr b="1" lang="fr-FR" sz="2750">
                <a:solidFill>
                  <a:srgbClr val="FF0000"/>
                </a:solidFill>
                <a:latin typeface="Garamond"/>
                <a:ea typeface="Garamond"/>
                <a:cs typeface="Garamond"/>
                <a:sym typeface="Garamond"/>
              </a:rPr>
              <a:t>Une thérapie cognitivo-comportementale</a:t>
            </a:r>
            <a:endParaRPr sz="2750">
              <a:solidFill>
                <a:srgbClr val="FF0000"/>
              </a:solidFill>
              <a:latin typeface="Garamond"/>
              <a:ea typeface="Garamond"/>
              <a:cs typeface="Garamond"/>
              <a:sym typeface="Garamond"/>
            </a:endParaRPr>
          </a:p>
        </p:txBody>
      </p:sp>
    </p:spTree>
  </p:cSld>
  <p:clrMapOvr>
    <a:masterClrMapping/>
  </p:clrMapOvr>
</p:sld>
</file>

<file path=ppt/slides/slide2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7" name="Shape 2017"/>
        <p:cNvGrpSpPr/>
        <p:nvPr/>
      </p:nvGrpSpPr>
      <p:grpSpPr>
        <a:xfrm>
          <a:off x="0" y="0"/>
          <a:ext cx="0" cy="0"/>
          <a:chOff x="0" y="0"/>
          <a:chExt cx="0" cy="0"/>
        </a:xfrm>
      </p:grpSpPr>
      <p:sp>
        <p:nvSpPr>
          <p:cNvPr id="2018" name="Google Shape;2018;p251"/>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019" name="Google Shape;2019;p251"/>
          <p:cNvSpPr txBox="1"/>
          <p:nvPr/>
        </p:nvSpPr>
        <p:spPr>
          <a:xfrm>
            <a:off x="1196975" y="819530"/>
            <a:ext cx="9638030" cy="4472443"/>
          </a:xfrm>
          <a:prstGeom prst="rect">
            <a:avLst/>
          </a:prstGeom>
          <a:noFill/>
          <a:ln>
            <a:noFill/>
          </a:ln>
        </p:spPr>
        <p:txBody>
          <a:bodyPr anchorCtr="0" anchor="t" bIns="0" lIns="0" spcFirstLastPara="1" rIns="0" wrap="square" tIns="12700">
            <a:spAutoFit/>
          </a:bodyPr>
          <a:lstStyle/>
          <a:p>
            <a:pPr indent="-397510" lvl="0" marL="410210" marR="5080" rtl="0" algn="just">
              <a:lnSpc>
                <a:spcPct val="100699"/>
              </a:lnSpc>
              <a:spcBef>
                <a:spcPts val="0"/>
              </a:spcBef>
              <a:spcAft>
                <a:spcPts val="0"/>
              </a:spcAft>
              <a:buClr>
                <a:srgbClr val="335376"/>
              </a:buClr>
              <a:buSzPts val="3200"/>
              <a:buFont typeface="Garamond"/>
              <a:buAutoNum type="arabicPeriod" startAt="3"/>
            </a:pPr>
            <a:r>
              <a:rPr b="1" lang="fr-FR" sz="3200">
                <a:solidFill>
                  <a:schemeClr val="dk1"/>
                </a:solidFill>
                <a:latin typeface="Garamond"/>
                <a:ea typeface="Garamond"/>
                <a:cs typeface="Garamond"/>
                <a:sym typeface="Garamond"/>
              </a:rPr>
              <a:t>Quelle est la classe thérapeutique recommandée pour gérer les symptômes somatiques aigues de l’anxiété lors des expositions à la situation redoutée </a:t>
            </a:r>
            <a:r>
              <a:rPr b="1" lang="fr-FR" sz="2400">
                <a:solidFill>
                  <a:schemeClr val="dk1"/>
                </a:solidFill>
                <a:latin typeface="Garamond"/>
                <a:ea typeface="Garamond"/>
                <a:cs typeface="Garamond"/>
                <a:sym typeface="Garamond"/>
              </a:rPr>
              <a:t>?</a:t>
            </a:r>
            <a:endParaRPr sz="2400">
              <a:solidFill>
                <a:schemeClr val="dk1"/>
              </a:solidFill>
              <a:latin typeface="Garamond"/>
              <a:ea typeface="Garamond"/>
              <a:cs typeface="Garamond"/>
              <a:sym typeface="Garamond"/>
            </a:endParaRPr>
          </a:p>
          <a:p>
            <a:pPr indent="0" lvl="0" marL="0" rtl="0" algn="l">
              <a:lnSpc>
                <a:spcPct val="100000"/>
              </a:lnSpc>
              <a:spcBef>
                <a:spcPts val="225"/>
              </a:spcBef>
              <a:spcAft>
                <a:spcPts val="0"/>
              </a:spcAft>
              <a:buClr>
                <a:srgbClr val="335376"/>
              </a:buClr>
              <a:buSzPts val="3200"/>
              <a:buFont typeface="Garamond"/>
              <a:buNone/>
            </a:pPr>
            <a:r>
              <a:t/>
            </a:r>
            <a:endParaRPr sz="3200">
              <a:solidFill>
                <a:schemeClr val="dk1"/>
              </a:solidFill>
              <a:latin typeface="Garamond"/>
              <a:ea typeface="Garamond"/>
              <a:cs typeface="Garamond"/>
              <a:sym typeface="Garamond"/>
            </a:endParaRPr>
          </a:p>
          <a:p>
            <a:pPr indent="-455930" lvl="1" marL="468630" rtl="0" algn="l">
              <a:lnSpc>
                <a:spcPct val="119843"/>
              </a:lnSpc>
              <a:spcBef>
                <a:spcPts val="0"/>
              </a:spcBef>
              <a:spcAft>
                <a:spcPts val="0"/>
              </a:spcAft>
              <a:buClr>
                <a:schemeClr val="dk1"/>
              </a:buClr>
              <a:buSzPts val="3200"/>
              <a:buFont typeface="Garamond"/>
              <a:buAutoNum type="alphaUcPeriod"/>
            </a:pPr>
            <a:r>
              <a:rPr b="1" lang="fr-FR" sz="3200">
                <a:solidFill>
                  <a:schemeClr val="dk1"/>
                </a:solidFill>
                <a:latin typeface="Garamond"/>
                <a:ea typeface="Garamond"/>
                <a:cs typeface="Garamond"/>
                <a:sym typeface="Garamond"/>
              </a:rPr>
              <a:t>Un neuroleptique</a:t>
            </a:r>
            <a:endParaRPr sz="3200">
              <a:solidFill>
                <a:schemeClr val="dk1"/>
              </a:solidFill>
              <a:latin typeface="Garamond"/>
              <a:ea typeface="Garamond"/>
              <a:cs typeface="Garamond"/>
              <a:sym typeface="Garamond"/>
            </a:endParaRPr>
          </a:p>
          <a:p>
            <a:pPr indent="-456565" lvl="1" marL="469265" rtl="0" algn="l">
              <a:lnSpc>
                <a:spcPct val="119656"/>
              </a:lnSpc>
              <a:spcBef>
                <a:spcPts val="0"/>
              </a:spcBef>
              <a:spcAft>
                <a:spcPts val="0"/>
              </a:spcAft>
              <a:buClr>
                <a:schemeClr val="dk1"/>
              </a:buClr>
              <a:buSzPts val="3200"/>
              <a:buFont typeface="Garamond"/>
              <a:buAutoNum type="alphaUcPeriod"/>
            </a:pPr>
            <a:r>
              <a:rPr b="1" lang="fr-FR" sz="3200">
                <a:solidFill>
                  <a:schemeClr val="dk1"/>
                </a:solidFill>
                <a:latin typeface="Garamond"/>
                <a:ea typeface="Garamond"/>
                <a:cs typeface="Garamond"/>
                <a:sym typeface="Garamond"/>
              </a:rPr>
              <a:t>Un thymorégulateur</a:t>
            </a:r>
            <a:endParaRPr sz="3200">
              <a:solidFill>
                <a:schemeClr val="dk1"/>
              </a:solidFill>
              <a:latin typeface="Garamond"/>
              <a:ea typeface="Garamond"/>
              <a:cs typeface="Garamond"/>
              <a:sym typeface="Garamond"/>
            </a:endParaRPr>
          </a:p>
          <a:p>
            <a:pPr indent="-456565" lvl="1" marL="469265" rtl="0" algn="l">
              <a:lnSpc>
                <a:spcPct val="119843"/>
              </a:lnSpc>
              <a:spcBef>
                <a:spcPts val="0"/>
              </a:spcBef>
              <a:spcAft>
                <a:spcPts val="0"/>
              </a:spcAft>
              <a:buClr>
                <a:srgbClr val="FF0000"/>
              </a:buClr>
              <a:buSzPts val="3200"/>
              <a:buFont typeface="Garamond"/>
              <a:buAutoNum type="alphaUcPeriod"/>
            </a:pPr>
            <a:r>
              <a:rPr b="1" lang="fr-FR" sz="3200">
                <a:solidFill>
                  <a:srgbClr val="FF0000"/>
                </a:solidFill>
                <a:latin typeface="Garamond"/>
                <a:ea typeface="Garamond"/>
                <a:cs typeface="Garamond"/>
                <a:sym typeface="Garamond"/>
              </a:rPr>
              <a:t>Un bétabloquant</a:t>
            </a:r>
            <a:endParaRPr sz="3200">
              <a:solidFill>
                <a:srgbClr val="FF0000"/>
              </a:solidFill>
              <a:latin typeface="Garamond"/>
              <a:ea typeface="Garamond"/>
              <a:cs typeface="Garamond"/>
              <a:sym typeface="Garamond"/>
            </a:endParaRPr>
          </a:p>
          <a:p>
            <a:pPr indent="-455930" lvl="1" marL="468630" rtl="0" algn="l">
              <a:lnSpc>
                <a:spcPct val="119843"/>
              </a:lnSpc>
              <a:spcBef>
                <a:spcPts val="65"/>
              </a:spcBef>
              <a:spcAft>
                <a:spcPts val="0"/>
              </a:spcAft>
              <a:buClr>
                <a:schemeClr val="dk1"/>
              </a:buClr>
              <a:buSzPts val="3200"/>
              <a:buFont typeface="Garamond"/>
              <a:buAutoNum type="alphaUcPeriod"/>
            </a:pPr>
            <a:r>
              <a:rPr b="1" lang="fr-FR" sz="3200">
                <a:solidFill>
                  <a:schemeClr val="dk1"/>
                </a:solidFill>
                <a:latin typeface="Garamond"/>
                <a:ea typeface="Garamond"/>
                <a:cs typeface="Garamond"/>
                <a:sym typeface="Garamond"/>
              </a:rPr>
              <a:t>Un Inhibiteur da la Mono-Amine-Oxydase (IMAO)</a:t>
            </a:r>
            <a:endParaRPr sz="3200">
              <a:solidFill>
                <a:schemeClr val="dk1"/>
              </a:solidFill>
              <a:latin typeface="Garamond"/>
              <a:ea typeface="Garamond"/>
              <a:cs typeface="Garamond"/>
              <a:sym typeface="Garamond"/>
            </a:endParaRPr>
          </a:p>
          <a:p>
            <a:pPr indent="-455930" lvl="1" marL="468630" rtl="0" algn="l">
              <a:lnSpc>
                <a:spcPct val="119843"/>
              </a:lnSpc>
              <a:spcBef>
                <a:spcPts val="0"/>
              </a:spcBef>
              <a:spcAft>
                <a:spcPts val="0"/>
              </a:spcAft>
              <a:buClr>
                <a:schemeClr val="dk1"/>
              </a:buClr>
              <a:buSzPts val="3200"/>
              <a:buFont typeface="Garamond"/>
              <a:buAutoNum type="alphaUcPeriod"/>
            </a:pPr>
            <a:r>
              <a:rPr b="1" lang="fr-FR" sz="3200">
                <a:solidFill>
                  <a:schemeClr val="dk1"/>
                </a:solidFill>
                <a:latin typeface="Garamond"/>
                <a:ea typeface="Garamond"/>
                <a:cs typeface="Garamond"/>
                <a:sym typeface="Garamond"/>
              </a:rPr>
              <a:t>Un antidépresseur tricyclique</a:t>
            </a:r>
            <a:endParaRPr sz="3200">
              <a:solidFill>
                <a:schemeClr val="dk1"/>
              </a:solidFill>
              <a:latin typeface="Garamond"/>
              <a:ea typeface="Garamond"/>
              <a:cs typeface="Garamond"/>
              <a:sym typeface="Garamond"/>
            </a:endParaRPr>
          </a:p>
        </p:txBody>
      </p:sp>
      <p:sp>
        <p:nvSpPr>
          <p:cNvPr id="2020" name="Google Shape;2020;p25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2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4" name="Shape 2024"/>
        <p:cNvGrpSpPr/>
        <p:nvPr/>
      </p:nvGrpSpPr>
      <p:grpSpPr>
        <a:xfrm>
          <a:off x="0" y="0"/>
          <a:ext cx="0" cy="0"/>
          <a:chOff x="0" y="0"/>
          <a:chExt cx="0" cy="0"/>
        </a:xfrm>
      </p:grpSpPr>
      <p:sp>
        <p:nvSpPr>
          <p:cNvPr id="2025" name="Google Shape;2025;p252"/>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026" name="Google Shape;2026;p252"/>
          <p:cNvSpPr txBox="1"/>
          <p:nvPr>
            <p:ph type="title"/>
          </p:nvPr>
        </p:nvSpPr>
        <p:spPr>
          <a:xfrm>
            <a:off x="1084262" y="1444624"/>
            <a:ext cx="10196195" cy="57531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fr-FR">
                <a:solidFill>
                  <a:schemeClr val="dk1"/>
                </a:solidFill>
              </a:rPr>
              <a:t>4. Les complications redoutées chez ce patient sont :</a:t>
            </a:r>
            <a:endParaRPr/>
          </a:p>
        </p:txBody>
      </p:sp>
      <p:sp>
        <p:nvSpPr>
          <p:cNvPr id="2027" name="Google Shape;2027;p25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028" name="Google Shape;2028;p252"/>
          <p:cNvSpPr txBox="1"/>
          <p:nvPr/>
        </p:nvSpPr>
        <p:spPr>
          <a:xfrm>
            <a:off x="1084262" y="2298131"/>
            <a:ext cx="3744595" cy="3220085"/>
          </a:xfrm>
          <a:prstGeom prst="rect">
            <a:avLst/>
          </a:prstGeom>
          <a:noFill/>
          <a:ln>
            <a:noFill/>
          </a:ln>
        </p:spPr>
        <p:txBody>
          <a:bodyPr anchorCtr="0" anchor="t" bIns="0" lIns="0" spcFirstLastPara="1" rIns="0" wrap="square" tIns="231125">
            <a:spAutoFit/>
          </a:bodyPr>
          <a:lstStyle/>
          <a:p>
            <a:pPr indent="-455930" lvl="0" marL="468630" rtl="0" algn="l">
              <a:lnSpc>
                <a:spcPct val="100000"/>
              </a:lnSpc>
              <a:spcBef>
                <a:spcPts val="0"/>
              </a:spcBef>
              <a:spcAft>
                <a:spcPts val="0"/>
              </a:spcAft>
              <a:buClr>
                <a:srgbClr val="FF0000"/>
              </a:buClr>
              <a:buSzPts val="2750"/>
              <a:buFont typeface="Garamond"/>
              <a:buAutoNum type="alphaUcPeriod"/>
            </a:pPr>
            <a:r>
              <a:rPr b="1" lang="fr-FR" sz="2750">
                <a:solidFill>
                  <a:srgbClr val="FF0000"/>
                </a:solidFill>
                <a:latin typeface="Garamond"/>
                <a:ea typeface="Garamond"/>
                <a:cs typeface="Garamond"/>
                <a:sym typeface="Garamond"/>
              </a:rPr>
              <a:t>La dépression</a:t>
            </a:r>
            <a:endParaRPr sz="2750">
              <a:solidFill>
                <a:srgbClr val="FF0000"/>
              </a:solidFill>
              <a:latin typeface="Garamond"/>
              <a:ea typeface="Garamond"/>
              <a:cs typeface="Garamond"/>
              <a:sym typeface="Garamond"/>
            </a:endParaRPr>
          </a:p>
          <a:p>
            <a:pPr indent="-455930" lvl="0" marL="468630" rtl="0" algn="l">
              <a:lnSpc>
                <a:spcPct val="100000"/>
              </a:lnSpc>
              <a:spcBef>
                <a:spcPts val="1730"/>
              </a:spcBef>
              <a:spcAft>
                <a:spcPts val="0"/>
              </a:spcAft>
              <a:buSzPts val="2750"/>
              <a:buFont typeface="Garamond"/>
              <a:buAutoNum type="alphaUcPeriod"/>
            </a:pPr>
            <a:r>
              <a:rPr b="1" lang="fr-FR" sz="2750">
                <a:latin typeface="Garamond"/>
                <a:ea typeface="Garamond"/>
                <a:cs typeface="Garamond"/>
                <a:sym typeface="Garamond"/>
              </a:rPr>
              <a:t>La confusion mentale</a:t>
            </a:r>
            <a:endParaRPr sz="2750">
              <a:latin typeface="Garamond"/>
              <a:ea typeface="Garamond"/>
              <a:cs typeface="Garamond"/>
              <a:sym typeface="Garamond"/>
            </a:endParaRPr>
          </a:p>
          <a:p>
            <a:pPr indent="-455930" lvl="0" marL="468630" rtl="0" algn="l">
              <a:lnSpc>
                <a:spcPct val="100000"/>
              </a:lnSpc>
              <a:spcBef>
                <a:spcPts val="1735"/>
              </a:spcBef>
              <a:spcAft>
                <a:spcPts val="0"/>
              </a:spcAft>
              <a:buClr>
                <a:srgbClr val="FF0000"/>
              </a:buClr>
              <a:buSzPts val="2750"/>
              <a:buFont typeface="Garamond"/>
              <a:buAutoNum type="alphaUcPeriod"/>
            </a:pPr>
            <a:r>
              <a:rPr b="1" lang="fr-FR" sz="2750">
                <a:solidFill>
                  <a:srgbClr val="FF0000"/>
                </a:solidFill>
                <a:latin typeface="Garamond"/>
                <a:ea typeface="Garamond"/>
                <a:cs typeface="Garamond"/>
                <a:sym typeface="Garamond"/>
              </a:rPr>
              <a:t>L’abus de substances</a:t>
            </a:r>
            <a:endParaRPr sz="2750">
              <a:solidFill>
                <a:srgbClr val="FF0000"/>
              </a:solidFill>
              <a:latin typeface="Garamond"/>
              <a:ea typeface="Garamond"/>
              <a:cs typeface="Garamond"/>
              <a:sym typeface="Garamond"/>
            </a:endParaRPr>
          </a:p>
          <a:p>
            <a:pPr indent="-456565" lvl="0" marL="469265" rtl="0" algn="l">
              <a:lnSpc>
                <a:spcPct val="100000"/>
              </a:lnSpc>
              <a:spcBef>
                <a:spcPts val="1730"/>
              </a:spcBef>
              <a:spcAft>
                <a:spcPts val="0"/>
              </a:spcAft>
              <a:buSzPts val="2750"/>
              <a:buFont typeface="Garamond"/>
              <a:buAutoNum type="alphaUcPeriod"/>
            </a:pPr>
            <a:r>
              <a:rPr b="1" lang="fr-FR" sz="2750">
                <a:latin typeface="Garamond"/>
                <a:ea typeface="Garamond"/>
                <a:cs typeface="Garamond"/>
                <a:sym typeface="Garamond"/>
              </a:rPr>
              <a:t>La schizophrénie</a:t>
            </a:r>
            <a:endParaRPr sz="2750">
              <a:latin typeface="Garamond"/>
              <a:ea typeface="Garamond"/>
              <a:cs typeface="Garamond"/>
              <a:sym typeface="Garamond"/>
            </a:endParaRPr>
          </a:p>
          <a:p>
            <a:pPr indent="-456565" lvl="0" marL="469265" rtl="0" algn="l">
              <a:lnSpc>
                <a:spcPct val="100000"/>
              </a:lnSpc>
              <a:spcBef>
                <a:spcPts val="1735"/>
              </a:spcBef>
              <a:spcAft>
                <a:spcPts val="0"/>
              </a:spcAft>
              <a:buSzPts val="2750"/>
              <a:buFont typeface="Garamond"/>
              <a:buAutoNum type="alphaUcPeriod"/>
            </a:pPr>
            <a:r>
              <a:rPr b="1" lang="fr-FR" sz="2750">
                <a:latin typeface="Garamond"/>
                <a:ea typeface="Garamond"/>
                <a:cs typeface="Garamond"/>
                <a:sym typeface="Garamond"/>
              </a:rPr>
              <a:t>La manie</a:t>
            </a:r>
            <a:endParaRPr sz="2750">
              <a:latin typeface="Garamond"/>
              <a:ea typeface="Garamond"/>
              <a:cs typeface="Garamond"/>
              <a:sym typeface="Garamond"/>
            </a:endParaRPr>
          </a:p>
        </p:txBody>
      </p:sp>
    </p:spTree>
  </p:cSld>
  <p:clrMapOvr>
    <a:masterClrMapping/>
  </p:clrMapOvr>
</p:sld>
</file>

<file path=ppt/slides/slide2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2" name="Shape 2032"/>
        <p:cNvGrpSpPr/>
        <p:nvPr/>
      </p:nvGrpSpPr>
      <p:grpSpPr>
        <a:xfrm>
          <a:off x="0" y="0"/>
          <a:ext cx="0" cy="0"/>
          <a:chOff x="0" y="0"/>
          <a:chExt cx="0" cy="0"/>
        </a:xfrm>
      </p:grpSpPr>
      <p:sp>
        <p:nvSpPr>
          <p:cNvPr id="2033" name="Google Shape;2033;p253"/>
          <p:cNvSpPr txBox="1"/>
          <p:nvPr>
            <p:ph type="title"/>
          </p:nvPr>
        </p:nvSpPr>
        <p:spPr>
          <a:xfrm>
            <a:off x="3584321" y="2447861"/>
            <a:ext cx="5028565" cy="103251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fr-FR" sz="6600">
                <a:solidFill>
                  <a:srgbClr val="61731F"/>
                </a:solidFill>
              </a:rPr>
              <a:t>Cas clinique 4</a:t>
            </a:r>
            <a:endParaRPr sz="6600"/>
          </a:p>
        </p:txBody>
      </p:sp>
      <p:sp>
        <p:nvSpPr>
          <p:cNvPr id="2034" name="Google Shape;2034;p25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2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8" name="Shape 2038"/>
        <p:cNvGrpSpPr/>
        <p:nvPr/>
      </p:nvGrpSpPr>
      <p:grpSpPr>
        <a:xfrm>
          <a:off x="0" y="0"/>
          <a:ext cx="0" cy="0"/>
          <a:chOff x="0" y="0"/>
          <a:chExt cx="0" cy="0"/>
        </a:xfrm>
      </p:grpSpPr>
      <p:sp>
        <p:nvSpPr>
          <p:cNvPr id="2039" name="Google Shape;2039;p254"/>
          <p:cNvSpPr txBox="1"/>
          <p:nvPr/>
        </p:nvSpPr>
        <p:spPr>
          <a:xfrm>
            <a:off x="1011237" y="839409"/>
            <a:ext cx="10363835" cy="6051144"/>
          </a:xfrm>
          <a:prstGeom prst="rect">
            <a:avLst/>
          </a:prstGeom>
          <a:noFill/>
          <a:ln>
            <a:noFill/>
          </a:ln>
        </p:spPr>
        <p:txBody>
          <a:bodyPr anchorCtr="0" anchor="t" bIns="0" lIns="0" spcFirstLastPara="1" rIns="0" wrap="square" tIns="15225">
            <a:spAutoFit/>
          </a:bodyPr>
          <a:lstStyle/>
          <a:p>
            <a:pPr indent="0" lvl="0" marL="12700" marR="5080" rtl="0" algn="just">
              <a:spcBef>
                <a:spcPts val="0"/>
              </a:spcBef>
              <a:spcAft>
                <a:spcPts val="0"/>
              </a:spcAft>
              <a:buNone/>
            </a:pPr>
            <a:r>
              <a:rPr lang="fr-FR" sz="2800">
                <a:latin typeface="Garamond"/>
                <a:ea typeface="Garamond"/>
                <a:cs typeface="Garamond"/>
                <a:sym typeface="Garamond"/>
              </a:rPr>
              <a:t>Madame L., 32 ans, employée de banque, consulte pour des troubles de sommeil et une fatigue persistante depuis plusieurs mois. À l’interrogatoire, elle décrit des </a:t>
            </a:r>
            <a:r>
              <a:rPr b="1" lang="fr-FR" sz="2800">
                <a:latin typeface="Garamond"/>
                <a:ea typeface="Garamond"/>
                <a:cs typeface="Garamond"/>
                <a:sym typeface="Garamond"/>
              </a:rPr>
              <a:t>inquiétudes constantes et excessives </a:t>
            </a:r>
            <a:r>
              <a:rPr lang="fr-FR" sz="2800">
                <a:latin typeface="Garamond"/>
                <a:ea typeface="Garamond"/>
                <a:cs typeface="Garamond"/>
                <a:sym typeface="Garamond"/>
              </a:rPr>
              <a:t>concernant de nombreux domaines de sa vie quotidienne : sa santé, ses performances professionnelles, et l’avenir de ses enfants.</a:t>
            </a:r>
            <a:endParaRPr/>
          </a:p>
          <a:p>
            <a:pPr indent="0" lvl="0" marL="12700" marR="5080" rtl="0" algn="just">
              <a:spcBef>
                <a:spcPts val="120"/>
              </a:spcBef>
              <a:spcAft>
                <a:spcPts val="0"/>
              </a:spcAft>
              <a:buNone/>
            </a:pPr>
            <a:r>
              <a:rPr lang="fr-FR" sz="2800">
                <a:latin typeface="Garamond"/>
                <a:ea typeface="Garamond"/>
                <a:cs typeface="Garamond"/>
                <a:sym typeface="Garamond"/>
              </a:rPr>
              <a:t>Elle reconnaît que ces inquiétudes sont souvent </a:t>
            </a:r>
            <a:r>
              <a:rPr b="1" lang="fr-FR" sz="2800">
                <a:latin typeface="Garamond"/>
                <a:ea typeface="Garamond"/>
                <a:cs typeface="Garamond"/>
                <a:sym typeface="Garamond"/>
              </a:rPr>
              <a:t>disproportionnées, </a:t>
            </a:r>
            <a:r>
              <a:rPr lang="fr-FR" sz="2800">
                <a:latin typeface="Garamond"/>
                <a:ea typeface="Garamond"/>
                <a:cs typeface="Garamond"/>
                <a:sym typeface="Garamond"/>
              </a:rPr>
              <a:t>mais elle n’arrive pas à les contrôler.</a:t>
            </a:r>
            <a:endParaRPr/>
          </a:p>
          <a:p>
            <a:pPr indent="0" lvl="0" marL="12700" marR="5080" rtl="0" algn="just">
              <a:spcBef>
                <a:spcPts val="120"/>
              </a:spcBef>
              <a:spcAft>
                <a:spcPts val="0"/>
              </a:spcAft>
              <a:buNone/>
            </a:pPr>
            <a:r>
              <a:rPr lang="fr-FR" sz="2800">
                <a:latin typeface="Garamond"/>
                <a:ea typeface="Garamond"/>
                <a:cs typeface="Garamond"/>
                <a:sym typeface="Garamond"/>
              </a:rPr>
              <a:t>Elle se sent </a:t>
            </a:r>
            <a:r>
              <a:rPr b="1" lang="fr-FR" sz="2800">
                <a:latin typeface="Garamond"/>
                <a:ea typeface="Garamond"/>
                <a:cs typeface="Garamond"/>
                <a:sym typeface="Garamond"/>
              </a:rPr>
              <a:t>tendue en permanence, </a:t>
            </a:r>
            <a:r>
              <a:rPr lang="fr-FR" sz="2800">
                <a:latin typeface="Garamond"/>
                <a:ea typeface="Garamond"/>
                <a:cs typeface="Garamond"/>
                <a:sym typeface="Garamond"/>
              </a:rPr>
              <a:t>a du mal à se détendre et se plaint de </a:t>
            </a:r>
            <a:r>
              <a:rPr b="1" lang="fr-FR" sz="2800">
                <a:latin typeface="Garamond"/>
                <a:ea typeface="Garamond"/>
                <a:cs typeface="Garamond"/>
                <a:sym typeface="Garamond"/>
              </a:rPr>
              <a:t>douleurs musculaires, </a:t>
            </a:r>
            <a:r>
              <a:rPr lang="fr-FR" sz="2800">
                <a:latin typeface="Garamond"/>
                <a:ea typeface="Garamond"/>
                <a:cs typeface="Garamond"/>
                <a:sym typeface="Garamond"/>
              </a:rPr>
              <a:t>de </a:t>
            </a:r>
            <a:r>
              <a:rPr b="1" lang="fr-FR" sz="2800">
                <a:latin typeface="Garamond"/>
                <a:ea typeface="Garamond"/>
                <a:cs typeface="Garamond"/>
                <a:sym typeface="Garamond"/>
              </a:rPr>
              <a:t>difficultés de concentration </a:t>
            </a:r>
            <a:r>
              <a:rPr lang="fr-FR" sz="2800">
                <a:latin typeface="Garamond"/>
                <a:ea typeface="Garamond"/>
                <a:cs typeface="Garamond"/>
                <a:sym typeface="Garamond"/>
              </a:rPr>
              <a:t>et de </a:t>
            </a:r>
            <a:r>
              <a:rPr b="1" lang="fr-FR" sz="2800">
                <a:latin typeface="Garamond"/>
                <a:ea typeface="Garamond"/>
                <a:cs typeface="Garamond"/>
                <a:sym typeface="Garamond"/>
              </a:rPr>
              <a:t>fatigabilité importante.</a:t>
            </a:r>
            <a:endParaRPr/>
          </a:p>
          <a:p>
            <a:pPr indent="0" lvl="0" marL="12700" marR="5080" rtl="0" algn="just">
              <a:spcBef>
                <a:spcPts val="120"/>
              </a:spcBef>
              <a:spcAft>
                <a:spcPts val="0"/>
              </a:spcAft>
              <a:buNone/>
            </a:pPr>
            <a:r>
              <a:rPr lang="fr-FR" sz="2800">
                <a:latin typeface="Garamond"/>
                <a:ea typeface="Garamond"/>
                <a:cs typeface="Garamond"/>
                <a:sym typeface="Garamond"/>
              </a:rPr>
              <a:t>Elle s’endort difficilement, ruminant ses préoccupations jusque tard la nuit.</a:t>
            </a:r>
            <a:endParaRPr/>
          </a:p>
          <a:p>
            <a:pPr indent="0" lvl="0" marL="12700" marR="5080" rtl="0" algn="just">
              <a:lnSpc>
                <a:spcPct val="150300"/>
              </a:lnSpc>
              <a:spcBef>
                <a:spcPts val="120"/>
              </a:spcBef>
              <a:spcAft>
                <a:spcPts val="0"/>
              </a:spcAft>
              <a:buNone/>
            </a:pPr>
            <a:r>
              <a:t/>
            </a:r>
            <a:endParaRPr sz="2800">
              <a:latin typeface="Garamond"/>
              <a:ea typeface="Garamond"/>
              <a:cs typeface="Garamond"/>
              <a:sym typeface="Garamond"/>
            </a:endParaRPr>
          </a:p>
          <a:p>
            <a:pPr indent="0" lvl="0" marL="12700" marR="5080" rtl="0" algn="just">
              <a:lnSpc>
                <a:spcPct val="150300"/>
              </a:lnSpc>
              <a:spcBef>
                <a:spcPts val="120"/>
              </a:spcBef>
              <a:spcAft>
                <a:spcPts val="0"/>
              </a:spcAft>
              <a:buNone/>
            </a:pPr>
            <a:r>
              <a:t/>
            </a:r>
            <a:endParaRPr sz="2800">
              <a:latin typeface="Garamond"/>
              <a:ea typeface="Garamond"/>
              <a:cs typeface="Garamond"/>
              <a:sym typeface="Garamond"/>
            </a:endParaRPr>
          </a:p>
        </p:txBody>
      </p:sp>
      <p:sp>
        <p:nvSpPr>
          <p:cNvPr id="2040" name="Google Shape;2040;p25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2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4" name="Shape 2044"/>
        <p:cNvGrpSpPr/>
        <p:nvPr/>
      </p:nvGrpSpPr>
      <p:grpSpPr>
        <a:xfrm>
          <a:off x="0" y="0"/>
          <a:ext cx="0" cy="0"/>
          <a:chOff x="0" y="0"/>
          <a:chExt cx="0" cy="0"/>
        </a:xfrm>
      </p:grpSpPr>
      <p:sp>
        <p:nvSpPr>
          <p:cNvPr id="2045" name="Google Shape;2045;p255"/>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046" name="Google Shape;2046;p255"/>
          <p:cNvSpPr txBox="1"/>
          <p:nvPr>
            <p:ph type="title"/>
          </p:nvPr>
        </p:nvSpPr>
        <p:spPr>
          <a:xfrm>
            <a:off x="1056639" y="1075436"/>
            <a:ext cx="10118725" cy="558230"/>
          </a:xfrm>
          <a:prstGeom prst="rect">
            <a:avLst/>
          </a:prstGeom>
          <a:noFill/>
          <a:ln>
            <a:noFill/>
          </a:ln>
        </p:spPr>
        <p:txBody>
          <a:bodyPr anchorCtr="0" anchor="t" bIns="0" lIns="0" spcFirstLastPara="1" rIns="0" wrap="square" tIns="8875">
            <a:spAutoFit/>
          </a:bodyPr>
          <a:lstStyle/>
          <a:p>
            <a:pPr indent="0" lvl="0" marL="12700" marR="5080" rtl="0" algn="l">
              <a:lnSpc>
                <a:spcPct val="100800"/>
              </a:lnSpc>
              <a:spcBef>
                <a:spcPts val="0"/>
              </a:spcBef>
              <a:spcAft>
                <a:spcPts val="0"/>
              </a:spcAft>
              <a:buNone/>
            </a:pPr>
            <a:r>
              <a:rPr lang="fr-FR">
                <a:solidFill>
                  <a:schemeClr val="dk1"/>
                </a:solidFill>
              </a:rPr>
              <a:t>1.	La patiente présente les symptômes suivants :</a:t>
            </a:r>
            <a:endParaRPr>
              <a:solidFill>
                <a:schemeClr val="dk1"/>
              </a:solidFill>
            </a:endParaRPr>
          </a:p>
        </p:txBody>
      </p:sp>
      <p:sp>
        <p:nvSpPr>
          <p:cNvPr id="2047" name="Google Shape;2047;p25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048" name="Google Shape;2048;p255"/>
          <p:cNvSpPr txBox="1"/>
          <p:nvPr/>
        </p:nvSpPr>
        <p:spPr>
          <a:xfrm>
            <a:off x="1056639" y="2611056"/>
            <a:ext cx="10116820" cy="2183290"/>
          </a:xfrm>
          <a:prstGeom prst="rect">
            <a:avLst/>
          </a:prstGeom>
          <a:noFill/>
          <a:ln>
            <a:noFill/>
          </a:ln>
        </p:spPr>
        <p:txBody>
          <a:bodyPr anchorCtr="0" anchor="t" bIns="0" lIns="0" spcFirstLastPara="1" rIns="0" wrap="square" tIns="15875">
            <a:spAutoFit/>
          </a:bodyPr>
          <a:lstStyle/>
          <a:p>
            <a:pPr indent="-456565" lvl="0" marL="469265" rtl="0" algn="l">
              <a:lnSpc>
                <a:spcPct val="100000"/>
              </a:lnSpc>
              <a:spcBef>
                <a:spcPts val="0"/>
              </a:spcBef>
              <a:spcAft>
                <a:spcPts val="0"/>
              </a:spcAft>
              <a:buClr>
                <a:schemeClr val="dk1"/>
              </a:buClr>
              <a:buSzPts val="2750"/>
              <a:buFont typeface="Garamond"/>
              <a:buAutoNum type="alphaUcPeriod"/>
            </a:pPr>
            <a:r>
              <a:rPr b="1" lang="fr-FR" sz="2750">
                <a:solidFill>
                  <a:schemeClr val="dk1"/>
                </a:solidFill>
                <a:latin typeface="Garamond"/>
                <a:ea typeface="Garamond"/>
                <a:cs typeface="Garamond"/>
                <a:sym typeface="Garamond"/>
              </a:rPr>
              <a:t>Une anxiété anticipatoire</a:t>
            </a:r>
            <a:endParaRPr/>
          </a:p>
          <a:p>
            <a:pPr indent="-456565" lvl="0" marL="469265" rtl="0" algn="l">
              <a:lnSpc>
                <a:spcPct val="100000"/>
              </a:lnSpc>
              <a:spcBef>
                <a:spcPts val="125"/>
              </a:spcBef>
              <a:spcAft>
                <a:spcPts val="0"/>
              </a:spcAft>
              <a:buClr>
                <a:srgbClr val="FF0000"/>
              </a:buClr>
              <a:buSzPts val="2750"/>
              <a:buFont typeface="Garamond"/>
              <a:buAutoNum type="alphaUcPeriod"/>
            </a:pPr>
            <a:r>
              <a:rPr b="1" lang="fr-FR" sz="2750">
                <a:solidFill>
                  <a:srgbClr val="FF0000"/>
                </a:solidFill>
                <a:latin typeface="Garamond"/>
                <a:ea typeface="Garamond"/>
                <a:cs typeface="Garamond"/>
                <a:sym typeface="Garamond"/>
              </a:rPr>
              <a:t>Une insomnie</a:t>
            </a:r>
            <a:endParaRPr/>
          </a:p>
          <a:p>
            <a:pPr indent="-456565" lvl="0" marL="469265" rtl="0" algn="l">
              <a:lnSpc>
                <a:spcPct val="100000"/>
              </a:lnSpc>
              <a:spcBef>
                <a:spcPts val="125"/>
              </a:spcBef>
              <a:spcAft>
                <a:spcPts val="0"/>
              </a:spcAft>
              <a:buClr>
                <a:schemeClr val="dk1"/>
              </a:buClr>
              <a:buSzPts val="2750"/>
              <a:buFont typeface="Garamond"/>
              <a:buAutoNum type="alphaUcPeriod"/>
            </a:pPr>
            <a:r>
              <a:rPr b="1" lang="fr-FR" sz="2750">
                <a:solidFill>
                  <a:schemeClr val="dk1"/>
                </a:solidFill>
                <a:latin typeface="Garamond"/>
                <a:ea typeface="Garamond"/>
                <a:cs typeface="Garamond"/>
                <a:sym typeface="Garamond"/>
              </a:rPr>
              <a:t>Une vision négative du monde et de l’avenir</a:t>
            </a:r>
            <a:endParaRPr/>
          </a:p>
          <a:p>
            <a:pPr indent="-456565" lvl="0" marL="469265" rtl="0" algn="l">
              <a:lnSpc>
                <a:spcPct val="100000"/>
              </a:lnSpc>
              <a:spcBef>
                <a:spcPts val="125"/>
              </a:spcBef>
              <a:spcAft>
                <a:spcPts val="0"/>
              </a:spcAft>
              <a:buClr>
                <a:schemeClr val="dk1"/>
              </a:buClr>
              <a:buSzPts val="2750"/>
              <a:buFont typeface="Garamond"/>
              <a:buAutoNum type="alphaUcPeriod"/>
            </a:pPr>
            <a:r>
              <a:rPr b="1" lang="fr-FR" sz="2750">
                <a:solidFill>
                  <a:schemeClr val="dk1"/>
                </a:solidFill>
                <a:latin typeface="Garamond"/>
                <a:ea typeface="Garamond"/>
                <a:cs typeface="Garamond"/>
                <a:sym typeface="Garamond"/>
              </a:rPr>
              <a:t>Des obsessions phobiques</a:t>
            </a:r>
            <a:endParaRPr/>
          </a:p>
          <a:p>
            <a:pPr indent="-456565" lvl="0" marL="469265" rtl="0" algn="l">
              <a:lnSpc>
                <a:spcPct val="100000"/>
              </a:lnSpc>
              <a:spcBef>
                <a:spcPts val="125"/>
              </a:spcBef>
              <a:spcAft>
                <a:spcPts val="0"/>
              </a:spcAft>
              <a:buClr>
                <a:srgbClr val="FF0000"/>
              </a:buClr>
              <a:buSzPts val="2750"/>
              <a:buFont typeface="Garamond"/>
              <a:buAutoNum type="alphaUcPeriod"/>
            </a:pPr>
            <a:r>
              <a:rPr b="1" lang="fr-FR" sz="2750">
                <a:solidFill>
                  <a:srgbClr val="FF0000"/>
                </a:solidFill>
                <a:latin typeface="Garamond"/>
                <a:ea typeface="Garamond"/>
                <a:cs typeface="Garamond"/>
                <a:sym typeface="Garamond"/>
              </a:rPr>
              <a:t>Des soucis incontrôlables</a:t>
            </a:r>
            <a:endParaRPr b="1" sz="2750">
              <a:solidFill>
                <a:srgbClr val="FF0000"/>
              </a:solidFill>
              <a:latin typeface="Garamond"/>
              <a:ea typeface="Garamond"/>
              <a:cs typeface="Garamond"/>
              <a:sym typeface="Garamond"/>
            </a:endParaRPr>
          </a:p>
        </p:txBody>
      </p:sp>
    </p:spTree>
  </p:cSld>
  <p:clrMapOvr>
    <a:masterClrMapping/>
  </p:clrMapOvr>
</p:sld>
</file>

<file path=ppt/slides/slide2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2" name="Shape 2052"/>
        <p:cNvGrpSpPr/>
        <p:nvPr/>
      </p:nvGrpSpPr>
      <p:grpSpPr>
        <a:xfrm>
          <a:off x="0" y="0"/>
          <a:ext cx="0" cy="0"/>
          <a:chOff x="0" y="0"/>
          <a:chExt cx="0" cy="0"/>
        </a:xfrm>
      </p:grpSpPr>
      <p:sp>
        <p:nvSpPr>
          <p:cNvPr id="2053" name="Google Shape;2053;p256"/>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054" name="Google Shape;2054;p256"/>
          <p:cNvSpPr txBox="1"/>
          <p:nvPr>
            <p:ph type="title"/>
          </p:nvPr>
        </p:nvSpPr>
        <p:spPr>
          <a:xfrm>
            <a:off x="1056639" y="1075436"/>
            <a:ext cx="10118725" cy="558230"/>
          </a:xfrm>
          <a:prstGeom prst="rect">
            <a:avLst/>
          </a:prstGeom>
          <a:noFill/>
          <a:ln>
            <a:noFill/>
          </a:ln>
        </p:spPr>
        <p:txBody>
          <a:bodyPr anchorCtr="0" anchor="t" bIns="0" lIns="0" spcFirstLastPara="1" rIns="0" wrap="square" tIns="8875">
            <a:spAutoFit/>
          </a:bodyPr>
          <a:lstStyle/>
          <a:p>
            <a:pPr indent="0" lvl="0" marL="12700" marR="5080" rtl="0" algn="l">
              <a:lnSpc>
                <a:spcPct val="100800"/>
              </a:lnSpc>
              <a:spcBef>
                <a:spcPts val="0"/>
              </a:spcBef>
              <a:spcAft>
                <a:spcPts val="0"/>
              </a:spcAft>
              <a:buNone/>
            </a:pPr>
            <a:r>
              <a:rPr lang="fr-FR">
                <a:solidFill>
                  <a:schemeClr val="dk1"/>
                </a:solidFill>
              </a:rPr>
              <a:t>2.	Quel est le diagnostic le plus probable ?</a:t>
            </a:r>
            <a:endParaRPr/>
          </a:p>
        </p:txBody>
      </p:sp>
      <p:sp>
        <p:nvSpPr>
          <p:cNvPr id="2055" name="Google Shape;2055;p25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056" name="Google Shape;2056;p256"/>
          <p:cNvSpPr txBox="1"/>
          <p:nvPr/>
        </p:nvSpPr>
        <p:spPr>
          <a:xfrm>
            <a:off x="1056639" y="2611056"/>
            <a:ext cx="10116820" cy="2183290"/>
          </a:xfrm>
          <a:prstGeom prst="rect">
            <a:avLst/>
          </a:prstGeom>
          <a:noFill/>
          <a:ln>
            <a:noFill/>
          </a:ln>
        </p:spPr>
        <p:txBody>
          <a:bodyPr anchorCtr="0" anchor="t" bIns="0" lIns="0" spcFirstLastPara="1" rIns="0" wrap="square" tIns="15875">
            <a:spAutoFit/>
          </a:bodyPr>
          <a:lstStyle/>
          <a:p>
            <a:pPr indent="-456565" lvl="0" marL="469265" rtl="0" algn="l">
              <a:lnSpc>
                <a:spcPct val="100000"/>
              </a:lnSpc>
              <a:spcBef>
                <a:spcPts val="0"/>
              </a:spcBef>
              <a:spcAft>
                <a:spcPts val="0"/>
              </a:spcAft>
              <a:buClr>
                <a:schemeClr val="dk1"/>
              </a:buClr>
              <a:buSzPts val="2750"/>
              <a:buFont typeface="Garamond"/>
              <a:buAutoNum type="alphaUcPeriod"/>
            </a:pPr>
            <a:r>
              <a:rPr b="1" lang="fr-FR" sz="2750">
                <a:solidFill>
                  <a:schemeClr val="dk1"/>
                </a:solidFill>
                <a:latin typeface="Garamond"/>
                <a:ea typeface="Garamond"/>
                <a:cs typeface="Garamond"/>
                <a:sym typeface="Garamond"/>
              </a:rPr>
              <a:t>Trouble obsessionnel-compulsif (TOC)</a:t>
            </a:r>
            <a:endParaRPr/>
          </a:p>
          <a:p>
            <a:pPr indent="-456565" lvl="0" marL="469265" rtl="0" algn="l">
              <a:lnSpc>
                <a:spcPct val="100000"/>
              </a:lnSpc>
              <a:spcBef>
                <a:spcPts val="125"/>
              </a:spcBef>
              <a:spcAft>
                <a:spcPts val="0"/>
              </a:spcAft>
              <a:buClr>
                <a:schemeClr val="dk1"/>
              </a:buClr>
              <a:buSzPts val="2750"/>
              <a:buFont typeface="Garamond"/>
              <a:buAutoNum type="alphaUcPeriod"/>
            </a:pPr>
            <a:r>
              <a:rPr b="1" lang="fr-FR" sz="2750">
                <a:solidFill>
                  <a:schemeClr val="dk1"/>
                </a:solidFill>
                <a:latin typeface="Garamond"/>
                <a:ea typeface="Garamond"/>
                <a:cs typeface="Garamond"/>
                <a:sym typeface="Garamond"/>
              </a:rPr>
              <a:t>Trouble de l'adaptation avec anxiété</a:t>
            </a:r>
            <a:endParaRPr/>
          </a:p>
          <a:p>
            <a:pPr indent="-456565" lvl="0" marL="469265" rtl="0" algn="l">
              <a:lnSpc>
                <a:spcPct val="100000"/>
              </a:lnSpc>
              <a:spcBef>
                <a:spcPts val="125"/>
              </a:spcBef>
              <a:spcAft>
                <a:spcPts val="0"/>
              </a:spcAft>
              <a:buClr>
                <a:schemeClr val="dk1"/>
              </a:buClr>
              <a:buSzPts val="2750"/>
              <a:buFont typeface="Garamond"/>
              <a:buAutoNum type="alphaUcPeriod"/>
            </a:pPr>
            <a:r>
              <a:rPr b="1" lang="fr-FR" sz="2750">
                <a:solidFill>
                  <a:schemeClr val="dk1"/>
                </a:solidFill>
                <a:latin typeface="Garamond"/>
                <a:ea typeface="Garamond"/>
                <a:cs typeface="Garamond"/>
                <a:sym typeface="Garamond"/>
              </a:rPr>
              <a:t>Trouble de la personnalité évitante</a:t>
            </a:r>
            <a:endParaRPr/>
          </a:p>
          <a:p>
            <a:pPr indent="-456565" lvl="0" marL="469265" rtl="0" algn="l">
              <a:spcBef>
                <a:spcPts val="125"/>
              </a:spcBef>
              <a:spcAft>
                <a:spcPts val="0"/>
              </a:spcAft>
              <a:buClr>
                <a:schemeClr val="dk1"/>
              </a:buClr>
              <a:buSzPts val="2750"/>
              <a:buFont typeface="Garamond"/>
              <a:buAutoNum type="alphaUcPeriod"/>
            </a:pPr>
            <a:r>
              <a:rPr b="1" lang="fr-FR" sz="2750">
                <a:solidFill>
                  <a:schemeClr val="dk1"/>
                </a:solidFill>
                <a:latin typeface="Garamond"/>
                <a:ea typeface="Garamond"/>
                <a:cs typeface="Garamond"/>
                <a:sym typeface="Garamond"/>
              </a:rPr>
              <a:t>Tro</a:t>
            </a:r>
            <a:r>
              <a:rPr b="1" lang="fr-FR" sz="2750">
                <a:solidFill>
                  <a:srgbClr val="FF0000"/>
                </a:solidFill>
                <a:latin typeface="Garamond"/>
                <a:ea typeface="Garamond"/>
                <a:cs typeface="Garamond"/>
                <a:sym typeface="Garamond"/>
              </a:rPr>
              <a:t>Trouble anxiété généralisée (TAG)</a:t>
            </a:r>
            <a:endParaRPr/>
          </a:p>
          <a:p>
            <a:pPr indent="-456565" lvl="0" marL="469265" rtl="0" algn="l">
              <a:lnSpc>
                <a:spcPct val="100000"/>
              </a:lnSpc>
              <a:spcBef>
                <a:spcPts val="125"/>
              </a:spcBef>
              <a:spcAft>
                <a:spcPts val="0"/>
              </a:spcAft>
              <a:buClr>
                <a:schemeClr val="dk1"/>
              </a:buClr>
              <a:buSzPts val="2750"/>
              <a:buFont typeface="Garamond"/>
              <a:buAutoNum type="alphaUcPeriod"/>
            </a:pPr>
            <a:r>
              <a:rPr b="1" lang="fr-FR" sz="2750">
                <a:solidFill>
                  <a:schemeClr val="dk1"/>
                </a:solidFill>
                <a:latin typeface="Garamond"/>
                <a:ea typeface="Garamond"/>
                <a:cs typeface="Garamond"/>
                <a:sym typeface="Garamond"/>
              </a:rPr>
              <a:t>uble panique</a:t>
            </a:r>
            <a:endParaRPr sz="2750">
              <a:solidFill>
                <a:schemeClr val="dk1"/>
              </a:solidFill>
              <a:latin typeface="Garamond"/>
              <a:ea typeface="Garamond"/>
              <a:cs typeface="Garamond"/>
              <a:sym typeface="Garamond"/>
            </a:endParaRPr>
          </a:p>
        </p:txBody>
      </p:sp>
    </p:spTree>
  </p:cSld>
  <p:clrMapOvr>
    <a:masterClrMapping/>
  </p:clrMapOvr>
</p:sld>
</file>

<file path=ppt/slides/slide2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0" name="Shape 2060"/>
        <p:cNvGrpSpPr/>
        <p:nvPr/>
      </p:nvGrpSpPr>
      <p:grpSpPr>
        <a:xfrm>
          <a:off x="0" y="0"/>
          <a:ext cx="0" cy="0"/>
          <a:chOff x="0" y="0"/>
          <a:chExt cx="0" cy="0"/>
        </a:xfrm>
      </p:grpSpPr>
      <p:sp>
        <p:nvSpPr>
          <p:cNvPr id="2061" name="Google Shape;2061;p257"/>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062" name="Google Shape;2062;p257"/>
          <p:cNvSpPr txBox="1"/>
          <p:nvPr>
            <p:ph type="title"/>
          </p:nvPr>
        </p:nvSpPr>
        <p:spPr>
          <a:xfrm>
            <a:off x="1056639" y="831550"/>
            <a:ext cx="10118725" cy="1491947"/>
          </a:xfrm>
          <a:prstGeom prst="rect">
            <a:avLst/>
          </a:prstGeom>
          <a:noFill/>
          <a:ln>
            <a:noFill/>
          </a:ln>
        </p:spPr>
        <p:txBody>
          <a:bodyPr anchorCtr="0" anchor="t" bIns="0" lIns="0" spcFirstLastPara="1" rIns="0" wrap="square" tIns="8875">
            <a:spAutoFit/>
          </a:bodyPr>
          <a:lstStyle/>
          <a:p>
            <a:pPr indent="0" lvl="0" marL="12700" marR="5080" rtl="0" algn="l">
              <a:lnSpc>
                <a:spcPct val="100800"/>
              </a:lnSpc>
              <a:spcBef>
                <a:spcPts val="0"/>
              </a:spcBef>
              <a:spcAft>
                <a:spcPts val="0"/>
              </a:spcAft>
              <a:buNone/>
            </a:pPr>
            <a:r>
              <a:rPr lang="fr-FR" sz="3200">
                <a:solidFill>
                  <a:schemeClr val="dk1"/>
                </a:solidFill>
              </a:rPr>
              <a:t>3.	Parmi les propositions suivantes, quel symptôme est caractéristique du trouble anxiété généralisée (TAG) selon le DSM-5 ??</a:t>
            </a:r>
            <a:endParaRPr/>
          </a:p>
        </p:txBody>
      </p:sp>
      <p:sp>
        <p:nvSpPr>
          <p:cNvPr id="2063" name="Google Shape;2063;p25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064" name="Google Shape;2064;p257"/>
          <p:cNvSpPr txBox="1"/>
          <p:nvPr/>
        </p:nvSpPr>
        <p:spPr>
          <a:xfrm>
            <a:off x="1056639" y="2611056"/>
            <a:ext cx="10116820" cy="2183290"/>
          </a:xfrm>
          <a:prstGeom prst="rect">
            <a:avLst/>
          </a:prstGeom>
          <a:noFill/>
          <a:ln>
            <a:noFill/>
          </a:ln>
        </p:spPr>
        <p:txBody>
          <a:bodyPr anchorCtr="0" anchor="t" bIns="0" lIns="0" spcFirstLastPara="1" rIns="0" wrap="square" tIns="15875">
            <a:spAutoFit/>
          </a:bodyPr>
          <a:lstStyle/>
          <a:p>
            <a:pPr indent="-456565" lvl="0" marL="469265" rtl="0" algn="l">
              <a:lnSpc>
                <a:spcPct val="100000"/>
              </a:lnSpc>
              <a:spcBef>
                <a:spcPts val="0"/>
              </a:spcBef>
              <a:spcAft>
                <a:spcPts val="0"/>
              </a:spcAft>
              <a:buClr>
                <a:schemeClr val="dk1"/>
              </a:buClr>
              <a:buSzPts val="2750"/>
              <a:buFont typeface="Garamond"/>
              <a:buAutoNum type="alphaUcPeriod"/>
            </a:pPr>
            <a:r>
              <a:rPr b="1" lang="fr-FR" sz="2750">
                <a:solidFill>
                  <a:schemeClr val="dk1"/>
                </a:solidFill>
                <a:latin typeface="Garamond"/>
                <a:ea typeface="Garamond"/>
                <a:cs typeface="Garamond"/>
                <a:sym typeface="Garamond"/>
              </a:rPr>
              <a:t>Hallucinations auditives</a:t>
            </a:r>
            <a:endParaRPr/>
          </a:p>
          <a:p>
            <a:pPr indent="-456565" lvl="0" marL="469265" rtl="0" algn="l">
              <a:lnSpc>
                <a:spcPct val="100000"/>
              </a:lnSpc>
              <a:spcBef>
                <a:spcPts val="125"/>
              </a:spcBef>
              <a:spcAft>
                <a:spcPts val="0"/>
              </a:spcAft>
              <a:buClr>
                <a:schemeClr val="dk1"/>
              </a:buClr>
              <a:buSzPts val="2750"/>
              <a:buFont typeface="Garamond"/>
              <a:buAutoNum type="alphaUcPeriod"/>
            </a:pPr>
            <a:r>
              <a:rPr b="1" lang="fr-FR" sz="2750">
                <a:solidFill>
                  <a:schemeClr val="dk1"/>
                </a:solidFill>
                <a:latin typeface="Garamond"/>
                <a:ea typeface="Garamond"/>
                <a:cs typeface="Garamond"/>
                <a:sym typeface="Garamond"/>
              </a:rPr>
              <a:t>Crises d'angoisse soudaines et brèves</a:t>
            </a:r>
            <a:endParaRPr/>
          </a:p>
          <a:p>
            <a:pPr indent="-456565" lvl="0" marL="469265" rtl="0" algn="l">
              <a:lnSpc>
                <a:spcPct val="100000"/>
              </a:lnSpc>
              <a:spcBef>
                <a:spcPts val="125"/>
              </a:spcBef>
              <a:spcAft>
                <a:spcPts val="0"/>
              </a:spcAft>
              <a:buClr>
                <a:srgbClr val="FF0000"/>
              </a:buClr>
              <a:buSzPts val="2750"/>
              <a:buFont typeface="Garamond"/>
              <a:buAutoNum type="alphaUcPeriod"/>
            </a:pPr>
            <a:r>
              <a:rPr b="1" lang="fr-FR" sz="2750">
                <a:solidFill>
                  <a:srgbClr val="FF0000"/>
                </a:solidFill>
                <a:latin typeface="Garamond"/>
                <a:ea typeface="Garamond"/>
                <a:cs typeface="Garamond"/>
                <a:sym typeface="Garamond"/>
              </a:rPr>
              <a:t>Inquiétude excessive concernant plusieurs domaines de la vie</a:t>
            </a:r>
            <a:endParaRPr/>
          </a:p>
          <a:p>
            <a:pPr indent="-456565" lvl="0" marL="469265" rtl="0" algn="l">
              <a:lnSpc>
                <a:spcPct val="100000"/>
              </a:lnSpc>
              <a:spcBef>
                <a:spcPts val="125"/>
              </a:spcBef>
              <a:spcAft>
                <a:spcPts val="0"/>
              </a:spcAft>
              <a:buClr>
                <a:schemeClr val="dk1"/>
              </a:buClr>
              <a:buSzPts val="2750"/>
              <a:buFont typeface="Garamond"/>
              <a:buAutoNum type="alphaUcPeriod"/>
            </a:pPr>
            <a:r>
              <a:rPr b="1" lang="fr-FR" sz="2750">
                <a:solidFill>
                  <a:schemeClr val="dk1"/>
                </a:solidFill>
                <a:latin typeface="Garamond"/>
                <a:ea typeface="Garamond"/>
                <a:cs typeface="Garamond"/>
                <a:sym typeface="Garamond"/>
              </a:rPr>
              <a:t>Compulsions mentales répétées</a:t>
            </a:r>
            <a:endParaRPr/>
          </a:p>
          <a:p>
            <a:pPr indent="-456565" lvl="0" marL="469265" rtl="0" algn="l">
              <a:lnSpc>
                <a:spcPct val="100000"/>
              </a:lnSpc>
              <a:spcBef>
                <a:spcPts val="125"/>
              </a:spcBef>
              <a:spcAft>
                <a:spcPts val="0"/>
              </a:spcAft>
              <a:buClr>
                <a:schemeClr val="dk1"/>
              </a:buClr>
              <a:buSzPts val="2750"/>
              <a:buFont typeface="Garamond"/>
              <a:buAutoNum type="alphaUcPeriod"/>
            </a:pPr>
            <a:r>
              <a:rPr b="1" lang="fr-FR" sz="2750">
                <a:solidFill>
                  <a:schemeClr val="dk1"/>
                </a:solidFill>
                <a:latin typeface="Garamond"/>
                <a:ea typeface="Garamond"/>
                <a:cs typeface="Garamond"/>
                <a:sym typeface="Garamond"/>
              </a:rPr>
              <a:t>Fluctuation rapide de l’humeur</a:t>
            </a:r>
            <a:endParaRPr sz="2750">
              <a:solidFill>
                <a:schemeClr val="dk1"/>
              </a:solidFill>
              <a:latin typeface="Garamond"/>
              <a:ea typeface="Garamond"/>
              <a:cs typeface="Garamond"/>
              <a:sym typeface="Garamond"/>
            </a:endParaRPr>
          </a:p>
        </p:txBody>
      </p:sp>
    </p:spTree>
  </p:cSld>
  <p:clrMapOvr>
    <a:masterClrMapping/>
  </p:clrMapOvr>
</p:sld>
</file>

<file path=ppt/slides/slide2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8" name="Shape 2068"/>
        <p:cNvGrpSpPr/>
        <p:nvPr/>
      </p:nvGrpSpPr>
      <p:grpSpPr>
        <a:xfrm>
          <a:off x="0" y="0"/>
          <a:ext cx="0" cy="0"/>
          <a:chOff x="0" y="0"/>
          <a:chExt cx="0" cy="0"/>
        </a:xfrm>
      </p:grpSpPr>
      <p:sp>
        <p:nvSpPr>
          <p:cNvPr id="2069" name="Google Shape;2069;p258"/>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070" name="Google Shape;2070;p258"/>
          <p:cNvSpPr txBox="1"/>
          <p:nvPr>
            <p:ph type="title"/>
          </p:nvPr>
        </p:nvSpPr>
        <p:spPr>
          <a:xfrm>
            <a:off x="1120773" y="1206567"/>
            <a:ext cx="10309227" cy="994568"/>
          </a:xfrm>
          <a:prstGeom prst="rect">
            <a:avLst/>
          </a:prstGeom>
          <a:noFill/>
          <a:ln>
            <a:noFill/>
          </a:ln>
        </p:spPr>
        <p:txBody>
          <a:bodyPr anchorCtr="0" anchor="t" bIns="0" lIns="0" spcFirstLastPara="1" rIns="0" wrap="square" tIns="8875">
            <a:spAutoFit/>
          </a:bodyPr>
          <a:lstStyle/>
          <a:p>
            <a:pPr indent="0" lvl="0" marL="12700" marR="5080" rtl="0" algn="l">
              <a:lnSpc>
                <a:spcPct val="100800"/>
              </a:lnSpc>
              <a:spcBef>
                <a:spcPts val="0"/>
              </a:spcBef>
              <a:spcAft>
                <a:spcPts val="0"/>
              </a:spcAft>
              <a:buNone/>
            </a:pPr>
            <a:r>
              <a:rPr lang="fr-FR" sz="3200">
                <a:solidFill>
                  <a:schemeClr val="dk1"/>
                </a:solidFill>
              </a:rPr>
              <a:t>4.	Quels symptômes somatiques sont fréquemment</a:t>
            </a:r>
            <a:br>
              <a:rPr lang="fr-FR" sz="3200">
                <a:solidFill>
                  <a:schemeClr val="dk1"/>
                </a:solidFill>
              </a:rPr>
            </a:br>
            <a:r>
              <a:rPr lang="fr-FR" sz="3200">
                <a:solidFill>
                  <a:schemeClr val="dk1"/>
                </a:solidFill>
              </a:rPr>
              <a:t>observés dans le cadre d'un trouble anxiété généralisée ??</a:t>
            </a:r>
            <a:endParaRPr/>
          </a:p>
        </p:txBody>
      </p:sp>
      <p:sp>
        <p:nvSpPr>
          <p:cNvPr id="2071" name="Google Shape;2071;p25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072" name="Google Shape;2072;p258"/>
          <p:cNvSpPr txBox="1"/>
          <p:nvPr/>
        </p:nvSpPr>
        <p:spPr>
          <a:xfrm>
            <a:off x="1056639" y="2611056"/>
            <a:ext cx="10116820" cy="2183290"/>
          </a:xfrm>
          <a:prstGeom prst="rect">
            <a:avLst/>
          </a:prstGeom>
          <a:noFill/>
          <a:ln>
            <a:noFill/>
          </a:ln>
        </p:spPr>
        <p:txBody>
          <a:bodyPr anchorCtr="0" anchor="t" bIns="0" lIns="0" spcFirstLastPara="1" rIns="0" wrap="square" tIns="15875">
            <a:spAutoFit/>
          </a:bodyPr>
          <a:lstStyle/>
          <a:p>
            <a:pPr indent="-456565" lvl="0" marL="469265" rtl="0" algn="l">
              <a:lnSpc>
                <a:spcPct val="100000"/>
              </a:lnSpc>
              <a:spcBef>
                <a:spcPts val="0"/>
              </a:spcBef>
              <a:spcAft>
                <a:spcPts val="0"/>
              </a:spcAft>
              <a:buClr>
                <a:schemeClr val="dk1"/>
              </a:buClr>
              <a:buSzPts val="2750"/>
              <a:buFont typeface="Garamond"/>
              <a:buAutoNum type="alphaUcPeriod"/>
            </a:pPr>
            <a:r>
              <a:rPr b="1" lang="fr-FR" sz="2750">
                <a:solidFill>
                  <a:schemeClr val="dk1"/>
                </a:solidFill>
                <a:latin typeface="Garamond"/>
                <a:ea typeface="Garamond"/>
                <a:cs typeface="Garamond"/>
                <a:sym typeface="Garamond"/>
              </a:rPr>
              <a:t>Vomissements incoercibles</a:t>
            </a:r>
            <a:endParaRPr/>
          </a:p>
          <a:p>
            <a:pPr indent="-456565" lvl="0" marL="469265" rtl="0" algn="l">
              <a:lnSpc>
                <a:spcPct val="100000"/>
              </a:lnSpc>
              <a:spcBef>
                <a:spcPts val="125"/>
              </a:spcBef>
              <a:spcAft>
                <a:spcPts val="0"/>
              </a:spcAft>
              <a:buClr>
                <a:srgbClr val="FF0000"/>
              </a:buClr>
              <a:buSzPts val="2750"/>
              <a:buFont typeface="Garamond"/>
              <a:buAutoNum type="alphaUcPeriod"/>
            </a:pPr>
            <a:r>
              <a:rPr b="1" lang="fr-FR" sz="2750">
                <a:solidFill>
                  <a:srgbClr val="FF0000"/>
                </a:solidFill>
                <a:latin typeface="Garamond"/>
                <a:ea typeface="Garamond"/>
                <a:cs typeface="Garamond"/>
                <a:sym typeface="Garamond"/>
              </a:rPr>
              <a:t>Céphalées</a:t>
            </a:r>
            <a:endParaRPr/>
          </a:p>
          <a:p>
            <a:pPr indent="-456565" lvl="0" marL="469265" rtl="0" algn="l">
              <a:lnSpc>
                <a:spcPct val="100000"/>
              </a:lnSpc>
              <a:spcBef>
                <a:spcPts val="125"/>
              </a:spcBef>
              <a:spcAft>
                <a:spcPts val="0"/>
              </a:spcAft>
              <a:buClr>
                <a:srgbClr val="FF0000"/>
              </a:buClr>
              <a:buSzPts val="2750"/>
              <a:buFont typeface="Garamond"/>
              <a:buAutoNum type="alphaUcPeriod"/>
            </a:pPr>
            <a:r>
              <a:rPr b="1" lang="fr-FR" sz="2750">
                <a:solidFill>
                  <a:srgbClr val="FF0000"/>
                </a:solidFill>
                <a:latin typeface="Garamond"/>
                <a:ea typeface="Garamond"/>
                <a:cs typeface="Garamond"/>
                <a:sym typeface="Garamond"/>
              </a:rPr>
              <a:t>Tensions musculaires persistantes</a:t>
            </a:r>
            <a:endParaRPr/>
          </a:p>
          <a:p>
            <a:pPr indent="-456565" lvl="0" marL="469265" rtl="0" algn="l">
              <a:lnSpc>
                <a:spcPct val="100000"/>
              </a:lnSpc>
              <a:spcBef>
                <a:spcPts val="125"/>
              </a:spcBef>
              <a:spcAft>
                <a:spcPts val="0"/>
              </a:spcAft>
              <a:buClr>
                <a:srgbClr val="FF0000"/>
              </a:buClr>
              <a:buSzPts val="2750"/>
              <a:buFont typeface="Garamond"/>
              <a:buAutoNum type="alphaUcPeriod"/>
            </a:pPr>
            <a:r>
              <a:rPr b="1" lang="fr-FR" sz="2750">
                <a:solidFill>
                  <a:srgbClr val="FF0000"/>
                </a:solidFill>
                <a:latin typeface="Garamond"/>
                <a:ea typeface="Garamond"/>
                <a:cs typeface="Garamond"/>
                <a:sym typeface="Garamond"/>
              </a:rPr>
              <a:t>Bouffées de chaleur</a:t>
            </a:r>
            <a:endParaRPr/>
          </a:p>
          <a:p>
            <a:pPr indent="-456565" lvl="0" marL="469265" rtl="0" algn="l">
              <a:lnSpc>
                <a:spcPct val="100000"/>
              </a:lnSpc>
              <a:spcBef>
                <a:spcPts val="125"/>
              </a:spcBef>
              <a:spcAft>
                <a:spcPts val="0"/>
              </a:spcAft>
              <a:buClr>
                <a:schemeClr val="dk1"/>
              </a:buClr>
              <a:buSzPts val="2750"/>
              <a:buFont typeface="Garamond"/>
              <a:buAutoNum type="alphaUcPeriod"/>
            </a:pPr>
            <a:r>
              <a:rPr b="1" lang="fr-FR" sz="2750">
                <a:solidFill>
                  <a:schemeClr val="dk1"/>
                </a:solidFill>
                <a:latin typeface="Garamond"/>
                <a:ea typeface="Garamond"/>
                <a:cs typeface="Garamond"/>
                <a:sym typeface="Garamond"/>
              </a:rPr>
              <a:t>Fièvre prolongée</a:t>
            </a:r>
            <a:endParaRPr sz="2750">
              <a:solidFill>
                <a:schemeClr val="dk1"/>
              </a:solidFill>
              <a:latin typeface="Garamond"/>
              <a:ea typeface="Garamond"/>
              <a:cs typeface="Garamond"/>
              <a:sym typeface="Garamond"/>
            </a:endParaRPr>
          </a:p>
        </p:txBody>
      </p:sp>
    </p:spTree>
  </p:cSld>
  <p:clrMapOvr>
    <a:masterClrMapping/>
  </p:clrMapOvr>
</p:sld>
</file>

<file path=ppt/slides/slide2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6" name="Shape 2076"/>
        <p:cNvGrpSpPr/>
        <p:nvPr/>
      </p:nvGrpSpPr>
      <p:grpSpPr>
        <a:xfrm>
          <a:off x="0" y="0"/>
          <a:ext cx="0" cy="0"/>
          <a:chOff x="0" y="0"/>
          <a:chExt cx="0" cy="0"/>
        </a:xfrm>
      </p:grpSpPr>
      <p:sp>
        <p:nvSpPr>
          <p:cNvPr id="2077" name="Google Shape;2077;p259"/>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078" name="Google Shape;2078;p259"/>
          <p:cNvSpPr txBox="1"/>
          <p:nvPr>
            <p:ph type="title"/>
          </p:nvPr>
        </p:nvSpPr>
        <p:spPr>
          <a:xfrm>
            <a:off x="1056639" y="1075436"/>
            <a:ext cx="10118725" cy="1117742"/>
          </a:xfrm>
          <a:prstGeom prst="rect">
            <a:avLst/>
          </a:prstGeom>
          <a:noFill/>
          <a:ln>
            <a:noFill/>
          </a:ln>
        </p:spPr>
        <p:txBody>
          <a:bodyPr anchorCtr="0" anchor="t" bIns="0" lIns="0" spcFirstLastPara="1" rIns="0" wrap="square" tIns="8875">
            <a:spAutoFit/>
          </a:bodyPr>
          <a:lstStyle/>
          <a:p>
            <a:pPr indent="0" lvl="0" marL="12700" marR="5080" rtl="0" algn="l">
              <a:lnSpc>
                <a:spcPct val="100800"/>
              </a:lnSpc>
              <a:spcBef>
                <a:spcPts val="0"/>
              </a:spcBef>
              <a:spcAft>
                <a:spcPts val="0"/>
              </a:spcAft>
              <a:buNone/>
            </a:pPr>
            <a:r>
              <a:rPr lang="fr-FR">
                <a:solidFill>
                  <a:schemeClr val="dk1"/>
                </a:solidFill>
              </a:rPr>
              <a:t>5.	Le traitement médicamenteux de fond de mme L repose sur :</a:t>
            </a:r>
            <a:endParaRPr>
              <a:solidFill>
                <a:schemeClr val="dk1"/>
              </a:solidFill>
            </a:endParaRPr>
          </a:p>
        </p:txBody>
      </p:sp>
      <p:sp>
        <p:nvSpPr>
          <p:cNvPr id="2079" name="Google Shape;2079;p25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080" name="Google Shape;2080;p259"/>
          <p:cNvSpPr txBox="1"/>
          <p:nvPr/>
        </p:nvSpPr>
        <p:spPr>
          <a:xfrm>
            <a:off x="1056639" y="2611056"/>
            <a:ext cx="10116820" cy="2183290"/>
          </a:xfrm>
          <a:prstGeom prst="rect">
            <a:avLst/>
          </a:prstGeom>
          <a:noFill/>
          <a:ln>
            <a:noFill/>
          </a:ln>
        </p:spPr>
        <p:txBody>
          <a:bodyPr anchorCtr="0" anchor="t" bIns="0" lIns="0" spcFirstLastPara="1" rIns="0" wrap="square" tIns="15875">
            <a:spAutoFit/>
          </a:bodyPr>
          <a:lstStyle/>
          <a:p>
            <a:pPr indent="-456565" lvl="0" marL="469265" rtl="0" algn="l">
              <a:lnSpc>
                <a:spcPct val="100000"/>
              </a:lnSpc>
              <a:spcBef>
                <a:spcPts val="0"/>
              </a:spcBef>
              <a:spcAft>
                <a:spcPts val="0"/>
              </a:spcAft>
              <a:buClr>
                <a:srgbClr val="FF0000"/>
              </a:buClr>
              <a:buSzPts val="2750"/>
              <a:buFont typeface="Garamond"/>
              <a:buAutoNum type="alphaUcPeriod"/>
            </a:pPr>
            <a:r>
              <a:rPr b="1" lang="fr-FR" sz="2750">
                <a:solidFill>
                  <a:srgbClr val="FF0000"/>
                </a:solidFill>
                <a:latin typeface="Garamond"/>
                <a:ea typeface="Garamond"/>
                <a:cs typeface="Garamond"/>
                <a:sym typeface="Garamond"/>
              </a:rPr>
              <a:t>Un ISRS</a:t>
            </a:r>
            <a:endParaRPr/>
          </a:p>
          <a:p>
            <a:pPr indent="-456565" lvl="0" marL="469265" rtl="0" algn="l">
              <a:lnSpc>
                <a:spcPct val="100000"/>
              </a:lnSpc>
              <a:spcBef>
                <a:spcPts val="125"/>
              </a:spcBef>
              <a:spcAft>
                <a:spcPts val="0"/>
              </a:spcAft>
              <a:buClr>
                <a:srgbClr val="FF0000"/>
              </a:buClr>
              <a:buSzPts val="2750"/>
              <a:buFont typeface="Garamond"/>
              <a:buAutoNum type="alphaUcPeriod"/>
            </a:pPr>
            <a:r>
              <a:rPr b="1" lang="fr-FR" sz="2750">
                <a:solidFill>
                  <a:srgbClr val="FF0000"/>
                </a:solidFill>
                <a:latin typeface="Garamond"/>
                <a:ea typeface="Garamond"/>
                <a:cs typeface="Garamond"/>
                <a:sym typeface="Garamond"/>
              </a:rPr>
              <a:t>Un ISRSNA</a:t>
            </a:r>
            <a:endParaRPr/>
          </a:p>
          <a:p>
            <a:pPr indent="-456565" lvl="0" marL="469265" rtl="0" algn="l">
              <a:lnSpc>
                <a:spcPct val="100000"/>
              </a:lnSpc>
              <a:spcBef>
                <a:spcPts val="125"/>
              </a:spcBef>
              <a:spcAft>
                <a:spcPts val="0"/>
              </a:spcAft>
              <a:buClr>
                <a:schemeClr val="dk1"/>
              </a:buClr>
              <a:buSzPts val="2750"/>
              <a:buFont typeface="Garamond"/>
              <a:buAutoNum type="alphaUcPeriod"/>
            </a:pPr>
            <a:r>
              <a:rPr b="1" lang="fr-FR" sz="2750">
                <a:solidFill>
                  <a:schemeClr val="dk1"/>
                </a:solidFill>
                <a:latin typeface="Garamond"/>
                <a:ea typeface="Garamond"/>
                <a:cs typeface="Garamond"/>
                <a:sym typeface="Garamond"/>
              </a:rPr>
              <a:t>Une benzodiazépine</a:t>
            </a:r>
            <a:endParaRPr/>
          </a:p>
          <a:p>
            <a:pPr indent="-456565" lvl="0" marL="469265" rtl="0" algn="l">
              <a:lnSpc>
                <a:spcPct val="100000"/>
              </a:lnSpc>
              <a:spcBef>
                <a:spcPts val="125"/>
              </a:spcBef>
              <a:spcAft>
                <a:spcPts val="0"/>
              </a:spcAft>
              <a:buClr>
                <a:schemeClr val="dk1"/>
              </a:buClr>
              <a:buSzPts val="2750"/>
              <a:buFont typeface="Garamond"/>
              <a:buAutoNum type="alphaUcPeriod"/>
            </a:pPr>
            <a:r>
              <a:rPr b="1" lang="fr-FR" sz="2750">
                <a:solidFill>
                  <a:schemeClr val="dk1"/>
                </a:solidFill>
                <a:latin typeface="Garamond"/>
                <a:ea typeface="Garamond"/>
                <a:cs typeface="Garamond"/>
                <a:sym typeface="Garamond"/>
              </a:rPr>
              <a:t>Des sels de lithium</a:t>
            </a:r>
            <a:endParaRPr/>
          </a:p>
          <a:p>
            <a:pPr indent="-456565" lvl="0" marL="469265" rtl="0" algn="l">
              <a:lnSpc>
                <a:spcPct val="100000"/>
              </a:lnSpc>
              <a:spcBef>
                <a:spcPts val="125"/>
              </a:spcBef>
              <a:spcAft>
                <a:spcPts val="0"/>
              </a:spcAft>
              <a:buClr>
                <a:schemeClr val="dk1"/>
              </a:buClr>
              <a:buSzPts val="2750"/>
              <a:buFont typeface="Garamond"/>
              <a:buAutoNum type="alphaUcPeriod"/>
            </a:pPr>
            <a:r>
              <a:rPr b="1" lang="fr-FR" sz="2750">
                <a:solidFill>
                  <a:schemeClr val="dk1"/>
                </a:solidFill>
                <a:latin typeface="Garamond"/>
                <a:ea typeface="Garamond"/>
                <a:cs typeface="Garamond"/>
                <a:sym typeface="Garamond"/>
              </a:rPr>
              <a:t>Des carbamates</a:t>
            </a:r>
            <a:endParaRPr sz="2750">
              <a:solidFill>
                <a:schemeClr val="dk1"/>
              </a:solidFill>
              <a:latin typeface="Garamond"/>
              <a:ea typeface="Garamond"/>
              <a:cs typeface="Garamond"/>
              <a:sym typeface="Garamond"/>
            </a:endParaRPr>
          </a:p>
        </p:txBody>
      </p:sp>
    </p:spTree>
  </p:cSld>
  <p:clrMapOvr>
    <a:masterClrMapping/>
  </p:clrMapOvr>
</p:sld>
</file>

<file path=ppt/slides/slide2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4" name="Shape 2084"/>
        <p:cNvGrpSpPr/>
        <p:nvPr/>
      </p:nvGrpSpPr>
      <p:grpSpPr>
        <a:xfrm>
          <a:off x="0" y="0"/>
          <a:ext cx="0" cy="0"/>
          <a:chOff x="0" y="0"/>
          <a:chExt cx="0" cy="0"/>
        </a:xfrm>
      </p:grpSpPr>
      <p:sp>
        <p:nvSpPr>
          <p:cNvPr id="2085" name="Google Shape;2085;p260"/>
          <p:cNvSpPr txBox="1"/>
          <p:nvPr>
            <p:ph type="title"/>
          </p:nvPr>
        </p:nvSpPr>
        <p:spPr>
          <a:xfrm>
            <a:off x="3360165" y="2346325"/>
            <a:ext cx="5485130" cy="112458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fr-FR" sz="7200"/>
              <a:t>Cas clinique 5</a:t>
            </a:r>
            <a:endParaRPr sz="7200"/>
          </a:p>
        </p:txBody>
      </p:sp>
      <p:sp>
        <p:nvSpPr>
          <p:cNvPr id="2086" name="Google Shape;2086;p26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2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0" name="Shape 2090"/>
        <p:cNvGrpSpPr/>
        <p:nvPr/>
      </p:nvGrpSpPr>
      <p:grpSpPr>
        <a:xfrm>
          <a:off x="0" y="0"/>
          <a:ext cx="0" cy="0"/>
          <a:chOff x="0" y="0"/>
          <a:chExt cx="0" cy="0"/>
        </a:xfrm>
      </p:grpSpPr>
      <p:sp>
        <p:nvSpPr>
          <p:cNvPr id="2091" name="Google Shape;2091;p261"/>
          <p:cNvSpPr txBox="1"/>
          <p:nvPr/>
        </p:nvSpPr>
        <p:spPr>
          <a:xfrm>
            <a:off x="832167" y="810577"/>
            <a:ext cx="10428605" cy="4292600"/>
          </a:xfrm>
          <a:prstGeom prst="rect">
            <a:avLst/>
          </a:prstGeom>
          <a:noFill/>
          <a:ln>
            <a:noFill/>
          </a:ln>
        </p:spPr>
        <p:txBody>
          <a:bodyPr anchorCtr="0" anchor="t" bIns="0" lIns="0" spcFirstLastPara="1" rIns="0" wrap="square" tIns="6350">
            <a:spAutoFit/>
          </a:bodyPr>
          <a:lstStyle/>
          <a:p>
            <a:pPr indent="-284480" lvl="0" marL="297180" marR="7620" rtl="0" algn="just">
              <a:lnSpc>
                <a:spcPct val="101699"/>
              </a:lnSpc>
              <a:spcBef>
                <a:spcPts val="0"/>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Un  entant,  âgé  de  4  ans,  est  amené  à  votre  consultation  pour  des  douleurs 	abdominales récurrentes.</a:t>
            </a:r>
            <a:endParaRPr sz="2400">
              <a:latin typeface="Garamond"/>
              <a:ea typeface="Garamond"/>
              <a:cs typeface="Garamond"/>
              <a:sym typeface="Garamond"/>
            </a:endParaRPr>
          </a:p>
          <a:p>
            <a:pPr indent="-284480" lvl="0" marL="297180" marR="5080" rtl="0" algn="just">
              <a:lnSpc>
                <a:spcPct val="100000"/>
              </a:lnSpc>
              <a:spcBef>
                <a:spcPts val="1175"/>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A l’anamnèse, les parents vous rapportent que le début de la symptomatologie a 	coïncidé avec l’entrée au jardin d’enfant (soit 2 mois avant la Consultation). Ces 	douleurs abdominales surviennent le matin, et sont accompagnées de nausées. Ces 	symptômes ont retenti sur son intégration scolaire avec un absentéisme fréquent.</a:t>
            </a:r>
            <a:endParaRPr sz="2400">
              <a:latin typeface="Garamond"/>
              <a:ea typeface="Garamond"/>
              <a:cs typeface="Garamond"/>
              <a:sym typeface="Garamond"/>
            </a:endParaRPr>
          </a:p>
          <a:p>
            <a:pPr indent="-285115" lvl="0" marL="297815" rtl="0" algn="l">
              <a:lnSpc>
                <a:spcPct val="100000"/>
              </a:lnSpc>
              <a:spcBef>
                <a:spcPts val="1175"/>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Toutes les explorations faites sont revenues négatives.</a:t>
            </a:r>
            <a:endParaRPr sz="2400">
              <a:latin typeface="Garamond"/>
              <a:ea typeface="Garamond"/>
              <a:cs typeface="Garamond"/>
              <a:sym typeface="Garamond"/>
            </a:endParaRPr>
          </a:p>
          <a:p>
            <a:pPr indent="-285115" lvl="0" marL="297815" rtl="0" algn="l">
              <a:lnSpc>
                <a:spcPct val="100000"/>
              </a:lnSpc>
              <a:spcBef>
                <a:spcPts val="1175"/>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Une cause organique a été éliminée.</a:t>
            </a:r>
            <a:endParaRPr sz="2400">
              <a:latin typeface="Garamond"/>
              <a:ea typeface="Garamond"/>
              <a:cs typeface="Garamond"/>
              <a:sym typeface="Garamond"/>
            </a:endParaRPr>
          </a:p>
          <a:p>
            <a:pPr indent="-285115" lvl="0" marL="297815" rtl="0" algn="l">
              <a:lnSpc>
                <a:spcPct val="100000"/>
              </a:lnSpc>
              <a:spcBef>
                <a:spcPts val="1175"/>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A	l'entretien,	vous	retrouvez	un	enfant	calme,	collé	à	sa	mère,	qui	vous	rapporte</a:t>
            </a:r>
            <a:endParaRPr sz="2400">
              <a:latin typeface="Garamond"/>
              <a:ea typeface="Garamond"/>
              <a:cs typeface="Garamond"/>
              <a:sym typeface="Garamond"/>
            </a:endParaRPr>
          </a:p>
          <a:p>
            <a:pPr indent="0" lvl="0" marL="298450" rtl="0" algn="l">
              <a:lnSpc>
                <a:spcPct val="100000"/>
              </a:lnSpc>
              <a:spcBef>
                <a:spcPts val="50"/>
              </a:spcBef>
              <a:spcAft>
                <a:spcPts val="0"/>
              </a:spcAft>
              <a:buNone/>
            </a:pPr>
            <a:r>
              <a:rPr lang="fr-FR" sz="2400">
                <a:solidFill>
                  <a:srgbClr val="252525"/>
                </a:solidFill>
                <a:latin typeface="Garamond"/>
                <a:ea typeface="Garamond"/>
                <a:cs typeface="Garamond"/>
                <a:sym typeface="Garamond"/>
              </a:rPr>
              <a:t>difficilement, qu'il a peur de laisser sa mère seule à la maison.</a:t>
            </a:r>
            <a:endParaRPr sz="2400">
              <a:latin typeface="Garamond"/>
              <a:ea typeface="Garamond"/>
              <a:cs typeface="Garamond"/>
              <a:sym typeface="Garamond"/>
            </a:endParaRPr>
          </a:p>
        </p:txBody>
      </p:sp>
      <p:sp>
        <p:nvSpPr>
          <p:cNvPr id="2092" name="Google Shape;2092;p26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2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6" name="Shape 2096"/>
        <p:cNvGrpSpPr/>
        <p:nvPr/>
      </p:nvGrpSpPr>
      <p:grpSpPr>
        <a:xfrm>
          <a:off x="0" y="0"/>
          <a:ext cx="0" cy="0"/>
          <a:chOff x="0" y="0"/>
          <a:chExt cx="0" cy="0"/>
        </a:xfrm>
      </p:grpSpPr>
      <p:sp>
        <p:nvSpPr>
          <p:cNvPr id="2097" name="Google Shape;2097;p262"/>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098" name="Google Shape;2098;p262"/>
          <p:cNvSpPr txBox="1"/>
          <p:nvPr>
            <p:ph type="title"/>
          </p:nvPr>
        </p:nvSpPr>
        <p:spPr>
          <a:xfrm>
            <a:off x="1375028" y="925830"/>
            <a:ext cx="9455150" cy="1004569"/>
          </a:xfrm>
          <a:prstGeom prst="rect">
            <a:avLst/>
          </a:prstGeom>
          <a:noFill/>
          <a:ln>
            <a:noFill/>
          </a:ln>
        </p:spPr>
        <p:txBody>
          <a:bodyPr anchorCtr="0" anchor="t" bIns="0" lIns="0" spcFirstLastPara="1" rIns="0" wrap="square" tIns="31100">
            <a:spAutoFit/>
          </a:bodyPr>
          <a:lstStyle/>
          <a:p>
            <a:pPr indent="0" lvl="0" marL="12700" marR="5080" rtl="0" algn="l">
              <a:lnSpc>
                <a:spcPct val="119656"/>
              </a:lnSpc>
              <a:spcBef>
                <a:spcPts val="0"/>
              </a:spcBef>
              <a:spcAft>
                <a:spcPts val="0"/>
              </a:spcAft>
              <a:buNone/>
            </a:pPr>
            <a:r>
              <a:rPr lang="fr-FR" sz="3200"/>
              <a:t>1-	A	partir	des	données	anamnestiques	et	cliniques, quels sont les éléments qui ne sont pas en faveur d’un</a:t>
            </a:r>
            <a:endParaRPr sz="3200"/>
          </a:p>
        </p:txBody>
      </p:sp>
      <p:sp>
        <p:nvSpPr>
          <p:cNvPr id="2099" name="Google Shape;2099;p26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100" name="Google Shape;2100;p262"/>
          <p:cNvSpPr txBox="1"/>
          <p:nvPr/>
        </p:nvSpPr>
        <p:spPr>
          <a:xfrm>
            <a:off x="7693659" y="1908174"/>
            <a:ext cx="3132455" cy="518159"/>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b="1" lang="fr-FR" sz="3200">
                <a:solidFill>
                  <a:srgbClr val="252525"/>
                </a:solidFill>
                <a:latin typeface="Garamond"/>
                <a:ea typeface="Garamond"/>
                <a:cs typeface="Garamond"/>
                <a:sym typeface="Garamond"/>
              </a:rPr>
              <a:t>séparation	?</a:t>
            </a:r>
            <a:endParaRPr sz="3200">
              <a:latin typeface="Garamond"/>
              <a:ea typeface="Garamond"/>
              <a:cs typeface="Garamond"/>
              <a:sym typeface="Garamond"/>
            </a:endParaRPr>
          </a:p>
        </p:txBody>
      </p:sp>
      <p:sp>
        <p:nvSpPr>
          <p:cNvPr id="2101" name="Google Shape;2101;p262"/>
          <p:cNvSpPr txBox="1"/>
          <p:nvPr/>
        </p:nvSpPr>
        <p:spPr>
          <a:xfrm>
            <a:off x="1375028" y="1908174"/>
            <a:ext cx="6242050" cy="3368871"/>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b="1" lang="fr-FR" sz="3200">
                <a:solidFill>
                  <a:srgbClr val="252525"/>
                </a:solidFill>
                <a:latin typeface="Garamond"/>
                <a:ea typeface="Garamond"/>
                <a:cs typeface="Garamond"/>
                <a:sym typeface="Garamond"/>
              </a:rPr>
              <a:t>trouble	anxiété	de</a:t>
            </a:r>
            <a:endParaRPr sz="3200">
              <a:latin typeface="Garamond"/>
              <a:ea typeface="Garamond"/>
              <a:cs typeface="Garamond"/>
              <a:sym typeface="Garamond"/>
            </a:endParaRPr>
          </a:p>
          <a:p>
            <a:pPr indent="-456565" lvl="0" marL="469265" rtl="0" algn="l">
              <a:lnSpc>
                <a:spcPct val="100000"/>
              </a:lnSpc>
              <a:spcBef>
                <a:spcPts val="2715"/>
              </a:spcBef>
              <a:spcAft>
                <a:spcPts val="0"/>
              </a:spcAft>
              <a:buClr>
                <a:srgbClr val="83992A"/>
              </a:buClr>
              <a:buSzPts val="3200"/>
              <a:buFont typeface="Garamond"/>
              <a:buAutoNum type="alphaUcPeriod"/>
            </a:pPr>
            <a:r>
              <a:rPr lang="fr-FR" sz="2750">
                <a:solidFill>
                  <a:srgbClr val="252525"/>
                </a:solidFill>
                <a:latin typeface="Garamond"/>
                <a:ea typeface="Garamond"/>
                <a:cs typeface="Garamond"/>
                <a:sym typeface="Garamond"/>
              </a:rPr>
              <a:t>Age de l'enfant</a:t>
            </a:r>
            <a:endParaRPr sz="2750">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lang="fr-FR" sz="2750">
                <a:solidFill>
                  <a:srgbClr val="FF0000"/>
                </a:solidFill>
                <a:latin typeface="Garamond"/>
                <a:ea typeface="Garamond"/>
                <a:cs typeface="Garamond"/>
                <a:sym typeface="Garamond"/>
              </a:rPr>
              <a:t>La lutte anxieuse</a:t>
            </a:r>
            <a:endParaRPr sz="2750">
              <a:solidFill>
                <a:srgbClr val="FF0000"/>
              </a:solidFill>
              <a:latin typeface="Garamond"/>
              <a:ea typeface="Garamond"/>
              <a:cs typeface="Garamond"/>
              <a:sym typeface="Garamond"/>
            </a:endParaRPr>
          </a:p>
          <a:p>
            <a:pPr indent="-456565" lvl="0" marL="469265" rtl="0" algn="l">
              <a:lnSpc>
                <a:spcPct val="100000"/>
              </a:lnSpc>
              <a:spcBef>
                <a:spcPts val="819"/>
              </a:spcBef>
              <a:spcAft>
                <a:spcPts val="0"/>
              </a:spcAft>
              <a:buClr>
                <a:srgbClr val="83992A"/>
              </a:buClr>
              <a:buSzPts val="3200"/>
              <a:buFont typeface="Garamond"/>
              <a:buAutoNum type="alphaUcPeriod"/>
            </a:pPr>
            <a:r>
              <a:rPr lang="fr-FR" sz="2750">
                <a:solidFill>
                  <a:srgbClr val="252525"/>
                </a:solidFill>
                <a:latin typeface="Garamond"/>
                <a:ea typeface="Garamond"/>
                <a:cs typeface="Garamond"/>
                <a:sym typeface="Garamond"/>
              </a:rPr>
              <a:t>Durée d'évolution des troubles</a:t>
            </a:r>
            <a:endParaRPr sz="2750">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lang="fr-FR" sz="2750">
                <a:solidFill>
                  <a:srgbClr val="252525"/>
                </a:solidFill>
                <a:latin typeface="Garamond"/>
                <a:ea typeface="Garamond"/>
                <a:cs typeface="Garamond"/>
                <a:sym typeface="Garamond"/>
              </a:rPr>
              <a:t>Attitude de l'enfant au cours de l'entretien</a:t>
            </a:r>
            <a:endParaRPr sz="2750">
              <a:latin typeface="Garamond"/>
              <a:ea typeface="Garamond"/>
              <a:cs typeface="Garamond"/>
              <a:sym typeface="Garamond"/>
            </a:endParaRPr>
          </a:p>
          <a:p>
            <a:pPr indent="-456565" lvl="0" marL="469265" rtl="0" algn="l">
              <a:lnSpc>
                <a:spcPct val="100000"/>
              </a:lnSpc>
              <a:spcBef>
                <a:spcPts val="740"/>
              </a:spcBef>
              <a:spcAft>
                <a:spcPts val="0"/>
              </a:spcAft>
              <a:buClr>
                <a:srgbClr val="83992A"/>
              </a:buClr>
              <a:buSzPts val="3200"/>
              <a:buFont typeface="Garamond"/>
              <a:buAutoNum type="alphaUcPeriod"/>
            </a:pPr>
            <a:r>
              <a:rPr lang="fr-FR" sz="2750">
                <a:solidFill>
                  <a:srgbClr val="252525"/>
                </a:solidFill>
                <a:latin typeface="Garamond"/>
                <a:ea typeface="Garamond"/>
                <a:cs typeface="Garamond"/>
                <a:sym typeface="Garamond"/>
              </a:rPr>
              <a:t>La chronologie de la symptomatologie</a:t>
            </a:r>
            <a:endParaRPr sz="2750">
              <a:latin typeface="Garamond"/>
              <a:ea typeface="Garamond"/>
              <a:cs typeface="Garamond"/>
              <a:sym typeface="Garamond"/>
            </a:endParaRPr>
          </a:p>
        </p:txBody>
      </p:sp>
    </p:spTree>
  </p:cSld>
  <p:clrMapOvr>
    <a:masterClrMapping/>
  </p:clrMapOvr>
</p:sld>
</file>

<file path=ppt/slides/slide2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5" name="Shape 2105"/>
        <p:cNvGrpSpPr/>
        <p:nvPr/>
      </p:nvGrpSpPr>
      <p:grpSpPr>
        <a:xfrm>
          <a:off x="0" y="0"/>
          <a:ext cx="0" cy="0"/>
          <a:chOff x="0" y="0"/>
          <a:chExt cx="0" cy="0"/>
        </a:xfrm>
      </p:grpSpPr>
      <p:sp>
        <p:nvSpPr>
          <p:cNvPr id="2106" name="Google Shape;2106;p263"/>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107" name="Google Shape;2107;p263"/>
          <p:cNvSpPr txBox="1"/>
          <p:nvPr>
            <p:ph type="title"/>
          </p:nvPr>
        </p:nvSpPr>
        <p:spPr>
          <a:xfrm>
            <a:off x="802005" y="636905"/>
            <a:ext cx="10587989" cy="1671955"/>
          </a:xfrm>
          <a:prstGeom prst="rect">
            <a:avLst/>
          </a:prstGeom>
          <a:noFill/>
          <a:ln>
            <a:noFill/>
          </a:ln>
        </p:spPr>
        <p:txBody>
          <a:bodyPr anchorCtr="0" anchor="t" bIns="0" lIns="0" spcFirstLastPara="1" rIns="0" wrap="square" tIns="687050">
            <a:spAutoFit/>
          </a:bodyPr>
          <a:lstStyle/>
          <a:p>
            <a:pPr indent="0" lvl="0" marL="856614" rtl="0" algn="l">
              <a:lnSpc>
                <a:spcPct val="100000"/>
              </a:lnSpc>
              <a:spcBef>
                <a:spcPts val="0"/>
              </a:spcBef>
              <a:spcAft>
                <a:spcPts val="0"/>
              </a:spcAft>
              <a:buNone/>
            </a:pPr>
            <a:r>
              <a:rPr lang="fr-FR"/>
              <a:t>2- La prise en charge de cet enfant repose sur:</a:t>
            </a:r>
            <a:endParaRPr/>
          </a:p>
        </p:txBody>
      </p:sp>
      <p:sp>
        <p:nvSpPr>
          <p:cNvPr id="2108" name="Google Shape;2108;p26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109" name="Google Shape;2109;p263"/>
          <p:cNvSpPr txBox="1"/>
          <p:nvPr/>
        </p:nvSpPr>
        <p:spPr>
          <a:xfrm>
            <a:off x="1375028" y="2469651"/>
            <a:ext cx="9252585" cy="2734082"/>
          </a:xfrm>
          <a:prstGeom prst="rect">
            <a:avLst/>
          </a:prstGeom>
          <a:noFill/>
          <a:ln>
            <a:noFill/>
          </a:ln>
        </p:spPr>
        <p:txBody>
          <a:bodyPr anchorCtr="0" anchor="t" bIns="0" lIns="0" spcFirstLastPara="1" rIns="0" wrap="square" tIns="63500">
            <a:spAutoFit/>
          </a:bodyPr>
          <a:lstStyle/>
          <a:p>
            <a:pPr indent="-457200" lvl="0" marL="469900" rtl="0" algn="l">
              <a:lnSpc>
                <a:spcPct val="100000"/>
              </a:lnSpc>
              <a:spcBef>
                <a:spcPts val="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La prescription d'anxiolytiques</a:t>
            </a:r>
            <a:endParaRPr sz="2400">
              <a:latin typeface="Garamond"/>
              <a:ea typeface="Garamond"/>
              <a:cs typeface="Garamond"/>
              <a:sym typeface="Garamond"/>
            </a:endParaRPr>
          </a:p>
          <a:p>
            <a:pPr indent="-455930" lvl="0" marL="468630" rtl="0" algn="l">
              <a:lnSpc>
                <a:spcPct val="100000"/>
              </a:lnSpc>
              <a:spcBef>
                <a:spcPts val="83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La prescription d'antidépresseurs</a:t>
            </a:r>
            <a:endParaRPr sz="2400">
              <a:latin typeface="Garamond"/>
              <a:ea typeface="Garamond"/>
              <a:cs typeface="Garamond"/>
              <a:sym typeface="Garamond"/>
            </a:endParaRPr>
          </a:p>
          <a:p>
            <a:pPr indent="-455930" lvl="0" marL="468630" rtl="0" algn="l">
              <a:lnSpc>
                <a:spcPct val="100000"/>
              </a:lnSpc>
              <a:spcBef>
                <a:spcPts val="755"/>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L’ arrêt de la scolarité</a:t>
            </a:r>
            <a:endParaRPr sz="2400">
              <a:latin typeface="Garamond"/>
              <a:ea typeface="Garamond"/>
              <a:cs typeface="Garamond"/>
              <a:sym typeface="Garamond"/>
            </a:endParaRPr>
          </a:p>
          <a:p>
            <a:pPr indent="-457200" lvl="0" marL="469900" rtl="0" algn="l">
              <a:lnSpc>
                <a:spcPct val="100000"/>
              </a:lnSpc>
              <a:spcBef>
                <a:spcPts val="760"/>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L’autonomisation de l'enfant</a:t>
            </a:r>
            <a:endParaRPr sz="2400">
              <a:solidFill>
                <a:srgbClr val="FF0000"/>
              </a:solidFill>
              <a:latin typeface="Garamond"/>
              <a:ea typeface="Garamond"/>
              <a:cs typeface="Garamond"/>
              <a:sym typeface="Garamond"/>
            </a:endParaRPr>
          </a:p>
          <a:p>
            <a:pPr indent="-456565" lvl="0" marL="469265" rtl="0" algn="l">
              <a:lnSpc>
                <a:spcPct val="135416"/>
              </a:lnSpc>
              <a:spcBef>
                <a:spcPts val="755"/>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Instauration d'une triangulation avec la séparation de la dyade mère</a:t>
            </a:r>
            <a:endParaRPr sz="2400">
              <a:solidFill>
                <a:srgbClr val="FF0000"/>
              </a:solidFill>
              <a:latin typeface="Garamond"/>
              <a:ea typeface="Garamond"/>
              <a:cs typeface="Garamond"/>
              <a:sym typeface="Garamond"/>
            </a:endParaRPr>
          </a:p>
          <a:p>
            <a:pPr indent="0" lvl="0" marL="469900" rtl="0" algn="l">
              <a:lnSpc>
                <a:spcPct val="117916"/>
              </a:lnSpc>
              <a:spcBef>
                <a:spcPts val="0"/>
              </a:spcBef>
              <a:spcAft>
                <a:spcPts val="0"/>
              </a:spcAft>
              <a:buNone/>
            </a:pPr>
            <a:r>
              <a:rPr b="1" lang="fr-FR" sz="2400">
                <a:solidFill>
                  <a:srgbClr val="FF0000"/>
                </a:solidFill>
                <a:latin typeface="Garamond"/>
                <a:ea typeface="Garamond"/>
                <a:cs typeface="Garamond"/>
                <a:sym typeface="Garamond"/>
              </a:rPr>
              <a:t>enfant</a:t>
            </a:r>
            <a:endParaRPr sz="2400">
              <a:solidFill>
                <a:srgbClr val="FF0000"/>
              </a:solidFill>
              <a:latin typeface="Garamond"/>
              <a:ea typeface="Garamond"/>
              <a:cs typeface="Garamond"/>
              <a:sym typeface="Garamond"/>
            </a:endParaRPr>
          </a:p>
        </p:txBody>
      </p:sp>
    </p:spTree>
  </p:cSld>
  <p:clrMapOvr>
    <a:masterClrMapping/>
  </p:clrMapOvr>
</p:sld>
</file>

<file path=ppt/slides/slide2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3" name="Shape 2113"/>
        <p:cNvGrpSpPr/>
        <p:nvPr/>
      </p:nvGrpSpPr>
      <p:grpSpPr>
        <a:xfrm>
          <a:off x="0" y="0"/>
          <a:ext cx="0" cy="0"/>
          <a:chOff x="0" y="0"/>
          <a:chExt cx="0" cy="0"/>
        </a:xfrm>
      </p:grpSpPr>
      <p:sp>
        <p:nvSpPr>
          <p:cNvPr id="2114" name="Google Shape;2114;p264"/>
          <p:cNvSpPr txBox="1"/>
          <p:nvPr>
            <p:ph type="title"/>
          </p:nvPr>
        </p:nvSpPr>
        <p:spPr>
          <a:xfrm>
            <a:off x="3360165" y="2346325"/>
            <a:ext cx="5485130" cy="112458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fr-FR" sz="7200"/>
              <a:t>Cas clinique 6</a:t>
            </a:r>
            <a:endParaRPr sz="7200"/>
          </a:p>
        </p:txBody>
      </p:sp>
      <p:sp>
        <p:nvSpPr>
          <p:cNvPr id="2115" name="Google Shape;2115;p26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2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9" name="Shape 2119"/>
        <p:cNvGrpSpPr/>
        <p:nvPr/>
      </p:nvGrpSpPr>
      <p:grpSpPr>
        <a:xfrm>
          <a:off x="0" y="0"/>
          <a:ext cx="0" cy="0"/>
          <a:chOff x="0" y="0"/>
          <a:chExt cx="0" cy="0"/>
        </a:xfrm>
      </p:grpSpPr>
      <p:sp>
        <p:nvSpPr>
          <p:cNvPr id="2120" name="Google Shape;2120;p265"/>
          <p:cNvSpPr txBox="1"/>
          <p:nvPr/>
        </p:nvSpPr>
        <p:spPr>
          <a:xfrm>
            <a:off x="1011237" y="839409"/>
            <a:ext cx="10363835" cy="4975225"/>
          </a:xfrm>
          <a:prstGeom prst="rect">
            <a:avLst/>
          </a:prstGeom>
          <a:noFill/>
          <a:ln>
            <a:noFill/>
          </a:ln>
        </p:spPr>
        <p:txBody>
          <a:bodyPr anchorCtr="0" anchor="t" bIns="0" lIns="0" spcFirstLastPara="1" rIns="0" wrap="square" tIns="15225">
            <a:spAutoFit/>
          </a:bodyPr>
          <a:lstStyle/>
          <a:p>
            <a:pPr indent="0" lvl="0" marL="12700" marR="5080" rtl="0" algn="just">
              <a:lnSpc>
                <a:spcPct val="150300"/>
              </a:lnSpc>
              <a:spcBef>
                <a:spcPts val="0"/>
              </a:spcBef>
              <a:spcAft>
                <a:spcPts val="0"/>
              </a:spcAft>
              <a:buNone/>
            </a:pPr>
            <a:r>
              <a:rPr lang="fr-FR" sz="2400">
                <a:latin typeface="Garamond"/>
                <a:ea typeface="Garamond"/>
                <a:cs typeface="Garamond"/>
                <a:sym typeface="Garamond"/>
              </a:rPr>
              <a:t>Vous  recevez  en  consultation  Mr  M.D.,  26  ans,  informaticien,  qui  consulte  à  la demande de sa mère qui s'inquiète à propos de « ses habitudes ». En effet, il doit vérifier trois fois chaque interrupteur électrique et l'arrivée de gaz car il craint qu’ils ne restent ouverts et qu’ils ne provoquent un accident. Il lave plusieurs fois les mains et ça peut durer des heures pour soulager son esprit qui est envahi par la pensée de microbes sur ses mains. Il vous explique qu'il a choisi de travailler chez lui car à chaque fois qu'il prend la voiture, il craint qu'il a poussé un piéton sous les roues d'une voiture. Pour soulager cette pensée absurde, il a l'habitude de compte à rebours à partir de 33 tout en alternant des mouvements de la main droite.</a:t>
            </a:r>
            <a:endParaRPr sz="2400">
              <a:latin typeface="Garamond"/>
              <a:ea typeface="Garamond"/>
              <a:cs typeface="Garamond"/>
              <a:sym typeface="Garamond"/>
            </a:endParaRPr>
          </a:p>
        </p:txBody>
      </p:sp>
      <p:sp>
        <p:nvSpPr>
          <p:cNvPr id="2121" name="Google Shape;2121;p26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2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5" name="Shape 2125"/>
        <p:cNvGrpSpPr/>
        <p:nvPr/>
      </p:nvGrpSpPr>
      <p:grpSpPr>
        <a:xfrm>
          <a:off x="0" y="0"/>
          <a:ext cx="0" cy="0"/>
          <a:chOff x="0" y="0"/>
          <a:chExt cx="0" cy="0"/>
        </a:xfrm>
      </p:grpSpPr>
      <p:sp>
        <p:nvSpPr>
          <p:cNvPr id="2126" name="Google Shape;2126;p266"/>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127" name="Google Shape;2127;p266"/>
          <p:cNvSpPr txBox="1"/>
          <p:nvPr>
            <p:ph type="title"/>
          </p:nvPr>
        </p:nvSpPr>
        <p:spPr>
          <a:xfrm>
            <a:off x="1375028" y="1240536"/>
            <a:ext cx="7626350" cy="70104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fr-FR" sz="4400"/>
              <a:t>1.	Les inquiétudes de ce patient:</a:t>
            </a:r>
            <a:endParaRPr sz="4400"/>
          </a:p>
        </p:txBody>
      </p:sp>
      <p:sp>
        <p:nvSpPr>
          <p:cNvPr id="2128" name="Google Shape;2128;p26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129" name="Google Shape;2129;p266"/>
          <p:cNvSpPr txBox="1"/>
          <p:nvPr/>
        </p:nvSpPr>
        <p:spPr>
          <a:xfrm>
            <a:off x="1375028" y="2469651"/>
            <a:ext cx="6092572" cy="2321148"/>
          </a:xfrm>
          <a:prstGeom prst="rect">
            <a:avLst/>
          </a:prstGeom>
          <a:noFill/>
          <a:ln>
            <a:noFill/>
          </a:ln>
        </p:spPr>
        <p:txBody>
          <a:bodyPr anchorCtr="0" anchor="t" bIns="0" lIns="0" spcFirstLastPara="1" rIns="0" wrap="square" tIns="63500">
            <a:spAutoFit/>
          </a:bodyPr>
          <a:lstStyle/>
          <a:p>
            <a:pPr indent="-457200" lvl="0" marL="469900" rtl="0" algn="l">
              <a:lnSpc>
                <a:spcPct val="100000"/>
              </a:lnSpc>
              <a:spcBef>
                <a:spcPts val="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Sont égosyntoniques</a:t>
            </a:r>
            <a:endParaRPr b="1" sz="2400">
              <a:latin typeface="Garamond"/>
              <a:ea typeface="Garamond"/>
              <a:cs typeface="Garamond"/>
              <a:sym typeface="Garamond"/>
            </a:endParaRPr>
          </a:p>
          <a:p>
            <a:pPr indent="-457200" lvl="0" marL="469900" rtl="0" algn="l">
              <a:lnSpc>
                <a:spcPct val="100000"/>
              </a:lnSpc>
              <a:spcBef>
                <a:spcPts val="83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Sont faciles à contrôler</a:t>
            </a:r>
            <a:endParaRPr b="1" sz="2400">
              <a:latin typeface="Garamond"/>
              <a:ea typeface="Garamond"/>
              <a:cs typeface="Garamond"/>
              <a:sym typeface="Garamond"/>
            </a:endParaRPr>
          </a:p>
          <a:p>
            <a:pPr indent="-457200" lvl="0" marL="469900" rtl="0" algn="l">
              <a:lnSpc>
                <a:spcPct val="100000"/>
              </a:lnSpc>
              <a:spcBef>
                <a:spcPts val="755"/>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Imprègnent son fonctionnement psychique</a:t>
            </a:r>
            <a:endParaRPr b="1" sz="2400">
              <a:solidFill>
                <a:srgbClr val="FF0000"/>
              </a:solidFill>
              <a:latin typeface="Garamond"/>
              <a:ea typeface="Garamond"/>
              <a:cs typeface="Garamond"/>
              <a:sym typeface="Garamond"/>
            </a:endParaRPr>
          </a:p>
          <a:p>
            <a:pPr indent="-456565" lvl="0" marL="469265" rtl="0" algn="l">
              <a:lnSpc>
                <a:spcPct val="100000"/>
              </a:lnSpc>
              <a:spcBef>
                <a:spcPts val="760"/>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Sont responsables d'une lutte anxieuse</a:t>
            </a:r>
            <a:endParaRPr b="1" sz="2400">
              <a:solidFill>
                <a:srgbClr val="FF0000"/>
              </a:solidFill>
              <a:latin typeface="Garamond"/>
              <a:ea typeface="Garamond"/>
              <a:cs typeface="Garamond"/>
              <a:sym typeface="Garamond"/>
            </a:endParaRPr>
          </a:p>
          <a:p>
            <a:pPr indent="-457200" lvl="0" marL="469900" rtl="0" algn="l">
              <a:lnSpc>
                <a:spcPct val="100000"/>
              </a:lnSpc>
              <a:spcBef>
                <a:spcPts val="755"/>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Sont jugées comme absurdes</a:t>
            </a:r>
            <a:endParaRPr b="1" sz="2400">
              <a:solidFill>
                <a:srgbClr val="FF0000"/>
              </a:solidFill>
              <a:latin typeface="Garamond"/>
              <a:ea typeface="Garamond"/>
              <a:cs typeface="Garamond"/>
              <a:sym typeface="Garamond"/>
            </a:endParaRPr>
          </a:p>
        </p:txBody>
      </p:sp>
    </p:spTree>
  </p:cSld>
  <p:clrMapOvr>
    <a:masterClrMapping/>
  </p:clrMapOvr>
</p:sld>
</file>

<file path=ppt/slides/slide2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3" name="Shape 2133"/>
        <p:cNvGrpSpPr/>
        <p:nvPr/>
      </p:nvGrpSpPr>
      <p:grpSpPr>
        <a:xfrm>
          <a:off x="0" y="0"/>
          <a:ext cx="0" cy="0"/>
          <a:chOff x="0" y="0"/>
          <a:chExt cx="0" cy="0"/>
        </a:xfrm>
      </p:grpSpPr>
      <p:sp>
        <p:nvSpPr>
          <p:cNvPr id="2134" name="Google Shape;2134;p267"/>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135" name="Google Shape;2135;p267"/>
          <p:cNvSpPr txBox="1"/>
          <p:nvPr>
            <p:ph type="title"/>
          </p:nvPr>
        </p:nvSpPr>
        <p:spPr>
          <a:xfrm>
            <a:off x="1375028" y="975105"/>
            <a:ext cx="9452610"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solidFill>
                  <a:srgbClr val="000000"/>
                </a:solidFill>
              </a:rPr>
              <a:t>2.	La	crainte	obsédante	de	contracter	des microbes est une :</a:t>
            </a:r>
            <a:endParaRPr sz="3950"/>
          </a:p>
        </p:txBody>
      </p:sp>
      <p:sp>
        <p:nvSpPr>
          <p:cNvPr id="2136" name="Google Shape;2136;p26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137" name="Google Shape;2137;p267"/>
          <p:cNvSpPr txBox="1"/>
          <p:nvPr/>
        </p:nvSpPr>
        <p:spPr>
          <a:xfrm>
            <a:off x="1519555" y="2563471"/>
            <a:ext cx="4347845" cy="2568011"/>
          </a:xfrm>
          <a:prstGeom prst="rect">
            <a:avLst/>
          </a:prstGeom>
          <a:noFill/>
          <a:ln>
            <a:noFill/>
          </a:ln>
        </p:spPr>
        <p:txBody>
          <a:bodyPr anchorCtr="0" anchor="t" bIns="0" lIns="0" spcFirstLastPara="1" rIns="0" wrap="square" tIns="53975">
            <a:spAutoFit/>
          </a:bodyPr>
          <a:lstStyle/>
          <a:p>
            <a:pPr indent="-456565" lvl="0" marL="469265" rtl="0" algn="l">
              <a:lnSpc>
                <a:spcPct val="100000"/>
              </a:lnSpc>
              <a:spcBef>
                <a:spcPts val="0"/>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Obsession phobique</a:t>
            </a:r>
            <a:endParaRPr b="1" sz="2750">
              <a:solidFill>
                <a:srgbClr val="FF0000"/>
              </a:solidFill>
              <a:latin typeface="Garamond"/>
              <a:ea typeface="Garamond"/>
              <a:cs typeface="Garamond"/>
              <a:sym typeface="Garamond"/>
            </a:endParaRPr>
          </a:p>
          <a:p>
            <a:pPr indent="-457200" lvl="0" marL="469900" rtl="0" algn="l">
              <a:lnSpc>
                <a:spcPct val="100000"/>
              </a:lnSpc>
              <a:spcBef>
                <a:spcPts val="815"/>
              </a:spcBef>
              <a:spcAft>
                <a:spcPts val="0"/>
              </a:spcAft>
              <a:buClr>
                <a:srgbClr val="83992A"/>
              </a:buClr>
              <a:buSzPts val="3200"/>
              <a:buFont typeface="Garamond"/>
              <a:buAutoNum type="alphaUcPeriod"/>
            </a:pPr>
            <a:r>
              <a:rPr b="1" lang="fr-FR" sz="2750">
                <a:latin typeface="Garamond"/>
                <a:ea typeface="Garamond"/>
                <a:cs typeface="Garamond"/>
                <a:sym typeface="Garamond"/>
              </a:rPr>
              <a:t>Nosophobie</a:t>
            </a:r>
            <a:endParaRPr b="1" sz="2750">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latin typeface="Garamond"/>
                <a:ea typeface="Garamond"/>
                <a:cs typeface="Garamond"/>
                <a:sym typeface="Garamond"/>
              </a:rPr>
              <a:t>Phobie spécifique</a:t>
            </a:r>
            <a:endParaRPr b="1" sz="2750">
              <a:latin typeface="Garamond"/>
              <a:ea typeface="Garamond"/>
              <a:cs typeface="Garamond"/>
              <a:sym typeface="Garamond"/>
            </a:endParaRPr>
          </a:p>
          <a:p>
            <a:pPr indent="-456565" lvl="0" marL="469265"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Obsession idéative</a:t>
            </a:r>
            <a:endParaRPr b="1" sz="2750">
              <a:latin typeface="Garamond"/>
              <a:ea typeface="Garamond"/>
              <a:cs typeface="Garamond"/>
              <a:sym typeface="Garamond"/>
            </a:endParaRPr>
          </a:p>
          <a:p>
            <a:pPr indent="-456565" lvl="0" marL="469265" rtl="0" algn="l">
              <a:lnSpc>
                <a:spcPct val="100000"/>
              </a:lnSpc>
              <a:spcBef>
                <a:spcPts val="7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conduite d'évitement</a:t>
            </a:r>
            <a:endParaRPr b="1" sz="2750">
              <a:latin typeface="Garamond"/>
              <a:ea typeface="Garamond"/>
              <a:cs typeface="Garamond"/>
              <a:sym typeface="Garamond"/>
            </a:endParaRPr>
          </a:p>
        </p:txBody>
      </p:sp>
    </p:spTree>
  </p:cSld>
  <p:clrMapOvr>
    <a:masterClrMapping/>
  </p:clrMapOvr>
</p:sld>
</file>

<file path=ppt/slides/slide2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1" name="Shape 2141"/>
        <p:cNvGrpSpPr/>
        <p:nvPr/>
      </p:nvGrpSpPr>
      <p:grpSpPr>
        <a:xfrm>
          <a:off x="0" y="0"/>
          <a:ext cx="0" cy="0"/>
          <a:chOff x="0" y="0"/>
          <a:chExt cx="0" cy="0"/>
        </a:xfrm>
      </p:grpSpPr>
      <p:sp>
        <p:nvSpPr>
          <p:cNvPr id="2142" name="Google Shape;2142;p268"/>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143" name="Google Shape;2143;p268"/>
          <p:cNvSpPr txBox="1"/>
          <p:nvPr>
            <p:ph type="title"/>
          </p:nvPr>
        </p:nvSpPr>
        <p:spPr>
          <a:xfrm>
            <a:off x="1375028" y="975105"/>
            <a:ext cx="9451975"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t>3.Le	fait	de	compter	à	rebours	décrit	dans l'observation correspond à :</a:t>
            </a:r>
            <a:endParaRPr sz="3950"/>
          </a:p>
        </p:txBody>
      </p:sp>
      <p:sp>
        <p:nvSpPr>
          <p:cNvPr id="2144" name="Google Shape;2144;p26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145" name="Google Shape;2145;p268"/>
          <p:cNvSpPr txBox="1"/>
          <p:nvPr/>
        </p:nvSpPr>
        <p:spPr>
          <a:xfrm>
            <a:off x="1375028" y="2469651"/>
            <a:ext cx="3654172" cy="2321148"/>
          </a:xfrm>
          <a:prstGeom prst="rect">
            <a:avLst/>
          </a:prstGeom>
          <a:noFill/>
          <a:ln>
            <a:noFill/>
          </a:ln>
        </p:spPr>
        <p:txBody>
          <a:bodyPr anchorCtr="0" anchor="t" bIns="0" lIns="0" spcFirstLastPara="1" rIns="0" wrap="square" tIns="63500">
            <a:spAutoFit/>
          </a:bodyPr>
          <a:lstStyle/>
          <a:p>
            <a:pPr indent="-457200" lvl="0" marL="469900" rtl="0" algn="l">
              <a:lnSpc>
                <a:spcPct val="100000"/>
              </a:lnSpc>
              <a:spcBef>
                <a:spcPts val="0"/>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Des compulsions</a:t>
            </a:r>
            <a:endParaRPr b="1" sz="2400">
              <a:solidFill>
                <a:srgbClr val="FF0000"/>
              </a:solidFill>
              <a:latin typeface="Garamond"/>
              <a:ea typeface="Garamond"/>
              <a:cs typeface="Garamond"/>
              <a:sym typeface="Garamond"/>
            </a:endParaRPr>
          </a:p>
          <a:p>
            <a:pPr indent="-457200" lvl="0" marL="469900" rtl="0" algn="l">
              <a:lnSpc>
                <a:spcPct val="100000"/>
              </a:lnSpc>
              <a:spcBef>
                <a:spcPts val="830"/>
              </a:spcBef>
              <a:spcAft>
                <a:spcPts val="0"/>
              </a:spcAft>
              <a:buClr>
                <a:srgbClr val="83992A"/>
              </a:buClr>
              <a:buSzPts val="2750"/>
              <a:buFont typeface="Garamond"/>
              <a:buAutoNum type="alphaUcPeriod"/>
            </a:pPr>
            <a:r>
              <a:rPr b="1" lang="fr-FR" sz="2400">
                <a:solidFill>
                  <a:srgbClr val="FF0000"/>
                </a:solidFill>
                <a:latin typeface="Garamond"/>
                <a:ea typeface="Garamond"/>
                <a:cs typeface="Garamond"/>
                <a:sym typeface="Garamond"/>
              </a:rPr>
              <a:t>Des rituels</a:t>
            </a:r>
            <a:endParaRPr b="1" sz="2400">
              <a:solidFill>
                <a:srgbClr val="FF0000"/>
              </a:solidFill>
              <a:latin typeface="Garamond"/>
              <a:ea typeface="Garamond"/>
              <a:cs typeface="Garamond"/>
              <a:sym typeface="Garamond"/>
            </a:endParaRPr>
          </a:p>
          <a:p>
            <a:pPr indent="-457200" lvl="0" marL="469900" rtl="0" algn="l">
              <a:lnSpc>
                <a:spcPct val="100000"/>
              </a:lnSpc>
              <a:spcBef>
                <a:spcPts val="755"/>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Un évitement</a:t>
            </a:r>
            <a:endParaRPr b="1" sz="2400">
              <a:latin typeface="Garamond"/>
              <a:ea typeface="Garamond"/>
              <a:cs typeface="Garamond"/>
              <a:sym typeface="Garamond"/>
            </a:endParaRPr>
          </a:p>
          <a:p>
            <a:pPr indent="-456565" lvl="0" marL="469265" rtl="0" algn="l">
              <a:lnSpc>
                <a:spcPct val="100000"/>
              </a:lnSpc>
              <a:spcBef>
                <a:spcPts val="760"/>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Une soliloquie</a:t>
            </a:r>
            <a:endParaRPr b="1" sz="2400">
              <a:latin typeface="Garamond"/>
              <a:ea typeface="Garamond"/>
              <a:cs typeface="Garamond"/>
              <a:sym typeface="Garamond"/>
            </a:endParaRPr>
          </a:p>
          <a:p>
            <a:pPr indent="-457200" lvl="0" marL="469900" rtl="0" algn="l">
              <a:lnSpc>
                <a:spcPct val="100000"/>
              </a:lnSpc>
              <a:spcBef>
                <a:spcPts val="755"/>
              </a:spcBef>
              <a:spcAft>
                <a:spcPts val="0"/>
              </a:spcAft>
              <a:buClr>
                <a:srgbClr val="83992A"/>
              </a:buClr>
              <a:buSzPts val="2750"/>
              <a:buFont typeface="Garamond"/>
              <a:buAutoNum type="alphaUcPeriod"/>
            </a:pPr>
            <a:r>
              <a:rPr b="1" lang="fr-FR" sz="2400">
                <a:solidFill>
                  <a:srgbClr val="252525"/>
                </a:solidFill>
                <a:latin typeface="Garamond"/>
                <a:ea typeface="Garamond"/>
                <a:cs typeface="Garamond"/>
                <a:sym typeface="Garamond"/>
              </a:rPr>
              <a:t>Un automatisme mental</a:t>
            </a:r>
            <a:endParaRPr b="1" sz="2400">
              <a:latin typeface="Garamond"/>
              <a:ea typeface="Garamond"/>
              <a:cs typeface="Garamond"/>
              <a:sym typeface="Garamond"/>
            </a:endParaRPr>
          </a:p>
        </p:txBody>
      </p:sp>
    </p:spTree>
  </p:cSld>
  <p:clrMapOvr>
    <a:masterClrMapping/>
  </p:clrMapOvr>
</p:sld>
</file>

<file path=ppt/slides/slide2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9" name="Shape 2149"/>
        <p:cNvGrpSpPr/>
        <p:nvPr/>
      </p:nvGrpSpPr>
      <p:grpSpPr>
        <a:xfrm>
          <a:off x="0" y="0"/>
          <a:ext cx="0" cy="0"/>
          <a:chOff x="0" y="0"/>
          <a:chExt cx="0" cy="0"/>
        </a:xfrm>
      </p:grpSpPr>
      <p:sp>
        <p:nvSpPr>
          <p:cNvPr id="2150" name="Google Shape;2150;p269"/>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151" name="Google Shape;2151;p269"/>
          <p:cNvSpPr txBox="1"/>
          <p:nvPr>
            <p:ph type="title"/>
          </p:nvPr>
        </p:nvSpPr>
        <p:spPr>
          <a:xfrm>
            <a:off x="1375028" y="904176"/>
            <a:ext cx="8980805" cy="1369060"/>
          </a:xfrm>
          <a:prstGeom prst="rect">
            <a:avLst/>
          </a:prstGeom>
          <a:noFill/>
          <a:ln>
            <a:noFill/>
          </a:ln>
        </p:spPr>
        <p:txBody>
          <a:bodyPr anchorCtr="0" anchor="t" bIns="0" lIns="0" spcFirstLastPara="1" rIns="0" wrap="square" tIns="32375">
            <a:spAutoFit/>
          </a:bodyPr>
          <a:lstStyle/>
          <a:p>
            <a:pPr indent="0" lvl="0" marL="12700" marR="5080" rtl="0" algn="l">
              <a:lnSpc>
                <a:spcPct val="119545"/>
              </a:lnSpc>
              <a:spcBef>
                <a:spcPts val="0"/>
              </a:spcBef>
              <a:spcAft>
                <a:spcPts val="0"/>
              </a:spcAft>
              <a:buNone/>
            </a:pPr>
            <a:r>
              <a:rPr lang="fr-FR" sz="4400"/>
              <a:t>4- Le diagnostic le plus probable chez ce patient</a:t>
            </a:r>
            <a:r>
              <a:rPr b="0" lang="fr-FR" sz="4400">
                <a:latin typeface="Garamond"/>
                <a:ea typeface="Garamond"/>
                <a:cs typeface="Garamond"/>
                <a:sym typeface="Garamond"/>
              </a:rPr>
              <a:t>:</a:t>
            </a:r>
            <a:endParaRPr sz="4400">
              <a:latin typeface="Garamond"/>
              <a:ea typeface="Garamond"/>
              <a:cs typeface="Garamond"/>
              <a:sym typeface="Garamond"/>
            </a:endParaRPr>
          </a:p>
        </p:txBody>
      </p:sp>
      <p:sp>
        <p:nvSpPr>
          <p:cNvPr id="2152" name="Google Shape;2152;p26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153" name="Google Shape;2153;p269"/>
          <p:cNvSpPr txBox="1"/>
          <p:nvPr/>
        </p:nvSpPr>
        <p:spPr>
          <a:xfrm>
            <a:off x="1375028" y="2469102"/>
            <a:ext cx="5718810" cy="2568652"/>
          </a:xfrm>
          <a:prstGeom prst="rect">
            <a:avLst/>
          </a:prstGeom>
          <a:noFill/>
          <a:ln>
            <a:noFill/>
          </a:ln>
        </p:spPr>
        <p:txBody>
          <a:bodyPr anchorCtr="0" anchor="t" bIns="0" lIns="0" spcFirstLastPara="1" rIns="0" wrap="square" tIns="54600">
            <a:spAutoFit/>
          </a:bodyPr>
          <a:lstStyle/>
          <a:p>
            <a:pPr indent="-456565" lvl="0" marL="469265"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Une Schizophrénie</a:t>
            </a:r>
            <a:endParaRPr sz="2750">
              <a:latin typeface="Garamond"/>
              <a:ea typeface="Garamond"/>
              <a:cs typeface="Garamond"/>
              <a:sym typeface="Garamond"/>
            </a:endParaRPr>
          </a:p>
          <a:p>
            <a:pPr indent="-457200" lvl="0" marL="469900"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 trouble anxiété généralisée</a:t>
            </a:r>
            <a:endParaRPr sz="2750">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rgbClr val="FF0000"/>
                </a:solidFill>
                <a:latin typeface="Garamond"/>
                <a:ea typeface="Garamond"/>
                <a:cs typeface="Garamond"/>
                <a:sym typeface="Garamond"/>
              </a:rPr>
              <a:t>Un trouble obsessionnel compulsif</a:t>
            </a:r>
            <a:endParaRPr sz="2750">
              <a:solidFill>
                <a:srgbClr val="FF0000"/>
              </a:solidFill>
              <a:latin typeface="Garamond"/>
              <a:ea typeface="Garamond"/>
              <a:cs typeface="Garamond"/>
              <a:sym typeface="Garamond"/>
            </a:endParaRPr>
          </a:p>
          <a:p>
            <a:pPr indent="-455930" lvl="0" marL="46863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 trouble délirant</a:t>
            </a:r>
            <a:endParaRPr sz="2750">
              <a:latin typeface="Garamond"/>
              <a:ea typeface="Garamond"/>
              <a:cs typeface="Garamond"/>
              <a:sym typeface="Garamond"/>
            </a:endParaRPr>
          </a:p>
          <a:p>
            <a:pPr indent="-455930" lvl="0" marL="468630" rtl="0" algn="l">
              <a:lnSpc>
                <a:spcPct val="100000"/>
              </a:lnSpc>
              <a:spcBef>
                <a:spcPts val="7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Un état de stress post traumatique</a:t>
            </a:r>
            <a:endParaRPr sz="2750">
              <a:latin typeface="Garamond"/>
              <a:ea typeface="Garamond"/>
              <a:cs typeface="Garamond"/>
              <a:sym typeface="Garamond"/>
            </a:endParaRPr>
          </a:p>
        </p:txBody>
      </p:sp>
    </p:spTree>
  </p:cSld>
  <p:clrMapOvr>
    <a:masterClrMapping/>
  </p:clrMapOvr>
</p:sld>
</file>

<file path=ppt/slides/slide2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7" name="Shape 2157"/>
        <p:cNvGrpSpPr/>
        <p:nvPr/>
      </p:nvGrpSpPr>
      <p:grpSpPr>
        <a:xfrm>
          <a:off x="0" y="0"/>
          <a:ext cx="0" cy="0"/>
          <a:chOff x="0" y="0"/>
          <a:chExt cx="0" cy="0"/>
        </a:xfrm>
      </p:grpSpPr>
      <p:sp>
        <p:nvSpPr>
          <p:cNvPr id="2158" name="Google Shape;2158;p270"/>
          <p:cNvSpPr txBox="1"/>
          <p:nvPr>
            <p:ph type="title"/>
          </p:nvPr>
        </p:nvSpPr>
        <p:spPr>
          <a:xfrm>
            <a:off x="3360165" y="2346325"/>
            <a:ext cx="5485130" cy="112458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fr-FR" sz="7200"/>
              <a:t>Cas clinique 7</a:t>
            </a:r>
            <a:endParaRPr sz="7200"/>
          </a:p>
        </p:txBody>
      </p:sp>
      <p:sp>
        <p:nvSpPr>
          <p:cNvPr id="2159" name="Google Shape;2159;p27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2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3" name="Shape 2163"/>
        <p:cNvGrpSpPr/>
        <p:nvPr/>
      </p:nvGrpSpPr>
      <p:grpSpPr>
        <a:xfrm>
          <a:off x="0" y="0"/>
          <a:ext cx="0" cy="0"/>
          <a:chOff x="0" y="0"/>
          <a:chExt cx="0" cy="0"/>
        </a:xfrm>
      </p:grpSpPr>
      <p:sp>
        <p:nvSpPr>
          <p:cNvPr id="2164" name="Google Shape;2164;p271"/>
          <p:cNvSpPr txBox="1"/>
          <p:nvPr/>
        </p:nvSpPr>
        <p:spPr>
          <a:xfrm>
            <a:off x="832167" y="772731"/>
            <a:ext cx="10621645" cy="5271135"/>
          </a:xfrm>
          <a:prstGeom prst="rect">
            <a:avLst/>
          </a:prstGeom>
          <a:noFill/>
          <a:ln>
            <a:noFill/>
          </a:ln>
        </p:spPr>
        <p:txBody>
          <a:bodyPr anchorCtr="0" anchor="t" bIns="0" lIns="0" spcFirstLastPara="1" rIns="0" wrap="square" tIns="14600">
            <a:spAutoFit/>
          </a:bodyPr>
          <a:lstStyle/>
          <a:p>
            <a:pPr indent="-284480" lvl="0" marL="297180" marR="5080" rtl="0" algn="just">
              <a:lnSpc>
                <a:spcPct val="150600"/>
              </a:lnSpc>
              <a:spcBef>
                <a:spcPts val="0"/>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Madame F., âgée de 42 ans, consulte pour </a:t>
            </a:r>
            <a:r>
              <a:rPr b="1" lang="fr-FR" sz="2400">
                <a:solidFill>
                  <a:srgbClr val="252525"/>
                </a:solidFill>
                <a:latin typeface="Garamond"/>
                <a:ea typeface="Garamond"/>
                <a:cs typeface="Garamond"/>
                <a:sym typeface="Garamond"/>
              </a:rPr>
              <a:t>des difficultés de maintien du sommeil 	</a:t>
            </a:r>
            <a:r>
              <a:rPr lang="fr-FR" sz="2400">
                <a:solidFill>
                  <a:srgbClr val="252525"/>
                </a:solidFill>
                <a:latin typeface="Garamond"/>
                <a:ea typeface="Garamond"/>
                <a:cs typeface="Garamond"/>
                <a:sym typeface="Garamond"/>
              </a:rPr>
              <a:t>quotidiennes et  dont la  fréquence  s'accentue depuis  deux  mois.  Elle se plaint  de 	</a:t>
            </a:r>
            <a:r>
              <a:rPr b="1" lang="fr-FR" sz="2400">
                <a:solidFill>
                  <a:srgbClr val="252525"/>
                </a:solidFill>
                <a:latin typeface="Garamond"/>
                <a:ea typeface="Garamond"/>
                <a:cs typeface="Garamond"/>
                <a:sym typeface="Garamond"/>
              </a:rPr>
              <a:t>céphalées, de troubles de la concentration et de fatigabilité </a:t>
            </a:r>
            <a:r>
              <a:rPr lang="fr-FR" sz="2400">
                <a:solidFill>
                  <a:srgbClr val="252525"/>
                </a:solidFill>
                <a:latin typeface="Garamond"/>
                <a:ea typeface="Garamond"/>
                <a:cs typeface="Garamond"/>
                <a:sym typeface="Garamond"/>
              </a:rPr>
              <a:t>évoluant depuis une 	dizaine d'années et qu'elle relie à son stress quotidien. Elle perd souvent ses affaires 	personnelles.</a:t>
            </a:r>
            <a:endParaRPr sz="2400">
              <a:latin typeface="Garamond"/>
              <a:ea typeface="Garamond"/>
              <a:cs typeface="Garamond"/>
              <a:sym typeface="Garamond"/>
            </a:endParaRPr>
          </a:p>
          <a:p>
            <a:pPr indent="-284480" lvl="0" marL="297180" marR="5080" rtl="0" algn="just">
              <a:lnSpc>
                <a:spcPct val="148700"/>
              </a:lnSpc>
              <a:spcBef>
                <a:spcPts val="1200"/>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Elle reconnaît être </a:t>
            </a:r>
            <a:r>
              <a:rPr b="1" lang="fr-FR" sz="2400">
                <a:solidFill>
                  <a:srgbClr val="252525"/>
                </a:solidFill>
                <a:latin typeface="Garamond"/>
                <a:ea typeface="Garamond"/>
                <a:cs typeface="Garamond"/>
                <a:sym typeface="Garamond"/>
              </a:rPr>
              <a:t>préoccupée par tout au quotidien </a:t>
            </a:r>
            <a:r>
              <a:rPr lang="fr-FR" sz="2400">
                <a:solidFill>
                  <a:srgbClr val="252525"/>
                </a:solidFill>
                <a:latin typeface="Garamond"/>
                <a:ea typeface="Garamond"/>
                <a:cs typeface="Garamond"/>
                <a:sym typeface="Garamond"/>
              </a:rPr>
              <a:t>malgré les réassurances de son 	entourage.</a:t>
            </a:r>
            <a:endParaRPr sz="2400">
              <a:latin typeface="Garamond"/>
              <a:ea typeface="Garamond"/>
              <a:cs typeface="Garamond"/>
              <a:sym typeface="Garamond"/>
            </a:endParaRPr>
          </a:p>
          <a:p>
            <a:pPr indent="-284480" lvl="0" marL="297180" marR="6350" rtl="0" algn="just">
              <a:lnSpc>
                <a:spcPct val="148600"/>
              </a:lnSpc>
              <a:spcBef>
                <a:spcPts val="1275"/>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Elle se dit débordée récemment car sa fille aînée entame son année du bac, une année 	cruciale pour son avenir.</a:t>
            </a:r>
            <a:endParaRPr sz="2400">
              <a:latin typeface="Garamond"/>
              <a:ea typeface="Garamond"/>
              <a:cs typeface="Garamond"/>
              <a:sym typeface="Garamond"/>
            </a:endParaRPr>
          </a:p>
        </p:txBody>
      </p:sp>
      <p:sp>
        <p:nvSpPr>
          <p:cNvPr id="2165" name="Google Shape;2165;p27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2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9" name="Shape 2169"/>
        <p:cNvGrpSpPr/>
        <p:nvPr/>
      </p:nvGrpSpPr>
      <p:grpSpPr>
        <a:xfrm>
          <a:off x="0" y="0"/>
          <a:ext cx="0" cy="0"/>
          <a:chOff x="0" y="0"/>
          <a:chExt cx="0" cy="0"/>
        </a:xfrm>
      </p:grpSpPr>
      <p:sp>
        <p:nvSpPr>
          <p:cNvPr id="2170" name="Google Shape;2170;p272"/>
          <p:cNvSpPr txBox="1"/>
          <p:nvPr/>
        </p:nvSpPr>
        <p:spPr>
          <a:xfrm>
            <a:off x="832167" y="1111630"/>
            <a:ext cx="10381615" cy="4665345"/>
          </a:xfrm>
          <a:prstGeom prst="rect">
            <a:avLst/>
          </a:prstGeom>
          <a:noFill/>
          <a:ln>
            <a:noFill/>
          </a:ln>
        </p:spPr>
        <p:txBody>
          <a:bodyPr anchorCtr="0" anchor="t" bIns="0" lIns="0" spcFirstLastPara="1" rIns="0" wrap="square" tIns="16500">
            <a:spAutoFit/>
          </a:bodyPr>
          <a:lstStyle/>
          <a:p>
            <a:pPr indent="-285115" lvl="0" marL="297815" rtl="0" algn="l">
              <a:lnSpc>
                <a:spcPct val="100000"/>
              </a:lnSpc>
              <a:spcBef>
                <a:spcPts val="0"/>
              </a:spcBef>
              <a:spcAft>
                <a:spcPts val="0"/>
              </a:spcAft>
              <a:buClr>
                <a:srgbClr val="83992A"/>
              </a:buClr>
              <a:buSzPts val="3200"/>
              <a:buFont typeface="Arial"/>
              <a:buChar char="•"/>
            </a:pPr>
            <a:r>
              <a:rPr lang="fr-FR" sz="2750">
                <a:solidFill>
                  <a:srgbClr val="252525"/>
                </a:solidFill>
                <a:latin typeface="Garamond"/>
                <a:ea typeface="Garamond"/>
                <a:cs typeface="Garamond"/>
                <a:sym typeface="Garamond"/>
              </a:rPr>
              <a:t>Elle a	emmené	son	fils	de	trois	ans	consulter	un	pédopsychiatre	parce</a:t>
            </a:r>
            <a:endParaRPr sz="2750">
              <a:latin typeface="Garamond"/>
              <a:ea typeface="Garamond"/>
              <a:cs typeface="Garamond"/>
              <a:sym typeface="Garamond"/>
            </a:endParaRPr>
          </a:p>
          <a:p>
            <a:pPr indent="0" lvl="0" marL="298450" rtl="0" algn="just">
              <a:lnSpc>
                <a:spcPct val="100000"/>
              </a:lnSpc>
              <a:spcBef>
                <a:spcPts val="3085"/>
              </a:spcBef>
              <a:spcAft>
                <a:spcPts val="0"/>
              </a:spcAft>
              <a:buNone/>
            </a:pPr>
            <a:r>
              <a:rPr lang="fr-FR" sz="2750">
                <a:solidFill>
                  <a:srgbClr val="252525"/>
                </a:solidFill>
                <a:latin typeface="Garamond"/>
                <a:ea typeface="Garamond"/>
                <a:cs typeface="Garamond"/>
                <a:sym typeface="Garamond"/>
              </a:rPr>
              <a:t>qu'elle le trouve « distrait » et craint qu'il soit hyperactif.</a:t>
            </a:r>
            <a:endParaRPr sz="2750">
              <a:latin typeface="Garamond"/>
              <a:ea typeface="Garamond"/>
              <a:cs typeface="Garamond"/>
              <a:sym typeface="Garamond"/>
            </a:endParaRPr>
          </a:p>
          <a:p>
            <a:pPr indent="-285750" lvl="0" marL="298450" marR="5080" rtl="0" algn="just">
              <a:lnSpc>
                <a:spcPct val="193500"/>
              </a:lnSpc>
              <a:spcBef>
                <a:spcPts val="1270"/>
              </a:spcBef>
              <a:spcAft>
                <a:spcPts val="0"/>
              </a:spcAft>
              <a:buClr>
                <a:srgbClr val="83992A"/>
              </a:buClr>
              <a:buSzPts val="3200"/>
              <a:buFont typeface="Arial"/>
              <a:buChar char="•"/>
            </a:pPr>
            <a:r>
              <a:rPr lang="fr-FR" sz="2750">
                <a:solidFill>
                  <a:srgbClr val="252525"/>
                </a:solidFill>
                <a:latin typeface="Garamond"/>
                <a:ea typeface="Garamond"/>
                <a:cs typeface="Garamond"/>
                <a:sym typeface="Garamond"/>
              </a:rPr>
              <a:t>Son mari est en voyage pour les besoins de son travail. </a:t>
            </a:r>
            <a:r>
              <a:rPr b="1" lang="fr-FR" sz="2750">
                <a:solidFill>
                  <a:srgbClr val="252525"/>
                </a:solidFill>
                <a:latin typeface="Garamond"/>
                <a:ea typeface="Garamond"/>
                <a:cs typeface="Garamond"/>
                <a:sym typeface="Garamond"/>
              </a:rPr>
              <a:t>Elle l 'appelle tous  les  jours  à  plusieurs  reprises  pour  vérifier  qu'il  va  bien  </a:t>
            </a:r>
            <a:r>
              <a:rPr lang="fr-FR" sz="2750">
                <a:solidFill>
                  <a:srgbClr val="252525"/>
                </a:solidFill>
                <a:latin typeface="Garamond"/>
                <a:ea typeface="Garamond"/>
                <a:cs typeface="Garamond"/>
                <a:sym typeface="Garamond"/>
              </a:rPr>
              <a:t>et s'affole s'il ne répond pas rapidement au téléphone «il pourrait se trouver mal sans que personne ne s'en aperçoive » disait-elle.</a:t>
            </a:r>
            <a:endParaRPr sz="2750">
              <a:latin typeface="Garamond"/>
              <a:ea typeface="Garamond"/>
              <a:cs typeface="Garamond"/>
              <a:sym typeface="Garamond"/>
            </a:endParaRPr>
          </a:p>
        </p:txBody>
      </p:sp>
      <p:sp>
        <p:nvSpPr>
          <p:cNvPr id="2171" name="Google Shape;2171;p27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2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5" name="Shape 2175"/>
        <p:cNvGrpSpPr/>
        <p:nvPr/>
      </p:nvGrpSpPr>
      <p:grpSpPr>
        <a:xfrm>
          <a:off x="0" y="0"/>
          <a:ext cx="0" cy="0"/>
          <a:chOff x="0" y="0"/>
          <a:chExt cx="0" cy="0"/>
        </a:xfrm>
      </p:grpSpPr>
      <p:sp>
        <p:nvSpPr>
          <p:cNvPr id="2176" name="Google Shape;2176;p273"/>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177" name="Google Shape;2177;p273"/>
          <p:cNvSpPr txBox="1"/>
          <p:nvPr>
            <p:ph type="title"/>
          </p:nvPr>
        </p:nvSpPr>
        <p:spPr>
          <a:xfrm>
            <a:off x="802005" y="636905"/>
            <a:ext cx="10587989" cy="1671955"/>
          </a:xfrm>
          <a:prstGeom prst="rect">
            <a:avLst/>
          </a:prstGeom>
          <a:noFill/>
          <a:ln>
            <a:noFill/>
          </a:ln>
        </p:spPr>
        <p:txBody>
          <a:bodyPr anchorCtr="0" anchor="t" bIns="0" lIns="0" spcFirstLastPara="1" rIns="0" wrap="square" tIns="716275">
            <a:spAutoFit/>
          </a:bodyPr>
          <a:lstStyle/>
          <a:p>
            <a:pPr indent="0" lvl="0" marL="585470" rtl="0" algn="l">
              <a:lnSpc>
                <a:spcPct val="100000"/>
              </a:lnSpc>
              <a:spcBef>
                <a:spcPts val="0"/>
              </a:spcBef>
              <a:spcAft>
                <a:spcPts val="0"/>
              </a:spcAft>
              <a:buNone/>
            </a:pPr>
            <a:r>
              <a:rPr lang="fr-FR" sz="3950"/>
              <a:t>La patiente présente les symptômes suivants :</a:t>
            </a:r>
            <a:endParaRPr sz="3950"/>
          </a:p>
        </p:txBody>
      </p:sp>
      <p:sp>
        <p:nvSpPr>
          <p:cNvPr id="2178" name="Google Shape;2178;p27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179" name="Google Shape;2179;p273"/>
          <p:cNvSpPr txBox="1"/>
          <p:nvPr/>
        </p:nvSpPr>
        <p:spPr>
          <a:xfrm>
            <a:off x="1375028" y="2473525"/>
            <a:ext cx="6606540" cy="2467983"/>
          </a:xfrm>
          <a:prstGeom prst="rect">
            <a:avLst/>
          </a:prstGeom>
          <a:noFill/>
          <a:ln>
            <a:noFill/>
          </a:ln>
        </p:spPr>
        <p:txBody>
          <a:bodyPr anchorCtr="0" anchor="t" bIns="0" lIns="0" spcFirstLastPara="1" rIns="0" wrap="square" tIns="56500">
            <a:spAutoFit/>
          </a:bodyPr>
          <a:lstStyle/>
          <a:p>
            <a:pPr indent="-456565" lvl="0" marL="469265" rtl="0" algn="l">
              <a:lnSpc>
                <a:spcPct val="100000"/>
              </a:lnSpc>
              <a:spcBef>
                <a:spcPts val="0"/>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Une anxiété anticipatoire</a:t>
            </a:r>
            <a:endParaRPr sz="2600">
              <a:latin typeface="Garamond"/>
              <a:ea typeface="Garamond"/>
              <a:cs typeface="Garamond"/>
              <a:sym typeface="Garamond"/>
            </a:endParaRPr>
          </a:p>
          <a:p>
            <a:pPr indent="-456565" lvl="0" marL="469265"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Une hypervigilance</a:t>
            </a:r>
            <a:endParaRPr sz="2600">
              <a:solidFill>
                <a:srgbClr val="FF0000"/>
              </a:solidFill>
              <a:latin typeface="Garamond"/>
              <a:ea typeface="Garamond"/>
              <a:cs typeface="Garamond"/>
              <a:sym typeface="Garamond"/>
            </a:endParaRPr>
          </a:p>
          <a:p>
            <a:pPr indent="-456565" lvl="0" marL="469265" rtl="0" algn="l">
              <a:lnSpc>
                <a:spcPct val="100000"/>
              </a:lnSpc>
              <a:spcBef>
                <a:spcPts val="760"/>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Une vision négative du monde et de l’avenir</a:t>
            </a:r>
            <a:endParaRPr sz="2600">
              <a:latin typeface="Garamond"/>
              <a:ea typeface="Garamond"/>
              <a:cs typeface="Garamond"/>
              <a:sym typeface="Garamond"/>
            </a:endParaRPr>
          </a:p>
          <a:p>
            <a:pPr indent="-455930" lvl="0" marL="468630" rtl="0" algn="l">
              <a:lnSpc>
                <a:spcPct val="100000"/>
              </a:lnSpc>
              <a:spcBef>
                <a:spcPts val="75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Des obsessions phobiques</a:t>
            </a:r>
            <a:endParaRPr sz="2600">
              <a:latin typeface="Garamond"/>
              <a:ea typeface="Garamond"/>
              <a:cs typeface="Garamond"/>
              <a:sym typeface="Garamond"/>
            </a:endParaRPr>
          </a:p>
          <a:p>
            <a:pPr indent="-456565" lvl="0" marL="469265" rtl="0" algn="l">
              <a:lnSpc>
                <a:spcPct val="100000"/>
              </a:lnSpc>
              <a:spcBef>
                <a:spcPts val="755"/>
              </a:spcBef>
              <a:spcAft>
                <a:spcPts val="0"/>
              </a:spcAft>
              <a:buClr>
                <a:srgbClr val="83992A"/>
              </a:buClr>
              <a:buSzPts val="3000"/>
              <a:buFont typeface="Garamond"/>
              <a:buAutoNum type="alphaUcPeriod"/>
            </a:pPr>
            <a:r>
              <a:rPr b="1" lang="fr-FR" sz="2600">
                <a:solidFill>
                  <a:srgbClr val="FF0000"/>
                </a:solidFill>
                <a:latin typeface="Garamond"/>
                <a:ea typeface="Garamond"/>
                <a:cs typeface="Garamond"/>
                <a:sym typeface="Garamond"/>
              </a:rPr>
              <a:t>Des soucis incontrôlables</a:t>
            </a:r>
            <a:endParaRPr sz="2600">
              <a:solidFill>
                <a:srgbClr val="FF0000"/>
              </a:solidFill>
              <a:latin typeface="Garamond"/>
              <a:ea typeface="Garamond"/>
              <a:cs typeface="Garamond"/>
              <a:sym typeface="Garamond"/>
            </a:endParaRPr>
          </a:p>
        </p:txBody>
      </p:sp>
    </p:spTree>
  </p:cSld>
  <p:clrMapOvr>
    <a:masterClrMapping/>
  </p:clrMapOvr>
</p:sld>
</file>

<file path=ppt/slides/slide2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3" name="Shape 2183"/>
        <p:cNvGrpSpPr/>
        <p:nvPr/>
      </p:nvGrpSpPr>
      <p:grpSpPr>
        <a:xfrm>
          <a:off x="0" y="0"/>
          <a:ext cx="0" cy="0"/>
          <a:chOff x="0" y="0"/>
          <a:chExt cx="0" cy="0"/>
        </a:xfrm>
      </p:grpSpPr>
      <p:sp>
        <p:nvSpPr>
          <p:cNvPr id="2184" name="Google Shape;2184;p274"/>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185" name="Google Shape;2185;p274"/>
          <p:cNvSpPr txBox="1"/>
          <p:nvPr>
            <p:ph type="title"/>
          </p:nvPr>
        </p:nvSpPr>
        <p:spPr>
          <a:xfrm>
            <a:off x="802005" y="636905"/>
            <a:ext cx="10587989" cy="1671955"/>
          </a:xfrm>
          <a:prstGeom prst="rect">
            <a:avLst/>
          </a:prstGeom>
          <a:noFill/>
          <a:ln>
            <a:noFill/>
          </a:ln>
        </p:spPr>
        <p:txBody>
          <a:bodyPr anchorCtr="0" anchor="t" bIns="0" lIns="0" spcFirstLastPara="1" rIns="0" wrap="square" tIns="620125">
            <a:spAutoFit/>
          </a:bodyPr>
          <a:lstStyle/>
          <a:p>
            <a:pPr indent="0" lvl="0" marL="671195" rtl="0" algn="l">
              <a:lnSpc>
                <a:spcPct val="100000"/>
              </a:lnSpc>
              <a:spcBef>
                <a:spcPts val="0"/>
              </a:spcBef>
              <a:spcAft>
                <a:spcPts val="0"/>
              </a:spcAft>
              <a:buNone/>
            </a:pPr>
            <a:r>
              <a:rPr lang="fr-FR" sz="4400"/>
              <a:t>Devant ce tableau clinique, on évoque :</a:t>
            </a:r>
            <a:endParaRPr sz="4400"/>
          </a:p>
        </p:txBody>
      </p:sp>
      <p:sp>
        <p:nvSpPr>
          <p:cNvPr id="2186" name="Google Shape;2186;p27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187" name="Google Shape;2187;p274"/>
          <p:cNvSpPr txBox="1"/>
          <p:nvPr/>
        </p:nvSpPr>
        <p:spPr>
          <a:xfrm>
            <a:off x="1375028" y="2412890"/>
            <a:ext cx="6257925" cy="2791460"/>
          </a:xfrm>
          <a:prstGeom prst="rect">
            <a:avLst/>
          </a:prstGeom>
          <a:noFill/>
          <a:ln>
            <a:noFill/>
          </a:ln>
        </p:spPr>
        <p:txBody>
          <a:bodyPr anchorCtr="0" anchor="t" bIns="0" lIns="0" spcFirstLastPara="1" rIns="0" wrap="square" tIns="168275">
            <a:spAutoFit/>
          </a:bodyPr>
          <a:lstStyle/>
          <a:p>
            <a:pPr indent="-389890" lvl="0" marL="402590" rtl="0" algn="l">
              <a:lnSpc>
                <a:spcPct val="100000"/>
              </a:lnSpc>
              <a:spcBef>
                <a:spcPts val="0"/>
              </a:spcBef>
              <a:spcAft>
                <a:spcPts val="0"/>
              </a:spcAft>
              <a:buClr>
                <a:srgbClr val="252525"/>
              </a:buClr>
              <a:buSzPts val="2600"/>
              <a:buFont typeface="Garamond"/>
              <a:buAutoNum type="alphaUcPeriod"/>
            </a:pPr>
            <a:r>
              <a:rPr b="1" lang="fr-FR" sz="2600">
                <a:solidFill>
                  <a:srgbClr val="252525"/>
                </a:solidFill>
                <a:latin typeface="Garamond"/>
                <a:ea typeface="Garamond"/>
                <a:cs typeface="Garamond"/>
                <a:sym typeface="Garamond"/>
              </a:rPr>
              <a:t>Un trouble dépressif	caractérisé</a:t>
            </a:r>
            <a:endParaRPr sz="2600">
              <a:latin typeface="Garamond"/>
              <a:ea typeface="Garamond"/>
              <a:cs typeface="Garamond"/>
              <a:sym typeface="Garamond"/>
            </a:endParaRPr>
          </a:p>
          <a:p>
            <a:pPr indent="-390525" lvl="0" marL="403225" rtl="0" algn="l">
              <a:lnSpc>
                <a:spcPct val="100000"/>
              </a:lnSpc>
              <a:spcBef>
                <a:spcPts val="1235"/>
              </a:spcBef>
              <a:spcAft>
                <a:spcPts val="0"/>
              </a:spcAft>
              <a:buClr>
                <a:srgbClr val="FF0000"/>
              </a:buClr>
              <a:buSzPts val="2600"/>
              <a:buFont typeface="Garamond"/>
              <a:buAutoNum type="alphaUcPeriod"/>
            </a:pPr>
            <a:r>
              <a:rPr b="1" lang="fr-FR" sz="2600">
                <a:solidFill>
                  <a:srgbClr val="FF0000"/>
                </a:solidFill>
                <a:latin typeface="Garamond"/>
                <a:ea typeface="Garamond"/>
                <a:cs typeface="Garamond"/>
                <a:sym typeface="Garamond"/>
              </a:rPr>
              <a:t>Un trouble anxiété généralisée</a:t>
            </a:r>
            <a:endParaRPr sz="2600">
              <a:solidFill>
                <a:srgbClr val="FF0000"/>
              </a:solidFill>
              <a:latin typeface="Garamond"/>
              <a:ea typeface="Garamond"/>
              <a:cs typeface="Garamond"/>
              <a:sym typeface="Garamond"/>
            </a:endParaRPr>
          </a:p>
          <a:p>
            <a:pPr indent="-399415" lvl="0" marL="412115" rtl="0" algn="l">
              <a:lnSpc>
                <a:spcPct val="100000"/>
              </a:lnSpc>
              <a:spcBef>
                <a:spcPts val="1235"/>
              </a:spcBef>
              <a:spcAft>
                <a:spcPts val="0"/>
              </a:spcAft>
              <a:buClr>
                <a:srgbClr val="252525"/>
              </a:buClr>
              <a:buSzPts val="2600"/>
              <a:buFont typeface="Garamond"/>
              <a:buAutoNum type="alphaUcPeriod"/>
            </a:pPr>
            <a:r>
              <a:rPr b="1" lang="fr-FR" sz="2600">
                <a:solidFill>
                  <a:srgbClr val="252525"/>
                </a:solidFill>
                <a:latin typeface="Garamond"/>
                <a:ea typeface="Garamond"/>
                <a:cs typeface="Garamond"/>
                <a:sym typeface="Garamond"/>
              </a:rPr>
              <a:t>Un trouble anxiété de séparation</a:t>
            </a:r>
            <a:endParaRPr sz="2600">
              <a:latin typeface="Garamond"/>
              <a:ea typeface="Garamond"/>
              <a:cs typeface="Garamond"/>
              <a:sym typeface="Garamond"/>
            </a:endParaRPr>
          </a:p>
          <a:p>
            <a:pPr indent="-418465" lvl="0" marL="431165" rtl="0" algn="l">
              <a:lnSpc>
                <a:spcPct val="100000"/>
              </a:lnSpc>
              <a:spcBef>
                <a:spcPts val="1235"/>
              </a:spcBef>
              <a:spcAft>
                <a:spcPts val="0"/>
              </a:spcAft>
              <a:buClr>
                <a:srgbClr val="252525"/>
              </a:buClr>
              <a:buSzPts val="2600"/>
              <a:buFont typeface="Garamond"/>
              <a:buAutoNum type="alphaUcPeriod"/>
            </a:pPr>
            <a:r>
              <a:rPr b="1" lang="fr-FR" sz="2600">
                <a:solidFill>
                  <a:srgbClr val="252525"/>
                </a:solidFill>
                <a:latin typeface="Garamond"/>
                <a:ea typeface="Garamond"/>
                <a:cs typeface="Garamond"/>
                <a:sym typeface="Garamond"/>
              </a:rPr>
              <a:t>Un trouble à symptomatologie somatique</a:t>
            </a:r>
            <a:endParaRPr sz="2600">
              <a:latin typeface="Garamond"/>
              <a:ea typeface="Garamond"/>
              <a:cs typeface="Garamond"/>
              <a:sym typeface="Garamond"/>
            </a:endParaRPr>
          </a:p>
          <a:p>
            <a:pPr indent="-400050" lvl="0" marL="412750" rtl="0" algn="l">
              <a:lnSpc>
                <a:spcPct val="100000"/>
              </a:lnSpc>
              <a:spcBef>
                <a:spcPts val="1240"/>
              </a:spcBef>
              <a:spcAft>
                <a:spcPts val="0"/>
              </a:spcAft>
              <a:buClr>
                <a:srgbClr val="252525"/>
              </a:buClr>
              <a:buSzPts val="2600"/>
              <a:buFont typeface="Garamond"/>
              <a:buAutoNum type="alphaUcPeriod"/>
            </a:pPr>
            <a:r>
              <a:rPr b="1" lang="fr-FR" sz="2600">
                <a:solidFill>
                  <a:srgbClr val="252525"/>
                </a:solidFill>
                <a:latin typeface="Garamond"/>
                <a:ea typeface="Garamond"/>
                <a:cs typeface="Garamond"/>
                <a:sym typeface="Garamond"/>
              </a:rPr>
              <a:t>Un trouble obsessionnel compulsif</a:t>
            </a:r>
            <a:endParaRPr sz="2600">
              <a:latin typeface="Garamond"/>
              <a:ea typeface="Garamond"/>
              <a:cs typeface="Garamond"/>
              <a:sym typeface="Garamond"/>
            </a:endParaRPr>
          </a:p>
        </p:txBody>
      </p:sp>
    </p:spTree>
  </p:cSld>
  <p:clrMapOvr>
    <a:masterClrMapping/>
  </p:clrMapOvr>
</p:sld>
</file>

<file path=ppt/slides/slide2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1" name="Shape 2191"/>
        <p:cNvGrpSpPr/>
        <p:nvPr/>
      </p:nvGrpSpPr>
      <p:grpSpPr>
        <a:xfrm>
          <a:off x="0" y="0"/>
          <a:ext cx="0" cy="0"/>
          <a:chOff x="0" y="0"/>
          <a:chExt cx="0" cy="0"/>
        </a:xfrm>
      </p:grpSpPr>
      <p:sp>
        <p:nvSpPr>
          <p:cNvPr id="2192" name="Google Shape;2192;p275"/>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193" name="Google Shape;2193;p275"/>
          <p:cNvSpPr txBox="1"/>
          <p:nvPr>
            <p:ph type="title"/>
          </p:nvPr>
        </p:nvSpPr>
        <p:spPr>
          <a:xfrm>
            <a:off x="1375028" y="975105"/>
            <a:ext cx="9460865"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t>Le	traitement	médicamenteux	de	fond	de mme F repose sur:</a:t>
            </a:r>
            <a:endParaRPr sz="3950"/>
          </a:p>
        </p:txBody>
      </p:sp>
      <p:sp>
        <p:nvSpPr>
          <p:cNvPr id="2194" name="Google Shape;2194;p27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195" name="Google Shape;2195;p275"/>
          <p:cNvSpPr txBox="1"/>
          <p:nvPr/>
        </p:nvSpPr>
        <p:spPr>
          <a:xfrm>
            <a:off x="1375028" y="2396402"/>
            <a:ext cx="3546475" cy="3007875"/>
          </a:xfrm>
          <a:prstGeom prst="rect">
            <a:avLst/>
          </a:prstGeom>
          <a:noFill/>
          <a:ln>
            <a:noFill/>
          </a:ln>
        </p:spPr>
        <p:txBody>
          <a:bodyPr anchorCtr="0" anchor="t" bIns="0" lIns="0" spcFirstLastPara="1" rIns="0" wrap="square" tIns="184775">
            <a:spAutoFit/>
          </a:bodyPr>
          <a:lstStyle/>
          <a:p>
            <a:pPr indent="-418465" lvl="0" marL="431165" rtl="0" algn="l">
              <a:lnSpc>
                <a:spcPct val="100000"/>
              </a:lnSpc>
              <a:spcBef>
                <a:spcPts val="0"/>
              </a:spcBef>
              <a:spcAft>
                <a:spcPts val="0"/>
              </a:spcAft>
              <a:buClr>
                <a:srgbClr val="FF0000"/>
              </a:buClr>
              <a:buSzPts val="2750"/>
              <a:buFont typeface="Garamond"/>
              <a:buAutoNum type="alphaUcPeriod"/>
            </a:pPr>
            <a:r>
              <a:rPr b="1" lang="fr-FR" sz="2750">
                <a:solidFill>
                  <a:srgbClr val="FF0000"/>
                </a:solidFill>
                <a:latin typeface="Garamond"/>
                <a:ea typeface="Garamond"/>
                <a:cs typeface="Garamond"/>
                <a:sym typeface="Garamond"/>
              </a:rPr>
              <a:t>Un ISRS</a:t>
            </a:r>
            <a:endParaRPr sz="2750">
              <a:solidFill>
                <a:srgbClr val="FF0000"/>
              </a:solidFill>
              <a:latin typeface="Garamond"/>
              <a:ea typeface="Garamond"/>
              <a:cs typeface="Garamond"/>
              <a:sym typeface="Garamond"/>
            </a:endParaRPr>
          </a:p>
          <a:p>
            <a:pPr indent="-418465" lvl="0" marL="431165" rtl="0" algn="l">
              <a:lnSpc>
                <a:spcPct val="100000"/>
              </a:lnSpc>
              <a:spcBef>
                <a:spcPts val="1355"/>
              </a:spcBef>
              <a:spcAft>
                <a:spcPts val="0"/>
              </a:spcAft>
              <a:buClr>
                <a:srgbClr val="FF0000"/>
              </a:buClr>
              <a:buSzPts val="2750"/>
              <a:buFont typeface="Garamond"/>
              <a:buAutoNum type="alphaUcPeriod"/>
            </a:pPr>
            <a:r>
              <a:rPr b="1" lang="fr-FR" sz="2750">
                <a:solidFill>
                  <a:srgbClr val="FF0000"/>
                </a:solidFill>
                <a:latin typeface="Garamond"/>
                <a:ea typeface="Garamond"/>
                <a:cs typeface="Garamond"/>
                <a:sym typeface="Garamond"/>
              </a:rPr>
              <a:t>Un ISRSNA</a:t>
            </a:r>
            <a:endParaRPr sz="2750">
              <a:solidFill>
                <a:srgbClr val="FF0000"/>
              </a:solidFill>
              <a:latin typeface="Garamond"/>
              <a:ea typeface="Garamond"/>
              <a:cs typeface="Garamond"/>
              <a:sym typeface="Garamond"/>
            </a:endParaRPr>
          </a:p>
          <a:p>
            <a:pPr indent="-427990" lvl="0" marL="440690" rtl="0" algn="l">
              <a:lnSpc>
                <a:spcPct val="100000"/>
              </a:lnSpc>
              <a:spcBef>
                <a:spcPts val="1355"/>
              </a:spcBef>
              <a:spcAft>
                <a:spcPts val="0"/>
              </a:spcAft>
              <a:buClr>
                <a:srgbClr val="252525"/>
              </a:buClr>
              <a:buSzPts val="2750"/>
              <a:buFont typeface="Garamond"/>
              <a:buAutoNum type="alphaUcPeriod"/>
            </a:pPr>
            <a:r>
              <a:rPr b="1" lang="fr-FR" sz="2750">
                <a:solidFill>
                  <a:srgbClr val="252525"/>
                </a:solidFill>
                <a:latin typeface="Garamond"/>
                <a:ea typeface="Garamond"/>
                <a:cs typeface="Garamond"/>
                <a:sym typeface="Garamond"/>
              </a:rPr>
              <a:t>Une benzodiazépine</a:t>
            </a:r>
            <a:endParaRPr sz="2750">
              <a:latin typeface="Garamond"/>
              <a:ea typeface="Garamond"/>
              <a:cs typeface="Garamond"/>
              <a:sym typeface="Garamond"/>
            </a:endParaRPr>
          </a:p>
          <a:p>
            <a:pPr indent="-447675" lvl="0" marL="460375" rtl="0" algn="l">
              <a:lnSpc>
                <a:spcPct val="100000"/>
              </a:lnSpc>
              <a:spcBef>
                <a:spcPts val="1360"/>
              </a:spcBef>
              <a:spcAft>
                <a:spcPts val="0"/>
              </a:spcAft>
              <a:buClr>
                <a:srgbClr val="252525"/>
              </a:buClr>
              <a:buSzPts val="2750"/>
              <a:buFont typeface="Garamond"/>
              <a:buAutoNum type="alphaUcPeriod"/>
            </a:pPr>
            <a:r>
              <a:rPr b="1" lang="fr-FR" sz="2750">
                <a:solidFill>
                  <a:srgbClr val="252525"/>
                </a:solidFill>
                <a:latin typeface="Garamond"/>
                <a:ea typeface="Garamond"/>
                <a:cs typeface="Garamond"/>
                <a:sym typeface="Garamond"/>
              </a:rPr>
              <a:t>Des sels de lithium</a:t>
            </a:r>
            <a:endParaRPr sz="2750">
              <a:latin typeface="Garamond"/>
              <a:ea typeface="Garamond"/>
              <a:cs typeface="Garamond"/>
              <a:sym typeface="Garamond"/>
            </a:endParaRPr>
          </a:p>
          <a:p>
            <a:pPr indent="-437515" lvl="0" marL="450215" rtl="0" algn="l">
              <a:lnSpc>
                <a:spcPct val="100000"/>
              </a:lnSpc>
              <a:spcBef>
                <a:spcPts val="1280"/>
              </a:spcBef>
              <a:spcAft>
                <a:spcPts val="0"/>
              </a:spcAft>
              <a:buClr>
                <a:srgbClr val="252525"/>
              </a:buClr>
              <a:buSzPts val="2750"/>
              <a:buFont typeface="Garamond"/>
              <a:buAutoNum type="alphaUcPeriod"/>
            </a:pPr>
            <a:r>
              <a:rPr b="1" lang="fr-FR" sz="2750">
                <a:solidFill>
                  <a:srgbClr val="252525"/>
                </a:solidFill>
                <a:latin typeface="Garamond"/>
                <a:ea typeface="Garamond"/>
                <a:cs typeface="Garamond"/>
                <a:sym typeface="Garamond"/>
              </a:rPr>
              <a:t>Des carbamates</a:t>
            </a:r>
            <a:endParaRPr sz="2750">
              <a:latin typeface="Garamond"/>
              <a:ea typeface="Garamond"/>
              <a:cs typeface="Garamond"/>
              <a:sym typeface="Garamond"/>
            </a:endParaRPr>
          </a:p>
        </p:txBody>
      </p:sp>
    </p:spTree>
  </p:cSld>
  <p:clrMapOvr>
    <a:masterClrMapping/>
  </p:clrMapOvr>
</p:sld>
</file>

<file path=ppt/slides/slide2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9" name="Shape 2199"/>
        <p:cNvGrpSpPr/>
        <p:nvPr/>
      </p:nvGrpSpPr>
      <p:grpSpPr>
        <a:xfrm>
          <a:off x="0" y="0"/>
          <a:ext cx="0" cy="0"/>
          <a:chOff x="0" y="0"/>
          <a:chExt cx="0" cy="0"/>
        </a:xfrm>
      </p:grpSpPr>
      <p:sp>
        <p:nvSpPr>
          <p:cNvPr id="2200" name="Google Shape;2200;p276"/>
          <p:cNvSpPr txBox="1"/>
          <p:nvPr>
            <p:ph type="title"/>
          </p:nvPr>
        </p:nvSpPr>
        <p:spPr>
          <a:xfrm>
            <a:off x="3360165" y="2346325"/>
            <a:ext cx="5485130" cy="112458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fr-FR" sz="7200"/>
              <a:t>Cas clinique 8</a:t>
            </a:r>
            <a:endParaRPr sz="7200"/>
          </a:p>
        </p:txBody>
      </p:sp>
      <p:sp>
        <p:nvSpPr>
          <p:cNvPr id="2201" name="Google Shape;2201;p27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2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5" name="Shape 2205"/>
        <p:cNvGrpSpPr/>
        <p:nvPr/>
      </p:nvGrpSpPr>
      <p:grpSpPr>
        <a:xfrm>
          <a:off x="0" y="0"/>
          <a:ext cx="0" cy="0"/>
          <a:chOff x="0" y="0"/>
          <a:chExt cx="0" cy="0"/>
        </a:xfrm>
      </p:grpSpPr>
      <p:sp>
        <p:nvSpPr>
          <p:cNvPr id="2206" name="Google Shape;2206;p277"/>
          <p:cNvSpPr txBox="1"/>
          <p:nvPr/>
        </p:nvSpPr>
        <p:spPr>
          <a:xfrm>
            <a:off x="10618469" y="6018847"/>
            <a:ext cx="208279" cy="173990"/>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fr-FR" sz="950">
                <a:latin typeface="Garamond"/>
                <a:ea typeface="Garamond"/>
                <a:cs typeface="Garamond"/>
                <a:sym typeface="Garamond"/>
              </a:rPr>
              <a:t>264</a:t>
            </a:r>
            <a:endParaRPr sz="950">
              <a:latin typeface="Garamond"/>
              <a:ea typeface="Garamond"/>
              <a:cs typeface="Garamond"/>
              <a:sym typeface="Garamond"/>
            </a:endParaRPr>
          </a:p>
        </p:txBody>
      </p:sp>
      <p:sp>
        <p:nvSpPr>
          <p:cNvPr id="2207" name="Google Shape;2207;p277"/>
          <p:cNvSpPr txBox="1"/>
          <p:nvPr/>
        </p:nvSpPr>
        <p:spPr>
          <a:xfrm>
            <a:off x="731519" y="675794"/>
            <a:ext cx="10745470" cy="5090160"/>
          </a:xfrm>
          <a:prstGeom prst="rect">
            <a:avLst/>
          </a:prstGeom>
          <a:noFill/>
          <a:ln>
            <a:noFill/>
          </a:ln>
        </p:spPr>
        <p:txBody>
          <a:bodyPr anchorCtr="0" anchor="t" bIns="0" lIns="0" spcFirstLastPara="1" rIns="0" wrap="square" tIns="161275">
            <a:spAutoFit/>
          </a:bodyPr>
          <a:lstStyle/>
          <a:p>
            <a:pPr indent="-285115" lvl="0" marL="297815" rtl="0" algn="just">
              <a:lnSpc>
                <a:spcPct val="100000"/>
              </a:lnSpc>
              <a:spcBef>
                <a:spcPts val="0"/>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La jeune Sara, âgée de </a:t>
            </a:r>
            <a:r>
              <a:rPr b="1" lang="fr-FR" sz="2400">
                <a:solidFill>
                  <a:srgbClr val="252525"/>
                </a:solidFill>
                <a:latin typeface="Garamond"/>
                <a:ea typeface="Garamond"/>
                <a:cs typeface="Garamond"/>
                <a:sym typeface="Garamond"/>
              </a:rPr>
              <a:t>13 ans</a:t>
            </a:r>
            <a:r>
              <a:rPr lang="fr-FR" sz="2400">
                <a:solidFill>
                  <a:srgbClr val="252525"/>
                </a:solidFill>
                <a:latin typeface="Garamond"/>
                <a:ea typeface="Garamond"/>
                <a:cs typeface="Garamond"/>
                <a:sym typeface="Garamond"/>
              </a:rPr>
              <a:t>, consulte au mois de Février accompagnée par sa mère</a:t>
            </a:r>
            <a:endParaRPr sz="2400">
              <a:latin typeface="Garamond"/>
              <a:ea typeface="Garamond"/>
              <a:cs typeface="Garamond"/>
              <a:sym typeface="Garamond"/>
            </a:endParaRPr>
          </a:p>
          <a:p>
            <a:pPr indent="0" lvl="0" marL="298450" rtl="0" algn="just">
              <a:lnSpc>
                <a:spcPct val="100000"/>
              </a:lnSpc>
              <a:spcBef>
                <a:spcPts val="1175"/>
              </a:spcBef>
              <a:spcAft>
                <a:spcPts val="0"/>
              </a:spcAft>
              <a:buNone/>
            </a:pPr>
            <a:r>
              <a:rPr lang="fr-FR" sz="2400">
                <a:solidFill>
                  <a:srgbClr val="252525"/>
                </a:solidFill>
                <a:latin typeface="Garamond"/>
                <a:ea typeface="Garamond"/>
                <a:cs typeface="Garamond"/>
                <a:sym typeface="Garamond"/>
              </a:rPr>
              <a:t>pour des </a:t>
            </a:r>
            <a:r>
              <a:rPr b="1" lang="fr-FR" sz="2400">
                <a:solidFill>
                  <a:srgbClr val="252525"/>
                </a:solidFill>
                <a:latin typeface="Garamond"/>
                <a:ea typeface="Garamond"/>
                <a:cs typeface="Garamond"/>
                <a:sym typeface="Garamond"/>
              </a:rPr>
              <a:t>difficultés à aller à l'école</a:t>
            </a:r>
            <a:r>
              <a:rPr lang="fr-FR" sz="2400">
                <a:solidFill>
                  <a:srgbClr val="252525"/>
                </a:solidFill>
                <a:latin typeface="Garamond"/>
                <a:ea typeface="Garamond"/>
                <a:cs typeface="Garamond"/>
                <a:sym typeface="Garamond"/>
              </a:rPr>
              <a:t>.</a:t>
            </a:r>
            <a:endParaRPr sz="2400">
              <a:latin typeface="Garamond"/>
              <a:ea typeface="Garamond"/>
              <a:cs typeface="Garamond"/>
              <a:sym typeface="Garamond"/>
            </a:endParaRPr>
          </a:p>
          <a:p>
            <a:pPr indent="-285115" lvl="0" marL="297815" rtl="0" algn="just">
              <a:lnSpc>
                <a:spcPct val="100000"/>
              </a:lnSpc>
              <a:spcBef>
                <a:spcPts val="2375"/>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En se préparant le matin, elle ressent une </a:t>
            </a:r>
            <a:r>
              <a:rPr b="1" lang="fr-FR" sz="2400">
                <a:solidFill>
                  <a:srgbClr val="252525"/>
                </a:solidFill>
                <a:latin typeface="Garamond"/>
                <a:ea typeface="Garamond"/>
                <a:cs typeface="Garamond"/>
                <a:sym typeface="Garamond"/>
              </a:rPr>
              <a:t>« boule au ventre », sort difficilement de</a:t>
            </a:r>
            <a:endParaRPr sz="2400">
              <a:latin typeface="Garamond"/>
              <a:ea typeface="Garamond"/>
              <a:cs typeface="Garamond"/>
              <a:sym typeface="Garamond"/>
            </a:endParaRPr>
          </a:p>
          <a:p>
            <a:pPr indent="0" lvl="0" marL="298450" rtl="0" algn="just">
              <a:lnSpc>
                <a:spcPct val="100000"/>
              </a:lnSpc>
              <a:spcBef>
                <a:spcPts val="1100"/>
              </a:spcBef>
              <a:spcAft>
                <a:spcPts val="0"/>
              </a:spcAft>
              <a:buNone/>
            </a:pPr>
            <a:r>
              <a:rPr b="1" lang="fr-FR" sz="2400">
                <a:solidFill>
                  <a:srgbClr val="252525"/>
                </a:solidFill>
                <a:latin typeface="Garamond"/>
                <a:ea typeface="Garamond"/>
                <a:cs typeface="Garamond"/>
                <a:sym typeface="Garamond"/>
              </a:rPr>
              <a:t>chez elle et arrive au collège en pleurs sans pouvoir franchir la porte</a:t>
            </a:r>
            <a:r>
              <a:rPr lang="fr-FR" sz="2400">
                <a:solidFill>
                  <a:srgbClr val="252525"/>
                </a:solidFill>
                <a:latin typeface="Garamond"/>
                <a:ea typeface="Garamond"/>
                <a:cs typeface="Garamond"/>
                <a:sym typeface="Garamond"/>
              </a:rPr>
              <a:t>.</a:t>
            </a:r>
            <a:endParaRPr sz="2400">
              <a:latin typeface="Garamond"/>
              <a:ea typeface="Garamond"/>
              <a:cs typeface="Garamond"/>
              <a:sym typeface="Garamond"/>
            </a:endParaRPr>
          </a:p>
          <a:p>
            <a:pPr indent="-285115" lvl="0" marL="297180" marR="12700" rtl="0" algn="just">
              <a:lnSpc>
                <a:spcPct val="138200"/>
              </a:lnSpc>
              <a:spcBef>
                <a:spcPts val="1280"/>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Elle </a:t>
            </a:r>
            <a:r>
              <a:rPr b="1" lang="fr-FR" sz="2400">
                <a:solidFill>
                  <a:srgbClr val="252525"/>
                </a:solidFill>
                <a:latin typeface="Garamond"/>
                <a:ea typeface="Garamond"/>
                <a:cs typeface="Garamond"/>
                <a:sym typeface="Garamond"/>
              </a:rPr>
              <a:t>n'a pas repris l'école </a:t>
            </a:r>
            <a:r>
              <a:rPr lang="fr-FR" sz="2400">
                <a:solidFill>
                  <a:srgbClr val="252525"/>
                </a:solidFill>
                <a:latin typeface="Garamond"/>
                <a:ea typeface="Garamond"/>
                <a:cs typeface="Garamond"/>
                <a:sym typeface="Garamond"/>
              </a:rPr>
              <a:t>après les vacances de Décembre. Bonne élève jusque-là, elle 	est actuellement en 7ème année de base.</a:t>
            </a:r>
            <a:endParaRPr sz="2400">
              <a:latin typeface="Garamond"/>
              <a:ea typeface="Garamond"/>
              <a:cs typeface="Garamond"/>
              <a:sym typeface="Garamond"/>
            </a:endParaRPr>
          </a:p>
          <a:p>
            <a:pPr indent="-285115" lvl="0" marL="297180" marR="12065" rtl="0" algn="just">
              <a:lnSpc>
                <a:spcPct val="139500"/>
              </a:lnSpc>
              <a:spcBef>
                <a:spcPts val="1240"/>
              </a:spcBef>
              <a:spcAft>
                <a:spcPts val="0"/>
              </a:spcAft>
              <a:buClr>
                <a:srgbClr val="83992A"/>
              </a:buClr>
              <a:buSzPts val="2750"/>
              <a:buFont typeface="Arial"/>
              <a:buChar char="•"/>
            </a:pPr>
            <a:r>
              <a:rPr lang="fr-FR" sz="2400">
                <a:solidFill>
                  <a:srgbClr val="252525"/>
                </a:solidFill>
                <a:latin typeface="Garamond"/>
                <a:ea typeface="Garamond"/>
                <a:cs typeface="Garamond"/>
                <a:sym typeface="Garamond"/>
              </a:rPr>
              <a:t>Ses difficultés à aller à l'école </a:t>
            </a:r>
            <a:r>
              <a:rPr b="1" lang="fr-FR" sz="2400">
                <a:solidFill>
                  <a:srgbClr val="252525"/>
                </a:solidFill>
                <a:latin typeface="Garamond"/>
                <a:ea typeface="Garamond"/>
                <a:cs typeface="Garamond"/>
                <a:sym typeface="Garamond"/>
              </a:rPr>
              <a:t>remontent à la 5ème année </a:t>
            </a:r>
            <a:r>
              <a:rPr lang="fr-FR" sz="2400">
                <a:solidFill>
                  <a:srgbClr val="252525"/>
                </a:solidFill>
                <a:latin typeface="Garamond"/>
                <a:ea typeface="Garamond"/>
                <a:cs typeface="Garamond"/>
                <a:sym typeface="Garamond"/>
              </a:rPr>
              <a:t>quand elle a changé d'école 	au cours de l'année. Elle dit être victime de moqueries des autres élèves et explique que 	dans l'ancienne école aussi « c'était la galère. Des garçons plus âgés se moquaient de</a:t>
            </a:r>
            <a:endParaRPr sz="2400">
              <a:latin typeface="Garamond"/>
              <a:ea typeface="Garamond"/>
              <a:cs typeface="Garamond"/>
              <a:sym typeface="Garamond"/>
            </a:endParaRPr>
          </a:p>
        </p:txBody>
      </p:sp>
      <p:sp>
        <p:nvSpPr>
          <p:cNvPr id="2208" name="Google Shape;2208;p277"/>
          <p:cNvSpPr txBox="1"/>
          <p:nvPr/>
        </p:nvSpPr>
        <p:spPr>
          <a:xfrm>
            <a:off x="1017587" y="5888990"/>
            <a:ext cx="873760" cy="3917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fr-FR" sz="2400">
                <a:solidFill>
                  <a:srgbClr val="252525"/>
                </a:solidFill>
                <a:latin typeface="Garamond"/>
                <a:ea typeface="Garamond"/>
                <a:cs typeface="Garamond"/>
                <a:sym typeface="Garamond"/>
              </a:rPr>
              <a:t>moi... »</a:t>
            </a:r>
            <a:endParaRPr sz="2400">
              <a:latin typeface="Garamond"/>
              <a:ea typeface="Garamond"/>
              <a:cs typeface="Garamond"/>
              <a:sym typeface="Garamond"/>
            </a:endParaRPr>
          </a:p>
        </p:txBody>
      </p:sp>
    </p:spTree>
  </p:cSld>
  <p:clrMapOvr>
    <a:masterClrMapping/>
  </p:clrMapOvr>
</p:sld>
</file>

<file path=ppt/slides/slide2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2" name="Shape 2212"/>
        <p:cNvGrpSpPr/>
        <p:nvPr/>
      </p:nvGrpSpPr>
      <p:grpSpPr>
        <a:xfrm>
          <a:off x="0" y="0"/>
          <a:ext cx="0" cy="0"/>
          <a:chOff x="0" y="0"/>
          <a:chExt cx="0" cy="0"/>
        </a:xfrm>
      </p:grpSpPr>
      <p:sp>
        <p:nvSpPr>
          <p:cNvPr id="2213" name="Google Shape;2213;p278"/>
          <p:cNvSpPr txBox="1"/>
          <p:nvPr/>
        </p:nvSpPr>
        <p:spPr>
          <a:xfrm>
            <a:off x="923607" y="798309"/>
            <a:ext cx="10462895" cy="4852670"/>
          </a:xfrm>
          <a:prstGeom prst="rect">
            <a:avLst/>
          </a:prstGeom>
          <a:noFill/>
          <a:ln>
            <a:noFill/>
          </a:ln>
        </p:spPr>
        <p:txBody>
          <a:bodyPr anchorCtr="0" anchor="t" bIns="0" lIns="0" spcFirstLastPara="1" rIns="0" wrap="square" tIns="16500">
            <a:spAutoFit/>
          </a:bodyPr>
          <a:lstStyle/>
          <a:p>
            <a:pPr indent="-285115" lvl="0" marL="297180" marR="5080" rtl="0" algn="just">
              <a:lnSpc>
                <a:spcPct val="153700"/>
              </a:lnSpc>
              <a:spcBef>
                <a:spcPts val="0"/>
              </a:spcBef>
              <a:spcAft>
                <a:spcPts val="0"/>
              </a:spcAft>
              <a:buClr>
                <a:srgbClr val="83992A"/>
              </a:buClr>
              <a:buSzPts val="3200"/>
              <a:buFont typeface="Arial"/>
              <a:buChar char="•"/>
            </a:pPr>
            <a:r>
              <a:rPr lang="fr-FR" sz="2750">
                <a:solidFill>
                  <a:srgbClr val="252525"/>
                </a:solidFill>
                <a:latin typeface="Garamond"/>
                <a:ea typeface="Garamond"/>
                <a:cs typeface="Garamond"/>
                <a:sym typeface="Garamond"/>
              </a:rPr>
              <a:t>En 5ème et en 6ème, il arrivait à Sara de manquer quelques jours d'école 	à  cause  de  </a:t>
            </a:r>
            <a:r>
              <a:rPr b="1" lang="fr-FR" sz="2750">
                <a:solidFill>
                  <a:srgbClr val="252525"/>
                </a:solidFill>
                <a:latin typeface="Garamond"/>
                <a:ea typeface="Garamond"/>
                <a:cs typeface="Garamond"/>
                <a:sym typeface="Garamond"/>
              </a:rPr>
              <a:t>manifestations  somatiques  d'allure  fonctionnelle 	(nausées et vomissement).</a:t>
            </a:r>
            <a:endParaRPr sz="2750">
              <a:latin typeface="Garamond"/>
              <a:ea typeface="Garamond"/>
              <a:cs typeface="Garamond"/>
              <a:sym typeface="Garamond"/>
            </a:endParaRPr>
          </a:p>
          <a:p>
            <a:pPr indent="-285115" lvl="0" marL="297180" marR="5080" rtl="0" algn="just">
              <a:lnSpc>
                <a:spcPct val="152500"/>
              </a:lnSpc>
              <a:spcBef>
                <a:spcPts val="1275"/>
              </a:spcBef>
              <a:spcAft>
                <a:spcPts val="0"/>
              </a:spcAft>
              <a:buClr>
                <a:srgbClr val="83992A"/>
              </a:buClr>
              <a:buSzPts val="3200"/>
              <a:buFont typeface="Arial"/>
              <a:buChar char="•"/>
            </a:pPr>
            <a:r>
              <a:rPr lang="fr-FR" sz="2750">
                <a:solidFill>
                  <a:srgbClr val="252525"/>
                </a:solidFill>
                <a:latin typeface="Garamond"/>
                <a:ea typeface="Garamond"/>
                <a:cs typeface="Garamond"/>
                <a:sym typeface="Garamond"/>
              </a:rPr>
              <a:t>Sa mère vous dit qu'elle a eu Sara après 4 garçons et que sa grossesse était 	difficile avec plusieurs menaces d'avortement.</a:t>
            </a:r>
            <a:endParaRPr sz="2750">
              <a:latin typeface="Garamond"/>
              <a:ea typeface="Garamond"/>
              <a:cs typeface="Garamond"/>
              <a:sym typeface="Garamond"/>
            </a:endParaRPr>
          </a:p>
          <a:p>
            <a:pPr indent="-285115" lvl="0" marL="297180" marR="8890" rtl="0" algn="just">
              <a:lnSpc>
                <a:spcPct val="154800"/>
              </a:lnSpc>
              <a:spcBef>
                <a:spcPts val="1200"/>
              </a:spcBef>
              <a:spcAft>
                <a:spcPts val="0"/>
              </a:spcAft>
              <a:buClr>
                <a:srgbClr val="83992A"/>
              </a:buClr>
              <a:buSzPts val="3200"/>
              <a:buFont typeface="Arial"/>
              <a:buChar char="•"/>
            </a:pPr>
            <a:r>
              <a:rPr lang="fr-FR" sz="2750">
                <a:solidFill>
                  <a:srgbClr val="252525"/>
                </a:solidFill>
                <a:latin typeface="Garamond"/>
                <a:ea typeface="Garamond"/>
                <a:cs typeface="Garamond"/>
                <a:sym typeface="Garamond"/>
              </a:rPr>
              <a:t>Si on l'oblige, elle </a:t>
            </a:r>
            <a:r>
              <a:rPr b="1" lang="fr-FR" sz="2750">
                <a:solidFill>
                  <a:srgbClr val="252525"/>
                </a:solidFill>
                <a:latin typeface="Garamond"/>
                <a:ea typeface="Garamond"/>
                <a:cs typeface="Garamond"/>
                <a:sym typeface="Garamond"/>
              </a:rPr>
              <a:t>n'arrête pas de téléphoner à sa mère pour s'assurer 	qu'elle va bien</a:t>
            </a:r>
            <a:endParaRPr sz="2750">
              <a:latin typeface="Garamond"/>
              <a:ea typeface="Garamond"/>
              <a:cs typeface="Garamond"/>
              <a:sym typeface="Garamond"/>
            </a:endParaRPr>
          </a:p>
        </p:txBody>
      </p:sp>
      <p:sp>
        <p:nvSpPr>
          <p:cNvPr id="2214" name="Google Shape;2214;p27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2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8" name="Shape 2218"/>
        <p:cNvGrpSpPr/>
        <p:nvPr/>
      </p:nvGrpSpPr>
      <p:grpSpPr>
        <a:xfrm>
          <a:off x="0" y="0"/>
          <a:ext cx="0" cy="0"/>
          <a:chOff x="0" y="0"/>
          <a:chExt cx="0" cy="0"/>
        </a:xfrm>
      </p:grpSpPr>
      <p:sp>
        <p:nvSpPr>
          <p:cNvPr id="2219" name="Google Shape;2219;p279"/>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220" name="Google Shape;2220;p279"/>
          <p:cNvSpPr txBox="1"/>
          <p:nvPr>
            <p:ph type="title"/>
          </p:nvPr>
        </p:nvSpPr>
        <p:spPr>
          <a:xfrm>
            <a:off x="802005" y="636905"/>
            <a:ext cx="10587989" cy="1671955"/>
          </a:xfrm>
          <a:prstGeom prst="rect">
            <a:avLst/>
          </a:prstGeom>
          <a:noFill/>
          <a:ln>
            <a:noFill/>
          </a:ln>
        </p:spPr>
        <p:txBody>
          <a:bodyPr anchorCtr="0" anchor="t" bIns="0" lIns="0" spcFirstLastPara="1" rIns="0" wrap="square" tIns="620125">
            <a:spAutoFit/>
          </a:bodyPr>
          <a:lstStyle/>
          <a:p>
            <a:pPr indent="0" lvl="0" marL="585470" rtl="0" algn="l">
              <a:lnSpc>
                <a:spcPct val="100000"/>
              </a:lnSpc>
              <a:spcBef>
                <a:spcPts val="0"/>
              </a:spcBef>
              <a:spcAft>
                <a:spcPts val="0"/>
              </a:spcAft>
              <a:buNone/>
            </a:pPr>
            <a:r>
              <a:rPr lang="fr-FR" sz="4400"/>
              <a:t>1.Vous relevez les symptômes suivants :</a:t>
            </a:r>
            <a:endParaRPr sz="4400"/>
          </a:p>
        </p:txBody>
      </p:sp>
      <p:sp>
        <p:nvSpPr>
          <p:cNvPr id="2221" name="Google Shape;2221;p27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222" name="Google Shape;2222;p279"/>
          <p:cNvSpPr txBox="1"/>
          <p:nvPr/>
        </p:nvSpPr>
        <p:spPr>
          <a:xfrm>
            <a:off x="1375028" y="2397622"/>
            <a:ext cx="9646285" cy="3154045"/>
          </a:xfrm>
          <a:prstGeom prst="rect">
            <a:avLst/>
          </a:prstGeom>
          <a:noFill/>
          <a:ln>
            <a:noFill/>
          </a:ln>
        </p:spPr>
        <p:txBody>
          <a:bodyPr anchorCtr="0" anchor="t" bIns="0" lIns="0" spcFirstLastPara="1" rIns="0" wrap="square" tIns="145400">
            <a:spAutoFit/>
          </a:bodyPr>
          <a:lstStyle/>
          <a:p>
            <a:pPr indent="-418465" lvl="0" marL="431165" rtl="0" algn="l">
              <a:lnSpc>
                <a:spcPct val="100000"/>
              </a:lnSpc>
              <a:spcBef>
                <a:spcPts val="0"/>
              </a:spcBef>
              <a:spcAft>
                <a:spcPts val="0"/>
              </a:spcAft>
              <a:buClr>
                <a:srgbClr val="252525"/>
              </a:buClr>
              <a:buSzPts val="2750"/>
              <a:buFont typeface="Garamond"/>
              <a:buAutoNum type="alphaUcPeriod"/>
            </a:pPr>
            <a:r>
              <a:rPr b="1" lang="fr-FR" sz="2750">
                <a:solidFill>
                  <a:srgbClr val="252525"/>
                </a:solidFill>
                <a:latin typeface="Garamond"/>
                <a:ea typeface="Garamond"/>
                <a:cs typeface="Garamond"/>
                <a:sym typeface="Garamond"/>
              </a:rPr>
              <a:t>Une détresse lors de la séparation</a:t>
            </a:r>
            <a:endParaRPr sz="2750">
              <a:latin typeface="Garamond"/>
              <a:ea typeface="Garamond"/>
              <a:cs typeface="Garamond"/>
              <a:sym typeface="Garamond"/>
            </a:endParaRPr>
          </a:p>
          <a:p>
            <a:pPr indent="-418465" lvl="0" marL="431165" rtl="0" algn="l">
              <a:lnSpc>
                <a:spcPct val="100000"/>
              </a:lnSpc>
              <a:spcBef>
                <a:spcPts val="1055"/>
              </a:spcBef>
              <a:spcAft>
                <a:spcPts val="0"/>
              </a:spcAft>
              <a:buClr>
                <a:srgbClr val="252525"/>
              </a:buClr>
              <a:buSzPts val="2750"/>
              <a:buFont typeface="Garamond"/>
              <a:buAutoNum type="alphaUcPeriod"/>
            </a:pPr>
            <a:r>
              <a:rPr b="1" lang="fr-FR" sz="2750">
                <a:solidFill>
                  <a:srgbClr val="252525"/>
                </a:solidFill>
                <a:latin typeface="Garamond"/>
                <a:ea typeface="Garamond"/>
                <a:cs typeface="Garamond"/>
                <a:sym typeface="Garamond"/>
              </a:rPr>
              <a:t>Des ruminations et préoccupations morbides</a:t>
            </a:r>
            <a:endParaRPr sz="2750">
              <a:latin typeface="Garamond"/>
              <a:ea typeface="Garamond"/>
              <a:cs typeface="Garamond"/>
              <a:sym typeface="Garamond"/>
            </a:endParaRPr>
          </a:p>
          <a:p>
            <a:pPr indent="-431165" lvl="0" marL="443865" rtl="0" algn="l">
              <a:lnSpc>
                <a:spcPct val="114545"/>
              </a:lnSpc>
              <a:spcBef>
                <a:spcPts val="980"/>
              </a:spcBef>
              <a:spcAft>
                <a:spcPts val="0"/>
              </a:spcAft>
              <a:buClr>
                <a:srgbClr val="252525"/>
              </a:buClr>
              <a:buSzPts val="2750"/>
              <a:buFont typeface="Garamond"/>
              <a:buAutoNum type="alphaUcPeriod"/>
            </a:pPr>
            <a:r>
              <a:rPr b="1" lang="fr-FR" sz="2750">
                <a:latin typeface="Garamond"/>
                <a:ea typeface="Garamond"/>
                <a:cs typeface="Garamond"/>
                <a:sym typeface="Garamond"/>
              </a:rPr>
              <a:t>Soucis excessifs qu’un événement malheureux survienne à sa</a:t>
            </a:r>
            <a:endParaRPr sz="2750">
              <a:latin typeface="Garamond"/>
              <a:ea typeface="Garamond"/>
              <a:cs typeface="Garamond"/>
              <a:sym typeface="Garamond"/>
            </a:endParaRPr>
          </a:p>
          <a:p>
            <a:pPr indent="0" lvl="0" marL="12700" rtl="0" algn="l">
              <a:lnSpc>
                <a:spcPct val="114545"/>
              </a:lnSpc>
              <a:spcBef>
                <a:spcPts val="0"/>
              </a:spcBef>
              <a:spcAft>
                <a:spcPts val="0"/>
              </a:spcAft>
              <a:buNone/>
            </a:pPr>
            <a:r>
              <a:rPr b="1" lang="fr-FR" sz="2750">
                <a:latin typeface="Garamond"/>
                <a:ea typeface="Garamond"/>
                <a:cs typeface="Garamond"/>
                <a:sym typeface="Garamond"/>
              </a:rPr>
              <a:t>mère</a:t>
            </a:r>
            <a:endParaRPr sz="2750">
              <a:latin typeface="Garamond"/>
              <a:ea typeface="Garamond"/>
              <a:cs typeface="Garamond"/>
              <a:sym typeface="Garamond"/>
            </a:endParaRPr>
          </a:p>
          <a:p>
            <a:pPr indent="-447675" lvl="0" marL="460375" rtl="0" algn="l">
              <a:lnSpc>
                <a:spcPct val="100000"/>
              </a:lnSpc>
              <a:spcBef>
                <a:spcPts val="985"/>
              </a:spcBef>
              <a:spcAft>
                <a:spcPts val="0"/>
              </a:spcAft>
              <a:buClr>
                <a:srgbClr val="252525"/>
              </a:buClr>
              <a:buSzPts val="2750"/>
              <a:buFont typeface="Garamond"/>
              <a:buAutoNum type="alphaUcPeriod" startAt="4"/>
            </a:pPr>
            <a:r>
              <a:rPr b="1" lang="fr-FR" sz="2750">
                <a:solidFill>
                  <a:srgbClr val="252525"/>
                </a:solidFill>
                <a:latin typeface="Garamond"/>
                <a:ea typeface="Garamond"/>
                <a:cs typeface="Garamond"/>
                <a:sym typeface="Garamond"/>
              </a:rPr>
              <a:t>Une immaturité</a:t>
            </a:r>
            <a:endParaRPr sz="2750">
              <a:latin typeface="Garamond"/>
              <a:ea typeface="Garamond"/>
              <a:cs typeface="Garamond"/>
              <a:sym typeface="Garamond"/>
            </a:endParaRPr>
          </a:p>
          <a:p>
            <a:pPr indent="-437515" lvl="0" marL="450215" rtl="0" algn="l">
              <a:lnSpc>
                <a:spcPct val="100000"/>
              </a:lnSpc>
              <a:spcBef>
                <a:spcPts val="1055"/>
              </a:spcBef>
              <a:spcAft>
                <a:spcPts val="0"/>
              </a:spcAft>
              <a:buClr>
                <a:srgbClr val="252525"/>
              </a:buClr>
              <a:buSzPts val="2750"/>
              <a:buFont typeface="Garamond"/>
              <a:buAutoNum type="alphaUcPeriod" startAt="4"/>
            </a:pPr>
            <a:r>
              <a:rPr b="1" lang="fr-FR" sz="2750">
                <a:solidFill>
                  <a:srgbClr val="252525"/>
                </a:solidFill>
                <a:latin typeface="Garamond"/>
                <a:ea typeface="Garamond"/>
                <a:cs typeface="Garamond"/>
                <a:sym typeface="Garamond"/>
              </a:rPr>
              <a:t>Une dépendance affective</a:t>
            </a:r>
            <a:endParaRPr sz="2750">
              <a:latin typeface="Garamond"/>
              <a:ea typeface="Garamond"/>
              <a:cs typeface="Garamond"/>
              <a:sym typeface="Garamond"/>
            </a:endParaRPr>
          </a:p>
        </p:txBody>
      </p:sp>
    </p:spTree>
  </p:cSld>
  <p:clrMapOvr>
    <a:masterClrMapping/>
  </p:clrMapOvr>
</p:sld>
</file>

<file path=ppt/slides/slide2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6" name="Shape 2226"/>
        <p:cNvGrpSpPr/>
        <p:nvPr/>
      </p:nvGrpSpPr>
      <p:grpSpPr>
        <a:xfrm>
          <a:off x="0" y="0"/>
          <a:ext cx="0" cy="0"/>
          <a:chOff x="0" y="0"/>
          <a:chExt cx="0" cy="0"/>
        </a:xfrm>
      </p:grpSpPr>
      <p:sp>
        <p:nvSpPr>
          <p:cNvPr id="2227" name="Google Shape;2227;p280"/>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228" name="Google Shape;2228;p280"/>
          <p:cNvSpPr txBox="1"/>
          <p:nvPr/>
        </p:nvSpPr>
        <p:spPr>
          <a:xfrm>
            <a:off x="7072376" y="975105"/>
            <a:ext cx="3756025" cy="63246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b="1" lang="fr-FR" sz="3950">
                <a:solidFill>
                  <a:srgbClr val="252525"/>
                </a:solidFill>
                <a:latin typeface="Garamond"/>
                <a:ea typeface="Garamond"/>
                <a:cs typeface="Garamond"/>
                <a:sym typeface="Garamond"/>
              </a:rPr>
              <a:t>vous	retenez	le</a:t>
            </a:r>
            <a:endParaRPr sz="3950">
              <a:latin typeface="Garamond"/>
              <a:ea typeface="Garamond"/>
              <a:cs typeface="Garamond"/>
              <a:sym typeface="Garamond"/>
            </a:endParaRPr>
          </a:p>
        </p:txBody>
      </p:sp>
      <p:sp>
        <p:nvSpPr>
          <p:cNvPr id="2229" name="Google Shape;2229;p28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230" name="Google Shape;2230;p280"/>
          <p:cNvSpPr txBox="1"/>
          <p:nvPr>
            <p:ph type="title"/>
          </p:nvPr>
        </p:nvSpPr>
        <p:spPr>
          <a:xfrm>
            <a:off x="1375028" y="975105"/>
            <a:ext cx="5311775"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t>2.	Devant	ce	tableau, diagnostic de:</a:t>
            </a:r>
            <a:endParaRPr sz="3950"/>
          </a:p>
        </p:txBody>
      </p:sp>
      <p:sp>
        <p:nvSpPr>
          <p:cNvPr id="2231" name="Google Shape;2231;p280"/>
          <p:cNvSpPr txBox="1"/>
          <p:nvPr/>
        </p:nvSpPr>
        <p:spPr>
          <a:xfrm>
            <a:off x="1375028" y="2412854"/>
            <a:ext cx="4997450" cy="2590800"/>
          </a:xfrm>
          <a:prstGeom prst="rect">
            <a:avLst/>
          </a:prstGeom>
          <a:noFill/>
          <a:ln>
            <a:noFill/>
          </a:ln>
        </p:spPr>
        <p:txBody>
          <a:bodyPr anchorCtr="0" anchor="t" bIns="0" lIns="0" spcFirstLastPara="1" rIns="0" wrap="square" tIns="130175">
            <a:spAutoFit/>
          </a:bodyPr>
          <a:lstStyle/>
          <a:p>
            <a:pPr indent="-389890" lvl="0" marL="402590" rtl="0" algn="l">
              <a:lnSpc>
                <a:spcPct val="100000"/>
              </a:lnSpc>
              <a:spcBef>
                <a:spcPts val="0"/>
              </a:spcBef>
              <a:spcAft>
                <a:spcPts val="0"/>
              </a:spcAft>
              <a:buClr>
                <a:srgbClr val="252525"/>
              </a:buClr>
              <a:buSzPts val="2600"/>
              <a:buFont typeface="Garamond"/>
              <a:buAutoNum type="alphaUcPeriod"/>
            </a:pPr>
            <a:r>
              <a:rPr b="1" lang="fr-FR" sz="2600">
                <a:solidFill>
                  <a:srgbClr val="252525"/>
                </a:solidFill>
                <a:latin typeface="Garamond"/>
                <a:ea typeface="Garamond"/>
                <a:cs typeface="Garamond"/>
                <a:sym typeface="Garamond"/>
              </a:rPr>
              <a:t>Un trouble anxiété de séparation</a:t>
            </a:r>
            <a:endParaRPr sz="2600">
              <a:latin typeface="Garamond"/>
              <a:ea typeface="Garamond"/>
              <a:cs typeface="Garamond"/>
              <a:sym typeface="Garamond"/>
            </a:endParaRPr>
          </a:p>
          <a:p>
            <a:pPr indent="-390525" lvl="0" marL="403225" rtl="0" algn="l">
              <a:lnSpc>
                <a:spcPct val="100000"/>
              </a:lnSpc>
              <a:spcBef>
                <a:spcPts val="935"/>
              </a:spcBef>
              <a:spcAft>
                <a:spcPts val="0"/>
              </a:spcAft>
              <a:buClr>
                <a:srgbClr val="252525"/>
              </a:buClr>
              <a:buSzPts val="2600"/>
              <a:buFont typeface="Garamond"/>
              <a:buAutoNum type="alphaUcPeriod"/>
            </a:pPr>
            <a:r>
              <a:rPr b="1" lang="fr-FR" sz="2600">
                <a:solidFill>
                  <a:srgbClr val="252525"/>
                </a:solidFill>
                <a:latin typeface="Garamond"/>
                <a:ea typeface="Garamond"/>
                <a:cs typeface="Garamond"/>
                <a:sym typeface="Garamond"/>
              </a:rPr>
              <a:t>Une phobie sociale</a:t>
            </a:r>
            <a:endParaRPr sz="2600">
              <a:latin typeface="Garamond"/>
              <a:ea typeface="Garamond"/>
              <a:cs typeface="Garamond"/>
              <a:sym typeface="Garamond"/>
            </a:endParaRPr>
          </a:p>
          <a:p>
            <a:pPr indent="-399415" lvl="0" marL="412115" rtl="0" algn="l">
              <a:lnSpc>
                <a:spcPct val="100000"/>
              </a:lnSpc>
              <a:spcBef>
                <a:spcPts val="935"/>
              </a:spcBef>
              <a:spcAft>
                <a:spcPts val="0"/>
              </a:spcAft>
              <a:buClr>
                <a:srgbClr val="252525"/>
              </a:buClr>
              <a:buSzPts val="2600"/>
              <a:buFont typeface="Garamond"/>
              <a:buAutoNum type="alphaUcPeriod"/>
            </a:pPr>
            <a:r>
              <a:rPr b="1" lang="fr-FR" sz="2600">
                <a:solidFill>
                  <a:srgbClr val="252525"/>
                </a:solidFill>
                <a:latin typeface="Garamond"/>
                <a:ea typeface="Garamond"/>
                <a:cs typeface="Garamond"/>
                <a:sym typeface="Garamond"/>
              </a:rPr>
              <a:t>Une dépression de l'enfant</a:t>
            </a:r>
            <a:endParaRPr sz="2600">
              <a:latin typeface="Garamond"/>
              <a:ea typeface="Garamond"/>
              <a:cs typeface="Garamond"/>
              <a:sym typeface="Garamond"/>
            </a:endParaRPr>
          </a:p>
          <a:p>
            <a:pPr indent="-418465" lvl="0" marL="431165" rtl="0" algn="l">
              <a:lnSpc>
                <a:spcPct val="100000"/>
              </a:lnSpc>
              <a:spcBef>
                <a:spcPts val="865"/>
              </a:spcBef>
              <a:spcAft>
                <a:spcPts val="0"/>
              </a:spcAft>
              <a:buClr>
                <a:srgbClr val="252525"/>
              </a:buClr>
              <a:buSzPts val="2600"/>
              <a:buFont typeface="Garamond"/>
              <a:buAutoNum type="alphaUcPeriod"/>
            </a:pPr>
            <a:r>
              <a:rPr b="1" lang="fr-FR" sz="2600">
                <a:solidFill>
                  <a:srgbClr val="252525"/>
                </a:solidFill>
                <a:latin typeface="Garamond"/>
                <a:ea typeface="Garamond"/>
                <a:cs typeface="Garamond"/>
                <a:sym typeface="Garamond"/>
              </a:rPr>
              <a:t>Une agoraphobie</a:t>
            </a:r>
            <a:endParaRPr sz="2600">
              <a:latin typeface="Garamond"/>
              <a:ea typeface="Garamond"/>
              <a:cs typeface="Garamond"/>
              <a:sym typeface="Garamond"/>
            </a:endParaRPr>
          </a:p>
          <a:p>
            <a:pPr indent="-400050" lvl="0" marL="412750" rtl="0" algn="l">
              <a:lnSpc>
                <a:spcPct val="100000"/>
              </a:lnSpc>
              <a:spcBef>
                <a:spcPts val="935"/>
              </a:spcBef>
              <a:spcAft>
                <a:spcPts val="0"/>
              </a:spcAft>
              <a:buClr>
                <a:srgbClr val="252525"/>
              </a:buClr>
              <a:buSzPts val="2600"/>
              <a:buFont typeface="Garamond"/>
              <a:buAutoNum type="alphaUcPeriod"/>
            </a:pPr>
            <a:r>
              <a:rPr b="1" lang="fr-FR" sz="2600">
                <a:solidFill>
                  <a:srgbClr val="252525"/>
                </a:solidFill>
                <a:latin typeface="Garamond"/>
                <a:ea typeface="Garamond"/>
                <a:cs typeface="Garamond"/>
                <a:sym typeface="Garamond"/>
              </a:rPr>
              <a:t>Un refus scolaire anxieux</a:t>
            </a:r>
            <a:endParaRPr sz="2600">
              <a:latin typeface="Garamond"/>
              <a:ea typeface="Garamond"/>
              <a:cs typeface="Garamond"/>
              <a:sym typeface="Garamond"/>
            </a:endParaRPr>
          </a:p>
        </p:txBody>
      </p:sp>
    </p:spTree>
  </p:cSld>
  <p:clrMapOvr>
    <a:masterClrMapping/>
  </p:clrMapOvr>
</p:sld>
</file>

<file path=ppt/slides/slide2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5" name="Shape 2235"/>
        <p:cNvGrpSpPr/>
        <p:nvPr/>
      </p:nvGrpSpPr>
      <p:grpSpPr>
        <a:xfrm>
          <a:off x="0" y="0"/>
          <a:ext cx="0" cy="0"/>
          <a:chOff x="0" y="0"/>
          <a:chExt cx="0" cy="0"/>
        </a:xfrm>
      </p:grpSpPr>
      <p:sp>
        <p:nvSpPr>
          <p:cNvPr id="2236" name="Google Shape;2236;p281"/>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237" name="Google Shape;2237;p281"/>
          <p:cNvSpPr txBox="1"/>
          <p:nvPr>
            <p:ph type="title"/>
          </p:nvPr>
        </p:nvSpPr>
        <p:spPr>
          <a:xfrm>
            <a:off x="802005" y="636905"/>
            <a:ext cx="10587989" cy="1671955"/>
          </a:xfrm>
          <a:prstGeom prst="rect">
            <a:avLst/>
          </a:prstGeom>
          <a:noFill/>
          <a:ln>
            <a:noFill/>
          </a:ln>
        </p:spPr>
        <p:txBody>
          <a:bodyPr anchorCtr="0" anchor="t" bIns="0" lIns="0" spcFirstLastPara="1" rIns="0" wrap="square" tIns="345800">
            <a:spAutoFit/>
          </a:bodyPr>
          <a:lstStyle/>
          <a:p>
            <a:pPr indent="0" lvl="0" marL="585470" marR="5080" rtl="0" algn="l">
              <a:lnSpc>
                <a:spcPct val="101400"/>
              </a:lnSpc>
              <a:spcBef>
                <a:spcPts val="0"/>
              </a:spcBef>
              <a:spcAft>
                <a:spcPts val="0"/>
              </a:spcAft>
              <a:buNone/>
            </a:pPr>
            <a:r>
              <a:rPr lang="fr-FR" sz="3950"/>
              <a:t>3.Les mesures thérapeutiques suivantes peuvent être proposées:</a:t>
            </a:r>
            <a:endParaRPr sz="3950"/>
          </a:p>
        </p:txBody>
      </p:sp>
      <p:sp>
        <p:nvSpPr>
          <p:cNvPr id="2238" name="Google Shape;2238;p28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239" name="Google Shape;2239;p281"/>
          <p:cNvSpPr txBox="1"/>
          <p:nvPr/>
        </p:nvSpPr>
        <p:spPr>
          <a:xfrm>
            <a:off x="1375028" y="2412890"/>
            <a:ext cx="6497320" cy="2791460"/>
          </a:xfrm>
          <a:prstGeom prst="rect">
            <a:avLst/>
          </a:prstGeom>
          <a:noFill/>
          <a:ln>
            <a:noFill/>
          </a:ln>
        </p:spPr>
        <p:txBody>
          <a:bodyPr anchorCtr="0" anchor="t" bIns="0" lIns="0" spcFirstLastPara="1" rIns="0" wrap="square" tIns="168275">
            <a:spAutoFit/>
          </a:bodyPr>
          <a:lstStyle/>
          <a:p>
            <a:pPr indent="-389890" lvl="0" marL="402590" rtl="0" algn="l">
              <a:lnSpc>
                <a:spcPct val="100000"/>
              </a:lnSpc>
              <a:spcBef>
                <a:spcPts val="0"/>
              </a:spcBef>
              <a:spcAft>
                <a:spcPts val="0"/>
              </a:spcAft>
              <a:buClr>
                <a:srgbClr val="252525"/>
              </a:buClr>
              <a:buSzPts val="2600"/>
              <a:buFont typeface="Garamond"/>
              <a:buAutoNum type="alphaUcPeriod"/>
            </a:pPr>
            <a:r>
              <a:rPr b="1" lang="fr-FR" sz="2600">
                <a:solidFill>
                  <a:srgbClr val="252525"/>
                </a:solidFill>
                <a:latin typeface="Garamond"/>
                <a:ea typeface="Garamond"/>
                <a:cs typeface="Garamond"/>
                <a:sym typeface="Garamond"/>
              </a:rPr>
              <a:t>Des anxiolytiques</a:t>
            </a:r>
            <a:endParaRPr sz="2600">
              <a:latin typeface="Garamond"/>
              <a:ea typeface="Garamond"/>
              <a:cs typeface="Garamond"/>
              <a:sym typeface="Garamond"/>
            </a:endParaRPr>
          </a:p>
          <a:p>
            <a:pPr indent="-390525" lvl="0" marL="403225" rtl="0" algn="l">
              <a:lnSpc>
                <a:spcPct val="100000"/>
              </a:lnSpc>
              <a:spcBef>
                <a:spcPts val="1235"/>
              </a:spcBef>
              <a:spcAft>
                <a:spcPts val="0"/>
              </a:spcAft>
              <a:buClr>
                <a:srgbClr val="252525"/>
              </a:buClr>
              <a:buSzPts val="2600"/>
              <a:buFont typeface="Garamond"/>
              <a:buAutoNum type="alphaUcPeriod"/>
            </a:pPr>
            <a:r>
              <a:rPr b="1" lang="fr-FR" sz="2600">
                <a:solidFill>
                  <a:srgbClr val="252525"/>
                </a:solidFill>
                <a:latin typeface="Garamond"/>
                <a:ea typeface="Garamond"/>
                <a:cs typeface="Garamond"/>
                <a:sym typeface="Garamond"/>
              </a:rPr>
              <a:t>Des antidépresseurs</a:t>
            </a:r>
            <a:endParaRPr sz="2600">
              <a:latin typeface="Garamond"/>
              <a:ea typeface="Garamond"/>
              <a:cs typeface="Garamond"/>
              <a:sym typeface="Garamond"/>
            </a:endParaRPr>
          </a:p>
          <a:p>
            <a:pPr indent="-399415" lvl="0" marL="412115" rtl="0" algn="l">
              <a:lnSpc>
                <a:spcPct val="100000"/>
              </a:lnSpc>
              <a:spcBef>
                <a:spcPts val="1235"/>
              </a:spcBef>
              <a:spcAft>
                <a:spcPts val="0"/>
              </a:spcAft>
              <a:buClr>
                <a:srgbClr val="252525"/>
              </a:buClr>
              <a:buSzPts val="2600"/>
              <a:buFont typeface="Garamond"/>
              <a:buAutoNum type="alphaUcPeriod"/>
            </a:pPr>
            <a:r>
              <a:rPr b="1" lang="fr-FR" sz="2600">
                <a:solidFill>
                  <a:srgbClr val="252525"/>
                </a:solidFill>
                <a:latin typeface="Garamond"/>
                <a:ea typeface="Garamond"/>
                <a:cs typeface="Garamond"/>
                <a:sym typeface="Garamond"/>
              </a:rPr>
              <a:t>Une thérapie comportementale et cognitive</a:t>
            </a:r>
            <a:endParaRPr sz="2600">
              <a:latin typeface="Garamond"/>
              <a:ea typeface="Garamond"/>
              <a:cs typeface="Garamond"/>
              <a:sym typeface="Garamond"/>
            </a:endParaRPr>
          </a:p>
          <a:p>
            <a:pPr indent="-418465" lvl="0" marL="431165" rtl="0" algn="l">
              <a:lnSpc>
                <a:spcPct val="100000"/>
              </a:lnSpc>
              <a:spcBef>
                <a:spcPts val="1235"/>
              </a:spcBef>
              <a:spcAft>
                <a:spcPts val="0"/>
              </a:spcAft>
              <a:buClr>
                <a:srgbClr val="252525"/>
              </a:buClr>
              <a:buSzPts val="2600"/>
              <a:buFont typeface="Garamond"/>
              <a:buAutoNum type="alphaUcPeriod"/>
            </a:pPr>
            <a:r>
              <a:rPr b="1" lang="fr-FR" sz="2600">
                <a:solidFill>
                  <a:srgbClr val="252525"/>
                </a:solidFill>
                <a:latin typeface="Garamond"/>
                <a:ea typeface="Garamond"/>
                <a:cs typeface="Garamond"/>
                <a:sym typeface="Garamond"/>
              </a:rPr>
              <a:t>Une guidance parentale</a:t>
            </a:r>
            <a:endParaRPr sz="2600">
              <a:latin typeface="Garamond"/>
              <a:ea typeface="Garamond"/>
              <a:cs typeface="Garamond"/>
              <a:sym typeface="Garamond"/>
            </a:endParaRPr>
          </a:p>
          <a:p>
            <a:pPr indent="-400050" lvl="0" marL="412750" rtl="0" algn="l">
              <a:lnSpc>
                <a:spcPct val="100000"/>
              </a:lnSpc>
              <a:spcBef>
                <a:spcPts val="1240"/>
              </a:spcBef>
              <a:spcAft>
                <a:spcPts val="0"/>
              </a:spcAft>
              <a:buClr>
                <a:srgbClr val="252525"/>
              </a:buClr>
              <a:buSzPts val="2600"/>
              <a:buFont typeface="Garamond"/>
              <a:buAutoNum type="alphaUcPeriod"/>
            </a:pPr>
            <a:r>
              <a:rPr b="1" lang="fr-FR" sz="2600">
                <a:solidFill>
                  <a:srgbClr val="252525"/>
                </a:solidFill>
                <a:latin typeface="Garamond"/>
                <a:ea typeface="Garamond"/>
                <a:cs typeface="Garamond"/>
                <a:sym typeface="Garamond"/>
              </a:rPr>
              <a:t>Des Bétabloquants</a:t>
            </a:r>
            <a:endParaRPr sz="2600">
              <a:latin typeface="Garamond"/>
              <a:ea typeface="Garamond"/>
              <a:cs typeface="Garamond"/>
              <a:sym typeface="Garamond"/>
            </a:endParaRPr>
          </a:p>
        </p:txBody>
      </p:sp>
    </p:spTree>
  </p:cSld>
  <p:clrMapOvr>
    <a:masterClrMapping/>
  </p:clrMapOvr>
</p:sld>
</file>

<file path=ppt/slides/slide2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3" name="Shape 2243"/>
        <p:cNvGrpSpPr/>
        <p:nvPr/>
      </p:nvGrpSpPr>
      <p:grpSpPr>
        <a:xfrm>
          <a:off x="0" y="0"/>
          <a:ext cx="0" cy="0"/>
          <a:chOff x="0" y="0"/>
          <a:chExt cx="0" cy="0"/>
        </a:xfrm>
      </p:grpSpPr>
      <p:sp>
        <p:nvSpPr>
          <p:cNvPr id="2244" name="Google Shape;2244;p282"/>
          <p:cNvSpPr txBox="1"/>
          <p:nvPr>
            <p:ph type="title"/>
          </p:nvPr>
        </p:nvSpPr>
        <p:spPr>
          <a:xfrm>
            <a:off x="3360165" y="2346325"/>
            <a:ext cx="5485130" cy="112458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fr-FR" sz="7200"/>
              <a:t>Cas clinique 9</a:t>
            </a:r>
            <a:endParaRPr sz="7200"/>
          </a:p>
        </p:txBody>
      </p:sp>
      <p:sp>
        <p:nvSpPr>
          <p:cNvPr id="2245" name="Google Shape;2245;p28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2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9" name="Shape 2249"/>
        <p:cNvGrpSpPr/>
        <p:nvPr/>
      </p:nvGrpSpPr>
      <p:grpSpPr>
        <a:xfrm>
          <a:off x="0" y="0"/>
          <a:ext cx="0" cy="0"/>
          <a:chOff x="0" y="0"/>
          <a:chExt cx="0" cy="0"/>
        </a:xfrm>
      </p:grpSpPr>
      <p:sp>
        <p:nvSpPr>
          <p:cNvPr id="2250" name="Google Shape;2250;p283"/>
          <p:cNvSpPr txBox="1"/>
          <p:nvPr/>
        </p:nvSpPr>
        <p:spPr>
          <a:xfrm>
            <a:off x="832167" y="730880"/>
            <a:ext cx="10552430" cy="4576445"/>
          </a:xfrm>
          <a:prstGeom prst="rect">
            <a:avLst/>
          </a:prstGeom>
          <a:noFill/>
          <a:ln>
            <a:noFill/>
          </a:ln>
        </p:spPr>
        <p:txBody>
          <a:bodyPr anchorCtr="0" anchor="t" bIns="0" lIns="0" spcFirstLastPara="1" rIns="0" wrap="square" tIns="15875">
            <a:spAutoFit/>
          </a:bodyPr>
          <a:lstStyle/>
          <a:p>
            <a:pPr indent="0" lvl="0" marL="12700" marR="6985" rtl="0" algn="just">
              <a:lnSpc>
                <a:spcPct val="150400"/>
              </a:lnSpc>
              <a:spcBef>
                <a:spcPts val="0"/>
              </a:spcBef>
              <a:spcAft>
                <a:spcPts val="0"/>
              </a:spcAft>
              <a:buNone/>
            </a:pPr>
            <a:r>
              <a:rPr lang="fr-FR" sz="2400">
                <a:solidFill>
                  <a:srgbClr val="252525"/>
                </a:solidFill>
                <a:latin typeface="Garamond"/>
                <a:ea typeface="Garamond"/>
                <a:cs typeface="Garamond"/>
                <a:sym typeface="Garamond"/>
              </a:rPr>
              <a:t>Mademoiselle  Emna âgée de 28 ans, ingénieur  consulte  pour  une symptomatologie anxieuse   à   type   de   </a:t>
            </a:r>
            <a:r>
              <a:rPr b="1" lang="fr-FR" sz="2400">
                <a:solidFill>
                  <a:srgbClr val="C00000"/>
                </a:solidFill>
                <a:latin typeface="Garamond"/>
                <a:ea typeface="Garamond"/>
                <a:cs typeface="Garamond"/>
                <a:sym typeface="Garamond"/>
              </a:rPr>
              <a:t>palpitations,   oppression   thoracique   et   sensation d’évanouissement </a:t>
            </a:r>
            <a:r>
              <a:rPr lang="fr-FR" sz="2400">
                <a:solidFill>
                  <a:srgbClr val="252525"/>
                </a:solidFill>
                <a:latin typeface="Garamond"/>
                <a:ea typeface="Garamond"/>
                <a:cs typeface="Garamond"/>
                <a:sym typeface="Garamond"/>
              </a:rPr>
              <a:t>survenant de manière </a:t>
            </a:r>
            <a:r>
              <a:rPr b="1" lang="fr-FR" sz="2400">
                <a:solidFill>
                  <a:srgbClr val="C00000"/>
                </a:solidFill>
                <a:latin typeface="Garamond"/>
                <a:ea typeface="Garamond"/>
                <a:cs typeface="Garamond"/>
                <a:sym typeface="Garamond"/>
              </a:rPr>
              <a:t>récurrente</a:t>
            </a:r>
            <a:r>
              <a:rPr lang="fr-FR" sz="2400">
                <a:solidFill>
                  <a:srgbClr val="252525"/>
                </a:solidFill>
                <a:latin typeface="Garamond"/>
                <a:ea typeface="Garamond"/>
                <a:cs typeface="Garamond"/>
                <a:sym typeface="Garamond"/>
              </a:rPr>
              <a:t>, elle vous demande de lui prescrire un traitement efficace.</a:t>
            </a:r>
            <a:endParaRPr sz="2400">
              <a:latin typeface="Garamond"/>
              <a:ea typeface="Garamond"/>
              <a:cs typeface="Garamond"/>
              <a:sym typeface="Garamond"/>
            </a:endParaRPr>
          </a:p>
          <a:p>
            <a:pPr indent="0" lvl="0" marL="12700" marR="5080" rtl="0" algn="just">
              <a:lnSpc>
                <a:spcPct val="150400"/>
              </a:lnSpc>
              <a:spcBef>
                <a:spcPts val="1150"/>
              </a:spcBef>
              <a:spcAft>
                <a:spcPts val="0"/>
              </a:spcAft>
              <a:buNone/>
            </a:pPr>
            <a:r>
              <a:rPr lang="fr-FR" sz="2400">
                <a:solidFill>
                  <a:srgbClr val="252525"/>
                </a:solidFill>
                <a:latin typeface="Garamond"/>
                <a:ea typeface="Garamond"/>
                <a:cs typeface="Garamond"/>
                <a:sym typeface="Garamond"/>
              </a:rPr>
              <a:t>Vous apprenez que cette symptomatologie survient lors des </a:t>
            </a:r>
            <a:r>
              <a:rPr b="1" lang="fr-FR" sz="2400">
                <a:solidFill>
                  <a:srgbClr val="C00000"/>
                </a:solidFill>
                <a:latin typeface="Garamond"/>
                <a:ea typeface="Garamond"/>
                <a:cs typeface="Garamond"/>
                <a:sym typeface="Garamond"/>
              </a:rPr>
              <a:t>réunions de travail</a:t>
            </a:r>
            <a:r>
              <a:rPr lang="fr-FR" sz="2400">
                <a:solidFill>
                  <a:srgbClr val="252525"/>
                </a:solidFill>
                <a:latin typeface="Garamond"/>
                <a:ea typeface="Garamond"/>
                <a:cs typeface="Garamond"/>
                <a:sym typeface="Garamond"/>
              </a:rPr>
              <a:t>, elle vous confie que, quand elle est sollicitée pour </a:t>
            </a:r>
            <a:r>
              <a:rPr b="1" lang="fr-FR" sz="2400">
                <a:solidFill>
                  <a:srgbClr val="252525"/>
                </a:solidFill>
                <a:latin typeface="Garamond"/>
                <a:ea typeface="Garamond"/>
                <a:cs typeface="Garamond"/>
                <a:sym typeface="Garamond"/>
              </a:rPr>
              <a:t>présenter un projet</a:t>
            </a:r>
            <a:r>
              <a:rPr lang="fr-FR" sz="2400">
                <a:solidFill>
                  <a:srgbClr val="252525"/>
                </a:solidFill>
                <a:latin typeface="Garamond"/>
                <a:ea typeface="Garamond"/>
                <a:cs typeface="Garamond"/>
                <a:sym typeface="Garamond"/>
              </a:rPr>
              <a:t>, c’est sa collègue qui s’en charge , Si elle est sollicitée elle dit perdre ses moyens, rougir, et écourter son intervention par peur de se montrer ridicule,</a:t>
            </a:r>
            <a:endParaRPr sz="2400">
              <a:latin typeface="Garamond"/>
              <a:ea typeface="Garamond"/>
              <a:cs typeface="Garamond"/>
              <a:sym typeface="Garamond"/>
            </a:endParaRPr>
          </a:p>
        </p:txBody>
      </p:sp>
      <p:sp>
        <p:nvSpPr>
          <p:cNvPr id="2251" name="Google Shape;2251;p28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2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5" name="Shape 2255"/>
        <p:cNvGrpSpPr/>
        <p:nvPr/>
      </p:nvGrpSpPr>
      <p:grpSpPr>
        <a:xfrm>
          <a:off x="0" y="0"/>
          <a:ext cx="0" cy="0"/>
          <a:chOff x="0" y="0"/>
          <a:chExt cx="0" cy="0"/>
        </a:xfrm>
      </p:grpSpPr>
      <p:sp>
        <p:nvSpPr>
          <p:cNvPr id="2256" name="Google Shape;2256;p284"/>
          <p:cNvSpPr txBox="1"/>
          <p:nvPr/>
        </p:nvSpPr>
        <p:spPr>
          <a:xfrm>
            <a:off x="1043939" y="1608772"/>
            <a:ext cx="10243185" cy="3188335"/>
          </a:xfrm>
          <a:prstGeom prst="rect">
            <a:avLst/>
          </a:prstGeom>
          <a:noFill/>
          <a:ln>
            <a:noFill/>
          </a:ln>
        </p:spPr>
        <p:txBody>
          <a:bodyPr anchorCtr="0" anchor="t" bIns="0" lIns="0" spcFirstLastPara="1" rIns="0" wrap="square" tIns="15875">
            <a:spAutoFit/>
          </a:bodyPr>
          <a:lstStyle/>
          <a:p>
            <a:pPr indent="-285115" lvl="0" marL="297815" rtl="0" algn="l">
              <a:lnSpc>
                <a:spcPct val="100000"/>
              </a:lnSpc>
              <a:spcBef>
                <a:spcPts val="0"/>
              </a:spcBef>
              <a:spcAft>
                <a:spcPts val="0"/>
              </a:spcAft>
              <a:buClr>
                <a:srgbClr val="83992A"/>
              </a:buClr>
              <a:buSzPts val="3200"/>
              <a:buFont typeface="Arial"/>
              <a:buChar char="•"/>
            </a:pPr>
            <a:r>
              <a:rPr lang="fr-FR" sz="2750">
                <a:solidFill>
                  <a:srgbClr val="252525"/>
                </a:solidFill>
                <a:latin typeface="Garamond"/>
                <a:ea typeface="Garamond"/>
                <a:cs typeface="Garamond"/>
                <a:sym typeface="Garamond"/>
              </a:rPr>
              <a:t>Mademoiselle	Emna	se	sent	toujours	tendue	quand	elle	doit	</a:t>
            </a:r>
            <a:r>
              <a:rPr b="1" lang="fr-FR" sz="2750">
                <a:solidFill>
                  <a:srgbClr val="252525"/>
                </a:solidFill>
                <a:latin typeface="Garamond"/>
                <a:ea typeface="Garamond"/>
                <a:cs typeface="Garamond"/>
                <a:sym typeface="Garamond"/>
              </a:rPr>
              <a:t>parler	à</a:t>
            </a:r>
            <a:endParaRPr sz="2750">
              <a:latin typeface="Garamond"/>
              <a:ea typeface="Garamond"/>
              <a:cs typeface="Garamond"/>
              <a:sym typeface="Garamond"/>
            </a:endParaRPr>
          </a:p>
          <a:p>
            <a:pPr indent="0" lvl="0" marL="298450" marR="5080" rtl="0" algn="l">
              <a:lnSpc>
                <a:spcPct val="202599"/>
              </a:lnSpc>
              <a:spcBef>
                <a:spcPts val="70"/>
              </a:spcBef>
              <a:spcAft>
                <a:spcPts val="0"/>
              </a:spcAft>
              <a:buNone/>
            </a:pPr>
            <a:r>
              <a:rPr b="1" lang="fr-FR" sz="2750">
                <a:solidFill>
                  <a:srgbClr val="252525"/>
                </a:solidFill>
                <a:latin typeface="Garamond"/>
                <a:ea typeface="Garamond"/>
                <a:cs typeface="Garamond"/>
                <a:sym typeface="Garamond"/>
              </a:rPr>
              <a:t>des inconnus, </a:t>
            </a:r>
            <a:r>
              <a:rPr lang="fr-FR" sz="2750">
                <a:solidFill>
                  <a:srgbClr val="252525"/>
                </a:solidFill>
                <a:latin typeface="Garamond"/>
                <a:ea typeface="Garamond"/>
                <a:cs typeface="Garamond"/>
                <a:sym typeface="Garamond"/>
              </a:rPr>
              <a:t>elle dit être incapable d’entrer seule dans un magasin et solliciter les vendeurs par </a:t>
            </a:r>
            <a:r>
              <a:rPr b="1" lang="fr-FR" sz="2750">
                <a:solidFill>
                  <a:srgbClr val="252525"/>
                </a:solidFill>
                <a:latin typeface="Garamond"/>
                <a:ea typeface="Garamond"/>
                <a:cs typeface="Garamond"/>
                <a:sym typeface="Garamond"/>
              </a:rPr>
              <a:t>peur d’ être humiliée.</a:t>
            </a:r>
            <a:endParaRPr sz="2750">
              <a:latin typeface="Garamond"/>
              <a:ea typeface="Garamond"/>
              <a:cs typeface="Garamond"/>
              <a:sym typeface="Garamond"/>
            </a:endParaRPr>
          </a:p>
          <a:p>
            <a:pPr indent="0" lvl="0" marL="0" rtl="0" algn="l">
              <a:lnSpc>
                <a:spcPct val="100000"/>
              </a:lnSpc>
              <a:spcBef>
                <a:spcPts val="1645"/>
              </a:spcBef>
              <a:spcAft>
                <a:spcPts val="0"/>
              </a:spcAft>
              <a:buNone/>
            </a:pPr>
            <a:r>
              <a:t/>
            </a:r>
            <a:endParaRPr sz="2750">
              <a:latin typeface="Garamond"/>
              <a:ea typeface="Garamond"/>
              <a:cs typeface="Garamond"/>
              <a:sym typeface="Garamond"/>
            </a:endParaRPr>
          </a:p>
          <a:p>
            <a:pPr indent="-285115" lvl="0" marL="297815" rtl="0" algn="l">
              <a:lnSpc>
                <a:spcPct val="100000"/>
              </a:lnSpc>
              <a:spcBef>
                <a:spcPts val="0"/>
              </a:spcBef>
              <a:spcAft>
                <a:spcPts val="0"/>
              </a:spcAft>
              <a:buClr>
                <a:srgbClr val="83992A"/>
              </a:buClr>
              <a:buSzPts val="3200"/>
              <a:buFont typeface="Arial"/>
              <a:buChar char="•"/>
            </a:pPr>
            <a:r>
              <a:rPr lang="fr-FR" sz="2750">
                <a:solidFill>
                  <a:srgbClr val="252525"/>
                </a:solidFill>
                <a:latin typeface="Garamond"/>
                <a:ea typeface="Garamond"/>
                <a:cs typeface="Garamond"/>
                <a:sym typeface="Garamond"/>
              </a:rPr>
              <a:t>Elle avoue que son « caractère » lui constitue un </a:t>
            </a:r>
            <a:r>
              <a:rPr b="1" lang="fr-FR" sz="2750">
                <a:solidFill>
                  <a:srgbClr val="252525"/>
                </a:solidFill>
                <a:latin typeface="Garamond"/>
                <a:ea typeface="Garamond"/>
                <a:cs typeface="Garamond"/>
                <a:sym typeface="Garamond"/>
              </a:rPr>
              <a:t>handicap.</a:t>
            </a:r>
            <a:endParaRPr sz="2750">
              <a:latin typeface="Garamond"/>
              <a:ea typeface="Garamond"/>
              <a:cs typeface="Garamond"/>
              <a:sym typeface="Garamond"/>
            </a:endParaRPr>
          </a:p>
        </p:txBody>
      </p:sp>
      <p:sp>
        <p:nvSpPr>
          <p:cNvPr id="2257" name="Google Shape;2257;p28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2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1" name="Shape 2261"/>
        <p:cNvGrpSpPr/>
        <p:nvPr/>
      </p:nvGrpSpPr>
      <p:grpSpPr>
        <a:xfrm>
          <a:off x="0" y="0"/>
          <a:ext cx="0" cy="0"/>
          <a:chOff x="0" y="0"/>
          <a:chExt cx="0" cy="0"/>
        </a:xfrm>
      </p:grpSpPr>
      <p:sp>
        <p:nvSpPr>
          <p:cNvPr id="2262" name="Google Shape;2262;p285"/>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263" name="Google Shape;2263;p285"/>
          <p:cNvSpPr txBox="1"/>
          <p:nvPr>
            <p:ph type="title"/>
          </p:nvPr>
        </p:nvSpPr>
        <p:spPr>
          <a:xfrm>
            <a:off x="802005" y="636905"/>
            <a:ext cx="10587989" cy="1671955"/>
          </a:xfrm>
          <a:prstGeom prst="rect">
            <a:avLst/>
          </a:prstGeom>
          <a:noFill/>
          <a:ln>
            <a:noFill/>
          </a:ln>
        </p:spPr>
        <p:txBody>
          <a:bodyPr anchorCtr="0" anchor="t" bIns="0" lIns="0" spcFirstLastPara="1" rIns="0" wrap="square" tIns="407275">
            <a:spAutoFit/>
          </a:bodyPr>
          <a:lstStyle/>
          <a:p>
            <a:pPr indent="0" lvl="0" marL="585470" marR="5080" rtl="0" algn="l">
              <a:lnSpc>
                <a:spcPct val="100899"/>
              </a:lnSpc>
              <a:spcBef>
                <a:spcPts val="0"/>
              </a:spcBef>
              <a:spcAft>
                <a:spcPts val="0"/>
              </a:spcAft>
              <a:buNone/>
            </a:pPr>
            <a:r>
              <a:rPr lang="fr-FR"/>
              <a:t>1- Dans cette observation clinique les signes psychiatriques mis en évidence sont :</a:t>
            </a:r>
            <a:endParaRPr/>
          </a:p>
        </p:txBody>
      </p:sp>
      <p:sp>
        <p:nvSpPr>
          <p:cNvPr id="2264" name="Google Shape;2264;p28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265" name="Google Shape;2265;p285"/>
          <p:cNvSpPr txBox="1"/>
          <p:nvPr/>
        </p:nvSpPr>
        <p:spPr>
          <a:xfrm>
            <a:off x="1187132" y="2449648"/>
            <a:ext cx="9349740" cy="3131185"/>
          </a:xfrm>
          <a:prstGeom prst="rect">
            <a:avLst/>
          </a:prstGeom>
          <a:noFill/>
          <a:ln>
            <a:noFill/>
          </a:ln>
        </p:spPr>
        <p:txBody>
          <a:bodyPr anchorCtr="0" anchor="t" bIns="0" lIns="0" spcFirstLastPara="1" rIns="0" wrap="square" tIns="56500">
            <a:spAutoFit/>
          </a:bodyPr>
          <a:lstStyle/>
          <a:p>
            <a:pPr indent="-456565" lvl="0" marL="469265" rtl="0" algn="l">
              <a:lnSpc>
                <a:spcPct val="100000"/>
              </a:lnSpc>
              <a:spcBef>
                <a:spcPts val="0"/>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La présence d’idées obsédantes</a:t>
            </a:r>
            <a:endParaRPr sz="2600">
              <a:latin typeface="Garamond"/>
              <a:ea typeface="Garamond"/>
              <a:cs typeface="Garamond"/>
              <a:sym typeface="Garamond"/>
            </a:endParaRPr>
          </a:p>
          <a:p>
            <a:pPr indent="-456565" lvl="0" marL="469265" rtl="0" algn="l">
              <a:lnSpc>
                <a:spcPct val="100000"/>
              </a:lnSpc>
              <a:spcBef>
                <a:spcPts val="75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La présence de conduites d’évitement</a:t>
            </a:r>
            <a:endParaRPr sz="2600">
              <a:latin typeface="Garamond"/>
              <a:ea typeface="Garamond"/>
              <a:cs typeface="Garamond"/>
              <a:sym typeface="Garamond"/>
            </a:endParaRPr>
          </a:p>
          <a:p>
            <a:pPr indent="-456565" lvl="0" marL="469265" rtl="0" algn="l">
              <a:lnSpc>
                <a:spcPct val="136153"/>
              </a:lnSpc>
              <a:spcBef>
                <a:spcPts val="755"/>
              </a:spcBef>
              <a:spcAft>
                <a:spcPts val="0"/>
              </a:spcAft>
              <a:buClr>
                <a:srgbClr val="83992A"/>
              </a:buClr>
              <a:buSzPts val="3000"/>
              <a:buFont typeface="Garamond"/>
              <a:buAutoNum type="alphaUcPeriod"/>
            </a:pPr>
            <a:r>
              <a:rPr b="1" lang="fr-FR" sz="2600">
                <a:solidFill>
                  <a:srgbClr val="252525"/>
                </a:solidFill>
                <a:latin typeface="Garamond"/>
                <a:ea typeface="Garamond"/>
                <a:cs typeface="Garamond"/>
                <a:sym typeface="Garamond"/>
              </a:rPr>
              <a:t>L’apparition d’une anxiété en présence de situations réellement</a:t>
            </a:r>
            <a:endParaRPr sz="2600">
              <a:latin typeface="Garamond"/>
              <a:ea typeface="Garamond"/>
              <a:cs typeface="Garamond"/>
              <a:sym typeface="Garamond"/>
            </a:endParaRPr>
          </a:p>
          <a:p>
            <a:pPr indent="0" lvl="0" marL="469900" rtl="0" algn="l">
              <a:lnSpc>
                <a:spcPct val="117692"/>
              </a:lnSpc>
              <a:spcBef>
                <a:spcPts val="0"/>
              </a:spcBef>
              <a:spcAft>
                <a:spcPts val="0"/>
              </a:spcAft>
              <a:buNone/>
            </a:pPr>
            <a:r>
              <a:rPr b="1" lang="fr-FR" sz="2600">
                <a:solidFill>
                  <a:srgbClr val="252525"/>
                </a:solidFill>
                <a:latin typeface="Garamond"/>
                <a:ea typeface="Garamond"/>
                <a:cs typeface="Garamond"/>
                <a:sym typeface="Garamond"/>
              </a:rPr>
              <a:t>menaçantes</a:t>
            </a:r>
            <a:endParaRPr sz="2600">
              <a:latin typeface="Garamond"/>
              <a:ea typeface="Garamond"/>
              <a:cs typeface="Garamond"/>
              <a:sym typeface="Garamond"/>
            </a:endParaRPr>
          </a:p>
          <a:p>
            <a:pPr indent="-456565" lvl="0" marL="469265" rtl="0" algn="l">
              <a:lnSpc>
                <a:spcPct val="100000"/>
              </a:lnSpc>
              <a:spcBef>
                <a:spcPts val="840"/>
              </a:spcBef>
              <a:spcAft>
                <a:spcPts val="0"/>
              </a:spcAft>
              <a:buClr>
                <a:srgbClr val="83992A"/>
              </a:buClr>
              <a:buSzPts val="3000"/>
              <a:buFont typeface="Garamond"/>
              <a:buAutoNum type="alphaUcPeriod" startAt="4"/>
            </a:pPr>
            <a:r>
              <a:rPr b="1" lang="fr-FR" sz="2600">
                <a:solidFill>
                  <a:srgbClr val="252525"/>
                </a:solidFill>
                <a:latin typeface="Garamond"/>
                <a:ea typeface="Garamond"/>
                <a:cs typeface="Garamond"/>
                <a:sym typeface="Garamond"/>
              </a:rPr>
              <a:t>La reconnaissance du caractère morbide de l’anxiété</a:t>
            </a:r>
            <a:endParaRPr sz="2600">
              <a:latin typeface="Garamond"/>
              <a:ea typeface="Garamond"/>
              <a:cs typeface="Garamond"/>
              <a:sym typeface="Garamond"/>
            </a:endParaRPr>
          </a:p>
          <a:p>
            <a:pPr indent="-456565" lvl="0" marL="469265" rtl="0" algn="l">
              <a:lnSpc>
                <a:spcPct val="100000"/>
              </a:lnSpc>
              <a:spcBef>
                <a:spcPts val="755"/>
              </a:spcBef>
              <a:spcAft>
                <a:spcPts val="0"/>
              </a:spcAft>
              <a:buClr>
                <a:srgbClr val="83992A"/>
              </a:buClr>
              <a:buSzPts val="3000"/>
              <a:buFont typeface="Garamond"/>
              <a:buAutoNum type="alphaUcPeriod" startAt="4"/>
            </a:pPr>
            <a:r>
              <a:rPr b="1" lang="fr-FR" sz="2600">
                <a:solidFill>
                  <a:srgbClr val="252525"/>
                </a:solidFill>
                <a:latin typeface="Garamond"/>
                <a:ea typeface="Garamond"/>
                <a:cs typeface="Garamond"/>
                <a:sym typeface="Garamond"/>
              </a:rPr>
              <a:t>L’absence de retentissement sur le fonctionnement social</a:t>
            </a:r>
            <a:endParaRPr sz="2600">
              <a:latin typeface="Garamond"/>
              <a:ea typeface="Garamond"/>
              <a:cs typeface="Garamond"/>
              <a:sym typeface="Garamond"/>
            </a:endParaRPr>
          </a:p>
        </p:txBody>
      </p:sp>
    </p:spTree>
  </p:cSld>
  <p:clrMapOvr>
    <a:masterClrMapping/>
  </p:clrMapOvr>
</p:sld>
</file>

<file path=ppt/slides/slide2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9" name="Shape 2269"/>
        <p:cNvGrpSpPr/>
        <p:nvPr/>
      </p:nvGrpSpPr>
      <p:grpSpPr>
        <a:xfrm>
          <a:off x="0" y="0"/>
          <a:ext cx="0" cy="0"/>
          <a:chOff x="0" y="0"/>
          <a:chExt cx="0" cy="0"/>
        </a:xfrm>
      </p:grpSpPr>
      <p:sp>
        <p:nvSpPr>
          <p:cNvPr id="2270" name="Google Shape;2270;p286"/>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271" name="Google Shape;2271;p286"/>
          <p:cNvSpPr txBox="1"/>
          <p:nvPr>
            <p:ph type="title"/>
          </p:nvPr>
        </p:nvSpPr>
        <p:spPr>
          <a:xfrm>
            <a:off x="1375028" y="996061"/>
            <a:ext cx="9190990" cy="1004569"/>
          </a:xfrm>
          <a:prstGeom prst="rect">
            <a:avLst/>
          </a:prstGeom>
          <a:noFill/>
          <a:ln>
            <a:noFill/>
          </a:ln>
        </p:spPr>
        <p:txBody>
          <a:bodyPr anchorCtr="0" anchor="t" bIns="0" lIns="0" spcFirstLastPara="1" rIns="0" wrap="square" tIns="31100">
            <a:spAutoFit/>
          </a:bodyPr>
          <a:lstStyle/>
          <a:p>
            <a:pPr indent="0" lvl="0" marL="12700" marR="5080" rtl="0" algn="l">
              <a:lnSpc>
                <a:spcPct val="119656"/>
              </a:lnSpc>
              <a:spcBef>
                <a:spcPts val="0"/>
              </a:spcBef>
              <a:spcAft>
                <a:spcPts val="0"/>
              </a:spcAft>
              <a:buNone/>
            </a:pPr>
            <a:r>
              <a:rPr lang="fr-FR" sz="3200">
                <a:solidFill>
                  <a:srgbClr val="000000"/>
                </a:solidFill>
              </a:rPr>
              <a:t>2- Devant ce tableau clinique quels sont les diagnostics à évoquer parmi les affections suivantes ?</a:t>
            </a:r>
            <a:endParaRPr sz="3200"/>
          </a:p>
        </p:txBody>
      </p:sp>
      <p:sp>
        <p:nvSpPr>
          <p:cNvPr id="2272" name="Google Shape;2272;p28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273" name="Google Shape;2273;p286"/>
          <p:cNvSpPr txBox="1"/>
          <p:nvPr/>
        </p:nvSpPr>
        <p:spPr>
          <a:xfrm>
            <a:off x="1375028" y="2469102"/>
            <a:ext cx="3967479" cy="2912110"/>
          </a:xfrm>
          <a:prstGeom prst="rect">
            <a:avLst/>
          </a:prstGeom>
          <a:noFill/>
          <a:ln>
            <a:noFill/>
          </a:ln>
        </p:spPr>
        <p:txBody>
          <a:bodyPr anchorCtr="0" anchor="t" bIns="0" lIns="0" spcFirstLastPara="1" rIns="0" wrap="square" tIns="54600">
            <a:spAutoFit/>
          </a:bodyPr>
          <a:lstStyle/>
          <a:p>
            <a:pPr indent="-456565" lvl="0" marL="469265"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Timidité</a:t>
            </a:r>
            <a:endParaRPr sz="2750">
              <a:latin typeface="Garamond"/>
              <a:ea typeface="Garamond"/>
              <a:cs typeface="Garamond"/>
              <a:sym typeface="Garamond"/>
            </a:endParaRPr>
          </a:p>
          <a:p>
            <a:pPr indent="-457200" lvl="0" marL="469900"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Personnalité évitante</a:t>
            </a:r>
            <a:endParaRPr sz="2750">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Trouble anxiété sociale</a:t>
            </a:r>
            <a:endParaRPr sz="2750">
              <a:latin typeface="Garamond"/>
              <a:ea typeface="Garamond"/>
              <a:cs typeface="Garamond"/>
              <a:sym typeface="Garamond"/>
            </a:endParaRPr>
          </a:p>
          <a:p>
            <a:pPr indent="-455930" lvl="0" marL="46863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Trouble délirant</a:t>
            </a:r>
            <a:endParaRPr sz="2750">
              <a:latin typeface="Garamond"/>
              <a:ea typeface="Garamond"/>
              <a:cs typeface="Garamond"/>
              <a:sym typeface="Garamond"/>
            </a:endParaRPr>
          </a:p>
          <a:p>
            <a:pPr indent="-455930" lvl="0" marL="468630" rtl="0" algn="l">
              <a:lnSpc>
                <a:spcPct val="100000"/>
              </a:lnSpc>
              <a:spcBef>
                <a:spcPts val="7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Personnalité schizoïde</a:t>
            </a:r>
            <a:endParaRPr sz="2750">
              <a:latin typeface="Garamond"/>
              <a:ea typeface="Garamond"/>
              <a:cs typeface="Garamond"/>
              <a:sym typeface="Garamond"/>
            </a:endParaRPr>
          </a:p>
        </p:txBody>
      </p:sp>
    </p:spTree>
  </p:cSld>
  <p:clrMapOvr>
    <a:masterClrMapping/>
  </p:clrMapOvr>
</p:sld>
</file>

<file path=ppt/slides/slide2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7" name="Shape 2277"/>
        <p:cNvGrpSpPr/>
        <p:nvPr/>
      </p:nvGrpSpPr>
      <p:grpSpPr>
        <a:xfrm>
          <a:off x="0" y="0"/>
          <a:ext cx="0" cy="0"/>
          <a:chOff x="0" y="0"/>
          <a:chExt cx="0" cy="0"/>
        </a:xfrm>
      </p:grpSpPr>
      <p:sp>
        <p:nvSpPr>
          <p:cNvPr id="2278" name="Google Shape;2278;p287"/>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279" name="Google Shape;2279;p287"/>
          <p:cNvSpPr txBox="1"/>
          <p:nvPr>
            <p:ph type="title"/>
          </p:nvPr>
        </p:nvSpPr>
        <p:spPr>
          <a:xfrm>
            <a:off x="802005" y="636905"/>
            <a:ext cx="10587989" cy="1671955"/>
          </a:xfrm>
          <a:prstGeom prst="rect">
            <a:avLst/>
          </a:prstGeom>
          <a:noFill/>
          <a:ln>
            <a:noFill/>
          </a:ln>
        </p:spPr>
        <p:txBody>
          <a:bodyPr anchorCtr="0" anchor="t" bIns="0" lIns="0" spcFirstLastPara="1" rIns="0" wrap="square" tIns="407275">
            <a:spAutoFit/>
          </a:bodyPr>
          <a:lstStyle/>
          <a:p>
            <a:pPr indent="0" lvl="0" marL="585470" marR="5080" rtl="0" algn="l">
              <a:lnSpc>
                <a:spcPct val="100899"/>
              </a:lnSpc>
              <a:spcBef>
                <a:spcPts val="0"/>
              </a:spcBef>
              <a:spcAft>
                <a:spcPts val="0"/>
              </a:spcAft>
              <a:buNone/>
            </a:pPr>
            <a:r>
              <a:rPr lang="fr-FR"/>
              <a:t>3- Devant ce tableau clinique le traitement de première intention est :</a:t>
            </a:r>
            <a:endParaRPr/>
          </a:p>
        </p:txBody>
      </p:sp>
      <p:sp>
        <p:nvSpPr>
          <p:cNvPr id="2280" name="Google Shape;2280;p28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281" name="Google Shape;2281;p287"/>
          <p:cNvSpPr txBox="1"/>
          <p:nvPr/>
        </p:nvSpPr>
        <p:spPr>
          <a:xfrm>
            <a:off x="1375028" y="2469102"/>
            <a:ext cx="6874509" cy="2912110"/>
          </a:xfrm>
          <a:prstGeom prst="rect">
            <a:avLst/>
          </a:prstGeom>
          <a:noFill/>
          <a:ln>
            <a:noFill/>
          </a:ln>
        </p:spPr>
        <p:txBody>
          <a:bodyPr anchorCtr="0" anchor="t" bIns="0" lIns="0" spcFirstLastPara="1" rIns="0" wrap="square" tIns="54600">
            <a:spAutoFit/>
          </a:bodyPr>
          <a:lstStyle/>
          <a:p>
            <a:pPr indent="-456565" lvl="0" marL="469265" rtl="0" algn="l">
              <a:lnSpc>
                <a:spcPct val="100000"/>
              </a:lnSpc>
              <a:spcBef>
                <a:spcPts val="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Les thérapies cognitivo-comportementales</a:t>
            </a:r>
            <a:endParaRPr sz="2750">
              <a:latin typeface="Garamond"/>
              <a:ea typeface="Garamond"/>
              <a:cs typeface="Garamond"/>
              <a:sym typeface="Garamond"/>
            </a:endParaRPr>
          </a:p>
          <a:p>
            <a:pPr indent="-457200" lvl="0" marL="469900" rtl="0" algn="l">
              <a:lnSpc>
                <a:spcPct val="100000"/>
              </a:lnSpc>
              <a:spcBef>
                <a:spcPts val="819"/>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les antidépresseurs</a:t>
            </a:r>
            <a:endParaRPr sz="2750">
              <a:latin typeface="Garamond"/>
              <a:ea typeface="Garamond"/>
              <a:cs typeface="Garamond"/>
              <a:sym typeface="Garamond"/>
            </a:endParaRPr>
          </a:p>
          <a:p>
            <a:pPr indent="-456565" lvl="0" marL="469265"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Les antipsychotiques</a:t>
            </a:r>
            <a:endParaRPr sz="2750">
              <a:latin typeface="Garamond"/>
              <a:ea typeface="Garamond"/>
              <a:cs typeface="Garamond"/>
              <a:sym typeface="Garamond"/>
            </a:endParaRPr>
          </a:p>
          <a:p>
            <a:pPr indent="-455930" lvl="0" marL="468630" rtl="0" algn="l">
              <a:lnSpc>
                <a:spcPct val="100000"/>
              </a:lnSpc>
              <a:spcBef>
                <a:spcPts val="815"/>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Les thymo-régulateurs</a:t>
            </a:r>
            <a:endParaRPr sz="2750">
              <a:latin typeface="Garamond"/>
              <a:ea typeface="Garamond"/>
              <a:cs typeface="Garamond"/>
              <a:sym typeface="Garamond"/>
            </a:endParaRPr>
          </a:p>
          <a:p>
            <a:pPr indent="-455930" lvl="0" marL="468630" rtl="0" algn="l">
              <a:lnSpc>
                <a:spcPct val="100000"/>
              </a:lnSpc>
              <a:spcBef>
                <a:spcPts val="740"/>
              </a:spcBef>
              <a:spcAft>
                <a:spcPts val="0"/>
              </a:spcAft>
              <a:buClr>
                <a:srgbClr val="83992A"/>
              </a:buClr>
              <a:buSzPts val="3200"/>
              <a:buFont typeface="Garamond"/>
              <a:buAutoNum type="alphaUcPeriod"/>
            </a:pPr>
            <a:r>
              <a:rPr b="1" lang="fr-FR" sz="2750">
                <a:solidFill>
                  <a:srgbClr val="252525"/>
                </a:solidFill>
                <a:latin typeface="Garamond"/>
                <a:ea typeface="Garamond"/>
                <a:cs typeface="Garamond"/>
                <a:sym typeface="Garamond"/>
              </a:rPr>
              <a:t>Les anxiolytiques</a:t>
            </a:r>
            <a:endParaRPr sz="2750">
              <a:latin typeface="Garamond"/>
              <a:ea typeface="Garamond"/>
              <a:cs typeface="Garamond"/>
              <a:sym typeface="Garamond"/>
            </a:endParaRPr>
          </a:p>
        </p:txBody>
      </p:sp>
    </p:spTree>
  </p:cSld>
  <p:clrMapOvr>
    <a:masterClrMapping/>
  </p:clrMapOvr>
</p:sld>
</file>

<file path=ppt/slides/slide2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5" name="Shape 2285"/>
        <p:cNvGrpSpPr/>
        <p:nvPr/>
      </p:nvGrpSpPr>
      <p:grpSpPr>
        <a:xfrm>
          <a:off x="0" y="0"/>
          <a:ext cx="0" cy="0"/>
          <a:chOff x="0" y="0"/>
          <a:chExt cx="0" cy="0"/>
        </a:xfrm>
      </p:grpSpPr>
      <p:sp>
        <p:nvSpPr>
          <p:cNvPr id="2286" name="Google Shape;2286;p288"/>
          <p:cNvSpPr txBox="1"/>
          <p:nvPr>
            <p:ph type="title"/>
          </p:nvPr>
        </p:nvSpPr>
        <p:spPr>
          <a:xfrm>
            <a:off x="3360164" y="2346325"/>
            <a:ext cx="5936235" cy="1122102"/>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fr-FR" sz="7200"/>
              <a:t>Cas clinique 10</a:t>
            </a:r>
            <a:endParaRPr sz="7200"/>
          </a:p>
        </p:txBody>
      </p:sp>
      <p:sp>
        <p:nvSpPr>
          <p:cNvPr id="2287" name="Google Shape;2287;p28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2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1" name="Shape 2291"/>
        <p:cNvGrpSpPr/>
        <p:nvPr/>
      </p:nvGrpSpPr>
      <p:grpSpPr>
        <a:xfrm>
          <a:off x="0" y="0"/>
          <a:ext cx="0" cy="0"/>
          <a:chOff x="0" y="0"/>
          <a:chExt cx="0" cy="0"/>
        </a:xfrm>
      </p:grpSpPr>
      <p:sp>
        <p:nvSpPr>
          <p:cNvPr id="2292" name="Google Shape;2292;p289"/>
          <p:cNvSpPr txBox="1"/>
          <p:nvPr/>
        </p:nvSpPr>
        <p:spPr>
          <a:xfrm>
            <a:off x="10618469" y="6018847"/>
            <a:ext cx="208279" cy="173990"/>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fr-FR" sz="950">
                <a:latin typeface="Garamond"/>
                <a:ea typeface="Garamond"/>
                <a:cs typeface="Garamond"/>
                <a:sym typeface="Garamond"/>
              </a:rPr>
              <a:t>276</a:t>
            </a:r>
            <a:endParaRPr sz="950">
              <a:latin typeface="Garamond"/>
              <a:ea typeface="Garamond"/>
              <a:cs typeface="Garamond"/>
              <a:sym typeface="Garamond"/>
            </a:endParaRPr>
          </a:p>
        </p:txBody>
      </p:sp>
      <p:sp>
        <p:nvSpPr>
          <p:cNvPr id="2293" name="Google Shape;2293;p289"/>
          <p:cNvSpPr txBox="1"/>
          <p:nvPr>
            <p:ph type="title"/>
          </p:nvPr>
        </p:nvSpPr>
        <p:spPr>
          <a:xfrm>
            <a:off x="898207" y="643953"/>
            <a:ext cx="10617835" cy="902969"/>
          </a:xfrm>
          <a:prstGeom prst="rect">
            <a:avLst/>
          </a:prstGeom>
          <a:noFill/>
          <a:ln>
            <a:noFill/>
          </a:ln>
        </p:spPr>
        <p:txBody>
          <a:bodyPr anchorCtr="0" anchor="t" bIns="0" lIns="0" spcFirstLastPara="1" rIns="0" wrap="square" tIns="85725">
            <a:spAutoFit/>
          </a:bodyPr>
          <a:lstStyle/>
          <a:p>
            <a:pPr indent="0" lvl="0" marL="12700" rtl="0" algn="l">
              <a:lnSpc>
                <a:spcPct val="100000"/>
              </a:lnSpc>
              <a:spcBef>
                <a:spcPts val="0"/>
              </a:spcBef>
              <a:spcAft>
                <a:spcPts val="0"/>
              </a:spcAft>
              <a:buNone/>
            </a:pPr>
            <a:r>
              <a:rPr b="0" lang="fr-FR" sz="2400">
                <a:solidFill>
                  <a:srgbClr val="000000"/>
                </a:solidFill>
                <a:latin typeface="Garamond"/>
                <a:ea typeface="Garamond"/>
                <a:cs typeface="Garamond"/>
                <a:sym typeface="Garamond"/>
              </a:rPr>
              <a:t>Une femme de 24 ans consulte pour une </a:t>
            </a:r>
            <a:r>
              <a:rPr lang="fr-FR" sz="2400">
                <a:solidFill>
                  <a:srgbClr val="000000"/>
                </a:solidFill>
              </a:rPr>
              <a:t>insomnie d’endormissement</a:t>
            </a:r>
            <a:r>
              <a:rPr b="0" lang="fr-FR" sz="2400">
                <a:solidFill>
                  <a:srgbClr val="000000"/>
                </a:solidFill>
                <a:latin typeface="Garamond"/>
                <a:ea typeface="Garamond"/>
                <a:cs typeface="Garamond"/>
                <a:sym typeface="Garamond"/>
              </a:rPr>
              <a:t>, une </a:t>
            </a:r>
            <a:r>
              <a:rPr lang="fr-FR" sz="2400">
                <a:solidFill>
                  <a:srgbClr val="000000"/>
                </a:solidFill>
              </a:rPr>
              <a:t>anorexie</a:t>
            </a:r>
            <a:endParaRPr sz="2400">
              <a:latin typeface="Garamond"/>
              <a:ea typeface="Garamond"/>
              <a:cs typeface="Garamond"/>
              <a:sym typeface="Garamond"/>
            </a:endParaRPr>
          </a:p>
          <a:p>
            <a:pPr indent="0" lvl="0" marL="19050" rtl="0" algn="l">
              <a:lnSpc>
                <a:spcPct val="100000"/>
              </a:lnSpc>
              <a:spcBef>
                <a:spcPts val="575"/>
              </a:spcBef>
              <a:spcAft>
                <a:spcPts val="0"/>
              </a:spcAft>
              <a:buNone/>
            </a:pPr>
            <a:r>
              <a:rPr b="0" lang="fr-FR" sz="2400">
                <a:solidFill>
                  <a:srgbClr val="000000"/>
                </a:solidFill>
                <a:latin typeface="Garamond"/>
                <a:ea typeface="Garamond"/>
                <a:cs typeface="Garamond"/>
                <a:sym typeface="Garamond"/>
              </a:rPr>
              <a:t>sans amaigrissement et une	</a:t>
            </a:r>
            <a:r>
              <a:rPr lang="fr-FR" sz="2400">
                <a:solidFill>
                  <a:srgbClr val="000000"/>
                </a:solidFill>
              </a:rPr>
              <a:t>asthénie modérée </a:t>
            </a:r>
            <a:r>
              <a:rPr b="0" lang="fr-FR" sz="2400">
                <a:solidFill>
                  <a:srgbClr val="000000"/>
                </a:solidFill>
                <a:latin typeface="Garamond"/>
                <a:ea typeface="Garamond"/>
                <a:cs typeface="Garamond"/>
                <a:sym typeface="Garamond"/>
              </a:rPr>
              <a:t>évoluant depuis </a:t>
            </a:r>
            <a:r>
              <a:rPr lang="fr-FR" sz="2400">
                <a:solidFill>
                  <a:srgbClr val="000000"/>
                </a:solidFill>
              </a:rPr>
              <a:t>trois mois.</a:t>
            </a:r>
            <a:endParaRPr sz="2400">
              <a:latin typeface="Garamond"/>
              <a:ea typeface="Garamond"/>
              <a:cs typeface="Garamond"/>
              <a:sym typeface="Garamond"/>
            </a:endParaRPr>
          </a:p>
        </p:txBody>
      </p:sp>
      <p:sp>
        <p:nvSpPr>
          <p:cNvPr id="2294" name="Google Shape;2294;p289"/>
          <p:cNvSpPr txBox="1"/>
          <p:nvPr/>
        </p:nvSpPr>
        <p:spPr>
          <a:xfrm>
            <a:off x="898207" y="1892726"/>
            <a:ext cx="10447655" cy="3860800"/>
          </a:xfrm>
          <a:prstGeom prst="rect">
            <a:avLst/>
          </a:prstGeom>
          <a:noFill/>
          <a:ln>
            <a:noFill/>
          </a:ln>
        </p:spPr>
        <p:txBody>
          <a:bodyPr anchorCtr="0" anchor="t" bIns="0" lIns="0" spcFirstLastPara="1" rIns="0" wrap="square" tIns="153025">
            <a:spAutoFit/>
          </a:bodyPr>
          <a:lstStyle/>
          <a:p>
            <a:pPr indent="0" lvl="0" marL="12700" rtl="0" algn="l">
              <a:lnSpc>
                <a:spcPct val="100000"/>
              </a:lnSpc>
              <a:spcBef>
                <a:spcPts val="0"/>
              </a:spcBef>
              <a:spcAft>
                <a:spcPts val="0"/>
              </a:spcAft>
              <a:buNone/>
            </a:pPr>
            <a:r>
              <a:rPr lang="fr-FR" sz="2400">
                <a:latin typeface="Garamond"/>
                <a:ea typeface="Garamond"/>
                <a:cs typeface="Garamond"/>
                <a:sym typeface="Garamond"/>
              </a:rPr>
              <a:t>L’entretien avec la patiente note un </a:t>
            </a:r>
            <a:r>
              <a:rPr b="1" lang="fr-FR" sz="2400">
                <a:latin typeface="Garamond"/>
                <a:ea typeface="Garamond"/>
                <a:cs typeface="Garamond"/>
                <a:sym typeface="Garamond"/>
              </a:rPr>
              <a:t>syndrome dépressif	</a:t>
            </a:r>
            <a:r>
              <a:rPr lang="fr-FR" sz="2400">
                <a:latin typeface="Garamond"/>
                <a:ea typeface="Garamond"/>
                <a:cs typeface="Garamond"/>
                <a:sym typeface="Garamond"/>
              </a:rPr>
              <a:t>au premier plan.</a:t>
            </a:r>
            <a:endParaRPr sz="2400">
              <a:latin typeface="Garamond"/>
              <a:ea typeface="Garamond"/>
              <a:cs typeface="Garamond"/>
              <a:sym typeface="Garamond"/>
            </a:endParaRPr>
          </a:p>
          <a:p>
            <a:pPr indent="-6350" lvl="0" marL="19050" marR="5080" rtl="0" algn="l">
              <a:lnSpc>
                <a:spcPct val="120000"/>
              </a:lnSpc>
              <a:spcBef>
                <a:spcPts val="525"/>
              </a:spcBef>
              <a:spcAft>
                <a:spcPts val="0"/>
              </a:spcAft>
              <a:buNone/>
            </a:pPr>
            <a:r>
              <a:rPr lang="fr-FR" sz="2400">
                <a:latin typeface="Garamond"/>
                <a:ea typeface="Garamond"/>
                <a:cs typeface="Garamond"/>
                <a:sym typeface="Garamond"/>
              </a:rPr>
              <a:t>Cependant, la patiente est également anxieuse, elle vous rapporte une </a:t>
            </a:r>
            <a:r>
              <a:rPr b="1" lang="fr-FR" sz="2400">
                <a:latin typeface="Garamond"/>
                <a:ea typeface="Garamond"/>
                <a:cs typeface="Garamond"/>
                <a:sym typeface="Garamond"/>
              </a:rPr>
              <a:t>peur persistante de tuer son mari </a:t>
            </a:r>
            <a:r>
              <a:rPr lang="fr-FR" sz="2400">
                <a:latin typeface="Garamond"/>
                <a:ea typeface="Garamond"/>
                <a:cs typeface="Garamond"/>
                <a:sym typeface="Garamond"/>
              </a:rPr>
              <a:t>qui survient surtout le soir.</a:t>
            </a:r>
            <a:endParaRPr sz="2400">
              <a:latin typeface="Garamond"/>
              <a:ea typeface="Garamond"/>
              <a:cs typeface="Garamond"/>
              <a:sym typeface="Garamond"/>
            </a:endParaRPr>
          </a:p>
          <a:p>
            <a:pPr indent="-6350" lvl="0" marL="19050" marR="10795" rtl="0" algn="l">
              <a:lnSpc>
                <a:spcPct val="120000"/>
              </a:lnSpc>
              <a:spcBef>
                <a:spcPts val="450"/>
              </a:spcBef>
              <a:spcAft>
                <a:spcPts val="0"/>
              </a:spcAft>
              <a:buNone/>
            </a:pPr>
            <a:r>
              <a:rPr lang="fr-FR" sz="2400">
                <a:latin typeface="Garamond"/>
                <a:ea typeface="Garamond"/>
                <a:cs typeface="Garamond"/>
                <a:sym typeface="Garamond"/>
              </a:rPr>
              <a:t>A	l’interrogatoire,	le	mari	vous	rapporte	deux	notions	pertinentes	concernant	le comportement de sa femme.</a:t>
            </a:r>
            <a:endParaRPr sz="2400">
              <a:latin typeface="Garamond"/>
              <a:ea typeface="Garamond"/>
              <a:cs typeface="Garamond"/>
              <a:sym typeface="Garamond"/>
            </a:endParaRPr>
          </a:p>
          <a:p>
            <a:pPr indent="-6350" lvl="0" marL="19050" marR="8890" rtl="0" algn="l">
              <a:lnSpc>
                <a:spcPct val="120000"/>
              </a:lnSpc>
              <a:spcBef>
                <a:spcPts val="520"/>
              </a:spcBef>
              <a:spcAft>
                <a:spcPts val="0"/>
              </a:spcAft>
              <a:buNone/>
            </a:pPr>
            <a:r>
              <a:rPr lang="fr-FR" sz="2400">
                <a:latin typeface="Garamond"/>
                <a:ea typeface="Garamond"/>
                <a:cs typeface="Garamond"/>
                <a:sym typeface="Garamond"/>
              </a:rPr>
              <a:t>D’une	part,	un	</a:t>
            </a:r>
            <a:r>
              <a:rPr b="1" lang="fr-FR" sz="2400">
                <a:latin typeface="Garamond"/>
                <a:ea typeface="Garamond"/>
                <a:cs typeface="Garamond"/>
                <a:sym typeface="Garamond"/>
              </a:rPr>
              <a:t>comportement	répétitif	et	contraignant	à	type	de	lavages prolongés des mains et des poignets de porte depuis au moins deux ans</a:t>
            </a:r>
            <a:endParaRPr sz="2400">
              <a:latin typeface="Garamond"/>
              <a:ea typeface="Garamond"/>
              <a:cs typeface="Garamond"/>
              <a:sym typeface="Garamond"/>
            </a:endParaRPr>
          </a:p>
          <a:p>
            <a:pPr indent="0" lvl="0" marL="12700" rtl="0" algn="l">
              <a:lnSpc>
                <a:spcPct val="100000"/>
              </a:lnSpc>
              <a:spcBef>
                <a:spcPts val="1100"/>
              </a:spcBef>
              <a:spcAft>
                <a:spcPts val="0"/>
              </a:spcAft>
              <a:buNone/>
            </a:pPr>
            <a:r>
              <a:rPr lang="fr-FR" sz="2400">
                <a:latin typeface="Garamond"/>
                <a:ea typeface="Garamond"/>
                <a:cs typeface="Garamond"/>
                <a:sym typeface="Garamond"/>
              </a:rPr>
              <a:t>et d’autre part, une </a:t>
            </a:r>
            <a:r>
              <a:rPr b="1" lang="fr-FR" sz="2400">
                <a:latin typeface="Garamond"/>
                <a:ea typeface="Garamond"/>
                <a:cs typeface="Garamond"/>
                <a:sym typeface="Garamond"/>
              </a:rPr>
              <a:t>fermeture à clé de la porte de la cuisine avec des vérifications</a:t>
            </a:r>
            <a:endParaRPr sz="2400">
              <a:latin typeface="Garamond"/>
              <a:ea typeface="Garamond"/>
              <a:cs typeface="Garamond"/>
              <a:sym typeface="Garamond"/>
            </a:endParaRPr>
          </a:p>
        </p:txBody>
      </p:sp>
      <p:sp>
        <p:nvSpPr>
          <p:cNvPr id="2295" name="Google Shape;2295;p289"/>
          <p:cNvSpPr txBox="1"/>
          <p:nvPr/>
        </p:nvSpPr>
        <p:spPr>
          <a:xfrm>
            <a:off x="904557" y="5800407"/>
            <a:ext cx="5589270" cy="3917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fr-FR" sz="2400">
                <a:latin typeface="Garamond"/>
                <a:ea typeface="Garamond"/>
                <a:cs typeface="Garamond"/>
                <a:sym typeface="Garamond"/>
              </a:rPr>
              <a:t>incessantes de celle-ci depuis une semaine</a:t>
            </a:r>
            <a:r>
              <a:rPr lang="fr-FR" sz="2400">
                <a:latin typeface="Garamond"/>
                <a:ea typeface="Garamond"/>
                <a:cs typeface="Garamond"/>
                <a:sym typeface="Garamond"/>
              </a:rPr>
              <a:t>.</a:t>
            </a:r>
            <a:endParaRPr sz="2400">
              <a:latin typeface="Garamond"/>
              <a:ea typeface="Garamond"/>
              <a:cs typeface="Garamond"/>
              <a:sym typeface="Garamond"/>
            </a:endParaRPr>
          </a:p>
        </p:txBody>
      </p:sp>
    </p:spTree>
  </p:cSld>
  <p:clrMapOvr>
    <a:masterClrMapping/>
  </p:clrMapOvr>
</p:sld>
</file>

<file path=ppt/slides/slide2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9" name="Shape 2299"/>
        <p:cNvGrpSpPr/>
        <p:nvPr/>
      </p:nvGrpSpPr>
      <p:grpSpPr>
        <a:xfrm>
          <a:off x="0" y="0"/>
          <a:ext cx="0" cy="0"/>
          <a:chOff x="0" y="0"/>
          <a:chExt cx="0" cy="0"/>
        </a:xfrm>
      </p:grpSpPr>
      <p:sp>
        <p:nvSpPr>
          <p:cNvPr id="2300" name="Google Shape;2300;p290"/>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01" name="Google Shape;2301;p290"/>
          <p:cNvSpPr txBox="1"/>
          <p:nvPr>
            <p:ph type="title"/>
          </p:nvPr>
        </p:nvSpPr>
        <p:spPr>
          <a:xfrm>
            <a:off x="1375028" y="1054988"/>
            <a:ext cx="9204325" cy="1109345"/>
          </a:xfrm>
          <a:prstGeom prst="rect">
            <a:avLst/>
          </a:prstGeom>
          <a:noFill/>
          <a:ln>
            <a:noFill/>
          </a:ln>
        </p:spPr>
        <p:txBody>
          <a:bodyPr anchorCtr="0" anchor="t" bIns="0" lIns="0" spcFirstLastPara="1" rIns="0" wrap="square" tIns="40000">
            <a:spAutoFit/>
          </a:bodyPr>
          <a:lstStyle/>
          <a:p>
            <a:pPr indent="0" lvl="0" marL="12700" marR="5080" rtl="0" algn="l">
              <a:lnSpc>
                <a:spcPct val="116944"/>
              </a:lnSpc>
              <a:spcBef>
                <a:spcPts val="0"/>
              </a:spcBef>
              <a:spcAft>
                <a:spcPts val="0"/>
              </a:spcAft>
              <a:buNone/>
            </a:pPr>
            <a:r>
              <a:rPr lang="fr-FR">
                <a:solidFill>
                  <a:srgbClr val="000000"/>
                </a:solidFill>
                <a:latin typeface="Times New Roman"/>
                <a:ea typeface="Times New Roman"/>
                <a:cs typeface="Times New Roman"/>
                <a:sym typeface="Times New Roman"/>
              </a:rPr>
              <a:t>De point de vue sémiologique, que signifient les comportements rapportés par le mari ?</a:t>
            </a:r>
            <a:endParaRPr/>
          </a:p>
        </p:txBody>
      </p:sp>
      <p:sp>
        <p:nvSpPr>
          <p:cNvPr id="2302" name="Google Shape;2302;p290"/>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303" name="Google Shape;2303;p290"/>
          <p:cNvSpPr txBox="1"/>
          <p:nvPr/>
        </p:nvSpPr>
        <p:spPr>
          <a:xfrm>
            <a:off x="1554861" y="2224087"/>
            <a:ext cx="4124960" cy="3326129"/>
          </a:xfrm>
          <a:prstGeom prst="rect">
            <a:avLst/>
          </a:prstGeom>
          <a:noFill/>
          <a:ln>
            <a:noFill/>
          </a:ln>
        </p:spPr>
        <p:txBody>
          <a:bodyPr anchorCtr="0" anchor="t" bIns="0" lIns="0" spcFirstLastPara="1" rIns="0" wrap="square" tIns="260350">
            <a:spAutoFit/>
          </a:bodyPr>
          <a:lstStyle/>
          <a:p>
            <a:pPr indent="-342265" lvl="0" marL="354965" rtl="0" algn="l">
              <a:lnSpc>
                <a:spcPct val="100000"/>
              </a:lnSpc>
              <a:spcBef>
                <a:spcPts val="0"/>
              </a:spcBef>
              <a:spcAft>
                <a:spcPts val="0"/>
              </a:spcAft>
              <a:buSzPts val="2750"/>
              <a:buFont typeface="Garamond"/>
              <a:buAutoNum type="alphaUcPeriod"/>
            </a:pPr>
            <a:r>
              <a:rPr b="1" lang="fr-FR" sz="2750">
                <a:latin typeface="Garamond"/>
                <a:ea typeface="Garamond"/>
                <a:cs typeface="Garamond"/>
                <a:sym typeface="Garamond"/>
              </a:rPr>
              <a:t>Idées de suicide altruiste</a:t>
            </a:r>
            <a:endParaRPr sz="2750">
              <a:latin typeface="Garamond"/>
              <a:ea typeface="Garamond"/>
              <a:cs typeface="Garamond"/>
              <a:sym typeface="Garamond"/>
            </a:endParaRPr>
          </a:p>
          <a:p>
            <a:pPr indent="-341630" lvl="0" marL="354330" rtl="0" algn="l">
              <a:lnSpc>
                <a:spcPct val="100000"/>
              </a:lnSpc>
              <a:spcBef>
                <a:spcPts val="1960"/>
              </a:spcBef>
              <a:spcAft>
                <a:spcPts val="0"/>
              </a:spcAft>
              <a:buSzPts val="2750"/>
              <a:buFont typeface="Garamond"/>
              <a:buAutoNum type="alphaUcPeriod"/>
            </a:pPr>
            <a:r>
              <a:rPr b="1" lang="fr-FR" sz="2750">
                <a:latin typeface="Garamond"/>
                <a:ea typeface="Garamond"/>
                <a:cs typeface="Garamond"/>
                <a:sym typeface="Garamond"/>
              </a:rPr>
              <a:t>Phobie d’impulsion</a:t>
            </a:r>
            <a:endParaRPr sz="2750">
              <a:latin typeface="Garamond"/>
              <a:ea typeface="Garamond"/>
              <a:cs typeface="Garamond"/>
              <a:sym typeface="Garamond"/>
            </a:endParaRPr>
          </a:p>
          <a:p>
            <a:pPr indent="-342265" lvl="0" marL="354965" rtl="0" algn="l">
              <a:lnSpc>
                <a:spcPct val="100000"/>
              </a:lnSpc>
              <a:spcBef>
                <a:spcPts val="1880"/>
              </a:spcBef>
              <a:spcAft>
                <a:spcPts val="0"/>
              </a:spcAft>
              <a:buSzPts val="2750"/>
              <a:buFont typeface="Garamond"/>
              <a:buAutoNum type="alphaUcPeriod"/>
            </a:pPr>
            <a:r>
              <a:rPr b="1" lang="fr-FR" sz="2750">
                <a:latin typeface="Garamond"/>
                <a:ea typeface="Garamond"/>
                <a:cs typeface="Garamond"/>
                <a:sym typeface="Garamond"/>
              </a:rPr>
              <a:t>Obsessions phobiques</a:t>
            </a:r>
            <a:endParaRPr sz="2750">
              <a:latin typeface="Garamond"/>
              <a:ea typeface="Garamond"/>
              <a:cs typeface="Garamond"/>
              <a:sym typeface="Garamond"/>
            </a:endParaRPr>
          </a:p>
          <a:p>
            <a:pPr indent="-376555" lvl="0" marL="382270" rtl="0" algn="l">
              <a:lnSpc>
                <a:spcPct val="100000"/>
              </a:lnSpc>
              <a:spcBef>
                <a:spcPts val="1805"/>
              </a:spcBef>
              <a:spcAft>
                <a:spcPts val="0"/>
              </a:spcAft>
              <a:buSzPts val="2750"/>
              <a:buFont typeface="Garamond"/>
              <a:buAutoNum type="alphaUcPeriod"/>
            </a:pPr>
            <a:r>
              <a:rPr b="1" lang="fr-FR" sz="2750">
                <a:latin typeface="Garamond"/>
                <a:ea typeface="Garamond"/>
                <a:cs typeface="Garamond"/>
                <a:sym typeface="Garamond"/>
              </a:rPr>
              <a:t>Anxiété anticipatoire</a:t>
            </a:r>
            <a:endParaRPr sz="2750">
              <a:latin typeface="Garamond"/>
              <a:ea typeface="Garamond"/>
              <a:cs typeface="Garamond"/>
              <a:sym typeface="Garamond"/>
            </a:endParaRPr>
          </a:p>
          <a:p>
            <a:pPr indent="-350520" lvl="0" marL="356870" rtl="0" algn="l">
              <a:lnSpc>
                <a:spcPct val="100000"/>
              </a:lnSpc>
              <a:spcBef>
                <a:spcPts val="1885"/>
              </a:spcBef>
              <a:spcAft>
                <a:spcPts val="0"/>
              </a:spcAft>
              <a:buSzPts val="2750"/>
              <a:buFont typeface="Garamond"/>
              <a:buAutoNum type="alphaUcPeriod"/>
            </a:pPr>
            <a:r>
              <a:rPr b="1" lang="fr-FR" sz="2750">
                <a:latin typeface="Garamond"/>
                <a:ea typeface="Garamond"/>
                <a:cs typeface="Garamond"/>
                <a:sym typeface="Garamond"/>
              </a:rPr>
              <a:t>Soucis excessifs</a:t>
            </a:r>
            <a:endParaRPr sz="2750">
              <a:latin typeface="Garamond"/>
              <a:ea typeface="Garamond"/>
              <a:cs typeface="Garamond"/>
              <a:sym typeface="Garamond"/>
            </a:endParaRPr>
          </a:p>
        </p:txBody>
      </p:sp>
    </p:spTree>
  </p:cSld>
  <p:clrMapOvr>
    <a:masterClrMapping/>
  </p:clrMapOvr>
</p:sld>
</file>

<file path=ppt/slides/slide2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7" name="Shape 2307"/>
        <p:cNvGrpSpPr/>
        <p:nvPr/>
      </p:nvGrpSpPr>
      <p:grpSpPr>
        <a:xfrm>
          <a:off x="0" y="0"/>
          <a:ext cx="0" cy="0"/>
          <a:chOff x="0" y="0"/>
          <a:chExt cx="0" cy="0"/>
        </a:xfrm>
      </p:grpSpPr>
      <p:sp>
        <p:nvSpPr>
          <p:cNvPr id="2308" name="Google Shape;2308;p291"/>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09" name="Google Shape;2309;p291"/>
          <p:cNvSpPr txBox="1"/>
          <p:nvPr>
            <p:ph type="title"/>
          </p:nvPr>
        </p:nvSpPr>
        <p:spPr>
          <a:xfrm>
            <a:off x="1375028" y="1054988"/>
            <a:ext cx="8006080" cy="1128395"/>
          </a:xfrm>
          <a:prstGeom prst="rect">
            <a:avLst/>
          </a:prstGeom>
          <a:noFill/>
          <a:ln>
            <a:noFill/>
          </a:ln>
        </p:spPr>
        <p:txBody>
          <a:bodyPr anchorCtr="0" anchor="t" bIns="0" lIns="0" spcFirstLastPara="1" rIns="0" wrap="square" tIns="8250">
            <a:spAutoFit/>
          </a:bodyPr>
          <a:lstStyle/>
          <a:p>
            <a:pPr indent="0" lvl="0" marL="12700" marR="5080" rtl="0" algn="l">
              <a:lnSpc>
                <a:spcPct val="100899"/>
              </a:lnSpc>
              <a:spcBef>
                <a:spcPts val="0"/>
              </a:spcBef>
              <a:spcAft>
                <a:spcPts val="0"/>
              </a:spcAft>
              <a:buNone/>
            </a:pPr>
            <a:r>
              <a:rPr lang="fr-FR">
                <a:solidFill>
                  <a:srgbClr val="000000"/>
                </a:solidFill>
                <a:latin typeface="Times New Roman"/>
                <a:ea typeface="Times New Roman"/>
                <a:cs typeface="Times New Roman"/>
                <a:sym typeface="Times New Roman"/>
              </a:rPr>
              <a:t>Quel est ou quels sont le(s)diagnostic(s) à retenir devant ce tableau clinique ?</a:t>
            </a:r>
            <a:endParaRPr/>
          </a:p>
        </p:txBody>
      </p:sp>
      <p:sp>
        <p:nvSpPr>
          <p:cNvPr id="2310" name="Google Shape;2310;p291"/>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311" name="Google Shape;2311;p291"/>
          <p:cNvSpPr txBox="1"/>
          <p:nvPr/>
        </p:nvSpPr>
        <p:spPr>
          <a:xfrm>
            <a:off x="1375028" y="2363025"/>
            <a:ext cx="8344534" cy="3306445"/>
          </a:xfrm>
          <a:prstGeom prst="rect">
            <a:avLst/>
          </a:prstGeom>
          <a:noFill/>
          <a:ln>
            <a:noFill/>
          </a:ln>
        </p:spPr>
        <p:txBody>
          <a:bodyPr anchorCtr="0" anchor="t" bIns="0" lIns="0" spcFirstLastPara="1" rIns="0" wrap="square" tIns="12050">
            <a:spAutoFit/>
          </a:bodyPr>
          <a:lstStyle/>
          <a:p>
            <a:pPr indent="0" lvl="0" marL="12700" marR="5080" rtl="0" algn="l">
              <a:lnSpc>
                <a:spcPct val="157000"/>
              </a:lnSpc>
              <a:spcBef>
                <a:spcPts val="0"/>
              </a:spcBef>
              <a:spcAft>
                <a:spcPts val="0"/>
              </a:spcAft>
              <a:buNone/>
            </a:pPr>
            <a:r>
              <a:rPr b="1" lang="fr-FR" sz="2750">
                <a:latin typeface="Garamond"/>
                <a:ea typeface="Garamond"/>
                <a:cs typeface="Garamond"/>
                <a:sym typeface="Garamond"/>
              </a:rPr>
              <a:t>A.Dépression mélancolique avec obsessions impulsives B.TOC compliqué de dépression</a:t>
            </a:r>
            <a:endParaRPr sz="2750">
              <a:latin typeface="Garamond"/>
              <a:ea typeface="Garamond"/>
              <a:cs typeface="Garamond"/>
              <a:sym typeface="Garamond"/>
            </a:endParaRPr>
          </a:p>
          <a:p>
            <a:pPr indent="0" lvl="0" marL="12700" rtl="0" algn="l">
              <a:lnSpc>
                <a:spcPct val="100000"/>
              </a:lnSpc>
              <a:spcBef>
                <a:spcPts val="1805"/>
              </a:spcBef>
              <a:spcAft>
                <a:spcPts val="0"/>
              </a:spcAft>
              <a:buNone/>
            </a:pPr>
            <a:r>
              <a:rPr b="1" lang="fr-FR" sz="2750">
                <a:latin typeface="Garamond"/>
                <a:ea typeface="Garamond"/>
                <a:cs typeface="Garamond"/>
                <a:sym typeface="Garamond"/>
              </a:rPr>
              <a:t>C.Début de schizophrénie</a:t>
            </a:r>
            <a:endParaRPr sz="2750">
              <a:latin typeface="Garamond"/>
              <a:ea typeface="Garamond"/>
              <a:cs typeface="Garamond"/>
              <a:sym typeface="Garamond"/>
            </a:endParaRPr>
          </a:p>
          <a:p>
            <a:pPr indent="0" lvl="0" marL="12700" marR="582295" rtl="0" algn="l">
              <a:lnSpc>
                <a:spcPct val="188363"/>
              </a:lnSpc>
              <a:spcBef>
                <a:spcPts val="285"/>
              </a:spcBef>
              <a:spcAft>
                <a:spcPts val="0"/>
              </a:spcAft>
              <a:buNone/>
            </a:pPr>
            <a:r>
              <a:rPr b="1" lang="fr-FR" sz="2750">
                <a:latin typeface="Garamond"/>
                <a:ea typeface="Garamond"/>
                <a:cs typeface="Garamond"/>
                <a:sym typeface="Garamond"/>
              </a:rPr>
              <a:t>D.Dépression chez une personnalité obsessionnelle E.TOC isolé</a:t>
            </a:r>
            <a:endParaRPr sz="2750">
              <a:latin typeface="Garamond"/>
              <a:ea typeface="Garamond"/>
              <a:cs typeface="Garamond"/>
              <a:sym typeface="Garamond"/>
            </a:endParaRPr>
          </a:p>
        </p:txBody>
      </p:sp>
    </p:spTree>
  </p:cSld>
  <p:clrMapOvr>
    <a:masterClrMapping/>
  </p:clrMapOvr>
</p:sld>
</file>

<file path=ppt/slides/slide2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5" name="Shape 2315"/>
        <p:cNvGrpSpPr/>
        <p:nvPr/>
      </p:nvGrpSpPr>
      <p:grpSpPr>
        <a:xfrm>
          <a:off x="0" y="0"/>
          <a:ext cx="0" cy="0"/>
          <a:chOff x="0" y="0"/>
          <a:chExt cx="0" cy="0"/>
        </a:xfrm>
      </p:grpSpPr>
      <p:sp>
        <p:nvSpPr>
          <p:cNvPr id="2316" name="Google Shape;2316;p292"/>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17" name="Google Shape;2317;p292"/>
          <p:cNvSpPr txBox="1"/>
          <p:nvPr>
            <p:ph type="title"/>
          </p:nvPr>
        </p:nvSpPr>
        <p:spPr>
          <a:xfrm>
            <a:off x="1375028" y="1054988"/>
            <a:ext cx="8451850" cy="1109345"/>
          </a:xfrm>
          <a:prstGeom prst="rect">
            <a:avLst/>
          </a:prstGeom>
          <a:noFill/>
          <a:ln>
            <a:noFill/>
          </a:ln>
        </p:spPr>
        <p:txBody>
          <a:bodyPr anchorCtr="0" anchor="t" bIns="0" lIns="0" spcFirstLastPara="1" rIns="0" wrap="square" tIns="40000">
            <a:spAutoFit/>
          </a:bodyPr>
          <a:lstStyle/>
          <a:p>
            <a:pPr indent="0" lvl="0" marL="12700" marR="5080" rtl="0" algn="l">
              <a:lnSpc>
                <a:spcPct val="116944"/>
              </a:lnSpc>
              <a:spcBef>
                <a:spcPts val="0"/>
              </a:spcBef>
              <a:spcAft>
                <a:spcPts val="0"/>
              </a:spcAft>
              <a:buNone/>
            </a:pPr>
            <a:r>
              <a:rPr lang="fr-FR">
                <a:solidFill>
                  <a:srgbClr val="000000"/>
                </a:solidFill>
                <a:latin typeface="Times New Roman"/>
                <a:ea typeface="Times New Roman"/>
                <a:cs typeface="Times New Roman"/>
                <a:sym typeface="Times New Roman"/>
              </a:rPr>
              <a:t>A court terme, quel est le traitement le plus adéquat devant ce tableau clinique ?</a:t>
            </a:r>
            <a:endParaRPr/>
          </a:p>
        </p:txBody>
      </p:sp>
      <p:sp>
        <p:nvSpPr>
          <p:cNvPr id="2318" name="Google Shape;2318;p292"/>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319" name="Google Shape;2319;p292"/>
          <p:cNvSpPr txBox="1"/>
          <p:nvPr/>
        </p:nvSpPr>
        <p:spPr>
          <a:xfrm>
            <a:off x="1500124" y="2431499"/>
            <a:ext cx="8184515" cy="3305810"/>
          </a:xfrm>
          <a:prstGeom prst="rect">
            <a:avLst/>
          </a:prstGeom>
          <a:noFill/>
          <a:ln>
            <a:noFill/>
          </a:ln>
        </p:spPr>
        <p:txBody>
          <a:bodyPr anchorCtr="0" anchor="t" bIns="0" lIns="0" spcFirstLastPara="1" rIns="0" wrap="square" tIns="250175">
            <a:spAutoFit/>
          </a:bodyPr>
          <a:lstStyle/>
          <a:p>
            <a:pPr indent="-342265" lvl="0" marL="354965" rtl="0" algn="l">
              <a:lnSpc>
                <a:spcPct val="100000"/>
              </a:lnSpc>
              <a:spcBef>
                <a:spcPts val="0"/>
              </a:spcBef>
              <a:spcAft>
                <a:spcPts val="0"/>
              </a:spcAft>
              <a:buSzPts val="2750"/>
              <a:buFont typeface="Garamond"/>
              <a:buAutoNum type="alphaUcPeriod"/>
            </a:pPr>
            <a:r>
              <a:rPr b="1" lang="fr-FR" sz="2750">
                <a:latin typeface="Garamond"/>
                <a:ea typeface="Garamond"/>
                <a:cs typeface="Garamond"/>
                <a:sym typeface="Garamond"/>
              </a:rPr>
              <a:t>Un antidépresseur et un anxiolytique</a:t>
            </a:r>
            <a:endParaRPr sz="2750">
              <a:latin typeface="Garamond"/>
              <a:ea typeface="Garamond"/>
              <a:cs typeface="Garamond"/>
              <a:sym typeface="Garamond"/>
            </a:endParaRPr>
          </a:p>
          <a:p>
            <a:pPr indent="-342265" lvl="0" marL="354965" rtl="0" algn="l">
              <a:lnSpc>
                <a:spcPct val="100000"/>
              </a:lnSpc>
              <a:spcBef>
                <a:spcPts val="1880"/>
              </a:spcBef>
              <a:spcAft>
                <a:spcPts val="0"/>
              </a:spcAft>
              <a:buSzPts val="2750"/>
              <a:buFont typeface="Garamond"/>
              <a:buAutoNum type="alphaUcPeriod"/>
            </a:pPr>
            <a:r>
              <a:rPr b="1" lang="fr-FR" sz="2750">
                <a:latin typeface="Garamond"/>
                <a:ea typeface="Garamond"/>
                <a:cs typeface="Garamond"/>
                <a:sym typeface="Garamond"/>
              </a:rPr>
              <a:t>Un antipsychotique atypique et un antidépresseur</a:t>
            </a:r>
            <a:endParaRPr sz="2750">
              <a:latin typeface="Garamond"/>
              <a:ea typeface="Garamond"/>
              <a:cs typeface="Garamond"/>
              <a:sym typeface="Garamond"/>
            </a:endParaRPr>
          </a:p>
          <a:p>
            <a:pPr indent="-342265" lvl="0" marL="354965" rtl="0" algn="l">
              <a:lnSpc>
                <a:spcPct val="100000"/>
              </a:lnSpc>
              <a:spcBef>
                <a:spcPts val="1810"/>
              </a:spcBef>
              <a:spcAft>
                <a:spcPts val="0"/>
              </a:spcAft>
              <a:buSzPts val="2750"/>
              <a:buFont typeface="Garamond"/>
              <a:buAutoNum type="alphaUcPeriod"/>
            </a:pPr>
            <a:r>
              <a:rPr b="1" lang="fr-FR" sz="2750">
                <a:latin typeface="Garamond"/>
                <a:ea typeface="Garamond"/>
                <a:cs typeface="Garamond"/>
                <a:sym typeface="Garamond"/>
              </a:rPr>
              <a:t>Une électro-convulsivothérapie et un antidépresseur</a:t>
            </a:r>
            <a:endParaRPr sz="2750">
              <a:latin typeface="Garamond"/>
              <a:ea typeface="Garamond"/>
              <a:cs typeface="Garamond"/>
              <a:sym typeface="Garamond"/>
            </a:endParaRPr>
          </a:p>
          <a:p>
            <a:pPr indent="-376555" lvl="0" marL="382905" rtl="0" algn="l">
              <a:lnSpc>
                <a:spcPct val="100000"/>
              </a:lnSpc>
              <a:spcBef>
                <a:spcPts val="1880"/>
              </a:spcBef>
              <a:spcAft>
                <a:spcPts val="0"/>
              </a:spcAft>
              <a:buSzPts val="2750"/>
              <a:buFont typeface="Garamond"/>
              <a:buAutoNum type="alphaUcPeriod"/>
            </a:pPr>
            <a:r>
              <a:rPr b="1" lang="fr-FR" sz="2750">
                <a:latin typeface="Garamond"/>
                <a:ea typeface="Garamond"/>
                <a:cs typeface="Garamond"/>
                <a:sym typeface="Garamond"/>
              </a:rPr>
              <a:t>Un neuroleptique sédatif	seul</a:t>
            </a:r>
            <a:endParaRPr sz="2750">
              <a:latin typeface="Garamond"/>
              <a:ea typeface="Garamond"/>
              <a:cs typeface="Garamond"/>
              <a:sym typeface="Garamond"/>
            </a:endParaRPr>
          </a:p>
          <a:p>
            <a:pPr indent="-351155" lvl="0" marL="356870" rtl="0" algn="l">
              <a:lnSpc>
                <a:spcPct val="100000"/>
              </a:lnSpc>
              <a:spcBef>
                <a:spcPts val="1885"/>
              </a:spcBef>
              <a:spcAft>
                <a:spcPts val="0"/>
              </a:spcAft>
              <a:buSzPts val="2750"/>
              <a:buFont typeface="Garamond"/>
              <a:buAutoNum type="alphaUcPeriod"/>
            </a:pPr>
            <a:r>
              <a:rPr b="1" lang="fr-FR" sz="2750">
                <a:latin typeface="Garamond"/>
                <a:ea typeface="Garamond"/>
                <a:cs typeface="Garamond"/>
                <a:sym typeface="Garamond"/>
              </a:rPr>
              <a:t>Un antidépresseur et un thymorégulateur</a:t>
            </a:r>
            <a:endParaRPr sz="2750">
              <a:latin typeface="Garamond"/>
              <a:ea typeface="Garamond"/>
              <a:cs typeface="Garamond"/>
              <a:sym typeface="Garamond"/>
            </a:endParaRPr>
          </a:p>
        </p:txBody>
      </p:sp>
    </p:spTree>
  </p:cSld>
  <p:clrMapOvr>
    <a:masterClrMapping/>
  </p:clrMapOvr>
</p:sld>
</file>

<file path=ppt/slides/slide2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3" name="Shape 2323"/>
        <p:cNvGrpSpPr/>
        <p:nvPr/>
      </p:nvGrpSpPr>
      <p:grpSpPr>
        <a:xfrm>
          <a:off x="0" y="0"/>
          <a:ext cx="0" cy="0"/>
          <a:chOff x="0" y="0"/>
          <a:chExt cx="0" cy="0"/>
        </a:xfrm>
      </p:grpSpPr>
      <p:sp>
        <p:nvSpPr>
          <p:cNvPr id="2324" name="Google Shape;2324;p293"/>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25" name="Google Shape;2325;p293"/>
          <p:cNvSpPr txBox="1"/>
          <p:nvPr>
            <p:ph type="title"/>
          </p:nvPr>
        </p:nvSpPr>
        <p:spPr>
          <a:xfrm>
            <a:off x="1375028" y="975105"/>
            <a:ext cx="9351010"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t>A plus long terme, quelle est votre conduite à tenir ?</a:t>
            </a:r>
            <a:endParaRPr sz="3950"/>
          </a:p>
        </p:txBody>
      </p:sp>
      <p:sp>
        <p:nvSpPr>
          <p:cNvPr id="2326" name="Google Shape;2326;p293"/>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327" name="Google Shape;2327;p293"/>
          <p:cNvSpPr txBox="1"/>
          <p:nvPr/>
        </p:nvSpPr>
        <p:spPr>
          <a:xfrm>
            <a:off x="1375028" y="2549461"/>
            <a:ext cx="9483090" cy="3091180"/>
          </a:xfrm>
          <a:prstGeom prst="rect">
            <a:avLst/>
          </a:prstGeom>
          <a:noFill/>
          <a:ln>
            <a:noFill/>
          </a:ln>
        </p:spPr>
        <p:txBody>
          <a:bodyPr anchorCtr="0" anchor="t" bIns="0" lIns="0" spcFirstLastPara="1" rIns="0" wrap="square" tIns="6350">
            <a:spAutoFit/>
          </a:bodyPr>
          <a:lstStyle/>
          <a:p>
            <a:pPr indent="-457833" lvl="0" marL="469900" marR="5080" rtl="0" algn="l">
              <a:lnSpc>
                <a:spcPct val="101800"/>
              </a:lnSpc>
              <a:spcBef>
                <a:spcPts val="0"/>
              </a:spcBef>
              <a:spcAft>
                <a:spcPts val="0"/>
              </a:spcAft>
              <a:buSzPts val="2400"/>
              <a:buFont typeface="Garamond"/>
              <a:buAutoNum type="alphaUcPeriod"/>
            </a:pPr>
            <a:r>
              <a:rPr b="1" lang="fr-FR" sz="2400">
                <a:latin typeface="Garamond"/>
                <a:ea typeface="Garamond"/>
                <a:cs typeface="Garamond"/>
                <a:sym typeface="Garamond"/>
              </a:rPr>
              <a:t>Arrêter	l’anxiolytique	et	garder	l’antidépresseur	pendant	au	moins deux ans</a:t>
            </a:r>
            <a:endParaRPr sz="2400">
              <a:latin typeface="Garamond"/>
              <a:ea typeface="Garamond"/>
              <a:cs typeface="Garamond"/>
              <a:sym typeface="Garamond"/>
            </a:endParaRPr>
          </a:p>
          <a:p>
            <a:pPr indent="-457200" lvl="0" marL="469900" rtl="0" algn="l">
              <a:lnSpc>
                <a:spcPct val="100000"/>
              </a:lnSpc>
              <a:spcBef>
                <a:spcPts val="270"/>
              </a:spcBef>
              <a:spcAft>
                <a:spcPts val="0"/>
              </a:spcAft>
              <a:buSzPts val="2400"/>
              <a:buFont typeface="Garamond"/>
              <a:buAutoNum type="alphaUcPeriod"/>
            </a:pPr>
            <a:r>
              <a:rPr b="1" lang="fr-FR" sz="2400">
                <a:latin typeface="Garamond"/>
                <a:ea typeface="Garamond"/>
                <a:cs typeface="Garamond"/>
                <a:sym typeface="Garamond"/>
              </a:rPr>
              <a:t>Arrêter l’antipsychotique et garder l’antidépresseur pendant 6 mois</a:t>
            </a:r>
            <a:endParaRPr sz="2400">
              <a:latin typeface="Garamond"/>
              <a:ea typeface="Garamond"/>
              <a:cs typeface="Garamond"/>
              <a:sym typeface="Garamond"/>
            </a:endParaRPr>
          </a:p>
          <a:p>
            <a:pPr indent="-457200" lvl="0" marL="469900" rtl="0" algn="l">
              <a:lnSpc>
                <a:spcPct val="100000"/>
              </a:lnSpc>
              <a:spcBef>
                <a:spcPts val="200"/>
              </a:spcBef>
              <a:spcAft>
                <a:spcPts val="0"/>
              </a:spcAft>
              <a:buSzPts val="2400"/>
              <a:buFont typeface="Garamond"/>
              <a:buAutoNum type="alphaUcPeriod"/>
            </a:pPr>
            <a:r>
              <a:rPr b="1" lang="fr-FR" sz="2400">
                <a:latin typeface="Garamond"/>
                <a:ea typeface="Garamond"/>
                <a:cs typeface="Garamond"/>
                <a:sym typeface="Garamond"/>
              </a:rPr>
              <a:t>Arrêter	l’électro-convulsivothérapie	et	garder	l’antidépresseur</a:t>
            </a:r>
            <a:endParaRPr sz="2400">
              <a:latin typeface="Garamond"/>
              <a:ea typeface="Garamond"/>
              <a:cs typeface="Garamond"/>
              <a:sym typeface="Garamond"/>
            </a:endParaRPr>
          </a:p>
          <a:p>
            <a:pPr indent="0" lvl="0" marL="469900" rtl="0" algn="l">
              <a:lnSpc>
                <a:spcPct val="100000"/>
              </a:lnSpc>
              <a:spcBef>
                <a:spcPts val="125"/>
              </a:spcBef>
              <a:spcAft>
                <a:spcPts val="0"/>
              </a:spcAft>
              <a:buNone/>
            </a:pPr>
            <a:r>
              <a:rPr b="1" lang="fr-FR" sz="2400">
                <a:latin typeface="Garamond"/>
                <a:ea typeface="Garamond"/>
                <a:cs typeface="Garamond"/>
                <a:sym typeface="Garamond"/>
              </a:rPr>
              <a:t>pendant un an</a:t>
            </a:r>
            <a:endParaRPr sz="2400">
              <a:latin typeface="Garamond"/>
              <a:ea typeface="Garamond"/>
              <a:cs typeface="Garamond"/>
              <a:sym typeface="Garamond"/>
            </a:endParaRPr>
          </a:p>
          <a:p>
            <a:pPr indent="-457200" lvl="0" marL="469900" rtl="0" algn="l">
              <a:lnSpc>
                <a:spcPct val="100000"/>
              </a:lnSpc>
              <a:spcBef>
                <a:spcPts val="200"/>
              </a:spcBef>
              <a:spcAft>
                <a:spcPts val="0"/>
              </a:spcAft>
              <a:buSzPts val="2400"/>
              <a:buFont typeface="Garamond"/>
              <a:buAutoNum type="alphaUcPeriod" startAt="4"/>
            </a:pPr>
            <a:r>
              <a:rPr b="1" lang="fr-FR" sz="2400">
                <a:latin typeface="Garamond"/>
                <a:ea typeface="Garamond"/>
                <a:cs typeface="Garamond"/>
                <a:sym typeface="Garamond"/>
              </a:rPr>
              <a:t>Maintenir le neuroleptique sédatif pendant trois ans</a:t>
            </a:r>
            <a:endParaRPr sz="2400">
              <a:latin typeface="Garamond"/>
              <a:ea typeface="Garamond"/>
              <a:cs typeface="Garamond"/>
              <a:sym typeface="Garamond"/>
            </a:endParaRPr>
          </a:p>
          <a:p>
            <a:pPr indent="-457200" lvl="0" marL="469900" rtl="0" algn="l">
              <a:lnSpc>
                <a:spcPct val="100000"/>
              </a:lnSpc>
              <a:spcBef>
                <a:spcPts val="200"/>
              </a:spcBef>
              <a:spcAft>
                <a:spcPts val="0"/>
              </a:spcAft>
              <a:buSzPts val="2400"/>
              <a:buFont typeface="Garamond"/>
              <a:buAutoNum type="alphaUcPeriod" startAt="4"/>
            </a:pPr>
            <a:r>
              <a:rPr b="1" lang="fr-FR" sz="2400">
                <a:latin typeface="Garamond"/>
                <a:ea typeface="Garamond"/>
                <a:cs typeface="Garamond"/>
                <a:sym typeface="Garamond"/>
              </a:rPr>
              <a:t>Arrêter	le	thymorégulateur	et	garder	l’antidépresseur	pendant	au</a:t>
            </a:r>
            <a:endParaRPr sz="2400">
              <a:latin typeface="Garamond"/>
              <a:ea typeface="Garamond"/>
              <a:cs typeface="Garamond"/>
              <a:sym typeface="Garamond"/>
            </a:endParaRPr>
          </a:p>
          <a:p>
            <a:pPr indent="0" lvl="0" marL="469900" rtl="0" algn="l">
              <a:lnSpc>
                <a:spcPct val="100000"/>
              </a:lnSpc>
              <a:spcBef>
                <a:spcPts val="50"/>
              </a:spcBef>
              <a:spcAft>
                <a:spcPts val="0"/>
              </a:spcAft>
              <a:buNone/>
            </a:pPr>
            <a:r>
              <a:rPr b="1" lang="fr-FR" sz="2400">
                <a:latin typeface="Garamond"/>
                <a:ea typeface="Garamond"/>
                <a:cs typeface="Garamond"/>
                <a:sym typeface="Garamond"/>
              </a:rPr>
              <a:t>moins deux ans</a:t>
            </a:r>
            <a:endParaRPr sz="2400">
              <a:latin typeface="Garamond"/>
              <a:ea typeface="Garamond"/>
              <a:cs typeface="Garamond"/>
              <a:sym typeface="Garamond"/>
            </a:endParaRPr>
          </a:p>
        </p:txBody>
      </p:sp>
    </p:spTree>
  </p:cSld>
  <p:clrMapOvr>
    <a:masterClrMapping/>
  </p:clrMapOvr>
</p:sld>
</file>

<file path=ppt/slides/slide2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1" name="Shape 2331"/>
        <p:cNvGrpSpPr/>
        <p:nvPr/>
      </p:nvGrpSpPr>
      <p:grpSpPr>
        <a:xfrm>
          <a:off x="0" y="0"/>
          <a:ext cx="0" cy="0"/>
          <a:chOff x="0" y="0"/>
          <a:chExt cx="0" cy="0"/>
        </a:xfrm>
      </p:grpSpPr>
      <p:sp>
        <p:nvSpPr>
          <p:cNvPr id="2332" name="Google Shape;2332;p294"/>
          <p:cNvSpPr txBox="1"/>
          <p:nvPr>
            <p:ph type="title"/>
          </p:nvPr>
        </p:nvSpPr>
        <p:spPr>
          <a:xfrm>
            <a:off x="3584321" y="2447861"/>
            <a:ext cx="5483479" cy="1029128"/>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fr-FR" sz="6600"/>
              <a:t>Cas clinique 11</a:t>
            </a:r>
            <a:endParaRPr sz="6600"/>
          </a:p>
        </p:txBody>
      </p:sp>
      <p:sp>
        <p:nvSpPr>
          <p:cNvPr id="2333" name="Google Shape;2333;p294"/>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slides/slide2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7" name="Shape 2337"/>
        <p:cNvGrpSpPr/>
        <p:nvPr/>
      </p:nvGrpSpPr>
      <p:grpSpPr>
        <a:xfrm>
          <a:off x="0" y="0"/>
          <a:ext cx="0" cy="0"/>
          <a:chOff x="0" y="0"/>
          <a:chExt cx="0" cy="0"/>
        </a:xfrm>
      </p:grpSpPr>
      <p:sp>
        <p:nvSpPr>
          <p:cNvPr id="2338" name="Google Shape;2338;p295"/>
          <p:cNvSpPr txBox="1"/>
          <p:nvPr>
            <p:ph type="title"/>
          </p:nvPr>
        </p:nvSpPr>
        <p:spPr>
          <a:xfrm>
            <a:off x="832167" y="711199"/>
            <a:ext cx="10497185" cy="2601595"/>
          </a:xfrm>
          <a:prstGeom prst="rect">
            <a:avLst/>
          </a:prstGeom>
          <a:noFill/>
          <a:ln>
            <a:noFill/>
          </a:ln>
        </p:spPr>
        <p:txBody>
          <a:bodyPr anchorCtr="0" anchor="t" bIns="0" lIns="0" spcFirstLastPara="1" rIns="0" wrap="square" tIns="17775">
            <a:spAutoFit/>
          </a:bodyPr>
          <a:lstStyle/>
          <a:p>
            <a:pPr indent="0" lvl="0" marL="12700" marR="5080" rtl="0" algn="just">
              <a:lnSpc>
                <a:spcPct val="153300"/>
              </a:lnSpc>
              <a:spcBef>
                <a:spcPts val="0"/>
              </a:spcBef>
              <a:spcAft>
                <a:spcPts val="0"/>
              </a:spcAft>
              <a:buNone/>
            </a:pPr>
            <a:r>
              <a:rPr b="0" lang="fr-FR" sz="2750">
                <a:latin typeface="Garamond"/>
                <a:ea typeface="Garamond"/>
                <a:cs typeface="Garamond"/>
                <a:sym typeface="Garamond"/>
              </a:rPr>
              <a:t>Monsieur C., 38 ans, attribue à une diarrhée post-antibiothérapie survenue il y a 4 ans le fait qu’actuellement, préoccupé par la crainte de microbes et de la contagion, il se lave les mains plusieurs dizaines de fois par jour. Il se désinfecte après tout contact.</a:t>
            </a:r>
            <a:endParaRPr sz="2750">
              <a:latin typeface="Garamond"/>
              <a:ea typeface="Garamond"/>
              <a:cs typeface="Garamond"/>
              <a:sym typeface="Garamond"/>
            </a:endParaRPr>
          </a:p>
        </p:txBody>
      </p:sp>
      <p:sp>
        <p:nvSpPr>
          <p:cNvPr id="2339" name="Google Shape;2339;p295"/>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340" name="Google Shape;2340;p295"/>
          <p:cNvSpPr txBox="1"/>
          <p:nvPr/>
        </p:nvSpPr>
        <p:spPr>
          <a:xfrm>
            <a:off x="832167" y="3448427"/>
            <a:ext cx="10496550" cy="1304290"/>
          </a:xfrm>
          <a:prstGeom prst="rect">
            <a:avLst/>
          </a:prstGeom>
          <a:noFill/>
          <a:ln>
            <a:noFill/>
          </a:ln>
        </p:spPr>
        <p:txBody>
          <a:bodyPr anchorCtr="0" anchor="t" bIns="0" lIns="0" spcFirstLastPara="1" rIns="0" wrap="square" tIns="12050">
            <a:spAutoFit/>
          </a:bodyPr>
          <a:lstStyle/>
          <a:p>
            <a:pPr indent="0" lvl="0" marL="12700" marR="5080" rtl="0" algn="l">
              <a:lnSpc>
                <a:spcPct val="152500"/>
              </a:lnSpc>
              <a:spcBef>
                <a:spcPts val="0"/>
              </a:spcBef>
              <a:spcAft>
                <a:spcPts val="0"/>
              </a:spcAft>
              <a:buNone/>
            </a:pPr>
            <a:r>
              <a:rPr lang="fr-FR" sz="2750">
                <a:solidFill>
                  <a:srgbClr val="252525"/>
                </a:solidFill>
                <a:latin typeface="Garamond"/>
                <a:ea typeface="Garamond"/>
                <a:cs typeface="Garamond"/>
                <a:sym typeface="Garamond"/>
              </a:rPr>
              <a:t>Depuis cette période, il lui est impossible de s'assoir sans avoir désinfecté le siège, de prononcer certains mots comme « propre ».</a:t>
            </a:r>
            <a:endParaRPr sz="2750">
              <a:latin typeface="Garamond"/>
              <a:ea typeface="Garamond"/>
              <a:cs typeface="Garamond"/>
              <a:sym typeface="Garamond"/>
            </a:endParaRPr>
          </a:p>
        </p:txBody>
      </p:sp>
    </p:spTree>
  </p:cSld>
  <p:clrMapOvr>
    <a:masterClrMapping/>
  </p:clrMapOvr>
</p:sld>
</file>

<file path=ppt/slides/slide2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4" name="Shape 2344"/>
        <p:cNvGrpSpPr/>
        <p:nvPr/>
      </p:nvGrpSpPr>
      <p:grpSpPr>
        <a:xfrm>
          <a:off x="0" y="0"/>
          <a:ext cx="0" cy="0"/>
          <a:chOff x="0" y="0"/>
          <a:chExt cx="0" cy="0"/>
        </a:xfrm>
      </p:grpSpPr>
      <p:sp>
        <p:nvSpPr>
          <p:cNvPr id="2345" name="Google Shape;2345;p296"/>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46" name="Google Shape;2346;p296"/>
          <p:cNvSpPr txBox="1"/>
          <p:nvPr>
            <p:ph type="title"/>
          </p:nvPr>
        </p:nvSpPr>
        <p:spPr>
          <a:xfrm>
            <a:off x="1375028" y="975105"/>
            <a:ext cx="9450705" cy="1242695"/>
          </a:xfrm>
          <a:prstGeom prst="rect">
            <a:avLst/>
          </a:prstGeom>
          <a:noFill/>
          <a:ln>
            <a:noFill/>
          </a:ln>
        </p:spPr>
        <p:txBody>
          <a:bodyPr anchorCtr="0" anchor="t" bIns="0" lIns="0" spcFirstLastPara="1" rIns="0" wrap="square" tIns="7600">
            <a:spAutoFit/>
          </a:bodyPr>
          <a:lstStyle/>
          <a:p>
            <a:pPr indent="0" lvl="0" marL="12700" marR="5080" rtl="0" algn="l">
              <a:lnSpc>
                <a:spcPct val="101400"/>
              </a:lnSpc>
              <a:spcBef>
                <a:spcPts val="0"/>
              </a:spcBef>
              <a:spcAft>
                <a:spcPts val="0"/>
              </a:spcAft>
              <a:buNone/>
            </a:pPr>
            <a:r>
              <a:rPr lang="fr-FR" sz="3950"/>
              <a:t>1.	Le	lavage	répété	des	mains	chez	ce patient peut être considéré comme</a:t>
            </a:r>
            <a:endParaRPr sz="3950"/>
          </a:p>
        </p:txBody>
      </p:sp>
      <p:sp>
        <p:nvSpPr>
          <p:cNvPr id="2347" name="Google Shape;2347;p296"/>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348" name="Google Shape;2348;p296"/>
          <p:cNvSpPr txBox="1"/>
          <p:nvPr/>
        </p:nvSpPr>
        <p:spPr>
          <a:xfrm>
            <a:off x="1375028" y="2469651"/>
            <a:ext cx="3530600" cy="2566670"/>
          </a:xfrm>
          <a:prstGeom prst="rect">
            <a:avLst/>
          </a:prstGeom>
          <a:noFill/>
          <a:ln>
            <a:noFill/>
          </a:ln>
        </p:spPr>
        <p:txBody>
          <a:bodyPr anchorCtr="0" anchor="t" bIns="0" lIns="0" spcFirstLastPara="1" rIns="0" wrap="square" tIns="63500">
            <a:spAutoFit/>
          </a:bodyPr>
          <a:lstStyle/>
          <a:p>
            <a:pPr indent="-457200" lvl="0" marL="469900" rtl="0" algn="l">
              <a:lnSpc>
                <a:spcPct val="100000"/>
              </a:lnSpc>
              <a:spcBef>
                <a:spcPts val="0"/>
              </a:spcBef>
              <a:spcAft>
                <a:spcPts val="0"/>
              </a:spcAft>
              <a:buClr>
                <a:srgbClr val="83992A"/>
              </a:buClr>
              <a:buSzPts val="2750"/>
              <a:buFont typeface="Garamond"/>
              <a:buAutoNum type="alphaUcPeriod"/>
            </a:pPr>
            <a:r>
              <a:rPr lang="fr-FR" sz="2400">
                <a:solidFill>
                  <a:srgbClr val="252525"/>
                </a:solidFill>
                <a:latin typeface="Garamond"/>
                <a:ea typeface="Garamond"/>
                <a:cs typeface="Garamond"/>
                <a:sym typeface="Garamond"/>
              </a:rPr>
              <a:t>Une conduite d'évitement</a:t>
            </a:r>
            <a:endParaRPr sz="2400">
              <a:latin typeface="Garamond"/>
              <a:ea typeface="Garamond"/>
              <a:cs typeface="Garamond"/>
              <a:sym typeface="Garamond"/>
            </a:endParaRPr>
          </a:p>
          <a:p>
            <a:pPr indent="-457200" lvl="0" marL="469900" rtl="0" algn="l">
              <a:lnSpc>
                <a:spcPct val="100000"/>
              </a:lnSpc>
              <a:spcBef>
                <a:spcPts val="830"/>
              </a:spcBef>
              <a:spcAft>
                <a:spcPts val="0"/>
              </a:spcAft>
              <a:buClr>
                <a:srgbClr val="83992A"/>
              </a:buClr>
              <a:buSzPts val="2750"/>
              <a:buFont typeface="Garamond"/>
              <a:buAutoNum type="alphaUcPeriod"/>
            </a:pPr>
            <a:r>
              <a:rPr lang="fr-FR" sz="2400">
                <a:solidFill>
                  <a:srgbClr val="252525"/>
                </a:solidFill>
                <a:latin typeface="Garamond"/>
                <a:ea typeface="Garamond"/>
                <a:cs typeface="Garamond"/>
                <a:sym typeface="Garamond"/>
              </a:rPr>
              <a:t>Une échopraxie</a:t>
            </a:r>
            <a:endParaRPr sz="2400">
              <a:latin typeface="Garamond"/>
              <a:ea typeface="Garamond"/>
              <a:cs typeface="Garamond"/>
              <a:sym typeface="Garamond"/>
            </a:endParaRPr>
          </a:p>
          <a:p>
            <a:pPr indent="-457200" lvl="0" marL="469900" rtl="0" algn="l">
              <a:lnSpc>
                <a:spcPct val="100000"/>
              </a:lnSpc>
              <a:spcBef>
                <a:spcPts val="755"/>
              </a:spcBef>
              <a:spcAft>
                <a:spcPts val="0"/>
              </a:spcAft>
              <a:buClr>
                <a:srgbClr val="83992A"/>
              </a:buClr>
              <a:buSzPts val="2750"/>
              <a:buFont typeface="Garamond"/>
              <a:buAutoNum type="alphaUcPeriod"/>
            </a:pPr>
            <a:r>
              <a:rPr lang="fr-FR" sz="2400">
                <a:solidFill>
                  <a:srgbClr val="252525"/>
                </a:solidFill>
                <a:latin typeface="Garamond"/>
                <a:ea typeface="Garamond"/>
                <a:cs typeface="Garamond"/>
                <a:sym typeface="Garamond"/>
              </a:rPr>
              <a:t>Un rituel compulsif</a:t>
            </a:r>
            <a:endParaRPr sz="2400">
              <a:latin typeface="Garamond"/>
              <a:ea typeface="Garamond"/>
              <a:cs typeface="Garamond"/>
              <a:sym typeface="Garamond"/>
            </a:endParaRPr>
          </a:p>
          <a:p>
            <a:pPr indent="-456565" lvl="0" marL="469265" rtl="0" algn="l">
              <a:lnSpc>
                <a:spcPct val="100000"/>
              </a:lnSpc>
              <a:spcBef>
                <a:spcPts val="760"/>
              </a:spcBef>
              <a:spcAft>
                <a:spcPts val="0"/>
              </a:spcAft>
              <a:buClr>
                <a:srgbClr val="83992A"/>
              </a:buClr>
              <a:buSzPts val="2750"/>
              <a:buFont typeface="Garamond"/>
              <a:buAutoNum type="alphaUcPeriod"/>
            </a:pPr>
            <a:r>
              <a:rPr lang="fr-FR" sz="2400">
                <a:solidFill>
                  <a:srgbClr val="252525"/>
                </a:solidFill>
                <a:latin typeface="Garamond"/>
                <a:ea typeface="Garamond"/>
                <a:cs typeface="Garamond"/>
                <a:sym typeface="Garamond"/>
              </a:rPr>
              <a:t>Un tic</a:t>
            </a:r>
            <a:endParaRPr sz="2400">
              <a:latin typeface="Garamond"/>
              <a:ea typeface="Garamond"/>
              <a:cs typeface="Garamond"/>
              <a:sym typeface="Garamond"/>
            </a:endParaRPr>
          </a:p>
          <a:p>
            <a:pPr indent="-457200" lvl="0" marL="469900" rtl="0" algn="l">
              <a:lnSpc>
                <a:spcPct val="100000"/>
              </a:lnSpc>
              <a:spcBef>
                <a:spcPts val="755"/>
              </a:spcBef>
              <a:spcAft>
                <a:spcPts val="0"/>
              </a:spcAft>
              <a:buClr>
                <a:srgbClr val="83992A"/>
              </a:buClr>
              <a:buSzPts val="2750"/>
              <a:buFont typeface="Garamond"/>
              <a:buAutoNum type="alphaUcPeriod"/>
            </a:pPr>
            <a:r>
              <a:rPr lang="fr-FR" sz="2400">
                <a:solidFill>
                  <a:srgbClr val="252525"/>
                </a:solidFill>
                <a:latin typeface="Garamond"/>
                <a:ea typeface="Garamond"/>
                <a:cs typeface="Garamond"/>
                <a:sym typeface="Garamond"/>
              </a:rPr>
              <a:t>Un symptôme phobique</a:t>
            </a:r>
            <a:endParaRPr sz="2400">
              <a:latin typeface="Garamond"/>
              <a:ea typeface="Garamond"/>
              <a:cs typeface="Garamond"/>
              <a:sym typeface="Garamond"/>
            </a:endParaRPr>
          </a:p>
        </p:txBody>
      </p:sp>
    </p:spTree>
  </p:cSld>
  <p:clrMapOvr>
    <a:masterClrMapping/>
  </p:clrMapOvr>
</p:sld>
</file>

<file path=ppt/slides/slide2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2" name="Shape 2352"/>
        <p:cNvGrpSpPr/>
        <p:nvPr/>
      </p:nvGrpSpPr>
      <p:grpSpPr>
        <a:xfrm>
          <a:off x="0" y="0"/>
          <a:ext cx="0" cy="0"/>
          <a:chOff x="0" y="0"/>
          <a:chExt cx="0" cy="0"/>
        </a:xfrm>
      </p:grpSpPr>
      <p:sp>
        <p:nvSpPr>
          <p:cNvPr id="2353" name="Google Shape;2353;p297"/>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54" name="Google Shape;2354;p297"/>
          <p:cNvSpPr txBox="1"/>
          <p:nvPr>
            <p:ph type="title"/>
          </p:nvPr>
        </p:nvSpPr>
        <p:spPr>
          <a:xfrm>
            <a:off x="785177" y="1030986"/>
            <a:ext cx="10420985" cy="1004569"/>
          </a:xfrm>
          <a:prstGeom prst="rect">
            <a:avLst/>
          </a:prstGeom>
          <a:noFill/>
          <a:ln>
            <a:noFill/>
          </a:ln>
        </p:spPr>
        <p:txBody>
          <a:bodyPr anchorCtr="0" anchor="t" bIns="0" lIns="0" spcFirstLastPara="1" rIns="0" wrap="square" tIns="31100">
            <a:spAutoFit/>
          </a:bodyPr>
          <a:lstStyle/>
          <a:p>
            <a:pPr indent="0" lvl="0" marL="12700" marR="5080" rtl="0" algn="l">
              <a:lnSpc>
                <a:spcPct val="119656"/>
              </a:lnSpc>
              <a:spcBef>
                <a:spcPts val="0"/>
              </a:spcBef>
              <a:spcAft>
                <a:spcPts val="0"/>
              </a:spcAft>
              <a:buNone/>
            </a:pPr>
            <a:r>
              <a:rPr lang="fr-FR" sz="3200"/>
              <a:t>2. Les préoccupations de ce patient concernant la contagion et	les	microbes	peuvent	être	considérées	comme:</a:t>
            </a:r>
            <a:endParaRPr sz="3200"/>
          </a:p>
        </p:txBody>
      </p:sp>
      <p:sp>
        <p:nvSpPr>
          <p:cNvPr id="2355" name="Google Shape;2355;p297"/>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356" name="Google Shape;2356;p297"/>
          <p:cNvSpPr txBox="1"/>
          <p:nvPr/>
        </p:nvSpPr>
        <p:spPr>
          <a:xfrm>
            <a:off x="1375028" y="2469651"/>
            <a:ext cx="4020185" cy="2566670"/>
          </a:xfrm>
          <a:prstGeom prst="rect">
            <a:avLst/>
          </a:prstGeom>
          <a:noFill/>
          <a:ln>
            <a:noFill/>
          </a:ln>
        </p:spPr>
        <p:txBody>
          <a:bodyPr anchorCtr="0" anchor="t" bIns="0" lIns="0" spcFirstLastPara="1" rIns="0" wrap="square" tIns="63500">
            <a:spAutoFit/>
          </a:bodyPr>
          <a:lstStyle/>
          <a:p>
            <a:pPr indent="-457200" lvl="0" marL="469900" rtl="0" algn="l">
              <a:lnSpc>
                <a:spcPct val="100000"/>
              </a:lnSpc>
              <a:spcBef>
                <a:spcPts val="0"/>
              </a:spcBef>
              <a:spcAft>
                <a:spcPts val="0"/>
              </a:spcAft>
              <a:buClr>
                <a:srgbClr val="83992A"/>
              </a:buClr>
              <a:buSzPts val="2750"/>
              <a:buFont typeface="Garamond"/>
              <a:buAutoNum type="alphaUcPeriod"/>
            </a:pPr>
            <a:r>
              <a:rPr lang="fr-FR" sz="2400">
                <a:solidFill>
                  <a:srgbClr val="252525"/>
                </a:solidFill>
                <a:latin typeface="Garamond"/>
                <a:ea typeface="Garamond"/>
                <a:cs typeface="Garamond"/>
                <a:sym typeface="Garamond"/>
              </a:rPr>
              <a:t>Une phobie d'impulsion</a:t>
            </a:r>
            <a:endParaRPr sz="2400">
              <a:latin typeface="Garamond"/>
              <a:ea typeface="Garamond"/>
              <a:cs typeface="Garamond"/>
              <a:sym typeface="Garamond"/>
            </a:endParaRPr>
          </a:p>
          <a:p>
            <a:pPr indent="-457200" lvl="0" marL="469900" rtl="0" algn="l">
              <a:lnSpc>
                <a:spcPct val="100000"/>
              </a:lnSpc>
              <a:spcBef>
                <a:spcPts val="830"/>
              </a:spcBef>
              <a:spcAft>
                <a:spcPts val="0"/>
              </a:spcAft>
              <a:buClr>
                <a:srgbClr val="83992A"/>
              </a:buClr>
              <a:buSzPts val="2750"/>
              <a:buFont typeface="Garamond"/>
              <a:buAutoNum type="alphaUcPeriod"/>
            </a:pPr>
            <a:r>
              <a:rPr lang="fr-FR" sz="2400">
                <a:solidFill>
                  <a:srgbClr val="252525"/>
                </a:solidFill>
                <a:latin typeface="Garamond"/>
                <a:ea typeface="Garamond"/>
                <a:cs typeface="Garamond"/>
                <a:sym typeface="Garamond"/>
              </a:rPr>
              <a:t>Une interprétation délirante</a:t>
            </a:r>
            <a:endParaRPr sz="2400">
              <a:latin typeface="Garamond"/>
              <a:ea typeface="Garamond"/>
              <a:cs typeface="Garamond"/>
              <a:sym typeface="Garamond"/>
            </a:endParaRPr>
          </a:p>
          <a:p>
            <a:pPr indent="-457200" lvl="0" marL="469900" rtl="0" algn="l">
              <a:lnSpc>
                <a:spcPct val="100000"/>
              </a:lnSpc>
              <a:spcBef>
                <a:spcPts val="755"/>
              </a:spcBef>
              <a:spcAft>
                <a:spcPts val="0"/>
              </a:spcAft>
              <a:buClr>
                <a:srgbClr val="83992A"/>
              </a:buClr>
              <a:buSzPts val="2750"/>
              <a:buFont typeface="Garamond"/>
              <a:buAutoNum type="alphaUcPeriod"/>
            </a:pPr>
            <a:r>
              <a:rPr lang="fr-FR" sz="2400">
                <a:solidFill>
                  <a:srgbClr val="252525"/>
                </a:solidFill>
                <a:latin typeface="Garamond"/>
                <a:ea typeface="Garamond"/>
                <a:cs typeface="Garamond"/>
                <a:sym typeface="Garamond"/>
              </a:rPr>
              <a:t>Des hallucinations psychiques</a:t>
            </a:r>
            <a:endParaRPr sz="2400">
              <a:latin typeface="Garamond"/>
              <a:ea typeface="Garamond"/>
              <a:cs typeface="Garamond"/>
              <a:sym typeface="Garamond"/>
            </a:endParaRPr>
          </a:p>
          <a:p>
            <a:pPr indent="-456565" lvl="0" marL="469265" rtl="0" algn="l">
              <a:lnSpc>
                <a:spcPct val="100000"/>
              </a:lnSpc>
              <a:spcBef>
                <a:spcPts val="760"/>
              </a:spcBef>
              <a:spcAft>
                <a:spcPts val="0"/>
              </a:spcAft>
              <a:buClr>
                <a:srgbClr val="83992A"/>
              </a:buClr>
              <a:buSzPts val="2750"/>
              <a:buFont typeface="Garamond"/>
              <a:buAutoNum type="alphaUcPeriod"/>
            </a:pPr>
            <a:r>
              <a:rPr lang="fr-FR" sz="2400">
                <a:solidFill>
                  <a:srgbClr val="252525"/>
                </a:solidFill>
                <a:latin typeface="Garamond"/>
                <a:ea typeface="Garamond"/>
                <a:cs typeface="Garamond"/>
                <a:sym typeface="Garamond"/>
              </a:rPr>
              <a:t>Une idée obsédante</a:t>
            </a:r>
            <a:endParaRPr sz="2400">
              <a:latin typeface="Garamond"/>
              <a:ea typeface="Garamond"/>
              <a:cs typeface="Garamond"/>
              <a:sym typeface="Garamond"/>
            </a:endParaRPr>
          </a:p>
          <a:p>
            <a:pPr indent="-457200" lvl="0" marL="469900" rtl="0" algn="l">
              <a:lnSpc>
                <a:spcPct val="100000"/>
              </a:lnSpc>
              <a:spcBef>
                <a:spcPts val="755"/>
              </a:spcBef>
              <a:spcAft>
                <a:spcPts val="0"/>
              </a:spcAft>
              <a:buClr>
                <a:srgbClr val="83992A"/>
              </a:buClr>
              <a:buSzPts val="2750"/>
              <a:buFont typeface="Garamond"/>
              <a:buAutoNum type="alphaUcPeriod"/>
            </a:pPr>
            <a:r>
              <a:rPr lang="fr-FR" sz="2400">
                <a:solidFill>
                  <a:srgbClr val="252525"/>
                </a:solidFill>
                <a:latin typeface="Garamond"/>
                <a:ea typeface="Garamond"/>
                <a:cs typeface="Garamond"/>
                <a:sym typeface="Garamond"/>
              </a:rPr>
              <a:t>Une idée fixe post-oninque</a:t>
            </a:r>
            <a:endParaRPr sz="2400">
              <a:latin typeface="Garamond"/>
              <a:ea typeface="Garamond"/>
              <a:cs typeface="Garamond"/>
              <a:sym typeface="Garamond"/>
            </a:endParaRPr>
          </a:p>
        </p:txBody>
      </p:sp>
    </p:spTree>
  </p:cSld>
  <p:clrMapOvr>
    <a:masterClrMapping/>
  </p:clrMapOvr>
</p:sld>
</file>

<file path=ppt/slides/slide2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0" name="Shape 2360"/>
        <p:cNvGrpSpPr/>
        <p:nvPr/>
      </p:nvGrpSpPr>
      <p:grpSpPr>
        <a:xfrm>
          <a:off x="0" y="0"/>
          <a:ext cx="0" cy="0"/>
          <a:chOff x="0" y="0"/>
          <a:chExt cx="0" cy="0"/>
        </a:xfrm>
      </p:grpSpPr>
      <p:sp>
        <p:nvSpPr>
          <p:cNvPr id="2361" name="Google Shape;2361;p298"/>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62" name="Google Shape;2362;p298"/>
          <p:cNvSpPr txBox="1"/>
          <p:nvPr>
            <p:ph type="title"/>
          </p:nvPr>
        </p:nvSpPr>
        <p:spPr>
          <a:xfrm>
            <a:off x="1375028" y="664844"/>
            <a:ext cx="9448165" cy="57531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fr-FR"/>
              <a:t>3.	Parmi	les	maladies	suivantes,	laquelle	vous</a:t>
            </a:r>
            <a:endParaRPr/>
          </a:p>
        </p:txBody>
      </p:sp>
      <p:sp>
        <p:nvSpPr>
          <p:cNvPr id="2363" name="Google Shape;2363;p298"/>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
        <p:nvSpPr>
          <p:cNvPr id="2364" name="Google Shape;2364;p298"/>
          <p:cNvSpPr txBox="1"/>
          <p:nvPr/>
        </p:nvSpPr>
        <p:spPr>
          <a:xfrm>
            <a:off x="7862951" y="1217930"/>
            <a:ext cx="2972435" cy="1118870"/>
          </a:xfrm>
          <a:prstGeom prst="rect">
            <a:avLst/>
          </a:prstGeom>
          <a:noFill/>
          <a:ln>
            <a:noFill/>
          </a:ln>
        </p:spPr>
        <p:txBody>
          <a:bodyPr anchorCtr="0" anchor="t" bIns="0" lIns="0" spcFirstLastPara="1" rIns="0" wrap="square" tIns="13325">
            <a:spAutoFit/>
          </a:bodyPr>
          <a:lstStyle/>
          <a:p>
            <a:pPr indent="0" lvl="0" marL="0" marR="5080" rtl="0" algn="r">
              <a:lnSpc>
                <a:spcPct val="119444"/>
              </a:lnSpc>
              <a:spcBef>
                <a:spcPts val="0"/>
              </a:spcBef>
              <a:spcAft>
                <a:spcPts val="0"/>
              </a:spcAft>
              <a:buNone/>
            </a:pPr>
            <a:r>
              <a:rPr b="1" lang="fr-FR" sz="3600">
                <a:solidFill>
                  <a:srgbClr val="252525"/>
                </a:solidFill>
                <a:latin typeface="Garamond"/>
                <a:ea typeface="Garamond"/>
                <a:cs typeface="Garamond"/>
                <a:sym typeface="Garamond"/>
              </a:rPr>
              <a:t>au	cas	de	ce</a:t>
            </a:r>
            <a:endParaRPr sz="3600">
              <a:latin typeface="Garamond"/>
              <a:ea typeface="Garamond"/>
              <a:cs typeface="Garamond"/>
              <a:sym typeface="Garamond"/>
            </a:endParaRPr>
          </a:p>
          <a:p>
            <a:pPr indent="0" lvl="0" marL="0" marR="14604" rtl="0" algn="r">
              <a:lnSpc>
                <a:spcPct val="119444"/>
              </a:lnSpc>
              <a:spcBef>
                <a:spcPts val="0"/>
              </a:spcBef>
              <a:spcAft>
                <a:spcPts val="0"/>
              </a:spcAft>
              <a:buNone/>
            </a:pPr>
            <a:r>
              <a:rPr b="1" lang="fr-FR" sz="3600">
                <a:solidFill>
                  <a:srgbClr val="252525"/>
                </a:solidFill>
                <a:latin typeface="Garamond"/>
                <a:ea typeface="Garamond"/>
                <a:cs typeface="Garamond"/>
                <a:sym typeface="Garamond"/>
              </a:rPr>
              <a:t>?</a:t>
            </a:r>
            <a:endParaRPr sz="3600">
              <a:latin typeface="Garamond"/>
              <a:ea typeface="Garamond"/>
              <a:cs typeface="Garamond"/>
              <a:sym typeface="Garamond"/>
            </a:endParaRPr>
          </a:p>
        </p:txBody>
      </p:sp>
      <p:sp>
        <p:nvSpPr>
          <p:cNvPr id="2365" name="Google Shape;2365;p298"/>
          <p:cNvSpPr txBox="1"/>
          <p:nvPr/>
        </p:nvSpPr>
        <p:spPr>
          <a:xfrm>
            <a:off x="1375028" y="1217930"/>
            <a:ext cx="6200775" cy="3818254"/>
          </a:xfrm>
          <a:prstGeom prst="rect">
            <a:avLst/>
          </a:prstGeom>
          <a:noFill/>
          <a:ln>
            <a:noFill/>
          </a:ln>
        </p:spPr>
        <p:txBody>
          <a:bodyPr anchorCtr="0" anchor="t" bIns="0" lIns="0" spcFirstLastPara="1" rIns="0" wrap="square" tIns="35550">
            <a:spAutoFit/>
          </a:bodyPr>
          <a:lstStyle/>
          <a:p>
            <a:pPr indent="0" lvl="0" marL="12700" marR="5080" rtl="0" algn="l">
              <a:lnSpc>
                <a:spcPct val="118888"/>
              </a:lnSpc>
              <a:spcBef>
                <a:spcPts val="0"/>
              </a:spcBef>
              <a:spcAft>
                <a:spcPts val="0"/>
              </a:spcAft>
              <a:buNone/>
            </a:pPr>
            <a:r>
              <a:rPr b="1" lang="fr-FR" sz="3600">
                <a:solidFill>
                  <a:srgbClr val="252525"/>
                </a:solidFill>
                <a:latin typeface="Garamond"/>
                <a:ea typeface="Garamond"/>
                <a:cs typeface="Garamond"/>
                <a:sym typeface="Garamond"/>
              </a:rPr>
              <a:t>parait	le	mieux	correspondre patient</a:t>
            </a:r>
            <a:endParaRPr sz="3600">
              <a:latin typeface="Garamond"/>
              <a:ea typeface="Garamond"/>
              <a:cs typeface="Garamond"/>
              <a:sym typeface="Garamond"/>
            </a:endParaRPr>
          </a:p>
          <a:p>
            <a:pPr indent="-457200" lvl="0" marL="469900" rtl="0" algn="l">
              <a:lnSpc>
                <a:spcPct val="100000"/>
              </a:lnSpc>
              <a:spcBef>
                <a:spcPts val="1520"/>
              </a:spcBef>
              <a:spcAft>
                <a:spcPts val="0"/>
              </a:spcAft>
              <a:buClr>
                <a:srgbClr val="83992A"/>
              </a:buClr>
              <a:buSzPts val="2750"/>
              <a:buFont typeface="Garamond"/>
              <a:buAutoNum type="alphaUcPeriod"/>
            </a:pPr>
            <a:r>
              <a:rPr lang="fr-FR" sz="2400">
                <a:solidFill>
                  <a:srgbClr val="252525"/>
                </a:solidFill>
                <a:latin typeface="Garamond"/>
                <a:ea typeface="Garamond"/>
                <a:cs typeface="Garamond"/>
                <a:sym typeface="Garamond"/>
              </a:rPr>
              <a:t>phobie</a:t>
            </a:r>
            <a:endParaRPr sz="2400">
              <a:latin typeface="Garamond"/>
              <a:ea typeface="Garamond"/>
              <a:cs typeface="Garamond"/>
              <a:sym typeface="Garamond"/>
            </a:endParaRPr>
          </a:p>
          <a:p>
            <a:pPr indent="-457200" lvl="0" marL="469900" rtl="0" algn="l">
              <a:lnSpc>
                <a:spcPct val="100000"/>
              </a:lnSpc>
              <a:spcBef>
                <a:spcPts val="830"/>
              </a:spcBef>
              <a:spcAft>
                <a:spcPts val="0"/>
              </a:spcAft>
              <a:buClr>
                <a:srgbClr val="83992A"/>
              </a:buClr>
              <a:buSzPts val="2750"/>
              <a:buFont typeface="Garamond"/>
              <a:buAutoNum type="alphaUcPeriod"/>
            </a:pPr>
            <a:r>
              <a:rPr lang="fr-FR" sz="2400">
                <a:solidFill>
                  <a:srgbClr val="252525"/>
                </a:solidFill>
                <a:latin typeface="Garamond"/>
                <a:ea typeface="Garamond"/>
                <a:cs typeface="Garamond"/>
                <a:sym typeface="Garamond"/>
              </a:rPr>
              <a:t>Schizophrénie à début tardif</a:t>
            </a:r>
            <a:endParaRPr sz="2400">
              <a:latin typeface="Garamond"/>
              <a:ea typeface="Garamond"/>
              <a:cs typeface="Garamond"/>
              <a:sym typeface="Garamond"/>
            </a:endParaRPr>
          </a:p>
          <a:p>
            <a:pPr indent="-457200" lvl="0" marL="469900" rtl="0" algn="l">
              <a:lnSpc>
                <a:spcPct val="100000"/>
              </a:lnSpc>
              <a:spcBef>
                <a:spcPts val="755"/>
              </a:spcBef>
              <a:spcAft>
                <a:spcPts val="0"/>
              </a:spcAft>
              <a:buClr>
                <a:srgbClr val="83992A"/>
              </a:buClr>
              <a:buSzPts val="2750"/>
              <a:buFont typeface="Garamond"/>
              <a:buAutoNum type="alphaUcPeriod"/>
            </a:pPr>
            <a:r>
              <a:rPr lang="fr-FR" sz="2400">
                <a:solidFill>
                  <a:srgbClr val="252525"/>
                </a:solidFill>
                <a:latin typeface="Garamond"/>
                <a:ea typeface="Garamond"/>
                <a:cs typeface="Garamond"/>
                <a:sym typeface="Garamond"/>
              </a:rPr>
              <a:t>Délire hypocondriaque</a:t>
            </a:r>
            <a:endParaRPr sz="2400">
              <a:latin typeface="Garamond"/>
              <a:ea typeface="Garamond"/>
              <a:cs typeface="Garamond"/>
              <a:sym typeface="Garamond"/>
            </a:endParaRPr>
          </a:p>
          <a:p>
            <a:pPr indent="-456565" lvl="0" marL="469265" rtl="0" algn="l">
              <a:lnSpc>
                <a:spcPct val="100000"/>
              </a:lnSpc>
              <a:spcBef>
                <a:spcPts val="755"/>
              </a:spcBef>
              <a:spcAft>
                <a:spcPts val="0"/>
              </a:spcAft>
              <a:buClr>
                <a:srgbClr val="83992A"/>
              </a:buClr>
              <a:buSzPts val="2750"/>
              <a:buFont typeface="Garamond"/>
              <a:buAutoNum type="alphaUcPeriod"/>
            </a:pPr>
            <a:r>
              <a:rPr lang="fr-FR" sz="2400">
                <a:solidFill>
                  <a:srgbClr val="252525"/>
                </a:solidFill>
                <a:latin typeface="Garamond"/>
                <a:ea typeface="Garamond"/>
                <a:cs typeface="Garamond"/>
                <a:sym typeface="Garamond"/>
              </a:rPr>
              <a:t>TOC</a:t>
            </a:r>
            <a:endParaRPr sz="2400">
              <a:latin typeface="Garamond"/>
              <a:ea typeface="Garamond"/>
              <a:cs typeface="Garamond"/>
              <a:sym typeface="Garamond"/>
            </a:endParaRPr>
          </a:p>
          <a:p>
            <a:pPr indent="-457200" lvl="0" marL="469900" rtl="0" algn="l">
              <a:lnSpc>
                <a:spcPct val="100000"/>
              </a:lnSpc>
              <a:spcBef>
                <a:spcPts val="755"/>
              </a:spcBef>
              <a:spcAft>
                <a:spcPts val="0"/>
              </a:spcAft>
              <a:buClr>
                <a:srgbClr val="83992A"/>
              </a:buClr>
              <a:buSzPts val="2750"/>
              <a:buFont typeface="Garamond"/>
              <a:buAutoNum type="alphaUcPeriod"/>
            </a:pPr>
            <a:r>
              <a:rPr lang="fr-FR" sz="2400">
                <a:solidFill>
                  <a:srgbClr val="252525"/>
                </a:solidFill>
                <a:latin typeface="Garamond"/>
                <a:ea typeface="Garamond"/>
                <a:cs typeface="Garamond"/>
                <a:sym typeface="Garamond"/>
              </a:rPr>
              <a:t>TSPT</a:t>
            </a:r>
            <a:endParaRPr sz="2400">
              <a:latin typeface="Garamond"/>
              <a:ea typeface="Garamond"/>
              <a:cs typeface="Garamond"/>
              <a:sym typeface="Garamond"/>
            </a:endParaRPr>
          </a:p>
        </p:txBody>
      </p:sp>
    </p:spTree>
  </p:cSld>
  <p:clrMapOvr>
    <a:masterClrMapping/>
  </p:clrMapOvr>
</p:sld>
</file>

<file path=ppt/slides/slide2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69" name="Shape 2369"/>
        <p:cNvGrpSpPr/>
        <p:nvPr/>
      </p:nvGrpSpPr>
      <p:grpSpPr>
        <a:xfrm>
          <a:off x="0" y="0"/>
          <a:ext cx="0" cy="0"/>
          <a:chOff x="0" y="0"/>
          <a:chExt cx="0" cy="0"/>
        </a:xfrm>
      </p:grpSpPr>
      <p:pic>
        <p:nvPicPr>
          <p:cNvPr id="2370" name="Google Shape;2370;p299"/>
          <p:cNvPicPr preferRelativeResize="0"/>
          <p:nvPr/>
        </p:nvPicPr>
        <p:blipFill rotWithShape="1">
          <a:blip r:embed="rId3">
            <a:alphaModFix/>
          </a:blip>
          <a:srcRect b="0" l="0" r="0" t="0"/>
          <a:stretch/>
        </p:blipFill>
        <p:spPr>
          <a:xfrm>
            <a:off x="0" y="0"/>
            <a:ext cx="12192000" cy="6857999"/>
          </a:xfrm>
          <a:prstGeom prst="rect">
            <a:avLst/>
          </a:prstGeom>
          <a:noFill/>
          <a:ln>
            <a:noFill/>
          </a:ln>
        </p:spPr>
      </p:pic>
      <p:grpSp>
        <p:nvGrpSpPr>
          <p:cNvPr id="2371" name="Google Shape;2371;p299"/>
          <p:cNvGrpSpPr/>
          <p:nvPr/>
        </p:nvGrpSpPr>
        <p:grpSpPr>
          <a:xfrm>
            <a:off x="0" y="609600"/>
            <a:ext cx="12192000" cy="5638800"/>
            <a:chOff x="0" y="609600"/>
            <a:chExt cx="12192000" cy="5638800"/>
          </a:xfrm>
        </p:grpSpPr>
        <p:sp>
          <p:nvSpPr>
            <p:cNvPr id="2372" name="Google Shape;2372;p299"/>
            <p:cNvSpPr/>
            <p:nvPr/>
          </p:nvSpPr>
          <p:spPr>
            <a:xfrm>
              <a:off x="609599" y="609600"/>
              <a:ext cx="10972800" cy="5638800"/>
            </a:xfrm>
            <a:custGeom>
              <a:rect b="b" l="l" r="r" t="t"/>
              <a:pathLst>
                <a:path extrusionOk="0" h="5638800" w="10972800">
                  <a:moveTo>
                    <a:pt x="0" y="5638800"/>
                  </a:moveTo>
                  <a:lnTo>
                    <a:pt x="10972800" y="5638800"/>
                  </a:lnTo>
                  <a:lnTo>
                    <a:pt x="10972800" y="0"/>
                  </a:lnTo>
                  <a:lnTo>
                    <a:pt x="0" y="0"/>
                  </a:lnTo>
                  <a:lnTo>
                    <a:pt x="0" y="5638800"/>
                  </a:lnTo>
                  <a:close/>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373" name="Google Shape;2373;p299"/>
            <p:cNvPicPr preferRelativeResize="0"/>
            <p:nvPr/>
          </p:nvPicPr>
          <p:blipFill rotWithShape="1">
            <a:blip r:embed="rId4">
              <a:alphaModFix/>
            </a:blip>
            <a:srcRect b="0" l="0" r="0" t="0"/>
            <a:stretch/>
          </p:blipFill>
          <p:spPr>
            <a:xfrm>
              <a:off x="0" y="3152775"/>
              <a:ext cx="761999" cy="609600"/>
            </a:xfrm>
            <a:prstGeom prst="rect">
              <a:avLst/>
            </a:prstGeom>
            <a:noFill/>
            <a:ln>
              <a:noFill/>
            </a:ln>
          </p:spPr>
        </p:pic>
        <p:pic>
          <p:nvPicPr>
            <p:cNvPr id="2374" name="Google Shape;2374;p299"/>
            <p:cNvPicPr preferRelativeResize="0"/>
            <p:nvPr/>
          </p:nvPicPr>
          <p:blipFill rotWithShape="1">
            <a:blip r:embed="rId5">
              <a:alphaModFix/>
            </a:blip>
            <a:srcRect b="0" l="0" r="0" t="0"/>
            <a:stretch/>
          </p:blipFill>
          <p:spPr>
            <a:xfrm>
              <a:off x="11439525" y="3152775"/>
              <a:ext cx="752475" cy="609600"/>
            </a:xfrm>
            <a:prstGeom prst="rect">
              <a:avLst/>
            </a:prstGeom>
            <a:noFill/>
            <a:ln>
              <a:noFill/>
            </a:ln>
          </p:spPr>
        </p:pic>
        <p:sp>
          <p:nvSpPr>
            <p:cNvPr id="2375" name="Google Shape;2375;p299"/>
            <p:cNvSpPr/>
            <p:nvPr/>
          </p:nvSpPr>
          <p:spPr>
            <a:xfrm>
              <a:off x="1400174" y="2419350"/>
              <a:ext cx="9407525" cy="0"/>
            </a:xfrm>
            <a:custGeom>
              <a:rect b="b" l="l" r="r" t="t"/>
              <a:pathLst>
                <a:path extrusionOk="0" h="120000" w="9407525">
                  <a:moveTo>
                    <a:pt x="0" y="0"/>
                  </a:moveTo>
                  <a:lnTo>
                    <a:pt x="9407271" y="0"/>
                  </a:lnTo>
                </a:path>
              </a:pathLst>
            </a:custGeom>
            <a:noFill/>
            <a:ln cap="flat" cmpd="sng" w="15875">
              <a:solidFill>
                <a:srgbClr val="83992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376" name="Google Shape;2376;p299"/>
          <p:cNvSpPr txBox="1"/>
          <p:nvPr>
            <p:ph type="title"/>
          </p:nvPr>
        </p:nvSpPr>
        <p:spPr>
          <a:xfrm>
            <a:off x="4021709" y="2536126"/>
            <a:ext cx="4154804" cy="8496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fr-FR" sz="5400">
                <a:solidFill>
                  <a:srgbClr val="61731F"/>
                </a:solidFill>
              </a:rPr>
              <a:t>Bonne chance</a:t>
            </a:r>
            <a:endParaRPr sz="5400"/>
          </a:p>
        </p:txBody>
      </p:sp>
      <p:pic>
        <p:nvPicPr>
          <p:cNvPr id="2377" name="Google Shape;2377;p299"/>
          <p:cNvPicPr preferRelativeResize="0"/>
          <p:nvPr/>
        </p:nvPicPr>
        <p:blipFill rotWithShape="1">
          <a:blip r:embed="rId6">
            <a:alphaModFix/>
          </a:blip>
          <a:srcRect b="0" l="0" r="0" t="0"/>
          <a:stretch/>
        </p:blipFill>
        <p:spPr>
          <a:xfrm>
            <a:off x="1171575" y="1143000"/>
            <a:ext cx="9725025" cy="4572000"/>
          </a:xfrm>
          <a:prstGeom prst="rect">
            <a:avLst/>
          </a:prstGeom>
          <a:noFill/>
          <a:ln>
            <a:noFill/>
          </a:ln>
        </p:spPr>
      </p:pic>
      <p:sp>
        <p:nvSpPr>
          <p:cNvPr id="2378" name="Google Shape;2378;p299"/>
          <p:cNvSpPr txBox="1"/>
          <p:nvPr>
            <p:ph idx="12" type="sldNum"/>
          </p:nvPr>
        </p:nvSpPr>
        <p:spPr>
          <a:xfrm>
            <a:off x="10618469" y="6035957"/>
            <a:ext cx="246379" cy="165100"/>
          </a:xfrm>
          <a:prstGeom prst="rect">
            <a:avLst/>
          </a:prstGeom>
          <a:noFill/>
          <a:ln>
            <a:noFill/>
          </a:ln>
        </p:spPr>
        <p:txBody>
          <a:bodyPr anchorCtr="0" anchor="t" bIns="0" lIns="0" spcFirstLastPara="1" rIns="0" wrap="square" tIns="0">
            <a:spAutoFit/>
          </a:bodyPr>
          <a:lstStyle/>
          <a:p>
            <a:pPr indent="0" lvl="0" marL="12700" rtl="0" algn="l">
              <a:lnSpc>
                <a:spcPct val="125555"/>
              </a:lnSpc>
              <a:spcBef>
                <a:spcPts val="0"/>
              </a:spcBef>
              <a:spcAft>
                <a:spcPts val="0"/>
              </a:spcAft>
              <a:buNone/>
            </a:pPr>
            <a:fld id="{00000000-1234-1234-1234-123412341234}" type="slidenum">
              <a:rPr lang="fr-F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2025-08-25T22:12:41Z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2025-07-21T00:00:00Z</vt:filetime>
  </property>
  <property fmtid="{D5CDD505-2E9C-101B-9397-08002B2CF9AE}" pid="3" name="LastSaved">
    <vt:filetime>2025-08-25T00:00:00Z</vt:filetime>
  </property>
</Properties>
</file>
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72" r:id="rId3"/>
    <p:sldId id="258" r:id="rId4"/>
    <p:sldId id="373" r:id="rId5"/>
    <p:sldId id="260" r:id="rId6"/>
    <p:sldId id="374" r:id="rId7"/>
    <p:sldId id="262" r:id="rId8"/>
    <p:sldId id="375" r:id="rId9"/>
    <p:sldId id="264" r:id="rId10"/>
    <p:sldId id="376" r:id="rId11"/>
    <p:sldId id="266" r:id="rId12"/>
    <p:sldId id="377" r:id="rId13"/>
    <p:sldId id="268" r:id="rId14"/>
    <p:sldId id="378" r:id="rId15"/>
    <p:sldId id="270" r:id="rId16"/>
    <p:sldId id="379" r:id="rId17"/>
    <p:sldId id="380" r:id="rId18"/>
    <p:sldId id="272" r:id="rId19"/>
    <p:sldId id="274" r:id="rId20"/>
    <p:sldId id="381" r:id="rId21"/>
    <p:sldId id="276" r:id="rId22"/>
    <p:sldId id="382" r:id="rId23"/>
    <p:sldId id="278" r:id="rId24"/>
    <p:sldId id="383" r:id="rId25"/>
    <p:sldId id="280" r:id="rId26"/>
    <p:sldId id="384" r:id="rId27"/>
    <p:sldId id="282" r:id="rId28"/>
    <p:sldId id="385" r:id="rId29"/>
    <p:sldId id="284" r:id="rId30"/>
    <p:sldId id="386" r:id="rId31"/>
    <p:sldId id="286" r:id="rId32"/>
    <p:sldId id="387" r:id="rId33"/>
    <p:sldId id="288" r:id="rId34"/>
    <p:sldId id="388" r:id="rId35"/>
    <p:sldId id="290" r:id="rId36"/>
    <p:sldId id="389" r:id="rId37"/>
    <p:sldId id="292" r:id="rId38"/>
    <p:sldId id="390" r:id="rId39"/>
    <p:sldId id="294" r:id="rId40"/>
    <p:sldId id="391" r:id="rId41"/>
    <p:sldId id="296" r:id="rId42"/>
    <p:sldId id="392" r:id="rId43"/>
    <p:sldId id="298" r:id="rId44"/>
    <p:sldId id="393" r:id="rId45"/>
    <p:sldId id="300" r:id="rId46"/>
    <p:sldId id="394" r:id="rId47"/>
    <p:sldId id="302" r:id="rId48"/>
    <p:sldId id="395" r:id="rId49"/>
    <p:sldId id="304" r:id="rId50"/>
    <p:sldId id="396" r:id="rId51"/>
    <p:sldId id="306" r:id="rId52"/>
    <p:sldId id="397" r:id="rId53"/>
    <p:sldId id="308" r:id="rId54"/>
    <p:sldId id="398" r:id="rId55"/>
    <p:sldId id="310" r:id="rId56"/>
    <p:sldId id="399" r:id="rId57"/>
    <p:sldId id="312" r:id="rId58"/>
    <p:sldId id="400" r:id="rId59"/>
    <p:sldId id="314" r:id="rId60"/>
    <p:sldId id="401" r:id="rId61"/>
    <p:sldId id="402" r:id="rId62"/>
    <p:sldId id="316" r:id="rId63"/>
    <p:sldId id="318" r:id="rId64"/>
    <p:sldId id="403" r:id="rId65"/>
    <p:sldId id="320" r:id="rId66"/>
    <p:sldId id="404" r:id="rId67"/>
    <p:sldId id="322" r:id="rId68"/>
    <p:sldId id="405" r:id="rId69"/>
    <p:sldId id="324" r:id="rId70"/>
    <p:sldId id="406" r:id="rId71"/>
    <p:sldId id="326" r:id="rId72"/>
    <p:sldId id="407" r:id="rId73"/>
    <p:sldId id="328" r:id="rId74"/>
    <p:sldId id="408" r:id="rId75"/>
    <p:sldId id="330" r:id="rId76"/>
    <p:sldId id="409" r:id="rId77"/>
    <p:sldId id="332" r:id="rId78"/>
    <p:sldId id="410" r:id="rId79"/>
    <p:sldId id="334" r:id="rId80"/>
    <p:sldId id="411" r:id="rId81"/>
    <p:sldId id="336" r:id="rId82"/>
    <p:sldId id="412" r:id="rId83"/>
    <p:sldId id="338" r:id="rId84"/>
    <p:sldId id="413" r:id="rId85"/>
    <p:sldId id="340" r:id="rId86"/>
    <p:sldId id="414" r:id="rId87"/>
    <p:sldId id="342" r:id="rId88"/>
    <p:sldId id="415" r:id="rId89"/>
    <p:sldId id="344" r:id="rId90"/>
    <p:sldId id="416" r:id="rId91"/>
    <p:sldId id="346" r:id="rId92"/>
    <p:sldId id="417" r:id="rId93"/>
    <p:sldId id="348" r:id="rId94"/>
    <p:sldId id="418" r:id="rId95"/>
    <p:sldId id="350" r:id="rId96"/>
    <p:sldId id="419" r:id="rId97"/>
    <p:sldId id="352" r:id="rId98"/>
    <p:sldId id="420" r:id="rId99"/>
    <p:sldId id="354" r:id="rId100"/>
    <p:sldId id="421" r:id="rId101"/>
    <p:sldId id="356" r:id="rId102"/>
    <p:sldId id="422" r:id="rId103"/>
    <p:sldId id="358" r:id="rId104"/>
    <p:sldId id="423" r:id="rId105"/>
    <p:sldId id="360" r:id="rId106"/>
    <p:sldId id="424" r:id="rId107"/>
    <p:sldId id="362" r:id="rId108"/>
    <p:sldId id="425" r:id="rId109"/>
    <p:sldId id="364" r:id="rId110"/>
    <p:sldId id="426" r:id="rId111"/>
    <p:sldId id="366" r:id="rId112"/>
    <p:sldId id="427" r:id="rId113"/>
    <p:sldId id="368" r:id="rId114"/>
    <p:sldId id="428" r:id="rId115"/>
    <p:sldId id="370" r:id="rId116"/>
    <p:sldId id="429" r:id="rId117"/>
    <p:sldId id="430" r:id="rId1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0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QCM - </a:t>
            </a:r>
            <a:r>
              <a:rPr dirty="0" err="1"/>
              <a:t>Adénopathies</a:t>
            </a:r>
            <a:r>
              <a:rPr lang="en-GB" dirty="0"/>
              <a:t> QCM </a:t>
            </a:r>
            <a:r>
              <a:rPr lang="en-GB" dirty="0" err="1"/>
              <a:t>Adénopathies</a:t>
            </a:r>
            <a:r>
              <a:rPr lang="en-GB" dirty="0"/>
              <a:t> </a:t>
            </a:r>
            <a:r>
              <a:rPr lang="en-GB" dirty="0" err="1"/>
              <a:t>Résidanat</a:t>
            </a:r>
            <a:r>
              <a:rPr lang="en-GB" dirty="0"/>
              <a:t> 2025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27364" y="1960418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1-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</a:t>
            </a:r>
            <a:r>
              <a:rPr dirty="0" err="1"/>
              <a:t>aires</a:t>
            </a:r>
            <a:r>
              <a:rPr dirty="0"/>
              <a:t> de palpation des </a:t>
            </a:r>
            <a:r>
              <a:rPr dirty="0" err="1"/>
              <a:t>adénopathies</a:t>
            </a:r>
            <a:r>
              <a:rPr dirty="0"/>
              <a:t> 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A-</a:t>
            </a:r>
            <a:r>
              <a:rPr dirty="0"/>
              <a:t>Aires </a:t>
            </a:r>
            <a:r>
              <a:rPr dirty="0" err="1"/>
              <a:t>épitrochléennes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Aires </a:t>
            </a:r>
            <a:r>
              <a:rPr dirty="0" err="1"/>
              <a:t>trochantériennes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Aires </a:t>
            </a:r>
            <a:r>
              <a:rPr dirty="0" err="1"/>
              <a:t>palmaires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Aires </a:t>
            </a:r>
            <a:r>
              <a:rPr dirty="0" err="1"/>
              <a:t>axillaires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Aires </a:t>
            </a:r>
            <a:r>
              <a:rPr dirty="0" err="1"/>
              <a:t>pré-tragiennes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40282-78DC-4F4B-8C09-205AE1510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A0F78-C5AB-6D31-C3D4-13C8DD1F8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QCM - </a:t>
            </a:r>
            <a:r>
              <a:rPr dirty="0" err="1"/>
              <a:t>Adénopathies</a:t>
            </a:r>
            <a:r>
              <a:rPr lang="en-GB" dirty="0"/>
              <a:t> QCM </a:t>
            </a:r>
            <a:r>
              <a:rPr lang="en-GB" dirty="0" err="1"/>
              <a:t>Adénopathies</a:t>
            </a:r>
            <a:r>
              <a:rPr lang="en-GB" dirty="0"/>
              <a:t> </a:t>
            </a:r>
            <a:r>
              <a:rPr lang="en-GB" dirty="0" err="1"/>
              <a:t>Résidanat</a:t>
            </a:r>
            <a:r>
              <a:rPr lang="en-GB" dirty="0"/>
              <a:t> 2025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D615E-CF0C-E488-2EC5-31D4A2B80412}"/>
              </a:ext>
            </a:extLst>
          </p:cNvPr>
          <p:cNvSpPr txBox="1"/>
          <p:nvPr/>
        </p:nvSpPr>
        <p:spPr>
          <a:xfrm>
            <a:off x="727364" y="1960418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1-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</a:t>
            </a:r>
            <a:r>
              <a:rPr dirty="0" err="1"/>
              <a:t>aires</a:t>
            </a:r>
            <a:r>
              <a:rPr dirty="0"/>
              <a:t> de palpation des </a:t>
            </a:r>
            <a:r>
              <a:rPr dirty="0" err="1"/>
              <a:t>adénopathies</a:t>
            </a:r>
            <a:r>
              <a:rPr dirty="0"/>
              <a:t> 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A-</a:t>
            </a:r>
            <a:r>
              <a:rPr dirty="0">
                <a:solidFill>
                  <a:srgbClr val="FF0000"/>
                </a:solidFill>
              </a:rPr>
              <a:t>Aires </a:t>
            </a:r>
            <a:r>
              <a:rPr dirty="0" err="1">
                <a:solidFill>
                  <a:srgbClr val="FF0000"/>
                </a:solidFill>
              </a:rPr>
              <a:t>épitrochléennes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Aires </a:t>
            </a:r>
            <a:r>
              <a:rPr dirty="0" err="1"/>
              <a:t>trochantériennes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Aires </a:t>
            </a:r>
            <a:r>
              <a:rPr dirty="0" err="1"/>
              <a:t>palmaires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Aires </a:t>
            </a:r>
            <a:r>
              <a:rPr dirty="0" err="1">
                <a:solidFill>
                  <a:srgbClr val="FF0000"/>
                </a:solidFill>
              </a:rPr>
              <a:t>axillaires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Aires </a:t>
            </a:r>
            <a:r>
              <a:rPr dirty="0" err="1">
                <a:solidFill>
                  <a:srgbClr val="FF0000"/>
                </a:solidFill>
              </a:rPr>
              <a:t>pré-tragiennes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13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2- </a:t>
            </a:r>
            <a:r>
              <a:rPr dirty="0"/>
              <a:t>Un ganglion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considéré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pathologique</a:t>
            </a:r>
            <a:r>
              <a:rPr dirty="0"/>
              <a:t> à </a:t>
            </a:r>
            <a:r>
              <a:rPr dirty="0" err="1"/>
              <a:t>partir</a:t>
            </a:r>
            <a:r>
              <a:rPr dirty="0"/>
              <a:t> de</a:t>
            </a:r>
            <a:r>
              <a:rPr lang="fr-FR" dirty="0"/>
              <a:t>:</a:t>
            </a:r>
          </a:p>
          <a:p>
            <a:pPr>
              <a:defRPr sz="1800"/>
            </a:pPr>
            <a:br>
              <a:rPr dirty="0"/>
            </a:br>
            <a:r>
              <a:rPr lang="fr-FR" dirty="0"/>
              <a:t>A-</a:t>
            </a:r>
            <a:r>
              <a:rPr dirty="0"/>
              <a:t>1cm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B</a:t>
            </a:r>
            <a:r>
              <a:rPr lang="fr-FR" dirty="0"/>
              <a:t>- </a:t>
            </a:r>
            <a:r>
              <a:rPr dirty="0"/>
              <a:t>2cm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C</a:t>
            </a:r>
            <a:r>
              <a:rPr lang="fr-FR" dirty="0"/>
              <a:t>- </a:t>
            </a:r>
            <a:r>
              <a:rPr dirty="0"/>
              <a:t>3cm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</a:t>
            </a:r>
            <a:r>
              <a:rPr lang="fr-FR" dirty="0"/>
              <a:t>-</a:t>
            </a:r>
            <a:r>
              <a:rPr dirty="0"/>
              <a:t>2, 5cm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E</a:t>
            </a:r>
            <a:r>
              <a:rPr lang="fr-FR" dirty="0"/>
              <a:t>-</a:t>
            </a:r>
            <a:r>
              <a:rPr dirty="0"/>
              <a:t>0, 5cm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DE8CB-569E-ED67-0CC5-E8330B607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2EAF1-C580-15B1-2ECA-47E811809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6A3A6-F680-B719-6060-25DADCE2EEF3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2- </a:t>
            </a:r>
            <a:r>
              <a:rPr dirty="0"/>
              <a:t>Un ganglion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considéré</a:t>
            </a:r>
            <a:r>
              <a:rPr dirty="0"/>
              <a:t> </a:t>
            </a:r>
            <a:r>
              <a:rPr dirty="0" err="1"/>
              <a:t>comme</a:t>
            </a:r>
            <a:r>
              <a:rPr dirty="0"/>
              <a:t> </a:t>
            </a:r>
            <a:r>
              <a:rPr dirty="0" err="1"/>
              <a:t>pathologique</a:t>
            </a:r>
            <a:r>
              <a:rPr dirty="0"/>
              <a:t> à </a:t>
            </a:r>
            <a:r>
              <a:rPr dirty="0" err="1"/>
              <a:t>partir</a:t>
            </a:r>
            <a:r>
              <a:rPr dirty="0"/>
              <a:t> de</a:t>
            </a:r>
            <a:r>
              <a:rPr lang="fr-FR" dirty="0"/>
              <a:t>:</a:t>
            </a:r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</a:t>
            </a:r>
            <a:r>
              <a:rPr dirty="0">
                <a:solidFill>
                  <a:srgbClr val="FF0000"/>
                </a:solidFill>
              </a:rPr>
              <a:t>1cm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dirty="0"/>
              <a:t>B</a:t>
            </a:r>
            <a:r>
              <a:rPr lang="fr-FR" dirty="0"/>
              <a:t>- </a:t>
            </a:r>
            <a:r>
              <a:rPr dirty="0"/>
              <a:t>2cm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C</a:t>
            </a:r>
            <a:r>
              <a:rPr lang="fr-FR" dirty="0"/>
              <a:t>- </a:t>
            </a:r>
            <a:r>
              <a:rPr dirty="0"/>
              <a:t>3cm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</a:t>
            </a:r>
            <a:r>
              <a:rPr lang="fr-FR" dirty="0"/>
              <a:t>-</a:t>
            </a:r>
            <a:r>
              <a:rPr dirty="0"/>
              <a:t>2, 5cm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E</a:t>
            </a:r>
            <a:r>
              <a:rPr lang="fr-FR" dirty="0"/>
              <a:t>-</a:t>
            </a:r>
            <a:r>
              <a:rPr dirty="0"/>
              <a:t>0, 5cm</a:t>
            </a:r>
          </a:p>
        </p:txBody>
      </p:sp>
    </p:spTree>
    <p:extLst>
      <p:ext uri="{BB962C8B-B14F-4D97-AF65-F5344CB8AC3E}">
        <p14:creationId xmlns:p14="http://schemas.microsoft.com/office/powerpoint/2010/main" val="268040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correspond à </a:t>
            </a:r>
            <a:r>
              <a:rPr dirty="0" err="1"/>
              <a:t>une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Augmentation du volume d'un ganglion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Augmentation de la taille d'un ganglion de plus de 1cm </a:t>
            </a:r>
            <a:r>
              <a:rPr dirty="0" err="1"/>
              <a:t>quel</a:t>
            </a:r>
            <a:r>
              <a:rPr dirty="0"/>
              <a:t> que </a:t>
            </a:r>
            <a:r>
              <a:rPr dirty="0" err="1"/>
              <a:t>soit</a:t>
            </a:r>
            <a:r>
              <a:rPr dirty="0"/>
              <a:t> son </a:t>
            </a:r>
            <a:r>
              <a:rPr dirty="0" err="1"/>
              <a:t>si</a:t>
            </a:r>
            <a:r>
              <a:rPr lang="en-GB" dirty="0"/>
              <a:t>e</a:t>
            </a:r>
            <a:r>
              <a:rPr dirty="0" err="1"/>
              <a:t>ge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Hypertrophie</a:t>
            </a:r>
            <a:r>
              <a:rPr dirty="0"/>
              <a:t> sous </a:t>
            </a:r>
            <a:r>
              <a:rPr dirty="0" err="1"/>
              <a:t>cutanée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masse </a:t>
            </a:r>
            <a:r>
              <a:rPr dirty="0" err="1"/>
              <a:t>graisseuse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Excroissance</a:t>
            </a:r>
            <a:r>
              <a:rPr dirty="0"/>
              <a:t> </a:t>
            </a:r>
            <a:r>
              <a:rPr dirty="0" err="1"/>
              <a:t>osseuse</a:t>
            </a:r>
            <a:r>
              <a:rPr dirty="0"/>
              <a:t> palpable sous la </a:t>
            </a:r>
            <a:r>
              <a:rPr dirty="0" err="1"/>
              <a:t>peau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Hypertrophie</a:t>
            </a:r>
            <a:r>
              <a:rPr dirty="0"/>
              <a:t> du lobe droit de la </a:t>
            </a:r>
            <a:r>
              <a:rPr dirty="0" err="1"/>
              <a:t>glande</a:t>
            </a:r>
            <a:r>
              <a:rPr dirty="0"/>
              <a:t> </a:t>
            </a:r>
            <a:r>
              <a:rPr dirty="0" err="1"/>
              <a:t>thyroïde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F63D1-92EF-FF3F-D8BF-926D1EA8F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FB975-EBFC-23B9-8444-071A390FF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5AEF67-FDA1-5F4F-99FF-AD4C4ADE38F9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correspond à </a:t>
            </a:r>
            <a:r>
              <a:rPr dirty="0" err="1"/>
              <a:t>une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>
                <a:solidFill>
                  <a:srgbClr val="FF0000"/>
                </a:solidFill>
              </a:rPr>
              <a:t>Augmentation du volume d'un ganglion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Augmentation de la taille d'un ganglion de plus de 1cm </a:t>
            </a:r>
            <a:r>
              <a:rPr dirty="0" err="1"/>
              <a:t>quel</a:t>
            </a:r>
            <a:r>
              <a:rPr dirty="0"/>
              <a:t> que </a:t>
            </a:r>
            <a:r>
              <a:rPr dirty="0" err="1"/>
              <a:t>soit</a:t>
            </a:r>
            <a:r>
              <a:rPr dirty="0"/>
              <a:t> son </a:t>
            </a:r>
            <a:r>
              <a:rPr dirty="0" err="1"/>
              <a:t>si</a:t>
            </a:r>
            <a:r>
              <a:rPr lang="en-GB" dirty="0"/>
              <a:t>e</a:t>
            </a:r>
            <a:r>
              <a:rPr dirty="0" err="1"/>
              <a:t>ge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Hypertrophie</a:t>
            </a:r>
            <a:r>
              <a:rPr dirty="0"/>
              <a:t> sous </a:t>
            </a:r>
            <a:r>
              <a:rPr dirty="0" err="1"/>
              <a:t>cutanée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masse </a:t>
            </a:r>
            <a:r>
              <a:rPr dirty="0" err="1"/>
              <a:t>graisseuse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Excroissance</a:t>
            </a:r>
            <a:r>
              <a:rPr dirty="0"/>
              <a:t> </a:t>
            </a:r>
            <a:r>
              <a:rPr dirty="0" err="1"/>
              <a:t>osseuse</a:t>
            </a:r>
            <a:r>
              <a:rPr dirty="0"/>
              <a:t> palpable sous la </a:t>
            </a:r>
            <a:r>
              <a:rPr dirty="0" err="1"/>
              <a:t>peau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Hypertrophie</a:t>
            </a:r>
            <a:r>
              <a:rPr dirty="0"/>
              <a:t> du lobe droit de la </a:t>
            </a:r>
            <a:r>
              <a:rPr dirty="0" err="1"/>
              <a:t>glande</a:t>
            </a:r>
            <a:r>
              <a:rPr dirty="0"/>
              <a:t> </a:t>
            </a:r>
            <a:r>
              <a:rPr dirty="0" err="1"/>
              <a:t>thyroïde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5121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4346" y="1690254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4- </a:t>
            </a:r>
            <a:r>
              <a:rPr dirty="0"/>
              <a:t>A </a:t>
            </a:r>
            <a:r>
              <a:rPr dirty="0" err="1"/>
              <a:t>propos</a:t>
            </a:r>
            <a:r>
              <a:rPr dirty="0"/>
              <a:t> du diagnostic </a:t>
            </a:r>
            <a:r>
              <a:rPr dirty="0" err="1"/>
              <a:t>positif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superficielle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</a:t>
            </a:r>
            <a:r>
              <a:rPr dirty="0"/>
              <a:t>Est </a:t>
            </a:r>
            <a:r>
              <a:rPr dirty="0" err="1"/>
              <a:t>souvent</a:t>
            </a:r>
            <a:r>
              <a:rPr dirty="0"/>
              <a:t> </a:t>
            </a:r>
            <a:r>
              <a:rPr lang="en-GB" dirty="0"/>
              <a:t>C</a:t>
            </a:r>
            <a:r>
              <a:rPr dirty="0" err="1"/>
              <a:t>linique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Nécessite</a:t>
            </a:r>
            <a:r>
              <a:rPr dirty="0"/>
              <a:t> </a:t>
            </a:r>
            <a:r>
              <a:rPr dirty="0" err="1"/>
              <a:t>parfois</a:t>
            </a:r>
            <a:r>
              <a:rPr dirty="0"/>
              <a:t> un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radiologique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Nécessite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radiographie</a:t>
            </a:r>
            <a:r>
              <a:rPr dirty="0"/>
              <a:t> </a:t>
            </a:r>
            <a:r>
              <a:rPr dirty="0" err="1"/>
              <a:t>thoracique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Nécessite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échographie</a:t>
            </a:r>
            <a:r>
              <a:rPr dirty="0"/>
              <a:t> </a:t>
            </a:r>
            <a:r>
              <a:rPr dirty="0" err="1"/>
              <a:t>abdominale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Nécessite</a:t>
            </a:r>
            <a:r>
              <a:rPr dirty="0"/>
              <a:t> la pratique d'un PET scanner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3148B-288F-DEA4-BD48-6FCD43E5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EDA58-38D5-2B68-45CD-14D7CDBB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D4F5E-BC52-2350-677A-8DBDADE12FBE}"/>
              </a:ext>
            </a:extLst>
          </p:cNvPr>
          <p:cNvSpPr txBox="1"/>
          <p:nvPr/>
        </p:nvSpPr>
        <p:spPr>
          <a:xfrm>
            <a:off x="824346" y="1690254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4- </a:t>
            </a:r>
            <a:r>
              <a:rPr dirty="0"/>
              <a:t>A </a:t>
            </a:r>
            <a:r>
              <a:rPr dirty="0" err="1"/>
              <a:t>propos</a:t>
            </a:r>
            <a:r>
              <a:rPr dirty="0"/>
              <a:t> du diagnostic </a:t>
            </a:r>
            <a:r>
              <a:rPr dirty="0" err="1"/>
              <a:t>positif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superficielle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</a:t>
            </a:r>
            <a:r>
              <a:rPr dirty="0">
                <a:solidFill>
                  <a:srgbClr val="FF0000"/>
                </a:solidFill>
              </a:rPr>
              <a:t>Est </a:t>
            </a:r>
            <a:r>
              <a:rPr dirty="0" err="1">
                <a:solidFill>
                  <a:srgbClr val="FF0000"/>
                </a:solidFill>
              </a:rPr>
              <a:t>souvent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C</a:t>
            </a:r>
            <a:r>
              <a:rPr dirty="0" err="1">
                <a:solidFill>
                  <a:srgbClr val="FF0000"/>
                </a:solidFill>
              </a:rPr>
              <a:t>linique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Nécessite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parfois</a:t>
            </a:r>
            <a:r>
              <a:rPr dirty="0">
                <a:solidFill>
                  <a:srgbClr val="FF0000"/>
                </a:solidFill>
              </a:rPr>
              <a:t> un </a:t>
            </a:r>
            <a:r>
              <a:rPr dirty="0" err="1">
                <a:solidFill>
                  <a:srgbClr val="FF0000"/>
                </a:solidFill>
              </a:rPr>
              <a:t>bilan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radiologique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Nécessite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radiographie</a:t>
            </a:r>
            <a:r>
              <a:rPr dirty="0"/>
              <a:t> </a:t>
            </a:r>
            <a:r>
              <a:rPr dirty="0" err="1"/>
              <a:t>thoracique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Nécessite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échographie</a:t>
            </a:r>
            <a:r>
              <a:rPr dirty="0"/>
              <a:t> </a:t>
            </a:r>
            <a:r>
              <a:rPr dirty="0" err="1"/>
              <a:t>abdominale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Nécessite</a:t>
            </a:r>
            <a:r>
              <a:rPr dirty="0"/>
              <a:t> la pratique d'un PET scanner</a:t>
            </a:r>
          </a:p>
        </p:txBody>
      </p:sp>
    </p:spTree>
    <p:extLst>
      <p:ext uri="{BB962C8B-B14F-4D97-AF65-F5344CB8AC3E}">
        <p14:creationId xmlns:p14="http://schemas.microsoft.com/office/powerpoint/2010/main" val="328548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5- </a:t>
            </a:r>
            <a:r>
              <a:rPr dirty="0"/>
              <a:t>A </a:t>
            </a:r>
            <a:r>
              <a:rPr dirty="0" err="1"/>
              <a:t>propos</a:t>
            </a:r>
            <a:r>
              <a:rPr dirty="0"/>
              <a:t> de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 des </a:t>
            </a:r>
            <a:r>
              <a:rPr dirty="0" err="1"/>
              <a:t>aires</a:t>
            </a:r>
            <a:r>
              <a:rPr dirty="0"/>
              <a:t> </a:t>
            </a:r>
            <a:r>
              <a:rPr dirty="0" err="1"/>
              <a:t>ganglionnaires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Il </a:t>
            </a:r>
            <a:r>
              <a:rPr dirty="0" err="1"/>
              <a:t>est</a:t>
            </a:r>
            <a:r>
              <a:rPr dirty="0"/>
              <a:t> Indispensable </a:t>
            </a:r>
            <a:r>
              <a:rPr dirty="0" err="1"/>
              <a:t>d'examiner</a:t>
            </a:r>
            <a:r>
              <a:rPr dirty="0"/>
              <a:t> </a:t>
            </a:r>
            <a:r>
              <a:rPr dirty="0" err="1"/>
              <a:t>toutes</a:t>
            </a:r>
            <a:r>
              <a:rPr dirty="0"/>
              <a:t> les </a:t>
            </a:r>
            <a:r>
              <a:rPr dirty="0" err="1"/>
              <a:t>aires</a:t>
            </a:r>
            <a:r>
              <a:rPr dirty="0"/>
              <a:t> </a:t>
            </a:r>
            <a:r>
              <a:rPr dirty="0" err="1"/>
              <a:t>ganglionnaires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En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d'ADP</a:t>
            </a:r>
            <a:r>
              <a:rPr dirty="0"/>
              <a:t> </a:t>
            </a:r>
            <a:r>
              <a:rPr dirty="0" err="1"/>
              <a:t>superficielles</a:t>
            </a:r>
            <a:r>
              <a:rPr dirty="0"/>
              <a:t> la recherche </a:t>
            </a:r>
            <a:r>
              <a:rPr dirty="0" err="1"/>
              <a:t>d'hépatosplénomégalie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indispensable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L'examen</a:t>
            </a:r>
            <a:r>
              <a:rPr dirty="0"/>
              <a:t> des gg </a:t>
            </a:r>
            <a:r>
              <a:rPr dirty="0" err="1"/>
              <a:t>inguinaux</a:t>
            </a:r>
            <a:r>
              <a:rPr dirty="0"/>
              <a:t> se fait chez un patient </a:t>
            </a:r>
            <a:r>
              <a:rPr dirty="0" err="1"/>
              <a:t>débout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En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d'ADP</a:t>
            </a:r>
            <a:r>
              <a:rPr dirty="0"/>
              <a:t> il faut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complété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La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d'ADP</a:t>
            </a:r>
            <a:r>
              <a:rPr dirty="0"/>
              <a:t> </a:t>
            </a:r>
            <a:r>
              <a:rPr dirty="0" err="1"/>
              <a:t>axillaires</a:t>
            </a:r>
            <a:r>
              <a:rPr dirty="0"/>
              <a:t> </a:t>
            </a:r>
            <a:r>
              <a:rPr dirty="0" err="1"/>
              <a:t>nécessite</a:t>
            </a:r>
            <a:r>
              <a:rPr dirty="0"/>
              <a:t> un examen ORL </a:t>
            </a:r>
            <a:r>
              <a:rPr dirty="0" err="1"/>
              <a:t>complet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2A244-B6C9-AE2C-3AE1-477F541C3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441CF-EB0B-1C46-23A0-80AAF725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AECEC2-0FE2-E918-F0CD-175D1AB6C9F0}"/>
              </a:ext>
            </a:extLst>
          </p:cNvPr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5- </a:t>
            </a:r>
            <a:r>
              <a:rPr dirty="0"/>
              <a:t>A </a:t>
            </a:r>
            <a:r>
              <a:rPr dirty="0" err="1"/>
              <a:t>propos</a:t>
            </a:r>
            <a:r>
              <a:rPr dirty="0"/>
              <a:t> de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 des </a:t>
            </a:r>
            <a:r>
              <a:rPr dirty="0" err="1"/>
              <a:t>aires</a:t>
            </a:r>
            <a:r>
              <a:rPr dirty="0"/>
              <a:t> </a:t>
            </a:r>
            <a:r>
              <a:rPr dirty="0" err="1"/>
              <a:t>ganglionnaires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>
                <a:solidFill>
                  <a:srgbClr val="FF0000"/>
                </a:solidFill>
              </a:rPr>
              <a:t>Il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Indispensable </a:t>
            </a:r>
            <a:r>
              <a:rPr dirty="0" err="1">
                <a:solidFill>
                  <a:srgbClr val="FF0000"/>
                </a:solidFill>
              </a:rPr>
              <a:t>d'examiner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toutes</a:t>
            </a:r>
            <a:r>
              <a:rPr dirty="0">
                <a:solidFill>
                  <a:srgbClr val="FF0000"/>
                </a:solidFill>
              </a:rPr>
              <a:t> les </a:t>
            </a:r>
            <a:r>
              <a:rPr dirty="0" err="1">
                <a:solidFill>
                  <a:srgbClr val="FF0000"/>
                </a:solidFill>
              </a:rPr>
              <a:t>aires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En </a:t>
            </a:r>
            <a:r>
              <a:rPr dirty="0" err="1">
                <a:solidFill>
                  <a:srgbClr val="FF0000"/>
                </a:solidFill>
              </a:rPr>
              <a:t>présence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d'ADP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superficielles</a:t>
            </a:r>
            <a:r>
              <a:rPr dirty="0">
                <a:solidFill>
                  <a:srgbClr val="FF0000"/>
                </a:solidFill>
              </a:rPr>
              <a:t> la recherche </a:t>
            </a:r>
            <a:r>
              <a:rPr dirty="0" err="1">
                <a:solidFill>
                  <a:srgbClr val="FF0000"/>
                </a:solidFill>
              </a:rPr>
              <a:t>d'hépatosplénomégalie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indispensable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L'examen</a:t>
            </a:r>
            <a:r>
              <a:rPr dirty="0"/>
              <a:t> des gg </a:t>
            </a:r>
            <a:r>
              <a:rPr dirty="0" err="1"/>
              <a:t>inguinaux</a:t>
            </a:r>
            <a:r>
              <a:rPr dirty="0"/>
              <a:t> se fait chez un patient </a:t>
            </a:r>
            <a:r>
              <a:rPr dirty="0" err="1"/>
              <a:t>débout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En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d'ADP</a:t>
            </a:r>
            <a:r>
              <a:rPr dirty="0"/>
              <a:t> il faut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complété</a:t>
            </a:r>
            <a:r>
              <a:rPr dirty="0"/>
              <a:t> par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La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d'ADP</a:t>
            </a:r>
            <a:r>
              <a:rPr dirty="0"/>
              <a:t> </a:t>
            </a:r>
            <a:r>
              <a:rPr dirty="0" err="1"/>
              <a:t>axillaires</a:t>
            </a:r>
            <a:r>
              <a:rPr dirty="0"/>
              <a:t> </a:t>
            </a:r>
            <a:r>
              <a:rPr dirty="0" err="1"/>
              <a:t>nécessite</a:t>
            </a:r>
            <a:r>
              <a:rPr dirty="0"/>
              <a:t> un examen ORL </a:t>
            </a:r>
            <a:r>
              <a:rPr dirty="0" err="1"/>
              <a:t>complet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946255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6- </a:t>
            </a:r>
            <a:r>
              <a:rPr dirty="0"/>
              <a:t>Parmi les </a:t>
            </a:r>
            <a:r>
              <a:rPr dirty="0" err="1"/>
              <a:t>caractéristiques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 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celles</a:t>
            </a:r>
            <a:r>
              <a:rPr dirty="0"/>
              <a:t> </a:t>
            </a:r>
            <a:r>
              <a:rPr dirty="0" err="1"/>
              <a:t>nécessaires</a:t>
            </a:r>
            <a:r>
              <a:rPr dirty="0"/>
              <a:t> à </a:t>
            </a:r>
            <a:r>
              <a:rPr dirty="0" err="1"/>
              <a:t>l'orientation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La taille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</a:t>
            </a:r>
            <a:r>
              <a:rPr dirty="0"/>
              <a:t>La consist</a:t>
            </a:r>
            <a:r>
              <a:rPr lang="en-GB" dirty="0"/>
              <a:t>e</a:t>
            </a:r>
            <a:r>
              <a:rPr dirty="0" err="1"/>
              <a:t>nce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L'adhérence</a:t>
            </a:r>
            <a:r>
              <a:rPr dirty="0"/>
              <a:t> aux plans </a:t>
            </a:r>
            <a:r>
              <a:rPr dirty="0" err="1"/>
              <a:t>profonds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La </a:t>
            </a:r>
            <a:r>
              <a:rPr dirty="0" err="1"/>
              <a:t>présence</a:t>
            </a:r>
            <a:r>
              <a:rPr dirty="0"/>
              <a:t> des </a:t>
            </a:r>
            <a:r>
              <a:rPr dirty="0" err="1"/>
              <a:t>signes</a:t>
            </a:r>
            <a:r>
              <a:rPr dirty="0"/>
              <a:t> </a:t>
            </a:r>
            <a:r>
              <a:rPr dirty="0" err="1"/>
              <a:t>inflammatoires</a:t>
            </a:r>
            <a:r>
              <a:rPr dirty="0"/>
              <a:t> </a:t>
            </a:r>
            <a:r>
              <a:rPr dirty="0" err="1"/>
              <a:t>locaux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La </a:t>
            </a:r>
            <a:r>
              <a:rPr dirty="0" err="1"/>
              <a:t>sensibilité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31D3-5E41-85DC-8D7F-B9C795C2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A80C-9C70-8AB8-8AA7-2E2FB21FB8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E268C-D883-7ACE-9781-B231C7AC33AD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6- </a:t>
            </a:r>
            <a:r>
              <a:rPr dirty="0"/>
              <a:t>Parmi les </a:t>
            </a:r>
            <a:r>
              <a:rPr dirty="0" err="1"/>
              <a:t>caractéristiques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 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celles</a:t>
            </a:r>
            <a:r>
              <a:rPr dirty="0"/>
              <a:t> </a:t>
            </a:r>
            <a:r>
              <a:rPr dirty="0" err="1"/>
              <a:t>nécessaires</a:t>
            </a:r>
            <a:r>
              <a:rPr dirty="0"/>
              <a:t> à </a:t>
            </a:r>
            <a:r>
              <a:rPr dirty="0" err="1"/>
              <a:t>l'orientation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La taille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</a:t>
            </a:r>
            <a:r>
              <a:rPr dirty="0">
                <a:solidFill>
                  <a:srgbClr val="FF0000"/>
                </a:solidFill>
              </a:rPr>
              <a:t>La consist</a:t>
            </a:r>
            <a:r>
              <a:rPr lang="en-GB" dirty="0">
                <a:solidFill>
                  <a:srgbClr val="FF0000"/>
                </a:solidFill>
              </a:rPr>
              <a:t>e</a:t>
            </a:r>
            <a:r>
              <a:rPr dirty="0" err="1">
                <a:solidFill>
                  <a:srgbClr val="FF0000"/>
                </a:solidFill>
              </a:rPr>
              <a:t>nce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 err="1">
                <a:solidFill>
                  <a:srgbClr val="FF0000"/>
                </a:solidFill>
              </a:rPr>
              <a:t>L'adhérence</a:t>
            </a:r>
            <a:r>
              <a:rPr dirty="0">
                <a:solidFill>
                  <a:srgbClr val="FF0000"/>
                </a:solidFill>
              </a:rPr>
              <a:t> aux plans </a:t>
            </a:r>
            <a:r>
              <a:rPr dirty="0" err="1">
                <a:solidFill>
                  <a:srgbClr val="FF0000"/>
                </a:solidFill>
              </a:rPr>
              <a:t>profonds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présence</a:t>
            </a:r>
            <a:r>
              <a:rPr dirty="0">
                <a:solidFill>
                  <a:srgbClr val="FF0000"/>
                </a:solidFill>
              </a:rPr>
              <a:t> des </a:t>
            </a:r>
            <a:r>
              <a:rPr dirty="0" err="1">
                <a:solidFill>
                  <a:srgbClr val="FF0000"/>
                </a:solidFill>
              </a:rPr>
              <a:t>signes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inflammatoires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locaux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sensibilité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66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7- </a:t>
            </a:r>
            <a:r>
              <a:rPr dirty="0"/>
              <a:t>Parmi les diagnostics </a:t>
            </a:r>
            <a:r>
              <a:rPr dirty="0" err="1"/>
              <a:t>différentiels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inguinale :</a:t>
            </a:r>
            <a:endParaRPr lang="fr-FR" dirty="0"/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hernie</a:t>
            </a:r>
            <a:r>
              <a:rPr dirty="0"/>
              <a:t> inguinale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 err="1"/>
              <a:t>Hydrosadénite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Un </a:t>
            </a:r>
            <a:r>
              <a:rPr dirty="0" err="1"/>
              <a:t>testicule</a:t>
            </a:r>
            <a:r>
              <a:rPr dirty="0"/>
              <a:t> </a:t>
            </a:r>
            <a:r>
              <a:rPr dirty="0" err="1"/>
              <a:t>ectopique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Un </a:t>
            </a:r>
            <a:r>
              <a:rPr dirty="0" err="1"/>
              <a:t>anévrysme</a:t>
            </a:r>
            <a:r>
              <a:rPr dirty="0"/>
              <a:t> </a:t>
            </a:r>
            <a:r>
              <a:rPr dirty="0" err="1"/>
              <a:t>vasculaire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Digitations </a:t>
            </a:r>
            <a:r>
              <a:rPr dirty="0" err="1"/>
              <a:t>musculaires</a:t>
            </a:r>
            <a:r>
              <a:rPr dirty="0"/>
              <a:t> du grand </a:t>
            </a:r>
            <a:r>
              <a:rPr dirty="0" err="1"/>
              <a:t>dentelé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5E53E-DAD0-ABF1-1CB3-9B42910C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75844-23D7-E6B7-F427-61F2BF05E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F5D92-3E7C-06EE-EAC4-3D703C082C94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7- </a:t>
            </a:r>
            <a:r>
              <a:rPr dirty="0"/>
              <a:t>Parmi les diagnostics </a:t>
            </a:r>
            <a:r>
              <a:rPr dirty="0" err="1"/>
              <a:t>différentiels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inguinale :</a:t>
            </a:r>
            <a:endParaRPr lang="fr-FR" dirty="0"/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hernie</a:t>
            </a:r>
            <a:r>
              <a:rPr dirty="0">
                <a:solidFill>
                  <a:srgbClr val="FF0000"/>
                </a:solidFill>
              </a:rPr>
              <a:t> inguina</a:t>
            </a:r>
            <a:r>
              <a:rPr dirty="0"/>
              <a:t>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 err="1"/>
              <a:t>Hydrosadénite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testicule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ectopique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anévrysme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vasculaire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Digitations </a:t>
            </a:r>
            <a:r>
              <a:rPr dirty="0" err="1"/>
              <a:t>musculaires</a:t>
            </a:r>
            <a:r>
              <a:rPr dirty="0"/>
              <a:t> du grand </a:t>
            </a:r>
            <a:r>
              <a:rPr dirty="0" err="1"/>
              <a:t>dentelé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55756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30928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8- </a:t>
            </a:r>
            <a:r>
              <a:rPr dirty="0"/>
              <a:t>Parmi les diagnostics </a:t>
            </a:r>
            <a:r>
              <a:rPr dirty="0" err="1"/>
              <a:t>différentiels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axillaire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 </a:t>
            </a:r>
            <a:r>
              <a:rPr dirty="0" err="1"/>
              <a:t>lipom</a:t>
            </a:r>
            <a:r>
              <a:rPr lang="en-GB" dirty="0"/>
              <a:t>a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Une </a:t>
            </a:r>
            <a:r>
              <a:rPr dirty="0" err="1"/>
              <a:t>tuméfaction</a:t>
            </a:r>
            <a:r>
              <a:rPr dirty="0"/>
              <a:t> </a:t>
            </a:r>
            <a:r>
              <a:rPr dirty="0" err="1"/>
              <a:t>costale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 </a:t>
            </a:r>
            <a:r>
              <a:rPr dirty="0" err="1"/>
              <a:t>kyste</a:t>
            </a:r>
            <a:r>
              <a:rPr dirty="0"/>
              <a:t> du cordon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 </a:t>
            </a:r>
            <a:r>
              <a:rPr dirty="0" err="1"/>
              <a:t>neurinom</a:t>
            </a:r>
            <a:r>
              <a:rPr lang="en-GB" dirty="0"/>
              <a:t>a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grande</a:t>
            </a:r>
            <a:r>
              <a:rPr dirty="0"/>
              <a:t> </a:t>
            </a:r>
            <a:r>
              <a:rPr dirty="0" err="1"/>
              <a:t>corne</a:t>
            </a:r>
            <a:r>
              <a:rPr dirty="0"/>
              <a:t> de </a:t>
            </a:r>
            <a:r>
              <a:rPr dirty="0" err="1"/>
              <a:t>l'os</a:t>
            </a:r>
            <a:r>
              <a:rPr dirty="0"/>
              <a:t> </a:t>
            </a:r>
            <a:r>
              <a:rPr dirty="0" err="1"/>
              <a:t>hyoïde</a:t>
            </a:r>
            <a:endParaRPr lang="fr-FR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E9C50-0A36-C84C-C59B-73B3ACF47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B7DA-B994-1BDE-CDB3-912B8D187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3F91C2-9F60-6146-D791-C725D44C9F07}"/>
              </a:ext>
            </a:extLst>
          </p:cNvPr>
          <p:cNvSpPr txBox="1"/>
          <p:nvPr/>
        </p:nvSpPr>
        <p:spPr>
          <a:xfrm>
            <a:off x="914400" y="1530928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8- </a:t>
            </a:r>
            <a:r>
              <a:rPr dirty="0"/>
              <a:t>Parmi les diagnostics </a:t>
            </a:r>
            <a:r>
              <a:rPr dirty="0" err="1"/>
              <a:t>différentiels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axillaire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lipom</a:t>
            </a:r>
            <a:r>
              <a:rPr lang="en-GB" dirty="0">
                <a:solidFill>
                  <a:srgbClr val="FF0000"/>
                </a:solidFill>
              </a:rPr>
              <a:t>a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tuméfaction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costale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/>
              <a:t>C- </a:t>
            </a:r>
            <a:r>
              <a:rPr dirty="0"/>
              <a:t>Un </a:t>
            </a:r>
            <a:r>
              <a:rPr dirty="0" err="1"/>
              <a:t>kyste</a:t>
            </a:r>
            <a:r>
              <a:rPr dirty="0"/>
              <a:t> du cordon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neurinom</a:t>
            </a:r>
            <a:r>
              <a:rPr lang="en-GB" dirty="0">
                <a:solidFill>
                  <a:srgbClr val="FF0000"/>
                </a:solidFill>
              </a:rPr>
              <a:t>a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grande</a:t>
            </a:r>
            <a:r>
              <a:rPr dirty="0"/>
              <a:t> </a:t>
            </a:r>
            <a:r>
              <a:rPr dirty="0" err="1"/>
              <a:t>corne</a:t>
            </a:r>
            <a:r>
              <a:rPr dirty="0"/>
              <a:t> de </a:t>
            </a:r>
            <a:r>
              <a:rPr dirty="0" err="1"/>
              <a:t>l'os</a:t>
            </a:r>
            <a:r>
              <a:rPr dirty="0"/>
              <a:t> </a:t>
            </a:r>
            <a:r>
              <a:rPr dirty="0" err="1"/>
              <a:t>hyoïde</a:t>
            </a:r>
            <a:endParaRPr lang="fr-FR" dirty="0"/>
          </a:p>
          <a:p>
            <a:pPr>
              <a:defRPr sz="18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4980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2284B-80D2-BEBD-9A2C-D36F85E9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DE835-B19B-6FBE-1029-D7419BB43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1BBC6-D706-7B92-AD0C-856A6B012591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9- </a:t>
            </a:r>
            <a:r>
              <a:rPr dirty="0"/>
              <a:t>Parmi les diagnostics </a:t>
            </a:r>
            <a:r>
              <a:rPr dirty="0" err="1"/>
              <a:t>différentiels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cervicale 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tumeur</a:t>
            </a:r>
            <a:r>
              <a:rPr dirty="0"/>
              <a:t> </a:t>
            </a:r>
            <a:r>
              <a:rPr dirty="0" err="1"/>
              <a:t>parotidienne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/>
              <a:t>Une </a:t>
            </a:r>
            <a:r>
              <a:rPr dirty="0" err="1"/>
              <a:t>tuméfaction</a:t>
            </a:r>
            <a:r>
              <a:rPr dirty="0"/>
              <a:t> </a:t>
            </a:r>
            <a:r>
              <a:rPr dirty="0" err="1"/>
              <a:t>costale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Un </a:t>
            </a:r>
            <a:r>
              <a:rPr dirty="0" err="1"/>
              <a:t>kyste</a:t>
            </a:r>
            <a:r>
              <a:rPr dirty="0"/>
              <a:t> du tractus </a:t>
            </a:r>
            <a:r>
              <a:rPr dirty="0" err="1"/>
              <a:t>thyréoglosse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Un </a:t>
            </a:r>
            <a:r>
              <a:rPr dirty="0" err="1"/>
              <a:t>kyste</a:t>
            </a:r>
            <a:r>
              <a:rPr dirty="0"/>
              <a:t> du cordon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grande</a:t>
            </a:r>
            <a:r>
              <a:rPr dirty="0"/>
              <a:t> </a:t>
            </a:r>
            <a:r>
              <a:rPr dirty="0" err="1"/>
              <a:t>corne</a:t>
            </a:r>
            <a:r>
              <a:rPr dirty="0"/>
              <a:t> de </a:t>
            </a:r>
            <a:r>
              <a:rPr dirty="0" err="1"/>
              <a:t>l'os</a:t>
            </a:r>
            <a:r>
              <a:rPr dirty="0"/>
              <a:t> </a:t>
            </a:r>
            <a:r>
              <a:rPr dirty="0" err="1"/>
              <a:t>hyoïde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202356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9- </a:t>
            </a:r>
            <a:r>
              <a:rPr dirty="0"/>
              <a:t>Parmi les diagnostics </a:t>
            </a:r>
            <a:r>
              <a:rPr dirty="0" err="1"/>
              <a:t>différentiels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cervicale 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tumeur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parotidienne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/>
              <a:t>Une </a:t>
            </a:r>
            <a:r>
              <a:rPr dirty="0" err="1"/>
              <a:t>tuméfaction</a:t>
            </a:r>
            <a:r>
              <a:rPr dirty="0"/>
              <a:t> </a:t>
            </a:r>
            <a:r>
              <a:rPr dirty="0" err="1"/>
              <a:t>costale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kyste</a:t>
            </a:r>
            <a:r>
              <a:rPr dirty="0">
                <a:solidFill>
                  <a:srgbClr val="FF0000"/>
                </a:solidFill>
              </a:rPr>
              <a:t> du tractus </a:t>
            </a:r>
            <a:r>
              <a:rPr dirty="0" err="1">
                <a:solidFill>
                  <a:srgbClr val="FF0000"/>
                </a:solidFill>
              </a:rPr>
              <a:t>thyréoglosse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Un </a:t>
            </a:r>
            <a:r>
              <a:rPr dirty="0" err="1"/>
              <a:t>kyste</a:t>
            </a:r>
            <a:r>
              <a:rPr dirty="0"/>
              <a:t> du cordon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grande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corne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l'os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hyoïde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10- </a:t>
            </a:r>
            <a:r>
              <a:rPr dirty="0"/>
              <a:t>En </a:t>
            </a:r>
            <a:r>
              <a:rPr dirty="0" err="1"/>
              <a:t>faveur</a:t>
            </a:r>
            <a:r>
              <a:rPr dirty="0"/>
              <a:t> du </a:t>
            </a:r>
            <a:r>
              <a:rPr dirty="0" err="1"/>
              <a:t>caractère</a:t>
            </a:r>
            <a:r>
              <a:rPr dirty="0"/>
              <a:t> </a:t>
            </a:r>
            <a:r>
              <a:rPr dirty="0" err="1"/>
              <a:t>malin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</a:t>
            </a:r>
            <a:r>
              <a:rPr dirty="0"/>
              <a:t>Taille&gt; 4cm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 err="1"/>
              <a:t>Consistance</a:t>
            </a:r>
            <a:r>
              <a:rPr dirty="0"/>
              <a:t> </a:t>
            </a:r>
            <a:r>
              <a:rPr dirty="0" err="1"/>
              <a:t>ferme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 err="1"/>
              <a:t>Signes</a:t>
            </a:r>
            <a:r>
              <a:rPr dirty="0"/>
              <a:t> </a:t>
            </a:r>
            <a:r>
              <a:rPr dirty="0" err="1"/>
              <a:t>inflammatoires</a:t>
            </a:r>
            <a:r>
              <a:rPr dirty="0"/>
              <a:t> </a:t>
            </a:r>
            <a:r>
              <a:rPr dirty="0" err="1"/>
              <a:t>locaux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 err="1"/>
              <a:t>Adhérence</a:t>
            </a:r>
            <a:r>
              <a:rPr dirty="0"/>
              <a:t> au plan </a:t>
            </a:r>
            <a:r>
              <a:rPr dirty="0" err="1"/>
              <a:t>profond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Modifications </a:t>
            </a:r>
            <a:r>
              <a:rPr dirty="0" err="1"/>
              <a:t>rapides</a:t>
            </a:r>
            <a:r>
              <a:rPr dirty="0"/>
              <a:t> du volume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06A03-8810-7CA7-1274-07CC125CF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859E-2E82-840D-6F51-0671E9C0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D93509-C32F-F5C6-921E-D347929731BD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10- </a:t>
            </a:r>
            <a:r>
              <a:rPr dirty="0"/>
              <a:t>En </a:t>
            </a:r>
            <a:r>
              <a:rPr dirty="0" err="1"/>
              <a:t>faveur</a:t>
            </a:r>
            <a:r>
              <a:rPr dirty="0"/>
              <a:t> du </a:t>
            </a:r>
            <a:r>
              <a:rPr dirty="0" err="1"/>
              <a:t>caractère</a:t>
            </a:r>
            <a:r>
              <a:rPr dirty="0"/>
              <a:t> </a:t>
            </a:r>
            <a:r>
              <a:rPr dirty="0" err="1"/>
              <a:t>malin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</a:t>
            </a:r>
            <a:r>
              <a:rPr dirty="0"/>
              <a:t>Taille&gt; 4cm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Consistance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ferme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 err="1"/>
              <a:t>Signes</a:t>
            </a:r>
            <a:r>
              <a:rPr dirty="0"/>
              <a:t> </a:t>
            </a:r>
            <a:r>
              <a:rPr dirty="0" err="1"/>
              <a:t>inflammatoires</a:t>
            </a:r>
            <a:r>
              <a:rPr dirty="0"/>
              <a:t> </a:t>
            </a:r>
            <a:r>
              <a:rPr dirty="0" err="1"/>
              <a:t>locaux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 err="1">
                <a:solidFill>
                  <a:srgbClr val="FF0000"/>
                </a:solidFill>
              </a:rPr>
              <a:t>Adhérence</a:t>
            </a:r>
            <a:r>
              <a:rPr dirty="0">
                <a:solidFill>
                  <a:srgbClr val="FF0000"/>
                </a:solidFill>
              </a:rPr>
              <a:t> au plan </a:t>
            </a:r>
            <a:r>
              <a:rPr dirty="0" err="1">
                <a:solidFill>
                  <a:srgbClr val="FF0000"/>
                </a:solidFill>
              </a:rPr>
              <a:t>profond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Modifications </a:t>
            </a:r>
            <a:r>
              <a:rPr dirty="0" err="1">
                <a:solidFill>
                  <a:srgbClr val="FF0000"/>
                </a:solidFill>
              </a:rPr>
              <a:t>rapides</a:t>
            </a:r>
            <a:r>
              <a:rPr dirty="0">
                <a:solidFill>
                  <a:srgbClr val="FF0000"/>
                </a:solidFill>
              </a:rPr>
              <a:t> du volume</a:t>
            </a:r>
          </a:p>
        </p:txBody>
      </p:sp>
    </p:spTree>
    <p:extLst>
      <p:ext uri="{BB962C8B-B14F-4D97-AF65-F5344CB8AC3E}">
        <p14:creationId xmlns:p14="http://schemas.microsoft.com/office/powerpoint/2010/main" val="21639039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11- </a:t>
            </a:r>
            <a:r>
              <a:rPr dirty="0"/>
              <a:t>En </a:t>
            </a:r>
            <a:r>
              <a:rPr dirty="0" err="1"/>
              <a:t>faveur</a:t>
            </a:r>
            <a:r>
              <a:rPr dirty="0"/>
              <a:t> du </a:t>
            </a:r>
            <a:r>
              <a:rPr dirty="0" err="1"/>
              <a:t>caractère</a:t>
            </a:r>
            <a:r>
              <a:rPr dirty="0"/>
              <a:t> </a:t>
            </a:r>
            <a:r>
              <a:rPr dirty="0" err="1"/>
              <a:t>malin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:</a:t>
            </a:r>
            <a:br>
              <a:rPr dirty="0"/>
            </a:br>
            <a:r>
              <a:rPr lang="fr-FR" dirty="0"/>
              <a:t> </a:t>
            </a:r>
          </a:p>
          <a:p>
            <a:pPr>
              <a:defRPr sz="1800"/>
            </a:pPr>
            <a:r>
              <a:rPr lang="fr-FR" dirty="0"/>
              <a:t>A-</a:t>
            </a:r>
            <a:r>
              <a:rPr dirty="0"/>
              <a:t>Masse </a:t>
            </a:r>
            <a:r>
              <a:rPr dirty="0" err="1"/>
              <a:t>ganglionnaire</a:t>
            </a:r>
            <a:r>
              <a:rPr dirty="0"/>
              <a:t> compressive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</a:t>
            </a:r>
            <a:r>
              <a:rPr dirty="0" err="1"/>
              <a:t>Consistance</a:t>
            </a:r>
            <a:r>
              <a:rPr dirty="0"/>
              <a:t> molle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 err="1"/>
              <a:t>Caractère</a:t>
            </a:r>
            <a:r>
              <a:rPr dirty="0"/>
              <a:t> douloureux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 err="1"/>
              <a:t>Adhérence</a:t>
            </a:r>
            <a:r>
              <a:rPr dirty="0"/>
              <a:t> au plan </a:t>
            </a:r>
            <a:r>
              <a:rPr dirty="0" err="1"/>
              <a:t>profond</a:t>
            </a:r>
            <a:r>
              <a:rPr dirty="0"/>
              <a:t> et </a:t>
            </a:r>
            <a:r>
              <a:rPr dirty="0" err="1"/>
              <a:t>superficiel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 err="1"/>
              <a:t>Limites</a:t>
            </a:r>
            <a:r>
              <a:rPr dirty="0"/>
              <a:t> </a:t>
            </a:r>
            <a:r>
              <a:rPr dirty="0" err="1"/>
              <a:t>floues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957F9-C321-D6E7-5A95-26A3FFE88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60940-3CF6-F919-52B0-FF76D3CFB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619053-A36D-E3CD-A839-04BAA87AC591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11- </a:t>
            </a:r>
            <a:r>
              <a:rPr dirty="0"/>
              <a:t>En </a:t>
            </a:r>
            <a:r>
              <a:rPr dirty="0" err="1"/>
              <a:t>faveur</a:t>
            </a:r>
            <a:r>
              <a:rPr dirty="0"/>
              <a:t> du </a:t>
            </a:r>
            <a:r>
              <a:rPr dirty="0" err="1"/>
              <a:t>caractère</a:t>
            </a:r>
            <a:r>
              <a:rPr dirty="0"/>
              <a:t> </a:t>
            </a:r>
            <a:r>
              <a:rPr dirty="0" err="1"/>
              <a:t>malin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:</a:t>
            </a:r>
            <a:br>
              <a:rPr dirty="0"/>
            </a:br>
            <a:r>
              <a:rPr lang="fr-FR" dirty="0"/>
              <a:t> </a:t>
            </a: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A-</a:t>
            </a:r>
            <a:r>
              <a:rPr dirty="0">
                <a:solidFill>
                  <a:srgbClr val="FF0000"/>
                </a:solidFill>
              </a:rPr>
              <a:t>Masse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r>
              <a:rPr dirty="0">
                <a:solidFill>
                  <a:srgbClr val="FF0000"/>
                </a:solidFill>
              </a:rPr>
              <a:t> compressive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</a:t>
            </a:r>
            <a:r>
              <a:rPr dirty="0" err="1"/>
              <a:t>Consistance</a:t>
            </a:r>
            <a:r>
              <a:rPr dirty="0"/>
              <a:t> molle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 err="1"/>
              <a:t>Caractère</a:t>
            </a:r>
            <a:r>
              <a:rPr dirty="0"/>
              <a:t> douloureux</a:t>
            </a:r>
            <a:br>
              <a:rPr dirty="0"/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 err="1">
                <a:solidFill>
                  <a:srgbClr val="FF0000"/>
                </a:solidFill>
              </a:rPr>
              <a:t>Adhérence</a:t>
            </a:r>
            <a:r>
              <a:rPr dirty="0">
                <a:solidFill>
                  <a:srgbClr val="FF0000"/>
                </a:solidFill>
              </a:rPr>
              <a:t> au plan </a:t>
            </a:r>
            <a:r>
              <a:rPr dirty="0" err="1">
                <a:solidFill>
                  <a:srgbClr val="FF0000"/>
                </a:solidFill>
              </a:rPr>
              <a:t>profond</a:t>
            </a:r>
            <a:r>
              <a:rPr dirty="0">
                <a:solidFill>
                  <a:srgbClr val="FF0000"/>
                </a:solidFill>
              </a:rPr>
              <a:t> et </a:t>
            </a:r>
            <a:r>
              <a:rPr dirty="0" err="1">
                <a:solidFill>
                  <a:srgbClr val="FF0000"/>
                </a:solidFill>
              </a:rPr>
              <a:t>superficiel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 err="1">
                <a:solidFill>
                  <a:srgbClr val="FF0000"/>
                </a:solidFill>
              </a:rPr>
              <a:t>Limites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floues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4296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12- </a:t>
            </a:r>
            <a:r>
              <a:rPr dirty="0"/>
              <a:t>Parmi les </a:t>
            </a:r>
            <a:r>
              <a:rPr dirty="0" err="1"/>
              <a:t>localisations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, </a:t>
            </a:r>
            <a:r>
              <a:rPr dirty="0" err="1"/>
              <a:t>laquelle</a:t>
            </a:r>
            <a:r>
              <a:rPr dirty="0"/>
              <a:t> </a:t>
            </a:r>
            <a:r>
              <a:rPr dirty="0" err="1"/>
              <a:t>traduit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pathologie</a:t>
            </a:r>
            <a:r>
              <a:rPr dirty="0"/>
              <a:t> </a:t>
            </a:r>
            <a:r>
              <a:rPr dirty="0" err="1"/>
              <a:t>néoplasique</a:t>
            </a:r>
            <a:r>
              <a:rPr dirty="0"/>
              <a:t> </a:t>
            </a:r>
            <a:r>
              <a:rPr lang="fr-FR" dirty="0"/>
              <a:t>:</a:t>
            </a:r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Inguinale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Axillaires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Sous </a:t>
            </a:r>
            <a:r>
              <a:rPr dirty="0" err="1"/>
              <a:t>mentonnières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Sus </a:t>
            </a:r>
            <a:r>
              <a:rPr dirty="0" err="1"/>
              <a:t>claviculaire</a:t>
            </a:r>
            <a:r>
              <a:rPr dirty="0"/>
              <a:t> gauche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Jugulo-carotidiennes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5598-A8A0-16B9-62FB-09F0DD48F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E72A-A953-9308-E90F-B6081337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F3AE3-0152-EC2A-A3B9-18FE1078C1BB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12- </a:t>
            </a:r>
            <a:r>
              <a:rPr dirty="0"/>
              <a:t>Parmi les </a:t>
            </a:r>
            <a:r>
              <a:rPr dirty="0" err="1"/>
              <a:t>localisations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, </a:t>
            </a:r>
            <a:r>
              <a:rPr dirty="0" err="1"/>
              <a:t>laquelle</a:t>
            </a:r>
            <a:r>
              <a:rPr dirty="0"/>
              <a:t> </a:t>
            </a:r>
            <a:r>
              <a:rPr dirty="0" err="1"/>
              <a:t>traduit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pathologie</a:t>
            </a:r>
            <a:r>
              <a:rPr dirty="0"/>
              <a:t> </a:t>
            </a:r>
            <a:r>
              <a:rPr dirty="0" err="1"/>
              <a:t>néoplasique</a:t>
            </a:r>
            <a:r>
              <a:rPr dirty="0"/>
              <a:t> </a:t>
            </a:r>
            <a:r>
              <a:rPr lang="fr-FR" dirty="0"/>
              <a:t>:</a:t>
            </a:r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Inguinale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Axillaires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Sous </a:t>
            </a:r>
            <a:r>
              <a:rPr dirty="0" err="1"/>
              <a:t>mentonnières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Sus </a:t>
            </a:r>
            <a:r>
              <a:rPr dirty="0" err="1">
                <a:solidFill>
                  <a:srgbClr val="FF0000"/>
                </a:solidFill>
              </a:rPr>
              <a:t>claviculaire</a:t>
            </a:r>
            <a:r>
              <a:rPr dirty="0">
                <a:solidFill>
                  <a:srgbClr val="FF0000"/>
                </a:solidFill>
              </a:rPr>
              <a:t> gauche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Jugulo-carotidiennes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98773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13- </a:t>
            </a:r>
            <a:r>
              <a:rPr dirty="0"/>
              <a:t>Deux </a:t>
            </a:r>
            <a:r>
              <a:rPr dirty="0" err="1"/>
              <a:t>localisations</a:t>
            </a:r>
            <a:r>
              <a:rPr dirty="0"/>
              <a:t> </a:t>
            </a:r>
            <a:r>
              <a:rPr dirty="0" err="1"/>
              <a:t>ganglionnaires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considérées</a:t>
            </a:r>
            <a:r>
              <a:rPr dirty="0"/>
              <a:t> </a:t>
            </a:r>
            <a:r>
              <a:rPr dirty="0" err="1"/>
              <a:t>pathologiques</a:t>
            </a:r>
            <a:r>
              <a:rPr dirty="0"/>
              <a:t> quelle que </a:t>
            </a:r>
            <a:r>
              <a:rPr dirty="0" err="1"/>
              <a:t>soit</a:t>
            </a:r>
            <a:r>
              <a:rPr dirty="0"/>
              <a:t> la taille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Epitrochléens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</a:t>
            </a:r>
            <a:r>
              <a:rPr dirty="0"/>
              <a:t>Sus </a:t>
            </a:r>
            <a:r>
              <a:rPr dirty="0" err="1"/>
              <a:t>claviculaire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Inguinaux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Axillaires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Rétro-auriculaires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1D68E-59F8-3D31-2CB2-AA53D824A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1C47F-6403-4834-3F4E-F1FCEB13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836F96-C212-F616-F552-0F4E61889572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13- </a:t>
            </a:r>
            <a:r>
              <a:rPr dirty="0"/>
              <a:t>Deux </a:t>
            </a:r>
            <a:r>
              <a:rPr dirty="0" err="1"/>
              <a:t>localisations</a:t>
            </a:r>
            <a:r>
              <a:rPr dirty="0"/>
              <a:t> </a:t>
            </a:r>
            <a:r>
              <a:rPr dirty="0" err="1"/>
              <a:t>ganglionnaires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considérées</a:t>
            </a:r>
            <a:r>
              <a:rPr dirty="0"/>
              <a:t> </a:t>
            </a:r>
            <a:r>
              <a:rPr dirty="0" err="1"/>
              <a:t>pathologiques</a:t>
            </a:r>
            <a:r>
              <a:rPr dirty="0"/>
              <a:t> quelle que </a:t>
            </a:r>
            <a:r>
              <a:rPr dirty="0" err="1"/>
              <a:t>soit</a:t>
            </a:r>
            <a:r>
              <a:rPr dirty="0"/>
              <a:t> la taille :</a:t>
            </a:r>
            <a:endParaRPr lang="fr-FR" dirty="0"/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 err="1">
                <a:solidFill>
                  <a:srgbClr val="FF0000"/>
                </a:solidFill>
              </a:rPr>
              <a:t>Epitrochléens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</a:t>
            </a:r>
            <a:r>
              <a:rPr dirty="0">
                <a:solidFill>
                  <a:srgbClr val="FF0000"/>
                </a:solidFill>
              </a:rPr>
              <a:t>Sus </a:t>
            </a:r>
            <a:r>
              <a:rPr dirty="0" err="1">
                <a:solidFill>
                  <a:srgbClr val="FF0000"/>
                </a:solidFill>
              </a:rPr>
              <a:t>claviculaire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Inguinaux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Axillaires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Rétro-auriculaires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94190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12- </a:t>
            </a:r>
            <a:r>
              <a:rPr dirty="0"/>
              <a:t>Devant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localisée</a:t>
            </a:r>
            <a:r>
              <a:rPr dirty="0"/>
              <a:t> les examens</a:t>
            </a:r>
            <a:r>
              <a:rPr lang="fr-FR" dirty="0"/>
              <a:t>:</a:t>
            </a:r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De façon </a:t>
            </a:r>
            <a:r>
              <a:rPr dirty="0" err="1"/>
              <a:t>systématique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En </a:t>
            </a:r>
            <a:r>
              <a:rPr dirty="0" err="1"/>
              <a:t>l'absence</a:t>
            </a:r>
            <a:r>
              <a:rPr dirty="0"/>
              <a:t> </a:t>
            </a:r>
            <a:r>
              <a:rPr dirty="0" err="1"/>
              <a:t>d'étiologie</a:t>
            </a:r>
            <a:r>
              <a:rPr dirty="0"/>
              <a:t> au </a:t>
            </a:r>
            <a:r>
              <a:rPr dirty="0" err="1"/>
              <a:t>terme</a:t>
            </a:r>
            <a:r>
              <a:rPr dirty="0"/>
              <a:t> de </a:t>
            </a:r>
            <a:r>
              <a:rPr dirty="0" err="1"/>
              <a:t>l'examen</a:t>
            </a:r>
            <a:r>
              <a:rPr dirty="0"/>
              <a:t> </a:t>
            </a:r>
            <a:r>
              <a:rPr lang="en-GB" dirty="0"/>
              <a:t>C</a:t>
            </a:r>
            <a:r>
              <a:rPr dirty="0" err="1"/>
              <a:t>linique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Devant la </a:t>
            </a:r>
            <a:r>
              <a:rPr dirty="0" err="1"/>
              <a:t>présence</a:t>
            </a:r>
            <a:r>
              <a:rPr dirty="0"/>
              <a:t> de </a:t>
            </a:r>
            <a:r>
              <a:rPr dirty="0" err="1"/>
              <a:t>signes</a:t>
            </a:r>
            <a:r>
              <a:rPr dirty="0"/>
              <a:t> </a:t>
            </a:r>
            <a:r>
              <a:rPr dirty="0" err="1"/>
              <a:t>généraux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En </a:t>
            </a:r>
            <a:r>
              <a:rPr dirty="0" err="1"/>
              <a:t>cas</a:t>
            </a:r>
            <a:r>
              <a:rPr dirty="0"/>
              <a:t> </a:t>
            </a:r>
            <a:r>
              <a:rPr dirty="0" err="1"/>
              <a:t>d'adénopathie</a:t>
            </a:r>
            <a:r>
              <a:rPr dirty="0"/>
              <a:t> </a:t>
            </a:r>
            <a:r>
              <a:rPr dirty="0" err="1"/>
              <a:t>suspecte</a:t>
            </a:r>
            <a:r>
              <a:rPr dirty="0"/>
              <a:t> de </a:t>
            </a:r>
            <a:r>
              <a:rPr dirty="0" err="1"/>
              <a:t>malignité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Devant </a:t>
            </a:r>
            <a:r>
              <a:rPr dirty="0" err="1"/>
              <a:t>l'altération</a:t>
            </a:r>
            <a:r>
              <a:rPr dirty="0"/>
              <a:t> de </a:t>
            </a:r>
            <a:r>
              <a:rPr dirty="0" err="1"/>
              <a:t>l'état</a:t>
            </a:r>
            <a:r>
              <a:rPr dirty="0"/>
              <a:t> </a:t>
            </a:r>
            <a:r>
              <a:rPr dirty="0" err="1"/>
              <a:t>général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540D1-4302-3126-137A-72A46C109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44C2B-9F5F-F15E-EC5E-47DEB1957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7F02C4-8DA2-098E-8CA1-C907A8A153EE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12- </a:t>
            </a:r>
            <a:r>
              <a:rPr dirty="0"/>
              <a:t>Devant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localisée</a:t>
            </a:r>
            <a:r>
              <a:rPr dirty="0"/>
              <a:t> les examens</a:t>
            </a:r>
            <a:r>
              <a:rPr lang="fr-FR" dirty="0"/>
              <a:t>:</a:t>
            </a:r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De façon </a:t>
            </a:r>
            <a:r>
              <a:rPr dirty="0" err="1"/>
              <a:t>systématique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>
                <a:solidFill>
                  <a:srgbClr val="FF0000"/>
                </a:solidFill>
              </a:rPr>
              <a:t>En </a:t>
            </a:r>
            <a:r>
              <a:rPr dirty="0" err="1">
                <a:solidFill>
                  <a:srgbClr val="FF0000"/>
                </a:solidFill>
              </a:rPr>
              <a:t>l'absence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d'étiologie</a:t>
            </a:r>
            <a:r>
              <a:rPr dirty="0">
                <a:solidFill>
                  <a:srgbClr val="FF0000"/>
                </a:solidFill>
              </a:rPr>
              <a:t> au </a:t>
            </a:r>
            <a:r>
              <a:rPr dirty="0" err="1">
                <a:solidFill>
                  <a:srgbClr val="FF0000"/>
                </a:solidFill>
              </a:rPr>
              <a:t>terme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l'examen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lang="en-GB" dirty="0">
                <a:solidFill>
                  <a:srgbClr val="FF0000"/>
                </a:solidFill>
              </a:rPr>
              <a:t>C</a:t>
            </a:r>
            <a:r>
              <a:rPr dirty="0" err="1">
                <a:solidFill>
                  <a:srgbClr val="FF0000"/>
                </a:solidFill>
              </a:rPr>
              <a:t>linique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Devant la </a:t>
            </a:r>
            <a:r>
              <a:rPr dirty="0" err="1">
                <a:solidFill>
                  <a:srgbClr val="FF0000"/>
                </a:solidFill>
              </a:rPr>
              <a:t>présence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signes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généraux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En </a:t>
            </a:r>
            <a:r>
              <a:rPr dirty="0" err="1">
                <a:solidFill>
                  <a:srgbClr val="FF0000"/>
                </a:solidFill>
              </a:rPr>
              <a:t>cas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d'adénopathie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suspecte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malignité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Devant </a:t>
            </a:r>
            <a:r>
              <a:rPr dirty="0" err="1">
                <a:solidFill>
                  <a:srgbClr val="FF0000"/>
                </a:solidFill>
              </a:rPr>
              <a:t>l'altération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l'état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général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8368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13- </a:t>
            </a:r>
            <a:r>
              <a:rPr dirty="0"/>
              <a:t>Devant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localisée</a:t>
            </a:r>
            <a:r>
              <a:rPr dirty="0"/>
              <a:t> la </a:t>
            </a:r>
            <a:r>
              <a:rPr dirty="0" err="1"/>
              <a:t>ponction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retenir</a:t>
            </a:r>
            <a:r>
              <a:rPr dirty="0"/>
              <a:t> le diagnostic de </a:t>
            </a:r>
            <a:r>
              <a:rPr dirty="0" err="1"/>
              <a:t>lymphome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l'étude</a:t>
            </a:r>
            <a:r>
              <a:rPr dirty="0"/>
              <a:t> </a:t>
            </a:r>
            <a:r>
              <a:rPr dirty="0" err="1"/>
              <a:t>cytologique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A un </a:t>
            </a:r>
            <a:r>
              <a:rPr dirty="0" err="1"/>
              <a:t>intérêt</a:t>
            </a:r>
            <a:r>
              <a:rPr dirty="0"/>
              <a:t> </a:t>
            </a:r>
            <a:r>
              <a:rPr dirty="0" err="1"/>
              <a:t>diagnostique</a:t>
            </a:r>
            <a:r>
              <a:rPr dirty="0"/>
              <a:t> dans les </a:t>
            </a:r>
            <a:r>
              <a:rPr dirty="0" err="1"/>
              <a:t>adénites</a:t>
            </a:r>
            <a:r>
              <a:rPr dirty="0"/>
              <a:t> à </a:t>
            </a:r>
            <a:r>
              <a:rPr dirty="0" err="1"/>
              <a:t>pyogènes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 err="1"/>
              <a:t>Nécessite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anesthésie</a:t>
            </a:r>
            <a:r>
              <a:rPr dirty="0"/>
              <a:t> </a:t>
            </a:r>
            <a:r>
              <a:rPr dirty="0" err="1"/>
              <a:t>générale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remplacer</a:t>
            </a:r>
            <a:r>
              <a:rPr dirty="0"/>
              <a:t> la </a:t>
            </a:r>
            <a:r>
              <a:rPr dirty="0" err="1"/>
              <a:t>biopsie</a:t>
            </a:r>
            <a:r>
              <a:rPr dirty="0"/>
              <a:t> dans les pathologies </a:t>
            </a:r>
            <a:r>
              <a:rPr dirty="0" err="1"/>
              <a:t>tumorale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16CB7-E859-BBDB-B25C-EBF61E084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9CDF-30A6-A167-117D-189649FA9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11995-9365-D35E-8910-8EBBDE4D950F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13- </a:t>
            </a:r>
            <a:r>
              <a:rPr dirty="0"/>
              <a:t>Devant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localisée</a:t>
            </a:r>
            <a:r>
              <a:rPr dirty="0"/>
              <a:t> la </a:t>
            </a:r>
            <a:r>
              <a:rPr dirty="0" err="1"/>
              <a:t>ponction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Permet</a:t>
            </a:r>
            <a:r>
              <a:rPr dirty="0"/>
              <a:t> de </a:t>
            </a:r>
            <a:r>
              <a:rPr dirty="0" err="1"/>
              <a:t>retenir</a:t>
            </a:r>
            <a:r>
              <a:rPr dirty="0"/>
              <a:t> le diagnostic de </a:t>
            </a:r>
            <a:r>
              <a:rPr dirty="0" err="1"/>
              <a:t>lymphome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 err="1">
                <a:solidFill>
                  <a:srgbClr val="FF0000"/>
                </a:solidFill>
              </a:rPr>
              <a:t>Permet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l'étude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cytologique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adénopathie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A un </a:t>
            </a:r>
            <a:r>
              <a:rPr dirty="0" err="1">
                <a:solidFill>
                  <a:srgbClr val="FF0000"/>
                </a:solidFill>
              </a:rPr>
              <a:t>intérêt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diagnostique</a:t>
            </a:r>
            <a:r>
              <a:rPr dirty="0">
                <a:solidFill>
                  <a:srgbClr val="FF0000"/>
                </a:solidFill>
              </a:rPr>
              <a:t> dans les </a:t>
            </a:r>
            <a:r>
              <a:rPr dirty="0" err="1">
                <a:solidFill>
                  <a:srgbClr val="FF0000"/>
                </a:solidFill>
              </a:rPr>
              <a:t>adénites</a:t>
            </a:r>
            <a:r>
              <a:rPr dirty="0">
                <a:solidFill>
                  <a:srgbClr val="FF0000"/>
                </a:solidFill>
              </a:rPr>
              <a:t> à </a:t>
            </a:r>
            <a:r>
              <a:rPr dirty="0" err="1">
                <a:solidFill>
                  <a:srgbClr val="FF0000"/>
                </a:solidFill>
              </a:rPr>
              <a:t>pyogènes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 err="1"/>
              <a:t>Nécessite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anesthésie</a:t>
            </a:r>
            <a:r>
              <a:rPr dirty="0"/>
              <a:t> </a:t>
            </a:r>
            <a:r>
              <a:rPr dirty="0" err="1"/>
              <a:t>générale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remplacer</a:t>
            </a:r>
            <a:r>
              <a:rPr dirty="0"/>
              <a:t> la </a:t>
            </a:r>
            <a:r>
              <a:rPr dirty="0" err="1"/>
              <a:t>biopsie</a:t>
            </a:r>
            <a:r>
              <a:rPr dirty="0"/>
              <a:t> dans les pathologies </a:t>
            </a:r>
            <a:r>
              <a:rPr dirty="0" err="1"/>
              <a:t>tumorale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532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14- </a:t>
            </a:r>
            <a:r>
              <a:rPr dirty="0"/>
              <a:t>Parmi les </a:t>
            </a:r>
            <a:r>
              <a:rPr dirty="0" err="1"/>
              <a:t>localisations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, </a:t>
            </a:r>
            <a:r>
              <a:rPr dirty="0" err="1"/>
              <a:t>laquelle</a:t>
            </a:r>
            <a:r>
              <a:rPr dirty="0"/>
              <a:t> </a:t>
            </a:r>
            <a:r>
              <a:rPr dirty="0" err="1"/>
              <a:t>traduit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pathologie</a:t>
            </a:r>
            <a:r>
              <a:rPr dirty="0"/>
              <a:t> </a:t>
            </a:r>
            <a:r>
              <a:rPr dirty="0" err="1"/>
              <a:t>néoplasique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</a:t>
            </a:r>
            <a:r>
              <a:rPr dirty="0"/>
              <a:t>Inguinale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Axillaires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Sous </a:t>
            </a:r>
            <a:r>
              <a:rPr dirty="0" err="1"/>
              <a:t>mentonnières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Sus </a:t>
            </a:r>
            <a:r>
              <a:rPr dirty="0" err="1"/>
              <a:t>claviculaire</a:t>
            </a:r>
            <a:r>
              <a:rPr dirty="0"/>
              <a:t> gauche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Jugulo-carotidiennes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6DDB5-30F3-DD34-BBAD-0D6A4E82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25825-0D3A-55AF-21C1-4BE75BC8F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91B7B7-F3C2-BAF3-4468-3BE6D2AB4431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14- </a:t>
            </a:r>
            <a:r>
              <a:rPr dirty="0"/>
              <a:t>Parmi les </a:t>
            </a:r>
            <a:r>
              <a:rPr dirty="0" err="1"/>
              <a:t>localisations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, </a:t>
            </a:r>
            <a:r>
              <a:rPr dirty="0" err="1"/>
              <a:t>laquelle</a:t>
            </a:r>
            <a:r>
              <a:rPr dirty="0"/>
              <a:t> </a:t>
            </a:r>
            <a:r>
              <a:rPr dirty="0" err="1"/>
              <a:t>traduit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pathologie</a:t>
            </a:r>
            <a:r>
              <a:rPr dirty="0"/>
              <a:t> </a:t>
            </a:r>
            <a:r>
              <a:rPr dirty="0" err="1"/>
              <a:t>néoplasique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</a:t>
            </a:r>
            <a:r>
              <a:rPr dirty="0"/>
              <a:t>Inguinale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Axillaires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Sous </a:t>
            </a:r>
            <a:r>
              <a:rPr dirty="0" err="1"/>
              <a:t>mentonnières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Sus </a:t>
            </a:r>
            <a:r>
              <a:rPr dirty="0" err="1">
                <a:solidFill>
                  <a:srgbClr val="FF0000"/>
                </a:solidFill>
              </a:rPr>
              <a:t>claviculaire</a:t>
            </a:r>
            <a:r>
              <a:rPr dirty="0">
                <a:solidFill>
                  <a:srgbClr val="FF0000"/>
                </a:solidFill>
              </a:rPr>
              <a:t> gauche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Jugulo-carotidiennes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95291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15- </a:t>
            </a:r>
            <a:r>
              <a:rPr dirty="0"/>
              <a:t>En </a:t>
            </a:r>
            <a:r>
              <a:rPr dirty="0" err="1"/>
              <a:t>cas</a:t>
            </a:r>
            <a:r>
              <a:rPr dirty="0"/>
              <a:t> de poly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superficielles</a:t>
            </a:r>
            <a:r>
              <a:rPr dirty="0"/>
              <a:t>, </a:t>
            </a:r>
            <a:r>
              <a:rPr dirty="0" err="1"/>
              <a:t>quels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examens à demander </a:t>
            </a:r>
            <a:r>
              <a:rPr dirty="0" err="1"/>
              <a:t>en</a:t>
            </a:r>
            <a:r>
              <a:rPr dirty="0"/>
              <a:t> première intention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A. Un </a:t>
            </a:r>
            <a:r>
              <a:rPr dirty="0" err="1"/>
              <a:t>hémogramme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B. Dosage de la CRP et de la </a:t>
            </a:r>
            <a:r>
              <a:rPr dirty="0" err="1"/>
              <a:t>vitesse</a:t>
            </a:r>
            <a:r>
              <a:rPr dirty="0"/>
              <a:t> de s</a:t>
            </a:r>
            <a:r>
              <a:rPr lang="en-GB" dirty="0"/>
              <a:t>e</a:t>
            </a:r>
            <a:r>
              <a:rPr dirty="0" err="1"/>
              <a:t>dimentation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C. Une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D. Une </a:t>
            </a:r>
            <a:r>
              <a:rPr dirty="0" err="1"/>
              <a:t>tomodensitométrie</a:t>
            </a:r>
            <a:r>
              <a:rPr dirty="0"/>
              <a:t> thoraco-</a:t>
            </a:r>
            <a:r>
              <a:rPr dirty="0" err="1"/>
              <a:t>abdomino</a:t>
            </a:r>
            <a:r>
              <a:rPr dirty="0"/>
              <a:t>-</a:t>
            </a:r>
            <a:r>
              <a:rPr dirty="0" err="1"/>
              <a:t>pelvienne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E. Une </a:t>
            </a:r>
            <a:r>
              <a:rPr dirty="0" err="1"/>
              <a:t>sérologie</a:t>
            </a:r>
            <a:r>
              <a:rPr dirty="0"/>
              <a:t> HIV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5A0C6-A4E8-D030-214D-CC0A4C6AB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9B40-1C3D-BE4D-437B-37571F46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FE161D-AC7C-087A-E6D7-67E31BB10F46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15- </a:t>
            </a:r>
            <a:r>
              <a:rPr dirty="0"/>
              <a:t>En </a:t>
            </a:r>
            <a:r>
              <a:rPr dirty="0" err="1"/>
              <a:t>cas</a:t>
            </a:r>
            <a:r>
              <a:rPr dirty="0"/>
              <a:t> de poly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superficielles</a:t>
            </a:r>
            <a:r>
              <a:rPr dirty="0"/>
              <a:t>, </a:t>
            </a:r>
            <a:r>
              <a:rPr dirty="0" err="1"/>
              <a:t>quels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examens à demander </a:t>
            </a:r>
            <a:r>
              <a:rPr dirty="0" err="1"/>
              <a:t>en</a:t>
            </a:r>
            <a:r>
              <a:rPr dirty="0"/>
              <a:t> première intention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A.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hémogramme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B. Dosage de la CRP et de la </a:t>
            </a:r>
            <a:r>
              <a:rPr dirty="0" err="1">
                <a:solidFill>
                  <a:srgbClr val="FF0000"/>
                </a:solidFill>
              </a:rPr>
              <a:t>vitesse</a:t>
            </a:r>
            <a:r>
              <a:rPr dirty="0">
                <a:solidFill>
                  <a:srgbClr val="FF0000"/>
                </a:solidFill>
              </a:rPr>
              <a:t> de s</a:t>
            </a:r>
            <a:r>
              <a:rPr lang="en-GB" dirty="0">
                <a:solidFill>
                  <a:srgbClr val="FF0000"/>
                </a:solidFill>
              </a:rPr>
              <a:t>e</a:t>
            </a:r>
            <a:r>
              <a:rPr dirty="0" err="1">
                <a:solidFill>
                  <a:srgbClr val="FF0000"/>
                </a:solidFill>
              </a:rPr>
              <a:t>dimentation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dirty="0"/>
              <a:t>C. Une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D. Une </a:t>
            </a:r>
            <a:r>
              <a:rPr dirty="0" err="1"/>
              <a:t>tomodensitométrie</a:t>
            </a:r>
            <a:r>
              <a:rPr dirty="0"/>
              <a:t> thoraco-</a:t>
            </a:r>
            <a:r>
              <a:rPr dirty="0" err="1"/>
              <a:t>abdomino</a:t>
            </a:r>
            <a:r>
              <a:rPr dirty="0"/>
              <a:t>-</a:t>
            </a:r>
            <a:r>
              <a:rPr dirty="0" err="1"/>
              <a:t>pelvienne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>
                <a:solidFill>
                  <a:srgbClr val="FF0000"/>
                </a:solidFill>
              </a:rPr>
              <a:t>E. Une </a:t>
            </a:r>
            <a:r>
              <a:rPr dirty="0" err="1">
                <a:solidFill>
                  <a:srgbClr val="FF0000"/>
                </a:solidFill>
              </a:rPr>
              <a:t>sérologie</a:t>
            </a:r>
            <a:r>
              <a:rPr dirty="0">
                <a:solidFill>
                  <a:srgbClr val="FF0000"/>
                </a:solidFill>
              </a:rPr>
              <a:t> HIV</a:t>
            </a:r>
          </a:p>
        </p:txBody>
      </p:sp>
    </p:spTree>
    <p:extLst>
      <p:ext uri="{BB962C8B-B14F-4D97-AF65-F5344CB8AC3E}">
        <p14:creationId xmlns:p14="http://schemas.microsoft.com/office/powerpoint/2010/main" val="327502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16- </a:t>
            </a:r>
            <a:r>
              <a:rPr dirty="0"/>
              <a:t>Parmi les situations </a:t>
            </a:r>
            <a:r>
              <a:rPr dirty="0" err="1"/>
              <a:t>suivantes</a:t>
            </a:r>
            <a:r>
              <a:rPr dirty="0"/>
              <a:t>, </a:t>
            </a:r>
            <a:r>
              <a:rPr dirty="0" err="1"/>
              <a:t>lesquelles</a:t>
            </a:r>
            <a:r>
              <a:rPr dirty="0"/>
              <a:t> </a:t>
            </a:r>
            <a:r>
              <a:rPr dirty="0" err="1"/>
              <a:t>imposent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A.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inguinales</a:t>
            </a:r>
            <a:r>
              <a:rPr dirty="0"/>
              <a:t> </a:t>
            </a:r>
            <a:r>
              <a:rPr dirty="0" err="1"/>
              <a:t>fistulisées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B. </a:t>
            </a:r>
            <a:r>
              <a:rPr dirty="0" err="1"/>
              <a:t>Cytoponction</a:t>
            </a:r>
            <a:r>
              <a:rPr dirty="0"/>
              <a:t> non </a:t>
            </a:r>
            <a:r>
              <a:rPr dirty="0" err="1"/>
              <a:t>concluante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dirty="0"/>
              <a:t>C. Suspicion de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aigue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dirty="0"/>
              <a:t>D. Suspicion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adénite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dirty="0"/>
              <a:t>E.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isolée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E6F93-9A64-DC31-3650-DDD5CC41B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3A163-2B5C-A0F1-7792-65E4E300F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65438B-0E82-7C48-9E4F-62E42FDDC863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16- </a:t>
            </a:r>
            <a:r>
              <a:rPr dirty="0"/>
              <a:t>Parmi les situations </a:t>
            </a:r>
            <a:r>
              <a:rPr dirty="0" err="1"/>
              <a:t>suivantes</a:t>
            </a:r>
            <a:r>
              <a:rPr dirty="0"/>
              <a:t>, </a:t>
            </a:r>
            <a:r>
              <a:rPr dirty="0" err="1"/>
              <a:t>lesquelles</a:t>
            </a:r>
            <a:r>
              <a:rPr dirty="0"/>
              <a:t> </a:t>
            </a:r>
            <a:r>
              <a:rPr dirty="0" err="1"/>
              <a:t>imposent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A.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inguinales</a:t>
            </a:r>
            <a:r>
              <a:rPr dirty="0"/>
              <a:t> </a:t>
            </a:r>
            <a:r>
              <a:rPr dirty="0" err="1"/>
              <a:t>fistulisées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>
                <a:solidFill>
                  <a:srgbClr val="FF0000"/>
                </a:solidFill>
              </a:rPr>
              <a:t>B. </a:t>
            </a:r>
            <a:r>
              <a:rPr dirty="0" err="1">
                <a:solidFill>
                  <a:srgbClr val="FF0000"/>
                </a:solidFill>
              </a:rPr>
              <a:t>Cytoponction</a:t>
            </a:r>
            <a:r>
              <a:rPr dirty="0">
                <a:solidFill>
                  <a:srgbClr val="FF0000"/>
                </a:solidFill>
              </a:rPr>
              <a:t> non </a:t>
            </a:r>
            <a:r>
              <a:rPr dirty="0" err="1">
                <a:solidFill>
                  <a:srgbClr val="FF0000"/>
                </a:solidFill>
              </a:rPr>
              <a:t>concluante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dirty="0"/>
              <a:t>C. Suspicion de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aigue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dirty="0"/>
              <a:t>D. Suspicion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adénite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dirty="0"/>
              <a:t>E.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isolée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4163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5127" y="172084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17-</a:t>
            </a:r>
            <a:r>
              <a:rPr dirty="0" err="1"/>
              <a:t>L'adénopathie</a:t>
            </a:r>
            <a:r>
              <a:rPr dirty="0"/>
              <a:t> sous-</a:t>
            </a:r>
            <a:r>
              <a:rPr dirty="0" err="1"/>
              <a:t>claviculaire</a:t>
            </a:r>
            <a:r>
              <a:rPr dirty="0"/>
              <a:t> droite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liée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pathologie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Cervicale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Sus </a:t>
            </a:r>
            <a:r>
              <a:rPr dirty="0" err="1"/>
              <a:t>diaphragmatique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Sous </a:t>
            </a:r>
            <a:r>
              <a:rPr dirty="0" err="1"/>
              <a:t>diaphragmatique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Du </a:t>
            </a:r>
            <a:r>
              <a:rPr dirty="0" err="1"/>
              <a:t>membre</a:t>
            </a:r>
            <a:r>
              <a:rPr dirty="0"/>
              <a:t> supérieur droit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Mammaire</a:t>
            </a:r>
            <a:r>
              <a:rPr dirty="0"/>
              <a:t> droite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3A81C-84F7-06EE-6B78-C7AEA540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91BF1-E3CE-E917-B595-82F1C70E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2A7E2-B5D5-DBBE-66D7-141B19B3EE6A}"/>
              </a:ext>
            </a:extLst>
          </p:cNvPr>
          <p:cNvSpPr txBox="1"/>
          <p:nvPr/>
        </p:nvSpPr>
        <p:spPr>
          <a:xfrm>
            <a:off x="845127" y="172084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17-</a:t>
            </a:r>
            <a:r>
              <a:rPr dirty="0" err="1"/>
              <a:t>L'adénopathie</a:t>
            </a:r>
            <a:r>
              <a:rPr dirty="0"/>
              <a:t> sous-</a:t>
            </a:r>
            <a:r>
              <a:rPr dirty="0" err="1"/>
              <a:t>claviculaire</a:t>
            </a:r>
            <a:r>
              <a:rPr dirty="0"/>
              <a:t> droite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liée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pathologie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Cervicale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Sus </a:t>
            </a:r>
            <a:r>
              <a:rPr dirty="0" err="1">
                <a:solidFill>
                  <a:srgbClr val="FF0000"/>
                </a:solidFill>
              </a:rPr>
              <a:t>diaphragmatique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Sous </a:t>
            </a:r>
            <a:r>
              <a:rPr dirty="0" err="1"/>
              <a:t>diaphragmatique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Du </a:t>
            </a:r>
            <a:r>
              <a:rPr dirty="0" err="1"/>
              <a:t>membre</a:t>
            </a:r>
            <a:r>
              <a:rPr dirty="0"/>
              <a:t> supérieur droit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Mammaire</a:t>
            </a:r>
            <a:r>
              <a:rPr dirty="0"/>
              <a:t> droite</a:t>
            </a:r>
          </a:p>
        </p:txBody>
      </p:sp>
    </p:spTree>
    <p:extLst>
      <p:ext uri="{BB962C8B-B14F-4D97-AF65-F5344CB8AC3E}">
        <p14:creationId xmlns:p14="http://schemas.microsoft.com/office/powerpoint/2010/main" val="37516641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18- </a:t>
            </a:r>
            <a:r>
              <a:rPr dirty="0" err="1"/>
              <a:t>L'adénopathie</a:t>
            </a:r>
            <a:r>
              <a:rPr dirty="0"/>
              <a:t> sus-</a:t>
            </a:r>
            <a:r>
              <a:rPr dirty="0" err="1"/>
              <a:t>claviculaire</a:t>
            </a:r>
            <a:r>
              <a:rPr dirty="0"/>
              <a:t> gauche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liée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pathologie</a:t>
            </a:r>
            <a:r>
              <a:rPr dirty="0"/>
              <a:t> 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A- </a:t>
            </a:r>
            <a:r>
              <a:rPr dirty="0"/>
              <a:t>Broncho-</a:t>
            </a:r>
            <a:r>
              <a:rPr dirty="0" err="1"/>
              <a:t>pulmonaire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Digestive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Rénale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Testiculaire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 err="1"/>
              <a:t>Pelvienne</a:t>
            </a:r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45671-9095-A5E5-2D39-63CEF037D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4B574-156F-0F21-EC3A-D1F8549D9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20A827-3700-405C-856B-3E36DA683FE3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18- </a:t>
            </a:r>
            <a:r>
              <a:rPr dirty="0" err="1"/>
              <a:t>L'adénopathie</a:t>
            </a:r>
            <a:r>
              <a:rPr dirty="0"/>
              <a:t> sus-</a:t>
            </a:r>
            <a:r>
              <a:rPr dirty="0" err="1"/>
              <a:t>claviculaire</a:t>
            </a:r>
            <a:r>
              <a:rPr dirty="0"/>
              <a:t> gauche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liée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pathologie</a:t>
            </a:r>
            <a:r>
              <a:rPr dirty="0"/>
              <a:t> 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A- </a:t>
            </a:r>
            <a:r>
              <a:rPr dirty="0"/>
              <a:t>Broncho-</a:t>
            </a:r>
            <a:r>
              <a:rPr dirty="0" err="1"/>
              <a:t>pulmonaire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Digestive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 err="1">
                <a:solidFill>
                  <a:srgbClr val="FF0000"/>
                </a:solidFill>
              </a:rPr>
              <a:t>Rénale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 err="1">
                <a:solidFill>
                  <a:srgbClr val="FF0000"/>
                </a:solidFill>
              </a:rPr>
              <a:t>Testiculaire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 err="1">
                <a:solidFill>
                  <a:srgbClr val="FF0000"/>
                </a:solidFill>
              </a:rPr>
              <a:t>Pelvienne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6376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19- </a:t>
            </a:r>
            <a:r>
              <a:rPr dirty="0"/>
              <a:t>Devant </a:t>
            </a:r>
            <a:r>
              <a:rPr dirty="0" err="1"/>
              <a:t>une</a:t>
            </a:r>
            <a:r>
              <a:rPr dirty="0"/>
              <a:t> mono </a:t>
            </a:r>
            <a:r>
              <a:rPr dirty="0" err="1"/>
              <a:t>adénopathie</a:t>
            </a:r>
            <a:r>
              <a:rPr dirty="0"/>
              <a:t> cervicale,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évoquer</a:t>
            </a:r>
            <a:r>
              <a:rPr dirty="0"/>
              <a:t> le diagnostic de </a:t>
            </a:r>
            <a:r>
              <a:rPr dirty="0" err="1"/>
              <a:t>tuberculose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</a:t>
            </a:r>
            <a:r>
              <a:rPr dirty="0" err="1"/>
              <a:t>devant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Altération</a:t>
            </a:r>
            <a:r>
              <a:rPr dirty="0"/>
              <a:t> de </a:t>
            </a:r>
            <a:r>
              <a:rPr dirty="0" err="1"/>
              <a:t>l'état</a:t>
            </a:r>
            <a:r>
              <a:rPr dirty="0"/>
              <a:t> </a:t>
            </a:r>
            <a:r>
              <a:rPr dirty="0" err="1"/>
              <a:t>général</a:t>
            </a:r>
            <a:r>
              <a:rPr dirty="0"/>
              <a:t> et </a:t>
            </a:r>
            <a:r>
              <a:rPr dirty="0" err="1"/>
              <a:t>sueurs</a:t>
            </a:r>
            <a:r>
              <a:rPr dirty="0"/>
              <a:t> nocturne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Autres</a:t>
            </a:r>
            <a:r>
              <a:rPr dirty="0"/>
              <a:t> </a:t>
            </a:r>
            <a:r>
              <a:rPr dirty="0" err="1"/>
              <a:t>localisations</a:t>
            </a:r>
            <a:r>
              <a:rPr dirty="0"/>
              <a:t> extra-</a:t>
            </a:r>
            <a:r>
              <a:rPr dirty="0" err="1"/>
              <a:t>ganglionnaires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Des </a:t>
            </a:r>
            <a:r>
              <a:rPr dirty="0" err="1"/>
              <a:t>granulomes</a:t>
            </a:r>
            <a:r>
              <a:rPr dirty="0"/>
              <a:t> à </a:t>
            </a:r>
            <a:r>
              <a:rPr dirty="0" err="1"/>
              <a:t>l'histologie</a:t>
            </a:r>
            <a:r>
              <a:rPr dirty="0"/>
              <a:t> avec </a:t>
            </a:r>
            <a:r>
              <a:rPr dirty="0" err="1"/>
              <a:t>nécrose</a:t>
            </a:r>
            <a:r>
              <a:rPr dirty="0"/>
              <a:t> </a:t>
            </a:r>
            <a:r>
              <a:rPr dirty="0" err="1"/>
              <a:t>caséeuse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Leucopénie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Contact avec les </a:t>
            </a:r>
            <a:r>
              <a:rPr dirty="0" err="1"/>
              <a:t>animaux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8C2AB-B08E-A11E-A21F-C34E1F88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1A25-78E8-3B4F-615B-648D6235C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01728-C79E-CD07-02C6-86E54EC3958E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19- </a:t>
            </a:r>
            <a:r>
              <a:rPr dirty="0"/>
              <a:t>Devant </a:t>
            </a:r>
            <a:r>
              <a:rPr dirty="0" err="1"/>
              <a:t>une</a:t>
            </a:r>
            <a:r>
              <a:rPr dirty="0"/>
              <a:t> mono </a:t>
            </a:r>
            <a:r>
              <a:rPr dirty="0" err="1"/>
              <a:t>adénopathie</a:t>
            </a:r>
            <a:r>
              <a:rPr dirty="0"/>
              <a:t> cervicale,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évoquer</a:t>
            </a:r>
            <a:r>
              <a:rPr dirty="0"/>
              <a:t> le diagnostic de </a:t>
            </a:r>
            <a:r>
              <a:rPr dirty="0" err="1"/>
              <a:t>tuberculose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</a:t>
            </a:r>
            <a:r>
              <a:rPr dirty="0" err="1"/>
              <a:t>devant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 err="1">
                <a:solidFill>
                  <a:srgbClr val="FF0000"/>
                </a:solidFill>
              </a:rPr>
              <a:t>Altération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l'état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général</a:t>
            </a:r>
            <a:r>
              <a:rPr dirty="0">
                <a:solidFill>
                  <a:srgbClr val="FF0000"/>
                </a:solidFill>
              </a:rPr>
              <a:t> et </a:t>
            </a:r>
            <a:r>
              <a:rPr dirty="0" err="1">
                <a:solidFill>
                  <a:srgbClr val="FF0000"/>
                </a:solidFill>
              </a:rPr>
              <a:t>sueurs</a:t>
            </a:r>
            <a:r>
              <a:rPr dirty="0">
                <a:solidFill>
                  <a:srgbClr val="FF0000"/>
                </a:solidFill>
              </a:rPr>
              <a:t> nocturne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Autres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localisations</a:t>
            </a:r>
            <a:r>
              <a:rPr dirty="0">
                <a:solidFill>
                  <a:srgbClr val="FF0000"/>
                </a:solidFill>
              </a:rPr>
              <a:t> extra-</a:t>
            </a:r>
            <a:r>
              <a:rPr dirty="0" err="1">
                <a:solidFill>
                  <a:srgbClr val="FF0000"/>
                </a:solidFill>
              </a:rPr>
              <a:t>ganglionnaires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Des </a:t>
            </a:r>
            <a:r>
              <a:rPr dirty="0" err="1"/>
              <a:t>granulomes</a:t>
            </a:r>
            <a:r>
              <a:rPr dirty="0"/>
              <a:t> à </a:t>
            </a:r>
            <a:r>
              <a:rPr dirty="0" err="1"/>
              <a:t>l'histologie</a:t>
            </a:r>
            <a:r>
              <a:rPr dirty="0"/>
              <a:t> avec </a:t>
            </a:r>
            <a:r>
              <a:rPr dirty="0" err="1"/>
              <a:t>nécrose</a:t>
            </a:r>
            <a:r>
              <a:rPr dirty="0"/>
              <a:t> </a:t>
            </a:r>
            <a:r>
              <a:rPr dirty="0" err="1"/>
              <a:t>caséeuse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 err="1">
                <a:solidFill>
                  <a:srgbClr val="FF0000"/>
                </a:solidFill>
              </a:rPr>
              <a:t>Leucopénie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Contact avec les </a:t>
            </a:r>
            <a:r>
              <a:rPr dirty="0" err="1"/>
              <a:t>animaux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71734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20- </a:t>
            </a:r>
            <a:r>
              <a:rPr dirty="0"/>
              <a:t>La </a:t>
            </a:r>
            <a:r>
              <a:rPr dirty="0" err="1"/>
              <a:t>ponction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cervicale haute a mis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évidence</a:t>
            </a:r>
            <a:r>
              <a:rPr dirty="0"/>
              <a:t> des cellules de Reed Sternberg. </a:t>
            </a:r>
            <a:r>
              <a:rPr dirty="0" err="1"/>
              <a:t>Quel</a:t>
            </a:r>
            <a:r>
              <a:rPr dirty="0"/>
              <a:t> examen </a:t>
            </a:r>
            <a:r>
              <a:rPr dirty="0" err="1"/>
              <a:t>complémentaire</a:t>
            </a:r>
            <a:r>
              <a:rPr dirty="0"/>
              <a:t> doit-on </a:t>
            </a:r>
            <a:r>
              <a:rPr dirty="0" err="1"/>
              <a:t>pratiquer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priorité</a:t>
            </a:r>
            <a:r>
              <a:rPr dirty="0"/>
              <a:t>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médullaire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Un </a:t>
            </a:r>
            <a:r>
              <a:rPr dirty="0" err="1"/>
              <a:t>myélogramme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Une TDM thoraco-</a:t>
            </a:r>
            <a:r>
              <a:rPr dirty="0" err="1"/>
              <a:t>abdomino</a:t>
            </a:r>
            <a:r>
              <a:rPr dirty="0"/>
              <a:t>-</a:t>
            </a:r>
            <a:r>
              <a:rPr dirty="0" err="1"/>
              <a:t>pelvienne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 examen ORL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endParaRPr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08EA4-5114-D831-EF6E-787633A46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9D617-1FCE-9C17-0DAC-ADCEE2D6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71D035-703F-94FB-CB39-3B5EC3BFAA50}"/>
              </a:ext>
            </a:extLst>
          </p:cNvPr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20- </a:t>
            </a:r>
            <a:r>
              <a:rPr dirty="0"/>
              <a:t>La </a:t>
            </a:r>
            <a:r>
              <a:rPr dirty="0" err="1"/>
              <a:t>ponction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cervicale haute a mis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évidence</a:t>
            </a:r>
            <a:r>
              <a:rPr dirty="0"/>
              <a:t> des cellules de Reed Sternberg. </a:t>
            </a:r>
            <a:r>
              <a:rPr dirty="0" err="1"/>
              <a:t>Quel</a:t>
            </a:r>
            <a:r>
              <a:rPr dirty="0"/>
              <a:t> examen </a:t>
            </a:r>
            <a:r>
              <a:rPr dirty="0" err="1"/>
              <a:t>complémentaire</a:t>
            </a:r>
            <a:r>
              <a:rPr dirty="0"/>
              <a:t> doit-on </a:t>
            </a:r>
            <a:r>
              <a:rPr dirty="0" err="1"/>
              <a:t>pratiquer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priorité</a:t>
            </a:r>
            <a:r>
              <a:rPr dirty="0"/>
              <a:t>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médullaire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Un </a:t>
            </a:r>
            <a:r>
              <a:rPr dirty="0" err="1"/>
              <a:t>myélogramme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Une TDM thoraco-</a:t>
            </a:r>
            <a:r>
              <a:rPr dirty="0" err="1"/>
              <a:t>abdomino</a:t>
            </a:r>
            <a:r>
              <a:rPr dirty="0"/>
              <a:t>-</a:t>
            </a:r>
            <a:r>
              <a:rPr dirty="0" err="1"/>
              <a:t>pelvienne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 examen ORL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biopsie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0263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436" y="1780309"/>
            <a:ext cx="77031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21- </a:t>
            </a:r>
            <a:r>
              <a:rPr dirty="0" err="1"/>
              <a:t>Concernant</a:t>
            </a:r>
            <a:r>
              <a:rPr dirty="0"/>
              <a:t> la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, 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propositions </a:t>
            </a:r>
            <a:r>
              <a:rPr dirty="0" err="1"/>
              <a:t>justes</a:t>
            </a:r>
            <a:r>
              <a:rPr dirty="0"/>
              <a:t> :</a:t>
            </a:r>
            <a:br>
              <a:rPr dirty="0"/>
            </a:br>
            <a:r>
              <a:rPr lang="fr-FR" dirty="0"/>
              <a:t>A- </a:t>
            </a:r>
            <a:r>
              <a:rPr dirty="0" err="1"/>
              <a:t>D'exérèse</a:t>
            </a:r>
            <a:r>
              <a:rPr dirty="0"/>
              <a:t> </a:t>
            </a:r>
            <a:r>
              <a:rPr dirty="0" err="1"/>
              <a:t>complète</a:t>
            </a:r>
            <a:r>
              <a:rPr dirty="0"/>
              <a:t> de </a:t>
            </a:r>
            <a:r>
              <a:rPr dirty="0" err="1"/>
              <a:t>l'adénopathie</a:t>
            </a:r>
            <a:r>
              <a:rPr dirty="0"/>
              <a:t> </a:t>
            </a:r>
            <a:r>
              <a:rPr dirty="0" err="1"/>
              <a:t>constitue</a:t>
            </a:r>
            <a:r>
              <a:rPr dirty="0"/>
              <a:t> </a:t>
            </a:r>
            <a:r>
              <a:rPr dirty="0" err="1"/>
              <a:t>l'examen</a:t>
            </a:r>
            <a:r>
              <a:rPr dirty="0"/>
              <a:t> de choix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La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radioguidée</a:t>
            </a:r>
            <a:r>
              <a:rPr dirty="0"/>
              <a:t> de </a:t>
            </a:r>
            <a:r>
              <a:rPr dirty="0" err="1"/>
              <a:t>l'adénopathie</a:t>
            </a:r>
            <a:r>
              <a:rPr dirty="0"/>
              <a:t> </a:t>
            </a:r>
            <a:r>
              <a:rPr dirty="0" err="1"/>
              <a:t>constitue</a:t>
            </a:r>
            <a:r>
              <a:rPr dirty="0"/>
              <a:t> </a:t>
            </a:r>
            <a:r>
              <a:rPr dirty="0" err="1"/>
              <a:t>l'examen</a:t>
            </a:r>
            <a:r>
              <a:rPr dirty="0"/>
              <a:t> de choix</a:t>
            </a:r>
            <a:endParaRPr lang="fr-FR" dirty="0"/>
          </a:p>
          <a:p>
            <a:pPr>
              <a:defRPr sz="1800"/>
            </a:pP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superficielle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Elle </a:t>
            </a:r>
            <a:r>
              <a:rPr dirty="0" err="1"/>
              <a:t>permet</a:t>
            </a:r>
            <a:r>
              <a:rPr dirty="0"/>
              <a:t> la recherche de BAAR dans le </a:t>
            </a:r>
            <a:r>
              <a:rPr dirty="0" err="1"/>
              <a:t>tissu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par PCR.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Le ganglion </a:t>
            </a:r>
            <a:r>
              <a:rPr dirty="0" err="1"/>
              <a:t>retiré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fixé</a:t>
            </a:r>
            <a:r>
              <a:rPr dirty="0"/>
              <a:t> dans le </a:t>
            </a:r>
            <a:r>
              <a:rPr dirty="0" err="1"/>
              <a:t>liquide</a:t>
            </a:r>
            <a:r>
              <a:rPr dirty="0"/>
              <a:t> de </a:t>
            </a:r>
            <a:r>
              <a:rPr dirty="0" err="1"/>
              <a:t>bouin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Elle </a:t>
            </a:r>
            <a:r>
              <a:rPr dirty="0" err="1"/>
              <a:t>permet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étude </a:t>
            </a:r>
            <a:r>
              <a:rPr dirty="0" err="1"/>
              <a:t>immunohistochimique</a:t>
            </a:r>
            <a:r>
              <a:rPr dirty="0"/>
              <a:t> du </a:t>
            </a:r>
            <a:r>
              <a:rPr dirty="0" err="1"/>
              <a:t>tissu</a:t>
            </a:r>
            <a:r>
              <a:rPr dirty="0"/>
              <a:t> </a:t>
            </a:r>
            <a:r>
              <a:rPr dirty="0" err="1"/>
              <a:t>ganglionnaire</a:t>
            </a:r>
            <a:endParaRPr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27EBE-A06F-1DA8-24D9-976134890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DD132-D4BC-8CFD-1A30-76B6F54E8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A42106-00DE-5746-4193-278E736FE1D7}"/>
              </a:ext>
            </a:extLst>
          </p:cNvPr>
          <p:cNvSpPr txBox="1"/>
          <p:nvPr/>
        </p:nvSpPr>
        <p:spPr>
          <a:xfrm>
            <a:off x="720436" y="1780309"/>
            <a:ext cx="770312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21- </a:t>
            </a:r>
            <a:r>
              <a:rPr dirty="0" err="1"/>
              <a:t>Concernant</a:t>
            </a:r>
            <a:r>
              <a:rPr dirty="0"/>
              <a:t> la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, 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propositions </a:t>
            </a:r>
            <a:r>
              <a:rPr dirty="0" err="1"/>
              <a:t>justes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 err="1">
                <a:solidFill>
                  <a:srgbClr val="FF0000"/>
                </a:solidFill>
              </a:rPr>
              <a:t>D'exérèse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complète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l'adénopathie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constitue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l'examen</a:t>
            </a:r>
            <a:r>
              <a:rPr dirty="0">
                <a:solidFill>
                  <a:srgbClr val="FF0000"/>
                </a:solidFill>
              </a:rPr>
              <a:t> de choix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La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radioguidée</a:t>
            </a:r>
            <a:r>
              <a:rPr dirty="0"/>
              <a:t> de </a:t>
            </a:r>
            <a:r>
              <a:rPr dirty="0" err="1"/>
              <a:t>l'adénopathie</a:t>
            </a:r>
            <a:r>
              <a:rPr dirty="0"/>
              <a:t> </a:t>
            </a:r>
            <a:r>
              <a:rPr dirty="0" err="1"/>
              <a:t>constitue</a:t>
            </a:r>
            <a:r>
              <a:rPr dirty="0"/>
              <a:t> </a:t>
            </a:r>
            <a:r>
              <a:rPr dirty="0" err="1"/>
              <a:t>l'examen</a:t>
            </a:r>
            <a:r>
              <a:rPr dirty="0"/>
              <a:t> de choix</a:t>
            </a:r>
            <a:endParaRPr lang="fr-FR" dirty="0"/>
          </a:p>
          <a:p>
            <a:pPr>
              <a:defRPr sz="1800"/>
            </a:pP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superficielle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Elle </a:t>
            </a:r>
            <a:r>
              <a:rPr dirty="0" err="1">
                <a:solidFill>
                  <a:srgbClr val="FF0000"/>
                </a:solidFill>
              </a:rPr>
              <a:t>permet</a:t>
            </a:r>
            <a:r>
              <a:rPr dirty="0">
                <a:solidFill>
                  <a:srgbClr val="FF0000"/>
                </a:solidFill>
              </a:rPr>
              <a:t> la recherche de BAAR dans le </a:t>
            </a:r>
            <a:r>
              <a:rPr dirty="0" err="1">
                <a:solidFill>
                  <a:srgbClr val="FF0000"/>
                </a:solidFill>
              </a:rPr>
              <a:t>tissu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r>
              <a:rPr dirty="0">
                <a:solidFill>
                  <a:srgbClr val="FF0000"/>
                </a:solidFill>
              </a:rPr>
              <a:t> par PCR.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Le ganglion </a:t>
            </a:r>
            <a:r>
              <a:rPr dirty="0" err="1"/>
              <a:t>retiré</a:t>
            </a:r>
            <a:r>
              <a:rPr dirty="0"/>
              <a:t> doit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fixé</a:t>
            </a:r>
            <a:r>
              <a:rPr dirty="0"/>
              <a:t> dans le </a:t>
            </a:r>
            <a:r>
              <a:rPr dirty="0" err="1"/>
              <a:t>liquide</a:t>
            </a:r>
            <a:r>
              <a:rPr dirty="0"/>
              <a:t> de </a:t>
            </a:r>
            <a:r>
              <a:rPr dirty="0" err="1"/>
              <a:t>bouin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Elle </a:t>
            </a:r>
            <a:r>
              <a:rPr dirty="0" err="1">
                <a:solidFill>
                  <a:srgbClr val="FF0000"/>
                </a:solidFill>
              </a:rPr>
              <a:t>permet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étude </a:t>
            </a:r>
            <a:r>
              <a:rPr dirty="0" err="1">
                <a:solidFill>
                  <a:srgbClr val="FF0000"/>
                </a:solidFill>
              </a:rPr>
              <a:t>immunohistochimique</a:t>
            </a:r>
            <a:r>
              <a:rPr dirty="0">
                <a:solidFill>
                  <a:srgbClr val="FF0000"/>
                </a:solidFill>
              </a:rPr>
              <a:t> du </a:t>
            </a:r>
            <a:r>
              <a:rPr dirty="0" err="1">
                <a:solidFill>
                  <a:srgbClr val="FF0000"/>
                </a:solidFill>
              </a:rPr>
              <a:t>tissu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1851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01090"/>
            <a:ext cx="7924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22- 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parmi</a:t>
            </a:r>
            <a:r>
              <a:rPr dirty="0"/>
              <a:t> les propositions </a:t>
            </a:r>
            <a:r>
              <a:rPr dirty="0" err="1"/>
              <a:t>suivantes</a:t>
            </a:r>
            <a:r>
              <a:rPr dirty="0"/>
              <a:t> les indications de </a:t>
            </a:r>
            <a:r>
              <a:rPr dirty="0" err="1"/>
              <a:t>réalisation</a:t>
            </a:r>
            <a:r>
              <a:rPr dirty="0"/>
              <a:t> de la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inguinales</a:t>
            </a:r>
            <a:r>
              <a:rPr dirty="0"/>
              <a:t> satellites d'un chancre </a:t>
            </a:r>
            <a:r>
              <a:rPr dirty="0" err="1"/>
              <a:t>syphilitique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 err="1"/>
              <a:t>Cytoponction</a:t>
            </a:r>
            <a:r>
              <a:rPr dirty="0"/>
              <a:t> non </a:t>
            </a:r>
            <a:r>
              <a:rPr dirty="0" err="1"/>
              <a:t>concluante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Suspicion de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aigue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Suspicion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adénite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isolée</a:t>
            </a:r>
            <a:endParaRPr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66B0E-7B65-9726-77E7-9C8266BA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B7BF8-163C-FBC1-EF2D-9E375A3B4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E4E04F-4C9B-37EE-5095-6993FFD15F7E}"/>
              </a:ext>
            </a:extLst>
          </p:cNvPr>
          <p:cNvSpPr txBox="1"/>
          <p:nvPr/>
        </p:nvSpPr>
        <p:spPr>
          <a:xfrm>
            <a:off x="457200" y="1801090"/>
            <a:ext cx="7924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22- </a:t>
            </a:r>
            <a:r>
              <a:rPr dirty="0" err="1"/>
              <a:t>Quelles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parmi</a:t>
            </a:r>
            <a:r>
              <a:rPr dirty="0"/>
              <a:t> les propositions </a:t>
            </a:r>
            <a:r>
              <a:rPr dirty="0" err="1"/>
              <a:t>suivantes</a:t>
            </a:r>
            <a:r>
              <a:rPr dirty="0"/>
              <a:t> les indications de </a:t>
            </a:r>
            <a:r>
              <a:rPr dirty="0" err="1"/>
              <a:t>réalisation</a:t>
            </a:r>
            <a:r>
              <a:rPr dirty="0"/>
              <a:t> de la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inguinales</a:t>
            </a:r>
            <a:r>
              <a:rPr dirty="0"/>
              <a:t> satellites d'un chancre </a:t>
            </a:r>
            <a:r>
              <a:rPr dirty="0" err="1"/>
              <a:t>syphilitique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Cytoponction</a:t>
            </a:r>
            <a:r>
              <a:rPr dirty="0">
                <a:solidFill>
                  <a:srgbClr val="FF0000"/>
                </a:solidFill>
              </a:rPr>
              <a:t> non </a:t>
            </a:r>
            <a:r>
              <a:rPr dirty="0" err="1">
                <a:solidFill>
                  <a:srgbClr val="FF0000"/>
                </a:solidFill>
              </a:rPr>
              <a:t>concluante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Suspicion de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aigue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Suspicion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adénite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 err="1">
                <a:solidFill>
                  <a:srgbClr val="FF0000"/>
                </a:solidFill>
              </a:rPr>
              <a:t>Adénopathie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isolée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8301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23-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sus </a:t>
            </a:r>
            <a:r>
              <a:rPr dirty="0" err="1"/>
              <a:t>claviculaire</a:t>
            </a:r>
            <a:r>
              <a:rPr dirty="0"/>
              <a:t> droite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associée</a:t>
            </a:r>
            <a:r>
              <a:rPr dirty="0"/>
              <a:t> à: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A- </a:t>
            </a:r>
            <a:r>
              <a:rPr dirty="0" err="1"/>
              <a:t>Tumeur</a:t>
            </a:r>
            <a:r>
              <a:rPr dirty="0"/>
              <a:t> </a:t>
            </a:r>
            <a:r>
              <a:rPr dirty="0" err="1"/>
              <a:t>rénale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/>
              <a:t>Cancer du </a:t>
            </a:r>
            <a:r>
              <a:rPr dirty="0" err="1"/>
              <a:t>poumon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 err="1"/>
              <a:t>Lymphome</a:t>
            </a:r>
            <a:r>
              <a:rPr dirty="0"/>
              <a:t> </a:t>
            </a:r>
            <a:r>
              <a:rPr dirty="0" err="1"/>
              <a:t>médiastinale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 err="1"/>
              <a:t>Thymome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 err="1"/>
              <a:t>Tumeur</a:t>
            </a:r>
            <a:r>
              <a:rPr dirty="0"/>
              <a:t> </a:t>
            </a:r>
            <a:r>
              <a:rPr dirty="0" err="1"/>
              <a:t>testiculaire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0278D-6754-DDEF-2FBD-A8D7AD9FD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5F071-AB30-C2E5-F27F-7A630DB5A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C0F072-D42D-BB42-2976-D88DA6059512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23-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sus </a:t>
            </a:r>
            <a:r>
              <a:rPr dirty="0" err="1"/>
              <a:t>claviculaire</a:t>
            </a:r>
            <a:r>
              <a:rPr dirty="0"/>
              <a:t> droite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associée</a:t>
            </a:r>
            <a:r>
              <a:rPr dirty="0"/>
              <a:t> à: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A- </a:t>
            </a:r>
            <a:r>
              <a:rPr dirty="0" err="1"/>
              <a:t>Tumeur</a:t>
            </a:r>
            <a:r>
              <a:rPr dirty="0"/>
              <a:t> </a:t>
            </a:r>
            <a:r>
              <a:rPr dirty="0" err="1"/>
              <a:t>rénale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Cancer du </a:t>
            </a:r>
            <a:r>
              <a:rPr dirty="0" err="1">
                <a:solidFill>
                  <a:srgbClr val="FF0000"/>
                </a:solidFill>
              </a:rPr>
              <a:t>poumon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 err="1">
                <a:solidFill>
                  <a:srgbClr val="FF0000"/>
                </a:solidFill>
              </a:rPr>
              <a:t>Lymphome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médiastinale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 err="1"/>
              <a:t>Thymome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 err="1"/>
              <a:t>Tumeur</a:t>
            </a:r>
            <a:r>
              <a:rPr dirty="0"/>
              <a:t> </a:t>
            </a:r>
            <a:r>
              <a:rPr dirty="0" err="1"/>
              <a:t>testiculaire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06829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24-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à </a:t>
            </a:r>
            <a:r>
              <a:rPr dirty="0" err="1"/>
              <a:t>Pyogène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Principalement</a:t>
            </a:r>
            <a:r>
              <a:rPr dirty="0"/>
              <a:t> </a:t>
            </a:r>
            <a:r>
              <a:rPr dirty="0" err="1"/>
              <a:t>dû</a:t>
            </a:r>
            <a:r>
              <a:rPr dirty="0"/>
              <a:t> à des </a:t>
            </a:r>
            <a:r>
              <a:rPr dirty="0" err="1"/>
              <a:t>bacilles</a:t>
            </a:r>
            <a:r>
              <a:rPr dirty="0"/>
              <a:t> gram </a:t>
            </a:r>
            <a:r>
              <a:rPr dirty="0" err="1"/>
              <a:t>négatif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Associé</a:t>
            </a:r>
            <a:r>
              <a:rPr dirty="0"/>
              <a:t> des </a:t>
            </a:r>
            <a:r>
              <a:rPr dirty="0" err="1"/>
              <a:t>signes</a:t>
            </a:r>
            <a:r>
              <a:rPr dirty="0"/>
              <a:t> </a:t>
            </a:r>
            <a:r>
              <a:rPr dirty="0" err="1"/>
              <a:t>inflammatoires</a:t>
            </a:r>
            <a:r>
              <a:rPr dirty="0"/>
              <a:t> loco-r</a:t>
            </a:r>
            <a:r>
              <a:rPr lang="en-GB" dirty="0" err="1"/>
              <a:t>egional</a:t>
            </a:r>
            <a:r>
              <a:rPr dirty="0"/>
              <a:t>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Une </a:t>
            </a:r>
            <a:r>
              <a:rPr dirty="0" err="1"/>
              <a:t>porte</a:t>
            </a:r>
            <a:r>
              <a:rPr dirty="0"/>
              <a:t> </a:t>
            </a:r>
            <a:r>
              <a:rPr dirty="0" err="1"/>
              <a:t>d'entrée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associée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La </a:t>
            </a:r>
            <a:r>
              <a:rPr dirty="0" err="1"/>
              <a:t>ponction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utile pour le diagnostic </a:t>
            </a:r>
            <a:r>
              <a:rPr dirty="0" err="1"/>
              <a:t>microbiologique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 </a:t>
            </a:r>
            <a:r>
              <a:rPr dirty="0"/>
              <a:t>Son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comporte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un drainage chirurgical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88B55-FDE1-D213-1607-EA472CB4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0D3B7-173F-7CFD-0027-C1D3B95A7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08E30-7211-5873-645E-A07513560B8A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24-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à </a:t>
            </a:r>
            <a:r>
              <a:rPr dirty="0" err="1"/>
              <a:t>Pyogène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Principalement</a:t>
            </a:r>
            <a:r>
              <a:rPr dirty="0"/>
              <a:t> </a:t>
            </a:r>
            <a:r>
              <a:rPr dirty="0" err="1"/>
              <a:t>dû</a:t>
            </a:r>
            <a:r>
              <a:rPr dirty="0"/>
              <a:t> à des </a:t>
            </a:r>
            <a:r>
              <a:rPr dirty="0" err="1"/>
              <a:t>bacilles</a:t>
            </a:r>
            <a:r>
              <a:rPr dirty="0"/>
              <a:t> gram </a:t>
            </a:r>
            <a:r>
              <a:rPr dirty="0" err="1"/>
              <a:t>négatif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Associé</a:t>
            </a:r>
            <a:r>
              <a:rPr dirty="0">
                <a:solidFill>
                  <a:srgbClr val="FF0000"/>
                </a:solidFill>
              </a:rPr>
              <a:t> des </a:t>
            </a:r>
            <a:r>
              <a:rPr dirty="0" err="1">
                <a:solidFill>
                  <a:srgbClr val="FF0000"/>
                </a:solidFill>
              </a:rPr>
              <a:t>signes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inflammatoires</a:t>
            </a:r>
            <a:r>
              <a:rPr dirty="0">
                <a:solidFill>
                  <a:srgbClr val="FF0000"/>
                </a:solidFill>
              </a:rPr>
              <a:t> loco-r</a:t>
            </a:r>
            <a:r>
              <a:rPr lang="en-GB" dirty="0" err="1">
                <a:solidFill>
                  <a:srgbClr val="FF0000"/>
                </a:solidFill>
              </a:rPr>
              <a:t>egional</a:t>
            </a:r>
            <a:r>
              <a:rPr dirty="0">
                <a:solidFill>
                  <a:srgbClr val="FF0000"/>
                </a:solidFill>
              </a:rPr>
              <a:t>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porte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d'entrée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souvent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associée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ponction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utile pour le diagnostic </a:t>
            </a:r>
            <a:r>
              <a:rPr dirty="0" err="1">
                <a:solidFill>
                  <a:srgbClr val="FF0000"/>
                </a:solidFill>
              </a:rPr>
              <a:t>microbiologique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/>
              <a:t>E </a:t>
            </a:r>
            <a:r>
              <a:rPr dirty="0"/>
              <a:t>Son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comporte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un drainage chirurgical</a:t>
            </a:r>
          </a:p>
        </p:txBody>
      </p:sp>
    </p:spTree>
    <p:extLst>
      <p:ext uri="{BB962C8B-B14F-4D97-AF65-F5344CB8AC3E}">
        <p14:creationId xmlns:p14="http://schemas.microsoft.com/office/powerpoint/2010/main" val="253660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25- </a:t>
            </a:r>
            <a:r>
              <a:rPr dirty="0"/>
              <a:t>La </a:t>
            </a:r>
            <a:r>
              <a:rPr dirty="0" err="1"/>
              <a:t>maladie</a:t>
            </a:r>
            <a:r>
              <a:rPr dirty="0"/>
              <a:t> des griffes du chat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pathologie</a:t>
            </a:r>
            <a:r>
              <a:rPr dirty="0"/>
              <a:t> </a:t>
            </a:r>
            <a:r>
              <a:rPr dirty="0" err="1"/>
              <a:t>d'inoculation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Associé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griffure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morsure</a:t>
            </a:r>
            <a:r>
              <a:rPr dirty="0"/>
              <a:t> de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Principalement</a:t>
            </a:r>
            <a:r>
              <a:rPr dirty="0"/>
              <a:t> </a:t>
            </a:r>
            <a:r>
              <a:rPr dirty="0" err="1"/>
              <a:t>lié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CGP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Caractérisée</a:t>
            </a:r>
            <a:r>
              <a:rPr dirty="0"/>
              <a:t> par des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aigues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Son </a:t>
            </a:r>
            <a:r>
              <a:rPr dirty="0" err="1"/>
              <a:t>traitement</a:t>
            </a:r>
            <a:r>
              <a:rPr dirty="0"/>
              <a:t> repose sur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antibiothérapie</a:t>
            </a:r>
            <a:r>
              <a:rPr dirty="0"/>
              <a:t> type </a:t>
            </a:r>
            <a:r>
              <a:rPr dirty="0" err="1"/>
              <a:t>Azithromycine</a:t>
            </a:r>
            <a:endParaRPr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EFFA9-500A-C399-3771-0380BF00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98FF5-792B-73FD-C714-A416A905D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758F3-601B-C72F-B563-FCA11F065760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25- </a:t>
            </a:r>
            <a:r>
              <a:rPr dirty="0"/>
              <a:t>La </a:t>
            </a:r>
            <a:r>
              <a:rPr dirty="0" err="1"/>
              <a:t>maladie</a:t>
            </a:r>
            <a:r>
              <a:rPr dirty="0"/>
              <a:t> des griffes du chat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pathologie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d'inoculation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Associé</a:t>
            </a:r>
            <a:r>
              <a:rPr dirty="0">
                <a:solidFill>
                  <a:srgbClr val="FF0000"/>
                </a:solidFill>
              </a:rPr>
              <a:t> à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griffure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ou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morsure</a:t>
            </a:r>
            <a:r>
              <a:rPr dirty="0">
                <a:solidFill>
                  <a:srgbClr val="FF0000"/>
                </a:solidFill>
              </a:rPr>
              <a:t> de chat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Principalement</a:t>
            </a:r>
            <a:r>
              <a:rPr dirty="0"/>
              <a:t> </a:t>
            </a:r>
            <a:r>
              <a:rPr dirty="0" err="1"/>
              <a:t>lié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CGP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Caractérisée</a:t>
            </a:r>
            <a:r>
              <a:rPr dirty="0"/>
              <a:t> par des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aigues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Son </a:t>
            </a:r>
            <a:r>
              <a:rPr dirty="0" err="1">
                <a:solidFill>
                  <a:srgbClr val="FF0000"/>
                </a:solidFill>
              </a:rPr>
              <a:t>traitement</a:t>
            </a:r>
            <a:r>
              <a:rPr dirty="0">
                <a:solidFill>
                  <a:srgbClr val="FF0000"/>
                </a:solidFill>
              </a:rPr>
              <a:t> repose sur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antibiothérapie</a:t>
            </a:r>
            <a:r>
              <a:rPr dirty="0">
                <a:solidFill>
                  <a:srgbClr val="FF0000"/>
                </a:solidFill>
              </a:rPr>
              <a:t> type </a:t>
            </a:r>
            <a:r>
              <a:rPr dirty="0" err="1">
                <a:solidFill>
                  <a:srgbClr val="FF0000"/>
                </a:solidFill>
              </a:rPr>
              <a:t>Azithromycine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7609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26- </a:t>
            </a:r>
            <a:r>
              <a:rPr dirty="0"/>
              <a:t>A </a:t>
            </a:r>
            <a:r>
              <a:rPr dirty="0" err="1"/>
              <a:t>propos</a:t>
            </a:r>
            <a:r>
              <a:rPr dirty="0"/>
              <a:t> de la </a:t>
            </a:r>
            <a:r>
              <a:rPr dirty="0" err="1"/>
              <a:t>maladie</a:t>
            </a:r>
            <a:r>
              <a:rPr dirty="0"/>
              <a:t> des griffes du chat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La </a:t>
            </a:r>
            <a:r>
              <a:rPr dirty="0" err="1"/>
              <a:t>période</a:t>
            </a:r>
            <a:r>
              <a:rPr dirty="0"/>
              <a:t> </a:t>
            </a:r>
            <a:r>
              <a:rPr dirty="0" err="1"/>
              <a:t>d'incubation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de 2 </a:t>
            </a:r>
            <a:r>
              <a:rPr dirty="0" err="1"/>
              <a:t>mois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d'allure</a:t>
            </a:r>
            <a:r>
              <a:rPr dirty="0"/>
              <a:t> </a:t>
            </a:r>
            <a:r>
              <a:rPr dirty="0" err="1"/>
              <a:t>inflammatoire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 état </a:t>
            </a:r>
            <a:r>
              <a:rPr dirty="0" err="1"/>
              <a:t>subfébrile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associé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Le diagnostic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confirmé</a:t>
            </a:r>
            <a:r>
              <a:rPr dirty="0"/>
              <a:t> par PCR </a:t>
            </a:r>
            <a:r>
              <a:rPr dirty="0" err="1"/>
              <a:t>mettant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évidence</a:t>
            </a:r>
            <a:r>
              <a:rPr dirty="0"/>
              <a:t> </a:t>
            </a:r>
            <a:r>
              <a:rPr dirty="0" err="1"/>
              <a:t>Batonella</a:t>
            </a:r>
            <a:r>
              <a:rPr dirty="0"/>
              <a:t> </a:t>
            </a:r>
            <a:r>
              <a:rPr dirty="0" err="1"/>
              <a:t>hensalae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La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exérèse</a:t>
            </a:r>
            <a:r>
              <a:rPr dirty="0"/>
              <a:t> de </a:t>
            </a:r>
            <a:r>
              <a:rPr dirty="0" err="1"/>
              <a:t>l'adénopathie</a:t>
            </a:r>
            <a:r>
              <a:rPr dirty="0"/>
              <a:t> met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évidence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lymphadénite</a:t>
            </a:r>
            <a:r>
              <a:rPr dirty="0"/>
              <a:t> </a:t>
            </a:r>
            <a:r>
              <a:rPr dirty="0" err="1"/>
              <a:t>nodulaire</a:t>
            </a:r>
            <a:r>
              <a:rPr dirty="0"/>
              <a:t> </a:t>
            </a:r>
            <a:r>
              <a:rPr dirty="0" err="1"/>
              <a:t>abcédée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34E9-B6AB-4AB3-A69A-875ED2AD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466F2-AA21-FE99-4EBA-CEA1BA7D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EABA83-9C17-92CA-C37C-320737D0145C}"/>
              </a:ext>
            </a:extLst>
          </p:cNvPr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26- </a:t>
            </a:r>
            <a:r>
              <a:rPr dirty="0"/>
              <a:t>A </a:t>
            </a:r>
            <a:r>
              <a:rPr dirty="0" err="1"/>
              <a:t>propos</a:t>
            </a:r>
            <a:r>
              <a:rPr dirty="0"/>
              <a:t> de la </a:t>
            </a:r>
            <a:r>
              <a:rPr dirty="0" err="1"/>
              <a:t>maladie</a:t>
            </a:r>
            <a:r>
              <a:rPr dirty="0"/>
              <a:t> des griffes du chat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La </a:t>
            </a:r>
            <a:r>
              <a:rPr dirty="0" err="1"/>
              <a:t>période</a:t>
            </a:r>
            <a:r>
              <a:rPr dirty="0"/>
              <a:t> </a:t>
            </a:r>
            <a:r>
              <a:rPr dirty="0" err="1"/>
              <a:t>d'incubation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de 2 </a:t>
            </a:r>
            <a:r>
              <a:rPr dirty="0" err="1"/>
              <a:t>mois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d'allure</a:t>
            </a:r>
            <a:r>
              <a:rPr dirty="0"/>
              <a:t> </a:t>
            </a:r>
            <a:r>
              <a:rPr dirty="0" err="1"/>
              <a:t>inflammatoire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 état </a:t>
            </a:r>
            <a:r>
              <a:rPr dirty="0" err="1">
                <a:solidFill>
                  <a:srgbClr val="FF0000"/>
                </a:solidFill>
              </a:rPr>
              <a:t>subfébrile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souvent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associé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Le diagnostic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confirmé</a:t>
            </a:r>
            <a:r>
              <a:rPr dirty="0">
                <a:solidFill>
                  <a:srgbClr val="FF0000"/>
                </a:solidFill>
              </a:rPr>
              <a:t> par PCR </a:t>
            </a:r>
            <a:r>
              <a:rPr dirty="0" err="1">
                <a:solidFill>
                  <a:srgbClr val="FF0000"/>
                </a:solidFill>
              </a:rPr>
              <a:t>mettant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évidence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Batonella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hensalae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biopsie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exérèse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l'adénopathie</a:t>
            </a:r>
            <a:r>
              <a:rPr dirty="0">
                <a:solidFill>
                  <a:srgbClr val="FF0000"/>
                </a:solidFill>
              </a:rPr>
              <a:t> met </a:t>
            </a:r>
            <a:r>
              <a:rPr dirty="0" err="1">
                <a:solidFill>
                  <a:srgbClr val="FF0000"/>
                </a:solidFill>
              </a:rPr>
              <a:t>en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évidence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lymphadénite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nodulaire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abcédée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3078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27-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d'inoculation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voir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de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A. La </a:t>
            </a:r>
            <a:r>
              <a:rPr dirty="0" err="1"/>
              <a:t>maladie</a:t>
            </a:r>
            <a:r>
              <a:rPr dirty="0"/>
              <a:t> des griffes du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B. </a:t>
            </a:r>
            <a:r>
              <a:rPr dirty="0" err="1"/>
              <a:t>Morsure</a:t>
            </a:r>
            <a:r>
              <a:rPr dirty="0"/>
              <a:t> de </a:t>
            </a:r>
            <a:r>
              <a:rPr dirty="0" err="1"/>
              <a:t>chien</a:t>
            </a:r>
            <a:r>
              <a:rPr dirty="0"/>
              <a:t> (</a:t>
            </a:r>
            <a:r>
              <a:rPr dirty="0" err="1"/>
              <a:t>Pasteurellose</a:t>
            </a:r>
            <a:r>
              <a:rPr dirty="0"/>
              <a:t>)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C. La </a:t>
            </a:r>
            <a:r>
              <a:rPr dirty="0" err="1"/>
              <a:t>tularémie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D. La </a:t>
            </a:r>
            <a:r>
              <a:rPr dirty="0" err="1"/>
              <a:t>Rickettsiose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F. Infection à </a:t>
            </a:r>
            <a:r>
              <a:rPr dirty="0" err="1"/>
              <a:t>Staphylocoque</a:t>
            </a:r>
            <a:endParaRPr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67B1B-5367-B07C-9B3D-4EF24A449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A385-C817-3A8D-6B9B-95FF3914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AE18C-65CB-61AF-E62E-FFD3D00B2A32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27-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d'inoculation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voir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de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>
                <a:solidFill>
                  <a:srgbClr val="FF0000"/>
                </a:solidFill>
              </a:rPr>
              <a:t>A.</a:t>
            </a:r>
            <a:r>
              <a:rPr dirty="0"/>
              <a:t>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maladie</a:t>
            </a:r>
            <a:r>
              <a:rPr dirty="0">
                <a:solidFill>
                  <a:srgbClr val="FF0000"/>
                </a:solidFill>
              </a:rPr>
              <a:t> des griffes du chat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B. </a:t>
            </a:r>
            <a:r>
              <a:rPr dirty="0" err="1">
                <a:solidFill>
                  <a:srgbClr val="FF0000"/>
                </a:solidFill>
              </a:rPr>
              <a:t>Morsure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chien</a:t>
            </a:r>
            <a:r>
              <a:rPr dirty="0">
                <a:solidFill>
                  <a:srgbClr val="FF0000"/>
                </a:solidFill>
              </a:rPr>
              <a:t> (</a:t>
            </a:r>
            <a:r>
              <a:rPr dirty="0" err="1">
                <a:solidFill>
                  <a:srgbClr val="FF0000"/>
                </a:solidFill>
              </a:rPr>
              <a:t>Pasteurellose</a:t>
            </a:r>
            <a:r>
              <a:rPr dirty="0">
                <a:solidFill>
                  <a:srgbClr val="FF0000"/>
                </a:solidFill>
              </a:rPr>
              <a:t>)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C. La </a:t>
            </a:r>
            <a:r>
              <a:rPr dirty="0" err="1">
                <a:solidFill>
                  <a:srgbClr val="FF0000"/>
                </a:solidFill>
              </a:rPr>
              <a:t>tularémie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D. La </a:t>
            </a:r>
            <a:r>
              <a:rPr dirty="0" err="1">
                <a:solidFill>
                  <a:srgbClr val="FF0000"/>
                </a:solidFill>
              </a:rPr>
              <a:t>Rickettsiose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dirty="0"/>
              <a:t>F. Infection à </a:t>
            </a:r>
            <a:r>
              <a:rPr dirty="0" err="1"/>
              <a:t>Staphylocoque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942829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28- </a:t>
            </a:r>
            <a:r>
              <a:rPr dirty="0"/>
              <a:t>Les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médiastinales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fréquentes</a:t>
            </a:r>
            <a:r>
              <a:rPr dirty="0"/>
              <a:t> dans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</a:t>
            </a:r>
            <a:r>
              <a:rPr lang="fr-FR" dirty="0"/>
              <a:t>- </a:t>
            </a:r>
            <a:r>
              <a:rPr dirty="0"/>
              <a:t>La </a:t>
            </a:r>
            <a:r>
              <a:rPr dirty="0" err="1"/>
              <a:t>maladie</a:t>
            </a:r>
            <a:r>
              <a:rPr dirty="0"/>
              <a:t> des griffes du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Le </a:t>
            </a:r>
            <a:r>
              <a:rPr dirty="0" err="1"/>
              <a:t>lymphome</a:t>
            </a:r>
            <a:r>
              <a:rPr dirty="0"/>
              <a:t> de Hodgkin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La </a:t>
            </a:r>
            <a:r>
              <a:rPr dirty="0" err="1"/>
              <a:t>tuberculose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Le </a:t>
            </a:r>
            <a:r>
              <a:rPr dirty="0" err="1"/>
              <a:t>lymphome</a:t>
            </a:r>
            <a:r>
              <a:rPr dirty="0"/>
              <a:t> non </a:t>
            </a:r>
            <a:r>
              <a:rPr dirty="0" err="1"/>
              <a:t>Hodgkinien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E</a:t>
            </a:r>
            <a:r>
              <a:rPr lang="fr-FR" dirty="0"/>
              <a:t>- </a:t>
            </a:r>
            <a:r>
              <a:rPr dirty="0"/>
              <a:t>La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aigue</a:t>
            </a:r>
            <a:endParaRPr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26EC7-E299-66D4-D66F-E64CD2692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8A811-FFA7-AB85-79CD-3D03EDE7F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7B906C-74A3-0ADB-93B5-7FFE0D77A4F2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28- </a:t>
            </a:r>
            <a:r>
              <a:rPr dirty="0"/>
              <a:t>Les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médiastinales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fréquentes</a:t>
            </a:r>
            <a:r>
              <a:rPr dirty="0"/>
              <a:t> dans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</a:t>
            </a:r>
            <a:r>
              <a:rPr lang="fr-FR" dirty="0"/>
              <a:t>- </a:t>
            </a:r>
            <a:r>
              <a:rPr dirty="0"/>
              <a:t>La </a:t>
            </a:r>
            <a:r>
              <a:rPr dirty="0" err="1"/>
              <a:t>maladie</a:t>
            </a:r>
            <a:r>
              <a:rPr dirty="0"/>
              <a:t> des griffes du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Le </a:t>
            </a:r>
            <a:r>
              <a:rPr dirty="0" err="1">
                <a:solidFill>
                  <a:srgbClr val="FF0000"/>
                </a:solidFill>
              </a:rPr>
              <a:t>lymphome</a:t>
            </a:r>
            <a:r>
              <a:rPr dirty="0">
                <a:solidFill>
                  <a:srgbClr val="FF0000"/>
                </a:solidFill>
              </a:rPr>
              <a:t> de Hodgkin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La </a:t>
            </a:r>
            <a:r>
              <a:rPr dirty="0" err="1"/>
              <a:t>tuberculose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>
                <a:solidFill>
                  <a:srgbClr val="FF0000"/>
                </a:solidFill>
              </a:rPr>
              <a:t>Le </a:t>
            </a:r>
            <a:r>
              <a:rPr dirty="0" err="1">
                <a:solidFill>
                  <a:srgbClr val="FF0000"/>
                </a:solidFill>
              </a:rPr>
              <a:t>lymphome</a:t>
            </a:r>
            <a:r>
              <a:rPr dirty="0">
                <a:solidFill>
                  <a:srgbClr val="FF0000"/>
                </a:solidFill>
              </a:rPr>
              <a:t> non </a:t>
            </a:r>
            <a:r>
              <a:rPr dirty="0" err="1">
                <a:solidFill>
                  <a:srgbClr val="FF0000"/>
                </a:solidFill>
              </a:rPr>
              <a:t>Hodgkinien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E</a:t>
            </a:r>
            <a:r>
              <a:rPr lang="fr-FR" dirty="0">
                <a:solidFill>
                  <a:srgbClr val="FF0000"/>
                </a:solidFill>
              </a:rPr>
              <a:t>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leucémie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aigue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26522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C6302-5ABC-C9DD-BC5D-585F7D81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5EB94-A6CC-7118-17BB-4A9F760CC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0BF5D2-CDA7-D3DA-39EF-8B97D95154F8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29- </a:t>
            </a:r>
            <a:r>
              <a:rPr dirty="0"/>
              <a:t>Les </a:t>
            </a:r>
            <a:r>
              <a:rPr dirty="0" err="1"/>
              <a:t>éléments</a:t>
            </a:r>
            <a:r>
              <a:rPr dirty="0"/>
              <a:t> </a:t>
            </a:r>
            <a:r>
              <a:rPr dirty="0" err="1"/>
              <a:t>suivants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faveur</a:t>
            </a:r>
            <a:r>
              <a:rPr dirty="0"/>
              <a:t> de </a:t>
            </a:r>
            <a:r>
              <a:rPr dirty="0" err="1"/>
              <a:t>l'origine</a:t>
            </a:r>
            <a:r>
              <a:rPr dirty="0"/>
              <a:t> </a:t>
            </a:r>
            <a:r>
              <a:rPr dirty="0" err="1"/>
              <a:t>tuberculeuse</a:t>
            </a:r>
            <a:r>
              <a:rPr dirty="0"/>
              <a:t> des </a:t>
            </a:r>
            <a:r>
              <a:rPr dirty="0" err="1"/>
              <a:t>adénopathles</a:t>
            </a:r>
            <a:r>
              <a:rPr dirty="0"/>
              <a:t>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D'allure</a:t>
            </a:r>
            <a:r>
              <a:rPr dirty="0"/>
              <a:t> très </a:t>
            </a:r>
            <a:r>
              <a:rPr dirty="0" err="1"/>
              <a:t>inflammatoire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cervicales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bilatérales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volumineuses</a:t>
            </a:r>
            <a:r>
              <a:rPr dirty="0"/>
              <a:t> 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évoluent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fistulisation</a:t>
            </a:r>
            <a:r>
              <a:rPr dirty="0"/>
              <a:t> </a:t>
            </a:r>
            <a:r>
              <a:rPr dirty="0" err="1"/>
              <a:t>cutanée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36830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29- </a:t>
            </a:r>
            <a:r>
              <a:rPr dirty="0"/>
              <a:t>Les </a:t>
            </a:r>
            <a:r>
              <a:rPr dirty="0" err="1"/>
              <a:t>éléments</a:t>
            </a:r>
            <a:r>
              <a:rPr dirty="0"/>
              <a:t> </a:t>
            </a:r>
            <a:r>
              <a:rPr dirty="0" err="1"/>
              <a:t>suivants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faveur</a:t>
            </a:r>
            <a:r>
              <a:rPr dirty="0"/>
              <a:t> de </a:t>
            </a:r>
            <a:r>
              <a:rPr dirty="0" err="1"/>
              <a:t>l'origine</a:t>
            </a:r>
            <a:r>
              <a:rPr dirty="0"/>
              <a:t> </a:t>
            </a:r>
            <a:r>
              <a:rPr dirty="0" err="1"/>
              <a:t>tuberculeuse</a:t>
            </a:r>
            <a:r>
              <a:rPr dirty="0"/>
              <a:t> des </a:t>
            </a:r>
            <a:r>
              <a:rPr dirty="0" err="1"/>
              <a:t>adénopathles</a:t>
            </a:r>
            <a:r>
              <a:rPr dirty="0"/>
              <a:t>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D'allure</a:t>
            </a:r>
            <a:r>
              <a:rPr dirty="0"/>
              <a:t> très </a:t>
            </a:r>
            <a:r>
              <a:rPr dirty="0" err="1"/>
              <a:t>inflammatoire</a:t>
            </a:r>
            <a:endParaRPr lang="fr-FR" dirty="0"/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Le plus </a:t>
            </a:r>
            <a:r>
              <a:rPr dirty="0" err="1">
                <a:solidFill>
                  <a:srgbClr val="FF0000"/>
                </a:solidFill>
              </a:rPr>
              <a:t>souvent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cervicales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bilatérales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Le plus </a:t>
            </a:r>
            <a:r>
              <a:rPr dirty="0" err="1">
                <a:solidFill>
                  <a:srgbClr val="FF0000"/>
                </a:solidFill>
              </a:rPr>
              <a:t>souvent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volumineuses</a:t>
            </a:r>
            <a:r>
              <a:rPr dirty="0">
                <a:solidFill>
                  <a:srgbClr val="FF0000"/>
                </a:solidFill>
              </a:rPr>
              <a:t> 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évoluent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fistulisation</a:t>
            </a:r>
            <a:r>
              <a:rPr dirty="0"/>
              <a:t> </a:t>
            </a:r>
            <a:r>
              <a:rPr dirty="0" err="1"/>
              <a:t>cutanée</a:t>
            </a:r>
            <a:endParaRPr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30- </a:t>
            </a:r>
            <a:r>
              <a:rPr dirty="0"/>
              <a:t>En </a:t>
            </a:r>
            <a:r>
              <a:rPr dirty="0" err="1"/>
              <a:t>faveur</a:t>
            </a:r>
            <a:r>
              <a:rPr dirty="0"/>
              <a:t> de diagnostic de </a:t>
            </a:r>
            <a:r>
              <a:rPr dirty="0" err="1"/>
              <a:t>mononucléose</a:t>
            </a:r>
            <a:r>
              <a:rPr dirty="0"/>
              <a:t> </a:t>
            </a:r>
            <a:r>
              <a:rPr dirty="0" err="1"/>
              <a:t>infectieuse</a:t>
            </a:r>
            <a:r>
              <a:rPr dirty="0"/>
              <a:t> chez un enfant </a:t>
            </a:r>
            <a:r>
              <a:rPr dirty="0" err="1"/>
              <a:t>ayant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multiples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</a:t>
            </a:r>
            <a:r>
              <a:rPr lang="fr-FR" dirty="0"/>
              <a:t>-</a:t>
            </a:r>
            <a:r>
              <a:rPr dirty="0"/>
              <a:t> Les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cervicales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B </a:t>
            </a:r>
            <a:r>
              <a:rPr lang="fr-FR" dirty="0"/>
              <a:t>-</a:t>
            </a:r>
            <a:r>
              <a:rPr dirty="0" err="1"/>
              <a:t>Associé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angine</a:t>
            </a:r>
            <a:r>
              <a:rPr dirty="0"/>
              <a:t> </a:t>
            </a:r>
            <a:r>
              <a:rPr dirty="0" err="1"/>
              <a:t>pseudomembraneuse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C</a:t>
            </a:r>
            <a:r>
              <a:rPr lang="fr-FR" dirty="0"/>
              <a:t>-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splénomégalie</a:t>
            </a:r>
            <a:r>
              <a:rPr dirty="0"/>
              <a:t> très </a:t>
            </a:r>
            <a:r>
              <a:rPr dirty="0" err="1"/>
              <a:t>volumineuse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</a:t>
            </a:r>
            <a:r>
              <a:rPr lang="fr-FR" dirty="0"/>
              <a:t>- </a:t>
            </a:r>
            <a:r>
              <a:rPr dirty="0"/>
              <a:t>Une </a:t>
            </a:r>
            <a:r>
              <a:rPr dirty="0" err="1"/>
              <a:t>hyperleucocytose</a:t>
            </a:r>
            <a:r>
              <a:rPr dirty="0"/>
              <a:t> à </a:t>
            </a:r>
            <a:r>
              <a:rPr dirty="0" err="1"/>
              <a:t>prédominance</a:t>
            </a:r>
            <a:r>
              <a:rPr dirty="0"/>
              <a:t> PNN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E</a:t>
            </a:r>
            <a:r>
              <a:rPr lang="fr-FR" dirty="0"/>
              <a:t>-</a:t>
            </a:r>
            <a:r>
              <a:rPr dirty="0"/>
              <a:t> Une </a:t>
            </a:r>
            <a:r>
              <a:rPr dirty="0" err="1"/>
              <a:t>hyperlymphocytose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5C5E6-1D39-E5A4-0B03-0826F402D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94AB2-5DD8-25AB-9EA1-BB3E45F46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DC454-3DF2-C2E7-AAA4-4DA45A90C779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30- </a:t>
            </a:r>
            <a:r>
              <a:rPr dirty="0"/>
              <a:t>En </a:t>
            </a:r>
            <a:r>
              <a:rPr dirty="0" err="1"/>
              <a:t>faveur</a:t>
            </a:r>
            <a:r>
              <a:rPr dirty="0"/>
              <a:t> de diagnostic de </a:t>
            </a:r>
            <a:r>
              <a:rPr dirty="0" err="1"/>
              <a:t>mononucléose</a:t>
            </a:r>
            <a:r>
              <a:rPr dirty="0"/>
              <a:t> </a:t>
            </a:r>
            <a:r>
              <a:rPr dirty="0" err="1"/>
              <a:t>infectieuse</a:t>
            </a:r>
            <a:r>
              <a:rPr dirty="0"/>
              <a:t> chez un enfant </a:t>
            </a:r>
            <a:r>
              <a:rPr dirty="0" err="1"/>
              <a:t>ayant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multiples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>
                <a:solidFill>
                  <a:srgbClr val="FF0000"/>
                </a:solidFill>
              </a:rPr>
              <a:t>A</a:t>
            </a:r>
            <a:r>
              <a:rPr lang="fr-FR" dirty="0">
                <a:solidFill>
                  <a:srgbClr val="FF0000"/>
                </a:solidFill>
              </a:rPr>
              <a:t>-</a:t>
            </a:r>
            <a:r>
              <a:rPr dirty="0">
                <a:solidFill>
                  <a:srgbClr val="FF0000"/>
                </a:solidFill>
              </a:rPr>
              <a:t> Les </a:t>
            </a:r>
            <a:r>
              <a:rPr dirty="0" err="1">
                <a:solidFill>
                  <a:srgbClr val="FF0000"/>
                </a:solidFill>
              </a:rPr>
              <a:t>adénopathies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sont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souvent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cervicales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B </a:t>
            </a:r>
            <a:r>
              <a:rPr lang="fr-FR" dirty="0">
                <a:solidFill>
                  <a:srgbClr val="FF0000"/>
                </a:solidFill>
              </a:rPr>
              <a:t>-</a:t>
            </a:r>
            <a:r>
              <a:rPr dirty="0" err="1">
                <a:solidFill>
                  <a:srgbClr val="FF0000"/>
                </a:solidFill>
              </a:rPr>
              <a:t>Associé</a:t>
            </a:r>
            <a:r>
              <a:rPr dirty="0">
                <a:solidFill>
                  <a:srgbClr val="FF0000"/>
                </a:solidFill>
              </a:rPr>
              <a:t> à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angine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pseudomembraneuse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dirty="0"/>
              <a:t>C</a:t>
            </a:r>
            <a:r>
              <a:rPr lang="fr-FR" dirty="0"/>
              <a:t>-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splénomégalie</a:t>
            </a:r>
            <a:r>
              <a:rPr dirty="0"/>
              <a:t> très </a:t>
            </a:r>
            <a:r>
              <a:rPr dirty="0" err="1"/>
              <a:t>volumineuse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</a:t>
            </a:r>
            <a:r>
              <a:rPr lang="fr-FR" dirty="0"/>
              <a:t>- </a:t>
            </a:r>
            <a:r>
              <a:rPr dirty="0"/>
              <a:t>Une </a:t>
            </a:r>
            <a:r>
              <a:rPr dirty="0" err="1"/>
              <a:t>hyperleucocytose</a:t>
            </a:r>
            <a:r>
              <a:rPr dirty="0"/>
              <a:t> à </a:t>
            </a:r>
            <a:r>
              <a:rPr dirty="0" err="1"/>
              <a:t>prédominance</a:t>
            </a:r>
            <a:r>
              <a:rPr dirty="0"/>
              <a:t> PNN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>
                <a:solidFill>
                  <a:srgbClr val="FF0000"/>
                </a:solidFill>
              </a:rPr>
              <a:t>E</a:t>
            </a:r>
            <a:r>
              <a:rPr lang="fr-FR" dirty="0">
                <a:solidFill>
                  <a:srgbClr val="FF0000"/>
                </a:solidFill>
              </a:rPr>
              <a:t>-</a:t>
            </a:r>
            <a:r>
              <a:rPr dirty="0">
                <a:solidFill>
                  <a:srgbClr val="FF0000"/>
                </a:solidFill>
              </a:rPr>
              <a:t> Une </a:t>
            </a:r>
            <a:r>
              <a:rPr dirty="0" err="1">
                <a:solidFill>
                  <a:srgbClr val="FF0000"/>
                </a:solidFill>
              </a:rPr>
              <a:t>hyperlymphocytose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0407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31- </a:t>
            </a:r>
            <a:r>
              <a:rPr dirty="0"/>
              <a:t>Une poly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voire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des infections </a:t>
            </a:r>
            <a:r>
              <a:rPr dirty="0" err="1"/>
              <a:t>virales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Primo infection par le VIH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EBV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Infection par le CMV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Tuberculose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Leishmaniose</a:t>
            </a:r>
            <a:r>
              <a:rPr dirty="0"/>
              <a:t> </a:t>
            </a:r>
            <a:r>
              <a:rPr dirty="0" err="1"/>
              <a:t>viscérale</a:t>
            </a:r>
            <a:endParaRPr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7E528-CAF7-571E-9415-C7F63C84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A3227-F07B-77C0-A5CF-0829196A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E857D-CDC6-2EED-DC83-2791EB6C8318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31- </a:t>
            </a:r>
            <a:r>
              <a:rPr dirty="0"/>
              <a:t>Une poly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voire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des infections </a:t>
            </a:r>
            <a:r>
              <a:rPr dirty="0" err="1"/>
              <a:t>virales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Primo infection par le VIH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EBV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Infection par le CMV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Tuberculose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Leishmaniose</a:t>
            </a:r>
            <a:r>
              <a:rPr dirty="0"/>
              <a:t> </a:t>
            </a:r>
            <a:r>
              <a:rPr dirty="0" err="1"/>
              <a:t>viscérale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844687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399" y="1371600"/>
            <a:ext cx="816032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32- </a:t>
            </a:r>
            <a:r>
              <a:rPr dirty="0"/>
              <a:t>Le Syphilis </a:t>
            </a:r>
            <a:r>
              <a:rPr dirty="0" err="1"/>
              <a:t>primaire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maladie</a:t>
            </a:r>
            <a:r>
              <a:rPr dirty="0"/>
              <a:t> </a:t>
            </a:r>
            <a:r>
              <a:rPr dirty="0" err="1"/>
              <a:t>sexuellement</a:t>
            </a:r>
            <a:r>
              <a:rPr dirty="0"/>
              <a:t> </a:t>
            </a:r>
            <a:r>
              <a:rPr dirty="0" err="1"/>
              <a:t>transmise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Due à </a:t>
            </a:r>
            <a:r>
              <a:rPr dirty="0" err="1"/>
              <a:t>l'agent</a:t>
            </a:r>
            <a:r>
              <a:rPr dirty="0"/>
              <a:t> </a:t>
            </a:r>
            <a:r>
              <a:rPr dirty="0" err="1"/>
              <a:t>bactérien</a:t>
            </a:r>
            <a:r>
              <a:rPr dirty="0"/>
              <a:t> Treponema pallidum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Associé</a:t>
            </a:r>
            <a:r>
              <a:rPr dirty="0"/>
              <a:t> à des </a:t>
            </a:r>
            <a:r>
              <a:rPr dirty="0" err="1"/>
              <a:t>adénopathies</a:t>
            </a:r>
            <a:r>
              <a:rPr dirty="0"/>
              <a:t> multiples, </a:t>
            </a:r>
            <a:r>
              <a:rPr dirty="0" err="1"/>
              <a:t>inguinales</a:t>
            </a:r>
            <a:r>
              <a:rPr dirty="0"/>
              <a:t> 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volumineuses</a:t>
            </a:r>
            <a:r>
              <a:rPr dirty="0"/>
              <a:t>, </a:t>
            </a:r>
            <a:r>
              <a:rPr dirty="0" err="1"/>
              <a:t>inflammatoires</a:t>
            </a:r>
            <a:r>
              <a:rPr dirty="0"/>
              <a:t> et </a:t>
            </a:r>
            <a:r>
              <a:rPr dirty="0" err="1"/>
              <a:t>douloureuses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Associé</a:t>
            </a:r>
            <a:r>
              <a:rPr dirty="0"/>
              <a:t> à un chancre </a:t>
            </a:r>
            <a:r>
              <a:rPr dirty="0" err="1"/>
              <a:t>syphilitique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Le diagnostic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sérologique</a:t>
            </a:r>
            <a:endParaRPr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03FEA-04DD-5A48-B503-CFE6FE93B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724C-A165-03D4-311F-E41912AD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97B28B-4EFA-E30E-8C97-1DFBA48DD9C3}"/>
              </a:ext>
            </a:extLst>
          </p:cNvPr>
          <p:cNvSpPr txBox="1"/>
          <p:nvPr/>
        </p:nvSpPr>
        <p:spPr>
          <a:xfrm>
            <a:off x="914399" y="1371600"/>
            <a:ext cx="816032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32- </a:t>
            </a:r>
            <a:r>
              <a:rPr dirty="0"/>
              <a:t>Le Syphilis </a:t>
            </a:r>
            <a:r>
              <a:rPr dirty="0" err="1"/>
              <a:t>primaire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maladie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sexuellement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transmise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Due à </a:t>
            </a:r>
            <a:r>
              <a:rPr dirty="0" err="1">
                <a:solidFill>
                  <a:srgbClr val="FF0000"/>
                </a:solidFill>
              </a:rPr>
              <a:t>l'agent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bactérien</a:t>
            </a:r>
            <a:r>
              <a:rPr dirty="0">
                <a:solidFill>
                  <a:srgbClr val="FF0000"/>
                </a:solidFill>
              </a:rPr>
              <a:t> Treponema pallidum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Associé</a:t>
            </a:r>
            <a:r>
              <a:rPr dirty="0"/>
              <a:t> à des </a:t>
            </a:r>
            <a:r>
              <a:rPr dirty="0" err="1"/>
              <a:t>adénopathies</a:t>
            </a:r>
            <a:r>
              <a:rPr dirty="0"/>
              <a:t> multiples, </a:t>
            </a:r>
            <a:r>
              <a:rPr dirty="0" err="1"/>
              <a:t>inguinales</a:t>
            </a:r>
            <a:r>
              <a:rPr dirty="0"/>
              <a:t> 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volumineuses</a:t>
            </a:r>
            <a:r>
              <a:rPr dirty="0"/>
              <a:t>, </a:t>
            </a:r>
            <a:r>
              <a:rPr dirty="0" err="1"/>
              <a:t>inflammatoires</a:t>
            </a:r>
            <a:r>
              <a:rPr dirty="0"/>
              <a:t> et </a:t>
            </a:r>
            <a:r>
              <a:rPr dirty="0" err="1"/>
              <a:t>douloureuses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 err="1">
                <a:solidFill>
                  <a:srgbClr val="FF0000"/>
                </a:solidFill>
              </a:rPr>
              <a:t>Associé</a:t>
            </a:r>
            <a:r>
              <a:rPr dirty="0">
                <a:solidFill>
                  <a:srgbClr val="FF0000"/>
                </a:solidFill>
              </a:rPr>
              <a:t> à un chancre </a:t>
            </a:r>
            <a:r>
              <a:rPr dirty="0" err="1">
                <a:solidFill>
                  <a:srgbClr val="FF0000"/>
                </a:solidFill>
              </a:rPr>
              <a:t>syphilitique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Le diagnostic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sérologique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02607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4964" y="1572491"/>
            <a:ext cx="83473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33- </a:t>
            </a:r>
            <a:r>
              <a:rPr dirty="0"/>
              <a:t>Dans les maladies </a:t>
            </a:r>
            <a:r>
              <a:rPr dirty="0" err="1"/>
              <a:t>sexuellement</a:t>
            </a:r>
            <a:r>
              <a:rPr dirty="0"/>
              <a:t> </a:t>
            </a:r>
            <a:r>
              <a:rPr dirty="0" err="1"/>
              <a:t>transmissibles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 les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caractérisées</a:t>
            </a:r>
            <a:r>
              <a:rPr dirty="0"/>
              <a:t> par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ADP inguinale unique </a:t>
            </a:r>
            <a:r>
              <a:rPr dirty="0" err="1"/>
              <a:t>volumineuse</a:t>
            </a:r>
            <a:r>
              <a:rPr dirty="0"/>
              <a:t> non </a:t>
            </a:r>
            <a:r>
              <a:rPr dirty="0" err="1"/>
              <a:t>inflammatoire</a:t>
            </a:r>
            <a:r>
              <a:rPr dirty="0"/>
              <a:t> </a:t>
            </a:r>
            <a:r>
              <a:rPr dirty="0" err="1"/>
              <a:t>Indolore</a:t>
            </a:r>
            <a:r>
              <a:rPr dirty="0"/>
              <a:t> dans la syphilis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ADP inguinale unique </a:t>
            </a:r>
            <a:r>
              <a:rPr dirty="0" err="1"/>
              <a:t>volumineuse</a:t>
            </a:r>
            <a:r>
              <a:rPr dirty="0"/>
              <a:t> </a:t>
            </a:r>
            <a:r>
              <a:rPr dirty="0" err="1"/>
              <a:t>inflammatoire</a:t>
            </a:r>
            <a:r>
              <a:rPr dirty="0"/>
              <a:t> </a:t>
            </a:r>
            <a:r>
              <a:rPr dirty="0" err="1"/>
              <a:t>douloureuse</a:t>
            </a:r>
            <a:r>
              <a:rPr dirty="0"/>
              <a:t> dans la syphilis 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ADP </a:t>
            </a:r>
            <a:r>
              <a:rPr dirty="0" err="1"/>
              <a:t>inguinales</a:t>
            </a:r>
            <a:r>
              <a:rPr dirty="0"/>
              <a:t> </a:t>
            </a:r>
            <a:r>
              <a:rPr dirty="0" err="1"/>
              <a:t>inflammatoires</a:t>
            </a:r>
            <a:r>
              <a:rPr dirty="0"/>
              <a:t> et </a:t>
            </a:r>
            <a:r>
              <a:rPr dirty="0" err="1"/>
              <a:t>d'ulcérations</a:t>
            </a:r>
            <a:r>
              <a:rPr dirty="0"/>
              <a:t> multiples dans le chancre mou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</a:t>
            </a:r>
            <a:r>
              <a:rPr lang="fr-FR" dirty="0"/>
              <a:t>- </a:t>
            </a:r>
            <a:r>
              <a:rPr dirty="0" err="1"/>
              <a:t>Evoluant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fistulisation</a:t>
            </a:r>
            <a:r>
              <a:rPr dirty="0"/>
              <a:t> </a:t>
            </a:r>
            <a:r>
              <a:rPr dirty="0" err="1"/>
              <a:t>cutanée</a:t>
            </a:r>
            <a:r>
              <a:rPr dirty="0"/>
              <a:t> dans la </a:t>
            </a:r>
            <a:r>
              <a:rPr dirty="0" err="1"/>
              <a:t>maladie</a:t>
            </a:r>
            <a:r>
              <a:rPr dirty="0"/>
              <a:t> de Nicolas Favre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lymphogranulomatose</a:t>
            </a:r>
            <a:r>
              <a:rPr dirty="0"/>
              <a:t> </a:t>
            </a:r>
            <a:r>
              <a:rPr dirty="0" err="1"/>
              <a:t>vénérienne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ADP 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unilatérale</a:t>
            </a:r>
            <a:r>
              <a:rPr dirty="0"/>
              <a:t>, non </a:t>
            </a:r>
            <a:r>
              <a:rPr dirty="0" err="1"/>
              <a:t>inflammatoire</a:t>
            </a:r>
            <a:r>
              <a:rPr dirty="0"/>
              <a:t> et non </a:t>
            </a:r>
            <a:r>
              <a:rPr dirty="0" err="1"/>
              <a:t>douloureuse</a:t>
            </a:r>
            <a:r>
              <a:rPr dirty="0"/>
              <a:t>, dans la </a:t>
            </a:r>
            <a:r>
              <a:rPr dirty="0" err="1"/>
              <a:t>maladie</a:t>
            </a:r>
            <a:r>
              <a:rPr dirty="0"/>
              <a:t> de Nicolas Favre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065CA-6900-2D73-1C60-A717B80ED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979E2-BC96-0604-B58A-6BFF2BA2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83F53-B6F2-5AA7-6865-9B1072007B06}"/>
              </a:ext>
            </a:extLst>
          </p:cNvPr>
          <p:cNvSpPr txBox="1"/>
          <p:nvPr/>
        </p:nvSpPr>
        <p:spPr>
          <a:xfrm>
            <a:off x="574964" y="1572491"/>
            <a:ext cx="83473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33- </a:t>
            </a:r>
            <a:r>
              <a:rPr dirty="0"/>
              <a:t>Dans les maladies </a:t>
            </a:r>
            <a:r>
              <a:rPr dirty="0" err="1"/>
              <a:t>sexuellement</a:t>
            </a:r>
            <a:r>
              <a:rPr dirty="0"/>
              <a:t> </a:t>
            </a:r>
            <a:r>
              <a:rPr dirty="0" err="1"/>
              <a:t>transmissibles</a:t>
            </a:r>
            <a:r>
              <a:rPr dirty="0"/>
              <a:t> </a:t>
            </a:r>
            <a:r>
              <a:rPr dirty="0" err="1"/>
              <a:t>suivantes</a:t>
            </a:r>
            <a:r>
              <a:rPr dirty="0"/>
              <a:t> les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caractérisées</a:t>
            </a:r>
            <a:r>
              <a:rPr dirty="0"/>
              <a:t> par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ADP inguinale unique </a:t>
            </a:r>
            <a:r>
              <a:rPr dirty="0" err="1">
                <a:solidFill>
                  <a:srgbClr val="FF0000"/>
                </a:solidFill>
              </a:rPr>
              <a:t>volumineuse</a:t>
            </a:r>
            <a:r>
              <a:rPr dirty="0">
                <a:solidFill>
                  <a:srgbClr val="FF0000"/>
                </a:solidFill>
              </a:rPr>
              <a:t> non </a:t>
            </a:r>
            <a:r>
              <a:rPr dirty="0" err="1">
                <a:solidFill>
                  <a:srgbClr val="FF0000"/>
                </a:solidFill>
              </a:rPr>
              <a:t>inflammatoire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Indolore</a:t>
            </a:r>
            <a:r>
              <a:rPr dirty="0">
                <a:solidFill>
                  <a:srgbClr val="FF0000"/>
                </a:solidFill>
              </a:rPr>
              <a:t> dans la syphilis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ADP inguinale unique </a:t>
            </a:r>
            <a:r>
              <a:rPr dirty="0" err="1"/>
              <a:t>volumineuse</a:t>
            </a:r>
            <a:r>
              <a:rPr dirty="0"/>
              <a:t> </a:t>
            </a:r>
            <a:r>
              <a:rPr dirty="0" err="1"/>
              <a:t>inflammatoire</a:t>
            </a:r>
            <a:r>
              <a:rPr dirty="0"/>
              <a:t> </a:t>
            </a:r>
            <a:r>
              <a:rPr dirty="0" err="1"/>
              <a:t>douloureuse</a:t>
            </a:r>
            <a:r>
              <a:rPr dirty="0"/>
              <a:t> dans la syphilis 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ADP </a:t>
            </a:r>
            <a:r>
              <a:rPr dirty="0" err="1">
                <a:solidFill>
                  <a:srgbClr val="FF0000"/>
                </a:solidFill>
              </a:rPr>
              <a:t>inguinales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inflammatoires</a:t>
            </a:r>
            <a:r>
              <a:rPr dirty="0">
                <a:solidFill>
                  <a:srgbClr val="FF0000"/>
                </a:solidFill>
              </a:rPr>
              <a:t> et </a:t>
            </a:r>
            <a:r>
              <a:rPr dirty="0" err="1">
                <a:solidFill>
                  <a:srgbClr val="FF0000"/>
                </a:solidFill>
              </a:rPr>
              <a:t>d'ulcérations</a:t>
            </a:r>
            <a:r>
              <a:rPr dirty="0">
                <a:solidFill>
                  <a:srgbClr val="FF0000"/>
                </a:solidFill>
              </a:rPr>
              <a:t> multiples dans le chancre mou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D</a:t>
            </a:r>
            <a:r>
              <a:rPr lang="fr-FR" dirty="0">
                <a:solidFill>
                  <a:srgbClr val="FF0000"/>
                </a:solidFill>
              </a:rPr>
              <a:t>- </a:t>
            </a:r>
            <a:r>
              <a:rPr dirty="0" err="1">
                <a:solidFill>
                  <a:srgbClr val="FF0000"/>
                </a:solidFill>
              </a:rPr>
              <a:t>Evoluant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vers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fistulisation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cutanée</a:t>
            </a:r>
            <a:r>
              <a:rPr dirty="0">
                <a:solidFill>
                  <a:srgbClr val="FF0000"/>
                </a:solidFill>
              </a:rPr>
              <a:t> dans la </a:t>
            </a:r>
            <a:r>
              <a:rPr dirty="0" err="1">
                <a:solidFill>
                  <a:srgbClr val="FF0000"/>
                </a:solidFill>
              </a:rPr>
              <a:t>maladie</a:t>
            </a:r>
            <a:r>
              <a:rPr dirty="0">
                <a:solidFill>
                  <a:srgbClr val="FF0000"/>
                </a:solidFill>
              </a:rPr>
              <a:t> de Nicolas Favre </a:t>
            </a:r>
            <a:r>
              <a:rPr dirty="0" err="1">
                <a:solidFill>
                  <a:srgbClr val="FF0000"/>
                </a:solidFill>
              </a:rPr>
              <a:t>ou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lymphogranulomatose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vénérienne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ADP 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unilatérale</a:t>
            </a:r>
            <a:r>
              <a:rPr dirty="0"/>
              <a:t>, non </a:t>
            </a:r>
            <a:r>
              <a:rPr dirty="0" err="1"/>
              <a:t>inflammatoire</a:t>
            </a:r>
            <a:r>
              <a:rPr dirty="0"/>
              <a:t> et non </a:t>
            </a:r>
            <a:r>
              <a:rPr dirty="0" err="1"/>
              <a:t>douloureuse</a:t>
            </a:r>
            <a:r>
              <a:rPr dirty="0"/>
              <a:t>, dans la </a:t>
            </a:r>
            <a:r>
              <a:rPr dirty="0" err="1"/>
              <a:t>maladie</a:t>
            </a:r>
            <a:r>
              <a:rPr dirty="0"/>
              <a:t> de Nicolas Favre</a:t>
            </a:r>
          </a:p>
        </p:txBody>
      </p:sp>
    </p:spTree>
    <p:extLst>
      <p:ext uri="{BB962C8B-B14F-4D97-AF65-F5344CB8AC3E}">
        <p14:creationId xmlns:p14="http://schemas.microsoft.com/office/powerpoint/2010/main" val="38210208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34- </a:t>
            </a:r>
            <a:r>
              <a:rPr dirty="0"/>
              <a:t>En plus </a:t>
            </a:r>
            <a:r>
              <a:rPr dirty="0" err="1"/>
              <a:t>d'une</a:t>
            </a:r>
            <a:r>
              <a:rPr dirty="0"/>
              <a:t> poly </a:t>
            </a:r>
            <a:r>
              <a:rPr dirty="0" err="1"/>
              <a:t>adénopathie</a:t>
            </a:r>
            <a:r>
              <a:rPr dirty="0"/>
              <a:t>, la </a:t>
            </a:r>
            <a:r>
              <a:rPr dirty="0" err="1"/>
              <a:t>brucellose</a:t>
            </a:r>
            <a:r>
              <a:rPr dirty="0"/>
              <a:t> </a:t>
            </a:r>
            <a:r>
              <a:rPr dirty="0" err="1"/>
              <a:t>associe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 </a:t>
            </a:r>
            <a:r>
              <a:rPr dirty="0" err="1"/>
              <a:t>Typhos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/>
              <a:t>Une </a:t>
            </a:r>
            <a:r>
              <a:rPr dirty="0" err="1"/>
              <a:t>fièvre</a:t>
            </a:r>
            <a:r>
              <a:rPr dirty="0"/>
              <a:t> </a:t>
            </a:r>
            <a:r>
              <a:rPr dirty="0" err="1"/>
              <a:t>ondulante</a:t>
            </a:r>
            <a:r>
              <a:rPr dirty="0"/>
              <a:t> </a:t>
            </a:r>
            <a:r>
              <a:rPr dirty="0" err="1"/>
              <a:t>suduro-algique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Une </a:t>
            </a:r>
            <a:r>
              <a:rPr dirty="0" err="1"/>
              <a:t>splénomégalie</a:t>
            </a:r>
            <a:r>
              <a:rPr dirty="0"/>
              <a:t> </a:t>
            </a:r>
            <a:r>
              <a:rPr dirty="0" err="1"/>
              <a:t>modérée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leucopénie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sérologie</a:t>
            </a:r>
            <a:r>
              <a:rPr dirty="0"/>
              <a:t> de </a:t>
            </a:r>
            <a:r>
              <a:rPr dirty="0" err="1"/>
              <a:t>Widal</a:t>
            </a:r>
            <a:r>
              <a:rPr dirty="0"/>
              <a:t> positive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DD95-BE96-15B7-FCB7-9640DC3D0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81EA6-55B1-F96E-708B-E3A36F6BA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0F3474-A252-0A79-7041-F9463E07D07B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34- </a:t>
            </a:r>
            <a:r>
              <a:rPr dirty="0"/>
              <a:t>En plus </a:t>
            </a:r>
            <a:r>
              <a:rPr dirty="0" err="1"/>
              <a:t>d'une</a:t>
            </a:r>
            <a:r>
              <a:rPr dirty="0"/>
              <a:t> poly </a:t>
            </a:r>
            <a:r>
              <a:rPr dirty="0" err="1"/>
              <a:t>adénopathie</a:t>
            </a:r>
            <a:r>
              <a:rPr dirty="0"/>
              <a:t>, la </a:t>
            </a:r>
            <a:r>
              <a:rPr dirty="0" err="1"/>
              <a:t>brucellose</a:t>
            </a:r>
            <a:r>
              <a:rPr dirty="0"/>
              <a:t> </a:t>
            </a:r>
            <a:r>
              <a:rPr dirty="0" err="1"/>
              <a:t>associe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 </a:t>
            </a:r>
            <a:r>
              <a:rPr dirty="0" err="1"/>
              <a:t>Typhos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fièvre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ondulante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suduro-algique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splénomégalie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modérée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leucopénie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sérologie</a:t>
            </a:r>
            <a:r>
              <a:rPr dirty="0"/>
              <a:t> de </a:t>
            </a:r>
            <a:r>
              <a:rPr dirty="0" err="1"/>
              <a:t>Widal</a:t>
            </a:r>
            <a:r>
              <a:rPr dirty="0"/>
              <a:t> positive</a:t>
            </a:r>
          </a:p>
        </p:txBody>
      </p:sp>
    </p:spTree>
    <p:extLst>
      <p:ext uri="{BB962C8B-B14F-4D97-AF65-F5344CB8AC3E}">
        <p14:creationId xmlns:p14="http://schemas.microsoft.com/office/powerpoint/2010/main" val="19377079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35- </a:t>
            </a:r>
            <a:r>
              <a:rPr dirty="0"/>
              <a:t>Parmi les pathologies </a:t>
            </a:r>
            <a:r>
              <a:rPr dirty="0" err="1"/>
              <a:t>suivantes</a:t>
            </a:r>
            <a:r>
              <a:rPr dirty="0"/>
              <a:t>, le(les) quelle(s) </a:t>
            </a:r>
            <a:r>
              <a:rPr dirty="0" err="1"/>
              <a:t>pourrait</a:t>
            </a:r>
            <a:r>
              <a:rPr dirty="0"/>
              <a:t>(</a:t>
            </a:r>
            <a:r>
              <a:rPr dirty="0" err="1"/>
              <a:t>ent</a:t>
            </a:r>
            <a:r>
              <a:rPr dirty="0"/>
              <a:t>)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évoquées</a:t>
            </a:r>
            <a:r>
              <a:rPr dirty="0"/>
              <a:t> </a:t>
            </a:r>
            <a:r>
              <a:rPr dirty="0" err="1"/>
              <a:t>devant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cervicales</a:t>
            </a:r>
            <a:r>
              <a:rPr dirty="0"/>
              <a:t> et un syndrome </a:t>
            </a:r>
            <a:r>
              <a:rPr dirty="0" err="1"/>
              <a:t>mononucléosique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Mononucléose</a:t>
            </a:r>
            <a:r>
              <a:rPr dirty="0"/>
              <a:t> </a:t>
            </a:r>
            <a:r>
              <a:rPr dirty="0" err="1"/>
              <a:t>infectieuse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Maladie</a:t>
            </a:r>
            <a:r>
              <a:rPr dirty="0"/>
              <a:t> de Hodgkin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Toxoplasmose</a:t>
            </a:r>
            <a:r>
              <a:rPr dirty="0"/>
              <a:t> </a:t>
            </a:r>
            <a:r>
              <a:rPr dirty="0" err="1"/>
              <a:t>acquise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Maladie</a:t>
            </a:r>
            <a:r>
              <a:rPr dirty="0"/>
              <a:t> de Griffe de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Infection à </a:t>
            </a:r>
            <a:r>
              <a:rPr dirty="0" err="1"/>
              <a:t>cytomégalovirus</a:t>
            </a:r>
            <a:endParaRPr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6C900-9B66-9E5B-718E-7264B11D9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27B9B-0975-8E5B-1F42-1F3EAAE4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71EAFC-2BC8-6A32-63C0-3F886C50FAA9}"/>
              </a:ext>
            </a:extLst>
          </p:cNvPr>
          <p:cNvSpPr txBox="1"/>
          <p:nvPr/>
        </p:nvSpPr>
        <p:spPr>
          <a:xfrm>
            <a:off x="962891" y="1443841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35- </a:t>
            </a:r>
            <a:r>
              <a:rPr dirty="0"/>
              <a:t>Parmi les pathologies </a:t>
            </a:r>
            <a:r>
              <a:rPr dirty="0" err="1"/>
              <a:t>suivantes</a:t>
            </a:r>
            <a:r>
              <a:rPr dirty="0"/>
              <a:t>, le(les) quelle(s) </a:t>
            </a:r>
            <a:r>
              <a:rPr dirty="0" err="1"/>
              <a:t>pourrait</a:t>
            </a:r>
            <a:r>
              <a:rPr dirty="0"/>
              <a:t>(</a:t>
            </a:r>
            <a:r>
              <a:rPr dirty="0" err="1"/>
              <a:t>ent</a:t>
            </a:r>
            <a:r>
              <a:rPr dirty="0"/>
              <a:t>)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évoquées</a:t>
            </a:r>
            <a:r>
              <a:rPr dirty="0"/>
              <a:t> </a:t>
            </a:r>
            <a:r>
              <a:rPr dirty="0" err="1"/>
              <a:t>devant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cervicales</a:t>
            </a:r>
            <a:r>
              <a:rPr dirty="0"/>
              <a:t> et un syndrome </a:t>
            </a:r>
            <a:r>
              <a:rPr dirty="0" err="1"/>
              <a:t>mononucléosique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 err="1">
                <a:solidFill>
                  <a:srgbClr val="FF0000"/>
                </a:solidFill>
              </a:rPr>
              <a:t>Mononucléose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infectieuse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Maladie</a:t>
            </a:r>
            <a:r>
              <a:rPr dirty="0"/>
              <a:t> de Hodgkin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 err="1">
                <a:solidFill>
                  <a:srgbClr val="FF0000"/>
                </a:solidFill>
              </a:rPr>
              <a:t>Toxoplasmose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acquise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Maladie</a:t>
            </a:r>
            <a:r>
              <a:rPr dirty="0"/>
              <a:t> de Griffe de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Infection à </a:t>
            </a:r>
            <a:r>
              <a:rPr dirty="0" err="1">
                <a:solidFill>
                  <a:srgbClr val="FF0000"/>
                </a:solidFill>
              </a:rPr>
              <a:t>cytomégalovirus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23715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36- </a:t>
            </a:r>
            <a:r>
              <a:rPr dirty="0"/>
              <a:t>La </a:t>
            </a:r>
            <a:r>
              <a:rPr dirty="0" err="1"/>
              <a:t>présence</a:t>
            </a:r>
            <a:r>
              <a:rPr dirty="0"/>
              <a:t> des </a:t>
            </a:r>
            <a:r>
              <a:rPr dirty="0" err="1"/>
              <a:t>adénopathles</a:t>
            </a:r>
            <a:r>
              <a:rPr dirty="0"/>
              <a:t> </a:t>
            </a:r>
            <a:r>
              <a:rPr dirty="0" err="1"/>
              <a:t>axillalres</a:t>
            </a:r>
            <a:r>
              <a:rPr dirty="0"/>
              <a:t> </a:t>
            </a:r>
            <a:r>
              <a:rPr dirty="0" err="1"/>
              <a:t>unllatérales</a:t>
            </a:r>
            <a:r>
              <a:rPr dirty="0"/>
              <a:t> </a:t>
            </a:r>
            <a:r>
              <a:rPr dirty="0" err="1"/>
              <a:t>gauches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évoquer</a:t>
            </a:r>
            <a:r>
              <a:rPr dirty="0"/>
              <a:t> un(e):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Carcinome</a:t>
            </a:r>
            <a:r>
              <a:rPr dirty="0"/>
              <a:t> </a:t>
            </a:r>
            <a:r>
              <a:rPr dirty="0" err="1"/>
              <a:t>mammaire</a:t>
            </a:r>
            <a:r>
              <a:rPr dirty="0"/>
              <a:t> gauche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Maladie</a:t>
            </a:r>
            <a:r>
              <a:rPr dirty="0"/>
              <a:t> de Griffe de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Mononucléose</a:t>
            </a:r>
            <a:r>
              <a:rPr dirty="0"/>
              <a:t> </a:t>
            </a:r>
            <a:r>
              <a:rPr dirty="0" err="1"/>
              <a:t>infectieuse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Cancer </a:t>
            </a:r>
            <a:r>
              <a:rPr dirty="0" err="1"/>
              <a:t>testiculaire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Syphilis </a:t>
            </a:r>
            <a:r>
              <a:rPr dirty="0" err="1"/>
              <a:t>primaire</a:t>
            </a:r>
            <a:endParaRPr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32C96-9E89-71D8-8844-3898317C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00D9F-5C58-208C-79ED-C384ADC6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880282-BBE1-BCE8-6554-5EDB211CBBBD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36- </a:t>
            </a:r>
            <a:r>
              <a:rPr dirty="0"/>
              <a:t>La </a:t>
            </a:r>
            <a:r>
              <a:rPr dirty="0" err="1"/>
              <a:t>présence</a:t>
            </a:r>
            <a:r>
              <a:rPr dirty="0"/>
              <a:t> des </a:t>
            </a:r>
            <a:r>
              <a:rPr dirty="0" err="1"/>
              <a:t>adénopathles</a:t>
            </a:r>
            <a:r>
              <a:rPr dirty="0"/>
              <a:t> </a:t>
            </a:r>
            <a:r>
              <a:rPr dirty="0" err="1"/>
              <a:t>axillalres</a:t>
            </a:r>
            <a:r>
              <a:rPr dirty="0"/>
              <a:t> </a:t>
            </a:r>
            <a:r>
              <a:rPr dirty="0" err="1"/>
              <a:t>unllatérales</a:t>
            </a:r>
            <a:r>
              <a:rPr dirty="0"/>
              <a:t> </a:t>
            </a:r>
            <a:r>
              <a:rPr dirty="0" err="1"/>
              <a:t>gauches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évoquer</a:t>
            </a:r>
            <a:r>
              <a:rPr dirty="0"/>
              <a:t> un(e):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Carcinome</a:t>
            </a:r>
            <a:r>
              <a:rPr dirty="0"/>
              <a:t> </a:t>
            </a:r>
            <a:r>
              <a:rPr dirty="0" err="1"/>
              <a:t>mammaire</a:t>
            </a:r>
            <a:r>
              <a:rPr dirty="0"/>
              <a:t> gauche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Maladie</a:t>
            </a:r>
            <a:r>
              <a:rPr dirty="0"/>
              <a:t> de Griffe de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>
                <a:solidFill>
                  <a:srgbClr val="FF0000"/>
                </a:solidFill>
              </a:rPr>
              <a:t>Mononucléose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infectieuse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Cancer </a:t>
            </a:r>
            <a:r>
              <a:rPr dirty="0" err="1">
                <a:solidFill>
                  <a:srgbClr val="FF0000"/>
                </a:solidFill>
              </a:rPr>
              <a:t>testiculaire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Syphilis </a:t>
            </a:r>
            <a:r>
              <a:rPr dirty="0" err="1">
                <a:solidFill>
                  <a:srgbClr val="FF0000"/>
                </a:solidFill>
              </a:rPr>
              <a:t>primaire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370686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37-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localisée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évoquer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lymphoïde</a:t>
            </a:r>
            <a:r>
              <a:rPr dirty="0"/>
              <a:t> chronique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B</a:t>
            </a:r>
            <a:r>
              <a:rPr lang="fr-FR" dirty="0"/>
              <a:t>- </a:t>
            </a:r>
            <a:r>
              <a:rPr dirty="0" err="1"/>
              <a:t>Tuberculose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Infection de </a:t>
            </a:r>
            <a:r>
              <a:rPr dirty="0" err="1"/>
              <a:t>voisinage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</a:t>
            </a:r>
            <a:r>
              <a:rPr lang="fr-FR" dirty="0"/>
              <a:t>- </a:t>
            </a:r>
            <a:r>
              <a:rPr dirty="0"/>
              <a:t> </a:t>
            </a:r>
            <a:r>
              <a:rPr dirty="0" err="1"/>
              <a:t>Maladie</a:t>
            </a:r>
            <a:r>
              <a:rPr dirty="0"/>
              <a:t> de Griffes du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E</a:t>
            </a:r>
            <a:r>
              <a:rPr lang="fr-FR" dirty="0"/>
              <a:t>-</a:t>
            </a:r>
            <a:r>
              <a:rPr dirty="0"/>
              <a:t> </a:t>
            </a:r>
            <a:r>
              <a:rPr dirty="0" err="1"/>
              <a:t>Mononucléose</a:t>
            </a:r>
            <a:r>
              <a:rPr dirty="0"/>
              <a:t> </a:t>
            </a:r>
            <a:r>
              <a:rPr dirty="0" err="1"/>
              <a:t>infectieuse</a:t>
            </a:r>
            <a:endParaRPr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A4EE6-1E4E-1FC7-EE79-A73D86EC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E4E9E-B12F-72BE-5CC4-0D36413C3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08E11D-03A6-CD2A-5FBB-7E999191196A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37-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localisée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évoquer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lymphoïde</a:t>
            </a:r>
            <a:r>
              <a:rPr dirty="0"/>
              <a:t> chronique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>
                <a:solidFill>
                  <a:srgbClr val="FF0000"/>
                </a:solidFill>
              </a:rPr>
              <a:t>B</a:t>
            </a:r>
            <a:r>
              <a:rPr lang="fr-FR" dirty="0">
                <a:solidFill>
                  <a:srgbClr val="FF0000"/>
                </a:solidFill>
              </a:rPr>
              <a:t>- </a:t>
            </a:r>
            <a:r>
              <a:rPr dirty="0" err="1">
                <a:solidFill>
                  <a:srgbClr val="FF0000"/>
                </a:solidFill>
              </a:rPr>
              <a:t>Tuberculose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Infection de </a:t>
            </a:r>
            <a:r>
              <a:rPr dirty="0" err="1">
                <a:solidFill>
                  <a:srgbClr val="FF0000"/>
                </a:solidFill>
              </a:rPr>
              <a:t>voisinage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D</a:t>
            </a:r>
            <a:r>
              <a:rPr lang="fr-FR" dirty="0">
                <a:solidFill>
                  <a:srgbClr val="FF0000"/>
                </a:solidFill>
              </a:rPr>
              <a:t>- 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Maladie</a:t>
            </a:r>
            <a:r>
              <a:rPr dirty="0">
                <a:solidFill>
                  <a:srgbClr val="FF0000"/>
                </a:solidFill>
              </a:rPr>
              <a:t> de Griffes du chat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dirty="0"/>
              <a:t>E</a:t>
            </a:r>
            <a:r>
              <a:rPr lang="fr-FR" dirty="0"/>
              <a:t>-</a:t>
            </a:r>
            <a:r>
              <a:rPr dirty="0"/>
              <a:t> </a:t>
            </a:r>
            <a:r>
              <a:rPr dirty="0" err="1"/>
              <a:t>Mononucléose</a:t>
            </a:r>
            <a:r>
              <a:rPr dirty="0"/>
              <a:t> </a:t>
            </a:r>
            <a:r>
              <a:rPr dirty="0" err="1"/>
              <a:t>infectieuse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76792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38- </a:t>
            </a:r>
            <a:r>
              <a:rPr dirty="0"/>
              <a:t>Les diagnostics à </a:t>
            </a:r>
            <a:r>
              <a:rPr dirty="0" err="1"/>
              <a:t>évoquer</a:t>
            </a:r>
            <a:r>
              <a:rPr dirty="0"/>
              <a:t> chez un patient se </a:t>
            </a:r>
            <a:r>
              <a:rPr dirty="0" err="1"/>
              <a:t>présentant</a:t>
            </a:r>
            <a:r>
              <a:rPr dirty="0"/>
              <a:t> avec </a:t>
            </a:r>
            <a:r>
              <a:rPr dirty="0" err="1"/>
              <a:t>une</a:t>
            </a:r>
            <a:r>
              <a:rPr dirty="0"/>
              <a:t> poly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axillaire</a:t>
            </a:r>
            <a:r>
              <a:rPr dirty="0"/>
              <a:t> et inguinale </a:t>
            </a:r>
            <a:r>
              <a:rPr dirty="0" err="1"/>
              <a:t>bilatérale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Métastase</a:t>
            </a:r>
            <a:r>
              <a:rPr dirty="0"/>
              <a:t> d'un cancer digestif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Métastase</a:t>
            </a:r>
            <a:r>
              <a:rPr dirty="0"/>
              <a:t> d'un cancer de la prostate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Infection par le VIH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Lymphome</a:t>
            </a:r>
            <a:r>
              <a:rPr dirty="0"/>
              <a:t> de Hodgkin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Connectivite</a:t>
            </a:r>
            <a:endParaRPr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96177-4982-A3ED-F060-E36348C48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A1C83-C9FD-5884-E812-394B98219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9A30BB-AF21-460B-989D-6CA81CD4F214}"/>
              </a:ext>
            </a:extLst>
          </p:cNvPr>
          <p:cNvSpPr txBox="1"/>
          <p:nvPr/>
        </p:nvSpPr>
        <p:spPr>
          <a:xfrm>
            <a:off x="706582" y="1582340"/>
            <a:ext cx="7696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38- </a:t>
            </a:r>
            <a:r>
              <a:rPr dirty="0"/>
              <a:t>Les diagnostics à </a:t>
            </a:r>
            <a:r>
              <a:rPr dirty="0" err="1"/>
              <a:t>évoquer</a:t>
            </a:r>
            <a:r>
              <a:rPr dirty="0"/>
              <a:t> chez un patient se </a:t>
            </a:r>
            <a:r>
              <a:rPr dirty="0" err="1"/>
              <a:t>présentant</a:t>
            </a:r>
            <a:r>
              <a:rPr dirty="0"/>
              <a:t> avec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polyadénopathie</a:t>
            </a:r>
            <a:r>
              <a:rPr dirty="0"/>
              <a:t> </a:t>
            </a:r>
            <a:r>
              <a:rPr dirty="0" err="1"/>
              <a:t>axillaire</a:t>
            </a:r>
            <a:r>
              <a:rPr dirty="0"/>
              <a:t> et inguinale </a:t>
            </a:r>
            <a:r>
              <a:rPr dirty="0" err="1"/>
              <a:t>bilatérale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Métastase</a:t>
            </a:r>
            <a:r>
              <a:rPr dirty="0"/>
              <a:t> d'un cancer digestif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Métastase</a:t>
            </a:r>
            <a:r>
              <a:rPr dirty="0"/>
              <a:t> d'un cancer de la prostate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>
                <a:solidFill>
                  <a:srgbClr val="FF0000"/>
                </a:solidFill>
              </a:rPr>
              <a:t>Infection par le VIH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 err="1">
                <a:solidFill>
                  <a:srgbClr val="FF0000"/>
                </a:solidFill>
              </a:rPr>
              <a:t>Lymphome</a:t>
            </a:r>
            <a:r>
              <a:rPr dirty="0">
                <a:solidFill>
                  <a:srgbClr val="FF0000"/>
                </a:solidFill>
              </a:rPr>
              <a:t> de Hodgkin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 err="1">
                <a:solidFill>
                  <a:srgbClr val="FF0000"/>
                </a:solidFill>
              </a:rPr>
              <a:t>Connectivite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534293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40- </a:t>
            </a:r>
            <a:r>
              <a:rPr dirty="0"/>
              <a:t>Devant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cervicale </a:t>
            </a:r>
            <a:r>
              <a:rPr dirty="0" err="1"/>
              <a:t>isolée</a:t>
            </a:r>
            <a:r>
              <a:rPr dirty="0"/>
              <a:t>,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évoquez</a:t>
            </a:r>
            <a:r>
              <a:rPr dirty="0"/>
              <a:t> le diagnostic de </a:t>
            </a:r>
            <a:r>
              <a:rPr dirty="0" err="1"/>
              <a:t>tuberculose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</a:t>
            </a:r>
            <a:r>
              <a:rPr dirty="0" err="1"/>
              <a:t>devant</a:t>
            </a:r>
            <a:r>
              <a:rPr dirty="0"/>
              <a:t> la </a:t>
            </a:r>
            <a:r>
              <a:rPr dirty="0" err="1"/>
              <a:t>présence</a:t>
            </a:r>
            <a:r>
              <a:rPr dirty="0"/>
              <a:t> de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Autres</a:t>
            </a:r>
            <a:r>
              <a:rPr dirty="0"/>
              <a:t> </a:t>
            </a:r>
            <a:r>
              <a:rPr dirty="0" err="1"/>
              <a:t>localisations</a:t>
            </a:r>
            <a:r>
              <a:rPr dirty="0"/>
              <a:t> extra </a:t>
            </a:r>
            <a:r>
              <a:rPr dirty="0" err="1"/>
              <a:t>ganglionnaires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Signes</a:t>
            </a:r>
            <a:r>
              <a:rPr dirty="0"/>
              <a:t> </a:t>
            </a:r>
            <a:r>
              <a:rPr dirty="0" err="1"/>
              <a:t>d'imprégnation</a:t>
            </a:r>
            <a:r>
              <a:rPr dirty="0"/>
              <a:t> </a:t>
            </a:r>
            <a:r>
              <a:rPr dirty="0" err="1"/>
              <a:t>tuberculeuses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Présence</a:t>
            </a:r>
            <a:r>
              <a:rPr dirty="0"/>
              <a:t> de </a:t>
            </a:r>
            <a:r>
              <a:rPr dirty="0" err="1"/>
              <a:t>granulome</a:t>
            </a:r>
            <a:r>
              <a:rPr dirty="0"/>
              <a:t> sans </a:t>
            </a:r>
            <a:r>
              <a:rPr dirty="0" err="1"/>
              <a:t>nécrose</a:t>
            </a:r>
            <a:r>
              <a:rPr dirty="0"/>
              <a:t> </a:t>
            </a:r>
            <a:r>
              <a:rPr dirty="0" err="1"/>
              <a:t>caséeuse</a:t>
            </a:r>
            <a:r>
              <a:rPr dirty="0"/>
              <a:t> à I ‘</a:t>
            </a:r>
            <a:r>
              <a:rPr dirty="0" err="1"/>
              <a:t>histologie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Fistulisation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Altération</a:t>
            </a:r>
            <a:r>
              <a:rPr dirty="0"/>
              <a:t> de </a:t>
            </a:r>
            <a:r>
              <a:rPr dirty="0" err="1"/>
              <a:t>l'état</a:t>
            </a:r>
            <a:r>
              <a:rPr dirty="0"/>
              <a:t> </a:t>
            </a:r>
            <a:r>
              <a:rPr dirty="0" err="1"/>
              <a:t>général</a:t>
            </a:r>
            <a:endParaRPr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D149-6ED5-E334-EB54-86847186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50EF-930D-7304-0FA2-3681ECD31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5E43E-2E1F-4A1A-7284-2CB26276958E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40- </a:t>
            </a:r>
            <a:r>
              <a:rPr dirty="0"/>
              <a:t>Devant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cervicale </a:t>
            </a:r>
            <a:r>
              <a:rPr dirty="0" err="1"/>
              <a:t>isolée</a:t>
            </a:r>
            <a:r>
              <a:rPr dirty="0"/>
              <a:t>,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évoquez</a:t>
            </a:r>
            <a:r>
              <a:rPr dirty="0"/>
              <a:t> le diagnostic de </a:t>
            </a:r>
            <a:r>
              <a:rPr dirty="0" err="1"/>
              <a:t>tuberculose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</a:t>
            </a:r>
            <a:r>
              <a:rPr dirty="0" err="1"/>
              <a:t>devant</a:t>
            </a:r>
            <a:r>
              <a:rPr dirty="0"/>
              <a:t> la </a:t>
            </a:r>
            <a:r>
              <a:rPr dirty="0" err="1"/>
              <a:t>présence</a:t>
            </a:r>
            <a:r>
              <a:rPr dirty="0"/>
              <a:t> de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 err="1">
                <a:solidFill>
                  <a:srgbClr val="FF0000"/>
                </a:solidFill>
              </a:rPr>
              <a:t>Autres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localisations</a:t>
            </a:r>
            <a:r>
              <a:rPr dirty="0">
                <a:solidFill>
                  <a:srgbClr val="FF0000"/>
                </a:solidFill>
              </a:rPr>
              <a:t> extra </a:t>
            </a:r>
            <a:r>
              <a:rPr dirty="0" err="1">
                <a:solidFill>
                  <a:srgbClr val="FF0000"/>
                </a:solidFill>
              </a:rPr>
              <a:t>ganglionnaires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Signes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d'imprégnation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tuberculeuses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Présence</a:t>
            </a:r>
            <a:r>
              <a:rPr dirty="0"/>
              <a:t> de </a:t>
            </a:r>
            <a:r>
              <a:rPr dirty="0" err="1"/>
              <a:t>granulome</a:t>
            </a:r>
            <a:r>
              <a:rPr dirty="0"/>
              <a:t> sans </a:t>
            </a:r>
            <a:r>
              <a:rPr dirty="0" err="1"/>
              <a:t>nécrose</a:t>
            </a:r>
            <a:r>
              <a:rPr dirty="0"/>
              <a:t> </a:t>
            </a:r>
            <a:r>
              <a:rPr dirty="0" err="1"/>
              <a:t>caséeuse</a:t>
            </a:r>
            <a:r>
              <a:rPr dirty="0"/>
              <a:t> à I ‘</a:t>
            </a:r>
            <a:r>
              <a:rPr dirty="0" err="1"/>
              <a:t>histologie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 err="1">
                <a:solidFill>
                  <a:srgbClr val="FF0000"/>
                </a:solidFill>
              </a:rPr>
              <a:t>Fistulisation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Altération</a:t>
            </a:r>
            <a:r>
              <a:rPr dirty="0"/>
              <a:t> de </a:t>
            </a:r>
            <a:r>
              <a:rPr dirty="0" err="1"/>
              <a:t>l'état</a:t>
            </a:r>
            <a:r>
              <a:rPr dirty="0"/>
              <a:t> </a:t>
            </a:r>
            <a:r>
              <a:rPr dirty="0" err="1"/>
              <a:t>général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0624665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41-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à </a:t>
            </a:r>
            <a:r>
              <a:rPr dirty="0" err="1"/>
              <a:t>Pyogène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Principalement</a:t>
            </a:r>
            <a:r>
              <a:rPr dirty="0"/>
              <a:t> </a:t>
            </a:r>
            <a:r>
              <a:rPr dirty="0" err="1"/>
              <a:t>dû</a:t>
            </a:r>
            <a:r>
              <a:rPr dirty="0"/>
              <a:t> à des </a:t>
            </a:r>
            <a:r>
              <a:rPr dirty="0" err="1"/>
              <a:t>bacilles</a:t>
            </a:r>
            <a:r>
              <a:rPr dirty="0"/>
              <a:t> gram </a:t>
            </a:r>
            <a:r>
              <a:rPr dirty="0" err="1"/>
              <a:t>négatif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Associé</a:t>
            </a:r>
            <a:r>
              <a:rPr dirty="0"/>
              <a:t> des </a:t>
            </a:r>
            <a:r>
              <a:rPr dirty="0" err="1"/>
              <a:t>signes</a:t>
            </a:r>
            <a:r>
              <a:rPr dirty="0"/>
              <a:t> </a:t>
            </a:r>
            <a:r>
              <a:rPr dirty="0" err="1"/>
              <a:t>inflammatoires</a:t>
            </a:r>
            <a:r>
              <a:rPr dirty="0"/>
              <a:t> loco-r</a:t>
            </a:r>
            <a:r>
              <a:rPr lang="en-GB" dirty="0" err="1"/>
              <a:t>egional</a:t>
            </a:r>
            <a:r>
              <a:rPr dirty="0"/>
              <a:t>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</a:t>
            </a:r>
            <a:r>
              <a:rPr dirty="0"/>
              <a:t>Une </a:t>
            </a:r>
            <a:r>
              <a:rPr dirty="0" err="1"/>
              <a:t>porte</a:t>
            </a:r>
            <a:r>
              <a:rPr dirty="0"/>
              <a:t> </a:t>
            </a:r>
            <a:r>
              <a:rPr dirty="0" err="1"/>
              <a:t>d'entrée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associée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La </a:t>
            </a:r>
            <a:r>
              <a:rPr dirty="0" err="1"/>
              <a:t>ponction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utile pour le diagnostic </a:t>
            </a:r>
            <a:r>
              <a:rPr dirty="0" err="1"/>
              <a:t>microbiologique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Son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comporte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un drainage chirurgical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C2B1D3-4EC0-506E-C29B-0A148D062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A7019-166C-1DEF-F2AB-4E48350C3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C39CFD-B141-209E-9B21-54105B59A3DF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41-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à </a:t>
            </a:r>
            <a:r>
              <a:rPr dirty="0" err="1"/>
              <a:t>Pyogène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Principalement</a:t>
            </a:r>
            <a:r>
              <a:rPr dirty="0"/>
              <a:t> </a:t>
            </a:r>
            <a:r>
              <a:rPr dirty="0" err="1"/>
              <a:t>dû</a:t>
            </a:r>
            <a:r>
              <a:rPr dirty="0"/>
              <a:t> à des </a:t>
            </a:r>
            <a:r>
              <a:rPr dirty="0" err="1"/>
              <a:t>bacilles</a:t>
            </a:r>
            <a:r>
              <a:rPr dirty="0"/>
              <a:t> gram </a:t>
            </a:r>
            <a:r>
              <a:rPr dirty="0" err="1"/>
              <a:t>négatif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Associé</a:t>
            </a:r>
            <a:r>
              <a:rPr dirty="0">
                <a:solidFill>
                  <a:srgbClr val="FF0000"/>
                </a:solidFill>
              </a:rPr>
              <a:t> des </a:t>
            </a:r>
            <a:r>
              <a:rPr dirty="0" err="1">
                <a:solidFill>
                  <a:srgbClr val="FF0000"/>
                </a:solidFill>
              </a:rPr>
              <a:t>signes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inflammatoires</a:t>
            </a:r>
            <a:r>
              <a:rPr dirty="0">
                <a:solidFill>
                  <a:srgbClr val="FF0000"/>
                </a:solidFill>
              </a:rPr>
              <a:t> loco-r</a:t>
            </a:r>
            <a:r>
              <a:rPr lang="en-GB" dirty="0" err="1">
                <a:solidFill>
                  <a:srgbClr val="FF0000"/>
                </a:solidFill>
              </a:rPr>
              <a:t>egional</a:t>
            </a:r>
            <a:r>
              <a:rPr dirty="0">
                <a:solidFill>
                  <a:srgbClr val="FF0000"/>
                </a:solidFill>
              </a:rPr>
              <a:t>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porte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d'entrée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souvent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associée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ponction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est</a:t>
            </a:r>
            <a:r>
              <a:rPr dirty="0">
                <a:solidFill>
                  <a:srgbClr val="FF0000"/>
                </a:solidFill>
              </a:rPr>
              <a:t> utile pour le diagnostic </a:t>
            </a:r>
            <a:r>
              <a:rPr dirty="0" err="1">
                <a:solidFill>
                  <a:srgbClr val="FF0000"/>
                </a:solidFill>
              </a:rPr>
              <a:t>microbiologique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/>
              <a:t>E- </a:t>
            </a:r>
            <a:r>
              <a:rPr dirty="0"/>
              <a:t>Son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comporte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un drainage chirurgical</a:t>
            </a:r>
          </a:p>
        </p:txBody>
      </p:sp>
    </p:spTree>
    <p:extLst>
      <p:ext uri="{BB962C8B-B14F-4D97-AF65-F5344CB8AC3E}">
        <p14:creationId xmlns:p14="http://schemas.microsoft.com/office/powerpoint/2010/main" val="308784336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42-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d'inoculation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voir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de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La </a:t>
            </a:r>
            <a:r>
              <a:rPr dirty="0" err="1"/>
              <a:t>maladie</a:t>
            </a:r>
            <a:r>
              <a:rPr dirty="0"/>
              <a:t> des griffes du chat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B- </a:t>
            </a:r>
            <a:r>
              <a:rPr dirty="0" err="1"/>
              <a:t>Morsure</a:t>
            </a:r>
            <a:r>
              <a:rPr dirty="0"/>
              <a:t> de </a:t>
            </a:r>
            <a:r>
              <a:rPr dirty="0" err="1"/>
              <a:t>chien</a:t>
            </a:r>
            <a:r>
              <a:rPr dirty="0"/>
              <a:t> (</a:t>
            </a:r>
            <a:r>
              <a:rPr dirty="0" err="1"/>
              <a:t>Pasteurellose</a:t>
            </a:r>
            <a:r>
              <a:rPr dirty="0"/>
              <a:t>)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La </a:t>
            </a:r>
            <a:r>
              <a:rPr dirty="0" err="1"/>
              <a:t>Tularémie</a:t>
            </a:r>
            <a:endParaRPr lang="fr-FR" dirty="0"/>
          </a:p>
          <a:p>
            <a:pPr>
              <a:defRPr sz="1800"/>
            </a:pPr>
            <a:endParaRPr lang="en-GB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La </a:t>
            </a:r>
            <a:r>
              <a:rPr dirty="0" err="1"/>
              <a:t>Rickettsiose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D'infection</a:t>
            </a:r>
            <a:r>
              <a:rPr dirty="0"/>
              <a:t> à </a:t>
            </a:r>
            <a:r>
              <a:rPr dirty="0" err="1"/>
              <a:t>staphylocoque</a:t>
            </a:r>
            <a:endParaRPr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2011B-25FD-DBBE-6557-32E0442F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90FD6-2E2F-EF31-C3FA-91310A4F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9FE5C-8D12-0C04-55A3-DC94B73BB628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42-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d'inoculation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se </a:t>
            </a:r>
            <a:r>
              <a:rPr dirty="0" err="1"/>
              <a:t>voir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cas</a:t>
            </a:r>
            <a:r>
              <a:rPr dirty="0"/>
              <a:t> de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maladie</a:t>
            </a:r>
            <a:r>
              <a:rPr dirty="0">
                <a:solidFill>
                  <a:srgbClr val="FF0000"/>
                </a:solidFill>
              </a:rPr>
              <a:t> des griffes du chat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Morsure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chien</a:t>
            </a:r>
            <a:r>
              <a:rPr dirty="0">
                <a:solidFill>
                  <a:srgbClr val="FF0000"/>
                </a:solidFill>
              </a:rPr>
              <a:t> (</a:t>
            </a:r>
            <a:r>
              <a:rPr dirty="0" err="1">
                <a:solidFill>
                  <a:srgbClr val="FF0000"/>
                </a:solidFill>
              </a:rPr>
              <a:t>Pasteurellose</a:t>
            </a:r>
            <a:r>
              <a:rPr dirty="0">
                <a:solidFill>
                  <a:srgbClr val="FF0000"/>
                </a:solidFill>
              </a:rPr>
              <a:t>)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Tularémie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endParaRPr lang="en-GB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Rickettsiose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D'infection</a:t>
            </a:r>
            <a:r>
              <a:rPr dirty="0"/>
              <a:t> à </a:t>
            </a:r>
            <a:r>
              <a:rPr dirty="0" err="1"/>
              <a:t>staphylocoque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73153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43- </a:t>
            </a:r>
            <a:r>
              <a:rPr dirty="0" err="1"/>
              <a:t>L'association</a:t>
            </a:r>
            <a:r>
              <a:rPr dirty="0"/>
              <a:t> </a:t>
            </a:r>
            <a:r>
              <a:rPr dirty="0" err="1"/>
              <a:t>splénomégalie</a:t>
            </a:r>
            <a:r>
              <a:rPr dirty="0"/>
              <a:t>,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cervicales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observée</a:t>
            </a:r>
            <a:r>
              <a:rPr dirty="0"/>
              <a:t> dans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La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myéloïde</a:t>
            </a:r>
            <a:r>
              <a:rPr dirty="0"/>
              <a:t> chronique (LMC)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L'aplasie</a:t>
            </a:r>
            <a:r>
              <a:rPr dirty="0"/>
              <a:t> </a:t>
            </a:r>
            <a:r>
              <a:rPr dirty="0" err="1"/>
              <a:t>médullaire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La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lymphoïde</a:t>
            </a:r>
            <a:r>
              <a:rPr dirty="0"/>
              <a:t> chronique LLC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La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aigue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La </a:t>
            </a:r>
            <a:r>
              <a:rPr dirty="0" err="1"/>
              <a:t>maladie</a:t>
            </a:r>
            <a:r>
              <a:rPr dirty="0"/>
              <a:t> de </a:t>
            </a:r>
            <a:r>
              <a:rPr dirty="0" err="1"/>
              <a:t>Minkowski</a:t>
            </a:r>
            <a:r>
              <a:rPr dirty="0"/>
              <a:t> </a:t>
            </a:r>
            <a:r>
              <a:rPr dirty="0" err="1"/>
              <a:t>chauffard</a:t>
            </a:r>
            <a:endParaRPr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B953-4757-7F24-5F90-E0E3A2DB2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E87F4-E5C9-FAB0-B3E8-7619A54B7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C66A1C-2A03-91ED-9AEE-8B42FA6C8844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43- </a:t>
            </a:r>
            <a:r>
              <a:rPr dirty="0" err="1"/>
              <a:t>L'association</a:t>
            </a:r>
            <a:r>
              <a:rPr dirty="0"/>
              <a:t> </a:t>
            </a:r>
            <a:r>
              <a:rPr dirty="0" err="1"/>
              <a:t>splénomégalie</a:t>
            </a:r>
            <a:r>
              <a:rPr dirty="0"/>
              <a:t>,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cervicales</a:t>
            </a:r>
            <a:r>
              <a:rPr dirty="0"/>
              <a:t> </a:t>
            </a:r>
            <a:r>
              <a:rPr dirty="0" err="1"/>
              <a:t>peut</a:t>
            </a:r>
            <a:r>
              <a:rPr dirty="0"/>
              <a:t> </a:t>
            </a:r>
            <a:r>
              <a:rPr dirty="0" err="1"/>
              <a:t>être</a:t>
            </a:r>
            <a:r>
              <a:rPr dirty="0"/>
              <a:t> </a:t>
            </a:r>
            <a:r>
              <a:rPr dirty="0" err="1"/>
              <a:t>observée</a:t>
            </a:r>
            <a:r>
              <a:rPr dirty="0"/>
              <a:t> dans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La </a:t>
            </a:r>
            <a:r>
              <a:rPr dirty="0" err="1"/>
              <a:t>Leucémie</a:t>
            </a:r>
            <a:r>
              <a:rPr dirty="0"/>
              <a:t> </a:t>
            </a:r>
            <a:r>
              <a:rPr dirty="0" err="1"/>
              <a:t>myéloïde</a:t>
            </a:r>
            <a:r>
              <a:rPr dirty="0"/>
              <a:t> chronique (LMC)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L'aplasie</a:t>
            </a:r>
            <a:r>
              <a:rPr dirty="0"/>
              <a:t> </a:t>
            </a:r>
            <a:r>
              <a:rPr dirty="0" err="1"/>
              <a:t>médullaire</a:t>
            </a:r>
            <a:endParaRPr lang="fr-FR" dirty="0"/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leucémie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lymphoïde</a:t>
            </a:r>
            <a:r>
              <a:rPr dirty="0">
                <a:solidFill>
                  <a:srgbClr val="FF0000"/>
                </a:solidFill>
              </a:rPr>
              <a:t> chronique LLC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leucémie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aigue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La </a:t>
            </a:r>
            <a:r>
              <a:rPr dirty="0" err="1"/>
              <a:t>maladie</a:t>
            </a:r>
            <a:r>
              <a:rPr dirty="0"/>
              <a:t> de </a:t>
            </a:r>
            <a:r>
              <a:rPr dirty="0" err="1"/>
              <a:t>Minkowski</a:t>
            </a:r>
            <a:r>
              <a:rPr dirty="0"/>
              <a:t> </a:t>
            </a:r>
            <a:r>
              <a:rPr dirty="0" err="1"/>
              <a:t>chauffard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51152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44- </a:t>
            </a:r>
            <a:r>
              <a:rPr dirty="0"/>
              <a:t>Un homme de 70 an </a:t>
            </a:r>
            <a:r>
              <a:rPr dirty="0" err="1"/>
              <a:t>présent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multiples et diffuses avec à la NFS </a:t>
            </a:r>
            <a:r>
              <a:rPr dirty="0" err="1"/>
              <a:t>une</a:t>
            </a:r>
            <a:r>
              <a:rPr dirty="0"/>
              <a:t> hyper </a:t>
            </a:r>
            <a:r>
              <a:rPr dirty="0" err="1"/>
              <a:t>lymphocytose</a:t>
            </a:r>
            <a:r>
              <a:rPr dirty="0"/>
              <a:t> à 68000 le diagnostic à </a:t>
            </a:r>
            <a:r>
              <a:rPr dirty="0" err="1"/>
              <a:t>retenir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LMC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LLC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Métastase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Myélome</a:t>
            </a:r>
            <a:r>
              <a:rPr dirty="0"/>
              <a:t> Multiple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LH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52CE9-0962-E1E5-8D5C-0BBB605E6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52047-AC50-5312-0E33-C74B7AD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881663-4BD6-4140-907D-60B0D1FFE7DB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44- </a:t>
            </a:r>
            <a:r>
              <a:rPr dirty="0"/>
              <a:t>Un homme de 70 an </a:t>
            </a:r>
            <a:r>
              <a:rPr dirty="0" err="1"/>
              <a:t>présent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 multiples et diffuses avec à la NFS </a:t>
            </a:r>
            <a:r>
              <a:rPr dirty="0" err="1"/>
              <a:t>une</a:t>
            </a:r>
            <a:r>
              <a:rPr dirty="0"/>
              <a:t> hyper </a:t>
            </a:r>
            <a:r>
              <a:rPr dirty="0" err="1"/>
              <a:t>lymphocytose</a:t>
            </a:r>
            <a:r>
              <a:rPr dirty="0"/>
              <a:t> à 68000 le diagnostic à </a:t>
            </a:r>
            <a:r>
              <a:rPr dirty="0" err="1"/>
              <a:t>retenir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LMC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LLC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Métastase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Myélome</a:t>
            </a:r>
            <a:r>
              <a:rPr dirty="0"/>
              <a:t> Multiple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LH</a:t>
            </a:r>
          </a:p>
        </p:txBody>
      </p:sp>
    </p:spTree>
    <p:extLst>
      <p:ext uri="{BB962C8B-B14F-4D97-AF65-F5344CB8AC3E}">
        <p14:creationId xmlns:p14="http://schemas.microsoft.com/office/powerpoint/2010/main" val="33495803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077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45- </a:t>
            </a:r>
            <a:r>
              <a:rPr dirty="0" err="1"/>
              <a:t>Quand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polyadénopathie</a:t>
            </a:r>
            <a:r>
              <a:rPr dirty="0"/>
              <a:t> </a:t>
            </a:r>
            <a:r>
              <a:rPr dirty="0" err="1"/>
              <a:t>disséminée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inexpliquée</a:t>
            </a:r>
            <a:r>
              <a:rPr dirty="0"/>
              <a:t> après </a:t>
            </a:r>
            <a:r>
              <a:rPr dirty="0" err="1"/>
              <a:t>l'évaluation</a:t>
            </a:r>
            <a:r>
              <a:rPr dirty="0"/>
              <a:t> </a:t>
            </a:r>
            <a:r>
              <a:rPr dirty="0" err="1"/>
              <a:t>initiale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antibiothérapie</a:t>
            </a:r>
            <a:r>
              <a:rPr dirty="0"/>
              <a:t> </a:t>
            </a:r>
            <a:r>
              <a:rPr dirty="0" err="1"/>
              <a:t>empirique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souvent</a:t>
            </a:r>
            <a:r>
              <a:rPr dirty="0"/>
              <a:t> utile.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Il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indiqué</a:t>
            </a:r>
            <a:r>
              <a:rPr dirty="0"/>
              <a:t> de </a:t>
            </a:r>
            <a:r>
              <a:rPr dirty="0" err="1"/>
              <a:t>surveiller</a:t>
            </a:r>
            <a:r>
              <a:rPr dirty="0"/>
              <a:t> le </a:t>
            </a:r>
            <a:r>
              <a:rPr dirty="0" err="1"/>
              <a:t>malade</a:t>
            </a:r>
            <a:r>
              <a:rPr dirty="0"/>
              <a:t> de 3-4 </a:t>
            </a:r>
            <a:r>
              <a:rPr dirty="0" err="1"/>
              <a:t>semaine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 et physique ne </a:t>
            </a:r>
            <a:r>
              <a:rPr dirty="0" err="1"/>
              <a:t>suggèrent</a:t>
            </a:r>
            <a:r>
              <a:rPr dirty="0"/>
              <a:t> pas </a:t>
            </a:r>
            <a:r>
              <a:rPr dirty="0" err="1"/>
              <a:t>une</a:t>
            </a:r>
            <a:r>
              <a:rPr dirty="0"/>
              <a:t> cause </a:t>
            </a:r>
            <a:r>
              <a:rPr dirty="0" err="1"/>
              <a:t>néoplasique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On doit demander </a:t>
            </a:r>
            <a:r>
              <a:rPr dirty="0" err="1"/>
              <a:t>une</a:t>
            </a:r>
            <a:r>
              <a:rPr dirty="0"/>
              <a:t> NFS et </a:t>
            </a:r>
            <a:r>
              <a:rPr dirty="0" err="1"/>
              <a:t>une</a:t>
            </a:r>
            <a:r>
              <a:rPr dirty="0"/>
              <a:t> radio Thorax et </a:t>
            </a:r>
            <a:r>
              <a:rPr dirty="0" err="1"/>
              <a:t>s'ils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non </a:t>
            </a:r>
            <a:r>
              <a:rPr dirty="0" err="1"/>
              <a:t>contributifs</a:t>
            </a:r>
            <a:r>
              <a:rPr dirty="0"/>
              <a:t>, on </a:t>
            </a:r>
            <a:r>
              <a:rPr dirty="0" err="1"/>
              <a:t>demande</a:t>
            </a:r>
            <a:r>
              <a:rPr dirty="0"/>
              <a:t> des </a:t>
            </a:r>
            <a:r>
              <a:rPr dirty="0" err="1"/>
              <a:t>sérologies</a:t>
            </a:r>
            <a:r>
              <a:rPr dirty="0"/>
              <a:t> </a:t>
            </a:r>
            <a:r>
              <a:rPr dirty="0" err="1"/>
              <a:t>virales</a:t>
            </a:r>
            <a:r>
              <a:rPr dirty="0"/>
              <a:t> et un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immunologique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Les ganglions </a:t>
            </a:r>
            <a:r>
              <a:rPr dirty="0" err="1"/>
              <a:t>inguinaux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ganglions </a:t>
            </a:r>
            <a:r>
              <a:rPr dirty="0" err="1"/>
              <a:t>préférés</a:t>
            </a:r>
            <a:r>
              <a:rPr dirty="0"/>
              <a:t> pour la </a:t>
            </a:r>
            <a:r>
              <a:rPr dirty="0" err="1"/>
              <a:t>biopsie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antituberculeux</a:t>
            </a:r>
            <a:r>
              <a:rPr dirty="0"/>
              <a:t> </a:t>
            </a:r>
            <a:r>
              <a:rPr dirty="0" err="1"/>
              <a:t>d'épreuve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à </a:t>
            </a:r>
            <a:r>
              <a:rPr dirty="0" err="1"/>
              <a:t>recommandé</a:t>
            </a:r>
            <a:endParaRPr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EA216-DB47-AAB6-6A31-1EBA5DE0B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05AB7-C9E6-B68B-2452-BCE71B7F5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801AB-7E2C-A581-A936-2F6A84210883}"/>
              </a:ext>
            </a:extLst>
          </p:cNvPr>
          <p:cNvSpPr txBox="1"/>
          <p:nvPr/>
        </p:nvSpPr>
        <p:spPr>
          <a:xfrm>
            <a:off x="457200" y="1371600"/>
            <a:ext cx="8077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45- </a:t>
            </a:r>
            <a:r>
              <a:rPr dirty="0" err="1"/>
              <a:t>Quand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polyadénopathie</a:t>
            </a:r>
            <a:r>
              <a:rPr dirty="0"/>
              <a:t> </a:t>
            </a:r>
            <a:r>
              <a:rPr dirty="0" err="1"/>
              <a:t>disséminée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inexpliquée</a:t>
            </a:r>
            <a:r>
              <a:rPr dirty="0"/>
              <a:t> après </a:t>
            </a:r>
            <a:r>
              <a:rPr dirty="0" err="1"/>
              <a:t>l'évaluation</a:t>
            </a:r>
            <a:r>
              <a:rPr dirty="0"/>
              <a:t> </a:t>
            </a:r>
            <a:r>
              <a:rPr dirty="0" err="1"/>
              <a:t>initiale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antibiothérapie</a:t>
            </a:r>
            <a:r>
              <a:rPr dirty="0"/>
              <a:t> </a:t>
            </a:r>
            <a:r>
              <a:rPr dirty="0" err="1"/>
              <a:t>empirique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souvent</a:t>
            </a:r>
            <a:r>
              <a:rPr dirty="0"/>
              <a:t> utile.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Il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indiqué</a:t>
            </a:r>
            <a:r>
              <a:rPr dirty="0"/>
              <a:t> de </a:t>
            </a:r>
            <a:r>
              <a:rPr dirty="0" err="1"/>
              <a:t>surveiller</a:t>
            </a:r>
            <a:r>
              <a:rPr dirty="0"/>
              <a:t> le </a:t>
            </a:r>
            <a:r>
              <a:rPr dirty="0" err="1"/>
              <a:t>malade</a:t>
            </a:r>
            <a:r>
              <a:rPr dirty="0"/>
              <a:t> de 3-4 </a:t>
            </a:r>
            <a:r>
              <a:rPr dirty="0" err="1"/>
              <a:t>semaine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 et physique ne </a:t>
            </a:r>
            <a:r>
              <a:rPr dirty="0" err="1"/>
              <a:t>suggèrent</a:t>
            </a:r>
            <a:r>
              <a:rPr dirty="0"/>
              <a:t> pas </a:t>
            </a:r>
            <a:r>
              <a:rPr dirty="0" err="1"/>
              <a:t>une</a:t>
            </a:r>
            <a:r>
              <a:rPr dirty="0"/>
              <a:t> cause </a:t>
            </a:r>
            <a:r>
              <a:rPr dirty="0" err="1"/>
              <a:t>néoplasique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On doit demander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NFS et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radio Thorax et </a:t>
            </a:r>
            <a:r>
              <a:rPr dirty="0" err="1">
                <a:solidFill>
                  <a:srgbClr val="FF0000"/>
                </a:solidFill>
              </a:rPr>
              <a:t>s'ils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sont</a:t>
            </a:r>
            <a:r>
              <a:rPr dirty="0">
                <a:solidFill>
                  <a:srgbClr val="FF0000"/>
                </a:solidFill>
              </a:rPr>
              <a:t> non </a:t>
            </a:r>
            <a:r>
              <a:rPr dirty="0" err="1">
                <a:solidFill>
                  <a:srgbClr val="FF0000"/>
                </a:solidFill>
              </a:rPr>
              <a:t>contributifs</a:t>
            </a:r>
            <a:r>
              <a:rPr dirty="0">
                <a:solidFill>
                  <a:srgbClr val="FF0000"/>
                </a:solidFill>
              </a:rPr>
              <a:t>, on </a:t>
            </a:r>
            <a:r>
              <a:rPr dirty="0" err="1">
                <a:solidFill>
                  <a:srgbClr val="FF0000"/>
                </a:solidFill>
              </a:rPr>
              <a:t>demande</a:t>
            </a:r>
            <a:r>
              <a:rPr dirty="0">
                <a:solidFill>
                  <a:srgbClr val="FF0000"/>
                </a:solidFill>
              </a:rPr>
              <a:t> des </a:t>
            </a:r>
            <a:r>
              <a:rPr dirty="0" err="1">
                <a:solidFill>
                  <a:srgbClr val="FF0000"/>
                </a:solidFill>
              </a:rPr>
              <a:t>sérologies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virales</a:t>
            </a:r>
            <a:r>
              <a:rPr dirty="0">
                <a:solidFill>
                  <a:srgbClr val="FF0000"/>
                </a:solidFill>
              </a:rPr>
              <a:t> et un </a:t>
            </a:r>
            <a:r>
              <a:rPr dirty="0" err="1">
                <a:solidFill>
                  <a:srgbClr val="FF0000"/>
                </a:solidFill>
              </a:rPr>
              <a:t>bilan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immunologique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/>
              <a:t>D- </a:t>
            </a:r>
            <a:r>
              <a:rPr dirty="0"/>
              <a:t>Les ganglions </a:t>
            </a:r>
            <a:r>
              <a:rPr dirty="0" err="1"/>
              <a:t>inguinaux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les ganglions </a:t>
            </a:r>
            <a:r>
              <a:rPr dirty="0" err="1"/>
              <a:t>préférés</a:t>
            </a:r>
            <a:r>
              <a:rPr dirty="0"/>
              <a:t> pour la </a:t>
            </a:r>
            <a:r>
              <a:rPr dirty="0" err="1"/>
              <a:t>biopsie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 </a:t>
            </a:r>
            <a:r>
              <a:rPr dirty="0" err="1"/>
              <a:t>traitement</a:t>
            </a:r>
            <a:r>
              <a:rPr dirty="0"/>
              <a:t> </a:t>
            </a:r>
            <a:r>
              <a:rPr dirty="0" err="1"/>
              <a:t>antituberculeux</a:t>
            </a:r>
            <a:r>
              <a:rPr dirty="0"/>
              <a:t> </a:t>
            </a:r>
            <a:r>
              <a:rPr dirty="0" err="1"/>
              <a:t>d'épreuve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à </a:t>
            </a:r>
            <a:r>
              <a:rPr dirty="0" err="1"/>
              <a:t>recommandé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0447843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42356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46- </a:t>
            </a:r>
            <a:r>
              <a:rPr dirty="0"/>
              <a:t>Une femme de 40 </a:t>
            </a:r>
            <a:r>
              <a:rPr dirty="0" err="1"/>
              <a:t>ans</a:t>
            </a:r>
            <a:r>
              <a:rPr dirty="0"/>
              <a:t>, sans </a:t>
            </a:r>
            <a:r>
              <a:rPr dirty="0" err="1"/>
              <a:t>antécédents</a:t>
            </a:r>
            <a:r>
              <a:rPr dirty="0"/>
              <a:t> </a:t>
            </a:r>
            <a:r>
              <a:rPr dirty="0" err="1"/>
              <a:t>particuliers</a:t>
            </a:r>
            <a:r>
              <a:rPr dirty="0"/>
              <a:t>, </a:t>
            </a:r>
            <a:r>
              <a:rPr dirty="0" err="1"/>
              <a:t>vient</a:t>
            </a:r>
            <a:r>
              <a:rPr dirty="0"/>
              <a:t> consulter pour la </a:t>
            </a:r>
            <a:r>
              <a:rPr dirty="0" err="1"/>
              <a:t>découverte</a:t>
            </a:r>
            <a:r>
              <a:rPr dirty="0"/>
              <a:t> </a:t>
            </a:r>
            <a:r>
              <a:rPr dirty="0" err="1"/>
              <a:t>fortuite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tuméfaction</a:t>
            </a:r>
            <a:r>
              <a:rPr dirty="0"/>
              <a:t> cervicale sous-</a:t>
            </a:r>
            <a:r>
              <a:rPr dirty="0" err="1"/>
              <a:t>digastrique</a:t>
            </a:r>
            <a:r>
              <a:rPr dirty="0"/>
              <a:t> de 2x2cm, </a:t>
            </a:r>
            <a:r>
              <a:rPr dirty="0" err="1"/>
              <a:t>isolée</a:t>
            </a:r>
            <a:r>
              <a:rPr dirty="0"/>
              <a:t>, </a:t>
            </a:r>
            <a:r>
              <a:rPr dirty="0" err="1"/>
              <a:t>ferme</a:t>
            </a:r>
            <a:r>
              <a:rPr dirty="0"/>
              <a:t> non </a:t>
            </a:r>
            <a:r>
              <a:rPr dirty="0" err="1"/>
              <a:t>inflammatoire</a:t>
            </a:r>
            <a:r>
              <a:rPr dirty="0"/>
              <a:t> </a:t>
            </a:r>
            <a:r>
              <a:rPr dirty="0" err="1"/>
              <a:t>évoluant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deux </a:t>
            </a:r>
            <a:r>
              <a:rPr dirty="0" err="1"/>
              <a:t>mois</a:t>
            </a:r>
            <a:r>
              <a:rPr dirty="0"/>
              <a:t>, sans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caractère</a:t>
            </a:r>
            <a:r>
              <a:rPr dirty="0"/>
              <a:t> </a:t>
            </a:r>
            <a:r>
              <a:rPr dirty="0" err="1"/>
              <a:t>infectieux</a:t>
            </a:r>
            <a:r>
              <a:rPr dirty="0"/>
              <a:t>.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 de la </a:t>
            </a:r>
            <a:r>
              <a:rPr dirty="0" err="1"/>
              <a:t>cavité</a:t>
            </a:r>
            <a:r>
              <a:rPr dirty="0"/>
              <a:t> </a:t>
            </a:r>
            <a:r>
              <a:rPr dirty="0" err="1"/>
              <a:t>buccale</a:t>
            </a:r>
            <a:r>
              <a:rPr dirty="0"/>
              <a:t>, du pharynx et du larynx </a:t>
            </a:r>
            <a:r>
              <a:rPr dirty="0" err="1"/>
              <a:t>est</a:t>
            </a:r>
            <a:r>
              <a:rPr dirty="0"/>
              <a:t> normal. Le diagnostic </a:t>
            </a:r>
            <a:r>
              <a:rPr dirty="0" err="1"/>
              <a:t>évoqué</a:t>
            </a:r>
            <a:r>
              <a:rPr dirty="0"/>
              <a:t> </a:t>
            </a:r>
            <a:r>
              <a:rPr dirty="0" err="1"/>
              <a:t>peut-être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 </a:t>
            </a:r>
            <a:r>
              <a:rPr dirty="0" err="1"/>
              <a:t>kyste</a:t>
            </a:r>
            <a:r>
              <a:rPr dirty="0"/>
              <a:t> </a:t>
            </a:r>
            <a:r>
              <a:rPr dirty="0" err="1"/>
              <a:t>congénital</a:t>
            </a:r>
            <a:r>
              <a:rPr dirty="0"/>
              <a:t> de type « </a:t>
            </a:r>
            <a:r>
              <a:rPr dirty="0" err="1"/>
              <a:t>amygdaloïde</a:t>
            </a:r>
            <a:r>
              <a:rPr dirty="0"/>
              <a:t> »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Une </a:t>
            </a:r>
            <a:r>
              <a:rPr dirty="0" err="1"/>
              <a:t>thyroïde</a:t>
            </a:r>
            <a:r>
              <a:rPr dirty="0"/>
              <a:t> </a:t>
            </a:r>
            <a:r>
              <a:rPr dirty="0" err="1"/>
              <a:t>ectopique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Une </a:t>
            </a:r>
            <a:r>
              <a:rPr dirty="0" err="1"/>
              <a:t>métastase</a:t>
            </a:r>
            <a:r>
              <a:rPr dirty="0"/>
              <a:t> </a:t>
            </a:r>
            <a:r>
              <a:rPr dirty="0" err="1"/>
              <a:t>ganglionnaire</a:t>
            </a:r>
            <a:r>
              <a:rPr dirty="0"/>
              <a:t> d'un cancer des </a:t>
            </a:r>
            <a:r>
              <a:rPr dirty="0" err="1"/>
              <a:t>voies</a:t>
            </a:r>
            <a:r>
              <a:rPr dirty="0"/>
              <a:t> </a:t>
            </a:r>
            <a:r>
              <a:rPr dirty="0" err="1"/>
              <a:t>aérodigestives</a:t>
            </a:r>
            <a:r>
              <a:rPr dirty="0"/>
              <a:t> supérieur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hémopathie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 </a:t>
            </a:r>
            <a:r>
              <a:rPr dirty="0" err="1"/>
              <a:t>kyste</a:t>
            </a:r>
            <a:r>
              <a:rPr dirty="0"/>
              <a:t> du tractus </a:t>
            </a:r>
            <a:r>
              <a:rPr dirty="0" err="1"/>
              <a:t>thyréoglosse</a:t>
            </a:r>
            <a:endParaRPr lang="fr-FR" dirty="0"/>
          </a:p>
          <a:p>
            <a:pPr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6036A-3153-8D1F-D5A4-CB8268132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8DBB-7B1E-2663-02AF-BDC270F1A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17973-1B81-D099-6680-53CB6C4ECE4D}"/>
              </a:ext>
            </a:extLst>
          </p:cNvPr>
          <p:cNvSpPr txBox="1"/>
          <p:nvPr/>
        </p:nvSpPr>
        <p:spPr>
          <a:xfrm>
            <a:off x="457200" y="1371600"/>
            <a:ext cx="842356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46- </a:t>
            </a:r>
            <a:r>
              <a:rPr dirty="0"/>
              <a:t>Une femme de 40 </a:t>
            </a:r>
            <a:r>
              <a:rPr dirty="0" err="1"/>
              <a:t>ans</a:t>
            </a:r>
            <a:r>
              <a:rPr dirty="0"/>
              <a:t>, sans </a:t>
            </a:r>
            <a:r>
              <a:rPr dirty="0" err="1"/>
              <a:t>antécédents</a:t>
            </a:r>
            <a:r>
              <a:rPr dirty="0"/>
              <a:t> </a:t>
            </a:r>
            <a:r>
              <a:rPr dirty="0" err="1"/>
              <a:t>particuliers</a:t>
            </a:r>
            <a:r>
              <a:rPr dirty="0"/>
              <a:t>, </a:t>
            </a:r>
            <a:r>
              <a:rPr dirty="0" err="1"/>
              <a:t>vient</a:t>
            </a:r>
            <a:r>
              <a:rPr dirty="0"/>
              <a:t> consulter pour la </a:t>
            </a:r>
            <a:r>
              <a:rPr dirty="0" err="1"/>
              <a:t>découverte</a:t>
            </a:r>
            <a:r>
              <a:rPr dirty="0"/>
              <a:t> </a:t>
            </a:r>
            <a:r>
              <a:rPr dirty="0" err="1"/>
              <a:t>fortuite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tuméfaction</a:t>
            </a:r>
            <a:r>
              <a:rPr dirty="0"/>
              <a:t> cervicale sous-</a:t>
            </a:r>
            <a:r>
              <a:rPr dirty="0" err="1"/>
              <a:t>digastrique</a:t>
            </a:r>
            <a:r>
              <a:rPr dirty="0"/>
              <a:t> de 2x2cm, </a:t>
            </a:r>
            <a:r>
              <a:rPr dirty="0" err="1"/>
              <a:t>isolée</a:t>
            </a:r>
            <a:r>
              <a:rPr dirty="0"/>
              <a:t>, </a:t>
            </a:r>
            <a:r>
              <a:rPr dirty="0" err="1"/>
              <a:t>ferme</a:t>
            </a:r>
            <a:r>
              <a:rPr dirty="0"/>
              <a:t> non </a:t>
            </a:r>
            <a:r>
              <a:rPr dirty="0" err="1"/>
              <a:t>inflammatoire</a:t>
            </a:r>
            <a:r>
              <a:rPr dirty="0"/>
              <a:t> </a:t>
            </a:r>
            <a:r>
              <a:rPr dirty="0" err="1"/>
              <a:t>évoluant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deux </a:t>
            </a:r>
            <a:r>
              <a:rPr dirty="0" err="1"/>
              <a:t>mois</a:t>
            </a:r>
            <a:r>
              <a:rPr dirty="0"/>
              <a:t>, sans </a:t>
            </a:r>
            <a:r>
              <a:rPr dirty="0" err="1"/>
              <a:t>aucun</a:t>
            </a:r>
            <a:r>
              <a:rPr dirty="0"/>
              <a:t> </a:t>
            </a:r>
            <a:r>
              <a:rPr dirty="0" err="1"/>
              <a:t>caractère</a:t>
            </a:r>
            <a:r>
              <a:rPr dirty="0"/>
              <a:t> </a:t>
            </a:r>
            <a:r>
              <a:rPr dirty="0" err="1"/>
              <a:t>infectieux</a:t>
            </a:r>
            <a:r>
              <a:rPr dirty="0"/>
              <a:t>.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 de la </a:t>
            </a:r>
            <a:r>
              <a:rPr dirty="0" err="1"/>
              <a:t>cavité</a:t>
            </a:r>
            <a:r>
              <a:rPr dirty="0"/>
              <a:t> </a:t>
            </a:r>
            <a:r>
              <a:rPr dirty="0" err="1"/>
              <a:t>buccale</a:t>
            </a:r>
            <a:r>
              <a:rPr dirty="0"/>
              <a:t>, du pharynx et du larynx </a:t>
            </a:r>
            <a:r>
              <a:rPr dirty="0" err="1"/>
              <a:t>est</a:t>
            </a:r>
            <a:r>
              <a:rPr dirty="0"/>
              <a:t> normal. Le diagnostic </a:t>
            </a:r>
            <a:r>
              <a:rPr dirty="0" err="1"/>
              <a:t>évoqué</a:t>
            </a:r>
            <a:r>
              <a:rPr dirty="0"/>
              <a:t> </a:t>
            </a:r>
            <a:r>
              <a:rPr dirty="0" err="1"/>
              <a:t>peut-être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kyste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congénital</a:t>
            </a:r>
            <a:r>
              <a:rPr dirty="0">
                <a:solidFill>
                  <a:srgbClr val="FF0000"/>
                </a:solidFill>
              </a:rPr>
              <a:t> de type « </a:t>
            </a:r>
            <a:r>
              <a:rPr dirty="0" err="1">
                <a:solidFill>
                  <a:srgbClr val="FF0000"/>
                </a:solidFill>
              </a:rPr>
              <a:t>amygdaloïde</a:t>
            </a:r>
            <a:r>
              <a:rPr dirty="0">
                <a:solidFill>
                  <a:srgbClr val="FF0000"/>
                </a:solidFill>
              </a:rPr>
              <a:t> »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thyroïde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ectopique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métastase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r>
              <a:rPr dirty="0">
                <a:solidFill>
                  <a:srgbClr val="FF0000"/>
                </a:solidFill>
              </a:rPr>
              <a:t> d'un cancer des </a:t>
            </a:r>
            <a:r>
              <a:rPr dirty="0" err="1">
                <a:solidFill>
                  <a:srgbClr val="FF0000"/>
                </a:solidFill>
              </a:rPr>
              <a:t>voies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aérodigestives</a:t>
            </a:r>
            <a:r>
              <a:rPr dirty="0">
                <a:solidFill>
                  <a:srgbClr val="FF0000"/>
                </a:solidFill>
              </a:rPr>
              <a:t> supérieur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adénopathie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d'une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hémopathie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kyste</a:t>
            </a:r>
            <a:r>
              <a:rPr dirty="0">
                <a:solidFill>
                  <a:srgbClr val="FF0000"/>
                </a:solidFill>
              </a:rPr>
              <a:t> du tractus </a:t>
            </a:r>
            <a:r>
              <a:rPr dirty="0" err="1">
                <a:solidFill>
                  <a:srgbClr val="FF0000"/>
                </a:solidFill>
              </a:rPr>
              <a:t>thyréoglosse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415816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47- </a:t>
            </a:r>
            <a:r>
              <a:rPr dirty="0"/>
              <a:t>Un enfant de 3ans </a:t>
            </a:r>
            <a:r>
              <a:rPr dirty="0" err="1"/>
              <a:t>présente</a:t>
            </a:r>
            <a:r>
              <a:rPr dirty="0"/>
              <a:t>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heures</a:t>
            </a:r>
            <a:r>
              <a:rPr dirty="0"/>
              <a:t> après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griffure</a:t>
            </a:r>
            <a:r>
              <a:rPr dirty="0"/>
              <a:t> de chat, à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, un </a:t>
            </a:r>
            <a:r>
              <a:rPr dirty="0" err="1"/>
              <a:t>œdème</a:t>
            </a:r>
            <a:r>
              <a:rPr dirty="0"/>
              <a:t> rouge </a:t>
            </a:r>
            <a:r>
              <a:rPr dirty="0" err="1"/>
              <a:t>chaud</a:t>
            </a:r>
            <a:r>
              <a:rPr dirty="0"/>
              <a:t> et douloureux </a:t>
            </a:r>
            <a:r>
              <a:rPr dirty="0" err="1"/>
              <a:t>s'accompagnant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traînée</a:t>
            </a:r>
            <a:r>
              <a:rPr dirty="0"/>
              <a:t> de </a:t>
            </a:r>
            <a:r>
              <a:rPr dirty="0" err="1"/>
              <a:t>lymphangite</a:t>
            </a:r>
            <a:r>
              <a:rPr dirty="0"/>
              <a:t>.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soupçonnez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complication </a:t>
            </a:r>
            <a:r>
              <a:rPr dirty="0" err="1"/>
              <a:t>infectieuse</a:t>
            </a:r>
            <a:r>
              <a:rPr dirty="0"/>
              <a:t>.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germe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a priori </a:t>
            </a:r>
            <a:r>
              <a:rPr dirty="0" err="1"/>
              <a:t>en</a:t>
            </a:r>
            <a:r>
              <a:rPr dirty="0"/>
              <a:t> cause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Francisella</a:t>
            </a:r>
            <a:r>
              <a:rPr dirty="0"/>
              <a:t> tularensis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Pasteurella </a:t>
            </a:r>
            <a:r>
              <a:rPr dirty="0" err="1"/>
              <a:t>multocida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Clostridium tetani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Staphylococcus aureus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Rothiadentocariosa</a:t>
            </a:r>
            <a:endParaRPr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21178-C4B1-3204-7D10-6DCA08D7B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757F9-BAC7-1B6D-93AF-6D71DF2B5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4D8E5-49F3-3BD3-A5C1-C74ED062E934}"/>
              </a:ext>
            </a:extLst>
          </p:cNvPr>
          <p:cNvSpPr txBox="1"/>
          <p:nvPr/>
        </p:nvSpPr>
        <p:spPr>
          <a:xfrm>
            <a:off x="914400" y="1371600"/>
            <a:ext cx="73152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47- </a:t>
            </a:r>
            <a:r>
              <a:rPr dirty="0"/>
              <a:t>Un enfant de 3ans </a:t>
            </a:r>
            <a:r>
              <a:rPr dirty="0" err="1"/>
              <a:t>présente</a:t>
            </a:r>
            <a:r>
              <a:rPr dirty="0"/>
              <a:t> </a:t>
            </a:r>
            <a:r>
              <a:rPr dirty="0" err="1"/>
              <a:t>quelques</a:t>
            </a:r>
            <a:r>
              <a:rPr dirty="0"/>
              <a:t> </a:t>
            </a:r>
            <a:r>
              <a:rPr dirty="0" err="1"/>
              <a:t>heures</a:t>
            </a:r>
            <a:r>
              <a:rPr dirty="0"/>
              <a:t> après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griffure</a:t>
            </a:r>
            <a:r>
              <a:rPr dirty="0"/>
              <a:t> de chat, à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niveau</a:t>
            </a:r>
            <a:r>
              <a:rPr dirty="0"/>
              <a:t>, un </a:t>
            </a:r>
            <a:r>
              <a:rPr dirty="0" err="1"/>
              <a:t>œdème</a:t>
            </a:r>
            <a:r>
              <a:rPr dirty="0"/>
              <a:t> rouge </a:t>
            </a:r>
            <a:r>
              <a:rPr dirty="0" err="1"/>
              <a:t>chaud</a:t>
            </a:r>
            <a:r>
              <a:rPr dirty="0"/>
              <a:t> et douloureux </a:t>
            </a:r>
            <a:r>
              <a:rPr dirty="0" err="1"/>
              <a:t>s'accompagnant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traînée</a:t>
            </a:r>
            <a:r>
              <a:rPr dirty="0"/>
              <a:t> de </a:t>
            </a:r>
            <a:r>
              <a:rPr dirty="0" err="1"/>
              <a:t>lymphangite</a:t>
            </a:r>
            <a:r>
              <a:rPr dirty="0"/>
              <a:t>. </a:t>
            </a:r>
            <a:r>
              <a:rPr dirty="0" err="1"/>
              <a:t>Vous</a:t>
            </a:r>
            <a:r>
              <a:rPr dirty="0"/>
              <a:t> </a:t>
            </a:r>
            <a:r>
              <a:rPr dirty="0" err="1"/>
              <a:t>soupçonnez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complication </a:t>
            </a:r>
            <a:r>
              <a:rPr dirty="0" err="1"/>
              <a:t>infectieuse</a:t>
            </a:r>
            <a:r>
              <a:rPr dirty="0"/>
              <a:t>. </a:t>
            </a:r>
            <a:r>
              <a:rPr dirty="0" err="1"/>
              <a:t>Quel</a:t>
            </a:r>
            <a:r>
              <a:rPr dirty="0"/>
              <a:t> </a:t>
            </a:r>
            <a:r>
              <a:rPr dirty="0" err="1"/>
              <a:t>germe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a priori </a:t>
            </a:r>
            <a:r>
              <a:rPr dirty="0" err="1"/>
              <a:t>en</a:t>
            </a:r>
            <a:r>
              <a:rPr dirty="0"/>
              <a:t> cause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Francisella</a:t>
            </a:r>
            <a:r>
              <a:rPr dirty="0"/>
              <a:t> tularensis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Pasteurella </a:t>
            </a:r>
            <a:r>
              <a:rPr dirty="0" err="1"/>
              <a:t>multocida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Clostridium tetani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Staphylococcus aureus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Rothiadentocariosa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607946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48-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Inguinale dure et fixe </a:t>
            </a:r>
            <a:r>
              <a:rPr dirty="0" err="1"/>
              <a:t>peut-être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rapport avec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tumeur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De la </a:t>
            </a:r>
            <a:r>
              <a:rPr dirty="0" err="1"/>
              <a:t>vulve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Du canal anal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De </a:t>
            </a:r>
            <a:r>
              <a:rPr dirty="0" err="1"/>
              <a:t>l'ovaire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De la prostate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Du col de </a:t>
            </a:r>
            <a:r>
              <a:rPr dirty="0" err="1"/>
              <a:t>l'utérus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07FF-ADA2-3548-B468-44A9A83E7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B0A49-30D9-A67F-B8BC-563CFEB6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20B84-3F39-1DE3-12BF-63937DE62A00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48- </a:t>
            </a:r>
            <a:r>
              <a:rPr dirty="0"/>
              <a:t>Une </a:t>
            </a:r>
            <a:r>
              <a:rPr dirty="0" err="1"/>
              <a:t>adénopathie</a:t>
            </a:r>
            <a:r>
              <a:rPr dirty="0"/>
              <a:t> Inguinale dure et fixe </a:t>
            </a:r>
            <a:r>
              <a:rPr dirty="0" err="1"/>
              <a:t>peut-être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rapport avec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tumeur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De la </a:t>
            </a:r>
            <a:r>
              <a:rPr dirty="0" err="1">
                <a:solidFill>
                  <a:srgbClr val="FF0000"/>
                </a:solidFill>
              </a:rPr>
              <a:t>vulve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Du canal anal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De </a:t>
            </a:r>
            <a:r>
              <a:rPr dirty="0" err="1"/>
              <a:t>l'ovaire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De la prostate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Du col de </a:t>
            </a:r>
            <a:r>
              <a:rPr dirty="0" err="1"/>
              <a:t>l'utérus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599609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49- </a:t>
            </a:r>
            <a:r>
              <a:rPr dirty="0"/>
              <a:t>Le Syphilis </a:t>
            </a:r>
            <a:r>
              <a:rPr dirty="0" err="1"/>
              <a:t>primaire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maladie</a:t>
            </a:r>
            <a:r>
              <a:rPr dirty="0"/>
              <a:t> </a:t>
            </a:r>
            <a:r>
              <a:rPr dirty="0" err="1"/>
              <a:t>sexuellement</a:t>
            </a:r>
            <a:r>
              <a:rPr dirty="0"/>
              <a:t> </a:t>
            </a:r>
            <a:r>
              <a:rPr dirty="0" err="1"/>
              <a:t>transmis</a:t>
            </a:r>
            <a:r>
              <a:rPr lang="fr-FR" dirty="0"/>
              <a:t>e</a:t>
            </a:r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Due à </a:t>
            </a:r>
            <a:r>
              <a:rPr dirty="0" err="1"/>
              <a:t>l'agent</a:t>
            </a:r>
            <a:r>
              <a:rPr dirty="0"/>
              <a:t> </a:t>
            </a:r>
            <a:r>
              <a:rPr dirty="0" err="1"/>
              <a:t>bactérien</a:t>
            </a:r>
            <a:r>
              <a:rPr dirty="0"/>
              <a:t> </a:t>
            </a:r>
            <a:r>
              <a:rPr dirty="0" err="1"/>
              <a:t>Treponerna</a:t>
            </a:r>
            <a:r>
              <a:rPr dirty="0"/>
              <a:t> pallidum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Associé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inguinale unique, </a:t>
            </a:r>
            <a:r>
              <a:rPr dirty="0" err="1"/>
              <a:t>volumineuse</a:t>
            </a:r>
            <a:r>
              <a:rPr lang="fr-FR" dirty="0"/>
              <a:t> ,n</a:t>
            </a:r>
            <a:r>
              <a:rPr dirty="0"/>
              <a:t>on </a:t>
            </a:r>
            <a:r>
              <a:rPr dirty="0" err="1"/>
              <a:t>inflammatoire</a:t>
            </a:r>
            <a:r>
              <a:rPr dirty="0"/>
              <a:t> et </a:t>
            </a:r>
            <a:r>
              <a:rPr dirty="0" err="1"/>
              <a:t>indolore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 err="1"/>
              <a:t>Associé</a:t>
            </a:r>
            <a:r>
              <a:rPr dirty="0"/>
              <a:t> à un chancre </a:t>
            </a:r>
            <a:r>
              <a:rPr dirty="0" err="1"/>
              <a:t>syphilitique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Secondaire</a:t>
            </a:r>
            <a:r>
              <a:rPr dirty="0"/>
              <a:t> å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morsure</a:t>
            </a:r>
            <a:r>
              <a:rPr dirty="0"/>
              <a:t> par le chat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478C7-916F-4C57-A06E-47308A8B9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1788C-E53B-118B-0BB9-4E1AF20EF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AAC75E-554C-3717-993F-5573CCD4487B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49- </a:t>
            </a:r>
            <a:r>
              <a:rPr dirty="0"/>
              <a:t>Le Syphilis </a:t>
            </a:r>
            <a:r>
              <a:rPr dirty="0" err="1"/>
              <a:t>primaire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maladie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sexuellement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transmis</a:t>
            </a:r>
            <a:r>
              <a:rPr lang="fr-FR" dirty="0">
                <a:solidFill>
                  <a:srgbClr val="FF0000"/>
                </a:solidFill>
              </a:rPr>
              <a:t>e</a:t>
            </a: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Due à </a:t>
            </a:r>
            <a:r>
              <a:rPr dirty="0" err="1">
                <a:solidFill>
                  <a:srgbClr val="FF0000"/>
                </a:solidFill>
              </a:rPr>
              <a:t>l'agent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bactérien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Treponerna</a:t>
            </a:r>
            <a:r>
              <a:rPr dirty="0">
                <a:solidFill>
                  <a:srgbClr val="FF0000"/>
                </a:solidFill>
              </a:rPr>
              <a:t> pallidum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 err="1">
                <a:solidFill>
                  <a:srgbClr val="FF0000"/>
                </a:solidFill>
              </a:rPr>
              <a:t>Associé</a:t>
            </a:r>
            <a:r>
              <a:rPr dirty="0">
                <a:solidFill>
                  <a:srgbClr val="FF0000"/>
                </a:solidFill>
              </a:rPr>
              <a:t> à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adénopathie</a:t>
            </a:r>
            <a:r>
              <a:rPr dirty="0">
                <a:solidFill>
                  <a:srgbClr val="FF0000"/>
                </a:solidFill>
              </a:rPr>
              <a:t> inguinale unique, </a:t>
            </a:r>
            <a:r>
              <a:rPr dirty="0" err="1">
                <a:solidFill>
                  <a:srgbClr val="FF0000"/>
                </a:solidFill>
              </a:rPr>
              <a:t>volumineuse</a:t>
            </a:r>
            <a:r>
              <a:rPr lang="fr-FR" dirty="0">
                <a:solidFill>
                  <a:srgbClr val="FF0000"/>
                </a:solidFill>
              </a:rPr>
              <a:t> ,n</a:t>
            </a:r>
            <a:r>
              <a:rPr dirty="0">
                <a:solidFill>
                  <a:srgbClr val="FF0000"/>
                </a:solidFill>
              </a:rPr>
              <a:t>on </a:t>
            </a:r>
            <a:r>
              <a:rPr dirty="0" err="1">
                <a:solidFill>
                  <a:srgbClr val="FF0000"/>
                </a:solidFill>
              </a:rPr>
              <a:t>inflammatoire</a:t>
            </a:r>
            <a:r>
              <a:rPr dirty="0">
                <a:solidFill>
                  <a:srgbClr val="FF0000"/>
                </a:solidFill>
              </a:rPr>
              <a:t> et </a:t>
            </a:r>
            <a:r>
              <a:rPr dirty="0" err="1">
                <a:solidFill>
                  <a:srgbClr val="FF0000"/>
                </a:solidFill>
              </a:rPr>
              <a:t>indolore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 err="1">
                <a:solidFill>
                  <a:srgbClr val="FF0000"/>
                </a:solidFill>
              </a:rPr>
              <a:t>Associé</a:t>
            </a:r>
            <a:r>
              <a:rPr dirty="0">
                <a:solidFill>
                  <a:srgbClr val="FF0000"/>
                </a:solidFill>
              </a:rPr>
              <a:t> à un chancre </a:t>
            </a:r>
            <a:r>
              <a:rPr dirty="0" err="1">
                <a:solidFill>
                  <a:srgbClr val="FF0000"/>
                </a:solidFill>
              </a:rPr>
              <a:t>syphilitique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Secondaire</a:t>
            </a:r>
            <a:r>
              <a:rPr dirty="0"/>
              <a:t> å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morsure</a:t>
            </a:r>
            <a:r>
              <a:rPr dirty="0"/>
              <a:t> par le chat</a:t>
            </a:r>
          </a:p>
        </p:txBody>
      </p:sp>
    </p:spTree>
    <p:extLst>
      <p:ext uri="{BB962C8B-B14F-4D97-AF65-F5344CB8AC3E}">
        <p14:creationId xmlns:p14="http://schemas.microsoft.com/office/powerpoint/2010/main" val="41275459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50- </a:t>
            </a:r>
            <a:r>
              <a:rPr dirty="0"/>
              <a:t>Les </a:t>
            </a:r>
            <a:r>
              <a:rPr dirty="0" err="1"/>
              <a:t>éléments</a:t>
            </a:r>
            <a:r>
              <a:rPr dirty="0"/>
              <a:t> </a:t>
            </a:r>
            <a:r>
              <a:rPr dirty="0" err="1"/>
              <a:t>suivants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faveur</a:t>
            </a:r>
            <a:r>
              <a:rPr dirty="0"/>
              <a:t> de </a:t>
            </a:r>
            <a:r>
              <a:rPr dirty="0" err="1"/>
              <a:t>L'origine</a:t>
            </a:r>
            <a:r>
              <a:rPr dirty="0"/>
              <a:t> </a:t>
            </a:r>
            <a:r>
              <a:rPr dirty="0" err="1"/>
              <a:t>tuberculeuse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A</a:t>
            </a:r>
            <a:r>
              <a:rPr lang="fr-FR" dirty="0"/>
              <a:t>- </a:t>
            </a:r>
            <a:r>
              <a:rPr dirty="0" err="1"/>
              <a:t>Associés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altération</a:t>
            </a:r>
            <a:r>
              <a:rPr dirty="0"/>
              <a:t> de </a:t>
            </a:r>
            <a:r>
              <a:rPr dirty="0" err="1"/>
              <a:t>l'état</a:t>
            </a:r>
            <a:r>
              <a:rPr dirty="0"/>
              <a:t> g</a:t>
            </a:r>
            <a:r>
              <a:rPr lang="en-GB" dirty="0" err="1"/>
              <a:t>ene</a:t>
            </a:r>
            <a:r>
              <a:rPr dirty="0" err="1"/>
              <a:t>ral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D'allure</a:t>
            </a:r>
            <a:r>
              <a:rPr dirty="0"/>
              <a:t> très </a:t>
            </a:r>
            <a:r>
              <a:rPr dirty="0" err="1"/>
              <a:t>inflammatoire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cervicales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D</a:t>
            </a:r>
            <a:r>
              <a:rPr lang="fr-FR" dirty="0"/>
              <a:t>- </a:t>
            </a:r>
            <a:r>
              <a:rPr dirty="0"/>
              <a:t>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bilatérales</a:t>
            </a:r>
            <a:r>
              <a:rPr dirty="0"/>
              <a:t> et </a:t>
            </a:r>
            <a:r>
              <a:rPr dirty="0" err="1"/>
              <a:t>volumineuses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E</a:t>
            </a:r>
            <a:r>
              <a:rPr lang="fr-FR" dirty="0"/>
              <a:t>-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évoluent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fistulisation</a:t>
            </a:r>
            <a:r>
              <a:rPr dirty="0"/>
              <a:t> </a:t>
            </a:r>
            <a:r>
              <a:rPr dirty="0" err="1"/>
              <a:t>cutanée</a:t>
            </a:r>
            <a:endParaRPr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818F2-2FC6-DF43-8411-ADBF4FB9C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989A-29AC-A0B9-5631-C3B5D442E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8CBCB9-36EC-9F43-0724-BABE297E631A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50- </a:t>
            </a:r>
            <a:r>
              <a:rPr dirty="0"/>
              <a:t>Les </a:t>
            </a:r>
            <a:r>
              <a:rPr dirty="0" err="1"/>
              <a:t>éléments</a:t>
            </a:r>
            <a:r>
              <a:rPr dirty="0"/>
              <a:t> </a:t>
            </a:r>
            <a:r>
              <a:rPr dirty="0" err="1"/>
              <a:t>suivants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faveur</a:t>
            </a:r>
            <a:r>
              <a:rPr dirty="0"/>
              <a:t> de </a:t>
            </a:r>
            <a:r>
              <a:rPr dirty="0" err="1"/>
              <a:t>L'origine</a:t>
            </a:r>
            <a:r>
              <a:rPr dirty="0"/>
              <a:t> </a:t>
            </a:r>
            <a:r>
              <a:rPr dirty="0" err="1"/>
              <a:t>tuberculeuse</a:t>
            </a:r>
            <a:r>
              <a:rPr dirty="0"/>
              <a:t> des </a:t>
            </a:r>
            <a:r>
              <a:rPr dirty="0" err="1"/>
              <a:t>adénopathies</a:t>
            </a:r>
            <a:r>
              <a:rPr dirty="0"/>
              <a:t>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>
                <a:solidFill>
                  <a:srgbClr val="FF0000"/>
                </a:solidFill>
              </a:rPr>
              <a:t>A</a:t>
            </a:r>
            <a:r>
              <a:rPr lang="fr-FR" dirty="0">
                <a:solidFill>
                  <a:srgbClr val="FF0000"/>
                </a:solidFill>
              </a:rPr>
              <a:t>- </a:t>
            </a:r>
            <a:r>
              <a:rPr dirty="0" err="1">
                <a:solidFill>
                  <a:srgbClr val="FF0000"/>
                </a:solidFill>
              </a:rPr>
              <a:t>Associés</a:t>
            </a:r>
            <a:r>
              <a:rPr dirty="0">
                <a:solidFill>
                  <a:srgbClr val="FF0000"/>
                </a:solidFill>
              </a:rPr>
              <a:t> à </a:t>
            </a:r>
            <a:r>
              <a:rPr dirty="0" err="1">
                <a:solidFill>
                  <a:srgbClr val="FF0000"/>
                </a:solidFill>
              </a:rPr>
              <a:t>une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altération</a:t>
            </a:r>
            <a:r>
              <a:rPr dirty="0">
                <a:solidFill>
                  <a:srgbClr val="FF0000"/>
                </a:solidFill>
              </a:rPr>
              <a:t> de </a:t>
            </a:r>
            <a:r>
              <a:rPr dirty="0" err="1">
                <a:solidFill>
                  <a:srgbClr val="FF0000"/>
                </a:solidFill>
              </a:rPr>
              <a:t>l'état</a:t>
            </a:r>
            <a:r>
              <a:rPr dirty="0">
                <a:solidFill>
                  <a:srgbClr val="FF0000"/>
                </a:solidFill>
              </a:rPr>
              <a:t> g</a:t>
            </a:r>
            <a:r>
              <a:rPr lang="en-GB" dirty="0" err="1">
                <a:solidFill>
                  <a:srgbClr val="FF0000"/>
                </a:solidFill>
              </a:rPr>
              <a:t>ene</a:t>
            </a:r>
            <a:r>
              <a:rPr dirty="0" err="1">
                <a:solidFill>
                  <a:srgbClr val="FF0000"/>
                </a:solidFill>
              </a:rPr>
              <a:t>ral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D'allure</a:t>
            </a:r>
            <a:r>
              <a:rPr dirty="0"/>
              <a:t> très </a:t>
            </a:r>
            <a:r>
              <a:rPr dirty="0" err="1"/>
              <a:t>inflammatoire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Le plus </a:t>
            </a:r>
            <a:r>
              <a:rPr dirty="0" err="1">
                <a:solidFill>
                  <a:srgbClr val="FF0000"/>
                </a:solidFill>
              </a:rPr>
              <a:t>souvent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cervicales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dirty="0"/>
              <a:t>D</a:t>
            </a:r>
            <a:r>
              <a:rPr lang="fr-FR" dirty="0"/>
              <a:t>- </a:t>
            </a:r>
            <a:r>
              <a:rPr dirty="0"/>
              <a:t>Le plus </a:t>
            </a:r>
            <a:r>
              <a:rPr dirty="0" err="1"/>
              <a:t>souvent</a:t>
            </a:r>
            <a:r>
              <a:rPr dirty="0"/>
              <a:t> </a:t>
            </a:r>
            <a:r>
              <a:rPr dirty="0" err="1"/>
              <a:t>bilatérales</a:t>
            </a:r>
            <a:r>
              <a:rPr dirty="0"/>
              <a:t> et </a:t>
            </a:r>
            <a:r>
              <a:rPr dirty="0" err="1"/>
              <a:t>volumineuses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dirty="0"/>
              <a:t>E</a:t>
            </a:r>
            <a:r>
              <a:rPr lang="fr-FR" dirty="0"/>
              <a:t>- </a:t>
            </a:r>
            <a:r>
              <a:rPr dirty="0" err="1"/>
              <a:t>Ces</a:t>
            </a:r>
            <a:r>
              <a:rPr dirty="0"/>
              <a:t> </a:t>
            </a:r>
            <a:r>
              <a:rPr dirty="0" err="1"/>
              <a:t>adénopathies</a:t>
            </a:r>
            <a:r>
              <a:rPr dirty="0"/>
              <a:t> </a:t>
            </a:r>
            <a:r>
              <a:rPr dirty="0" err="1"/>
              <a:t>évoluent</a:t>
            </a:r>
            <a:r>
              <a:rPr dirty="0"/>
              <a:t> </a:t>
            </a:r>
            <a:r>
              <a:rPr dirty="0" err="1"/>
              <a:t>toujours</a:t>
            </a:r>
            <a:r>
              <a:rPr dirty="0"/>
              <a:t> </a:t>
            </a:r>
            <a:r>
              <a:rPr dirty="0" err="1"/>
              <a:t>vers</a:t>
            </a:r>
            <a:r>
              <a:rPr dirty="0"/>
              <a:t>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fistulisation</a:t>
            </a:r>
            <a:r>
              <a:rPr dirty="0"/>
              <a:t> </a:t>
            </a:r>
            <a:r>
              <a:rPr dirty="0" err="1"/>
              <a:t>cutanée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1842694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CAS CLINIQUE 1 :  Patient </a:t>
            </a:r>
            <a:r>
              <a:rPr dirty="0" err="1"/>
              <a:t>âgé</a:t>
            </a:r>
            <a:r>
              <a:rPr dirty="0"/>
              <a:t> de 50 </a:t>
            </a:r>
            <a:r>
              <a:rPr dirty="0" err="1"/>
              <a:t>ans</a:t>
            </a:r>
            <a:r>
              <a:rPr dirty="0"/>
              <a:t> </a:t>
            </a:r>
            <a:r>
              <a:rPr dirty="0" err="1"/>
              <a:t>consulte</a:t>
            </a:r>
            <a:r>
              <a:rPr dirty="0"/>
              <a:t> pour </a:t>
            </a:r>
            <a:r>
              <a:rPr dirty="0" err="1"/>
              <a:t>tuméfaction</a:t>
            </a:r>
            <a:r>
              <a:rPr dirty="0"/>
              <a:t> cervicale </a:t>
            </a:r>
            <a:r>
              <a:rPr dirty="0" err="1"/>
              <a:t>évoluant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3 </a:t>
            </a:r>
            <a:r>
              <a:rPr dirty="0" err="1"/>
              <a:t>mois</a:t>
            </a:r>
            <a:r>
              <a:rPr dirty="0"/>
              <a:t>. Il </a:t>
            </a:r>
            <a:r>
              <a:rPr dirty="0" err="1"/>
              <a:t>rapporte</a:t>
            </a:r>
            <a:r>
              <a:rPr dirty="0"/>
              <a:t> la notion de </a:t>
            </a:r>
            <a:r>
              <a:rPr dirty="0" err="1"/>
              <a:t>sueurs</a:t>
            </a:r>
            <a:r>
              <a:rPr dirty="0"/>
              <a:t> nocturnes et un </a:t>
            </a:r>
            <a:r>
              <a:rPr dirty="0" err="1"/>
              <a:t>amaigrissement</a:t>
            </a:r>
            <a:r>
              <a:rPr dirty="0"/>
              <a:t> de 4 kg. À </a:t>
            </a:r>
            <a:r>
              <a:rPr dirty="0" err="1"/>
              <a:t>l'examen</a:t>
            </a:r>
            <a:r>
              <a:rPr dirty="0"/>
              <a:t>, il </a:t>
            </a:r>
            <a:r>
              <a:rPr dirty="0" err="1"/>
              <a:t>était</a:t>
            </a:r>
            <a:r>
              <a:rPr dirty="0"/>
              <a:t> </a:t>
            </a:r>
            <a:r>
              <a:rPr dirty="0" err="1"/>
              <a:t>apyrétique</a:t>
            </a:r>
            <a:r>
              <a:rPr dirty="0"/>
              <a:t>, avec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jugulo</a:t>
            </a:r>
            <a:r>
              <a:rPr dirty="0"/>
              <a:t> </a:t>
            </a:r>
            <a:r>
              <a:rPr dirty="0" err="1"/>
              <a:t>carotidienne</a:t>
            </a:r>
            <a:r>
              <a:rPr dirty="0"/>
              <a:t> haute de 3cm, fixe, </a:t>
            </a:r>
            <a:r>
              <a:rPr dirty="0" err="1"/>
              <a:t>ferme</a:t>
            </a:r>
            <a:r>
              <a:rPr dirty="0"/>
              <a:t> et peu mobile. Le </a:t>
            </a:r>
            <a:r>
              <a:rPr dirty="0" err="1"/>
              <a:t>reste</a:t>
            </a:r>
            <a:r>
              <a:rPr dirty="0"/>
              <a:t> de </a:t>
            </a:r>
            <a:r>
              <a:rPr dirty="0" err="1"/>
              <a:t>l'examen</a:t>
            </a:r>
            <a:r>
              <a:rPr dirty="0"/>
              <a:t> ORL </a:t>
            </a:r>
            <a:r>
              <a:rPr dirty="0" err="1"/>
              <a:t>était</a:t>
            </a:r>
            <a:r>
              <a:rPr dirty="0"/>
              <a:t> sans anomalies.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51- </a:t>
            </a:r>
            <a:r>
              <a:rPr dirty="0"/>
              <a:t>Les </a:t>
            </a:r>
            <a:r>
              <a:rPr dirty="0" err="1"/>
              <a:t>bilans</a:t>
            </a:r>
            <a:r>
              <a:rPr dirty="0"/>
              <a:t> à demander </a:t>
            </a:r>
            <a:r>
              <a:rPr dirty="0" err="1"/>
              <a:t>en</a:t>
            </a:r>
            <a:r>
              <a:rPr dirty="0"/>
              <a:t> 1ère intention </a:t>
            </a:r>
            <a:r>
              <a:rPr dirty="0" err="1"/>
              <a:t>sont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IDR à la </a:t>
            </a:r>
            <a:r>
              <a:rPr dirty="0" err="1"/>
              <a:t>tuberculine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LDH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inflammatoire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calcémie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Les </a:t>
            </a:r>
            <a:r>
              <a:rPr dirty="0" err="1"/>
              <a:t>anticorps</a:t>
            </a:r>
            <a:r>
              <a:rPr dirty="0"/>
              <a:t> </a:t>
            </a:r>
            <a:r>
              <a:rPr dirty="0" err="1"/>
              <a:t>antinucléaires</a:t>
            </a:r>
            <a:endParaRPr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69728-3CF6-A7A9-398A-A9FE409F4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7DE9D-B7CA-D776-543C-A3F80F88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5B7E8A-5999-0B09-3B00-5C2F6FAB9AC2}"/>
              </a:ext>
            </a:extLst>
          </p:cNvPr>
          <p:cNvSpPr txBox="1"/>
          <p:nvPr/>
        </p:nvSpPr>
        <p:spPr>
          <a:xfrm>
            <a:off x="914400" y="1371600"/>
            <a:ext cx="73152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CAS CLINIQUE 1 :  Patient </a:t>
            </a:r>
            <a:r>
              <a:rPr dirty="0" err="1"/>
              <a:t>âgé</a:t>
            </a:r>
            <a:r>
              <a:rPr dirty="0"/>
              <a:t> de 50 </a:t>
            </a:r>
            <a:r>
              <a:rPr dirty="0" err="1"/>
              <a:t>ans</a:t>
            </a:r>
            <a:r>
              <a:rPr dirty="0"/>
              <a:t> </a:t>
            </a:r>
            <a:r>
              <a:rPr dirty="0" err="1"/>
              <a:t>consulte</a:t>
            </a:r>
            <a:r>
              <a:rPr dirty="0"/>
              <a:t> pour </a:t>
            </a:r>
            <a:r>
              <a:rPr dirty="0" err="1"/>
              <a:t>tuméfaction</a:t>
            </a:r>
            <a:r>
              <a:rPr dirty="0"/>
              <a:t> cervicale </a:t>
            </a:r>
            <a:r>
              <a:rPr dirty="0" err="1"/>
              <a:t>évoluant</a:t>
            </a:r>
            <a:r>
              <a:rPr dirty="0"/>
              <a:t> </a:t>
            </a:r>
            <a:r>
              <a:rPr dirty="0" err="1"/>
              <a:t>depuis</a:t>
            </a:r>
            <a:r>
              <a:rPr dirty="0"/>
              <a:t> 3 </a:t>
            </a:r>
            <a:r>
              <a:rPr dirty="0" err="1"/>
              <a:t>mois</a:t>
            </a:r>
            <a:r>
              <a:rPr dirty="0"/>
              <a:t>. Il </a:t>
            </a:r>
            <a:r>
              <a:rPr dirty="0" err="1"/>
              <a:t>rapporte</a:t>
            </a:r>
            <a:r>
              <a:rPr dirty="0"/>
              <a:t> la notion de </a:t>
            </a:r>
            <a:r>
              <a:rPr dirty="0" err="1"/>
              <a:t>sueurs</a:t>
            </a:r>
            <a:r>
              <a:rPr dirty="0"/>
              <a:t> nocturnes et un </a:t>
            </a:r>
            <a:r>
              <a:rPr dirty="0" err="1"/>
              <a:t>amaigrissement</a:t>
            </a:r>
            <a:r>
              <a:rPr dirty="0"/>
              <a:t> de 4 kg. À </a:t>
            </a:r>
            <a:r>
              <a:rPr dirty="0" err="1"/>
              <a:t>l'examen</a:t>
            </a:r>
            <a:r>
              <a:rPr dirty="0"/>
              <a:t>, il </a:t>
            </a:r>
            <a:r>
              <a:rPr dirty="0" err="1"/>
              <a:t>était</a:t>
            </a:r>
            <a:r>
              <a:rPr dirty="0"/>
              <a:t> </a:t>
            </a:r>
            <a:r>
              <a:rPr dirty="0" err="1"/>
              <a:t>apyrétique</a:t>
            </a:r>
            <a:r>
              <a:rPr dirty="0"/>
              <a:t>, avec </a:t>
            </a:r>
            <a:r>
              <a:rPr dirty="0" err="1"/>
              <a:t>présence</a:t>
            </a:r>
            <a:r>
              <a:rPr dirty="0"/>
              <a:t> </a:t>
            </a:r>
            <a:r>
              <a:rPr dirty="0" err="1"/>
              <a:t>d'une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jugulo</a:t>
            </a:r>
            <a:r>
              <a:rPr dirty="0"/>
              <a:t> </a:t>
            </a:r>
            <a:r>
              <a:rPr dirty="0" err="1"/>
              <a:t>carotidienne</a:t>
            </a:r>
            <a:r>
              <a:rPr dirty="0"/>
              <a:t> haute de 3cm, fixe, </a:t>
            </a:r>
            <a:r>
              <a:rPr dirty="0" err="1"/>
              <a:t>ferme</a:t>
            </a:r>
            <a:r>
              <a:rPr dirty="0"/>
              <a:t> et peu mobile. Le </a:t>
            </a:r>
            <a:r>
              <a:rPr dirty="0" err="1"/>
              <a:t>reste</a:t>
            </a:r>
            <a:r>
              <a:rPr dirty="0"/>
              <a:t> de </a:t>
            </a:r>
            <a:r>
              <a:rPr dirty="0" err="1"/>
              <a:t>l'examen</a:t>
            </a:r>
            <a:r>
              <a:rPr dirty="0"/>
              <a:t> ORL </a:t>
            </a:r>
            <a:r>
              <a:rPr dirty="0" err="1"/>
              <a:t>était</a:t>
            </a:r>
            <a:r>
              <a:rPr dirty="0"/>
              <a:t> sans anomalies.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51- </a:t>
            </a:r>
            <a:r>
              <a:rPr dirty="0"/>
              <a:t>Les </a:t>
            </a:r>
            <a:r>
              <a:rPr dirty="0" err="1"/>
              <a:t>bilans</a:t>
            </a:r>
            <a:r>
              <a:rPr dirty="0"/>
              <a:t> à demander </a:t>
            </a:r>
            <a:r>
              <a:rPr dirty="0" err="1"/>
              <a:t>en</a:t>
            </a:r>
            <a:r>
              <a:rPr dirty="0"/>
              <a:t> 1ère intention </a:t>
            </a:r>
            <a:r>
              <a:rPr dirty="0" err="1"/>
              <a:t>sont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>
                <a:solidFill>
                  <a:srgbClr val="FF0000"/>
                </a:solidFill>
              </a:rPr>
              <a:t>Une IDR à la </a:t>
            </a:r>
            <a:r>
              <a:rPr dirty="0" err="1">
                <a:solidFill>
                  <a:srgbClr val="FF0000"/>
                </a:solidFill>
              </a:rPr>
              <a:t>tuberculine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LDH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 err="1">
                <a:solidFill>
                  <a:srgbClr val="FF0000"/>
                </a:solidFill>
              </a:rPr>
              <a:t>Bilan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inflammatoire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calcémie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Les </a:t>
            </a:r>
            <a:r>
              <a:rPr dirty="0" err="1"/>
              <a:t>anticorps</a:t>
            </a:r>
            <a:r>
              <a:rPr dirty="0"/>
              <a:t> </a:t>
            </a:r>
            <a:r>
              <a:rPr dirty="0" err="1"/>
              <a:t>antinucléaires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578779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52- </a:t>
            </a:r>
            <a:r>
              <a:rPr dirty="0"/>
              <a:t>Les </a:t>
            </a:r>
            <a:r>
              <a:rPr dirty="0" err="1"/>
              <a:t>autres</a:t>
            </a:r>
            <a:r>
              <a:rPr dirty="0"/>
              <a:t> examens </a:t>
            </a:r>
            <a:r>
              <a:rPr dirty="0" err="1"/>
              <a:t>complémentaires</a:t>
            </a:r>
            <a:r>
              <a:rPr dirty="0"/>
              <a:t> à </a:t>
            </a:r>
            <a:r>
              <a:rPr dirty="0" err="1"/>
              <a:t>réaliser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échographie</a:t>
            </a:r>
            <a:r>
              <a:rPr dirty="0"/>
              <a:t> cervicale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 err="1"/>
              <a:t>Biopsie</a:t>
            </a:r>
            <a:r>
              <a:rPr dirty="0"/>
              <a:t> du cavum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Une </a:t>
            </a:r>
            <a:r>
              <a:rPr dirty="0" err="1"/>
              <a:t>radiographie</a:t>
            </a:r>
            <a:r>
              <a:rPr dirty="0"/>
              <a:t> du thorax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Une TDM </a:t>
            </a:r>
            <a:r>
              <a:rPr dirty="0" err="1"/>
              <a:t>thoraco</a:t>
            </a:r>
            <a:r>
              <a:rPr dirty="0"/>
              <a:t> </a:t>
            </a:r>
            <a:r>
              <a:rPr dirty="0" err="1"/>
              <a:t>abdomino</a:t>
            </a:r>
            <a:r>
              <a:rPr dirty="0"/>
              <a:t> </a:t>
            </a:r>
            <a:r>
              <a:rPr dirty="0" err="1"/>
              <a:t>pelvienne</a:t>
            </a:r>
            <a:endParaRPr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A779-1F58-83D2-D1D8-F1BCCF495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80BE5-FDBF-1298-87B7-032BC720B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7F2F8F-1363-AACA-D6C4-2B8C01FF2DCD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52- </a:t>
            </a:r>
            <a:r>
              <a:rPr dirty="0"/>
              <a:t>Les </a:t>
            </a:r>
            <a:r>
              <a:rPr dirty="0" err="1"/>
              <a:t>autres</a:t>
            </a:r>
            <a:r>
              <a:rPr dirty="0"/>
              <a:t> examens </a:t>
            </a:r>
            <a:r>
              <a:rPr dirty="0" err="1"/>
              <a:t>complémentaires</a:t>
            </a:r>
            <a:r>
              <a:rPr dirty="0"/>
              <a:t> à </a:t>
            </a:r>
            <a:r>
              <a:rPr dirty="0" err="1"/>
              <a:t>réaliser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échographie</a:t>
            </a:r>
            <a:r>
              <a:rPr dirty="0">
                <a:solidFill>
                  <a:srgbClr val="FF0000"/>
                </a:solidFill>
              </a:rPr>
              <a:t> cervicale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 err="1">
                <a:solidFill>
                  <a:srgbClr val="FF0000"/>
                </a:solidFill>
              </a:rPr>
              <a:t>Biopsie</a:t>
            </a:r>
            <a:r>
              <a:rPr dirty="0">
                <a:solidFill>
                  <a:srgbClr val="FF0000"/>
                </a:solidFill>
              </a:rPr>
              <a:t> du cavum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radiographie</a:t>
            </a:r>
            <a:r>
              <a:rPr dirty="0">
                <a:solidFill>
                  <a:srgbClr val="FF0000"/>
                </a:solidFill>
              </a:rPr>
              <a:t> du thorax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Une TDM </a:t>
            </a:r>
            <a:r>
              <a:rPr dirty="0" err="1">
                <a:solidFill>
                  <a:srgbClr val="FF0000"/>
                </a:solidFill>
              </a:rPr>
              <a:t>thoraco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abdomino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pelvienne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13160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53- </a:t>
            </a:r>
            <a:r>
              <a:rPr dirty="0"/>
              <a:t>Un examen </a:t>
            </a:r>
            <a:r>
              <a:rPr dirty="0" err="1"/>
              <a:t>cytologique</a:t>
            </a:r>
            <a:r>
              <a:rPr dirty="0"/>
              <a:t> </a:t>
            </a:r>
            <a:r>
              <a:rPr dirty="0" err="1"/>
              <a:t>réalisé</a:t>
            </a:r>
            <a:r>
              <a:rPr dirty="0"/>
              <a:t> pour </a:t>
            </a:r>
            <a:r>
              <a:rPr dirty="0" err="1"/>
              <a:t>ce</a:t>
            </a:r>
            <a:r>
              <a:rPr dirty="0"/>
              <a:t> patient a </a:t>
            </a:r>
            <a:r>
              <a:rPr dirty="0" err="1"/>
              <a:t>objectivé</a:t>
            </a:r>
            <a:r>
              <a:rPr dirty="0"/>
              <a:t> un </a:t>
            </a:r>
            <a:r>
              <a:rPr dirty="0" err="1"/>
              <a:t>granulome</a:t>
            </a:r>
            <a:r>
              <a:rPr dirty="0"/>
              <a:t> </a:t>
            </a:r>
            <a:r>
              <a:rPr dirty="0" err="1"/>
              <a:t>giganto</a:t>
            </a:r>
            <a:r>
              <a:rPr dirty="0"/>
              <a:t> </a:t>
            </a:r>
            <a:r>
              <a:rPr dirty="0" err="1"/>
              <a:t>cellulaire</a:t>
            </a:r>
            <a:r>
              <a:rPr dirty="0"/>
              <a:t> </a:t>
            </a:r>
            <a:r>
              <a:rPr dirty="0" err="1"/>
              <a:t>centré</a:t>
            </a:r>
            <a:r>
              <a:rPr dirty="0"/>
              <a:t> par de la </a:t>
            </a:r>
            <a:r>
              <a:rPr dirty="0" err="1"/>
              <a:t>nécrose</a:t>
            </a:r>
            <a:r>
              <a:rPr dirty="0"/>
              <a:t> </a:t>
            </a:r>
            <a:r>
              <a:rPr dirty="0" err="1"/>
              <a:t>caséeuse</a:t>
            </a:r>
            <a:r>
              <a:rPr dirty="0"/>
              <a:t>. Le diagnostic à </a:t>
            </a:r>
            <a:r>
              <a:rPr dirty="0" err="1"/>
              <a:t>retenir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sarcoïdose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Un </a:t>
            </a:r>
            <a:r>
              <a:rPr dirty="0" err="1"/>
              <a:t>lymphome</a:t>
            </a:r>
            <a:r>
              <a:rPr dirty="0"/>
              <a:t> </a:t>
            </a:r>
            <a:r>
              <a:rPr dirty="0" err="1"/>
              <a:t>hodgkinien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Une </a:t>
            </a:r>
            <a:r>
              <a:rPr dirty="0" err="1"/>
              <a:t>tuberculose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pathologie</a:t>
            </a:r>
            <a:r>
              <a:rPr dirty="0"/>
              <a:t> </a:t>
            </a:r>
            <a:r>
              <a:rPr dirty="0" err="1"/>
              <a:t>d'inoculation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 cancer du cavum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51E00-D21D-2EF3-0249-EBBE90EEA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84495-F672-CCAA-1E05-375C948E8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6DA5AF-088C-D1DD-B1F4-A83B623448DA}"/>
              </a:ext>
            </a:extLst>
          </p:cNvPr>
          <p:cNvSpPr txBox="1"/>
          <p:nvPr/>
        </p:nvSpPr>
        <p:spPr>
          <a:xfrm>
            <a:off x="914400" y="1371600"/>
            <a:ext cx="7315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53- </a:t>
            </a:r>
            <a:r>
              <a:rPr dirty="0"/>
              <a:t>Un examen </a:t>
            </a:r>
            <a:r>
              <a:rPr dirty="0" err="1"/>
              <a:t>cytologique</a:t>
            </a:r>
            <a:r>
              <a:rPr dirty="0"/>
              <a:t> </a:t>
            </a:r>
            <a:r>
              <a:rPr dirty="0" err="1"/>
              <a:t>réalisé</a:t>
            </a:r>
            <a:r>
              <a:rPr dirty="0"/>
              <a:t> pour </a:t>
            </a:r>
            <a:r>
              <a:rPr dirty="0" err="1"/>
              <a:t>ce</a:t>
            </a:r>
            <a:r>
              <a:rPr dirty="0"/>
              <a:t> patient a </a:t>
            </a:r>
            <a:r>
              <a:rPr dirty="0" err="1"/>
              <a:t>objectivé</a:t>
            </a:r>
            <a:r>
              <a:rPr dirty="0"/>
              <a:t> un </a:t>
            </a:r>
            <a:r>
              <a:rPr dirty="0" err="1"/>
              <a:t>granulome</a:t>
            </a:r>
            <a:r>
              <a:rPr dirty="0"/>
              <a:t> </a:t>
            </a:r>
            <a:r>
              <a:rPr dirty="0" err="1"/>
              <a:t>giganto</a:t>
            </a:r>
            <a:r>
              <a:rPr dirty="0"/>
              <a:t> </a:t>
            </a:r>
            <a:r>
              <a:rPr dirty="0" err="1"/>
              <a:t>cellulaire</a:t>
            </a:r>
            <a:r>
              <a:rPr dirty="0"/>
              <a:t> </a:t>
            </a:r>
            <a:r>
              <a:rPr dirty="0" err="1"/>
              <a:t>centré</a:t>
            </a:r>
            <a:r>
              <a:rPr dirty="0"/>
              <a:t> par de la </a:t>
            </a:r>
            <a:r>
              <a:rPr dirty="0" err="1"/>
              <a:t>nécrose</a:t>
            </a:r>
            <a:r>
              <a:rPr dirty="0"/>
              <a:t> </a:t>
            </a:r>
            <a:r>
              <a:rPr dirty="0" err="1"/>
              <a:t>caséeuse</a:t>
            </a:r>
            <a:r>
              <a:rPr dirty="0"/>
              <a:t>. Le diagnostic à </a:t>
            </a:r>
            <a:r>
              <a:rPr dirty="0" err="1"/>
              <a:t>retenir</a:t>
            </a:r>
            <a:r>
              <a:rPr dirty="0"/>
              <a:t> </a:t>
            </a:r>
            <a:r>
              <a:rPr dirty="0" err="1"/>
              <a:t>est</a:t>
            </a:r>
            <a:r>
              <a:rPr dirty="0"/>
              <a:t>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</a:t>
            </a:r>
            <a:r>
              <a:rPr dirty="0" err="1"/>
              <a:t>sarcoïdose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Un </a:t>
            </a:r>
            <a:r>
              <a:rPr dirty="0" err="1"/>
              <a:t>lymphome</a:t>
            </a:r>
            <a:r>
              <a:rPr dirty="0"/>
              <a:t> </a:t>
            </a:r>
            <a:r>
              <a:rPr dirty="0" err="1"/>
              <a:t>hodgkinien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tuberculose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pathologie</a:t>
            </a:r>
            <a:r>
              <a:rPr dirty="0"/>
              <a:t> </a:t>
            </a:r>
            <a:r>
              <a:rPr dirty="0" err="1"/>
              <a:t>d'inoculation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 cancer du cavum</a:t>
            </a:r>
          </a:p>
        </p:txBody>
      </p:sp>
    </p:spTree>
    <p:extLst>
      <p:ext uri="{BB962C8B-B14F-4D97-AF65-F5344CB8AC3E}">
        <p14:creationId xmlns:p14="http://schemas.microsoft.com/office/powerpoint/2010/main" val="217945436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CAS CLINIQUE 2 Patient de 42 </a:t>
            </a:r>
            <a:r>
              <a:rPr dirty="0" err="1"/>
              <a:t>ans</a:t>
            </a:r>
            <a:r>
              <a:rPr dirty="0"/>
              <a:t>, </a:t>
            </a:r>
            <a:r>
              <a:rPr dirty="0" err="1"/>
              <a:t>fumeur</a:t>
            </a:r>
            <a:r>
              <a:rPr dirty="0"/>
              <a:t> à raison de 15 </a:t>
            </a:r>
            <a:r>
              <a:rPr dirty="0" err="1"/>
              <a:t>paquet</a:t>
            </a:r>
            <a:r>
              <a:rPr dirty="0"/>
              <a:t>/</a:t>
            </a:r>
            <a:r>
              <a:rPr dirty="0" err="1"/>
              <a:t>année</a:t>
            </a:r>
            <a:r>
              <a:rPr dirty="0"/>
              <a:t>, </a:t>
            </a:r>
            <a:r>
              <a:rPr dirty="0" err="1"/>
              <a:t>consulte</a:t>
            </a:r>
            <a:r>
              <a:rPr dirty="0"/>
              <a:t> pour </a:t>
            </a:r>
            <a:r>
              <a:rPr dirty="0" err="1"/>
              <a:t>une</a:t>
            </a:r>
            <a:r>
              <a:rPr dirty="0"/>
              <a:t> masse cervicale haute droite, </a:t>
            </a:r>
            <a:r>
              <a:rPr dirty="0" err="1"/>
              <a:t>augmentant</a:t>
            </a:r>
            <a:r>
              <a:rPr dirty="0"/>
              <a:t> </a:t>
            </a:r>
            <a:r>
              <a:rPr dirty="0" err="1"/>
              <a:t>progressivement</a:t>
            </a:r>
            <a:r>
              <a:rPr dirty="0"/>
              <a:t> de taille </a:t>
            </a:r>
            <a:r>
              <a:rPr dirty="0" err="1"/>
              <a:t>depuis</a:t>
            </a:r>
            <a:r>
              <a:rPr dirty="0"/>
              <a:t> 2 </a:t>
            </a:r>
            <a:r>
              <a:rPr dirty="0" err="1"/>
              <a:t>mois</a:t>
            </a:r>
            <a:r>
              <a:rPr dirty="0"/>
              <a:t>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54- </a:t>
            </a:r>
            <a:r>
              <a:rPr dirty="0" err="1"/>
              <a:t>Votre</a:t>
            </a:r>
            <a:r>
              <a:rPr dirty="0"/>
              <a:t> démarche </a:t>
            </a:r>
            <a:r>
              <a:rPr dirty="0" err="1"/>
              <a:t>diagnostique</a:t>
            </a:r>
            <a:r>
              <a:rPr dirty="0"/>
              <a:t> doit </a:t>
            </a:r>
            <a:r>
              <a:rPr dirty="0" err="1"/>
              <a:t>comporter</a:t>
            </a:r>
            <a:r>
              <a:rPr dirty="0"/>
              <a:t> 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en-GB" dirty="0"/>
              <a:t>A- </a:t>
            </a:r>
            <a:r>
              <a:rPr dirty="0"/>
              <a:t>Un </a:t>
            </a:r>
            <a:r>
              <a:rPr dirty="0" err="1"/>
              <a:t>interrogatoire</a:t>
            </a:r>
            <a:r>
              <a:rPr dirty="0"/>
              <a:t> </a:t>
            </a:r>
            <a:r>
              <a:rPr dirty="0" err="1"/>
              <a:t>minutieux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B- </a:t>
            </a:r>
            <a:r>
              <a:rPr dirty="0"/>
              <a:t>Une </a:t>
            </a:r>
            <a:r>
              <a:rPr dirty="0" err="1"/>
              <a:t>endoscopie</a:t>
            </a:r>
            <a:r>
              <a:rPr dirty="0"/>
              <a:t> nasale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Une </a:t>
            </a:r>
            <a:r>
              <a:rPr dirty="0" err="1"/>
              <a:t>fibroscopie</a:t>
            </a:r>
            <a:r>
              <a:rPr dirty="0"/>
              <a:t> </a:t>
            </a:r>
            <a:r>
              <a:rPr dirty="0" err="1"/>
              <a:t>bronchique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Une IRM cervicale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laryngoscopie</a:t>
            </a:r>
            <a:r>
              <a:rPr dirty="0"/>
              <a:t> </a:t>
            </a:r>
            <a:r>
              <a:rPr dirty="0" err="1"/>
              <a:t>indirecte</a:t>
            </a:r>
            <a:endParaRPr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D70AA-EB60-826C-16C8-8D0A07182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CB851-D195-321A-9AD1-53F3481A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4CDE77-C366-D172-06A5-6980063948A7}"/>
              </a:ext>
            </a:extLst>
          </p:cNvPr>
          <p:cNvSpPr txBox="1"/>
          <p:nvPr/>
        </p:nvSpPr>
        <p:spPr>
          <a:xfrm>
            <a:off x="914400" y="1371600"/>
            <a:ext cx="73152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CAS CLINIQUE 2 Patient de 42 </a:t>
            </a:r>
            <a:r>
              <a:rPr dirty="0" err="1"/>
              <a:t>ans</a:t>
            </a:r>
            <a:r>
              <a:rPr dirty="0"/>
              <a:t>, </a:t>
            </a:r>
            <a:r>
              <a:rPr dirty="0" err="1"/>
              <a:t>fumeur</a:t>
            </a:r>
            <a:r>
              <a:rPr dirty="0"/>
              <a:t> à raison de 15 </a:t>
            </a:r>
            <a:r>
              <a:rPr dirty="0" err="1"/>
              <a:t>paquet</a:t>
            </a:r>
            <a:r>
              <a:rPr dirty="0"/>
              <a:t>/</a:t>
            </a:r>
            <a:r>
              <a:rPr dirty="0" err="1"/>
              <a:t>année</a:t>
            </a:r>
            <a:r>
              <a:rPr dirty="0"/>
              <a:t>, </a:t>
            </a:r>
            <a:r>
              <a:rPr dirty="0" err="1"/>
              <a:t>consulte</a:t>
            </a:r>
            <a:r>
              <a:rPr dirty="0"/>
              <a:t> pour </a:t>
            </a:r>
            <a:r>
              <a:rPr dirty="0" err="1"/>
              <a:t>une</a:t>
            </a:r>
            <a:r>
              <a:rPr dirty="0"/>
              <a:t> masse cervicale haute droite, </a:t>
            </a:r>
            <a:r>
              <a:rPr dirty="0" err="1"/>
              <a:t>augmentant</a:t>
            </a:r>
            <a:r>
              <a:rPr dirty="0"/>
              <a:t> </a:t>
            </a:r>
            <a:r>
              <a:rPr dirty="0" err="1"/>
              <a:t>progressivement</a:t>
            </a:r>
            <a:r>
              <a:rPr dirty="0"/>
              <a:t> de taille </a:t>
            </a:r>
            <a:r>
              <a:rPr dirty="0" err="1"/>
              <a:t>depuis</a:t>
            </a:r>
            <a:r>
              <a:rPr dirty="0"/>
              <a:t> 2 </a:t>
            </a:r>
            <a:r>
              <a:rPr dirty="0" err="1"/>
              <a:t>mois</a:t>
            </a:r>
            <a:r>
              <a:rPr dirty="0"/>
              <a:t>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54- </a:t>
            </a:r>
            <a:r>
              <a:rPr dirty="0" err="1"/>
              <a:t>Votre</a:t>
            </a:r>
            <a:r>
              <a:rPr dirty="0"/>
              <a:t> démarche </a:t>
            </a:r>
            <a:r>
              <a:rPr dirty="0" err="1"/>
              <a:t>diagnostique</a:t>
            </a:r>
            <a:r>
              <a:rPr dirty="0"/>
              <a:t> doit </a:t>
            </a:r>
            <a:r>
              <a:rPr dirty="0" err="1"/>
              <a:t>comporter</a:t>
            </a:r>
            <a:r>
              <a:rPr dirty="0"/>
              <a:t> :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en-GB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 </a:t>
            </a:r>
            <a:r>
              <a:rPr dirty="0" err="1">
                <a:solidFill>
                  <a:srgbClr val="FF0000"/>
                </a:solidFill>
              </a:rPr>
              <a:t>interrogatoire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minutieux</a:t>
            </a:r>
            <a:br>
              <a:rPr dirty="0">
                <a:solidFill>
                  <a:srgbClr val="FF0000"/>
                </a:solidFill>
              </a:rPr>
            </a:b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endoscopie</a:t>
            </a:r>
            <a:r>
              <a:rPr dirty="0">
                <a:solidFill>
                  <a:srgbClr val="FF0000"/>
                </a:solidFill>
              </a:rPr>
              <a:t> nasale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C- </a:t>
            </a:r>
            <a:r>
              <a:rPr dirty="0"/>
              <a:t>Une </a:t>
            </a:r>
            <a:r>
              <a:rPr dirty="0" err="1"/>
              <a:t>fibroscopie</a:t>
            </a:r>
            <a:r>
              <a:rPr dirty="0"/>
              <a:t> </a:t>
            </a:r>
            <a:r>
              <a:rPr dirty="0" err="1"/>
              <a:t>bronchique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/>
              <a:t>D- </a:t>
            </a:r>
            <a:r>
              <a:rPr dirty="0"/>
              <a:t>Une IRM cervicale</a:t>
            </a:r>
            <a:br>
              <a:rPr dirty="0"/>
            </a:br>
            <a:endParaRPr lang="fr-FR" dirty="0"/>
          </a:p>
          <a:p>
            <a:pPr>
              <a:defRPr sz="1800"/>
            </a:pP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laryngoscopie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indirecte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2910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110" y="1371600"/>
            <a:ext cx="872836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II </a:t>
            </a:r>
            <a:r>
              <a:rPr dirty="0" err="1"/>
              <a:t>n'avait</a:t>
            </a:r>
            <a:r>
              <a:rPr dirty="0"/>
              <a:t> pas de notion de </a:t>
            </a:r>
            <a:r>
              <a:rPr dirty="0" err="1"/>
              <a:t>contage</a:t>
            </a:r>
            <a:r>
              <a:rPr dirty="0"/>
              <a:t> </a:t>
            </a:r>
            <a:r>
              <a:rPr dirty="0" err="1"/>
              <a:t>tuberculeux</a:t>
            </a:r>
            <a:r>
              <a:rPr dirty="0"/>
              <a:t>.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, </a:t>
            </a:r>
            <a:r>
              <a:rPr dirty="0" err="1"/>
              <a:t>retrouve</a:t>
            </a:r>
            <a:r>
              <a:rPr dirty="0"/>
              <a:t> à la palpation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cervicale sous-</a:t>
            </a:r>
            <a:r>
              <a:rPr dirty="0" err="1"/>
              <a:t>angulo</a:t>
            </a:r>
            <a:r>
              <a:rPr dirty="0"/>
              <a:t>-</a:t>
            </a:r>
            <a:r>
              <a:rPr dirty="0" err="1"/>
              <a:t>maxillaire</a:t>
            </a:r>
            <a:r>
              <a:rPr dirty="0"/>
              <a:t> de 6,5 cm de grand axe, dure, </a:t>
            </a:r>
            <a:r>
              <a:rPr dirty="0" err="1"/>
              <a:t>Indolore</a:t>
            </a:r>
            <a:r>
              <a:rPr dirty="0"/>
              <a:t>, </a:t>
            </a:r>
            <a:r>
              <a:rPr dirty="0" err="1"/>
              <a:t>fixée</a:t>
            </a:r>
            <a:r>
              <a:rPr dirty="0"/>
              <a:t> par rapport aux plans </a:t>
            </a:r>
            <a:r>
              <a:rPr dirty="0" err="1"/>
              <a:t>profond</a:t>
            </a:r>
            <a:r>
              <a:rPr dirty="0"/>
              <a:t> et </a:t>
            </a:r>
            <a:r>
              <a:rPr dirty="0" err="1"/>
              <a:t>superficiel</a:t>
            </a:r>
            <a:r>
              <a:rPr dirty="0"/>
              <a:t>. Le </a:t>
            </a:r>
            <a:r>
              <a:rPr dirty="0" err="1"/>
              <a:t>reste</a:t>
            </a:r>
            <a:r>
              <a:rPr dirty="0"/>
              <a:t> de </a:t>
            </a:r>
            <a:r>
              <a:rPr dirty="0" err="1"/>
              <a:t>l'examen</a:t>
            </a:r>
            <a:r>
              <a:rPr dirty="0"/>
              <a:t> physique </a:t>
            </a:r>
            <a:r>
              <a:rPr dirty="0" err="1"/>
              <a:t>étalt</a:t>
            </a:r>
            <a:r>
              <a:rPr dirty="0"/>
              <a:t> sans anomalies.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55- </a:t>
            </a:r>
            <a:r>
              <a:rPr dirty="0"/>
              <a:t>Le(s) </a:t>
            </a:r>
            <a:r>
              <a:rPr dirty="0" err="1"/>
              <a:t>signe</a:t>
            </a:r>
            <a:r>
              <a:rPr dirty="0"/>
              <a:t>(s)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faveur</a:t>
            </a:r>
            <a:r>
              <a:rPr dirty="0"/>
              <a:t> de </a:t>
            </a:r>
            <a:r>
              <a:rPr dirty="0" err="1"/>
              <a:t>l'origine</a:t>
            </a:r>
            <a:r>
              <a:rPr dirty="0"/>
              <a:t> </a:t>
            </a:r>
            <a:r>
              <a:rPr dirty="0" err="1"/>
              <a:t>maligne</a:t>
            </a:r>
            <a:r>
              <a:rPr dirty="0"/>
              <a:t> de </a:t>
            </a:r>
            <a:r>
              <a:rPr dirty="0" err="1"/>
              <a:t>l'adénopathie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</a:t>
            </a:r>
            <a:r>
              <a:rPr dirty="0"/>
              <a:t>Le </a:t>
            </a:r>
            <a:r>
              <a:rPr dirty="0" err="1"/>
              <a:t>caractère</a:t>
            </a:r>
            <a:r>
              <a:rPr dirty="0"/>
              <a:t> </a:t>
            </a:r>
            <a:r>
              <a:rPr dirty="0" err="1"/>
              <a:t>induré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La </a:t>
            </a:r>
            <a:r>
              <a:rPr dirty="0" err="1"/>
              <a:t>fixité</a:t>
            </a:r>
            <a:r>
              <a:rPr dirty="0"/>
              <a:t> aux plans </a:t>
            </a:r>
            <a:r>
              <a:rPr dirty="0" err="1"/>
              <a:t>profond</a:t>
            </a:r>
            <a:r>
              <a:rPr dirty="0"/>
              <a:t> et </a:t>
            </a:r>
            <a:r>
              <a:rPr dirty="0" err="1"/>
              <a:t>superficie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Le </a:t>
            </a:r>
            <a:r>
              <a:rPr dirty="0" err="1"/>
              <a:t>caractère</a:t>
            </a:r>
            <a:r>
              <a:rPr dirty="0"/>
              <a:t> </a:t>
            </a:r>
            <a:r>
              <a:rPr dirty="0" err="1"/>
              <a:t>indolore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 err="1"/>
              <a:t>L'âge</a:t>
            </a:r>
            <a:r>
              <a:rPr dirty="0"/>
              <a:t> du patient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 err="1"/>
              <a:t>L'évolution</a:t>
            </a:r>
            <a:r>
              <a:rPr dirty="0"/>
              <a:t> </a:t>
            </a:r>
            <a:r>
              <a:rPr dirty="0" err="1"/>
              <a:t>rapide</a:t>
            </a:r>
            <a:endParaRPr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A0965-6EA7-320C-72FA-875C312AE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AC4A0-9916-15A9-538C-1B82117EB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512ACD-F21B-1B19-41DD-320518DDC0E9}"/>
              </a:ext>
            </a:extLst>
          </p:cNvPr>
          <p:cNvSpPr txBox="1"/>
          <p:nvPr/>
        </p:nvSpPr>
        <p:spPr>
          <a:xfrm>
            <a:off x="180110" y="1371600"/>
            <a:ext cx="872836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II </a:t>
            </a:r>
            <a:r>
              <a:rPr dirty="0" err="1"/>
              <a:t>n'avait</a:t>
            </a:r>
            <a:r>
              <a:rPr dirty="0"/>
              <a:t> pas de notion de </a:t>
            </a:r>
            <a:r>
              <a:rPr dirty="0" err="1"/>
              <a:t>contage</a:t>
            </a:r>
            <a:r>
              <a:rPr dirty="0"/>
              <a:t> </a:t>
            </a:r>
            <a:r>
              <a:rPr dirty="0" err="1"/>
              <a:t>tuberculeux</a:t>
            </a:r>
            <a:r>
              <a:rPr dirty="0"/>
              <a:t>. </a:t>
            </a:r>
            <a:r>
              <a:rPr dirty="0" err="1"/>
              <a:t>L'examen</a:t>
            </a:r>
            <a:r>
              <a:rPr dirty="0"/>
              <a:t> </a:t>
            </a:r>
            <a:r>
              <a:rPr dirty="0" err="1"/>
              <a:t>clinique</a:t>
            </a:r>
            <a:r>
              <a:rPr dirty="0"/>
              <a:t>, </a:t>
            </a:r>
            <a:r>
              <a:rPr dirty="0" err="1"/>
              <a:t>retrouve</a:t>
            </a:r>
            <a:r>
              <a:rPr dirty="0"/>
              <a:t> à la palpation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cervicale sous-</a:t>
            </a:r>
            <a:r>
              <a:rPr dirty="0" err="1"/>
              <a:t>angulo</a:t>
            </a:r>
            <a:r>
              <a:rPr dirty="0"/>
              <a:t>-</a:t>
            </a:r>
            <a:r>
              <a:rPr dirty="0" err="1"/>
              <a:t>maxillaire</a:t>
            </a:r>
            <a:r>
              <a:rPr dirty="0"/>
              <a:t> de 6,5 cm de grand axe, dure, </a:t>
            </a:r>
            <a:r>
              <a:rPr dirty="0" err="1"/>
              <a:t>Indolore</a:t>
            </a:r>
            <a:r>
              <a:rPr dirty="0"/>
              <a:t>, </a:t>
            </a:r>
            <a:r>
              <a:rPr dirty="0" err="1"/>
              <a:t>fixée</a:t>
            </a:r>
            <a:r>
              <a:rPr dirty="0"/>
              <a:t> par rapport aux plans </a:t>
            </a:r>
            <a:r>
              <a:rPr dirty="0" err="1"/>
              <a:t>profond</a:t>
            </a:r>
            <a:r>
              <a:rPr dirty="0"/>
              <a:t> et </a:t>
            </a:r>
            <a:r>
              <a:rPr dirty="0" err="1"/>
              <a:t>superficiel</a:t>
            </a:r>
            <a:r>
              <a:rPr dirty="0"/>
              <a:t>. Le </a:t>
            </a:r>
            <a:r>
              <a:rPr dirty="0" err="1"/>
              <a:t>reste</a:t>
            </a:r>
            <a:r>
              <a:rPr dirty="0"/>
              <a:t> de </a:t>
            </a:r>
            <a:r>
              <a:rPr dirty="0" err="1"/>
              <a:t>l'examen</a:t>
            </a:r>
            <a:r>
              <a:rPr dirty="0"/>
              <a:t> physique </a:t>
            </a:r>
            <a:r>
              <a:rPr dirty="0" err="1"/>
              <a:t>étalt</a:t>
            </a:r>
            <a:r>
              <a:rPr dirty="0"/>
              <a:t> sans anomalies.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55- </a:t>
            </a:r>
            <a:r>
              <a:rPr dirty="0"/>
              <a:t>Le(s) </a:t>
            </a:r>
            <a:r>
              <a:rPr dirty="0" err="1"/>
              <a:t>signe</a:t>
            </a:r>
            <a:r>
              <a:rPr dirty="0"/>
              <a:t>(s)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faveur</a:t>
            </a:r>
            <a:r>
              <a:rPr dirty="0"/>
              <a:t> de </a:t>
            </a:r>
            <a:r>
              <a:rPr dirty="0" err="1"/>
              <a:t>l'origine</a:t>
            </a:r>
            <a:r>
              <a:rPr dirty="0"/>
              <a:t> </a:t>
            </a:r>
            <a:r>
              <a:rPr dirty="0" err="1"/>
              <a:t>maligne</a:t>
            </a:r>
            <a:r>
              <a:rPr dirty="0"/>
              <a:t> de </a:t>
            </a:r>
            <a:r>
              <a:rPr dirty="0" err="1"/>
              <a:t>l'adénopathie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</a:t>
            </a:r>
            <a:r>
              <a:rPr dirty="0">
                <a:solidFill>
                  <a:srgbClr val="FF0000"/>
                </a:solidFill>
              </a:rPr>
              <a:t>Le </a:t>
            </a:r>
            <a:r>
              <a:rPr dirty="0" err="1">
                <a:solidFill>
                  <a:srgbClr val="FF0000"/>
                </a:solidFill>
              </a:rPr>
              <a:t>caractère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induré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La </a:t>
            </a:r>
            <a:r>
              <a:rPr dirty="0" err="1">
                <a:solidFill>
                  <a:srgbClr val="FF0000"/>
                </a:solidFill>
              </a:rPr>
              <a:t>fixité</a:t>
            </a:r>
            <a:r>
              <a:rPr dirty="0">
                <a:solidFill>
                  <a:srgbClr val="FF0000"/>
                </a:solidFill>
              </a:rPr>
              <a:t> aux plans </a:t>
            </a:r>
            <a:r>
              <a:rPr dirty="0" err="1">
                <a:solidFill>
                  <a:srgbClr val="FF0000"/>
                </a:solidFill>
              </a:rPr>
              <a:t>profond</a:t>
            </a:r>
            <a:r>
              <a:rPr dirty="0">
                <a:solidFill>
                  <a:srgbClr val="FF0000"/>
                </a:solidFill>
              </a:rPr>
              <a:t> et </a:t>
            </a:r>
            <a:r>
              <a:rPr dirty="0" err="1">
                <a:solidFill>
                  <a:srgbClr val="FF0000"/>
                </a:solidFill>
              </a:rPr>
              <a:t>superficie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Le </a:t>
            </a:r>
            <a:r>
              <a:rPr dirty="0" err="1">
                <a:solidFill>
                  <a:srgbClr val="FF0000"/>
                </a:solidFill>
              </a:rPr>
              <a:t>caractère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indolore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/>
              <a:t>D- </a:t>
            </a:r>
            <a:r>
              <a:rPr dirty="0" err="1"/>
              <a:t>L'âge</a:t>
            </a:r>
            <a:r>
              <a:rPr dirty="0"/>
              <a:t> du patient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E- </a:t>
            </a:r>
            <a:r>
              <a:rPr dirty="0" err="1">
                <a:solidFill>
                  <a:srgbClr val="FF0000"/>
                </a:solidFill>
              </a:rPr>
              <a:t>L'évolution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rapide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33324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55- </a:t>
            </a:r>
            <a:r>
              <a:rPr dirty="0"/>
              <a:t>Les examens </a:t>
            </a:r>
            <a:r>
              <a:rPr dirty="0" err="1"/>
              <a:t>complémentaires</a:t>
            </a:r>
            <a:r>
              <a:rPr dirty="0"/>
              <a:t> à demander de 1ère intention </a:t>
            </a:r>
            <a:r>
              <a:rPr dirty="0" err="1"/>
              <a:t>sont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écho-guidée</a:t>
            </a:r>
            <a:r>
              <a:rPr dirty="0"/>
              <a:t> de </a:t>
            </a:r>
            <a:r>
              <a:rPr dirty="0" err="1"/>
              <a:t>l'adénopathie</a:t>
            </a:r>
            <a:r>
              <a:rPr dirty="0"/>
              <a:t> cervicale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Une </a:t>
            </a:r>
            <a:r>
              <a:rPr dirty="0" err="1"/>
              <a:t>échographie</a:t>
            </a:r>
            <a:r>
              <a:rPr dirty="0"/>
              <a:t> cervicale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Une IDR à la </a:t>
            </a:r>
            <a:r>
              <a:rPr dirty="0" err="1"/>
              <a:t>tuberculine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cytoponction</a:t>
            </a:r>
            <a:r>
              <a:rPr dirty="0"/>
              <a:t> </a:t>
            </a:r>
            <a:r>
              <a:rPr dirty="0" err="1"/>
              <a:t>ganglionnaire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sérologie</a:t>
            </a:r>
            <a:r>
              <a:rPr dirty="0"/>
              <a:t> syphilis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4BF8D-F072-E928-C9D4-7DFF24E8E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1D8E1-611A-18AF-31C1-91FAB39F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6AA0DB-F23F-C40C-F077-518F987255CB}"/>
              </a:ext>
            </a:extLst>
          </p:cNvPr>
          <p:cNvSpPr txBox="1"/>
          <p:nvPr/>
        </p:nvSpPr>
        <p:spPr>
          <a:xfrm>
            <a:off x="914400" y="1371600"/>
            <a:ext cx="7315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55- </a:t>
            </a:r>
            <a:r>
              <a:rPr dirty="0"/>
              <a:t>Les examens </a:t>
            </a:r>
            <a:r>
              <a:rPr dirty="0" err="1"/>
              <a:t>complémentaires</a:t>
            </a:r>
            <a:r>
              <a:rPr dirty="0"/>
              <a:t> à demander de 1ère intention </a:t>
            </a:r>
            <a:r>
              <a:rPr dirty="0" err="1"/>
              <a:t>sont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écho-guidée</a:t>
            </a:r>
            <a:r>
              <a:rPr dirty="0"/>
              <a:t> de </a:t>
            </a:r>
            <a:r>
              <a:rPr dirty="0" err="1"/>
              <a:t>l'adénopathie</a:t>
            </a:r>
            <a:r>
              <a:rPr dirty="0"/>
              <a:t> cervicale</a:t>
            </a:r>
            <a:endParaRPr lang="fr-FR" dirty="0"/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échographie</a:t>
            </a:r>
            <a:r>
              <a:rPr dirty="0">
                <a:solidFill>
                  <a:srgbClr val="FF0000"/>
                </a:solidFill>
              </a:rPr>
              <a:t> cervicale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Une IDR à la </a:t>
            </a:r>
            <a:r>
              <a:rPr dirty="0" err="1">
                <a:solidFill>
                  <a:srgbClr val="FF0000"/>
                </a:solidFill>
              </a:rPr>
              <a:t>tuberculine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cytoponction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ganglionnaire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sérologie</a:t>
            </a:r>
            <a:r>
              <a:rPr dirty="0"/>
              <a:t> syphilis</a:t>
            </a:r>
          </a:p>
        </p:txBody>
      </p:sp>
    </p:spTree>
    <p:extLst>
      <p:ext uri="{BB962C8B-B14F-4D97-AF65-F5344CB8AC3E}">
        <p14:creationId xmlns:p14="http://schemas.microsoft.com/office/powerpoint/2010/main" val="224660418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56- </a:t>
            </a:r>
            <a:r>
              <a:rPr dirty="0"/>
              <a:t>Le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réalisé</a:t>
            </a:r>
            <a:r>
              <a:rPr dirty="0"/>
              <a:t> a </a:t>
            </a:r>
            <a:r>
              <a:rPr dirty="0" err="1"/>
              <a:t>conclu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métastatique</a:t>
            </a:r>
            <a:r>
              <a:rPr dirty="0"/>
              <a:t> sans </a:t>
            </a:r>
            <a:r>
              <a:rPr dirty="0" err="1"/>
              <a:t>primitif</a:t>
            </a:r>
            <a:r>
              <a:rPr dirty="0"/>
              <a:t>, </a:t>
            </a:r>
            <a:r>
              <a:rPr dirty="0" err="1"/>
              <a:t>votre</a:t>
            </a:r>
            <a:r>
              <a:rPr dirty="0"/>
              <a:t> </a:t>
            </a:r>
            <a:r>
              <a:rPr dirty="0" err="1"/>
              <a:t>conduite</a:t>
            </a:r>
            <a:r>
              <a:rPr dirty="0"/>
              <a:t> </a:t>
            </a:r>
            <a:r>
              <a:rPr dirty="0" err="1"/>
              <a:t>ultérieure</a:t>
            </a:r>
            <a:r>
              <a:rPr dirty="0"/>
              <a:t> doit </a:t>
            </a:r>
            <a:r>
              <a:rPr dirty="0" err="1"/>
              <a:t>comporter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A- </a:t>
            </a:r>
            <a:r>
              <a:rPr dirty="0"/>
              <a:t>Une TDM </a:t>
            </a:r>
            <a:r>
              <a:rPr dirty="0" err="1"/>
              <a:t>thoraco</a:t>
            </a:r>
            <a:r>
              <a:rPr dirty="0"/>
              <a:t> </a:t>
            </a:r>
            <a:r>
              <a:rPr dirty="0" err="1"/>
              <a:t>abdomino</a:t>
            </a:r>
            <a:r>
              <a:rPr dirty="0"/>
              <a:t> </a:t>
            </a:r>
            <a:r>
              <a:rPr dirty="0" err="1"/>
              <a:t>pelvienne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B- </a:t>
            </a:r>
            <a:r>
              <a:rPr dirty="0"/>
              <a:t>Une pan </a:t>
            </a:r>
            <a:r>
              <a:rPr dirty="0" err="1"/>
              <a:t>endoscopie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C- </a:t>
            </a:r>
            <a:r>
              <a:rPr dirty="0"/>
              <a:t>Une </a:t>
            </a:r>
            <a:r>
              <a:rPr dirty="0" err="1"/>
              <a:t>biopsie</a:t>
            </a:r>
            <a:r>
              <a:rPr dirty="0"/>
              <a:t> </a:t>
            </a:r>
            <a:r>
              <a:rPr dirty="0" err="1"/>
              <a:t>systématique</a:t>
            </a:r>
            <a:r>
              <a:rPr dirty="0"/>
              <a:t> du cavum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D- </a:t>
            </a:r>
            <a:r>
              <a:rPr dirty="0"/>
              <a:t>Une </a:t>
            </a:r>
            <a:r>
              <a:rPr dirty="0" err="1"/>
              <a:t>sérologie</a:t>
            </a:r>
            <a:r>
              <a:rPr dirty="0"/>
              <a:t> EBV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scintigraphie</a:t>
            </a:r>
            <a:r>
              <a:rPr dirty="0"/>
              <a:t> </a:t>
            </a:r>
            <a:r>
              <a:rPr dirty="0" err="1"/>
              <a:t>osseuse</a:t>
            </a:r>
            <a:endParaRPr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33208-C8F1-B5DA-13C5-C74C1A36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94026-C243-66FB-B244-78931FF1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QCM - Adénopathies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B0086-6771-2386-5451-8340A2FC0C99}"/>
              </a:ext>
            </a:extLst>
          </p:cNvPr>
          <p:cNvSpPr txBox="1"/>
          <p:nvPr/>
        </p:nvSpPr>
        <p:spPr>
          <a:xfrm>
            <a:off x="914400" y="1371600"/>
            <a:ext cx="73152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/>
            </a:pPr>
            <a:r>
              <a:rPr lang="fr-FR" dirty="0"/>
              <a:t>56- </a:t>
            </a:r>
            <a:r>
              <a:rPr dirty="0"/>
              <a:t>Le </a:t>
            </a:r>
            <a:r>
              <a:rPr dirty="0" err="1"/>
              <a:t>bilan</a:t>
            </a:r>
            <a:r>
              <a:rPr dirty="0"/>
              <a:t> </a:t>
            </a:r>
            <a:r>
              <a:rPr dirty="0" err="1"/>
              <a:t>réalisé</a:t>
            </a:r>
            <a:r>
              <a:rPr dirty="0"/>
              <a:t> a </a:t>
            </a:r>
            <a:r>
              <a:rPr dirty="0" err="1"/>
              <a:t>conclu</a:t>
            </a:r>
            <a:r>
              <a:rPr dirty="0"/>
              <a:t> à </a:t>
            </a:r>
            <a:r>
              <a:rPr dirty="0" err="1"/>
              <a:t>une</a:t>
            </a:r>
            <a:r>
              <a:rPr dirty="0"/>
              <a:t> </a:t>
            </a:r>
            <a:r>
              <a:rPr dirty="0" err="1"/>
              <a:t>adénopathie</a:t>
            </a:r>
            <a:r>
              <a:rPr dirty="0"/>
              <a:t> </a:t>
            </a:r>
            <a:r>
              <a:rPr dirty="0" err="1"/>
              <a:t>métastatique</a:t>
            </a:r>
            <a:r>
              <a:rPr dirty="0"/>
              <a:t> sans </a:t>
            </a:r>
            <a:r>
              <a:rPr dirty="0" err="1"/>
              <a:t>primitif</a:t>
            </a:r>
            <a:r>
              <a:rPr dirty="0"/>
              <a:t>, </a:t>
            </a:r>
            <a:r>
              <a:rPr dirty="0" err="1"/>
              <a:t>votre</a:t>
            </a:r>
            <a:r>
              <a:rPr dirty="0"/>
              <a:t> </a:t>
            </a:r>
            <a:r>
              <a:rPr dirty="0" err="1"/>
              <a:t>conduite</a:t>
            </a:r>
            <a:r>
              <a:rPr dirty="0"/>
              <a:t> </a:t>
            </a:r>
            <a:r>
              <a:rPr dirty="0" err="1"/>
              <a:t>ultérieure</a:t>
            </a:r>
            <a:r>
              <a:rPr dirty="0"/>
              <a:t> doit </a:t>
            </a:r>
            <a:r>
              <a:rPr dirty="0" err="1"/>
              <a:t>comporter</a:t>
            </a:r>
            <a:r>
              <a:rPr dirty="0"/>
              <a:t> :</a:t>
            </a:r>
            <a:endParaRPr lang="fr-FR" dirty="0"/>
          </a:p>
          <a:p>
            <a:pPr>
              <a:defRPr sz="1800"/>
            </a:pPr>
            <a:br>
              <a:rPr dirty="0"/>
            </a:br>
            <a:r>
              <a:rPr lang="fr-FR" dirty="0">
                <a:solidFill>
                  <a:srgbClr val="FF0000"/>
                </a:solidFill>
              </a:rPr>
              <a:t>A- </a:t>
            </a:r>
            <a:r>
              <a:rPr dirty="0">
                <a:solidFill>
                  <a:srgbClr val="FF0000"/>
                </a:solidFill>
              </a:rPr>
              <a:t>Une TDM </a:t>
            </a:r>
            <a:r>
              <a:rPr dirty="0" err="1">
                <a:solidFill>
                  <a:srgbClr val="FF0000"/>
                </a:solidFill>
              </a:rPr>
              <a:t>thoraco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abdomino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pelvienne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B- </a:t>
            </a:r>
            <a:r>
              <a:rPr dirty="0">
                <a:solidFill>
                  <a:srgbClr val="FF0000"/>
                </a:solidFill>
              </a:rPr>
              <a:t>Une pan </a:t>
            </a:r>
            <a:r>
              <a:rPr dirty="0" err="1">
                <a:solidFill>
                  <a:srgbClr val="FF0000"/>
                </a:solidFill>
              </a:rPr>
              <a:t>endoscopie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C-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biopsie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systématique</a:t>
            </a:r>
            <a:r>
              <a:rPr dirty="0">
                <a:solidFill>
                  <a:srgbClr val="FF0000"/>
                </a:solidFill>
              </a:rPr>
              <a:t> du cavum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>
                <a:solidFill>
                  <a:srgbClr val="FF0000"/>
                </a:solidFill>
              </a:rPr>
              <a:t>D- </a:t>
            </a:r>
            <a:r>
              <a:rPr dirty="0">
                <a:solidFill>
                  <a:srgbClr val="FF0000"/>
                </a:solidFill>
              </a:rPr>
              <a:t>Une </a:t>
            </a:r>
            <a:r>
              <a:rPr dirty="0" err="1">
                <a:solidFill>
                  <a:srgbClr val="FF0000"/>
                </a:solidFill>
              </a:rPr>
              <a:t>sérologie</a:t>
            </a:r>
            <a:r>
              <a:rPr dirty="0">
                <a:solidFill>
                  <a:srgbClr val="FF0000"/>
                </a:solidFill>
              </a:rPr>
              <a:t> EBV</a:t>
            </a:r>
            <a:endParaRPr lang="fr-FR" dirty="0">
              <a:solidFill>
                <a:srgbClr val="FF0000"/>
              </a:solidFill>
            </a:endParaRPr>
          </a:p>
          <a:p>
            <a:pPr>
              <a:defRPr sz="1800"/>
            </a:pPr>
            <a:br>
              <a:rPr dirty="0">
                <a:solidFill>
                  <a:srgbClr val="FF0000"/>
                </a:solidFill>
              </a:rPr>
            </a:br>
            <a:r>
              <a:rPr lang="fr-FR" dirty="0"/>
              <a:t>E- </a:t>
            </a:r>
            <a:r>
              <a:rPr dirty="0"/>
              <a:t>Une </a:t>
            </a:r>
            <a:r>
              <a:rPr dirty="0" err="1"/>
              <a:t>scintigraphie</a:t>
            </a:r>
            <a:r>
              <a:rPr dirty="0"/>
              <a:t> </a:t>
            </a:r>
            <a:r>
              <a:rPr dirty="0" err="1"/>
              <a:t>osseuse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2811145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DB369F-FB29-2895-ED5C-159EC3E24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46" y="2664547"/>
            <a:ext cx="8229600" cy="1143000"/>
          </a:xfrm>
        </p:spPr>
        <p:txBody>
          <a:bodyPr/>
          <a:lstStyle/>
          <a:p>
            <a:r>
              <a:rPr lang="en-US" dirty="0"/>
              <a:t>Merci </a:t>
            </a:r>
          </a:p>
        </p:txBody>
      </p:sp>
    </p:spTree>
    <p:extLst>
      <p:ext uri="{BB962C8B-B14F-4D97-AF65-F5344CB8AC3E}">
        <p14:creationId xmlns:p14="http://schemas.microsoft.com/office/powerpoint/2010/main" val="582794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6048</Words>
  <Application>Microsoft Office PowerPoint</Application>
  <PresentationFormat>Affichage à l'écran (4:3)</PresentationFormat>
  <Paragraphs>940</Paragraphs>
  <Slides>117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117</vt:i4>
      </vt:variant>
    </vt:vector>
  </HeadingPairs>
  <TitlesOfParts>
    <vt:vector size="120" baseType="lpstr">
      <vt:lpstr>Arial</vt:lpstr>
      <vt:lpstr>Calibri</vt:lpstr>
      <vt:lpstr>Office Theme</vt:lpstr>
      <vt:lpstr>QCM - Adénopathies QCM Adénopathies Résidanat 2025</vt:lpstr>
      <vt:lpstr>QCM - Adénopathies QCM Adénopathies Résidanat 2025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QCM - Adénopathies</vt:lpstr>
      <vt:lpstr>Merci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pc</dc:creator>
  <cp:keywords/>
  <dc:description>generated using python-pptx</dc:description>
  <cp:lastModifiedBy>nesrine ben sauyed</cp:lastModifiedBy>
  <cp:revision>2</cp:revision>
  <dcterms:created xsi:type="dcterms:W3CDTF">2013-01-27T09:14:16Z</dcterms:created>
  <dcterms:modified xsi:type="dcterms:W3CDTF">2025-07-22T11:56:13Z</dcterms:modified>
  <cp:category/>
</cp:coreProperties>
</file>
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648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9635" y="-18161"/>
            <a:ext cx="8872728" cy="1642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2558288"/>
            <a:ext cx="10460990" cy="3373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31845" y="1869439"/>
            <a:ext cx="4852670" cy="155257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736600" marR="733425" algn="ctr">
              <a:lnSpc>
                <a:spcPct val="100800"/>
              </a:lnSpc>
              <a:spcBef>
                <a:spcPts val="85"/>
              </a:spcBef>
            </a:pPr>
            <a:r>
              <a:rPr sz="2650" b="1" dirty="0">
                <a:solidFill>
                  <a:srgbClr val="FFFF00"/>
                </a:solidFill>
                <a:latin typeface="Calibri"/>
                <a:cs typeface="Calibri"/>
              </a:rPr>
              <a:t>Cours</a:t>
            </a:r>
            <a:r>
              <a:rPr sz="2650" b="1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650" b="1" dirty="0">
                <a:solidFill>
                  <a:srgbClr val="FFFF00"/>
                </a:solidFill>
                <a:latin typeface="Calibri"/>
                <a:cs typeface="Calibri"/>
              </a:rPr>
              <a:t>de</a:t>
            </a:r>
            <a:r>
              <a:rPr sz="2650" b="1" spc="-4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650" b="1" dirty="0">
                <a:solidFill>
                  <a:srgbClr val="FFFF00"/>
                </a:solidFill>
                <a:latin typeface="Calibri"/>
                <a:cs typeface="Calibri"/>
              </a:rPr>
              <a:t>résidanat</a:t>
            </a:r>
            <a:r>
              <a:rPr sz="2650" b="1" spc="-6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650" b="1" spc="-20" dirty="0">
                <a:solidFill>
                  <a:srgbClr val="FFFF00"/>
                </a:solidFill>
                <a:latin typeface="Calibri"/>
                <a:cs typeface="Calibri"/>
              </a:rPr>
              <a:t>2025 </a:t>
            </a:r>
            <a:r>
              <a:rPr sz="2650" b="1" dirty="0">
                <a:solidFill>
                  <a:srgbClr val="FFFF00"/>
                </a:solidFill>
                <a:latin typeface="Calibri"/>
                <a:cs typeface="Calibri"/>
              </a:rPr>
              <a:t>Objectif</a:t>
            </a:r>
            <a:r>
              <a:rPr sz="2650" b="1" spc="-3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650" b="1" dirty="0">
                <a:solidFill>
                  <a:srgbClr val="FFFF00"/>
                </a:solidFill>
                <a:latin typeface="Calibri"/>
                <a:cs typeface="Calibri"/>
              </a:rPr>
              <a:t>n°</a:t>
            </a:r>
            <a:r>
              <a:rPr sz="2650" b="1" spc="-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650" b="1" spc="-60" dirty="0">
                <a:solidFill>
                  <a:srgbClr val="FFFF00"/>
                </a:solidFill>
                <a:latin typeface="Calibri"/>
                <a:cs typeface="Calibri"/>
              </a:rPr>
              <a:t>6</a:t>
            </a:r>
            <a:endParaRPr sz="2650">
              <a:latin typeface="Calibri"/>
              <a:cs typeface="Calibri"/>
            </a:endParaRPr>
          </a:p>
          <a:p>
            <a:pPr algn="ctr">
              <a:lnSpc>
                <a:spcPts val="5625"/>
              </a:lnSpc>
            </a:pPr>
            <a:r>
              <a:rPr sz="4800" b="1" dirty="0">
                <a:solidFill>
                  <a:srgbClr val="FFFF00"/>
                </a:solidFill>
                <a:latin typeface="Calibri"/>
                <a:cs typeface="Calibri"/>
              </a:rPr>
              <a:t>Arthrites</a:t>
            </a:r>
            <a:r>
              <a:rPr sz="4800" b="1" spc="-204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4800" b="1" spc="-10" dirty="0">
                <a:solidFill>
                  <a:srgbClr val="FFFF00"/>
                </a:solidFill>
                <a:latin typeface="Calibri"/>
                <a:cs typeface="Calibri"/>
              </a:rPr>
              <a:t>septiques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927" y="3670486"/>
            <a:ext cx="4877435" cy="72072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100" b="1" dirty="0">
                <a:solidFill>
                  <a:srgbClr val="FFFFFF"/>
                </a:solidFill>
                <a:latin typeface="Calibri"/>
                <a:cs typeface="Calibri"/>
              </a:rPr>
              <a:t>Youssef</a:t>
            </a:r>
            <a:r>
              <a:rPr sz="2100" b="1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b="1" spc="-10" dirty="0">
                <a:solidFill>
                  <a:srgbClr val="FFFFFF"/>
                </a:solidFill>
                <a:latin typeface="Calibri"/>
                <a:cs typeface="Calibri"/>
              </a:rPr>
              <a:t>Othman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Université</a:t>
            </a:r>
            <a:r>
              <a:rPr sz="16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Monastir-</a:t>
            </a:r>
            <a:r>
              <a:rPr sz="16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Faculté</a:t>
            </a:r>
            <a:r>
              <a:rPr sz="16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Médecine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6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Monastir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66496" y="106743"/>
            <a:ext cx="1588135" cy="2207260"/>
            <a:chOff x="566496" y="106743"/>
            <a:chExt cx="1588135" cy="22072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021" y="116204"/>
              <a:ext cx="1568958" cy="218821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71258" y="111505"/>
              <a:ext cx="1578610" cy="2197735"/>
            </a:xfrm>
            <a:custGeom>
              <a:avLst/>
              <a:gdLst/>
              <a:ahLst/>
              <a:cxnLst/>
              <a:rect l="l" t="t" r="r" b="b"/>
              <a:pathLst>
                <a:path w="1578610" h="2197735">
                  <a:moveTo>
                    <a:pt x="0" y="2197735"/>
                  </a:moveTo>
                  <a:lnTo>
                    <a:pt x="1578483" y="2197735"/>
                  </a:lnTo>
                  <a:lnTo>
                    <a:pt x="1578483" y="0"/>
                  </a:lnTo>
                  <a:lnTo>
                    <a:pt x="0" y="0"/>
                  </a:lnTo>
                  <a:lnTo>
                    <a:pt x="0" y="219773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070286" y="138747"/>
            <a:ext cx="3571875" cy="1318260"/>
            <a:chOff x="4070286" y="138747"/>
            <a:chExt cx="3571875" cy="131826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79747" y="148209"/>
              <a:ext cx="3552444" cy="129870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075048" y="143510"/>
              <a:ext cx="3562350" cy="1308735"/>
            </a:xfrm>
            <a:custGeom>
              <a:avLst/>
              <a:gdLst/>
              <a:ahLst/>
              <a:cxnLst/>
              <a:rect l="l" t="t" r="r" b="b"/>
              <a:pathLst>
                <a:path w="3562350" h="1308735">
                  <a:moveTo>
                    <a:pt x="0" y="1308227"/>
                  </a:moveTo>
                  <a:lnTo>
                    <a:pt x="3561969" y="1308227"/>
                  </a:lnTo>
                  <a:lnTo>
                    <a:pt x="3561969" y="0"/>
                  </a:lnTo>
                  <a:lnTo>
                    <a:pt x="0" y="0"/>
                  </a:lnTo>
                  <a:lnTo>
                    <a:pt x="0" y="130822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9926891" y="164655"/>
            <a:ext cx="1845945" cy="1833880"/>
            <a:chOff x="9926891" y="164655"/>
            <a:chExt cx="1845945" cy="183388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36480" y="174117"/>
              <a:ext cx="1826768" cy="181470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931654" y="169418"/>
              <a:ext cx="1836420" cy="1824355"/>
            </a:xfrm>
            <a:custGeom>
              <a:avLst/>
              <a:gdLst/>
              <a:ahLst/>
              <a:cxnLst/>
              <a:rect l="l" t="t" r="r" b="b"/>
              <a:pathLst>
                <a:path w="1836420" h="1824355">
                  <a:moveTo>
                    <a:pt x="0" y="1824227"/>
                  </a:moveTo>
                  <a:lnTo>
                    <a:pt x="1836293" y="1824227"/>
                  </a:lnTo>
                  <a:lnTo>
                    <a:pt x="1836293" y="0"/>
                  </a:lnTo>
                  <a:lnTo>
                    <a:pt x="0" y="0"/>
                  </a:lnTo>
                  <a:lnTo>
                    <a:pt x="0" y="182422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4710810"/>
            <a:ext cx="12191999" cy="21471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568197"/>
            <a:ext cx="10800715" cy="4405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Madame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M,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âgée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56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ans,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hypertendue,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suivie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depuis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mois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pour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impotence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fonctionnelle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douloureuse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partielle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endParaRPr sz="3200">
              <a:latin typeface="Times New Roman"/>
              <a:cs typeface="Times New Roman"/>
            </a:endParaRPr>
          </a:p>
          <a:p>
            <a:pPr marL="12700" marR="273685">
              <a:lnSpc>
                <a:spcPct val="99700"/>
              </a:lnSpc>
              <a:spcBef>
                <a:spcPts val="1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l’épaule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gauche.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exploration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par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arthroscanner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l’épaule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montré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tendinopathie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coiffe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des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rotateurs.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Des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séances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rééducation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lui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ont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été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prescrits.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Deux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semaines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après,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elle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consulte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pour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exacerbation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aigue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des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douleurs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qui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sont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devenues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insomniantes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rebelles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au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paracétamol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et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aux</a:t>
            </a:r>
            <a:r>
              <a:rPr sz="3200" spc="-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AINS.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À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l’examen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 patiente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est apyrétique,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moindre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mobilisation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de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l’épaule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extrêmement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douloureuse.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597278"/>
            <a:ext cx="10344150" cy="413829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ct val="94200"/>
              </a:lnSpc>
              <a:spcBef>
                <a:spcPts val="305"/>
              </a:spcBef>
            </a:pPr>
            <a:r>
              <a:rPr sz="3000" spc="-80" dirty="0">
                <a:solidFill>
                  <a:srgbClr val="FFFFFF"/>
                </a:solidFill>
                <a:latin typeface="Times New Roman"/>
                <a:cs typeface="Times New Roman"/>
              </a:rPr>
              <a:t>Vous</a:t>
            </a:r>
            <a:r>
              <a:rPr sz="30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suspectez</a:t>
            </a:r>
            <a:r>
              <a:rPr sz="3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0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arthrite</a:t>
            </a:r>
            <a:r>
              <a:rPr sz="3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septique</a:t>
            </a:r>
            <a:r>
              <a:rPr sz="3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0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l’épaule.</a:t>
            </a:r>
            <a:r>
              <a:rPr sz="3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Quel(s)</a:t>
            </a:r>
            <a:r>
              <a:rPr sz="30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examen(s) complémentaire(s)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Times New Roman"/>
                <a:cs typeface="Times New Roman"/>
              </a:rPr>
              <a:t>demandiez-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vous</a:t>
            </a:r>
            <a:r>
              <a:rPr sz="3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3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urgence</a:t>
            </a:r>
            <a:r>
              <a:rPr sz="3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pour</a:t>
            </a:r>
            <a:r>
              <a:rPr sz="3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mettre</a:t>
            </a:r>
            <a:r>
              <a:rPr sz="3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Times New Roman"/>
                <a:cs typeface="Times New Roman"/>
              </a:rPr>
              <a:t>en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évidence</a:t>
            </a:r>
            <a:r>
              <a:rPr sz="3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un</a:t>
            </a:r>
            <a:r>
              <a:rPr sz="30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épanchement</a:t>
            </a:r>
            <a:r>
              <a:rPr sz="3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articulaire:</a:t>
            </a:r>
            <a:endParaRPr sz="3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839"/>
              </a:spcBef>
              <a:buAutoNum type="alphaUcPeriod"/>
              <a:tabLst>
                <a:tab pos="469265" algn="l"/>
              </a:tabLst>
            </a:pP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Un</a:t>
            </a:r>
            <a:r>
              <a:rPr sz="3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dosage</a:t>
            </a:r>
            <a:r>
              <a:rPr sz="3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Times New Roman"/>
                <a:cs typeface="Times New Roman"/>
              </a:rPr>
              <a:t>C-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reactive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 proteine</a:t>
            </a:r>
            <a:endParaRPr sz="3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40"/>
              </a:spcBef>
              <a:buAutoNum type="alphaUcPeriod"/>
              <a:tabLst>
                <a:tab pos="469265" algn="l"/>
              </a:tabLst>
            </a:pP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Un</a:t>
            </a:r>
            <a:r>
              <a:rPr sz="3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arthroscanner</a:t>
            </a:r>
            <a:r>
              <a:rPr sz="3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l’épaule</a:t>
            </a:r>
            <a:endParaRPr sz="3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40"/>
              </a:spcBef>
              <a:buAutoNum type="alphaUcPeriod"/>
              <a:tabLst>
                <a:tab pos="469265" algn="l"/>
              </a:tabLst>
            </a:pP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arthrographie</a:t>
            </a:r>
            <a:r>
              <a:rPr sz="3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l’épaule</a:t>
            </a:r>
            <a:endParaRPr sz="3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45"/>
              </a:spcBef>
              <a:buAutoNum type="alphaUcPeriod"/>
              <a:tabLst>
                <a:tab pos="469265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Une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échographie</a:t>
            </a:r>
            <a:r>
              <a:rPr sz="30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sz="3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l’épaule</a:t>
            </a:r>
            <a:endParaRPr sz="30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540"/>
              </a:spcBef>
              <a:buAutoNum type="alphaUcPeriod"/>
              <a:tabLst>
                <a:tab pos="468630" algn="l"/>
              </a:tabLst>
            </a:pP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IRM</a:t>
            </a:r>
            <a:r>
              <a:rPr sz="3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de 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l’épaule</a:t>
            </a:r>
            <a:endParaRPr sz="3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615566"/>
            <a:ext cx="10807065" cy="403732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ts val="3400"/>
              </a:lnSpc>
              <a:spcBef>
                <a:spcPts val="80"/>
              </a:spcBef>
            </a:pP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Un</a:t>
            </a:r>
            <a:r>
              <a:rPr sz="27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épanchement</a:t>
            </a:r>
            <a:r>
              <a:rPr sz="27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l’articulation</a:t>
            </a:r>
            <a:r>
              <a:rPr sz="27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Times New Roman"/>
                <a:cs typeface="Times New Roman"/>
              </a:rPr>
              <a:t>gléno-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humérale</a:t>
            </a:r>
            <a:r>
              <a:rPr sz="27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27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mis</a:t>
            </a:r>
            <a:r>
              <a:rPr sz="27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évidence.</a:t>
            </a:r>
            <a:r>
              <a:rPr sz="27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Times New Roman"/>
                <a:cs typeface="Times New Roman"/>
              </a:rPr>
              <a:t>Quel(s)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examen(s)</a:t>
            </a:r>
            <a:r>
              <a:rPr sz="27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complémentaire(s)</a:t>
            </a:r>
            <a:r>
              <a:rPr sz="27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vous</a:t>
            </a:r>
            <a:r>
              <a:rPr sz="27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permettra</a:t>
            </a:r>
            <a:r>
              <a:rPr sz="27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7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confirmer</a:t>
            </a:r>
            <a:r>
              <a:rPr sz="27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27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Times New Roman"/>
                <a:cs typeface="Times New Roman"/>
              </a:rPr>
              <a:t>diagnostic</a:t>
            </a:r>
            <a:endParaRPr sz="27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d’arthrite</a:t>
            </a:r>
            <a:r>
              <a:rPr sz="2700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Times New Roman"/>
                <a:cs typeface="Times New Roman"/>
              </a:rPr>
              <a:t>septique?</a:t>
            </a:r>
            <a:endParaRPr sz="27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100"/>
              </a:spcBef>
              <a:buAutoNum type="alphaUcPeriod"/>
              <a:tabLst>
                <a:tab pos="468630" algn="l"/>
              </a:tabLst>
            </a:pP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27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vitesse</a:t>
            </a:r>
            <a:r>
              <a:rPr sz="27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7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Times New Roman"/>
                <a:cs typeface="Times New Roman"/>
              </a:rPr>
              <a:t>sédimentation</a:t>
            </a:r>
            <a:endParaRPr sz="27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815"/>
              </a:spcBef>
              <a:buAutoNum type="alphaUcPeriod"/>
              <a:tabLst>
                <a:tab pos="469265" algn="l"/>
              </a:tabLst>
            </a:pP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27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25" dirty="0">
                <a:solidFill>
                  <a:srgbClr val="FFFFFF"/>
                </a:solidFill>
                <a:latin typeface="Times New Roman"/>
                <a:cs typeface="Times New Roman"/>
              </a:rPr>
              <a:t>CRP</a:t>
            </a:r>
            <a:endParaRPr sz="27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805"/>
              </a:spcBef>
              <a:buAutoNum type="alphaUcPeriod"/>
              <a:tabLst>
                <a:tab pos="469265" algn="l"/>
              </a:tabLst>
            </a:pP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Une</a:t>
            </a:r>
            <a:r>
              <a:rPr sz="27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ponction</a:t>
            </a:r>
            <a:r>
              <a:rPr sz="27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du liquide</a:t>
            </a:r>
            <a:r>
              <a:rPr sz="27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articulaire</a:t>
            </a:r>
            <a:r>
              <a:rPr sz="27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avec</a:t>
            </a:r>
            <a:r>
              <a:rPr sz="27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analyse</a:t>
            </a:r>
            <a:r>
              <a:rPr sz="27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FF0000"/>
                </a:solidFill>
                <a:latin typeface="Times New Roman"/>
                <a:cs typeface="Times New Roman"/>
              </a:rPr>
              <a:t>cytobactériologique</a:t>
            </a:r>
            <a:endParaRPr sz="27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819"/>
              </a:spcBef>
              <a:buAutoNum type="alphaUcPeriod"/>
              <a:tabLst>
                <a:tab pos="468630" algn="l"/>
              </a:tabLst>
            </a:pP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27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IRM</a:t>
            </a:r>
            <a:r>
              <a:rPr sz="27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7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Times New Roman"/>
                <a:cs typeface="Times New Roman"/>
              </a:rPr>
              <a:t>l’épaule</a:t>
            </a:r>
            <a:endParaRPr sz="27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805"/>
              </a:spcBef>
              <a:buAutoNum type="alphaUcPeriod"/>
              <a:tabLst>
                <a:tab pos="469265" algn="l"/>
              </a:tabLst>
            </a:pP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Un PET</a:t>
            </a:r>
            <a:r>
              <a:rPr sz="27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20" dirty="0">
                <a:solidFill>
                  <a:srgbClr val="FFFFFF"/>
                </a:solidFill>
                <a:latin typeface="Times New Roman"/>
                <a:cs typeface="Times New Roman"/>
              </a:rPr>
              <a:t>scan</a:t>
            </a:r>
            <a:endParaRPr sz="27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2440" rIns="0" bIns="0" rtlCol="0">
            <a:spAutoFit/>
          </a:bodyPr>
          <a:lstStyle/>
          <a:p>
            <a:pPr marL="5080">
              <a:lnSpc>
                <a:spcPct val="100000"/>
              </a:lnSpc>
              <a:spcBef>
                <a:spcPts val="120"/>
              </a:spcBef>
            </a:pPr>
            <a:r>
              <a:rPr sz="5850" dirty="0"/>
              <a:t>Aspect</a:t>
            </a:r>
            <a:r>
              <a:rPr sz="5850" spc="-5" dirty="0"/>
              <a:t> </a:t>
            </a:r>
            <a:r>
              <a:rPr sz="5850" dirty="0"/>
              <a:t>du</a:t>
            </a:r>
            <a:r>
              <a:rPr sz="5850" spc="10" dirty="0"/>
              <a:t> </a:t>
            </a:r>
            <a:r>
              <a:rPr sz="5850" dirty="0"/>
              <a:t>liquide</a:t>
            </a:r>
            <a:r>
              <a:rPr sz="5850" spc="15" dirty="0"/>
              <a:t> </a:t>
            </a:r>
            <a:r>
              <a:rPr sz="5850" spc="-10" dirty="0"/>
              <a:t>ponctionné</a:t>
            </a:r>
            <a:endParaRPr sz="58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7273" y="1508544"/>
            <a:ext cx="6537452" cy="47092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604213"/>
            <a:ext cx="10153015" cy="4256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895"/>
              </a:lnSpc>
              <a:spcBef>
                <a:spcPts val="95"/>
              </a:spcBef>
            </a:pP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Concernant</a:t>
            </a:r>
            <a:r>
              <a:rPr sz="25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25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modalité</a:t>
            </a:r>
            <a:r>
              <a:rPr sz="2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d’acheminement</a:t>
            </a:r>
            <a:r>
              <a:rPr sz="2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et</a:t>
            </a:r>
            <a:r>
              <a:rPr sz="25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d’analyse</a:t>
            </a:r>
            <a:r>
              <a:rPr sz="25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5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ce</a:t>
            </a:r>
            <a:r>
              <a:rPr sz="25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liquide</a:t>
            </a:r>
            <a:r>
              <a:rPr sz="2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5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imes New Roman"/>
                <a:cs typeface="Times New Roman"/>
              </a:rPr>
              <a:t>ponction,</a:t>
            </a:r>
            <a:endParaRPr sz="2500" dirty="0">
              <a:latin typeface="Times New Roman"/>
              <a:cs typeface="Times New Roman"/>
            </a:endParaRPr>
          </a:p>
          <a:p>
            <a:pPr marL="12700">
              <a:lnSpc>
                <a:spcPts val="2895"/>
              </a:lnSpc>
            </a:pP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quelle(s)</a:t>
            </a:r>
            <a:r>
              <a:rPr sz="25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25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(sont)</a:t>
            </a:r>
            <a:r>
              <a:rPr sz="25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la(les)</a:t>
            </a:r>
            <a:r>
              <a:rPr sz="2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proposition(s)</a:t>
            </a:r>
            <a:r>
              <a:rPr sz="2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imes New Roman"/>
                <a:cs typeface="Times New Roman"/>
              </a:rPr>
              <a:t>exacte(s)?</a:t>
            </a:r>
            <a:endParaRPr sz="2500" dirty="0">
              <a:latin typeface="Times New Roman"/>
              <a:cs typeface="Times New Roman"/>
            </a:endParaRPr>
          </a:p>
          <a:p>
            <a:pPr marL="469900" marR="831215" indent="-457200">
              <a:lnSpc>
                <a:spcPts val="2860"/>
              </a:lnSpc>
              <a:spcBef>
                <a:spcPts val="1964"/>
              </a:spcBef>
              <a:buAutoNum type="alphaUcPeriod"/>
              <a:tabLst>
                <a:tab pos="469900" algn="l"/>
              </a:tabLst>
            </a:pPr>
            <a:r>
              <a:rPr sz="2500" spc="-20" dirty="0">
                <a:solidFill>
                  <a:srgbClr val="FFFFFF"/>
                </a:solidFill>
                <a:latin typeface="Times New Roman"/>
                <a:cs typeface="Times New Roman"/>
              </a:rPr>
              <a:t>L’échantillon</a:t>
            </a:r>
            <a:r>
              <a:rPr sz="25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doit</a:t>
            </a:r>
            <a:r>
              <a:rPr sz="25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être</a:t>
            </a:r>
            <a:r>
              <a:rPr sz="25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gardé</a:t>
            </a:r>
            <a:r>
              <a:rPr sz="2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à</a:t>
            </a:r>
            <a:r>
              <a:rPr sz="25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25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température</a:t>
            </a:r>
            <a:r>
              <a:rPr sz="2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&lt;4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°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25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attendant</a:t>
            </a:r>
            <a:r>
              <a:rPr sz="25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Times New Roman"/>
                <a:cs typeface="Times New Roman"/>
              </a:rPr>
              <a:t>son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acheminement</a:t>
            </a:r>
            <a:r>
              <a:rPr sz="25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au</a:t>
            </a:r>
            <a:r>
              <a:rPr sz="25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imes New Roman"/>
                <a:cs typeface="Times New Roman"/>
              </a:rPr>
              <a:t>laboratoire</a:t>
            </a:r>
            <a:endParaRPr sz="2500" dirty="0">
              <a:latin typeface="Times New Roman"/>
              <a:cs typeface="Times New Roman"/>
            </a:endParaRPr>
          </a:p>
          <a:p>
            <a:pPr marL="469900" marR="628015" indent="-457200">
              <a:lnSpc>
                <a:spcPts val="2800"/>
              </a:lnSpc>
              <a:spcBef>
                <a:spcPts val="690"/>
              </a:spcBef>
              <a:buAutoNum type="alphaUcPeriod"/>
              <a:tabLst>
                <a:tab pos="469900" algn="l"/>
              </a:tabLst>
            </a:pP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Le</a:t>
            </a:r>
            <a:r>
              <a:rPr sz="25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liquide</a:t>
            </a:r>
            <a:r>
              <a:rPr sz="25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est</a:t>
            </a:r>
            <a:r>
              <a:rPr sz="25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envoyé</a:t>
            </a:r>
            <a:r>
              <a:rPr sz="25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pour</a:t>
            </a:r>
            <a:r>
              <a:rPr sz="25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analyse</a:t>
            </a:r>
            <a:r>
              <a:rPr sz="25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cytobactériologique</a:t>
            </a:r>
            <a:r>
              <a:rPr sz="25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et</a:t>
            </a:r>
            <a:r>
              <a:rPr sz="25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pour</a:t>
            </a:r>
            <a:r>
              <a:rPr sz="25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0000"/>
                </a:solidFill>
                <a:latin typeface="Times New Roman"/>
                <a:cs typeface="Times New Roman"/>
              </a:rPr>
              <a:t>analyse biochimique</a:t>
            </a:r>
            <a:endParaRPr sz="25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380"/>
              </a:spcBef>
              <a:buAutoNum type="alphaUcPeriod"/>
              <a:tabLst>
                <a:tab pos="469265" algn="l"/>
              </a:tabLst>
            </a:pP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La</a:t>
            </a:r>
            <a:r>
              <a:rPr sz="25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quantité</a:t>
            </a:r>
            <a:r>
              <a:rPr sz="25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et</a:t>
            </a:r>
            <a:r>
              <a:rPr sz="25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l’aspect</a:t>
            </a:r>
            <a:r>
              <a:rPr sz="25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du</a:t>
            </a:r>
            <a:r>
              <a:rPr sz="25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liquide</a:t>
            </a:r>
            <a:r>
              <a:rPr sz="25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doivent</a:t>
            </a:r>
            <a:r>
              <a:rPr sz="25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être</a:t>
            </a:r>
            <a:r>
              <a:rPr sz="25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notés</a:t>
            </a:r>
            <a:r>
              <a:rPr sz="25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sur</a:t>
            </a:r>
            <a:r>
              <a:rPr sz="25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le</a:t>
            </a:r>
            <a:r>
              <a:rPr sz="25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dossier</a:t>
            </a:r>
            <a:r>
              <a:rPr sz="25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0000"/>
                </a:solidFill>
                <a:latin typeface="Times New Roman"/>
                <a:cs typeface="Times New Roman"/>
              </a:rPr>
              <a:t>médical</a:t>
            </a:r>
            <a:endParaRPr sz="25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9265" indent="-456565">
              <a:lnSpc>
                <a:spcPts val="2890"/>
              </a:lnSpc>
              <a:spcBef>
                <a:spcPts val="520"/>
              </a:spcBef>
              <a:buAutoNum type="alphaUcPeriod"/>
              <a:tabLst>
                <a:tab pos="469265" algn="l"/>
              </a:tabLst>
            </a:pP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Un</a:t>
            </a:r>
            <a:r>
              <a:rPr sz="25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examen</a:t>
            </a:r>
            <a:r>
              <a:rPr sz="25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direct</a:t>
            </a:r>
            <a:r>
              <a:rPr sz="25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positif</a:t>
            </a:r>
            <a:r>
              <a:rPr sz="2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25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nécessaire</a:t>
            </a:r>
            <a:r>
              <a:rPr sz="25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pour</a:t>
            </a:r>
            <a:r>
              <a:rPr sz="25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retenir</a:t>
            </a:r>
            <a:r>
              <a:rPr sz="25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2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diagnostic</a:t>
            </a:r>
            <a:r>
              <a:rPr sz="2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imes New Roman"/>
                <a:cs typeface="Times New Roman"/>
              </a:rPr>
              <a:t>d’arthrite</a:t>
            </a:r>
            <a:endParaRPr sz="2500" dirty="0">
              <a:latin typeface="Times New Roman"/>
              <a:cs typeface="Times New Roman"/>
            </a:endParaRPr>
          </a:p>
          <a:p>
            <a:pPr marL="469900">
              <a:lnSpc>
                <a:spcPts val="2890"/>
              </a:lnSpc>
            </a:pPr>
            <a:r>
              <a:rPr sz="2500" spc="-10" dirty="0">
                <a:solidFill>
                  <a:srgbClr val="FFFFFF"/>
                </a:solidFill>
                <a:latin typeface="Times New Roman"/>
                <a:cs typeface="Times New Roman"/>
              </a:rPr>
              <a:t>septique</a:t>
            </a:r>
            <a:endParaRPr sz="25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455"/>
              </a:spcBef>
              <a:buAutoNum type="alphaUcPeriod" startAt="5"/>
              <a:tabLst>
                <a:tab pos="469265" algn="l"/>
              </a:tabLst>
            </a:pPr>
            <a:r>
              <a:rPr sz="2500" spc="-20" dirty="0">
                <a:solidFill>
                  <a:srgbClr val="FFFFFF"/>
                </a:solidFill>
                <a:latin typeface="Times New Roman"/>
                <a:cs typeface="Times New Roman"/>
              </a:rPr>
              <a:t>L’échantillon</a:t>
            </a:r>
            <a:r>
              <a:rPr sz="2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25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mis en</a:t>
            </a:r>
            <a:r>
              <a:rPr sz="25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culture</a:t>
            </a:r>
            <a:r>
              <a:rPr sz="25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pendant</a:t>
            </a:r>
            <a:r>
              <a:rPr sz="2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sz="25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jours</a:t>
            </a:r>
            <a:r>
              <a:rPr sz="25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au</a:t>
            </a:r>
            <a:r>
              <a:rPr sz="2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imes New Roman"/>
                <a:cs typeface="Times New Roman"/>
              </a:rPr>
              <a:t>maximum</a:t>
            </a:r>
            <a:endParaRPr sz="25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Résultat</a:t>
            </a:r>
            <a:r>
              <a:rPr spc="-130" dirty="0"/>
              <a:t> </a:t>
            </a:r>
            <a:r>
              <a:rPr dirty="0"/>
              <a:t>de</a:t>
            </a:r>
            <a:r>
              <a:rPr spc="-110" dirty="0"/>
              <a:t> </a:t>
            </a:r>
            <a:r>
              <a:rPr spc="-10" dirty="0"/>
              <a:t>l’analyse</a:t>
            </a:r>
          </a:p>
          <a:p>
            <a:pPr marL="4445" algn="ctr">
              <a:lnSpc>
                <a:spcPct val="100000"/>
              </a:lnSpc>
              <a:spcBef>
                <a:spcPts val="5"/>
              </a:spcBef>
            </a:pPr>
            <a:r>
              <a:rPr dirty="0"/>
              <a:t>cytobactériologique</a:t>
            </a:r>
            <a:r>
              <a:rPr spc="-90" dirty="0"/>
              <a:t> </a:t>
            </a:r>
            <a:r>
              <a:rPr dirty="0"/>
              <a:t>et</a:t>
            </a:r>
            <a:r>
              <a:rPr spc="-90" dirty="0"/>
              <a:t> </a:t>
            </a:r>
            <a:r>
              <a:rPr spc="-10" dirty="0"/>
              <a:t>chimique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2249284"/>
            <a:ext cx="10489565" cy="314833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145"/>
              </a:spcBef>
              <a:buFont typeface="Arial"/>
              <a:buChar char="•"/>
              <a:tabLst>
                <a:tab pos="469265" algn="l"/>
              </a:tabLst>
            </a:pPr>
            <a:r>
              <a:rPr sz="4250" dirty="0">
                <a:solidFill>
                  <a:srgbClr val="FFFFFF"/>
                </a:solidFill>
                <a:latin typeface="Calibri"/>
                <a:cs typeface="Calibri"/>
              </a:rPr>
              <a:t>Examen</a:t>
            </a:r>
            <a:r>
              <a:rPr sz="425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250" dirty="0">
                <a:solidFill>
                  <a:srgbClr val="FFFFFF"/>
                </a:solidFill>
                <a:latin typeface="Calibri"/>
                <a:cs typeface="Calibri"/>
              </a:rPr>
              <a:t>direct:</a:t>
            </a:r>
            <a:r>
              <a:rPr sz="4250" spc="-1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250" spc="-10" dirty="0">
                <a:solidFill>
                  <a:srgbClr val="FFFFFF"/>
                </a:solidFill>
                <a:latin typeface="Calibri"/>
                <a:cs typeface="Calibri"/>
              </a:rPr>
              <a:t>négatif</a:t>
            </a:r>
            <a:endParaRPr sz="425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045"/>
              </a:spcBef>
              <a:buFont typeface="Arial"/>
              <a:buChar char="•"/>
              <a:tabLst>
                <a:tab pos="469265" algn="l"/>
              </a:tabLst>
            </a:pPr>
            <a:r>
              <a:rPr sz="4250" dirty="0">
                <a:solidFill>
                  <a:srgbClr val="FFFFFF"/>
                </a:solidFill>
                <a:latin typeface="Calibri"/>
                <a:cs typeface="Calibri"/>
              </a:rPr>
              <a:t>Leucocytes:</a:t>
            </a:r>
            <a:r>
              <a:rPr sz="42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250" dirty="0">
                <a:solidFill>
                  <a:srgbClr val="FFFFFF"/>
                </a:solidFill>
                <a:latin typeface="Calibri"/>
                <a:cs typeface="Calibri"/>
              </a:rPr>
              <a:t>70</a:t>
            </a:r>
            <a:r>
              <a:rPr sz="42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250" dirty="0">
                <a:solidFill>
                  <a:srgbClr val="FFFFFF"/>
                </a:solidFill>
                <a:latin typeface="Calibri"/>
                <a:cs typeface="Calibri"/>
              </a:rPr>
              <a:t>000</a:t>
            </a:r>
            <a:r>
              <a:rPr sz="425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250" dirty="0">
                <a:solidFill>
                  <a:srgbClr val="FFFFFF"/>
                </a:solidFill>
                <a:latin typeface="Calibri"/>
                <a:cs typeface="Calibri"/>
              </a:rPr>
              <a:t>dont</a:t>
            </a:r>
            <a:r>
              <a:rPr sz="42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250" dirty="0">
                <a:solidFill>
                  <a:srgbClr val="FFFFFF"/>
                </a:solidFill>
                <a:latin typeface="Calibri"/>
                <a:cs typeface="Calibri"/>
              </a:rPr>
              <a:t>95%</a:t>
            </a:r>
            <a:r>
              <a:rPr sz="42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250" dirty="0">
                <a:solidFill>
                  <a:srgbClr val="FFFFFF"/>
                </a:solidFill>
                <a:latin typeface="Calibri"/>
                <a:cs typeface="Calibri"/>
              </a:rPr>
              <a:t>des</a:t>
            </a:r>
            <a:r>
              <a:rPr sz="42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250" dirty="0">
                <a:solidFill>
                  <a:srgbClr val="FFFFFF"/>
                </a:solidFill>
                <a:latin typeface="Calibri"/>
                <a:cs typeface="Calibri"/>
              </a:rPr>
              <a:t>PNN</a:t>
            </a:r>
            <a:r>
              <a:rPr sz="42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250" spc="-10" dirty="0">
                <a:solidFill>
                  <a:srgbClr val="FFFFFF"/>
                </a:solidFill>
                <a:latin typeface="Calibri"/>
                <a:cs typeface="Calibri"/>
              </a:rPr>
              <a:t>altérés</a:t>
            </a:r>
            <a:endParaRPr sz="425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045"/>
              </a:spcBef>
              <a:buFont typeface="Arial"/>
              <a:buChar char="•"/>
              <a:tabLst>
                <a:tab pos="469265" algn="l"/>
              </a:tabLst>
            </a:pPr>
            <a:r>
              <a:rPr sz="4250" dirty="0">
                <a:solidFill>
                  <a:srgbClr val="FFFFFF"/>
                </a:solidFill>
                <a:latin typeface="Calibri"/>
                <a:cs typeface="Calibri"/>
              </a:rPr>
              <a:t>Protides:</a:t>
            </a:r>
            <a:r>
              <a:rPr sz="4250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250" spc="-20" dirty="0">
                <a:solidFill>
                  <a:srgbClr val="FFFFFF"/>
                </a:solidFill>
                <a:latin typeface="Calibri"/>
                <a:cs typeface="Calibri"/>
              </a:rPr>
              <a:t>43g/L</a:t>
            </a:r>
            <a:endParaRPr sz="425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045"/>
              </a:spcBef>
              <a:buFont typeface="Arial"/>
              <a:buChar char="•"/>
              <a:tabLst>
                <a:tab pos="469265" algn="l"/>
              </a:tabLst>
            </a:pPr>
            <a:r>
              <a:rPr sz="4250" dirty="0">
                <a:solidFill>
                  <a:srgbClr val="FFFFFF"/>
                </a:solidFill>
                <a:latin typeface="Calibri"/>
                <a:cs typeface="Calibri"/>
              </a:rPr>
              <a:t>Glucose:</a:t>
            </a:r>
            <a:r>
              <a:rPr sz="425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250" spc="-10" dirty="0">
                <a:solidFill>
                  <a:srgbClr val="FFFFFF"/>
                </a:solidFill>
                <a:latin typeface="Calibri"/>
                <a:cs typeface="Calibri"/>
              </a:rPr>
              <a:t>0.6g/L</a:t>
            </a:r>
            <a:endParaRPr sz="4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596593"/>
            <a:ext cx="9947910" cy="4218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Quel(s)</a:t>
            </a:r>
            <a:r>
              <a:rPr sz="25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est(sont)</a:t>
            </a:r>
            <a:r>
              <a:rPr sz="25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l’(les)</a:t>
            </a:r>
            <a:r>
              <a:rPr sz="2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élément(s)</a:t>
            </a:r>
            <a:r>
              <a:rPr sz="2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5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votre</a:t>
            </a:r>
            <a:r>
              <a:rPr sz="2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conduite</a:t>
            </a:r>
            <a:r>
              <a:rPr sz="2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à</a:t>
            </a:r>
            <a:r>
              <a:rPr sz="25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imes New Roman"/>
                <a:cs typeface="Times New Roman"/>
              </a:rPr>
              <a:t>tenir?</a:t>
            </a:r>
            <a:endParaRPr sz="2500" dirty="0">
              <a:latin typeface="Times New Roman"/>
              <a:cs typeface="Times New Roman"/>
            </a:endParaRPr>
          </a:p>
          <a:p>
            <a:pPr marL="469900" marR="395605" indent="-457200">
              <a:lnSpc>
                <a:spcPts val="2780"/>
              </a:lnSpc>
              <a:spcBef>
                <a:spcPts val="2095"/>
              </a:spcBef>
              <a:buAutoNum type="alphaUcPeriod"/>
              <a:tabLst>
                <a:tab pos="469900" algn="l"/>
              </a:tabLst>
            </a:pP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Surveillance de</a:t>
            </a:r>
            <a:r>
              <a:rPr sz="25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5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température à</a:t>
            </a:r>
            <a:r>
              <a:rPr sz="25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domicile et</a:t>
            </a:r>
            <a:r>
              <a:rPr sz="25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refaire une</a:t>
            </a:r>
            <a:r>
              <a:rPr sz="2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ponction</a:t>
            </a:r>
            <a:r>
              <a:rPr sz="2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et</a:t>
            </a:r>
            <a:r>
              <a:rPr sz="2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Times New Roman"/>
                <a:cs typeface="Times New Roman"/>
              </a:rPr>
              <a:t>des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hémoculture</a:t>
            </a:r>
            <a:r>
              <a:rPr sz="25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si</a:t>
            </a:r>
            <a:r>
              <a:rPr sz="2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apparition</a:t>
            </a:r>
            <a:r>
              <a:rPr sz="2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5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imes New Roman"/>
                <a:cs typeface="Times New Roman"/>
              </a:rPr>
              <a:t>fièvre</a:t>
            </a:r>
            <a:endParaRPr sz="2500" dirty="0">
              <a:latin typeface="Times New Roman"/>
              <a:cs typeface="Times New Roman"/>
            </a:endParaRPr>
          </a:p>
          <a:p>
            <a:pPr marL="469900" marR="528955" indent="-457200">
              <a:lnSpc>
                <a:spcPts val="2780"/>
              </a:lnSpc>
              <a:spcBef>
                <a:spcPts val="740"/>
              </a:spcBef>
              <a:buAutoNum type="alphaUcPeriod"/>
              <a:tabLst>
                <a:tab pos="469900" algn="l"/>
              </a:tabLst>
            </a:pP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Hospitaliser</a:t>
            </a:r>
            <a:r>
              <a:rPr sz="2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5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patiente</a:t>
            </a:r>
            <a:r>
              <a:rPr sz="2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pour</a:t>
            </a:r>
            <a:r>
              <a:rPr sz="25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surveillance</a:t>
            </a:r>
            <a:r>
              <a:rPr sz="25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5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température</a:t>
            </a:r>
            <a:r>
              <a:rPr sz="25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et</a:t>
            </a:r>
            <a:r>
              <a:rPr sz="2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25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imes New Roman"/>
                <a:cs typeface="Times New Roman"/>
              </a:rPr>
              <a:t>bilan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inflammatoire</a:t>
            </a:r>
            <a:r>
              <a:rPr sz="25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2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attendant</a:t>
            </a:r>
            <a:r>
              <a:rPr sz="25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les</a:t>
            </a:r>
            <a:r>
              <a:rPr sz="25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résultats</a:t>
            </a:r>
            <a:r>
              <a:rPr sz="25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5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imes New Roman"/>
                <a:cs typeface="Times New Roman"/>
              </a:rPr>
              <a:t>culture</a:t>
            </a:r>
            <a:endParaRPr sz="2500" dirty="0">
              <a:latin typeface="Times New Roman"/>
              <a:cs typeface="Times New Roman"/>
            </a:endParaRPr>
          </a:p>
          <a:p>
            <a:pPr marL="469900" marR="1055370" indent="-457200">
              <a:lnSpc>
                <a:spcPts val="2780"/>
              </a:lnSpc>
              <a:spcBef>
                <a:spcPts val="740"/>
              </a:spcBef>
              <a:buAutoNum type="alphaUcPeriod"/>
              <a:tabLst>
                <a:tab pos="469900" algn="l"/>
              </a:tabLst>
            </a:pP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Commencer</a:t>
            </a:r>
            <a:r>
              <a:rPr sz="25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immédiatement</a:t>
            </a:r>
            <a:r>
              <a:rPr sz="25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25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antibiothérapie</a:t>
            </a:r>
            <a:r>
              <a:rPr sz="25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intraveineuse</a:t>
            </a:r>
            <a:r>
              <a:rPr sz="25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Times New Roman"/>
                <a:cs typeface="Times New Roman"/>
              </a:rPr>
              <a:t>par </a:t>
            </a:r>
            <a:r>
              <a:rPr sz="2500" spc="-10" dirty="0">
                <a:solidFill>
                  <a:srgbClr val="FFFFFF"/>
                </a:solidFill>
                <a:latin typeface="Times New Roman"/>
                <a:cs typeface="Times New Roman"/>
              </a:rPr>
              <a:t>oxacilline+gentamicine</a:t>
            </a:r>
            <a:r>
              <a:rPr sz="25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2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milieu</a:t>
            </a:r>
            <a:r>
              <a:rPr sz="25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imes New Roman"/>
                <a:cs typeface="Times New Roman"/>
              </a:rPr>
              <a:t>hospitalier</a:t>
            </a:r>
            <a:endParaRPr sz="2500" dirty="0">
              <a:latin typeface="Times New Roman"/>
              <a:cs typeface="Times New Roman"/>
            </a:endParaRPr>
          </a:p>
          <a:p>
            <a:pPr marL="469900" marR="5080" indent="-457200">
              <a:lnSpc>
                <a:spcPts val="2780"/>
              </a:lnSpc>
              <a:spcBef>
                <a:spcPts val="745"/>
              </a:spcBef>
              <a:buAutoNum type="alphaUcPeriod"/>
              <a:tabLst>
                <a:tab pos="469900" algn="l"/>
              </a:tabLst>
            </a:pP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Drainage</a:t>
            </a:r>
            <a:r>
              <a:rPr sz="25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chirurgical</a:t>
            </a:r>
            <a:r>
              <a:rPr sz="25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avec</a:t>
            </a:r>
            <a:r>
              <a:rPr sz="25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prélèvements</a:t>
            </a:r>
            <a:r>
              <a:rPr sz="25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peropératoires</a:t>
            </a:r>
            <a:r>
              <a:rPr sz="25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0000"/>
                </a:solidFill>
                <a:latin typeface="Times New Roman"/>
                <a:cs typeface="Times New Roman"/>
              </a:rPr>
              <a:t>bactériologiques</a:t>
            </a:r>
            <a:r>
              <a:rPr sz="25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spc="-25" dirty="0">
                <a:solidFill>
                  <a:srgbClr val="FF0000"/>
                </a:solidFill>
                <a:latin typeface="Times New Roman"/>
                <a:cs typeface="Times New Roman"/>
              </a:rPr>
              <a:t>et </a:t>
            </a:r>
            <a:r>
              <a:rPr sz="2500" spc="-10" dirty="0">
                <a:solidFill>
                  <a:srgbClr val="FF0000"/>
                </a:solidFill>
                <a:latin typeface="Times New Roman"/>
                <a:cs typeface="Times New Roman"/>
              </a:rPr>
              <a:t>histologiques</a:t>
            </a:r>
            <a:endParaRPr sz="25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459"/>
              </a:spcBef>
              <a:buAutoNum type="alphaUcPeriod"/>
              <a:tabLst>
                <a:tab pos="469265" algn="l"/>
              </a:tabLst>
            </a:pP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Mettre</a:t>
            </a:r>
            <a:r>
              <a:rPr sz="25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5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patiente</a:t>
            </a:r>
            <a:r>
              <a:rPr sz="25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sous</a:t>
            </a:r>
            <a:r>
              <a:rPr sz="2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colchicine</a:t>
            </a:r>
            <a:r>
              <a:rPr sz="25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pendant</a:t>
            </a:r>
            <a:r>
              <a:rPr sz="25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15</a:t>
            </a:r>
            <a:r>
              <a:rPr sz="25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imes New Roman"/>
                <a:cs typeface="Times New Roman"/>
              </a:rPr>
              <a:t>jours</a:t>
            </a:r>
            <a:endParaRPr sz="25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610995"/>
            <a:ext cx="10095865" cy="42392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ts val="4029"/>
              </a:lnSpc>
              <a:spcBef>
                <a:spcPts val="8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Quel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mode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contamination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plus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probable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pour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cette patiente?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090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Contamination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par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contiguité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960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Inflammation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aigues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causée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par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rééducation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960"/>
              </a:spcBef>
              <a:buAutoNum type="alphaUcPeriod"/>
              <a:tabLst>
                <a:tab pos="46926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Contamination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par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voie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hématogène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96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Contamination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par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voie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lymphatique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960"/>
              </a:spcBef>
              <a:buAutoNum type="alphaUcPeriod"/>
              <a:tabLst>
                <a:tab pos="469265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Contamination</a:t>
            </a:r>
            <a:r>
              <a:rPr sz="3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par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inoculation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87723" y="1609344"/>
            <a:ext cx="4411980" cy="3450590"/>
            <a:chOff x="3887723" y="1609344"/>
            <a:chExt cx="4411980" cy="34505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7723" y="1609344"/>
              <a:ext cx="4411980" cy="345033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5729" y="1636522"/>
              <a:ext cx="4320540" cy="33602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935729" y="1636522"/>
              <a:ext cx="4320540" cy="3360420"/>
            </a:xfrm>
            <a:custGeom>
              <a:avLst/>
              <a:gdLst/>
              <a:ahLst/>
              <a:cxnLst/>
              <a:rect l="l" t="t" r="r" b="b"/>
              <a:pathLst>
                <a:path w="4320540" h="3360420">
                  <a:moveTo>
                    <a:pt x="1243203" y="1177670"/>
                  </a:moveTo>
                  <a:lnTo>
                    <a:pt x="1249144" y="1137545"/>
                  </a:lnTo>
                  <a:lnTo>
                    <a:pt x="1266068" y="1100710"/>
                  </a:lnTo>
                  <a:lnTo>
                    <a:pt x="1292628" y="1068216"/>
                  </a:lnTo>
                  <a:lnTo>
                    <a:pt x="1327474" y="1041113"/>
                  </a:lnTo>
                  <a:lnTo>
                    <a:pt x="1369258" y="1020453"/>
                  </a:lnTo>
                  <a:lnTo>
                    <a:pt x="1416632" y="1007287"/>
                  </a:lnTo>
                  <a:lnTo>
                    <a:pt x="1468247" y="1002664"/>
                  </a:lnTo>
                  <a:lnTo>
                    <a:pt x="1519814" y="1007287"/>
                  </a:lnTo>
                  <a:lnTo>
                    <a:pt x="1567154" y="1020453"/>
                  </a:lnTo>
                  <a:lnTo>
                    <a:pt x="1608915" y="1041113"/>
                  </a:lnTo>
                  <a:lnTo>
                    <a:pt x="1643748" y="1068216"/>
                  </a:lnTo>
                  <a:lnTo>
                    <a:pt x="1670301" y="1100710"/>
                  </a:lnTo>
                  <a:lnTo>
                    <a:pt x="1687223" y="1137545"/>
                  </a:lnTo>
                  <a:lnTo>
                    <a:pt x="1693164" y="1177670"/>
                  </a:lnTo>
                  <a:lnTo>
                    <a:pt x="1687223" y="1217796"/>
                  </a:lnTo>
                  <a:lnTo>
                    <a:pt x="1670301" y="1254631"/>
                  </a:lnTo>
                  <a:lnTo>
                    <a:pt x="1643748" y="1287125"/>
                  </a:lnTo>
                  <a:lnTo>
                    <a:pt x="1608915" y="1314228"/>
                  </a:lnTo>
                  <a:lnTo>
                    <a:pt x="1567154" y="1334888"/>
                  </a:lnTo>
                  <a:lnTo>
                    <a:pt x="1519814" y="1348054"/>
                  </a:lnTo>
                  <a:lnTo>
                    <a:pt x="1468247" y="1352677"/>
                  </a:lnTo>
                  <a:lnTo>
                    <a:pt x="1416632" y="1348054"/>
                  </a:lnTo>
                  <a:lnTo>
                    <a:pt x="1369258" y="1334888"/>
                  </a:lnTo>
                  <a:lnTo>
                    <a:pt x="1327474" y="1314228"/>
                  </a:lnTo>
                  <a:lnTo>
                    <a:pt x="1292628" y="1287125"/>
                  </a:lnTo>
                  <a:lnTo>
                    <a:pt x="1266068" y="1254631"/>
                  </a:lnTo>
                  <a:lnTo>
                    <a:pt x="1249144" y="1217796"/>
                  </a:lnTo>
                  <a:lnTo>
                    <a:pt x="1243203" y="1177670"/>
                  </a:lnTo>
                </a:path>
                <a:path w="4320540" h="3360420">
                  <a:moveTo>
                    <a:pt x="2627376" y="1177670"/>
                  </a:moveTo>
                  <a:lnTo>
                    <a:pt x="2633316" y="1137545"/>
                  </a:lnTo>
                  <a:lnTo>
                    <a:pt x="2650238" y="1100710"/>
                  </a:lnTo>
                  <a:lnTo>
                    <a:pt x="2676791" y="1068216"/>
                  </a:lnTo>
                  <a:lnTo>
                    <a:pt x="2711624" y="1041113"/>
                  </a:lnTo>
                  <a:lnTo>
                    <a:pt x="2753385" y="1020453"/>
                  </a:lnTo>
                  <a:lnTo>
                    <a:pt x="2800725" y="1007287"/>
                  </a:lnTo>
                  <a:lnTo>
                    <a:pt x="2852293" y="1002664"/>
                  </a:lnTo>
                  <a:lnTo>
                    <a:pt x="2903907" y="1007287"/>
                  </a:lnTo>
                  <a:lnTo>
                    <a:pt x="2951281" y="1020453"/>
                  </a:lnTo>
                  <a:lnTo>
                    <a:pt x="2993065" y="1041113"/>
                  </a:lnTo>
                  <a:lnTo>
                    <a:pt x="3027911" y="1068216"/>
                  </a:lnTo>
                  <a:lnTo>
                    <a:pt x="3054471" y="1100710"/>
                  </a:lnTo>
                  <a:lnTo>
                    <a:pt x="3071395" y="1137545"/>
                  </a:lnTo>
                  <a:lnTo>
                    <a:pt x="3077337" y="1177670"/>
                  </a:lnTo>
                  <a:lnTo>
                    <a:pt x="3071395" y="1217796"/>
                  </a:lnTo>
                  <a:lnTo>
                    <a:pt x="3054471" y="1254631"/>
                  </a:lnTo>
                  <a:lnTo>
                    <a:pt x="3027911" y="1287125"/>
                  </a:lnTo>
                  <a:lnTo>
                    <a:pt x="2993065" y="1314228"/>
                  </a:lnTo>
                  <a:lnTo>
                    <a:pt x="2951281" y="1334888"/>
                  </a:lnTo>
                  <a:lnTo>
                    <a:pt x="2903907" y="1348054"/>
                  </a:lnTo>
                  <a:lnTo>
                    <a:pt x="2852293" y="1352677"/>
                  </a:lnTo>
                  <a:lnTo>
                    <a:pt x="2800725" y="1348054"/>
                  </a:lnTo>
                  <a:lnTo>
                    <a:pt x="2753385" y="1334888"/>
                  </a:lnTo>
                  <a:lnTo>
                    <a:pt x="2711624" y="1314228"/>
                  </a:lnTo>
                  <a:lnTo>
                    <a:pt x="2676791" y="1287125"/>
                  </a:lnTo>
                  <a:lnTo>
                    <a:pt x="2650238" y="1254631"/>
                  </a:lnTo>
                  <a:lnTo>
                    <a:pt x="2633316" y="1217796"/>
                  </a:lnTo>
                  <a:lnTo>
                    <a:pt x="2627376" y="1177670"/>
                  </a:lnTo>
                </a:path>
                <a:path w="4320540" h="3360420">
                  <a:moveTo>
                    <a:pt x="989457" y="2412872"/>
                  </a:moveTo>
                  <a:lnTo>
                    <a:pt x="1036288" y="2437389"/>
                  </a:lnTo>
                  <a:lnTo>
                    <a:pt x="1083117" y="2460904"/>
                  </a:lnTo>
                  <a:lnTo>
                    <a:pt x="1129944" y="2483419"/>
                  </a:lnTo>
                  <a:lnTo>
                    <a:pt x="1176770" y="2504933"/>
                  </a:lnTo>
                  <a:lnTo>
                    <a:pt x="1223592" y="2525447"/>
                  </a:lnTo>
                  <a:lnTo>
                    <a:pt x="1270413" y="2544959"/>
                  </a:lnTo>
                  <a:lnTo>
                    <a:pt x="1317232" y="2563472"/>
                  </a:lnTo>
                  <a:lnTo>
                    <a:pt x="1364048" y="2580983"/>
                  </a:lnTo>
                  <a:lnTo>
                    <a:pt x="1410863" y="2597494"/>
                  </a:lnTo>
                  <a:lnTo>
                    <a:pt x="1457675" y="2613004"/>
                  </a:lnTo>
                  <a:lnTo>
                    <a:pt x="1504485" y="2627514"/>
                  </a:lnTo>
                  <a:lnTo>
                    <a:pt x="1551293" y="2641023"/>
                  </a:lnTo>
                  <a:lnTo>
                    <a:pt x="1598099" y="2653531"/>
                  </a:lnTo>
                  <a:lnTo>
                    <a:pt x="1644903" y="2665038"/>
                  </a:lnTo>
                  <a:lnTo>
                    <a:pt x="1691704" y="2675545"/>
                  </a:lnTo>
                  <a:lnTo>
                    <a:pt x="1738504" y="2685052"/>
                  </a:lnTo>
                  <a:lnTo>
                    <a:pt x="1785301" y="2693557"/>
                  </a:lnTo>
                  <a:lnTo>
                    <a:pt x="1832096" y="2701062"/>
                  </a:lnTo>
                  <a:lnTo>
                    <a:pt x="1878889" y="2707566"/>
                  </a:lnTo>
                  <a:lnTo>
                    <a:pt x="1925680" y="2713070"/>
                  </a:lnTo>
                  <a:lnTo>
                    <a:pt x="1972469" y="2717573"/>
                  </a:lnTo>
                  <a:lnTo>
                    <a:pt x="2019256" y="2721075"/>
                  </a:lnTo>
                  <a:lnTo>
                    <a:pt x="2066040" y="2723577"/>
                  </a:lnTo>
                  <a:lnTo>
                    <a:pt x="2112823" y="2725078"/>
                  </a:lnTo>
                  <a:lnTo>
                    <a:pt x="2159603" y="2725578"/>
                  </a:lnTo>
                  <a:lnTo>
                    <a:pt x="2206381" y="2725078"/>
                  </a:lnTo>
                  <a:lnTo>
                    <a:pt x="2253157" y="2723577"/>
                  </a:lnTo>
                  <a:lnTo>
                    <a:pt x="2299931" y="2721075"/>
                  </a:lnTo>
                  <a:lnTo>
                    <a:pt x="2346702" y="2717573"/>
                  </a:lnTo>
                  <a:lnTo>
                    <a:pt x="2393472" y="2713070"/>
                  </a:lnTo>
                  <a:lnTo>
                    <a:pt x="2440239" y="2707566"/>
                  </a:lnTo>
                  <a:lnTo>
                    <a:pt x="2487005" y="2701062"/>
                  </a:lnTo>
                  <a:lnTo>
                    <a:pt x="2533768" y="2693557"/>
                  </a:lnTo>
                  <a:lnTo>
                    <a:pt x="2580529" y="2685052"/>
                  </a:lnTo>
                  <a:lnTo>
                    <a:pt x="2627288" y="2675545"/>
                  </a:lnTo>
                  <a:lnTo>
                    <a:pt x="2674045" y="2665038"/>
                  </a:lnTo>
                  <a:lnTo>
                    <a:pt x="2720799" y="2653531"/>
                  </a:lnTo>
                  <a:lnTo>
                    <a:pt x="2767552" y="2641023"/>
                  </a:lnTo>
                  <a:lnTo>
                    <a:pt x="2814302" y="2627514"/>
                  </a:lnTo>
                  <a:lnTo>
                    <a:pt x="2861050" y="2613004"/>
                  </a:lnTo>
                  <a:lnTo>
                    <a:pt x="2907797" y="2597494"/>
                  </a:lnTo>
                  <a:lnTo>
                    <a:pt x="2954541" y="2580983"/>
                  </a:lnTo>
                  <a:lnTo>
                    <a:pt x="3001282" y="2563472"/>
                  </a:lnTo>
                  <a:lnTo>
                    <a:pt x="3048022" y="2544959"/>
                  </a:lnTo>
                  <a:lnTo>
                    <a:pt x="3094760" y="2525447"/>
                  </a:lnTo>
                  <a:lnTo>
                    <a:pt x="3141495" y="2504933"/>
                  </a:lnTo>
                  <a:lnTo>
                    <a:pt x="3188228" y="2483419"/>
                  </a:lnTo>
                  <a:lnTo>
                    <a:pt x="3234960" y="2460904"/>
                  </a:lnTo>
                  <a:lnTo>
                    <a:pt x="3281689" y="2437389"/>
                  </a:lnTo>
                  <a:lnTo>
                    <a:pt x="3328416" y="2412872"/>
                  </a:lnTo>
                </a:path>
                <a:path w="4320540" h="3360420">
                  <a:moveTo>
                    <a:pt x="0" y="1680082"/>
                  </a:moveTo>
                  <a:lnTo>
                    <a:pt x="663" y="1638030"/>
                  </a:lnTo>
                  <a:lnTo>
                    <a:pt x="2643" y="1596231"/>
                  </a:lnTo>
                  <a:lnTo>
                    <a:pt x="5925" y="1554699"/>
                  </a:lnTo>
                  <a:lnTo>
                    <a:pt x="10493" y="1513444"/>
                  </a:lnTo>
                  <a:lnTo>
                    <a:pt x="16331" y="1472480"/>
                  </a:lnTo>
                  <a:lnTo>
                    <a:pt x="23423" y="1431817"/>
                  </a:lnTo>
                  <a:lnTo>
                    <a:pt x="31756" y="1391469"/>
                  </a:lnTo>
                  <a:lnTo>
                    <a:pt x="41312" y="1351447"/>
                  </a:lnTo>
                  <a:lnTo>
                    <a:pt x="52077" y="1311763"/>
                  </a:lnTo>
                  <a:lnTo>
                    <a:pt x="64034" y="1272429"/>
                  </a:lnTo>
                  <a:lnTo>
                    <a:pt x="77170" y="1233458"/>
                  </a:lnTo>
                  <a:lnTo>
                    <a:pt x="91467" y="1194860"/>
                  </a:lnTo>
                  <a:lnTo>
                    <a:pt x="106911" y="1156650"/>
                  </a:lnTo>
                  <a:lnTo>
                    <a:pt x="123486" y="1118837"/>
                  </a:lnTo>
                  <a:lnTo>
                    <a:pt x="141177" y="1081435"/>
                  </a:lnTo>
                  <a:lnTo>
                    <a:pt x="159968" y="1044455"/>
                  </a:lnTo>
                  <a:lnTo>
                    <a:pt x="179843" y="1007910"/>
                  </a:lnTo>
                  <a:lnTo>
                    <a:pt x="200788" y="971812"/>
                  </a:lnTo>
                  <a:lnTo>
                    <a:pt x="222786" y="936171"/>
                  </a:lnTo>
                  <a:lnTo>
                    <a:pt x="245823" y="901002"/>
                  </a:lnTo>
                  <a:lnTo>
                    <a:pt x="269883" y="866315"/>
                  </a:lnTo>
                  <a:lnTo>
                    <a:pt x="294950" y="832122"/>
                  </a:lnTo>
                  <a:lnTo>
                    <a:pt x="321009" y="798437"/>
                  </a:lnTo>
                  <a:lnTo>
                    <a:pt x="348044" y="765270"/>
                  </a:lnTo>
                  <a:lnTo>
                    <a:pt x="376040" y="732633"/>
                  </a:lnTo>
                  <a:lnTo>
                    <a:pt x="404982" y="700540"/>
                  </a:lnTo>
                  <a:lnTo>
                    <a:pt x="434853" y="669001"/>
                  </a:lnTo>
                  <a:lnTo>
                    <a:pt x="465639" y="638029"/>
                  </a:lnTo>
                  <a:lnTo>
                    <a:pt x="497324" y="607636"/>
                  </a:lnTo>
                  <a:lnTo>
                    <a:pt x="529893" y="577834"/>
                  </a:lnTo>
                  <a:lnTo>
                    <a:pt x="563330" y="548634"/>
                  </a:lnTo>
                  <a:lnTo>
                    <a:pt x="597619" y="520050"/>
                  </a:lnTo>
                  <a:lnTo>
                    <a:pt x="632745" y="492093"/>
                  </a:lnTo>
                  <a:lnTo>
                    <a:pt x="668693" y="464774"/>
                  </a:lnTo>
                  <a:lnTo>
                    <a:pt x="705448" y="438107"/>
                  </a:lnTo>
                  <a:lnTo>
                    <a:pt x="742992" y="412103"/>
                  </a:lnTo>
                  <a:lnTo>
                    <a:pt x="781313" y="386774"/>
                  </a:lnTo>
                  <a:lnTo>
                    <a:pt x="820393" y="362132"/>
                  </a:lnTo>
                  <a:lnTo>
                    <a:pt x="860217" y="338189"/>
                  </a:lnTo>
                  <a:lnTo>
                    <a:pt x="900770" y="314958"/>
                  </a:lnTo>
                  <a:lnTo>
                    <a:pt x="942036" y="292450"/>
                  </a:lnTo>
                  <a:lnTo>
                    <a:pt x="984000" y="270677"/>
                  </a:lnTo>
                  <a:lnTo>
                    <a:pt x="1026647" y="249651"/>
                  </a:lnTo>
                  <a:lnTo>
                    <a:pt x="1069960" y="229385"/>
                  </a:lnTo>
                  <a:lnTo>
                    <a:pt x="1113925" y="209890"/>
                  </a:lnTo>
                  <a:lnTo>
                    <a:pt x="1158526" y="191179"/>
                  </a:lnTo>
                  <a:lnTo>
                    <a:pt x="1203748" y="173263"/>
                  </a:lnTo>
                  <a:lnTo>
                    <a:pt x="1249574" y="156154"/>
                  </a:lnTo>
                  <a:lnTo>
                    <a:pt x="1295990" y="139865"/>
                  </a:lnTo>
                  <a:lnTo>
                    <a:pt x="1342980" y="124408"/>
                  </a:lnTo>
                  <a:lnTo>
                    <a:pt x="1390529" y="109794"/>
                  </a:lnTo>
                  <a:lnTo>
                    <a:pt x="1438621" y="96036"/>
                  </a:lnTo>
                  <a:lnTo>
                    <a:pt x="1487240" y="83145"/>
                  </a:lnTo>
                  <a:lnTo>
                    <a:pt x="1536372" y="71134"/>
                  </a:lnTo>
                  <a:lnTo>
                    <a:pt x="1586000" y="60015"/>
                  </a:lnTo>
                  <a:lnTo>
                    <a:pt x="1636110" y="49800"/>
                  </a:lnTo>
                  <a:lnTo>
                    <a:pt x="1686685" y="40500"/>
                  </a:lnTo>
                  <a:lnTo>
                    <a:pt x="1737711" y="32128"/>
                  </a:lnTo>
                  <a:lnTo>
                    <a:pt x="1789171" y="24696"/>
                  </a:lnTo>
                  <a:lnTo>
                    <a:pt x="1841051" y="18216"/>
                  </a:lnTo>
                  <a:lnTo>
                    <a:pt x="1893335" y="12700"/>
                  </a:lnTo>
                  <a:lnTo>
                    <a:pt x="1946007" y="8160"/>
                  </a:lnTo>
                  <a:lnTo>
                    <a:pt x="1999052" y="4608"/>
                  </a:lnTo>
                  <a:lnTo>
                    <a:pt x="2052454" y="2056"/>
                  </a:lnTo>
                  <a:lnTo>
                    <a:pt x="2106199" y="516"/>
                  </a:lnTo>
                  <a:lnTo>
                    <a:pt x="2160270" y="0"/>
                  </a:lnTo>
                  <a:lnTo>
                    <a:pt x="2214340" y="516"/>
                  </a:lnTo>
                  <a:lnTo>
                    <a:pt x="2268085" y="2056"/>
                  </a:lnTo>
                  <a:lnTo>
                    <a:pt x="2321487" y="4608"/>
                  </a:lnTo>
                  <a:lnTo>
                    <a:pt x="2374532" y="8160"/>
                  </a:lnTo>
                  <a:lnTo>
                    <a:pt x="2427204" y="12700"/>
                  </a:lnTo>
                  <a:lnTo>
                    <a:pt x="2479488" y="18216"/>
                  </a:lnTo>
                  <a:lnTo>
                    <a:pt x="2531368" y="24696"/>
                  </a:lnTo>
                  <a:lnTo>
                    <a:pt x="2582828" y="32128"/>
                  </a:lnTo>
                  <a:lnTo>
                    <a:pt x="2633854" y="40500"/>
                  </a:lnTo>
                  <a:lnTo>
                    <a:pt x="2684429" y="49800"/>
                  </a:lnTo>
                  <a:lnTo>
                    <a:pt x="2734539" y="60015"/>
                  </a:lnTo>
                  <a:lnTo>
                    <a:pt x="2784167" y="71134"/>
                  </a:lnTo>
                  <a:lnTo>
                    <a:pt x="2833299" y="83145"/>
                  </a:lnTo>
                  <a:lnTo>
                    <a:pt x="2881918" y="96036"/>
                  </a:lnTo>
                  <a:lnTo>
                    <a:pt x="2930010" y="109794"/>
                  </a:lnTo>
                  <a:lnTo>
                    <a:pt x="2977559" y="124408"/>
                  </a:lnTo>
                  <a:lnTo>
                    <a:pt x="3024549" y="139865"/>
                  </a:lnTo>
                  <a:lnTo>
                    <a:pt x="3070965" y="156154"/>
                  </a:lnTo>
                  <a:lnTo>
                    <a:pt x="3116791" y="173263"/>
                  </a:lnTo>
                  <a:lnTo>
                    <a:pt x="3162013" y="191179"/>
                  </a:lnTo>
                  <a:lnTo>
                    <a:pt x="3206614" y="209890"/>
                  </a:lnTo>
                  <a:lnTo>
                    <a:pt x="3250579" y="229385"/>
                  </a:lnTo>
                  <a:lnTo>
                    <a:pt x="3293892" y="249651"/>
                  </a:lnTo>
                  <a:lnTo>
                    <a:pt x="3336539" y="270677"/>
                  </a:lnTo>
                  <a:lnTo>
                    <a:pt x="3378503" y="292450"/>
                  </a:lnTo>
                  <a:lnTo>
                    <a:pt x="3419769" y="314958"/>
                  </a:lnTo>
                  <a:lnTo>
                    <a:pt x="3460322" y="338189"/>
                  </a:lnTo>
                  <a:lnTo>
                    <a:pt x="3500146" y="362132"/>
                  </a:lnTo>
                  <a:lnTo>
                    <a:pt x="3539226" y="386774"/>
                  </a:lnTo>
                  <a:lnTo>
                    <a:pt x="3577547" y="412103"/>
                  </a:lnTo>
                  <a:lnTo>
                    <a:pt x="3615091" y="438107"/>
                  </a:lnTo>
                  <a:lnTo>
                    <a:pt x="3651846" y="464774"/>
                  </a:lnTo>
                  <a:lnTo>
                    <a:pt x="3687794" y="492093"/>
                  </a:lnTo>
                  <a:lnTo>
                    <a:pt x="3722920" y="520050"/>
                  </a:lnTo>
                  <a:lnTo>
                    <a:pt x="3757209" y="548634"/>
                  </a:lnTo>
                  <a:lnTo>
                    <a:pt x="3790646" y="577834"/>
                  </a:lnTo>
                  <a:lnTo>
                    <a:pt x="3823215" y="607636"/>
                  </a:lnTo>
                  <a:lnTo>
                    <a:pt x="3854900" y="638029"/>
                  </a:lnTo>
                  <a:lnTo>
                    <a:pt x="3885686" y="669001"/>
                  </a:lnTo>
                  <a:lnTo>
                    <a:pt x="3915557" y="700540"/>
                  </a:lnTo>
                  <a:lnTo>
                    <a:pt x="3944499" y="732633"/>
                  </a:lnTo>
                  <a:lnTo>
                    <a:pt x="3972495" y="765270"/>
                  </a:lnTo>
                  <a:lnTo>
                    <a:pt x="3999530" y="798437"/>
                  </a:lnTo>
                  <a:lnTo>
                    <a:pt x="4025589" y="832122"/>
                  </a:lnTo>
                  <a:lnTo>
                    <a:pt x="4050656" y="866315"/>
                  </a:lnTo>
                  <a:lnTo>
                    <a:pt x="4074716" y="901002"/>
                  </a:lnTo>
                  <a:lnTo>
                    <a:pt x="4097753" y="936171"/>
                  </a:lnTo>
                  <a:lnTo>
                    <a:pt x="4119751" y="971812"/>
                  </a:lnTo>
                  <a:lnTo>
                    <a:pt x="4140696" y="1007910"/>
                  </a:lnTo>
                  <a:lnTo>
                    <a:pt x="4160571" y="1044455"/>
                  </a:lnTo>
                  <a:lnTo>
                    <a:pt x="4179362" y="1081435"/>
                  </a:lnTo>
                  <a:lnTo>
                    <a:pt x="4197053" y="1118837"/>
                  </a:lnTo>
                  <a:lnTo>
                    <a:pt x="4213628" y="1156650"/>
                  </a:lnTo>
                  <a:lnTo>
                    <a:pt x="4229072" y="1194860"/>
                  </a:lnTo>
                  <a:lnTo>
                    <a:pt x="4243369" y="1233458"/>
                  </a:lnTo>
                  <a:lnTo>
                    <a:pt x="4256505" y="1272429"/>
                  </a:lnTo>
                  <a:lnTo>
                    <a:pt x="4268462" y="1311763"/>
                  </a:lnTo>
                  <a:lnTo>
                    <a:pt x="4279227" y="1351447"/>
                  </a:lnTo>
                  <a:lnTo>
                    <a:pt x="4288783" y="1391469"/>
                  </a:lnTo>
                  <a:lnTo>
                    <a:pt x="4297116" y="1431817"/>
                  </a:lnTo>
                  <a:lnTo>
                    <a:pt x="4304208" y="1472480"/>
                  </a:lnTo>
                  <a:lnTo>
                    <a:pt x="4310046" y="1513444"/>
                  </a:lnTo>
                  <a:lnTo>
                    <a:pt x="4314614" y="1554699"/>
                  </a:lnTo>
                  <a:lnTo>
                    <a:pt x="4317896" y="1596231"/>
                  </a:lnTo>
                  <a:lnTo>
                    <a:pt x="4319876" y="1638030"/>
                  </a:lnTo>
                  <a:lnTo>
                    <a:pt x="4320540" y="1680082"/>
                  </a:lnTo>
                  <a:lnTo>
                    <a:pt x="4319876" y="1722141"/>
                  </a:lnTo>
                  <a:lnTo>
                    <a:pt x="4317896" y="1763945"/>
                  </a:lnTo>
                  <a:lnTo>
                    <a:pt x="4314614" y="1805483"/>
                  </a:lnTo>
                  <a:lnTo>
                    <a:pt x="4310046" y="1846743"/>
                  </a:lnTo>
                  <a:lnTo>
                    <a:pt x="4304208" y="1887712"/>
                  </a:lnTo>
                  <a:lnTo>
                    <a:pt x="4297116" y="1928379"/>
                  </a:lnTo>
                  <a:lnTo>
                    <a:pt x="4288783" y="1968732"/>
                  </a:lnTo>
                  <a:lnTo>
                    <a:pt x="4279227" y="2008759"/>
                  </a:lnTo>
                  <a:lnTo>
                    <a:pt x="4268462" y="2048447"/>
                  </a:lnTo>
                  <a:lnTo>
                    <a:pt x="4256505" y="2087785"/>
                  </a:lnTo>
                  <a:lnTo>
                    <a:pt x="4243369" y="2126761"/>
                  </a:lnTo>
                  <a:lnTo>
                    <a:pt x="4229072" y="2165362"/>
                  </a:lnTo>
                  <a:lnTo>
                    <a:pt x="4213628" y="2203577"/>
                  </a:lnTo>
                  <a:lnTo>
                    <a:pt x="4197053" y="2241393"/>
                  </a:lnTo>
                  <a:lnTo>
                    <a:pt x="4179362" y="2278798"/>
                  </a:lnTo>
                  <a:lnTo>
                    <a:pt x="4160571" y="2315781"/>
                  </a:lnTo>
                  <a:lnTo>
                    <a:pt x="4140696" y="2352330"/>
                  </a:lnTo>
                  <a:lnTo>
                    <a:pt x="4119751" y="2388432"/>
                  </a:lnTo>
                  <a:lnTo>
                    <a:pt x="4097753" y="2424075"/>
                  </a:lnTo>
                  <a:lnTo>
                    <a:pt x="4074716" y="2459247"/>
                  </a:lnTo>
                  <a:lnTo>
                    <a:pt x="4050656" y="2493937"/>
                  </a:lnTo>
                  <a:lnTo>
                    <a:pt x="4025589" y="2528132"/>
                  </a:lnTo>
                  <a:lnTo>
                    <a:pt x="3999530" y="2561820"/>
                  </a:lnTo>
                  <a:lnTo>
                    <a:pt x="3972495" y="2594990"/>
                  </a:lnTo>
                  <a:lnTo>
                    <a:pt x="3944499" y="2627628"/>
                  </a:lnTo>
                  <a:lnTo>
                    <a:pt x="3915557" y="2659724"/>
                  </a:lnTo>
                  <a:lnTo>
                    <a:pt x="3885686" y="2691265"/>
                  </a:lnTo>
                  <a:lnTo>
                    <a:pt x="3854900" y="2722239"/>
                  </a:lnTo>
                  <a:lnTo>
                    <a:pt x="3823215" y="2752634"/>
                  </a:lnTo>
                  <a:lnTo>
                    <a:pt x="3790646" y="2782438"/>
                  </a:lnTo>
                  <a:lnTo>
                    <a:pt x="3757209" y="2811639"/>
                  </a:lnTo>
                  <a:lnTo>
                    <a:pt x="3722920" y="2840225"/>
                  </a:lnTo>
                  <a:lnTo>
                    <a:pt x="3687794" y="2868183"/>
                  </a:lnTo>
                  <a:lnTo>
                    <a:pt x="3651846" y="2895503"/>
                  </a:lnTo>
                  <a:lnTo>
                    <a:pt x="3615091" y="2922172"/>
                  </a:lnTo>
                  <a:lnTo>
                    <a:pt x="3577547" y="2948177"/>
                  </a:lnTo>
                  <a:lnTo>
                    <a:pt x="3539226" y="2973507"/>
                  </a:lnTo>
                  <a:lnTo>
                    <a:pt x="3500146" y="2998150"/>
                  </a:lnTo>
                  <a:lnTo>
                    <a:pt x="3460322" y="3022094"/>
                  </a:lnTo>
                  <a:lnTo>
                    <a:pt x="3419769" y="3045326"/>
                  </a:lnTo>
                  <a:lnTo>
                    <a:pt x="3378503" y="3067835"/>
                  </a:lnTo>
                  <a:lnTo>
                    <a:pt x="3336539" y="3089609"/>
                  </a:lnTo>
                  <a:lnTo>
                    <a:pt x="3293892" y="3110635"/>
                  </a:lnTo>
                  <a:lnTo>
                    <a:pt x="3250579" y="3130902"/>
                  </a:lnTo>
                  <a:lnTo>
                    <a:pt x="3206614" y="3150398"/>
                  </a:lnTo>
                  <a:lnTo>
                    <a:pt x="3162013" y="3169110"/>
                  </a:lnTo>
                  <a:lnTo>
                    <a:pt x="3116791" y="3187026"/>
                  </a:lnTo>
                  <a:lnTo>
                    <a:pt x="3070965" y="3204135"/>
                  </a:lnTo>
                  <a:lnTo>
                    <a:pt x="3024549" y="3220425"/>
                  </a:lnTo>
                  <a:lnTo>
                    <a:pt x="2977559" y="3235882"/>
                  </a:lnTo>
                  <a:lnTo>
                    <a:pt x="2930010" y="3250496"/>
                  </a:lnTo>
                  <a:lnTo>
                    <a:pt x="2881918" y="3264255"/>
                  </a:lnTo>
                  <a:lnTo>
                    <a:pt x="2833299" y="3277146"/>
                  </a:lnTo>
                  <a:lnTo>
                    <a:pt x="2784167" y="3289157"/>
                  </a:lnTo>
                  <a:lnTo>
                    <a:pt x="2734539" y="3300276"/>
                  </a:lnTo>
                  <a:lnTo>
                    <a:pt x="2684429" y="3310492"/>
                  </a:lnTo>
                  <a:lnTo>
                    <a:pt x="2633854" y="3319791"/>
                  </a:lnTo>
                  <a:lnTo>
                    <a:pt x="2582828" y="3328163"/>
                  </a:lnTo>
                  <a:lnTo>
                    <a:pt x="2531368" y="3335595"/>
                  </a:lnTo>
                  <a:lnTo>
                    <a:pt x="2479488" y="3342075"/>
                  </a:lnTo>
                  <a:lnTo>
                    <a:pt x="2427204" y="3347592"/>
                  </a:lnTo>
                  <a:lnTo>
                    <a:pt x="2374532" y="3352132"/>
                  </a:lnTo>
                  <a:lnTo>
                    <a:pt x="2321487" y="3355684"/>
                  </a:lnTo>
                  <a:lnTo>
                    <a:pt x="2268085" y="3358236"/>
                  </a:lnTo>
                  <a:lnTo>
                    <a:pt x="2214340" y="3359776"/>
                  </a:lnTo>
                  <a:lnTo>
                    <a:pt x="2160270" y="3360292"/>
                  </a:lnTo>
                  <a:lnTo>
                    <a:pt x="2106199" y="3359776"/>
                  </a:lnTo>
                  <a:lnTo>
                    <a:pt x="2052454" y="3358236"/>
                  </a:lnTo>
                  <a:lnTo>
                    <a:pt x="1999052" y="3355684"/>
                  </a:lnTo>
                  <a:lnTo>
                    <a:pt x="1946007" y="3352132"/>
                  </a:lnTo>
                  <a:lnTo>
                    <a:pt x="1893335" y="3347592"/>
                  </a:lnTo>
                  <a:lnTo>
                    <a:pt x="1841051" y="3342075"/>
                  </a:lnTo>
                  <a:lnTo>
                    <a:pt x="1789171" y="3335595"/>
                  </a:lnTo>
                  <a:lnTo>
                    <a:pt x="1737711" y="3328163"/>
                  </a:lnTo>
                  <a:lnTo>
                    <a:pt x="1686685" y="3319791"/>
                  </a:lnTo>
                  <a:lnTo>
                    <a:pt x="1636110" y="3310492"/>
                  </a:lnTo>
                  <a:lnTo>
                    <a:pt x="1586000" y="3300276"/>
                  </a:lnTo>
                  <a:lnTo>
                    <a:pt x="1536372" y="3289157"/>
                  </a:lnTo>
                  <a:lnTo>
                    <a:pt x="1487240" y="3277146"/>
                  </a:lnTo>
                  <a:lnTo>
                    <a:pt x="1438621" y="3264255"/>
                  </a:lnTo>
                  <a:lnTo>
                    <a:pt x="1390529" y="3250496"/>
                  </a:lnTo>
                  <a:lnTo>
                    <a:pt x="1342980" y="3235882"/>
                  </a:lnTo>
                  <a:lnTo>
                    <a:pt x="1295990" y="3220425"/>
                  </a:lnTo>
                  <a:lnTo>
                    <a:pt x="1249574" y="3204135"/>
                  </a:lnTo>
                  <a:lnTo>
                    <a:pt x="1203748" y="3187026"/>
                  </a:lnTo>
                  <a:lnTo>
                    <a:pt x="1158526" y="3169110"/>
                  </a:lnTo>
                  <a:lnTo>
                    <a:pt x="1113925" y="3150398"/>
                  </a:lnTo>
                  <a:lnTo>
                    <a:pt x="1069960" y="3130902"/>
                  </a:lnTo>
                  <a:lnTo>
                    <a:pt x="1026647" y="3110635"/>
                  </a:lnTo>
                  <a:lnTo>
                    <a:pt x="984000" y="3089609"/>
                  </a:lnTo>
                  <a:lnTo>
                    <a:pt x="942036" y="3067835"/>
                  </a:lnTo>
                  <a:lnTo>
                    <a:pt x="900770" y="3045326"/>
                  </a:lnTo>
                  <a:lnTo>
                    <a:pt x="860217" y="3022094"/>
                  </a:lnTo>
                  <a:lnTo>
                    <a:pt x="820393" y="2998150"/>
                  </a:lnTo>
                  <a:lnTo>
                    <a:pt x="781313" y="2973507"/>
                  </a:lnTo>
                  <a:lnTo>
                    <a:pt x="742992" y="2948177"/>
                  </a:lnTo>
                  <a:lnTo>
                    <a:pt x="705448" y="2922172"/>
                  </a:lnTo>
                  <a:lnTo>
                    <a:pt x="668693" y="2895503"/>
                  </a:lnTo>
                  <a:lnTo>
                    <a:pt x="632745" y="2868183"/>
                  </a:lnTo>
                  <a:lnTo>
                    <a:pt x="597619" y="2840225"/>
                  </a:lnTo>
                  <a:lnTo>
                    <a:pt x="563330" y="2811639"/>
                  </a:lnTo>
                  <a:lnTo>
                    <a:pt x="529893" y="2782438"/>
                  </a:lnTo>
                  <a:lnTo>
                    <a:pt x="497324" y="2752634"/>
                  </a:lnTo>
                  <a:lnTo>
                    <a:pt x="465639" y="2722239"/>
                  </a:lnTo>
                  <a:lnTo>
                    <a:pt x="434853" y="2691265"/>
                  </a:lnTo>
                  <a:lnTo>
                    <a:pt x="404982" y="2659724"/>
                  </a:lnTo>
                  <a:lnTo>
                    <a:pt x="376040" y="2627628"/>
                  </a:lnTo>
                  <a:lnTo>
                    <a:pt x="348044" y="2594990"/>
                  </a:lnTo>
                  <a:lnTo>
                    <a:pt x="321009" y="2561820"/>
                  </a:lnTo>
                  <a:lnTo>
                    <a:pt x="294950" y="2528132"/>
                  </a:lnTo>
                  <a:lnTo>
                    <a:pt x="269883" y="2493937"/>
                  </a:lnTo>
                  <a:lnTo>
                    <a:pt x="245823" y="2459247"/>
                  </a:lnTo>
                  <a:lnTo>
                    <a:pt x="222786" y="2424075"/>
                  </a:lnTo>
                  <a:lnTo>
                    <a:pt x="200788" y="2388432"/>
                  </a:lnTo>
                  <a:lnTo>
                    <a:pt x="179843" y="2352330"/>
                  </a:lnTo>
                  <a:lnTo>
                    <a:pt x="159968" y="2315781"/>
                  </a:lnTo>
                  <a:lnTo>
                    <a:pt x="141177" y="2278798"/>
                  </a:lnTo>
                  <a:lnTo>
                    <a:pt x="123486" y="2241393"/>
                  </a:lnTo>
                  <a:lnTo>
                    <a:pt x="106911" y="2203577"/>
                  </a:lnTo>
                  <a:lnTo>
                    <a:pt x="91467" y="2165362"/>
                  </a:lnTo>
                  <a:lnTo>
                    <a:pt x="77170" y="2126761"/>
                  </a:lnTo>
                  <a:lnTo>
                    <a:pt x="64034" y="2087785"/>
                  </a:lnTo>
                  <a:lnTo>
                    <a:pt x="52077" y="2048447"/>
                  </a:lnTo>
                  <a:lnTo>
                    <a:pt x="41312" y="2008759"/>
                  </a:lnTo>
                  <a:lnTo>
                    <a:pt x="31756" y="1968732"/>
                  </a:lnTo>
                  <a:lnTo>
                    <a:pt x="23423" y="1928379"/>
                  </a:lnTo>
                  <a:lnTo>
                    <a:pt x="16331" y="1887712"/>
                  </a:lnTo>
                  <a:lnTo>
                    <a:pt x="10493" y="1846743"/>
                  </a:lnTo>
                  <a:lnTo>
                    <a:pt x="5925" y="1805483"/>
                  </a:lnTo>
                  <a:lnTo>
                    <a:pt x="2643" y="1763945"/>
                  </a:lnTo>
                  <a:lnTo>
                    <a:pt x="663" y="1722141"/>
                  </a:lnTo>
                  <a:lnTo>
                    <a:pt x="0" y="1680082"/>
                  </a:lnTo>
                  <a:close/>
                </a:path>
              </a:pathLst>
            </a:custGeom>
            <a:ln w="9525">
              <a:solidFill>
                <a:srgbClr val="CCB4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568197"/>
            <a:ext cx="10755630" cy="19665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99300"/>
              </a:lnSpc>
              <a:spcBef>
                <a:spcPts val="130"/>
              </a:spcBef>
            </a:pPr>
            <a:r>
              <a:rPr sz="3200" dirty="0">
                <a:latin typeface="Times New Roman"/>
                <a:cs typeface="Times New Roman"/>
              </a:rPr>
              <a:t>Monsieur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S,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un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homme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26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ans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aux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antécédents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diabète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type </a:t>
            </a:r>
            <a:r>
              <a:rPr sz="3200" dirty="0">
                <a:latin typeface="Times New Roman"/>
                <a:cs typeface="Times New Roman"/>
              </a:rPr>
              <a:t>1,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consulte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aux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urgences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pour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une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plaie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du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genou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droit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suite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à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une </a:t>
            </a:r>
            <a:r>
              <a:rPr sz="3200" dirty="0">
                <a:latin typeface="Times New Roman"/>
                <a:cs typeface="Times New Roman"/>
              </a:rPr>
              <a:t>agression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par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arme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blanche.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La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plaie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est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illustrée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par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la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figure </a:t>
            </a:r>
            <a:r>
              <a:rPr sz="3200" dirty="0">
                <a:latin typeface="Times New Roman"/>
                <a:cs typeface="Times New Roman"/>
              </a:rPr>
              <a:t>suivante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5579" y="2504401"/>
            <a:ext cx="6336665" cy="39967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647570"/>
            <a:ext cx="9261475" cy="3971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Votre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attitude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vis-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à-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vis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cette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plaie: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640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Suture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salle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soins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à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vif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Suture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salle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soins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sous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anesthésie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locale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Soins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locaux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et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pansement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stérile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sans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suture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Suture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salle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soins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et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prescription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d’antibiotique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Exploration</a:t>
            </a:r>
            <a:r>
              <a:rPr sz="3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chirurgicale</a:t>
            </a:r>
            <a:r>
              <a:rPr sz="32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sz="3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la</a:t>
            </a:r>
            <a:r>
              <a:rPr sz="3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plaie</a:t>
            </a:r>
            <a:r>
              <a:rPr sz="3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au</a:t>
            </a: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bloc</a:t>
            </a:r>
            <a:r>
              <a:rPr sz="3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opératoire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617090"/>
            <a:ext cx="10742930" cy="28594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30"/>
              </a:spcBef>
            </a:pP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7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semaine</a:t>
            </a:r>
            <a:r>
              <a:rPr sz="37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après</a:t>
            </a:r>
            <a:r>
              <a:rPr sz="37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7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première</a:t>
            </a:r>
            <a:r>
              <a:rPr sz="37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consultation,</a:t>
            </a:r>
            <a:r>
              <a:rPr sz="37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Monsieur</a:t>
            </a:r>
            <a:r>
              <a:rPr sz="37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spc="-50" dirty="0">
                <a:solidFill>
                  <a:srgbClr val="FFFFFF"/>
                </a:solidFill>
                <a:latin typeface="Times New Roman"/>
                <a:cs typeface="Times New Roman"/>
              </a:rPr>
              <a:t>S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revient</a:t>
            </a:r>
            <a:r>
              <a:rPr sz="37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aux</a:t>
            </a:r>
            <a:r>
              <a:rPr sz="37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urgences</a:t>
            </a:r>
            <a:r>
              <a:rPr sz="37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pour</a:t>
            </a:r>
            <a:r>
              <a:rPr sz="37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7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tuméfaction</a:t>
            </a:r>
            <a:r>
              <a:rPr sz="37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spc="-10" dirty="0">
                <a:solidFill>
                  <a:srgbClr val="FFFFFF"/>
                </a:solidFill>
                <a:latin typeface="Times New Roman"/>
                <a:cs typeface="Times New Roman"/>
              </a:rPr>
              <a:t>douloureuse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du genou.</a:t>
            </a:r>
            <a:r>
              <a:rPr sz="37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spc="-10" dirty="0">
                <a:solidFill>
                  <a:srgbClr val="FFFFFF"/>
                </a:solidFill>
                <a:latin typeface="Times New Roman"/>
                <a:cs typeface="Times New Roman"/>
              </a:rPr>
              <a:t>L’examen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 trouve</a:t>
            </a:r>
            <a:r>
              <a:rPr sz="37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une fièvre</a:t>
            </a:r>
            <a:r>
              <a:rPr sz="37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à 39.5</a:t>
            </a:r>
            <a:r>
              <a:rPr sz="3700" dirty="0">
                <a:solidFill>
                  <a:srgbClr val="FFFFFF"/>
                </a:solidFill>
                <a:latin typeface="Calibri"/>
                <a:cs typeface="Calibri"/>
              </a:rPr>
              <a:t>°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C,</a:t>
            </a:r>
            <a:r>
              <a:rPr sz="37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spc="-25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endParaRPr sz="3700">
              <a:latin typeface="Times New Roman"/>
              <a:cs typeface="Times New Roman"/>
            </a:endParaRPr>
          </a:p>
          <a:p>
            <a:pPr marL="12700">
              <a:lnSpc>
                <a:spcPts val="4415"/>
              </a:lnSpc>
              <a:spcBef>
                <a:spcPts val="120"/>
              </a:spcBef>
            </a:pP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boiterie</a:t>
            </a:r>
            <a:r>
              <a:rPr sz="37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d’esquive</a:t>
            </a:r>
            <a:r>
              <a:rPr sz="37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et</a:t>
            </a:r>
            <a:r>
              <a:rPr sz="37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7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augmentation</a:t>
            </a:r>
            <a:r>
              <a:rPr sz="37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37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volume</a:t>
            </a:r>
            <a:r>
              <a:rPr sz="37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spc="-25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endParaRPr sz="3700">
              <a:latin typeface="Times New Roman"/>
              <a:cs typeface="Times New Roman"/>
            </a:endParaRPr>
          </a:p>
          <a:p>
            <a:pPr marL="12700">
              <a:lnSpc>
                <a:spcPts val="4415"/>
              </a:lnSpc>
            </a:pPr>
            <a:r>
              <a:rPr sz="3700" spc="-10" dirty="0">
                <a:solidFill>
                  <a:srgbClr val="FFFFFF"/>
                </a:solidFill>
                <a:latin typeface="Times New Roman"/>
                <a:cs typeface="Times New Roman"/>
              </a:rPr>
              <a:t>genou.</a:t>
            </a:r>
            <a:endParaRPr sz="3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647570"/>
            <a:ext cx="9966325" cy="3971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diagnostic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évoqué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en premier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lieu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est: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640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fracture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ouverte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 la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patella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bursite</a:t>
            </a:r>
            <a:r>
              <a:rPr sz="3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pré-patellaire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tumeur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infectée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genou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Une</a:t>
            </a: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arthrite</a:t>
            </a:r>
            <a:r>
              <a:rPr sz="3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septique</a:t>
            </a:r>
            <a:r>
              <a:rPr sz="3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du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genou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ostéomyélite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aigue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l’extrémité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inférieure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fémur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647570"/>
            <a:ext cx="9860280" cy="4137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mode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 contamination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pour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patient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est: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640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contamination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par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voie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hématogène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Une</a:t>
            </a:r>
            <a:r>
              <a:rPr sz="3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contamination</a:t>
            </a:r>
            <a:r>
              <a:rPr sz="3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par</a:t>
            </a:r>
            <a:r>
              <a:rPr sz="3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inoculation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contamination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par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contiguïté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contamination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par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voie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lymphatique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2650"/>
              </a:spcBef>
              <a:buAutoNum type="alphaUcPeriod"/>
              <a:tabLst>
                <a:tab pos="46926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contamination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à</a:t>
            </a:r>
            <a:r>
              <a:rPr sz="3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partir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d’une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ostéomyélite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adjascente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567134"/>
            <a:ext cx="10348595" cy="5429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9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Pour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confirmer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votre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suspicion,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vous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cherchez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épanchement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articulaire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genou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chez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patient.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4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singe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physique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qui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met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évidence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cet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épanchement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est: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65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douleur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à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palpation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 l’interligne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fémoro-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patellaire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le</a:t>
            </a:r>
            <a:r>
              <a:rPr sz="3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signe</a:t>
            </a:r>
            <a:r>
              <a:rPr sz="3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du</a:t>
            </a:r>
            <a:r>
              <a:rPr sz="3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choc</a:t>
            </a:r>
            <a:r>
              <a:rPr sz="3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patellaire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tuméfaction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genou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chaleur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locale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à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palpation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genou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douleur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à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mobilisation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passive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douce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genou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257302"/>
            <a:ext cx="10619105" cy="533607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464820">
              <a:lnSpc>
                <a:spcPts val="3360"/>
              </a:lnSpc>
              <a:spcBef>
                <a:spcPts val="409"/>
              </a:spcBef>
            </a:pPr>
            <a:r>
              <a:rPr sz="3000" spc="-65" dirty="0">
                <a:solidFill>
                  <a:srgbClr val="FFFFFF"/>
                </a:solidFill>
                <a:latin typeface="Times New Roman"/>
                <a:cs typeface="Times New Roman"/>
              </a:rPr>
              <a:t>Votre</a:t>
            </a:r>
            <a:r>
              <a:rPr sz="30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exploration</a:t>
            </a:r>
            <a:r>
              <a:rPr sz="3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trouve</a:t>
            </a:r>
            <a:r>
              <a:rPr sz="30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effectivement</a:t>
            </a:r>
            <a:r>
              <a:rPr sz="3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un</a:t>
            </a:r>
            <a:r>
              <a:rPr sz="30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épanchement</a:t>
            </a:r>
            <a:r>
              <a:rPr sz="3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articulaire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abondant</a:t>
            </a:r>
            <a:r>
              <a:rPr sz="3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3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genou.</a:t>
            </a:r>
            <a:endParaRPr sz="3000" dirty="0">
              <a:latin typeface="Times New Roman"/>
              <a:cs typeface="Times New Roman"/>
            </a:endParaRPr>
          </a:p>
          <a:p>
            <a:pPr marL="12700" marR="702310">
              <a:lnSpc>
                <a:spcPts val="3350"/>
              </a:lnSpc>
              <a:spcBef>
                <a:spcPts val="2160"/>
              </a:spcBef>
            </a:pPr>
            <a:r>
              <a:rPr sz="3000" spc="-160" dirty="0">
                <a:solidFill>
                  <a:srgbClr val="FFFFFF"/>
                </a:solidFill>
                <a:latin typeface="Times New Roman"/>
                <a:cs typeface="Times New Roman"/>
              </a:rPr>
              <a:t>L’</a:t>
            </a:r>
            <a:r>
              <a:rPr sz="3000" spc="-2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(les)</a:t>
            </a:r>
            <a:r>
              <a:rPr sz="30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examen(s)</a:t>
            </a:r>
            <a:r>
              <a:rPr sz="3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complémentaire(s)</a:t>
            </a:r>
            <a:r>
              <a:rPr sz="3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indiqué(s)</a:t>
            </a:r>
            <a:r>
              <a:rPr sz="3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30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urgence</a:t>
            </a:r>
            <a:r>
              <a:rPr sz="30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FFFFFF"/>
                </a:solidFill>
                <a:latin typeface="Times New Roman"/>
                <a:cs typeface="Times New Roman"/>
              </a:rPr>
              <a:t>pour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confirmer</a:t>
            </a:r>
            <a:r>
              <a:rPr sz="3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30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diagnostic</a:t>
            </a:r>
            <a:r>
              <a:rPr sz="3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d’une</a:t>
            </a:r>
            <a:r>
              <a:rPr sz="30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arthrite</a:t>
            </a:r>
            <a:r>
              <a:rPr sz="3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septique</a:t>
            </a:r>
            <a:r>
              <a:rPr sz="3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30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(sont):</a:t>
            </a:r>
            <a:endParaRPr sz="30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765"/>
              </a:spcBef>
              <a:buAutoNum type="alphaUcPeriod"/>
              <a:tabLst>
                <a:tab pos="468630" algn="l"/>
              </a:tabLst>
            </a:pP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Un</a:t>
            </a:r>
            <a:r>
              <a:rPr sz="30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prélèvement</a:t>
            </a:r>
            <a:r>
              <a:rPr sz="3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bactériologique</a:t>
            </a:r>
            <a:r>
              <a:rPr sz="3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par</a:t>
            </a:r>
            <a:r>
              <a:rPr sz="30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écouvillonnage</a:t>
            </a:r>
            <a:r>
              <a:rPr sz="3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0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0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plaie</a:t>
            </a:r>
            <a:endParaRPr sz="3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40"/>
              </a:spcBef>
              <a:buAutoNum type="alphaUcPeriod"/>
              <a:tabLst>
                <a:tab pos="469265" algn="l"/>
              </a:tabLst>
            </a:pP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échographie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3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genou</a:t>
            </a:r>
            <a:endParaRPr sz="3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40"/>
              </a:spcBef>
              <a:buAutoNum type="alphaUcPeriod"/>
              <a:tabLst>
                <a:tab pos="469265" algn="l"/>
              </a:tabLst>
            </a:pP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Un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hémogramme</a:t>
            </a:r>
            <a:endParaRPr sz="3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45"/>
              </a:spcBef>
              <a:buAutoNum type="alphaUcPeriod"/>
              <a:tabLst>
                <a:tab pos="469265" algn="l"/>
              </a:tabLst>
            </a:pP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Un</a:t>
            </a:r>
            <a:r>
              <a:rPr sz="3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dosage</a:t>
            </a:r>
            <a:r>
              <a:rPr sz="3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3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reactive</a:t>
            </a:r>
            <a:r>
              <a:rPr sz="3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protein</a:t>
            </a:r>
            <a:endParaRPr sz="3000" dirty="0">
              <a:latin typeface="Times New Roman"/>
              <a:cs typeface="Times New Roman"/>
            </a:endParaRPr>
          </a:p>
          <a:p>
            <a:pPr marL="468630" marR="5080" indent="-455930">
              <a:lnSpc>
                <a:spcPts val="3350"/>
              </a:lnSpc>
              <a:spcBef>
                <a:spcPts val="930"/>
              </a:spcBef>
              <a:buAutoNum type="alphaUcPeriod"/>
              <a:tabLst>
                <a:tab pos="4699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Une</a:t>
            </a:r>
            <a:r>
              <a:rPr sz="30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ponction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du</a:t>
            </a:r>
            <a:r>
              <a:rPr sz="3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genou</a:t>
            </a:r>
            <a:r>
              <a:rPr sz="3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avec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étude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chimique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et</a:t>
            </a:r>
            <a:r>
              <a:rPr sz="3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bactériologique 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du 	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liquide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sz="3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ponction</a:t>
            </a:r>
            <a:endParaRPr sz="30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87723" y="1609344"/>
            <a:ext cx="4411980" cy="3450590"/>
            <a:chOff x="3887723" y="1609344"/>
            <a:chExt cx="4411980" cy="34505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7723" y="1609344"/>
              <a:ext cx="4411980" cy="345033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5729" y="1636522"/>
              <a:ext cx="4320540" cy="33602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935729" y="1636522"/>
              <a:ext cx="4320540" cy="3360420"/>
            </a:xfrm>
            <a:custGeom>
              <a:avLst/>
              <a:gdLst/>
              <a:ahLst/>
              <a:cxnLst/>
              <a:rect l="l" t="t" r="r" b="b"/>
              <a:pathLst>
                <a:path w="4320540" h="3360420">
                  <a:moveTo>
                    <a:pt x="1243203" y="1177670"/>
                  </a:moveTo>
                  <a:lnTo>
                    <a:pt x="1249144" y="1137545"/>
                  </a:lnTo>
                  <a:lnTo>
                    <a:pt x="1266068" y="1100710"/>
                  </a:lnTo>
                  <a:lnTo>
                    <a:pt x="1292628" y="1068216"/>
                  </a:lnTo>
                  <a:lnTo>
                    <a:pt x="1327474" y="1041113"/>
                  </a:lnTo>
                  <a:lnTo>
                    <a:pt x="1369258" y="1020453"/>
                  </a:lnTo>
                  <a:lnTo>
                    <a:pt x="1416632" y="1007287"/>
                  </a:lnTo>
                  <a:lnTo>
                    <a:pt x="1468247" y="1002664"/>
                  </a:lnTo>
                  <a:lnTo>
                    <a:pt x="1519814" y="1007287"/>
                  </a:lnTo>
                  <a:lnTo>
                    <a:pt x="1567154" y="1020453"/>
                  </a:lnTo>
                  <a:lnTo>
                    <a:pt x="1608915" y="1041113"/>
                  </a:lnTo>
                  <a:lnTo>
                    <a:pt x="1643748" y="1068216"/>
                  </a:lnTo>
                  <a:lnTo>
                    <a:pt x="1670301" y="1100710"/>
                  </a:lnTo>
                  <a:lnTo>
                    <a:pt x="1687223" y="1137545"/>
                  </a:lnTo>
                  <a:lnTo>
                    <a:pt x="1693164" y="1177670"/>
                  </a:lnTo>
                  <a:lnTo>
                    <a:pt x="1687223" y="1217796"/>
                  </a:lnTo>
                  <a:lnTo>
                    <a:pt x="1670301" y="1254631"/>
                  </a:lnTo>
                  <a:lnTo>
                    <a:pt x="1643748" y="1287125"/>
                  </a:lnTo>
                  <a:lnTo>
                    <a:pt x="1608915" y="1314228"/>
                  </a:lnTo>
                  <a:lnTo>
                    <a:pt x="1567154" y="1334888"/>
                  </a:lnTo>
                  <a:lnTo>
                    <a:pt x="1519814" y="1348054"/>
                  </a:lnTo>
                  <a:lnTo>
                    <a:pt x="1468247" y="1352677"/>
                  </a:lnTo>
                  <a:lnTo>
                    <a:pt x="1416632" y="1348054"/>
                  </a:lnTo>
                  <a:lnTo>
                    <a:pt x="1369258" y="1334888"/>
                  </a:lnTo>
                  <a:lnTo>
                    <a:pt x="1327474" y="1314228"/>
                  </a:lnTo>
                  <a:lnTo>
                    <a:pt x="1292628" y="1287125"/>
                  </a:lnTo>
                  <a:lnTo>
                    <a:pt x="1266068" y="1254631"/>
                  </a:lnTo>
                  <a:lnTo>
                    <a:pt x="1249144" y="1217796"/>
                  </a:lnTo>
                  <a:lnTo>
                    <a:pt x="1243203" y="1177670"/>
                  </a:lnTo>
                </a:path>
                <a:path w="4320540" h="3360420">
                  <a:moveTo>
                    <a:pt x="2627376" y="1177670"/>
                  </a:moveTo>
                  <a:lnTo>
                    <a:pt x="2633316" y="1137545"/>
                  </a:lnTo>
                  <a:lnTo>
                    <a:pt x="2650238" y="1100710"/>
                  </a:lnTo>
                  <a:lnTo>
                    <a:pt x="2676791" y="1068216"/>
                  </a:lnTo>
                  <a:lnTo>
                    <a:pt x="2711624" y="1041113"/>
                  </a:lnTo>
                  <a:lnTo>
                    <a:pt x="2753385" y="1020453"/>
                  </a:lnTo>
                  <a:lnTo>
                    <a:pt x="2800725" y="1007287"/>
                  </a:lnTo>
                  <a:lnTo>
                    <a:pt x="2852293" y="1002664"/>
                  </a:lnTo>
                  <a:lnTo>
                    <a:pt x="2903907" y="1007287"/>
                  </a:lnTo>
                  <a:lnTo>
                    <a:pt x="2951281" y="1020453"/>
                  </a:lnTo>
                  <a:lnTo>
                    <a:pt x="2993065" y="1041113"/>
                  </a:lnTo>
                  <a:lnTo>
                    <a:pt x="3027911" y="1068216"/>
                  </a:lnTo>
                  <a:lnTo>
                    <a:pt x="3054471" y="1100710"/>
                  </a:lnTo>
                  <a:lnTo>
                    <a:pt x="3071395" y="1137545"/>
                  </a:lnTo>
                  <a:lnTo>
                    <a:pt x="3077337" y="1177670"/>
                  </a:lnTo>
                  <a:lnTo>
                    <a:pt x="3071395" y="1217796"/>
                  </a:lnTo>
                  <a:lnTo>
                    <a:pt x="3054471" y="1254631"/>
                  </a:lnTo>
                  <a:lnTo>
                    <a:pt x="3027911" y="1287125"/>
                  </a:lnTo>
                  <a:lnTo>
                    <a:pt x="2993065" y="1314228"/>
                  </a:lnTo>
                  <a:lnTo>
                    <a:pt x="2951281" y="1334888"/>
                  </a:lnTo>
                  <a:lnTo>
                    <a:pt x="2903907" y="1348054"/>
                  </a:lnTo>
                  <a:lnTo>
                    <a:pt x="2852293" y="1352677"/>
                  </a:lnTo>
                  <a:lnTo>
                    <a:pt x="2800725" y="1348054"/>
                  </a:lnTo>
                  <a:lnTo>
                    <a:pt x="2753385" y="1334888"/>
                  </a:lnTo>
                  <a:lnTo>
                    <a:pt x="2711624" y="1314228"/>
                  </a:lnTo>
                  <a:lnTo>
                    <a:pt x="2676791" y="1287125"/>
                  </a:lnTo>
                  <a:lnTo>
                    <a:pt x="2650238" y="1254631"/>
                  </a:lnTo>
                  <a:lnTo>
                    <a:pt x="2633316" y="1217796"/>
                  </a:lnTo>
                  <a:lnTo>
                    <a:pt x="2627376" y="1177670"/>
                  </a:lnTo>
                </a:path>
                <a:path w="4320540" h="3360420">
                  <a:moveTo>
                    <a:pt x="989457" y="2412872"/>
                  </a:moveTo>
                  <a:lnTo>
                    <a:pt x="1036288" y="2437389"/>
                  </a:lnTo>
                  <a:lnTo>
                    <a:pt x="1083117" y="2460904"/>
                  </a:lnTo>
                  <a:lnTo>
                    <a:pt x="1129944" y="2483419"/>
                  </a:lnTo>
                  <a:lnTo>
                    <a:pt x="1176770" y="2504933"/>
                  </a:lnTo>
                  <a:lnTo>
                    <a:pt x="1223592" y="2525447"/>
                  </a:lnTo>
                  <a:lnTo>
                    <a:pt x="1270413" y="2544959"/>
                  </a:lnTo>
                  <a:lnTo>
                    <a:pt x="1317232" y="2563472"/>
                  </a:lnTo>
                  <a:lnTo>
                    <a:pt x="1364048" y="2580983"/>
                  </a:lnTo>
                  <a:lnTo>
                    <a:pt x="1410863" y="2597494"/>
                  </a:lnTo>
                  <a:lnTo>
                    <a:pt x="1457675" y="2613004"/>
                  </a:lnTo>
                  <a:lnTo>
                    <a:pt x="1504485" y="2627514"/>
                  </a:lnTo>
                  <a:lnTo>
                    <a:pt x="1551293" y="2641023"/>
                  </a:lnTo>
                  <a:lnTo>
                    <a:pt x="1598099" y="2653531"/>
                  </a:lnTo>
                  <a:lnTo>
                    <a:pt x="1644903" y="2665038"/>
                  </a:lnTo>
                  <a:lnTo>
                    <a:pt x="1691704" y="2675545"/>
                  </a:lnTo>
                  <a:lnTo>
                    <a:pt x="1738504" y="2685052"/>
                  </a:lnTo>
                  <a:lnTo>
                    <a:pt x="1785301" y="2693557"/>
                  </a:lnTo>
                  <a:lnTo>
                    <a:pt x="1832096" y="2701062"/>
                  </a:lnTo>
                  <a:lnTo>
                    <a:pt x="1878889" y="2707566"/>
                  </a:lnTo>
                  <a:lnTo>
                    <a:pt x="1925680" y="2713070"/>
                  </a:lnTo>
                  <a:lnTo>
                    <a:pt x="1972469" y="2717573"/>
                  </a:lnTo>
                  <a:lnTo>
                    <a:pt x="2019256" y="2721075"/>
                  </a:lnTo>
                  <a:lnTo>
                    <a:pt x="2066040" y="2723577"/>
                  </a:lnTo>
                  <a:lnTo>
                    <a:pt x="2112823" y="2725078"/>
                  </a:lnTo>
                  <a:lnTo>
                    <a:pt x="2159603" y="2725578"/>
                  </a:lnTo>
                  <a:lnTo>
                    <a:pt x="2206381" y="2725078"/>
                  </a:lnTo>
                  <a:lnTo>
                    <a:pt x="2253157" y="2723577"/>
                  </a:lnTo>
                  <a:lnTo>
                    <a:pt x="2299931" y="2721075"/>
                  </a:lnTo>
                  <a:lnTo>
                    <a:pt x="2346702" y="2717573"/>
                  </a:lnTo>
                  <a:lnTo>
                    <a:pt x="2393472" y="2713070"/>
                  </a:lnTo>
                  <a:lnTo>
                    <a:pt x="2440239" y="2707566"/>
                  </a:lnTo>
                  <a:lnTo>
                    <a:pt x="2487005" y="2701062"/>
                  </a:lnTo>
                  <a:lnTo>
                    <a:pt x="2533768" y="2693557"/>
                  </a:lnTo>
                  <a:lnTo>
                    <a:pt x="2580529" y="2685052"/>
                  </a:lnTo>
                  <a:lnTo>
                    <a:pt x="2627288" y="2675545"/>
                  </a:lnTo>
                  <a:lnTo>
                    <a:pt x="2674045" y="2665038"/>
                  </a:lnTo>
                  <a:lnTo>
                    <a:pt x="2720799" y="2653531"/>
                  </a:lnTo>
                  <a:lnTo>
                    <a:pt x="2767552" y="2641023"/>
                  </a:lnTo>
                  <a:lnTo>
                    <a:pt x="2814302" y="2627514"/>
                  </a:lnTo>
                  <a:lnTo>
                    <a:pt x="2861050" y="2613004"/>
                  </a:lnTo>
                  <a:lnTo>
                    <a:pt x="2907797" y="2597494"/>
                  </a:lnTo>
                  <a:lnTo>
                    <a:pt x="2954541" y="2580983"/>
                  </a:lnTo>
                  <a:lnTo>
                    <a:pt x="3001282" y="2563472"/>
                  </a:lnTo>
                  <a:lnTo>
                    <a:pt x="3048022" y="2544959"/>
                  </a:lnTo>
                  <a:lnTo>
                    <a:pt x="3094760" y="2525447"/>
                  </a:lnTo>
                  <a:lnTo>
                    <a:pt x="3141495" y="2504933"/>
                  </a:lnTo>
                  <a:lnTo>
                    <a:pt x="3188228" y="2483419"/>
                  </a:lnTo>
                  <a:lnTo>
                    <a:pt x="3234960" y="2460904"/>
                  </a:lnTo>
                  <a:lnTo>
                    <a:pt x="3281689" y="2437389"/>
                  </a:lnTo>
                  <a:lnTo>
                    <a:pt x="3328416" y="2412872"/>
                  </a:lnTo>
                </a:path>
                <a:path w="4320540" h="3360420">
                  <a:moveTo>
                    <a:pt x="0" y="1680082"/>
                  </a:moveTo>
                  <a:lnTo>
                    <a:pt x="663" y="1638030"/>
                  </a:lnTo>
                  <a:lnTo>
                    <a:pt x="2643" y="1596231"/>
                  </a:lnTo>
                  <a:lnTo>
                    <a:pt x="5925" y="1554699"/>
                  </a:lnTo>
                  <a:lnTo>
                    <a:pt x="10493" y="1513444"/>
                  </a:lnTo>
                  <a:lnTo>
                    <a:pt x="16331" y="1472480"/>
                  </a:lnTo>
                  <a:lnTo>
                    <a:pt x="23423" y="1431817"/>
                  </a:lnTo>
                  <a:lnTo>
                    <a:pt x="31756" y="1391469"/>
                  </a:lnTo>
                  <a:lnTo>
                    <a:pt x="41312" y="1351447"/>
                  </a:lnTo>
                  <a:lnTo>
                    <a:pt x="52077" y="1311763"/>
                  </a:lnTo>
                  <a:lnTo>
                    <a:pt x="64034" y="1272429"/>
                  </a:lnTo>
                  <a:lnTo>
                    <a:pt x="77170" y="1233458"/>
                  </a:lnTo>
                  <a:lnTo>
                    <a:pt x="91467" y="1194860"/>
                  </a:lnTo>
                  <a:lnTo>
                    <a:pt x="106911" y="1156650"/>
                  </a:lnTo>
                  <a:lnTo>
                    <a:pt x="123486" y="1118837"/>
                  </a:lnTo>
                  <a:lnTo>
                    <a:pt x="141177" y="1081435"/>
                  </a:lnTo>
                  <a:lnTo>
                    <a:pt x="159968" y="1044455"/>
                  </a:lnTo>
                  <a:lnTo>
                    <a:pt x="179843" y="1007910"/>
                  </a:lnTo>
                  <a:lnTo>
                    <a:pt x="200788" y="971812"/>
                  </a:lnTo>
                  <a:lnTo>
                    <a:pt x="222786" y="936171"/>
                  </a:lnTo>
                  <a:lnTo>
                    <a:pt x="245823" y="901002"/>
                  </a:lnTo>
                  <a:lnTo>
                    <a:pt x="269883" y="866315"/>
                  </a:lnTo>
                  <a:lnTo>
                    <a:pt x="294950" y="832122"/>
                  </a:lnTo>
                  <a:lnTo>
                    <a:pt x="321009" y="798437"/>
                  </a:lnTo>
                  <a:lnTo>
                    <a:pt x="348044" y="765270"/>
                  </a:lnTo>
                  <a:lnTo>
                    <a:pt x="376040" y="732633"/>
                  </a:lnTo>
                  <a:lnTo>
                    <a:pt x="404982" y="700540"/>
                  </a:lnTo>
                  <a:lnTo>
                    <a:pt x="434853" y="669001"/>
                  </a:lnTo>
                  <a:lnTo>
                    <a:pt x="465639" y="638029"/>
                  </a:lnTo>
                  <a:lnTo>
                    <a:pt x="497324" y="607636"/>
                  </a:lnTo>
                  <a:lnTo>
                    <a:pt x="529893" y="577834"/>
                  </a:lnTo>
                  <a:lnTo>
                    <a:pt x="563330" y="548634"/>
                  </a:lnTo>
                  <a:lnTo>
                    <a:pt x="597619" y="520050"/>
                  </a:lnTo>
                  <a:lnTo>
                    <a:pt x="632745" y="492093"/>
                  </a:lnTo>
                  <a:lnTo>
                    <a:pt x="668693" y="464774"/>
                  </a:lnTo>
                  <a:lnTo>
                    <a:pt x="705448" y="438107"/>
                  </a:lnTo>
                  <a:lnTo>
                    <a:pt x="742992" y="412103"/>
                  </a:lnTo>
                  <a:lnTo>
                    <a:pt x="781313" y="386774"/>
                  </a:lnTo>
                  <a:lnTo>
                    <a:pt x="820393" y="362132"/>
                  </a:lnTo>
                  <a:lnTo>
                    <a:pt x="860217" y="338189"/>
                  </a:lnTo>
                  <a:lnTo>
                    <a:pt x="900770" y="314958"/>
                  </a:lnTo>
                  <a:lnTo>
                    <a:pt x="942036" y="292450"/>
                  </a:lnTo>
                  <a:lnTo>
                    <a:pt x="984000" y="270677"/>
                  </a:lnTo>
                  <a:lnTo>
                    <a:pt x="1026647" y="249651"/>
                  </a:lnTo>
                  <a:lnTo>
                    <a:pt x="1069960" y="229385"/>
                  </a:lnTo>
                  <a:lnTo>
                    <a:pt x="1113925" y="209890"/>
                  </a:lnTo>
                  <a:lnTo>
                    <a:pt x="1158526" y="191179"/>
                  </a:lnTo>
                  <a:lnTo>
                    <a:pt x="1203748" y="173263"/>
                  </a:lnTo>
                  <a:lnTo>
                    <a:pt x="1249574" y="156154"/>
                  </a:lnTo>
                  <a:lnTo>
                    <a:pt x="1295990" y="139865"/>
                  </a:lnTo>
                  <a:lnTo>
                    <a:pt x="1342980" y="124408"/>
                  </a:lnTo>
                  <a:lnTo>
                    <a:pt x="1390529" y="109794"/>
                  </a:lnTo>
                  <a:lnTo>
                    <a:pt x="1438621" y="96036"/>
                  </a:lnTo>
                  <a:lnTo>
                    <a:pt x="1487240" y="83145"/>
                  </a:lnTo>
                  <a:lnTo>
                    <a:pt x="1536372" y="71134"/>
                  </a:lnTo>
                  <a:lnTo>
                    <a:pt x="1586000" y="60015"/>
                  </a:lnTo>
                  <a:lnTo>
                    <a:pt x="1636110" y="49800"/>
                  </a:lnTo>
                  <a:lnTo>
                    <a:pt x="1686685" y="40500"/>
                  </a:lnTo>
                  <a:lnTo>
                    <a:pt x="1737711" y="32128"/>
                  </a:lnTo>
                  <a:lnTo>
                    <a:pt x="1789171" y="24696"/>
                  </a:lnTo>
                  <a:lnTo>
                    <a:pt x="1841051" y="18216"/>
                  </a:lnTo>
                  <a:lnTo>
                    <a:pt x="1893335" y="12700"/>
                  </a:lnTo>
                  <a:lnTo>
                    <a:pt x="1946007" y="8160"/>
                  </a:lnTo>
                  <a:lnTo>
                    <a:pt x="1999052" y="4608"/>
                  </a:lnTo>
                  <a:lnTo>
                    <a:pt x="2052454" y="2056"/>
                  </a:lnTo>
                  <a:lnTo>
                    <a:pt x="2106199" y="516"/>
                  </a:lnTo>
                  <a:lnTo>
                    <a:pt x="2160270" y="0"/>
                  </a:lnTo>
                  <a:lnTo>
                    <a:pt x="2214340" y="516"/>
                  </a:lnTo>
                  <a:lnTo>
                    <a:pt x="2268085" y="2056"/>
                  </a:lnTo>
                  <a:lnTo>
                    <a:pt x="2321487" y="4608"/>
                  </a:lnTo>
                  <a:lnTo>
                    <a:pt x="2374532" y="8160"/>
                  </a:lnTo>
                  <a:lnTo>
                    <a:pt x="2427204" y="12700"/>
                  </a:lnTo>
                  <a:lnTo>
                    <a:pt x="2479488" y="18216"/>
                  </a:lnTo>
                  <a:lnTo>
                    <a:pt x="2531368" y="24696"/>
                  </a:lnTo>
                  <a:lnTo>
                    <a:pt x="2582828" y="32128"/>
                  </a:lnTo>
                  <a:lnTo>
                    <a:pt x="2633854" y="40500"/>
                  </a:lnTo>
                  <a:lnTo>
                    <a:pt x="2684429" y="49800"/>
                  </a:lnTo>
                  <a:lnTo>
                    <a:pt x="2734539" y="60015"/>
                  </a:lnTo>
                  <a:lnTo>
                    <a:pt x="2784167" y="71134"/>
                  </a:lnTo>
                  <a:lnTo>
                    <a:pt x="2833299" y="83145"/>
                  </a:lnTo>
                  <a:lnTo>
                    <a:pt x="2881918" y="96036"/>
                  </a:lnTo>
                  <a:lnTo>
                    <a:pt x="2930010" y="109794"/>
                  </a:lnTo>
                  <a:lnTo>
                    <a:pt x="2977559" y="124408"/>
                  </a:lnTo>
                  <a:lnTo>
                    <a:pt x="3024549" y="139865"/>
                  </a:lnTo>
                  <a:lnTo>
                    <a:pt x="3070965" y="156154"/>
                  </a:lnTo>
                  <a:lnTo>
                    <a:pt x="3116791" y="173263"/>
                  </a:lnTo>
                  <a:lnTo>
                    <a:pt x="3162013" y="191179"/>
                  </a:lnTo>
                  <a:lnTo>
                    <a:pt x="3206614" y="209890"/>
                  </a:lnTo>
                  <a:lnTo>
                    <a:pt x="3250579" y="229385"/>
                  </a:lnTo>
                  <a:lnTo>
                    <a:pt x="3293892" y="249651"/>
                  </a:lnTo>
                  <a:lnTo>
                    <a:pt x="3336539" y="270677"/>
                  </a:lnTo>
                  <a:lnTo>
                    <a:pt x="3378503" y="292450"/>
                  </a:lnTo>
                  <a:lnTo>
                    <a:pt x="3419769" y="314958"/>
                  </a:lnTo>
                  <a:lnTo>
                    <a:pt x="3460322" y="338189"/>
                  </a:lnTo>
                  <a:lnTo>
                    <a:pt x="3500146" y="362132"/>
                  </a:lnTo>
                  <a:lnTo>
                    <a:pt x="3539226" y="386774"/>
                  </a:lnTo>
                  <a:lnTo>
                    <a:pt x="3577547" y="412103"/>
                  </a:lnTo>
                  <a:lnTo>
                    <a:pt x="3615091" y="438107"/>
                  </a:lnTo>
                  <a:lnTo>
                    <a:pt x="3651846" y="464774"/>
                  </a:lnTo>
                  <a:lnTo>
                    <a:pt x="3687794" y="492093"/>
                  </a:lnTo>
                  <a:lnTo>
                    <a:pt x="3722920" y="520050"/>
                  </a:lnTo>
                  <a:lnTo>
                    <a:pt x="3757209" y="548634"/>
                  </a:lnTo>
                  <a:lnTo>
                    <a:pt x="3790646" y="577834"/>
                  </a:lnTo>
                  <a:lnTo>
                    <a:pt x="3823215" y="607636"/>
                  </a:lnTo>
                  <a:lnTo>
                    <a:pt x="3854900" y="638029"/>
                  </a:lnTo>
                  <a:lnTo>
                    <a:pt x="3885686" y="669001"/>
                  </a:lnTo>
                  <a:lnTo>
                    <a:pt x="3915557" y="700540"/>
                  </a:lnTo>
                  <a:lnTo>
                    <a:pt x="3944499" y="732633"/>
                  </a:lnTo>
                  <a:lnTo>
                    <a:pt x="3972495" y="765270"/>
                  </a:lnTo>
                  <a:lnTo>
                    <a:pt x="3999530" y="798437"/>
                  </a:lnTo>
                  <a:lnTo>
                    <a:pt x="4025589" y="832122"/>
                  </a:lnTo>
                  <a:lnTo>
                    <a:pt x="4050656" y="866315"/>
                  </a:lnTo>
                  <a:lnTo>
                    <a:pt x="4074716" y="901002"/>
                  </a:lnTo>
                  <a:lnTo>
                    <a:pt x="4097753" y="936171"/>
                  </a:lnTo>
                  <a:lnTo>
                    <a:pt x="4119751" y="971812"/>
                  </a:lnTo>
                  <a:lnTo>
                    <a:pt x="4140696" y="1007910"/>
                  </a:lnTo>
                  <a:lnTo>
                    <a:pt x="4160571" y="1044455"/>
                  </a:lnTo>
                  <a:lnTo>
                    <a:pt x="4179362" y="1081435"/>
                  </a:lnTo>
                  <a:lnTo>
                    <a:pt x="4197053" y="1118837"/>
                  </a:lnTo>
                  <a:lnTo>
                    <a:pt x="4213628" y="1156650"/>
                  </a:lnTo>
                  <a:lnTo>
                    <a:pt x="4229072" y="1194860"/>
                  </a:lnTo>
                  <a:lnTo>
                    <a:pt x="4243369" y="1233458"/>
                  </a:lnTo>
                  <a:lnTo>
                    <a:pt x="4256505" y="1272429"/>
                  </a:lnTo>
                  <a:lnTo>
                    <a:pt x="4268462" y="1311763"/>
                  </a:lnTo>
                  <a:lnTo>
                    <a:pt x="4279227" y="1351447"/>
                  </a:lnTo>
                  <a:lnTo>
                    <a:pt x="4288783" y="1391469"/>
                  </a:lnTo>
                  <a:lnTo>
                    <a:pt x="4297116" y="1431817"/>
                  </a:lnTo>
                  <a:lnTo>
                    <a:pt x="4304208" y="1472480"/>
                  </a:lnTo>
                  <a:lnTo>
                    <a:pt x="4310046" y="1513444"/>
                  </a:lnTo>
                  <a:lnTo>
                    <a:pt x="4314614" y="1554699"/>
                  </a:lnTo>
                  <a:lnTo>
                    <a:pt x="4317896" y="1596231"/>
                  </a:lnTo>
                  <a:lnTo>
                    <a:pt x="4319876" y="1638030"/>
                  </a:lnTo>
                  <a:lnTo>
                    <a:pt x="4320540" y="1680082"/>
                  </a:lnTo>
                  <a:lnTo>
                    <a:pt x="4319876" y="1722141"/>
                  </a:lnTo>
                  <a:lnTo>
                    <a:pt x="4317896" y="1763945"/>
                  </a:lnTo>
                  <a:lnTo>
                    <a:pt x="4314614" y="1805483"/>
                  </a:lnTo>
                  <a:lnTo>
                    <a:pt x="4310046" y="1846743"/>
                  </a:lnTo>
                  <a:lnTo>
                    <a:pt x="4304208" y="1887712"/>
                  </a:lnTo>
                  <a:lnTo>
                    <a:pt x="4297116" y="1928379"/>
                  </a:lnTo>
                  <a:lnTo>
                    <a:pt x="4288783" y="1968732"/>
                  </a:lnTo>
                  <a:lnTo>
                    <a:pt x="4279227" y="2008759"/>
                  </a:lnTo>
                  <a:lnTo>
                    <a:pt x="4268462" y="2048447"/>
                  </a:lnTo>
                  <a:lnTo>
                    <a:pt x="4256505" y="2087785"/>
                  </a:lnTo>
                  <a:lnTo>
                    <a:pt x="4243369" y="2126761"/>
                  </a:lnTo>
                  <a:lnTo>
                    <a:pt x="4229072" y="2165362"/>
                  </a:lnTo>
                  <a:lnTo>
                    <a:pt x="4213628" y="2203577"/>
                  </a:lnTo>
                  <a:lnTo>
                    <a:pt x="4197053" y="2241393"/>
                  </a:lnTo>
                  <a:lnTo>
                    <a:pt x="4179362" y="2278798"/>
                  </a:lnTo>
                  <a:lnTo>
                    <a:pt x="4160571" y="2315781"/>
                  </a:lnTo>
                  <a:lnTo>
                    <a:pt x="4140696" y="2352330"/>
                  </a:lnTo>
                  <a:lnTo>
                    <a:pt x="4119751" y="2388432"/>
                  </a:lnTo>
                  <a:lnTo>
                    <a:pt x="4097753" y="2424075"/>
                  </a:lnTo>
                  <a:lnTo>
                    <a:pt x="4074716" y="2459247"/>
                  </a:lnTo>
                  <a:lnTo>
                    <a:pt x="4050656" y="2493937"/>
                  </a:lnTo>
                  <a:lnTo>
                    <a:pt x="4025589" y="2528132"/>
                  </a:lnTo>
                  <a:lnTo>
                    <a:pt x="3999530" y="2561820"/>
                  </a:lnTo>
                  <a:lnTo>
                    <a:pt x="3972495" y="2594990"/>
                  </a:lnTo>
                  <a:lnTo>
                    <a:pt x="3944499" y="2627628"/>
                  </a:lnTo>
                  <a:lnTo>
                    <a:pt x="3915557" y="2659724"/>
                  </a:lnTo>
                  <a:lnTo>
                    <a:pt x="3885686" y="2691265"/>
                  </a:lnTo>
                  <a:lnTo>
                    <a:pt x="3854900" y="2722239"/>
                  </a:lnTo>
                  <a:lnTo>
                    <a:pt x="3823215" y="2752634"/>
                  </a:lnTo>
                  <a:lnTo>
                    <a:pt x="3790646" y="2782438"/>
                  </a:lnTo>
                  <a:lnTo>
                    <a:pt x="3757209" y="2811639"/>
                  </a:lnTo>
                  <a:lnTo>
                    <a:pt x="3722920" y="2840225"/>
                  </a:lnTo>
                  <a:lnTo>
                    <a:pt x="3687794" y="2868183"/>
                  </a:lnTo>
                  <a:lnTo>
                    <a:pt x="3651846" y="2895503"/>
                  </a:lnTo>
                  <a:lnTo>
                    <a:pt x="3615091" y="2922172"/>
                  </a:lnTo>
                  <a:lnTo>
                    <a:pt x="3577547" y="2948177"/>
                  </a:lnTo>
                  <a:lnTo>
                    <a:pt x="3539226" y="2973507"/>
                  </a:lnTo>
                  <a:lnTo>
                    <a:pt x="3500146" y="2998150"/>
                  </a:lnTo>
                  <a:lnTo>
                    <a:pt x="3460322" y="3022094"/>
                  </a:lnTo>
                  <a:lnTo>
                    <a:pt x="3419769" y="3045326"/>
                  </a:lnTo>
                  <a:lnTo>
                    <a:pt x="3378503" y="3067835"/>
                  </a:lnTo>
                  <a:lnTo>
                    <a:pt x="3336539" y="3089609"/>
                  </a:lnTo>
                  <a:lnTo>
                    <a:pt x="3293892" y="3110635"/>
                  </a:lnTo>
                  <a:lnTo>
                    <a:pt x="3250579" y="3130902"/>
                  </a:lnTo>
                  <a:lnTo>
                    <a:pt x="3206614" y="3150398"/>
                  </a:lnTo>
                  <a:lnTo>
                    <a:pt x="3162013" y="3169110"/>
                  </a:lnTo>
                  <a:lnTo>
                    <a:pt x="3116791" y="3187026"/>
                  </a:lnTo>
                  <a:lnTo>
                    <a:pt x="3070965" y="3204135"/>
                  </a:lnTo>
                  <a:lnTo>
                    <a:pt x="3024549" y="3220425"/>
                  </a:lnTo>
                  <a:lnTo>
                    <a:pt x="2977559" y="3235882"/>
                  </a:lnTo>
                  <a:lnTo>
                    <a:pt x="2930010" y="3250496"/>
                  </a:lnTo>
                  <a:lnTo>
                    <a:pt x="2881918" y="3264255"/>
                  </a:lnTo>
                  <a:lnTo>
                    <a:pt x="2833299" y="3277146"/>
                  </a:lnTo>
                  <a:lnTo>
                    <a:pt x="2784167" y="3289157"/>
                  </a:lnTo>
                  <a:lnTo>
                    <a:pt x="2734539" y="3300276"/>
                  </a:lnTo>
                  <a:lnTo>
                    <a:pt x="2684429" y="3310492"/>
                  </a:lnTo>
                  <a:lnTo>
                    <a:pt x="2633854" y="3319791"/>
                  </a:lnTo>
                  <a:lnTo>
                    <a:pt x="2582828" y="3328163"/>
                  </a:lnTo>
                  <a:lnTo>
                    <a:pt x="2531368" y="3335595"/>
                  </a:lnTo>
                  <a:lnTo>
                    <a:pt x="2479488" y="3342075"/>
                  </a:lnTo>
                  <a:lnTo>
                    <a:pt x="2427204" y="3347592"/>
                  </a:lnTo>
                  <a:lnTo>
                    <a:pt x="2374532" y="3352132"/>
                  </a:lnTo>
                  <a:lnTo>
                    <a:pt x="2321487" y="3355684"/>
                  </a:lnTo>
                  <a:lnTo>
                    <a:pt x="2268085" y="3358236"/>
                  </a:lnTo>
                  <a:lnTo>
                    <a:pt x="2214340" y="3359776"/>
                  </a:lnTo>
                  <a:lnTo>
                    <a:pt x="2160270" y="3360292"/>
                  </a:lnTo>
                  <a:lnTo>
                    <a:pt x="2106199" y="3359776"/>
                  </a:lnTo>
                  <a:lnTo>
                    <a:pt x="2052454" y="3358236"/>
                  </a:lnTo>
                  <a:lnTo>
                    <a:pt x="1999052" y="3355684"/>
                  </a:lnTo>
                  <a:lnTo>
                    <a:pt x="1946007" y="3352132"/>
                  </a:lnTo>
                  <a:lnTo>
                    <a:pt x="1893335" y="3347592"/>
                  </a:lnTo>
                  <a:lnTo>
                    <a:pt x="1841051" y="3342075"/>
                  </a:lnTo>
                  <a:lnTo>
                    <a:pt x="1789171" y="3335595"/>
                  </a:lnTo>
                  <a:lnTo>
                    <a:pt x="1737711" y="3328163"/>
                  </a:lnTo>
                  <a:lnTo>
                    <a:pt x="1686685" y="3319791"/>
                  </a:lnTo>
                  <a:lnTo>
                    <a:pt x="1636110" y="3310492"/>
                  </a:lnTo>
                  <a:lnTo>
                    <a:pt x="1586000" y="3300276"/>
                  </a:lnTo>
                  <a:lnTo>
                    <a:pt x="1536372" y="3289157"/>
                  </a:lnTo>
                  <a:lnTo>
                    <a:pt x="1487240" y="3277146"/>
                  </a:lnTo>
                  <a:lnTo>
                    <a:pt x="1438621" y="3264255"/>
                  </a:lnTo>
                  <a:lnTo>
                    <a:pt x="1390529" y="3250496"/>
                  </a:lnTo>
                  <a:lnTo>
                    <a:pt x="1342980" y="3235882"/>
                  </a:lnTo>
                  <a:lnTo>
                    <a:pt x="1295990" y="3220425"/>
                  </a:lnTo>
                  <a:lnTo>
                    <a:pt x="1249574" y="3204135"/>
                  </a:lnTo>
                  <a:lnTo>
                    <a:pt x="1203748" y="3187026"/>
                  </a:lnTo>
                  <a:lnTo>
                    <a:pt x="1158526" y="3169110"/>
                  </a:lnTo>
                  <a:lnTo>
                    <a:pt x="1113925" y="3150398"/>
                  </a:lnTo>
                  <a:lnTo>
                    <a:pt x="1069960" y="3130902"/>
                  </a:lnTo>
                  <a:lnTo>
                    <a:pt x="1026647" y="3110635"/>
                  </a:lnTo>
                  <a:lnTo>
                    <a:pt x="984000" y="3089609"/>
                  </a:lnTo>
                  <a:lnTo>
                    <a:pt x="942036" y="3067835"/>
                  </a:lnTo>
                  <a:lnTo>
                    <a:pt x="900770" y="3045326"/>
                  </a:lnTo>
                  <a:lnTo>
                    <a:pt x="860217" y="3022094"/>
                  </a:lnTo>
                  <a:lnTo>
                    <a:pt x="820393" y="2998150"/>
                  </a:lnTo>
                  <a:lnTo>
                    <a:pt x="781313" y="2973507"/>
                  </a:lnTo>
                  <a:lnTo>
                    <a:pt x="742992" y="2948177"/>
                  </a:lnTo>
                  <a:lnTo>
                    <a:pt x="705448" y="2922172"/>
                  </a:lnTo>
                  <a:lnTo>
                    <a:pt x="668693" y="2895503"/>
                  </a:lnTo>
                  <a:lnTo>
                    <a:pt x="632745" y="2868183"/>
                  </a:lnTo>
                  <a:lnTo>
                    <a:pt x="597619" y="2840225"/>
                  </a:lnTo>
                  <a:lnTo>
                    <a:pt x="563330" y="2811639"/>
                  </a:lnTo>
                  <a:lnTo>
                    <a:pt x="529893" y="2782438"/>
                  </a:lnTo>
                  <a:lnTo>
                    <a:pt x="497324" y="2752634"/>
                  </a:lnTo>
                  <a:lnTo>
                    <a:pt x="465639" y="2722239"/>
                  </a:lnTo>
                  <a:lnTo>
                    <a:pt x="434853" y="2691265"/>
                  </a:lnTo>
                  <a:lnTo>
                    <a:pt x="404982" y="2659724"/>
                  </a:lnTo>
                  <a:lnTo>
                    <a:pt x="376040" y="2627628"/>
                  </a:lnTo>
                  <a:lnTo>
                    <a:pt x="348044" y="2594990"/>
                  </a:lnTo>
                  <a:lnTo>
                    <a:pt x="321009" y="2561820"/>
                  </a:lnTo>
                  <a:lnTo>
                    <a:pt x="294950" y="2528132"/>
                  </a:lnTo>
                  <a:lnTo>
                    <a:pt x="269883" y="2493937"/>
                  </a:lnTo>
                  <a:lnTo>
                    <a:pt x="245823" y="2459247"/>
                  </a:lnTo>
                  <a:lnTo>
                    <a:pt x="222786" y="2424075"/>
                  </a:lnTo>
                  <a:lnTo>
                    <a:pt x="200788" y="2388432"/>
                  </a:lnTo>
                  <a:lnTo>
                    <a:pt x="179843" y="2352330"/>
                  </a:lnTo>
                  <a:lnTo>
                    <a:pt x="159968" y="2315781"/>
                  </a:lnTo>
                  <a:lnTo>
                    <a:pt x="141177" y="2278798"/>
                  </a:lnTo>
                  <a:lnTo>
                    <a:pt x="123486" y="2241393"/>
                  </a:lnTo>
                  <a:lnTo>
                    <a:pt x="106911" y="2203577"/>
                  </a:lnTo>
                  <a:lnTo>
                    <a:pt x="91467" y="2165362"/>
                  </a:lnTo>
                  <a:lnTo>
                    <a:pt x="77170" y="2126761"/>
                  </a:lnTo>
                  <a:lnTo>
                    <a:pt x="64034" y="2087785"/>
                  </a:lnTo>
                  <a:lnTo>
                    <a:pt x="52077" y="2048447"/>
                  </a:lnTo>
                  <a:lnTo>
                    <a:pt x="41312" y="2008759"/>
                  </a:lnTo>
                  <a:lnTo>
                    <a:pt x="31756" y="1968732"/>
                  </a:lnTo>
                  <a:lnTo>
                    <a:pt x="23423" y="1928379"/>
                  </a:lnTo>
                  <a:lnTo>
                    <a:pt x="16331" y="1887712"/>
                  </a:lnTo>
                  <a:lnTo>
                    <a:pt x="10493" y="1846743"/>
                  </a:lnTo>
                  <a:lnTo>
                    <a:pt x="5925" y="1805483"/>
                  </a:lnTo>
                  <a:lnTo>
                    <a:pt x="2643" y="1763945"/>
                  </a:lnTo>
                  <a:lnTo>
                    <a:pt x="663" y="1722141"/>
                  </a:lnTo>
                  <a:lnTo>
                    <a:pt x="0" y="1680082"/>
                  </a:lnTo>
                  <a:close/>
                </a:path>
              </a:pathLst>
            </a:custGeom>
            <a:ln w="9525">
              <a:solidFill>
                <a:srgbClr val="CCB4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568197"/>
            <a:ext cx="10562590" cy="147891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>
              <a:lnSpc>
                <a:spcPct val="98900"/>
              </a:lnSpc>
              <a:spcBef>
                <a:spcPts val="145"/>
              </a:spcBef>
            </a:pPr>
            <a:r>
              <a:rPr sz="3200" dirty="0">
                <a:latin typeface="Times New Roman"/>
                <a:cs typeface="Times New Roman"/>
              </a:rPr>
              <a:t>Monsieur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R,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âgé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27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ans,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consulte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pour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une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tuméfaction </a:t>
            </a:r>
            <a:r>
              <a:rPr sz="3200" dirty="0">
                <a:latin typeface="Times New Roman"/>
                <a:cs typeface="Times New Roman"/>
              </a:rPr>
              <a:t>douloureuse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fébrile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2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genoux,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la cheville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droite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et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poignet </a:t>
            </a:r>
            <a:r>
              <a:rPr sz="3200" dirty="0">
                <a:latin typeface="Times New Roman"/>
                <a:cs typeface="Times New Roman"/>
              </a:rPr>
              <a:t>gauche.</a:t>
            </a:r>
            <a:r>
              <a:rPr sz="3200" spc="-140" dirty="0">
                <a:latin typeface="Times New Roman"/>
                <a:cs typeface="Times New Roman"/>
              </a:rPr>
              <a:t> </a:t>
            </a:r>
            <a:r>
              <a:rPr sz="3200" spc="-80" dirty="0">
                <a:latin typeface="Times New Roman"/>
                <a:cs typeface="Times New Roman"/>
              </a:rPr>
              <a:t>Vous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suspectez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une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arthrite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septique.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19458"/>
            <a:ext cx="10699115" cy="4770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9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Quel(s)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examen(s)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complémentaire(s)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demandez-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vous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premier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lieu aux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urgences?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6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ponction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du poignet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gauche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Une</a:t>
            </a: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hémoculture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IDR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à la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tuberculine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340"/>
              </a:spcBef>
              <a:buAutoNum type="alphaUcPeriod"/>
              <a:tabLst>
                <a:tab pos="46926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</a:t>
            </a:r>
            <a:r>
              <a:rPr sz="3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dosage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facteur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rhumatoide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65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recherche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génotype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HLA</a:t>
            </a:r>
            <a:r>
              <a:rPr sz="3200" spc="-1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B27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19458"/>
            <a:ext cx="10661650" cy="4770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9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Le(s)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germe(s)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pouvant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être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responsable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cette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arthrite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septique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(sont):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6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Staphylococcus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aureus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méti-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Staphylococcus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aureus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méti-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Streptococcus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340"/>
              </a:spcBef>
              <a:buAutoNum type="alphaUcPeriod"/>
              <a:tabLst>
                <a:tab pos="469265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Nisseria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 gonorrohoeae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65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Chlamydia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trachomatis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19458"/>
            <a:ext cx="10337165" cy="533146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Quel(s)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élément(s)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anamnestique(s)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permet(tent)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réconforter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l’hypothèse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d’une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arthrite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septique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gonococcique?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645"/>
              </a:spcBef>
              <a:buAutoNum type="alphaUcPeriod"/>
              <a:tabLst>
                <a:tab pos="468630" algn="l"/>
              </a:tabLst>
            </a:pP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L’évolution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des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symptômes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depuis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jours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La</a:t>
            </a:r>
            <a:r>
              <a:rPr sz="3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notion</a:t>
            </a:r>
            <a:r>
              <a:rPr sz="3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lésions</a:t>
            </a:r>
            <a:r>
              <a:rPr sz="3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dermatologiques</a:t>
            </a:r>
            <a:r>
              <a:rPr sz="3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récentes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La notion</a:t>
            </a:r>
            <a:r>
              <a:rPr sz="3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d’écoulement</a:t>
            </a:r>
            <a:r>
              <a:rPr sz="32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uréthral</a:t>
            </a:r>
            <a:r>
              <a:rPr sz="3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il y a</a:t>
            </a:r>
            <a:r>
              <a:rPr sz="32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3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semaines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9900" marR="127000" indent="-457200">
              <a:lnSpc>
                <a:spcPct val="115100"/>
              </a:lnSpc>
              <a:spcBef>
                <a:spcPts val="765"/>
              </a:spcBef>
              <a:buAutoNum type="alphaUcPeriod"/>
              <a:tabLst>
                <a:tab pos="46990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 notion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2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traumatisme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fermé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poignet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gauche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il</a:t>
            </a:r>
            <a:r>
              <a:rPr sz="3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3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10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jours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65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La</a:t>
            </a:r>
            <a:r>
              <a:rPr sz="3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notion</a:t>
            </a:r>
            <a:r>
              <a:rPr sz="32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sz="3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rapports</a:t>
            </a:r>
            <a:r>
              <a:rPr sz="32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sexuels</a:t>
            </a:r>
            <a:r>
              <a:rPr sz="3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avec</a:t>
            </a:r>
            <a:r>
              <a:rPr sz="3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partenaires</a:t>
            </a:r>
            <a:r>
              <a:rPr sz="32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multiples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87723" y="1609344"/>
            <a:ext cx="4411980" cy="3450590"/>
            <a:chOff x="3887723" y="1609344"/>
            <a:chExt cx="4411980" cy="34505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7723" y="1609344"/>
              <a:ext cx="4411980" cy="345033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5729" y="1636522"/>
              <a:ext cx="4320540" cy="33602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935729" y="1636522"/>
              <a:ext cx="4320540" cy="3360420"/>
            </a:xfrm>
            <a:custGeom>
              <a:avLst/>
              <a:gdLst/>
              <a:ahLst/>
              <a:cxnLst/>
              <a:rect l="l" t="t" r="r" b="b"/>
              <a:pathLst>
                <a:path w="4320540" h="3360420">
                  <a:moveTo>
                    <a:pt x="1243203" y="1177670"/>
                  </a:moveTo>
                  <a:lnTo>
                    <a:pt x="1249144" y="1137545"/>
                  </a:lnTo>
                  <a:lnTo>
                    <a:pt x="1266068" y="1100710"/>
                  </a:lnTo>
                  <a:lnTo>
                    <a:pt x="1292628" y="1068216"/>
                  </a:lnTo>
                  <a:lnTo>
                    <a:pt x="1327474" y="1041113"/>
                  </a:lnTo>
                  <a:lnTo>
                    <a:pt x="1369258" y="1020453"/>
                  </a:lnTo>
                  <a:lnTo>
                    <a:pt x="1416632" y="1007287"/>
                  </a:lnTo>
                  <a:lnTo>
                    <a:pt x="1468247" y="1002664"/>
                  </a:lnTo>
                  <a:lnTo>
                    <a:pt x="1519814" y="1007287"/>
                  </a:lnTo>
                  <a:lnTo>
                    <a:pt x="1567154" y="1020453"/>
                  </a:lnTo>
                  <a:lnTo>
                    <a:pt x="1608915" y="1041113"/>
                  </a:lnTo>
                  <a:lnTo>
                    <a:pt x="1643748" y="1068216"/>
                  </a:lnTo>
                  <a:lnTo>
                    <a:pt x="1670301" y="1100710"/>
                  </a:lnTo>
                  <a:lnTo>
                    <a:pt x="1687223" y="1137545"/>
                  </a:lnTo>
                  <a:lnTo>
                    <a:pt x="1693164" y="1177670"/>
                  </a:lnTo>
                  <a:lnTo>
                    <a:pt x="1687223" y="1217796"/>
                  </a:lnTo>
                  <a:lnTo>
                    <a:pt x="1670301" y="1254631"/>
                  </a:lnTo>
                  <a:lnTo>
                    <a:pt x="1643748" y="1287125"/>
                  </a:lnTo>
                  <a:lnTo>
                    <a:pt x="1608915" y="1314228"/>
                  </a:lnTo>
                  <a:lnTo>
                    <a:pt x="1567154" y="1334888"/>
                  </a:lnTo>
                  <a:lnTo>
                    <a:pt x="1519814" y="1348054"/>
                  </a:lnTo>
                  <a:lnTo>
                    <a:pt x="1468247" y="1352677"/>
                  </a:lnTo>
                  <a:lnTo>
                    <a:pt x="1416632" y="1348054"/>
                  </a:lnTo>
                  <a:lnTo>
                    <a:pt x="1369258" y="1334888"/>
                  </a:lnTo>
                  <a:lnTo>
                    <a:pt x="1327474" y="1314228"/>
                  </a:lnTo>
                  <a:lnTo>
                    <a:pt x="1292628" y="1287125"/>
                  </a:lnTo>
                  <a:lnTo>
                    <a:pt x="1266068" y="1254631"/>
                  </a:lnTo>
                  <a:lnTo>
                    <a:pt x="1249144" y="1217796"/>
                  </a:lnTo>
                  <a:lnTo>
                    <a:pt x="1243203" y="1177670"/>
                  </a:lnTo>
                </a:path>
                <a:path w="4320540" h="3360420">
                  <a:moveTo>
                    <a:pt x="2627376" y="1177670"/>
                  </a:moveTo>
                  <a:lnTo>
                    <a:pt x="2633316" y="1137545"/>
                  </a:lnTo>
                  <a:lnTo>
                    <a:pt x="2650238" y="1100710"/>
                  </a:lnTo>
                  <a:lnTo>
                    <a:pt x="2676791" y="1068216"/>
                  </a:lnTo>
                  <a:lnTo>
                    <a:pt x="2711624" y="1041113"/>
                  </a:lnTo>
                  <a:lnTo>
                    <a:pt x="2753385" y="1020453"/>
                  </a:lnTo>
                  <a:lnTo>
                    <a:pt x="2800725" y="1007287"/>
                  </a:lnTo>
                  <a:lnTo>
                    <a:pt x="2852293" y="1002664"/>
                  </a:lnTo>
                  <a:lnTo>
                    <a:pt x="2903907" y="1007287"/>
                  </a:lnTo>
                  <a:lnTo>
                    <a:pt x="2951281" y="1020453"/>
                  </a:lnTo>
                  <a:lnTo>
                    <a:pt x="2993065" y="1041113"/>
                  </a:lnTo>
                  <a:lnTo>
                    <a:pt x="3027911" y="1068216"/>
                  </a:lnTo>
                  <a:lnTo>
                    <a:pt x="3054471" y="1100710"/>
                  </a:lnTo>
                  <a:lnTo>
                    <a:pt x="3071395" y="1137545"/>
                  </a:lnTo>
                  <a:lnTo>
                    <a:pt x="3077337" y="1177670"/>
                  </a:lnTo>
                  <a:lnTo>
                    <a:pt x="3071395" y="1217796"/>
                  </a:lnTo>
                  <a:lnTo>
                    <a:pt x="3054471" y="1254631"/>
                  </a:lnTo>
                  <a:lnTo>
                    <a:pt x="3027911" y="1287125"/>
                  </a:lnTo>
                  <a:lnTo>
                    <a:pt x="2993065" y="1314228"/>
                  </a:lnTo>
                  <a:lnTo>
                    <a:pt x="2951281" y="1334888"/>
                  </a:lnTo>
                  <a:lnTo>
                    <a:pt x="2903907" y="1348054"/>
                  </a:lnTo>
                  <a:lnTo>
                    <a:pt x="2852293" y="1352677"/>
                  </a:lnTo>
                  <a:lnTo>
                    <a:pt x="2800725" y="1348054"/>
                  </a:lnTo>
                  <a:lnTo>
                    <a:pt x="2753385" y="1334888"/>
                  </a:lnTo>
                  <a:lnTo>
                    <a:pt x="2711624" y="1314228"/>
                  </a:lnTo>
                  <a:lnTo>
                    <a:pt x="2676791" y="1287125"/>
                  </a:lnTo>
                  <a:lnTo>
                    <a:pt x="2650238" y="1254631"/>
                  </a:lnTo>
                  <a:lnTo>
                    <a:pt x="2633316" y="1217796"/>
                  </a:lnTo>
                  <a:lnTo>
                    <a:pt x="2627376" y="1177670"/>
                  </a:lnTo>
                </a:path>
                <a:path w="4320540" h="3360420">
                  <a:moveTo>
                    <a:pt x="989457" y="2412872"/>
                  </a:moveTo>
                  <a:lnTo>
                    <a:pt x="1036288" y="2437389"/>
                  </a:lnTo>
                  <a:lnTo>
                    <a:pt x="1083117" y="2460904"/>
                  </a:lnTo>
                  <a:lnTo>
                    <a:pt x="1129944" y="2483419"/>
                  </a:lnTo>
                  <a:lnTo>
                    <a:pt x="1176770" y="2504933"/>
                  </a:lnTo>
                  <a:lnTo>
                    <a:pt x="1223592" y="2525447"/>
                  </a:lnTo>
                  <a:lnTo>
                    <a:pt x="1270413" y="2544959"/>
                  </a:lnTo>
                  <a:lnTo>
                    <a:pt x="1317232" y="2563472"/>
                  </a:lnTo>
                  <a:lnTo>
                    <a:pt x="1364048" y="2580983"/>
                  </a:lnTo>
                  <a:lnTo>
                    <a:pt x="1410863" y="2597494"/>
                  </a:lnTo>
                  <a:lnTo>
                    <a:pt x="1457675" y="2613004"/>
                  </a:lnTo>
                  <a:lnTo>
                    <a:pt x="1504485" y="2627514"/>
                  </a:lnTo>
                  <a:lnTo>
                    <a:pt x="1551293" y="2641023"/>
                  </a:lnTo>
                  <a:lnTo>
                    <a:pt x="1598099" y="2653531"/>
                  </a:lnTo>
                  <a:lnTo>
                    <a:pt x="1644903" y="2665038"/>
                  </a:lnTo>
                  <a:lnTo>
                    <a:pt x="1691704" y="2675545"/>
                  </a:lnTo>
                  <a:lnTo>
                    <a:pt x="1738504" y="2685052"/>
                  </a:lnTo>
                  <a:lnTo>
                    <a:pt x="1785301" y="2693557"/>
                  </a:lnTo>
                  <a:lnTo>
                    <a:pt x="1832096" y="2701062"/>
                  </a:lnTo>
                  <a:lnTo>
                    <a:pt x="1878889" y="2707566"/>
                  </a:lnTo>
                  <a:lnTo>
                    <a:pt x="1925680" y="2713070"/>
                  </a:lnTo>
                  <a:lnTo>
                    <a:pt x="1972469" y="2717573"/>
                  </a:lnTo>
                  <a:lnTo>
                    <a:pt x="2019256" y="2721075"/>
                  </a:lnTo>
                  <a:lnTo>
                    <a:pt x="2066040" y="2723577"/>
                  </a:lnTo>
                  <a:lnTo>
                    <a:pt x="2112823" y="2725078"/>
                  </a:lnTo>
                  <a:lnTo>
                    <a:pt x="2159603" y="2725578"/>
                  </a:lnTo>
                  <a:lnTo>
                    <a:pt x="2206381" y="2725078"/>
                  </a:lnTo>
                  <a:lnTo>
                    <a:pt x="2253157" y="2723577"/>
                  </a:lnTo>
                  <a:lnTo>
                    <a:pt x="2299931" y="2721075"/>
                  </a:lnTo>
                  <a:lnTo>
                    <a:pt x="2346702" y="2717573"/>
                  </a:lnTo>
                  <a:lnTo>
                    <a:pt x="2393472" y="2713070"/>
                  </a:lnTo>
                  <a:lnTo>
                    <a:pt x="2440239" y="2707566"/>
                  </a:lnTo>
                  <a:lnTo>
                    <a:pt x="2487005" y="2701062"/>
                  </a:lnTo>
                  <a:lnTo>
                    <a:pt x="2533768" y="2693557"/>
                  </a:lnTo>
                  <a:lnTo>
                    <a:pt x="2580529" y="2685052"/>
                  </a:lnTo>
                  <a:lnTo>
                    <a:pt x="2627288" y="2675545"/>
                  </a:lnTo>
                  <a:lnTo>
                    <a:pt x="2674045" y="2665038"/>
                  </a:lnTo>
                  <a:lnTo>
                    <a:pt x="2720799" y="2653531"/>
                  </a:lnTo>
                  <a:lnTo>
                    <a:pt x="2767552" y="2641023"/>
                  </a:lnTo>
                  <a:lnTo>
                    <a:pt x="2814302" y="2627514"/>
                  </a:lnTo>
                  <a:lnTo>
                    <a:pt x="2861050" y="2613004"/>
                  </a:lnTo>
                  <a:lnTo>
                    <a:pt x="2907797" y="2597494"/>
                  </a:lnTo>
                  <a:lnTo>
                    <a:pt x="2954541" y="2580983"/>
                  </a:lnTo>
                  <a:lnTo>
                    <a:pt x="3001282" y="2563472"/>
                  </a:lnTo>
                  <a:lnTo>
                    <a:pt x="3048022" y="2544959"/>
                  </a:lnTo>
                  <a:lnTo>
                    <a:pt x="3094760" y="2525447"/>
                  </a:lnTo>
                  <a:lnTo>
                    <a:pt x="3141495" y="2504933"/>
                  </a:lnTo>
                  <a:lnTo>
                    <a:pt x="3188228" y="2483419"/>
                  </a:lnTo>
                  <a:lnTo>
                    <a:pt x="3234960" y="2460904"/>
                  </a:lnTo>
                  <a:lnTo>
                    <a:pt x="3281689" y="2437389"/>
                  </a:lnTo>
                  <a:lnTo>
                    <a:pt x="3328416" y="2412872"/>
                  </a:lnTo>
                </a:path>
                <a:path w="4320540" h="3360420">
                  <a:moveTo>
                    <a:pt x="0" y="1680082"/>
                  </a:moveTo>
                  <a:lnTo>
                    <a:pt x="663" y="1638030"/>
                  </a:lnTo>
                  <a:lnTo>
                    <a:pt x="2643" y="1596231"/>
                  </a:lnTo>
                  <a:lnTo>
                    <a:pt x="5925" y="1554699"/>
                  </a:lnTo>
                  <a:lnTo>
                    <a:pt x="10493" y="1513444"/>
                  </a:lnTo>
                  <a:lnTo>
                    <a:pt x="16331" y="1472480"/>
                  </a:lnTo>
                  <a:lnTo>
                    <a:pt x="23423" y="1431817"/>
                  </a:lnTo>
                  <a:lnTo>
                    <a:pt x="31756" y="1391469"/>
                  </a:lnTo>
                  <a:lnTo>
                    <a:pt x="41312" y="1351447"/>
                  </a:lnTo>
                  <a:lnTo>
                    <a:pt x="52077" y="1311763"/>
                  </a:lnTo>
                  <a:lnTo>
                    <a:pt x="64034" y="1272429"/>
                  </a:lnTo>
                  <a:lnTo>
                    <a:pt x="77170" y="1233458"/>
                  </a:lnTo>
                  <a:lnTo>
                    <a:pt x="91467" y="1194860"/>
                  </a:lnTo>
                  <a:lnTo>
                    <a:pt x="106911" y="1156650"/>
                  </a:lnTo>
                  <a:lnTo>
                    <a:pt x="123486" y="1118837"/>
                  </a:lnTo>
                  <a:lnTo>
                    <a:pt x="141177" y="1081435"/>
                  </a:lnTo>
                  <a:lnTo>
                    <a:pt x="159968" y="1044455"/>
                  </a:lnTo>
                  <a:lnTo>
                    <a:pt x="179843" y="1007910"/>
                  </a:lnTo>
                  <a:lnTo>
                    <a:pt x="200788" y="971812"/>
                  </a:lnTo>
                  <a:lnTo>
                    <a:pt x="222786" y="936171"/>
                  </a:lnTo>
                  <a:lnTo>
                    <a:pt x="245823" y="901002"/>
                  </a:lnTo>
                  <a:lnTo>
                    <a:pt x="269883" y="866315"/>
                  </a:lnTo>
                  <a:lnTo>
                    <a:pt x="294950" y="832122"/>
                  </a:lnTo>
                  <a:lnTo>
                    <a:pt x="321009" y="798437"/>
                  </a:lnTo>
                  <a:lnTo>
                    <a:pt x="348044" y="765270"/>
                  </a:lnTo>
                  <a:lnTo>
                    <a:pt x="376040" y="732633"/>
                  </a:lnTo>
                  <a:lnTo>
                    <a:pt x="404982" y="700540"/>
                  </a:lnTo>
                  <a:lnTo>
                    <a:pt x="434853" y="669001"/>
                  </a:lnTo>
                  <a:lnTo>
                    <a:pt x="465639" y="638029"/>
                  </a:lnTo>
                  <a:lnTo>
                    <a:pt x="497324" y="607636"/>
                  </a:lnTo>
                  <a:lnTo>
                    <a:pt x="529893" y="577834"/>
                  </a:lnTo>
                  <a:lnTo>
                    <a:pt x="563330" y="548634"/>
                  </a:lnTo>
                  <a:lnTo>
                    <a:pt x="597619" y="520050"/>
                  </a:lnTo>
                  <a:lnTo>
                    <a:pt x="632745" y="492093"/>
                  </a:lnTo>
                  <a:lnTo>
                    <a:pt x="668693" y="464774"/>
                  </a:lnTo>
                  <a:lnTo>
                    <a:pt x="705448" y="438107"/>
                  </a:lnTo>
                  <a:lnTo>
                    <a:pt x="742992" y="412103"/>
                  </a:lnTo>
                  <a:lnTo>
                    <a:pt x="781313" y="386774"/>
                  </a:lnTo>
                  <a:lnTo>
                    <a:pt x="820393" y="362132"/>
                  </a:lnTo>
                  <a:lnTo>
                    <a:pt x="860217" y="338189"/>
                  </a:lnTo>
                  <a:lnTo>
                    <a:pt x="900770" y="314958"/>
                  </a:lnTo>
                  <a:lnTo>
                    <a:pt x="942036" y="292450"/>
                  </a:lnTo>
                  <a:lnTo>
                    <a:pt x="984000" y="270677"/>
                  </a:lnTo>
                  <a:lnTo>
                    <a:pt x="1026647" y="249651"/>
                  </a:lnTo>
                  <a:lnTo>
                    <a:pt x="1069960" y="229385"/>
                  </a:lnTo>
                  <a:lnTo>
                    <a:pt x="1113925" y="209890"/>
                  </a:lnTo>
                  <a:lnTo>
                    <a:pt x="1158526" y="191179"/>
                  </a:lnTo>
                  <a:lnTo>
                    <a:pt x="1203748" y="173263"/>
                  </a:lnTo>
                  <a:lnTo>
                    <a:pt x="1249574" y="156154"/>
                  </a:lnTo>
                  <a:lnTo>
                    <a:pt x="1295990" y="139865"/>
                  </a:lnTo>
                  <a:lnTo>
                    <a:pt x="1342980" y="124408"/>
                  </a:lnTo>
                  <a:lnTo>
                    <a:pt x="1390529" y="109794"/>
                  </a:lnTo>
                  <a:lnTo>
                    <a:pt x="1438621" y="96036"/>
                  </a:lnTo>
                  <a:lnTo>
                    <a:pt x="1487240" y="83145"/>
                  </a:lnTo>
                  <a:lnTo>
                    <a:pt x="1536372" y="71134"/>
                  </a:lnTo>
                  <a:lnTo>
                    <a:pt x="1586000" y="60015"/>
                  </a:lnTo>
                  <a:lnTo>
                    <a:pt x="1636110" y="49800"/>
                  </a:lnTo>
                  <a:lnTo>
                    <a:pt x="1686685" y="40500"/>
                  </a:lnTo>
                  <a:lnTo>
                    <a:pt x="1737711" y="32128"/>
                  </a:lnTo>
                  <a:lnTo>
                    <a:pt x="1789171" y="24696"/>
                  </a:lnTo>
                  <a:lnTo>
                    <a:pt x="1841051" y="18216"/>
                  </a:lnTo>
                  <a:lnTo>
                    <a:pt x="1893335" y="12700"/>
                  </a:lnTo>
                  <a:lnTo>
                    <a:pt x="1946007" y="8160"/>
                  </a:lnTo>
                  <a:lnTo>
                    <a:pt x="1999052" y="4608"/>
                  </a:lnTo>
                  <a:lnTo>
                    <a:pt x="2052454" y="2056"/>
                  </a:lnTo>
                  <a:lnTo>
                    <a:pt x="2106199" y="516"/>
                  </a:lnTo>
                  <a:lnTo>
                    <a:pt x="2160270" y="0"/>
                  </a:lnTo>
                  <a:lnTo>
                    <a:pt x="2214340" y="516"/>
                  </a:lnTo>
                  <a:lnTo>
                    <a:pt x="2268085" y="2056"/>
                  </a:lnTo>
                  <a:lnTo>
                    <a:pt x="2321487" y="4608"/>
                  </a:lnTo>
                  <a:lnTo>
                    <a:pt x="2374532" y="8160"/>
                  </a:lnTo>
                  <a:lnTo>
                    <a:pt x="2427204" y="12700"/>
                  </a:lnTo>
                  <a:lnTo>
                    <a:pt x="2479488" y="18216"/>
                  </a:lnTo>
                  <a:lnTo>
                    <a:pt x="2531368" y="24696"/>
                  </a:lnTo>
                  <a:lnTo>
                    <a:pt x="2582828" y="32128"/>
                  </a:lnTo>
                  <a:lnTo>
                    <a:pt x="2633854" y="40500"/>
                  </a:lnTo>
                  <a:lnTo>
                    <a:pt x="2684429" y="49800"/>
                  </a:lnTo>
                  <a:lnTo>
                    <a:pt x="2734539" y="60015"/>
                  </a:lnTo>
                  <a:lnTo>
                    <a:pt x="2784167" y="71134"/>
                  </a:lnTo>
                  <a:lnTo>
                    <a:pt x="2833299" y="83145"/>
                  </a:lnTo>
                  <a:lnTo>
                    <a:pt x="2881918" y="96036"/>
                  </a:lnTo>
                  <a:lnTo>
                    <a:pt x="2930010" y="109794"/>
                  </a:lnTo>
                  <a:lnTo>
                    <a:pt x="2977559" y="124408"/>
                  </a:lnTo>
                  <a:lnTo>
                    <a:pt x="3024549" y="139865"/>
                  </a:lnTo>
                  <a:lnTo>
                    <a:pt x="3070965" y="156154"/>
                  </a:lnTo>
                  <a:lnTo>
                    <a:pt x="3116791" y="173263"/>
                  </a:lnTo>
                  <a:lnTo>
                    <a:pt x="3162013" y="191179"/>
                  </a:lnTo>
                  <a:lnTo>
                    <a:pt x="3206614" y="209890"/>
                  </a:lnTo>
                  <a:lnTo>
                    <a:pt x="3250579" y="229385"/>
                  </a:lnTo>
                  <a:lnTo>
                    <a:pt x="3293892" y="249651"/>
                  </a:lnTo>
                  <a:lnTo>
                    <a:pt x="3336539" y="270677"/>
                  </a:lnTo>
                  <a:lnTo>
                    <a:pt x="3378503" y="292450"/>
                  </a:lnTo>
                  <a:lnTo>
                    <a:pt x="3419769" y="314958"/>
                  </a:lnTo>
                  <a:lnTo>
                    <a:pt x="3460322" y="338189"/>
                  </a:lnTo>
                  <a:lnTo>
                    <a:pt x="3500146" y="362132"/>
                  </a:lnTo>
                  <a:lnTo>
                    <a:pt x="3539226" y="386774"/>
                  </a:lnTo>
                  <a:lnTo>
                    <a:pt x="3577547" y="412103"/>
                  </a:lnTo>
                  <a:lnTo>
                    <a:pt x="3615091" y="438107"/>
                  </a:lnTo>
                  <a:lnTo>
                    <a:pt x="3651846" y="464774"/>
                  </a:lnTo>
                  <a:lnTo>
                    <a:pt x="3687794" y="492093"/>
                  </a:lnTo>
                  <a:lnTo>
                    <a:pt x="3722920" y="520050"/>
                  </a:lnTo>
                  <a:lnTo>
                    <a:pt x="3757209" y="548634"/>
                  </a:lnTo>
                  <a:lnTo>
                    <a:pt x="3790646" y="577834"/>
                  </a:lnTo>
                  <a:lnTo>
                    <a:pt x="3823215" y="607636"/>
                  </a:lnTo>
                  <a:lnTo>
                    <a:pt x="3854900" y="638029"/>
                  </a:lnTo>
                  <a:lnTo>
                    <a:pt x="3885686" y="669001"/>
                  </a:lnTo>
                  <a:lnTo>
                    <a:pt x="3915557" y="700540"/>
                  </a:lnTo>
                  <a:lnTo>
                    <a:pt x="3944499" y="732633"/>
                  </a:lnTo>
                  <a:lnTo>
                    <a:pt x="3972495" y="765270"/>
                  </a:lnTo>
                  <a:lnTo>
                    <a:pt x="3999530" y="798437"/>
                  </a:lnTo>
                  <a:lnTo>
                    <a:pt x="4025589" y="832122"/>
                  </a:lnTo>
                  <a:lnTo>
                    <a:pt x="4050656" y="866315"/>
                  </a:lnTo>
                  <a:lnTo>
                    <a:pt x="4074716" y="901002"/>
                  </a:lnTo>
                  <a:lnTo>
                    <a:pt x="4097753" y="936171"/>
                  </a:lnTo>
                  <a:lnTo>
                    <a:pt x="4119751" y="971812"/>
                  </a:lnTo>
                  <a:lnTo>
                    <a:pt x="4140696" y="1007910"/>
                  </a:lnTo>
                  <a:lnTo>
                    <a:pt x="4160571" y="1044455"/>
                  </a:lnTo>
                  <a:lnTo>
                    <a:pt x="4179362" y="1081435"/>
                  </a:lnTo>
                  <a:lnTo>
                    <a:pt x="4197053" y="1118837"/>
                  </a:lnTo>
                  <a:lnTo>
                    <a:pt x="4213628" y="1156650"/>
                  </a:lnTo>
                  <a:lnTo>
                    <a:pt x="4229072" y="1194860"/>
                  </a:lnTo>
                  <a:lnTo>
                    <a:pt x="4243369" y="1233458"/>
                  </a:lnTo>
                  <a:lnTo>
                    <a:pt x="4256505" y="1272429"/>
                  </a:lnTo>
                  <a:lnTo>
                    <a:pt x="4268462" y="1311763"/>
                  </a:lnTo>
                  <a:lnTo>
                    <a:pt x="4279227" y="1351447"/>
                  </a:lnTo>
                  <a:lnTo>
                    <a:pt x="4288783" y="1391469"/>
                  </a:lnTo>
                  <a:lnTo>
                    <a:pt x="4297116" y="1431817"/>
                  </a:lnTo>
                  <a:lnTo>
                    <a:pt x="4304208" y="1472480"/>
                  </a:lnTo>
                  <a:lnTo>
                    <a:pt x="4310046" y="1513444"/>
                  </a:lnTo>
                  <a:lnTo>
                    <a:pt x="4314614" y="1554699"/>
                  </a:lnTo>
                  <a:lnTo>
                    <a:pt x="4317896" y="1596231"/>
                  </a:lnTo>
                  <a:lnTo>
                    <a:pt x="4319876" y="1638030"/>
                  </a:lnTo>
                  <a:lnTo>
                    <a:pt x="4320540" y="1680082"/>
                  </a:lnTo>
                  <a:lnTo>
                    <a:pt x="4319876" y="1722141"/>
                  </a:lnTo>
                  <a:lnTo>
                    <a:pt x="4317896" y="1763945"/>
                  </a:lnTo>
                  <a:lnTo>
                    <a:pt x="4314614" y="1805483"/>
                  </a:lnTo>
                  <a:lnTo>
                    <a:pt x="4310046" y="1846743"/>
                  </a:lnTo>
                  <a:lnTo>
                    <a:pt x="4304208" y="1887712"/>
                  </a:lnTo>
                  <a:lnTo>
                    <a:pt x="4297116" y="1928379"/>
                  </a:lnTo>
                  <a:lnTo>
                    <a:pt x="4288783" y="1968732"/>
                  </a:lnTo>
                  <a:lnTo>
                    <a:pt x="4279227" y="2008759"/>
                  </a:lnTo>
                  <a:lnTo>
                    <a:pt x="4268462" y="2048447"/>
                  </a:lnTo>
                  <a:lnTo>
                    <a:pt x="4256505" y="2087785"/>
                  </a:lnTo>
                  <a:lnTo>
                    <a:pt x="4243369" y="2126761"/>
                  </a:lnTo>
                  <a:lnTo>
                    <a:pt x="4229072" y="2165362"/>
                  </a:lnTo>
                  <a:lnTo>
                    <a:pt x="4213628" y="2203577"/>
                  </a:lnTo>
                  <a:lnTo>
                    <a:pt x="4197053" y="2241393"/>
                  </a:lnTo>
                  <a:lnTo>
                    <a:pt x="4179362" y="2278798"/>
                  </a:lnTo>
                  <a:lnTo>
                    <a:pt x="4160571" y="2315781"/>
                  </a:lnTo>
                  <a:lnTo>
                    <a:pt x="4140696" y="2352330"/>
                  </a:lnTo>
                  <a:lnTo>
                    <a:pt x="4119751" y="2388432"/>
                  </a:lnTo>
                  <a:lnTo>
                    <a:pt x="4097753" y="2424075"/>
                  </a:lnTo>
                  <a:lnTo>
                    <a:pt x="4074716" y="2459247"/>
                  </a:lnTo>
                  <a:lnTo>
                    <a:pt x="4050656" y="2493937"/>
                  </a:lnTo>
                  <a:lnTo>
                    <a:pt x="4025589" y="2528132"/>
                  </a:lnTo>
                  <a:lnTo>
                    <a:pt x="3999530" y="2561820"/>
                  </a:lnTo>
                  <a:lnTo>
                    <a:pt x="3972495" y="2594990"/>
                  </a:lnTo>
                  <a:lnTo>
                    <a:pt x="3944499" y="2627628"/>
                  </a:lnTo>
                  <a:lnTo>
                    <a:pt x="3915557" y="2659724"/>
                  </a:lnTo>
                  <a:lnTo>
                    <a:pt x="3885686" y="2691265"/>
                  </a:lnTo>
                  <a:lnTo>
                    <a:pt x="3854900" y="2722239"/>
                  </a:lnTo>
                  <a:lnTo>
                    <a:pt x="3823215" y="2752634"/>
                  </a:lnTo>
                  <a:lnTo>
                    <a:pt x="3790646" y="2782438"/>
                  </a:lnTo>
                  <a:lnTo>
                    <a:pt x="3757209" y="2811639"/>
                  </a:lnTo>
                  <a:lnTo>
                    <a:pt x="3722920" y="2840225"/>
                  </a:lnTo>
                  <a:lnTo>
                    <a:pt x="3687794" y="2868183"/>
                  </a:lnTo>
                  <a:lnTo>
                    <a:pt x="3651846" y="2895503"/>
                  </a:lnTo>
                  <a:lnTo>
                    <a:pt x="3615091" y="2922172"/>
                  </a:lnTo>
                  <a:lnTo>
                    <a:pt x="3577547" y="2948177"/>
                  </a:lnTo>
                  <a:lnTo>
                    <a:pt x="3539226" y="2973507"/>
                  </a:lnTo>
                  <a:lnTo>
                    <a:pt x="3500146" y="2998150"/>
                  </a:lnTo>
                  <a:lnTo>
                    <a:pt x="3460322" y="3022094"/>
                  </a:lnTo>
                  <a:lnTo>
                    <a:pt x="3419769" y="3045326"/>
                  </a:lnTo>
                  <a:lnTo>
                    <a:pt x="3378503" y="3067835"/>
                  </a:lnTo>
                  <a:lnTo>
                    <a:pt x="3336539" y="3089609"/>
                  </a:lnTo>
                  <a:lnTo>
                    <a:pt x="3293892" y="3110635"/>
                  </a:lnTo>
                  <a:lnTo>
                    <a:pt x="3250579" y="3130902"/>
                  </a:lnTo>
                  <a:lnTo>
                    <a:pt x="3206614" y="3150398"/>
                  </a:lnTo>
                  <a:lnTo>
                    <a:pt x="3162013" y="3169110"/>
                  </a:lnTo>
                  <a:lnTo>
                    <a:pt x="3116791" y="3187026"/>
                  </a:lnTo>
                  <a:lnTo>
                    <a:pt x="3070965" y="3204135"/>
                  </a:lnTo>
                  <a:lnTo>
                    <a:pt x="3024549" y="3220425"/>
                  </a:lnTo>
                  <a:lnTo>
                    <a:pt x="2977559" y="3235882"/>
                  </a:lnTo>
                  <a:lnTo>
                    <a:pt x="2930010" y="3250496"/>
                  </a:lnTo>
                  <a:lnTo>
                    <a:pt x="2881918" y="3264255"/>
                  </a:lnTo>
                  <a:lnTo>
                    <a:pt x="2833299" y="3277146"/>
                  </a:lnTo>
                  <a:lnTo>
                    <a:pt x="2784167" y="3289157"/>
                  </a:lnTo>
                  <a:lnTo>
                    <a:pt x="2734539" y="3300276"/>
                  </a:lnTo>
                  <a:lnTo>
                    <a:pt x="2684429" y="3310492"/>
                  </a:lnTo>
                  <a:lnTo>
                    <a:pt x="2633854" y="3319791"/>
                  </a:lnTo>
                  <a:lnTo>
                    <a:pt x="2582828" y="3328163"/>
                  </a:lnTo>
                  <a:lnTo>
                    <a:pt x="2531368" y="3335595"/>
                  </a:lnTo>
                  <a:lnTo>
                    <a:pt x="2479488" y="3342075"/>
                  </a:lnTo>
                  <a:lnTo>
                    <a:pt x="2427204" y="3347592"/>
                  </a:lnTo>
                  <a:lnTo>
                    <a:pt x="2374532" y="3352132"/>
                  </a:lnTo>
                  <a:lnTo>
                    <a:pt x="2321487" y="3355684"/>
                  </a:lnTo>
                  <a:lnTo>
                    <a:pt x="2268085" y="3358236"/>
                  </a:lnTo>
                  <a:lnTo>
                    <a:pt x="2214340" y="3359776"/>
                  </a:lnTo>
                  <a:lnTo>
                    <a:pt x="2160270" y="3360292"/>
                  </a:lnTo>
                  <a:lnTo>
                    <a:pt x="2106199" y="3359776"/>
                  </a:lnTo>
                  <a:lnTo>
                    <a:pt x="2052454" y="3358236"/>
                  </a:lnTo>
                  <a:lnTo>
                    <a:pt x="1999052" y="3355684"/>
                  </a:lnTo>
                  <a:lnTo>
                    <a:pt x="1946007" y="3352132"/>
                  </a:lnTo>
                  <a:lnTo>
                    <a:pt x="1893335" y="3347592"/>
                  </a:lnTo>
                  <a:lnTo>
                    <a:pt x="1841051" y="3342075"/>
                  </a:lnTo>
                  <a:lnTo>
                    <a:pt x="1789171" y="3335595"/>
                  </a:lnTo>
                  <a:lnTo>
                    <a:pt x="1737711" y="3328163"/>
                  </a:lnTo>
                  <a:lnTo>
                    <a:pt x="1686685" y="3319791"/>
                  </a:lnTo>
                  <a:lnTo>
                    <a:pt x="1636110" y="3310492"/>
                  </a:lnTo>
                  <a:lnTo>
                    <a:pt x="1586000" y="3300276"/>
                  </a:lnTo>
                  <a:lnTo>
                    <a:pt x="1536372" y="3289157"/>
                  </a:lnTo>
                  <a:lnTo>
                    <a:pt x="1487240" y="3277146"/>
                  </a:lnTo>
                  <a:lnTo>
                    <a:pt x="1438621" y="3264255"/>
                  </a:lnTo>
                  <a:lnTo>
                    <a:pt x="1390529" y="3250496"/>
                  </a:lnTo>
                  <a:lnTo>
                    <a:pt x="1342980" y="3235882"/>
                  </a:lnTo>
                  <a:lnTo>
                    <a:pt x="1295990" y="3220425"/>
                  </a:lnTo>
                  <a:lnTo>
                    <a:pt x="1249574" y="3204135"/>
                  </a:lnTo>
                  <a:lnTo>
                    <a:pt x="1203748" y="3187026"/>
                  </a:lnTo>
                  <a:lnTo>
                    <a:pt x="1158526" y="3169110"/>
                  </a:lnTo>
                  <a:lnTo>
                    <a:pt x="1113925" y="3150398"/>
                  </a:lnTo>
                  <a:lnTo>
                    <a:pt x="1069960" y="3130902"/>
                  </a:lnTo>
                  <a:lnTo>
                    <a:pt x="1026647" y="3110635"/>
                  </a:lnTo>
                  <a:lnTo>
                    <a:pt x="984000" y="3089609"/>
                  </a:lnTo>
                  <a:lnTo>
                    <a:pt x="942036" y="3067835"/>
                  </a:lnTo>
                  <a:lnTo>
                    <a:pt x="900770" y="3045326"/>
                  </a:lnTo>
                  <a:lnTo>
                    <a:pt x="860217" y="3022094"/>
                  </a:lnTo>
                  <a:lnTo>
                    <a:pt x="820393" y="2998150"/>
                  </a:lnTo>
                  <a:lnTo>
                    <a:pt x="781313" y="2973507"/>
                  </a:lnTo>
                  <a:lnTo>
                    <a:pt x="742992" y="2948177"/>
                  </a:lnTo>
                  <a:lnTo>
                    <a:pt x="705448" y="2922172"/>
                  </a:lnTo>
                  <a:lnTo>
                    <a:pt x="668693" y="2895503"/>
                  </a:lnTo>
                  <a:lnTo>
                    <a:pt x="632745" y="2868183"/>
                  </a:lnTo>
                  <a:lnTo>
                    <a:pt x="597619" y="2840225"/>
                  </a:lnTo>
                  <a:lnTo>
                    <a:pt x="563330" y="2811639"/>
                  </a:lnTo>
                  <a:lnTo>
                    <a:pt x="529893" y="2782438"/>
                  </a:lnTo>
                  <a:lnTo>
                    <a:pt x="497324" y="2752634"/>
                  </a:lnTo>
                  <a:lnTo>
                    <a:pt x="465639" y="2722239"/>
                  </a:lnTo>
                  <a:lnTo>
                    <a:pt x="434853" y="2691265"/>
                  </a:lnTo>
                  <a:lnTo>
                    <a:pt x="404982" y="2659724"/>
                  </a:lnTo>
                  <a:lnTo>
                    <a:pt x="376040" y="2627628"/>
                  </a:lnTo>
                  <a:lnTo>
                    <a:pt x="348044" y="2594990"/>
                  </a:lnTo>
                  <a:lnTo>
                    <a:pt x="321009" y="2561820"/>
                  </a:lnTo>
                  <a:lnTo>
                    <a:pt x="294950" y="2528132"/>
                  </a:lnTo>
                  <a:lnTo>
                    <a:pt x="269883" y="2493937"/>
                  </a:lnTo>
                  <a:lnTo>
                    <a:pt x="245823" y="2459247"/>
                  </a:lnTo>
                  <a:lnTo>
                    <a:pt x="222786" y="2424075"/>
                  </a:lnTo>
                  <a:lnTo>
                    <a:pt x="200788" y="2388432"/>
                  </a:lnTo>
                  <a:lnTo>
                    <a:pt x="179843" y="2352330"/>
                  </a:lnTo>
                  <a:lnTo>
                    <a:pt x="159968" y="2315781"/>
                  </a:lnTo>
                  <a:lnTo>
                    <a:pt x="141177" y="2278798"/>
                  </a:lnTo>
                  <a:lnTo>
                    <a:pt x="123486" y="2241393"/>
                  </a:lnTo>
                  <a:lnTo>
                    <a:pt x="106911" y="2203577"/>
                  </a:lnTo>
                  <a:lnTo>
                    <a:pt x="91467" y="2165362"/>
                  </a:lnTo>
                  <a:lnTo>
                    <a:pt x="77170" y="2126761"/>
                  </a:lnTo>
                  <a:lnTo>
                    <a:pt x="64034" y="2087785"/>
                  </a:lnTo>
                  <a:lnTo>
                    <a:pt x="52077" y="2048447"/>
                  </a:lnTo>
                  <a:lnTo>
                    <a:pt x="41312" y="2008759"/>
                  </a:lnTo>
                  <a:lnTo>
                    <a:pt x="31756" y="1968732"/>
                  </a:lnTo>
                  <a:lnTo>
                    <a:pt x="23423" y="1928379"/>
                  </a:lnTo>
                  <a:lnTo>
                    <a:pt x="16331" y="1887712"/>
                  </a:lnTo>
                  <a:lnTo>
                    <a:pt x="10493" y="1846743"/>
                  </a:lnTo>
                  <a:lnTo>
                    <a:pt x="5925" y="1805483"/>
                  </a:lnTo>
                  <a:lnTo>
                    <a:pt x="2643" y="1763945"/>
                  </a:lnTo>
                  <a:lnTo>
                    <a:pt x="663" y="1722141"/>
                  </a:lnTo>
                  <a:lnTo>
                    <a:pt x="0" y="1680082"/>
                  </a:lnTo>
                  <a:close/>
                </a:path>
              </a:pathLst>
            </a:custGeom>
            <a:ln w="9525">
              <a:solidFill>
                <a:srgbClr val="CCB4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391911"/>
            <a:ext cx="10773410" cy="5527795"/>
          </a:xfrm>
          <a:prstGeom prst="rect">
            <a:avLst/>
          </a:prstGeom>
        </p:spPr>
        <p:txBody>
          <a:bodyPr vert="horz" wrap="square" lIns="0" tIns="254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05"/>
              </a:spcBef>
            </a:pP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Concernant</a:t>
            </a:r>
            <a:r>
              <a:rPr sz="30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0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physiopathologie</a:t>
            </a:r>
            <a:r>
              <a:rPr sz="3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0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l’arthrite</a:t>
            </a:r>
            <a:r>
              <a:rPr sz="3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septique:</a:t>
            </a:r>
            <a:endParaRPr sz="3000" dirty="0">
              <a:latin typeface="Times New Roman"/>
              <a:cs typeface="Times New Roman"/>
            </a:endParaRPr>
          </a:p>
          <a:p>
            <a:pPr marL="468630" marR="5080" indent="-455930">
              <a:lnSpc>
                <a:spcPts val="3350"/>
              </a:lnSpc>
              <a:spcBef>
                <a:spcPts val="2225"/>
              </a:spcBef>
              <a:buAutoNum type="alphaUcPeriod"/>
              <a:tabLst>
                <a:tab pos="469900" algn="l"/>
              </a:tabLst>
            </a:pP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membrane</a:t>
            </a:r>
            <a:r>
              <a:rPr sz="3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basale</a:t>
            </a:r>
            <a:r>
              <a:rPr sz="3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au</a:t>
            </a:r>
            <a:r>
              <a:rPr sz="3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niveau</a:t>
            </a:r>
            <a:r>
              <a:rPr sz="3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3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tissu</a:t>
            </a:r>
            <a:r>
              <a:rPr sz="3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synovial</a:t>
            </a:r>
            <a:r>
              <a:rPr sz="3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permet</a:t>
            </a:r>
            <a:r>
              <a:rPr sz="3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faciliter 	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fixation</a:t>
            </a:r>
            <a:r>
              <a:rPr sz="3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des</a:t>
            </a:r>
            <a:r>
              <a:rPr sz="3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germes</a:t>
            </a:r>
            <a:r>
              <a:rPr sz="3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et</a:t>
            </a:r>
            <a:r>
              <a:rPr sz="3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leur</a:t>
            </a:r>
            <a:r>
              <a:rPr sz="3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passage</a:t>
            </a:r>
            <a:r>
              <a:rPr sz="3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dans</a:t>
            </a:r>
            <a:r>
              <a:rPr sz="3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cavité</a:t>
            </a:r>
            <a:r>
              <a:rPr sz="3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articulaire</a:t>
            </a:r>
            <a:endParaRPr sz="3000" dirty="0">
              <a:latin typeface="Times New Roman"/>
              <a:cs typeface="Times New Roman"/>
            </a:endParaRPr>
          </a:p>
          <a:p>
            <a:pPr marL="469900" marR="539115" indent="-457200">
              <a:lnSpc>
                <a:spcPts val="3350"/>
              </a:lnSpc>
              <a:spcBef>
                <a:spcPts val="865"/>
              </a:spcBef>
              <a:buAutoNum type="alphaUcPeriod"/>
              <a:tabLst>
                <a:tab pos="469900" algn="l"/>
              </a:tabLst>
            </a:pP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Les</a:t>
            </a:r>
            <a:r>
              <a:rPr sz="3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adhésines</a:t>
            </a:r>
            <a:r>
              <a:rPr sz="3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produites</a:t>
            </a:r>
            <a:r>
              <a:rPr sz="3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par</a:t>
            </a:r>
            <a:r>
              <a:rPr sz="3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les</a:t>
            </a:r>
            <a:r>
              <a:rPr sz="3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macrophages</a:t>
            </a:r>
            <a:r>
              <a:rPr sz="3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peuvent</a:t>
            </a:r>
            <a:r>
              <a:rPr sz="3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cause</a:t>
            </a:r>
            <a:r>
              <a:rPr sz="3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Times New Roman"/>
                <a:cs typeface="Times New Roman"/>
              </a:rPr>
              <a:t>une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destruction</a:t>
            </a:r>
            <a:r>
              <a:rPr sz="3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3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cartilage</a:t>
            </a:r>
            <a:endParaRPr sz="3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470"/>
              </a:spcBef>
              <a:buAutoNum type="alphaUcPeriod"/>
              <a:tabLst>
                <a:tab pos="469265" algn="l"/>
              </a:tabLst>
            </a:pP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3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cartilage est</a:t>
            </a:r>
            <a:r>
              <a:rPr sz="3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3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premier</a:t>
            </a:r>
            <a:r>
              <a:rPr sz="3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tissu</a:t>
            </a:r>
            <a:r>
              <a:rPr sz="3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à</a:t>
            </a:r>
            <a:r>
              <a:rPr sz="3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être</a:t>
            </a:r>
            <a:r>
              <a:rPr sz="3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colonisé</a:t>
            </a:r>
            <a:r>
              <a:rPr sz="3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par</a:t>
            </a:r>
            <a:r>
              <a:rPr sz="3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les</a:t>
            </a:r>
            <a:r>
              <a:rPr sz="3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germes</a:t>
            </a:r>
            <a:endParaRPr sz="3000" dirty="0">
              <a:latin typeface="Times New Roman"/>
              <a:cs typeface="Times New Roman"/>
            </a:endParaRPr>
          </a:p>
          <a:p>
            <a:pPr marL="468630" marR="60960" indent="-455930">
              <a:lnSpc>
                <a:spcPts val="3350"/>
              </a:lnSpc>
              <a:spcBef>
                <a:spcPts val="930"/>
              </a:spcBef>
              <a:buAutoNum type="alphaUcPeriod"/>
              <a:tabLst>
                <a:tab pos="4699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Les</a:t>
            </a:r>
            <a:r>
              <a:rPr sz="3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ligaments,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la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synoviale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et</a:t>
            </a:r>
            <a:r>
              <a:rPr sz="3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le</a:t>
            </a:r>
            <a:r>
              <a:rPr sz="3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cartilage</a:t>
            </a:r>
            <a:r>
              <a:rPr sz="30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peuvent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être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lésés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par</a:t>
            </a:r>
            <a:r>
              <a:rPr sz="3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les 	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produits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la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phagocytose</a:t>
            </a:r>
            <a:endParaRPr sz="30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8630" marR="341630" indent="-455930">
              <a:lnSpc>
                <a:spcPts val="3350"/>
              </a:lnSpc>
              <a:spcBef>
                <a:spcPts val="2160"/>
              </a:spcBef>
              <a:buAutoNum type="alphaUcPeriod"/>
              <a:tabLst>
                <a:tab pos="4699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La</a:t>
            </a:r>
            <a:r>
              <a:rPr sz="3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réaction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inflammatoire</a:t>
            </a:r>
            <a:r>
              <a:rPr sz="3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peut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être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favorisée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par</a:t>
            </a:r>
            <a:r>
              <a:rPr sz="30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les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endotoxines 	bactériennes</a:t>
            </a:r>
            <a:endParaRPr sz="30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19458"/>
            <a:ext cx="10605770" cy="477075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Dans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cadre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d’une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arthrite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septique,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syndrome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inflammatoire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biologique: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6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3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toujours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présent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Permet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confirmer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diagnostic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Permet</a:t>
            </a:r>
            <a:r>
              <a:rPr sz="3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juger</a:t>
            </a:r>
            <a:r>
              <a:rPr sz="3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l’efficacité</a:t>
            </a:r>
            <a:r>
              <a:rPr sz="3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du</a:t>
            </a:r>
            <a:r>
              <a:rPr sz="3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traitement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9265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Permet</a:t>
            </a:r>
            <a:r>
              <a:rPr sz="3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sz="32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décider</a:t>
            </a:r>
            <a:r>
              <a:rPr sz="3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la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durée</a:t>
            </a: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sz="32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l’antibiothérapie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65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Permet</a:t>
            </a:r>
            <a:r>
              <a:rPr sz="3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sz="3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décider</a:t>
            </a:r>
            <a:r>
              <a:rPr sz="3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le</a:t>
            </a: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passage</a:t>
            </a:r>
            <a:r>
              <a:rPr sz="3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à</a:t>
            </a: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l’antibiothérapie</a:t>
            </a:r>
            <a:r>
              <a:rPr sz="3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par</a:t>
            </a:r>
            <a:r>
              <a:rPr sz="3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voie</a:t>
            </a:r>
            <a:r>
              <a:rPr sz="3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orale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91641"/>
            <a:ext cx="10354945" cy="4698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Dans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cadre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d’une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arthrite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septique,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radiographie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standard: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640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Permet</a:t>
            </a:r>
            <a:r>
              <a:rPr sz="3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visualiser</a:t>
            </a:r>
            <a:r>
              <a:rPr sz="32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les</a:t>
            </a: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signes</a:t>
            </a:r>
            <a:r>
              <a:rPr sz="32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d’une</a:t>
            </a:r>
            <a:r>
              <a:rPr sz="32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atteinte</a:t>
            </a:r>
            <a:r>
              <a:rPr sz="3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cartilagineuse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Peut</a:t>
            </a:r>
            <a:r>
              <a:rPr sz="32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montrer</a:t>
            </a:r>
            <a:r>
              <a:rPr sz="3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une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luxation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Peut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montrer</a:t>
            </a:r>
            <a:r>
              <a:rPr sz="32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un</a:t>
            </a:r>
            <a:r>
              <a:rPr sz="3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épanchement</a:t>
            </a:r>
            <a:r>
              <a:rPr sz="32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articulaire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Permet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 guider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ponction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articulaire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au niveau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genou</a:t>
            </a:r>
            <a:endParaRPr sz="3200" dirty="0">
              <a:latin typeface="Times New Roman"/>
              <a:cs typeface="Times New Roman"/>
            </a:endParaRPr>
          </a:p>
          <a:p>
            <a:pPr marL="468630" marR="5080" indent="-455930">
              <a:lnSpc>
                <a:spcPct val="114999"/>
              </a:lnSpc>
              <a:spcBef>
                <a:spcPts val="2080"/>
              </a:spcBef>
              <a:buAutoNum type="alphaUcPeriod"/>
              <a:tabLst>
                <a:tab pos="46990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Montre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toujours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pneumarthrose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cas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contamination 	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par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inoculation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91641"/>
            <a:ext cx="10458450" cy="5259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Concernant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les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arthrites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septiques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sur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prothèse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genou:</a:t>
            </a:r>
            <a:endParaRPr sz="3200" dirty="0">
              <a:latin typeface="Times New Roman"/>
              <a:cs typeface="Times New Roman"/>
            </a:endParaRPr>
          </a:p>
          <a:p>
            <a:pPr marL="468630" marR="370205" indent="-455930">
              <a:lnSpc>
                <a:spcPct val="114999"/>
              </a:lnSpc>
              <a:spcBef>
                <a:spcPts val="2065"/>
              </a:spcBef>
              <a:buAutoNum type="alphaUcPeriod"/>
              <a:tabLst>
                <a:tab pos="46990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mode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contamination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hématogène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pour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les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formes 	post-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opératoires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précoces</a:t>
            </a:r>
            <a:endParaRPr sz="3200" dirty="0">
              <a:latin typeface="Times New Roman"/>
              <a:cs typeface="Times New Roman"/>
            </a:endParaRPr>
          </a:p>
          <a:p>
            <a:pPr marL="468630" marR="753745" indent="-455930">
              <a:lnSpc>
                <a:spcPct val="114999"/>
              </a:lnSpc>
              <a:spcBef>
                <a:spcPts val="770"/>
              </a:spcBef>
              <a:buAutoNum type="alphaUcPeriod"/>
              <a:tabLst>
                <a:tab pos="46990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forme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clinique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plus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fréquente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forme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suraigue 	toxique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9265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Les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bactéries</a:t>
            </a: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se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fixent</a:t>
            </a:r>
            <a:r>
              <a:rPr sz="3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à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la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prothèse</a:t>
            </a:r>
            <a:r>
              <a:rPr sz="3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en constituant</a:t>
            </a:r>
            <a:r>
              <a:rPr sz="3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un</a:t>
            </a:r>
            <a:r>
              <a:rPr sz="3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biofilm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drainage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par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ponctions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itératives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peut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être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envisager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65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changement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prothèse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s’impose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toujours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91641"/>
            <a:ext cx="10757535" cy="44730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5" dirty="0">
                <a:solidFill>
                  <a:srgbClr val="FFFFFF"/>
                </a:solidFill>
                <a:latin typeface="Times New Roman"/>
                <a:cs typeface="Times New Roman"/>
              </a:rPr>
              <a:t>L’arthrite</a:t>
            </a:r>
            <a:r>
              <a:rPr sz="3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septique</a:t>
            </a:r>
            <a:r>
              <a:rPr sz="3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0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hanche:</a:t>
            </a:r>
            <a:endParaRPr sz="30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2555"/>
              </a:spcBef>
              <a:buAutoNum type="alphaUcPeriod"/>
              <a:tabLst>
                <a:tab pos="469265" algn="l"/>
              </a:tabLst>
            </a:pP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3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localisation</a:t>
            </a:r>
            <a:r>
              <a:rPr sz="3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plus</a:t>
            </a:r>
            <a:r>
              <a:rPr sz="3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fréquente</a:t>
            </a:r>
            <a:r>
              <a:rPr sz="3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chez</a:t>
            </a:r>
            <a:r>
              <a:rPr sz="3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l’adulte</a:t>
            </a:r>
            <a:r>
              <a:rPr sz="3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jeune</a:t>
            </a:r>
            <a:r>
              <a:rPr sz="3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bien</a:t>
            </a:r>
            <a:r>
              <a:rPr sz="3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portant</a:t>
            </a:r>
            <a:endParaRPr sz="3000" dirty="0">
              <a:latin typeface="Times New Roman"/>
              <a:cs typeface="Times New Roman"/>
            </a:endParaRPr>
          </a:p>
          <a:p>
            <a:pPr marL="469900" marR="746125" indent="-457200">
              <a:lnSpc>
                <a:spcPct val="114999"/>
              </a:lnSpc>
              <a:spcBef>
                <a:spcPts val="725"/>
              </a:spcBef>
              <a:buAutoNum type="alphaUcPeriod"/>
              <a:tabLst>
                <a:tab pos="4699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Peut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être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secondaire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à</a:t>
            </a:r>
            <a:r>
              <a:rPr sz="3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une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ostéomyélite</a:t>
            </a:r>
            <a:r>
              <a:rPr sz="3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du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col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fémoral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chez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le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nourrisson</a:t>
            </a:r>
            <a:endParaRPr sz="30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260"/>
              </a:spcBef>
              <a:buAutoNum type="alphaUcPeriod"/>
              <a:tabLst>
                <a:tab pos="469265" algn="l"/>
              </a:tabLst>
            </a:pP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3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fréquente</a:t>
            </a:r>
            <a:r>
              <a:rPr sz="3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chez</a:t>
            </a:r>
            <a:r>
              <a:rPr sz="3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les</a:t>
            </a:r>
            <a:r>
              <a:rPr sz="3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enfants</a:t>
            </a:r>
            <a:r>
              <a:rPr sz="3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jusqu’à</a:t>
            </a:r>
            <a:r>
              <a:rPr sz="3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l’âge</a:t>
            </a:r>
            <a:r>
              <a:rPr sz="3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3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Times New Roman"/>
                <a:cs typeface="Times New Roman"/>
              </a:rPr>
              <a:t>ans</a:t>
            </a:r>
            <a:endParaRPr sz="30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260"/>
              </a:spcBef>
              <a:buAutoNum type="alphaUcPeriod"/>
              <a:tabLst>
                <a:tab pos="468630" algn="l"/>
              </a:tabLst>
            </a:pP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Ne</a:t>
            </a:r>
            <a:r>
              <a:rPr sz="3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nécessite</a:t>
            </a:r>
            <a:r>
              <a:rPr sz="3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pas</a:t>
            </a:r>
            <a:r>
              <a:rPr sz="3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antibiothérapie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 intraveineuse</a:t>
            </a:r>
            <a:endParaRPr sz="30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560"/>
              </a:spcBef>
              <a:buAutoNum type="alphaUcPeriod"/>
              <a:tabLst>
                <a:tab pos="46863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Peux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se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manifester par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une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luxation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septique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chez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le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nouveau-né</a:t>
            </a:r>
            <a:endParaRPr sz="30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91641"/>
            <a:ext cx="9272270" cy="4698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L’arthrite</a:t>
            </a:r>
            <a:r>
              <a:rPr sz="32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septique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gonococcique: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640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Peut</a:t>
            </a:r>
            <a:r>
              <a:rPr sz="3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être</a:t>
            </a:r>
            <a:r>
              <a:rPr sz="3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associée</a:t>
            </a:r>
            <a:r>
              <a:rPr sz="3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à</a:t>
            </a:r>
            <a:r>
              <a:rPr sz="3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des</a:t>
            </a: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lésions</a:t>
            </a:r>
            <a:r>
              <a:rPr sz="3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cutanées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Peut</a:t>
            </a: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être</a:t>
            </a:r>
            <a:r>
              <a:rPr sz="3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associée</a:t>
            </a: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à</a:t>
            </a: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un</a:t>
            </a:r>
            <a:r>
              <a:rPr sz="3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écoulement</a:t>
            </a:r>
            <a:r>
              <a:rPr sz="32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génital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8630" marR="5080" indent="-455930">
              <a:lnSpc>
                <a:spcPct val="114999"/>
              </a:lnSpc>
              <a:spcBef>
                <a:spcPts val="770"/>
              </a:spcBef>
              <a:buAutoNum type="alphaUcPeriod"/>
              <a:tabLst>
                <a:tab pos="46990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Donne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souvent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des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lésions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cartilagineuses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rapidement 	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enraidissantes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et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irréversibles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926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toujours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multifocale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655"/>
              </a:spcBef>
              <a:buAutoNum type="alphaUcPeriod"/>
              <a:tabLst>
                <a:tab pos="468630" algn="l"/>
              </a:tabLst>
            </a:pP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Touche</a:t>
            </a:r>
            <a:r>
              <a:rPr sz="32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souvent</a:t>
            </a:r>
            <a:r>
              <a:rPr sz="3200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les</a:t>
            </a:r>
            <a:r>
              <a:rPr sz="32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grosses</a:t>
            </a:r>
            <a:r>
              <a:rPr sz="3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articulations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19458"/>
            <a:ext cx="10514965" cy="477075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Dans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cadre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d’une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arthrite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septique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genou,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l’immobilisation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post-opértoire: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6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Permet</a:t>
            </a:r>
            <a:r>
              <a:rPr sz="3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diminuer</a:t>
            </a:r>
            <a:r>
              <a:rPr sz="32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les</a:t>
            </a:r>
            <a:r>
              <a:rPr sz="3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douleurs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souvent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assurée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par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attelle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botte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maintenue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jusqu’à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fin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l’antibiothérapie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9265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Est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au mieux</a:t>
            </a:r>
            <a:r>
              <a:rPr sz="3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réalisée</a:t>
            </a:r>
            <a:r>
              <a:rPr sz="32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dès</a:t>
            </a:r>
            <a:r>
              <a:rPr sz="32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l’admission</a:t>
            </a:r>
            <a:r>
              <a:rPr sz="3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avant</a:t>
            </a:r>
            <a:r>
              <a:rPr sz="3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la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chirurgie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65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Peux</a:t>
            </a: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être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compliquée</a:t>
            </a:r>
            <a:r>
              <a:rPr sz="3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par</a:t>
            </a:r>
            <a:r>
              <a:rPr sz="3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une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 thrombophlébite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19458"/>
            <a:ext cx="9961245" cy="477075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bactérie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plus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fréquemment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incriminée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dans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les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arthrites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septiques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l’adulte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est: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6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Haemophilus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influenzae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Streptococcus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pneumoniae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Staphylococcus</a:t>
            </a:r>
            <a:r>
              <a:rPr sz="32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aureus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926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Pseudomonas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aeruginosa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65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Nisseria</a:t>
            </a:r>
            <a:r>
              <a:rPr sz="3200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gonorrohae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19458"/>
            <a:ext cx="9989185" cy="5331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9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Monsieur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M,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35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ans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hospitalisé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pour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endocardite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infectieuse.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Lors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son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hospitalisation,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il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 eu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arthrite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septique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genou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gauche.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Chez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patient,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contamination: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2640"/>
              </a:spcBef>
              <a:buAutoNum type="alphaUcPeriod"/>
              <a:tabLst>
                <a:tab pos="46926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est une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contamination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par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contiguïté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 err="1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 err="1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contamination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par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inoculation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9265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Est</a:t>
            </a:r>
            <a:r>
              <a:rPr sz="3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 err="1">
                <a:solidFill>
                  <a:srgbClr val="FF0000"/>
                </a:solidFill>
                <a:latin typeface="Times New Roman"/>
                <a:cs typeface="Times New Roman"/>
              </a:rPr>
              <a:t>causée</a:t>
            </a:r>
            <a:r>
              <a:rPr sz="3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par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un</a:t>
            </a:r>
            <a:r>
              <a:rPr sz="3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 err="1">
                <a:solidFill>
                  <a:srgbClr val="FF0000"/>
                </a:solidFill>
                <a:latin typeface="Times New Roman"/>
                <a:cs typeface="Times New Roman"/>
              </a:rPr>
              <a:t>embole</a:t>
            </a:r>
            <a:r>
              <a:rPr sz="3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 err="1">
                <a:solidFill>
                  <a:srgbClr val="FF0000"/>
                </a:solidFill>
                <a:latin typeface="Times New Roman"/>
                <a:cs typeface="Times New Roman"/>
              </a:rPr>
              <a:t>septique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Est</a:t>
            </a:r>
            <a:r>
              <a:rPr sz="3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 err="1">
                <a:solidFill>
                  <a:srgbClr val="FF0000"/>
                </a:solidFill>
                <a:latin typeface="Times New Roman"/>
                <a:cs typeface="Times New Roman"/>
              </a:rPr>
              <a:t>favorisée</a:t>
            </a:r>
            <a:r>
              <a:rPr sz="3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par</a:t>
            </a:r>
            <a:r>
              <a:rPr sz="3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 err="1">
                <a:solidFill>
                  <a:srgbClr val="FF0000"/>
                </a:solidFill>
                <a:latin typeface="Times New Roman"/>
                <a:cs typeface="Times New Roman"/>
              </a:rPr>
              <a:t>une</a:t>
            </a: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 err="1">
                <a:solidFill>
                  <a:srgbClr val="FF0000"/>
                </a:solidFill>
                <a:latin typeface="Times New Roman"/>
                <a:cs typeface="Times New Roman"/>
              </a:rPr>
              <a:t>septicémie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655"/>
              </a:spcBef>
              <a:buAutoNum type="alphaUcPeriod"/>
              <a:tabLst>
                <a:tab pos="468630" algn="l"/>
              </a:tabLst>
            </a:pPr>
            <a:r>
              <a:rPr sz="3200" dirty="0" err="1">
                <a:solidFill>
                  <a:srgbClr val="FF0000"/>
                </a:solidFill>
                <a:latin typeface="Times New Roman"/>
                <a:cs typeface="Times New Roman"/>
              </a:rPr>
              <a:t>est</a:t>
            </a:r>
            <a:r>
              <a:rPr sz="3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 err="1">
                <a:solidFill>
                  <a:srgbClr val="FF0000"/>
                </a:solidFill>
                <a:latin typeface="Times New Roman"/>
                <a:cs typeface="Times New Roman"/>
              </a:rPr>
              <a:t>une</a:t>
            </a:r>
            <a:r>
              <a:rPr sz="3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contamination</a:t>
            </a:r>
            <a:r>
              <a:rPr sz="32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 err="1">
                <a:solidFill>
                  <a:srgbClr val="FF0000"/>
                </a:solidFill>
                <a:latin typeface="Times New Roman"/>
                <a:cs typeface="Times New Roman"/>
              </a:rPr>
              <a:t>hématogène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19458"/>
            <a:ext cx="10812145" cy="477075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(les)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situation(s)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suivante(s)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favorise(nt)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survenue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d’une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arthrite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septique: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6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hypertension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artérielle</a:t>
            </a:r>
            <a:endParaRPr sz="3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polyarthrite</a:t>
            </a: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rhumatoïde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traitement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par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anti-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inflammatoires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non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stéroïdien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par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voie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orale</a:t>
            </a:r>
            <a:endParaRPr sz="32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9265" algn="l"/>
              </a:tabLst>
            </a:pP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diabète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65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insuffisance</a:t>
            </a:r>
            <a:r>
              <a:rPr sz="3200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rénale</a:t>
            </a:r>
            <a:r>
              <a:rPr sz="32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terminale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87723" y="1609344"/>
            <a:ext cx="4411980" cy="3450590"/>
            <a:chOff x="3887723" y="1609344"/>
            <a:chExt cx="4411980" cy="34505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7723" y="1609344"/>
              <a:ext cx="4411980" cy="345033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5729" y="1636522"/>
              <a:ext cx="4320540" cy="33602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935729" y="1636522"/>
              <a:ext cx="4320540" cy="3360420"/>
            </a:xfrm>
            <a:custGeom>
              <a:avLst/>
              <a:gdLst/>
              <a:ahLst/>
              <a:cxnLst/>
              <a:rect l="l" t="t" r="r" b="b"/>
              <a:pathLst>
                <a:path w="4320540" h="3360420">
                  <a:moveTo>
                    <a:pt x="1243203" y="1177670"/>
                  </a:moveTo>
                  <a:lnTo>
                    <a:pt x="1249144" y="1137545"/>
                  </a:lnTo>
                  <a:lnTo>
                    <a:pt x="1266068" y="1100710"/>
                  </a:lnTo>
                  <a:lnTo>
                    <a:pt x="1292628" y="1068216"/>
                  </a:lnTo>
                  <a:lnTo>
                    <a:pt x="1327474" y="1041113"/>
                  </a:lnTo>
                  <a:lnTo>
                    <a:pt x="1369258" y="1020453"/>
                  </a:lnTo>
                  <a:lnTo>
                    <a:pt x="1416632" y="1007287"/>
                  </a:lnTo>
                  <a:lnTo>
                    <a:pt x="1468247" y="1002664"/>
                  </a:lnTo>
                  <a:lnTo>
                    <a:pt x="1519814" y="1007287"/>
                  </a:lnTo>
                  <a:lnTo>
                    <a:pt x="1567154" y="1020453"/>
                  </a:lnTo>
                  <a:lnTo>
                    <a:pt x="1608915" y="1041113"/>
                  </a:lnTo>
                  <a:lnTo>
                    <a:pt x="1643748" y="1068216"/>
                  </a:lnTo>
                  <a:lnTo>
                    <a:pt x="1670301" y="1100710"/>
                  </a:lnTo>
                  <a:lnTo>
                    <a:pt x="1687223" y="1137545"/>
                  </a:lnTo>
                  <a:lnTo>
                    <a:pt x="1693164" y="1177670"/>
                  </a:lnTo>
                  <a:lnTo>
                    <a:pt x="1687223" y="1217796"/>
                  </a:lnTo>
                  <a:lnTo>
                    <a:pt x="1670301" y="1254631"/>
                  </a:lnTo>
                  <a:lnTo>
                    <a:pt x="1643748" y="1287125"/>
                  </a:lnTo>
                  <a:lnTo>
                    <a:pt x="1608915" y="1314228"/>
                  </a:lnTo>
                  <a:lnTo>
                    <a:pt x="1567154" y="1334888"/>
                  </a:lnTo>
                  <a:lnTo>
                    <a:pt x="1519814" y="1348054"/>
                  </a:lnTo>
                  <a:lnTo>
                    <a:pt x="1468247" y="1352677"/>
                  </a:lnTo>
                  <a:lnTo>
                    <a:pt x="1416632" y="1348054"/>
                  </a:lnTo>
                  <a:lnTo>
                    <a:pt x="1369258" y="1334888"/>
                  </a:lnTo>
                  <a:lnTo>
                    <a:pt x="1327474" y="1314228"/>
                  </a:lnTo>
                  <a:lnTo>
                    <a:pt x="1292628" y="1287125"/>
                  </a:lnTo>
                  <a:lnTo>
                    <a:pt x="1266068" y="1254631"/>
                  </a:lnTo>
                  <a:lnTo>
                    <a:pt x="1249144" y="1217796"/>
                  </a:lnTo>
                  <a:lnTo>
                    <a:pt x="1243203" y="1177670"/>
                  </a:lnTo>
                </a:path>
                <a:path w="4320540" h="3360420">
                  <a:moveTo>
                    <a:pt x="2627376" y="1177670"/>
                  </a:moveTo>
                  <a:lnTo>
                    <a:pt x="2633316" y="1137545"/>
                  </a:lnTo>
                  <a:lnTo>
                    <a:pt x="2650238" y="1100710"/>
                  </a:lnTo>
                  <a:lnTo>
                    <a:pt x="2676791" y="1068216"/>
                  </a:lnTo>
                  <a:lnTo>
                    <a:pt x="2711624" y="1041113"/>
                  </a:lnTo>
                  <a:lnTo>
                    <a:pt x="2753385" y="1020453"/>
                  </a:lnTo>
                  <a:lnTo>
                    <a:pt x="2800725" y="1007287"/>
                  </a:lnTo>
                  <a:lnTo>
                    <a:pt x="2852293" y="1002664"/>
                  </a:lnTo>
                  <a:lnTo>
                    <a:pt x="2903907" y="1007287"/>
                  </a:lnTo>
                  <a:lnTo>
                    <a:pt x="2951281" y="1020453"/>
                  </a:lnTo>
                  <a:lnTo>
                    <a:pt x="2993065" y="1041113"/>
                  </a:lnTo>
                  <a:lnTo>
                    <a:pt x="3027911" y="1068216"/>
                  </a:lnTo>
                  <a:lnTo>
                    <a:pt x="3054471" y="1100710"/>
                  </a:lnTo>
                  <a:lnTo>
                    <a:pt x="3071395" y="1137545"/>
                  </a:lnTo>
                  <a:lnTo>
                    <a:pt x="3077337" y="1177670"/>
                  </a:lnTo>
                  <a:lnTo>
                    <a:pt x="3071395" y="1217796"/>
                  </a:lnTo>
                  <a:lnTo>
                    <a:pt x="3054471" y="1254631"/>
                  </a:lnTo>
                  <a:lnTo>
                    <a:pt x="3027911" y="1287125"/>
                  </a:lnTo>
                  <a:lnTo>
                    <a:pt x="2993065" y="1314228"/>
                  </a:lnTo>
                  <a:lnTo>
                    <a:pt x="2951281" y="1334888"/>
                  </a:lnTo>
                  <a:lnTo>
                    <a:pt x="2903907" y="1348054"/>
                  </a:lnTo>
                  <a:lnTo>
                    <a:pt x="2852293" y="1352677"/>
                  </a:lnTo>
                  <a:lnTo>
                    <a:pt x="2800725" y="1348054"/>
                  </a:lnTo>
                  <a:lnTo>
                    <a:pt x="2753385" y="1334888"/>
                  </a:lnTo>
                  <a:lnTo>
                    <a:pt x="2711624" y="1314228"/>
                  </a:lnTo>
                  <a:lnTo>
                    <a:pt x="2676791" y="1287125"/>
                  </a:lnTo>
                  <a:lnTo>
                    <a:pt x="2650238" y="1254631"/>
                  </a:lnTo>
                  <a:lnTo>
                    <a:pt x="2633316" y="1217796"/>
                  </a:lnTo>
                  <a:lnTo>
                    <a:pt x="2627376" y="1177670"/>
                  </a:lnTo>
                </a:path>
                <a:path w="4320540" h="3360420">
                  <a:moveTo>
                    <a:pt x="989457" y="2412872"/>
                  </a:moveTo>
                  <a:lnTo>
                    <a:pt x="1036288" y="2437389"/>
                  </a:lnTo>
                  <a:lnTo>
                    <a:pt x="1083117" y="2460904"/>
                  </a:lnTo>
                  <a:lnTo>
                    <a:pt x="1129944" y="2483419"/>
                  </a:lnTo>
                  <a:lnTo>
                    <a:pt x="1176770" y="2504933"/>
                  </a:lnTo>
                  <a:lnTo>
                    <a:pt x="1223592" y="2525447"/>
                  </a:lnTo>
                  <a:lnTo>
                    <a:pt x="1270413" y="2544959"/>
                  </a:lnTo>
                  <a:lnTo>
                    <a:pt x="1317232" y="2563472"/>
                  </a:lnTo>
                  <a:lnTo>
                    <a:pt x="1364048" y="2580983"/>
                  </a:lnTo>
                  <a:lnTo>
                    <a:pt x="1410863" y="2597494"/>
                  </a:lnTo>
                  <a:lnTo>
                    <a:pt x="1457675" y="2613004"/>
                  </a:lnTo>
                  <a:lnTo>
                    <a:pt x="1504485" y="2627514"/>
                  </a:lnTo>
                  <a:lnTo>
                    <a:pt x="1551293" y="2641023"/>
                  </a:lnTo>
                  <a:lnTo>
                    <a:pt x="1598099" y="2653531"/>
                  </a:lnTo>
                  <a:lnTo>
                    <a:pt x="1644903" y="2665038"/>
                  </a:lnTo>
                  <a:lnTo>
                    <a:pt x="1691704" y="2675545"/>
                  </a:lnTo>
                  <a:lnTo>
                    <a:pt x="1738504" y="2685052"/>
                  </a:lnTo>
                  <a:lnTo>
                    <a:pt x="1785301" y="2693557"/>
                  </a:lnTo>
                  <a:lnTo>
                    <a:pt x="1832096" y="2701062"/>
                  </a:lnTo>
                  <a:lnTo>
                    <a:pt x="1878889" y="2707566"/>
                  </a:lnTo>
                  <a:lnTo>
                    <a:pt x="1925680" y="2713070"/>
                  </a:lnTo>
                  <a:lnTo>
                    <a:pt x="1972469" y="2717573"/>
                  </a:lnTo>
                  <a:lnTo>
                    <a:pt x="2019256" y="2721075"/>
                  </a:lnTo>
                  <a:lnTo>
                    <a:pt x="2066040" y="2723577"/>
                  </a:lnTo>
                  <a:lnTo>
                    <a:pt x="2112823" y="2725078"/>
                  </a:lnTo>
                  <a:lnTo>
                    <a:pt x="2159603" y="2725578"/>
                  </a:lnTo>
                  <a:lnTo>
                    <a:pt x="2206381" y="2725078"/>
                  </a:lnTo>
                  <a:lnTo>
                    <a:pt x="2253157" y="2723577"/>
                  </a:lnTo>
                  <a:lnTo>
                    <a:pt x="2299931" y="2721075"/>
                  </a:lnTo>
                  <a:lnTo>
                    <a:pt x="2346702" y="2717573"/>
                  </a:lnTo>
                  <a:lnTo>
                    <a:pt x="2393472" y="2713070"/>
                  </a:lnTo>
                  <a:lnTo>
                    <a:pt x="2440239" y="2707566"/>
                  </a:lnTo>
                  <a:lnTo>
                    <a:pt x="2487005" y="2701062"/>
                  </a:lnTo>
                  <a:lnTo>
                    <a:pt x="2533768" y="2693557"/>
                  </a:lnTo>
                  <a:lnTo>
                    <a:pt x="2580529" y="2685052"/>
                  </a:lnTo>
                  <a:lnTo>
                    <a:pt x="2627288" y="2675545"/>
                  </a:lnTo>
                  <a:lnTo>
                    <a:pt x="2674045" y="2665038"/>
                  </a:lnTo>
                  <a:lnTo>
                    <a:pt x="2720799" y="2653531"/>
                  </a:lnTo>
                  <a:lnTo>
                    <a:pt x="2767552" y="2641023"/>
                  </a:lnTo>
                  <a:lnTo>
                    <a:pt x="2814302" y="2627514"/>
                  </a:lnTo>
                  <a:lnTo>
                    <a:pt x="2861050" y="2613004"/>
                  </a:lnTo>
                  <a:lnTo>
                    <a:pt x="2907797" y="2597494"/>
                  </a:lnTo>
                  <a:lnTo>
                    <a:pt x="2954541" y="2580983"/>
                  </a:lnTo>
                  <a:lnTo>
                    <a:pt x="3001282" y="2563472"/>
                  </a:lnTo>
                  <a:lnTo>
                    <a:pt x="3048022" y="2544959"/>
                  </a:lnTo>
                  <a:lnTo>
                    <a:pt x="3094760" y="2525447"/>
                  </a:lnTo>
                  <a:lnTo>
                    <a:pt x="3141495" y="2504933"/>
                  </a:lnTo>
                  <a:lnTo>
                    <a:pt x="3188228" y="2483419"/>
                  </a:lnTo>
                  <a:lnTo>
                    <a:pt x="3234960" y="2460904"/>
                  </a:lnTo>
                  <a:lnTo>
                    <a:pt x="3281689" y="2437389"/>
                  </a:lnTo>
                  <a:lnTo>
                    <a:pt x="3328416" y="2412872"/>
                  </a:lnTo>
                </a:path>
                <a:path w="4320540" h="3360420">
                  <a:moveTo>
                    <a:pt x="0" y="1680082"/>
                  </a:moveTo>
                  <a:lnTo>
                    <a:pt x="663" y="1638030"/>
                  </a:lnTo>
                  <a:lnTo>
                    <a:pt x="2643" y="1596231"/>
                  </a:lnTo>
                  <a:lnTo>
                    <a:pt x="5925" y="1554699"/>
                  </a:lnTo>
                  <a:lnTo>
                    <a:pt x="10493" y="1513444"/>
                  </a:lnTo>
                  <a:lnTo>
                    <a:pt x="16331" y="1472480"/>
                  </a:lnTo>
                  <a:lnTo>
                    <a:pt x="23423" y="1431817"/>
                  </a:lnTo>
                  <a:lnTo>
                    <a:pt x="31756" y="1391469"/>
                  </a:lnTo>
                  <a:lnTo>
                    <a:pt x="41312" y="1351447"/>
                  </a:lnTo>
                  <a:lnTo>
                    <a:pt x="52077" y="1311763"/>
                  </a:lnTo>
                  <a:lnTo>
                    <a:pt x="64034" y="1272429"/>
                  </a:lnTo>
                  <a:lnTo>
                    <a:pt x="77170" y="1233458"/>
                  </a:lnTo>
                  <a:lnTo>
                    <a:pt x="91467" y="1194860"/>
                  </a:lnTo>
                  <a:lnTo>
                    <a:pt x="106911" y="1156650"/>
                  </a:lnTo>
                  <a:lnTo>
                    <a:pt x="123486" y="1118837"/>
                  </a:lnTo>
                  <a:lnTo>
                    <a:pt x="141177" y="1081435"/>
                  </a:lnTo>
                  <a:lnTo>
                    <a:pt x="159968" y="1044455"/>
                  </a:lnTo>
                  <a:lnTo>
                    <a:pt x="179843" y="1007910"/>
                  </a:lnTo>
                  <a:lnTo>
                    <a:pt x="200788" y="971812"/>
                  </a:lnTo>
                  <a:lnTo>
                    <a:pt x="222786" y="936171"/>
                  </a:lnTo>
                  <a:lnTo>
                    <a:pt x="245823" y="901002"/>
                  </a:lnTo>
                  <a:lnTo>
                    <a:pt x="269883" y="866315"/>
                  </a:lnTo>
                  <a:lnTo>
                    <a:pt x="294950" y="832122"/>
                  </a:lnTo>
                  <a:lnTo>
                    <a:pt x="321009" y="798437"/>
                  </a:lnTo>
                  <a:lnTo>
                    <a:pt x="348044" y="765270"/>
                  </a:lnTo>
                  <a:lnTo>
                    <a:pt x="376040" y="732633"/>
                  </a:lnTo>
                  <a:lnTo>
                    <a:pt x="404982" y="700540"/>
                  </a:lnTo>
                  <a:lnTo>
                    <a:pt x="434853" y="669001"/>
                  </a:lnTo>
                  <a:lnTo>
                    <a:pt x="465639" y="638029"/>
                  </a:lnTo>
                  <a:lnTo>
                    <a:pt x="497324" y="607636"/>
                  </a:lnTo>
                  <a:lnTo>
                    <a:pt x="529893" y="577834"/>
                  </a:lnTo>
                  <a:lnTo>
                    <a:pt x="563330" y="548634"/>
                  </a:lnTo>
                  <a:lnTo>
                    <a:pt x="597619" y="520050"/>
                  </a:lnTo>
                  <a:lnTo>
                    <a:pt x="632745" y="492093"/>
                  </a:lnTo>
                  <a:lnTo>
                    <a:pt x="668693" y="464774"/>
                  </a:lnTo>
                  <a:lnTo>
                    <a:pt x="705448" y="438107"/>
                  </a:lnTo>
                  <a:lnTo>
                    <a:pt x="742992" y="412103"/>
                  </a:lnTo>
                  <a:lnTo>
                    <a:pt x="781313" y="386774"/>
                  </a:lnTo>
                  <a:lnTo>
                    <a:pt x="820393" y="362132"/>
                  </a:lnTo>
                  <a:lnTo>
                    <a:pt x="860217" y="338189"/>
                  </a:lnTo>
                  <a:lnTo>
                    <a:pt x="900770" y="314958"/>
                  </a:lnTo>
                  <a:lnTo>
                    <a:pt x="942036" y="292450"/>
                  </a:lnTo>
                  <a:lnTo>
                    <a:pt x="984000" y="270677"/>
                  </a:lnTo>
                  <a:lnTo>
                    <a:pt x="1026647" y="249651"/>
                  </a:lnTo>
                  <a:lnTo>
                    <a:pt x="1069960" y="229385"/>
                  </a:lnTo>
                  <a:lnTo>
                    <a:pt x="1113925" y="209890"/>
                  </a:lnTo>
                  <a:lnTo>
                    <a:pt x="1158526" y="191179"/>
                  </a:lnTo>
                  <a:lnTo>
                    <a:pt x="1203748" y="173263"/>
                  </a:lnTo>
                  <a:lnTo>
                    <a:pt x="1249574" y="156154"/>
                  </a:lnTo>
                  <a:lnTo>
                    <a:pt x="1295990" y="139865"/>
                  </a:lnTo>
                  <a:lnTo>
                    <a:pt x="1342980" y="124408"/>
                  </a:lnTo>
                  <a:lnTo>
                    <a:pt x="1390529" y="109794"/>
                  </a:lnTo>
                  <a:lnTo>
                    <a:pt x="1438621" y="96036"/>
                  </a:lnTo>
                  <a:lnTo>
                    <a:pt x="1487240" y="83145"/>
                  </a:lnTo>
                  <a:lnTo>
                    <a:pt x="1536372" y="71134"/>
                  </a:lnTo>
                  <a:lnTo>
                    <a:pt x="1586000" y="60015"/>
                  </a:lnTo>
                  <a:lnTo>
                    <a:pt x="1636110" y="49800"/>
                  </a:lnTo>
                  <a:lnTo>
                    <a:pt x="1686685" y="40500"/>
                  </a:lnTo>
                  <a:lnTo>
                    <a:pt x="1737711" y="32128"/>
                  </a:lnTo>
                  <a:lnTo>
                    <a:pt x="1789171" y="24696"/>
                  </a:lnTo>
                  <a:lnTo>
                    <a:pt x="1841051" y="18216"/>
                  </a:lnTo>
                  <a:lnTo>
                    <a:pt x="1893335" y="12700"/>
                  </a:lnTo>
                  <a:lnTo>
                    <a:pt x="1946007" y="8160"/>
                  </a:lnTo>
                  <a:lnTo>
                    <a:pt x="1999052" y="4608"/>
                  </a:lnTo>
                  <a:lnTo>
                    <a:pt x="2052454" y="2056"/>
                  </a:lnTo>
                  <a:lnTo>
                    <a:pt x="2106199" y="516"/>
                  </a:lnTo>
                  <a:lnTo>
                    <a:pt x="2160270" y="0"/>
                  </a:lnTo>
                  <a:lnTo>
                    <a:pt x="2214340" y="516"/>
                  </a:lnTo>
                  <a:lnTo>
                    <a:pt x="2268085" y="2056"/>
                  </a:lnTo>
                  <a:lnTo>
                    <a:pt x="2321487" y="4608"/>
                  </a:lnTo>
                  <a:lnTo>
                    <a:pt x="2374532" y="8160"/>
                  </a:lnTo>
                  <a:lnTo>
                    <a:pt x="2427204" y="12700"/>
                  </a:lnTo>
                  <a:lnTo>
                    <a:pt x="2479488" y="18216"/>
                  </a:lnTo>
                  <a:lnTo>
                    <a:pt x="2531368" y="24696"/>
                  </a:lnTo>
                  <a:lnTo>
                    <a:pt x="2582828" y="32128"/>
                  </a:lnTo>
                  <a:lnTo>
                    <a:pt x="2633854" y="40500"/>
                  </a:lnTo>
                  <a:lnTo>
                    <a:pt x="2684429" y="49800"/>
                  </a:lnTo>
                  <a:lnTo>
                    <a:pt x="2734539" y="60015"/>
                  </a:lnTo>
                  <a:lnTo>
                    <a:pt x="2784167" y="71134"/>
                  </a:lnTo>
                  <a:lnTo>
                    <a:pt x="2833299" y="83145"/>
                  </a:lnTo>
                  <a:lnTo>
                    <a:pt x="2881918" y="96036"/>
                  </a:lnTo>
                  <a:lnTo>
                    <a:pt x="2930010" y="109794"/>
                  </a:lnTo>
                  <a:lnTo>
                    <a:pt x="2977559" y="124408"/>
                  </a:lnTo>
                  <a:lnTo>
                    <a:pt x="3024549" y="139865"/>
                  </a:lnTo>
                  <a:lnTo>
                    <a:pt x="3070965" y="156154"/>
                  </a:lnTo>
                  <a:lnTo>
                    <a:pt x="3116791" y="173263"/>
                  </a:lnTo>
                  <a:lnTo>
                    <a:pt x="3162013" y="191179"/>
                  </a:lnTo>
                  <a:lnTo>
                    <a:pt x="3206614" y="209890"/>
                  </a:lnTo>
                  <a:lnTo>
                    <a:pt x="3250579" y="229385"/>
                  </a:lnTo>
                  <a:lnTo>
                    <a:pt x="3293892" y="249651"/>
                  </a:lnTo>
                  <a:lnTo>
                    <a:pt x="3336539" y="270677"/>
                  </a:lnTo>
                  <a:lnTo>
                    <a:pt x="3378503" y="292450"/>
                  </a:lnTo>
                  <a:lnTo>
                    <a:pt x="3419769" y="314958"/>
                  </a:lnTo>
                  <a:lnTo>
                    <a:pt x="3460322" y="338189"/>
                  </a:lnTo>
                  <a:lnTo>
                    <a:pt x="3500146" y="362132"/>
                  </a:lnTo>
                  <a:lnTo>
                    <a:pt x="3539226" y="386774"/>
                  </a:lnTo>
                  <a:lnTo>
                    <a:pt x="3577547" y="412103"/>
                  </a:lnTo>
                  <a:lnTo>
                    <a:pt x="3615091" y="438107"/>
                  </a:lnTo>
                  <a:lnTo>
                    <a:pt x="3651846" y="464774"/>
                  </a:lnTo>
                  <a:lnTo>
                    <a:pt x="3687794" y="492093"/>
                  </a:lnTo>
                  <a:lnTo>
                    <a:pt x="3722920" y="520050"/>
                  </a:lnTo>
                  <a:lnTo>
                    <a:pt x="3757209" y="548634"/>
                  </a:lnTo>
                  <a:lnTo>
                    <a:pt x="3790646" y="577834"/>
                  </a:lnTo>
                  <a:lnTo>
                    <a:pt x="3823215" y="607636"/>
                  </a:lnTo>
                  <a:lnTo>
                    <a:pt x="3854900" y="638029"/>
                  </a:lnTo>
                  <a:lnTo>
                    <a:pt x="3885686" y="669001"/>
                  </a:lnTo>
                  <a:lnTo>
                    <a:pt x="3915557" y="700540"/>
                  </a:lnTo>
                  <a:lnTo>
                    <a:pt x="3944499" y="732633"/>
                  </a:lnTo>
                  <a:lnTo>
                    <a:pt x="3972495" y="765270"/>
                  </a:lnTo>
                  <a:lnTo>
                    <a:pt x="3999530" y="798437"/>
                  </a:lnTo>
                  <a:lnTo>
                    <a:pt x="4025589" y="832122"/>
                  </a:lnTo>
                  <a:lnTo>
                    <a:pt x="4050656" y="866315"/>
                  </a:lnTo>
                  <a:lnTo>
                    <a:pt x="4074716" y="901002"/>
                  </a:lnTo>
                  <a:lnTo>
                    <a:pt x="4097753" y="936171"/>
                  </a:lnTo>
                  <a:lnTo>
                    <a:pt x="4119751" y="971812"/>
                  </a:lnTo>
                  <a:lnTo>
                    <a:pt x="4140696" y="1007910"/>
                  </a:lnTo>
                  <a:lnTo>
                    <a:pt x="4160571" y="1044455"/>
                  </a:lnTo>
                  <a:lnTo>
                    <a:pt x="4179362" y="1081435"/>
                  </a:lnTo>
                  <a:lnTo>
                    <a:pt x="4197053" y="1118837"/>
                  </a:lnTo>
                  <a:lnTo>
                    <a:pt x="4213628" y="1156650"/>
                  </a:lnTo>
                  <a:lnTo>
                    <a:pt x="4229072" y="1194860"/>
                  </a:lnTo>
                  <a:lnTo>
                    <a:pt x="4243369" y="1233458"/>
                  </a:lnTo>
                  <a:lnTo>
                    <a:pt x="4256505" y="1272429"/>
                  </a:lnTo>
                  <a:lnTo>
                    <a:pt x="4268462" y="1311763"/>
                  </a:lnTo>
                  <a:lnTo>
                    <a:pt x="4279227" y="1351447"/>
                  </a:lnTo>
                  <a:lnTo>
                    <a:pt x="4288783" y="1391469"/>
                  </a:lnTo>
                  <a:lnTo>
                    <a:pt x="4297116" y="1431817"/>
                  </a:lnTo>
                  <a:lnTo>
                    <a:pt x="4304208" y="1472480"/>
                  </a:lnTo>
                  <a:lnTo>
                    <a:pt x="4310046" y="1513444"/>
                  </a:lnTo>
                  <a:lnTo>
                    <a:pt x="4314614" y="1554699"/>
                  </a:lnTo>
                  <a:lnTo>
                    <a:pt x="4317896" y="1596231"/>
                  </a:lnTo>
                  <a:lnTo>
                    <a:pt x="4319876" y="1638030"/>
                  </a:lnTo>
                  <a:lnTo>
                    <a:pt x="4320540" y="1680082"/>
                  </a:lnTo>
                  <a:lnTo>
                    <a:pt x="4319876" y="1722141"/>
                  </a:lnTo>
                  <a:lnTo>
                    <a:pt x="4317896" y="1763945"/>
                  </a:lnTo>
                  <a:lnTo>
                    <a:pt x="4314614" y="1805483"/>
                  </a:lnTo>
                  <a:lnTo>
                    <a:pt x="4310046" y="1846743"/>
                  </a:lnTo>
                  <a:lnTo>
                    <a:pt x="4304208" y="1887712"/>
                  </a:lnTo>
                  <a:lnTo>
                    <a:pt x="4297116" y="1928379"/>
                  </a:lnTo>
                  <a:lnTo>
                    <a:pt x="4288783" y="1968732"/>
                  </a:lnTo>
                  <a:lnTo>
                    <a:pt x="4279227" y="2008759"/>
                  </a:lnTo>
                  <a:lnTo>
                    <a:pt x="4268462" y="2048447"/>
                  </a:lnTo>
                  <a:lnTo>
                    <a:pt x="4256505" y="2087785"/>
                  </a:lnTo>
                  <a:lnTo>
                    <a:pt x="4243369" y="2126761"/>
                  </a:lnTo>
                  <a:lnTo>
                    <a:pt x="4229072" y="2165362"/>
                  </a:lnTo>
                  <a:lnTo>
                    <a:pt x="4213628" y="2203577"/>
                  </a:lnTo>
                  <a:lnTo>
                    <a:pt x="4197053" y="2241393"/>
                  </a:lnTo>
                  <a:lnTo>
                    <a:pt x="4179362" y="2278798"/>
                  </a:lnTo>
                  <a:lnTo>
                    <a:pt x="4160571" y="2315781"/>
                  </a:lnTo>
                  <a:lnTo>
                    <a:pt x="4140696" y="2352330"/>
                  </a:lnTo>
                  <a:lnTo>
                    <a:pt x="4119751" y="2388432"/>
                  </a:lnTo>
                  <a:lnTo>
                    <a:pt x="4097753" y="2424075"/>
                  </a:lnTo>
                  <a:lnTo>
                    <a:pt x="4074716" y="2459247"/>
                  </a:lnTo>
                  <a:lnTo>
                    <a:pt x="4050656" y="2493937"/>
                  </a:lnTo>
                  <a:lnTo>
                    <a:pt x="4025589" y="2528132"/>
                  </a:lnTo>
                  <a:lnTo>
                    <a:pt x="3999530" y="2561820"/>
                  </a:lnTo>
                  <a:lnTo>
                    <a:pt x="3972495" y="2594990"/>
                  </a:lnTo>
                  <a:lnTo>
                    <a:pt x="3944499" y="2627628"/>
                  </a:lnTo>
                  <a:lnTo>
                    <a:pt x="3915557" y="2659724"/>
                  </a:lnTo>
                  <a:lnTo>
                    <a:pt x="3885686" y="2691265"/>
                  </a:lnTo>
                  <a:lnTo>
                    <a:pt x="3854900" y="2722239"/>
                  </a:lnTo>
                  <a:lnTo>
                    <a:pt x="3823215" y="2752634"/>
                  </a:lnTo>
                  <a:lnTo>
                    <a:pt x="3790646" y="2782438"/>
                  </a:lnTo>
                  <a:lnTo>
                    <a:pt x="3757209" y="2811639"/>
                  </a:lnTo>
                  <a:lnTo>
                    <a:pt x="3722920" y="2840225"/>
                  </a:lnTo>
                  <a:lnTo>
                    <a:pt x="3687794" y="2868183"/>
                  </a:lnTo>
                  <a:lnTo>
                    <a:pt x="3651846" y="2895503"/>
                  </a:lnTo>
                  <a:lnTo>
                    <a:pt x="3615091" y="2922172"/>
                  </a:lnTo>
                  <a:lnTo>
                    <a:pt x="3577547" y="2948177"/>
                  </a:lnTo>
                  <a:lnTo>
                    <a:pt x="3539226" y="2973507"/>
                  </a:lnTo>
                  <a:lnTo>
                    <a:pt x="3500146" y="2998150"/>
                  </a:lnTo>
                  <a:lnTo>
                    <a:pt x="3460322" y="3022094"/>
                  </a:lnTo>
                  <a:lnTo>
                    <a:pt x="3419769" y="3045326"/>
                  </a:lnTo>
                  <a:lnTo>
                    <a:pt x="3378503" y="3067835"/>
                  </a:lnTo>
                  <a:lnTo>
                    <a:pt x="3336539" y="3089609"/>
                  </a:lnTo>
                  <a:lnTo>
                    <a:pt x="3293892" y="3110635"/>
                  </a:lnTo>
                  <a:lnTo>
                    <a:pt x="3250579" y="3130902"/>
                  </a:lnTo>
                  <a:lnTo>
                    <a:pt x="3206614" y="3150398"/>
                  </a:lnTo>
                  <a:lnTo>
                    <a:pt x="3162013" y="3169110"/>
                  </a:lnTo>
                  <a:lnTo>
                    <a:pt x="3116791" y="3187026"/>
                  </a:lnTo>
                  <a:lnTo>
                    <a:pt x="3070965" y="3204135"/>
                  </a:lnTo>
                  <a:lnTo>
                    <a:pt x="3024549" y="3220425"/>
                  </a:lnTo>
                  <a:lnTo>
                    <a:pt x="2977559" y="3235882"/>
                  </a:lnTo>
                  <a:lnTo>
                    <a:pt x="2930010" y="3250496"/>
                  </a:lnTo>
                  <a:lnTo>
                    <a:pt x="2881918" y="3264255"/>
                  </a:lnTo>
                  <a:lnTo>
                    <a:pt x="2833299" y="3277146"/>
                  </a:lnTo>
                  <a:lnTo>
                    <a:pt x="2784167" y="3289157"/>
                  </a:lnTo>
                  <a:lnTo>
                    <a:pt x="2734539" y="3300276"/>
                  </a:lnTo>
                  <a:lnTo>
                    <a:pt x="2684429" y="3310492"/>
                  </a:lnTo>
                  <a:lnTo>
                    <a:pt x="2633854" y="3319791"/>
                  </a:lnTo>
                  <a:lnTo>
                    <a:pt x="2582828" y="3328163"/>
                  </a:lnTo>
                  <a:lnTo>
                    <a:pt x="2531368" y="3335595"/>
                  </a:lnTo>
                  <a:lnTo>
                    <a:pt x="2479488" y="3342075"/>
                  </a:lnTo>
                  <a:lnTo>
                    <a:pt x="2427204" y="3347592"/>
                  </a:lnTo>
                  <a:lnTo>
                    <a:pt x="2374532" y="3352132"/>
                  </a:lnTo>
                  <a:lnTo>
                    <a:pt x="2321487" y="3355684"/>
                  </a:lnTo>
                  <a:lnTo>
                    <a:pt x="2268085" y="3358236"/>
                  </a:lnTo>
                  <a:lnTo>
                    <a:pt x="2214340" y="3359776"/>
                  </a:lnTo>
                  <a:lnTo>
                    <a:pt x="2160270" y="3360292"/>
                  </a:lnTo>
                  <a:lnTo>
                    <a:pt x="2106199" y="3359776"/>
                  </a:lnTo>
                  <a:lnTo>
                    <a:pt x="2052454" y="3358236"/>
                  </a:lnTo>
                  <a:lnTo>
                    <a:pt x="1999052" y="3355684"/>
                  </a:lnTo>
                  <a:lnTo>
                    <a:pt x="1946007" y="3352132"/>
                  </a:lnTo>
                  <a:lnTo>
                    <a:pt x="1893335" y="3347592"/>
                  </a:lnTo>
                  <a:lnTo>
                    <a:pt x="1841051" y="3342075"/>
                  </a:lnTo>
                  <a:lnTo>
                    <a:pt x="1789171" y="3335595"/>
                  </a:lnTo>
                  <a:lnTo>
                    <a:pt x="1737711" y="3328163"/>
                  </a:lnTo>
                  <a:lnTo>
                    <a:pt x="1686685" y="3319791"/>
                  </a:lnTo>
                  <a:lnTo>
                    <a:pt x="1636110" y="3310492"/>
                  </a:lnTo>
                  <a:lnTo>
                    <a:pt x="1586000" y="3300276"/>
                  </a:lnTo>
                  <a:lnTo>
                    <a:pt x="1536372" y="3289157"/>
                  </a:lnTo>
                  <a:lnTo>
                    <a:pt x="1487240" y="3277146"/>
                  </a:lnTo>
                  <a:lnTo>
                    <a:pt x="1438621" y="3264255"/>
                  </a:lnTo>
                  <a:lnTo>
                    <a:pt x="1390529" y="3250496"/>
                  </a:lnTo>
                  <a:lnTo>
                    <a:pt x="1342980" y="3235882"/>
                  </a:lnTo>
                  <a:lnTo>
                    <a:pt x="1295990" y="3220425"/>
                  </a:lnTo>
                  <a:lnTo>
                    <a:pt x="1249574" y="3204135"/>
                  </a:lnTo>
                  <a:lnTo>
                    <a:pt x="1203748" y="3187026"/>
                  </a:lnTo>
                  <a:lnTo>
                    <a:pt x="1158526" y="3169110"/>
                  </a:lnTo>
                  <a:lnTo>
                    <a:pt x="1113925" y="3150398"/>
                  </a:lnTo>
                  <a:lnTo>
                    <a:pt x="1069960" y="3130902"/>
                  </a:lnTo>
                  <a:lnTo>
                    <a:pt x="1026647" y="3110635"/>
                  </a:lnTo>
                  <a:lnTo>
                    <a:pt x="984000" y="3089609"/>
                  </a:lnTo>
                  <a:lnTo>
                    <a:pt x="942036" y="3067835"/>
                  </a:lnTo>
                  <a:lnTo>
                    <a:pt x="900770" y="3045326"/>
                  </a:lnTo>
                  <a:lnTo>
                    <a:pt x="860217" y="3022094"/>
                  </a:lnTo>
                  <a:lnTo>
                    <a:pt x="820393" y="2998150"/>
                  </a:lnTo>
                  <a:lnTo>
                    <a:pt x="781313" y="2973507"/>
                  </a:lnTo>
                  <a:lnTo>
                    <a:pt x="742992" y="2948177"/>
                  </a:lnTo>
                  <a:lnTo>
                    <a:pt x="705448" y="2922172"/>
                  </a:lnTo>
                  <a:lnTo>
                    <a:pt x="668693" y="2895503"/>
                  </a:lnTo>
                  <a:lnTo>
                    <a:pt x="632745" y="2868183"/>
                  </a:lnTo>
                  <a:lnTo>
                    <a:pt x="597619" y="2840225"/>
                  </a:lnTo>
                  <a:lnTo>
                    <a:pt x="563330" y="2811639"/>
                  </a:lnTo>
                  <a:lnTo>
                    <a:pt x="529893" y="2782438"/>
                  </a:lnTo>
                  <a:lnTo>
                    <a:pt x="497324" y="2752634"/>
                  </a:lnTo>
                  <a:lnTo>
                    <a:pt x="465639" y="2722239"/>
                  </a:lnTo>
                  <a:lnTo>
                    <a:pt x="434853" y="2691265"/>
                  </a:lnTo>
                  <a:lnTo>
                    <a:pt x="404982" y="2659724"/>
                  </a:lnTo>
                  <a:lnTo>
                    <a:pt x="376040" y="2627628"/>
                  </a:lnTo>
                  <a:lnTo>
                    <a:pt x="348044" y="2594990"/>
                  </a:lnTo>
                  <a:lnTo>
                    <a:pt x="321009" y="2561820"/>
                  </a:lnTo>
                  <a:lnTo>
                    <a:pt x="294950" y="2528132"/>
                  </a:lnTo>
                  <a:lnTo>
                    <a:pt x="269883" y="2493937"/>
                  </a:lnTo>
                  <a:lnTo>
                    <a:pt x="245823" y="2459247"/>
                  </a:lnTo>
                  <a:lnTo>
                    <a:pt x="222786" y="2424075"/>
                  </a:lnTo>
                  <a:lnTo>
                    <a:pt x="200788" y="2388432"/>
                  </a:lnTo>
                  <a:lnTo>
                    <a:pt x="179843" y="2352330"/>
                  </a:lnTo>
                  <a:lnTo>
                    <a:pt x="159968" y="2315781"/>
                  </a:lnTo>
                  <a:lnTo>
                    <a:pt x="141177" y="2278798"/>
                  </a:lnTo>
                  <a:lnTo>
                    <a:pt x="123486" y="2241393"/>
                  </a:lnTo>
                  <a:lnTo>
                    <a:pt x="106911" y="2203577"/>
                  </a:lnTo>
                  <a:lnTo>
                    <a:pt x="91467" y="2165362"/>
                  </a:lnTo>
                  <a:lnTo>
                    <a:pt x="77170" y="2126761"/>
                  </a:lnTo>
                  <a:lnTo>
                    <a:pt x="64034" y="2087785"/>
                  </a:lnTo>
                  <a:lnTo>
                    <a:pt x="52077" y="2048447"/>
                  </a:lnTo>
                  <a:lnTo>
                    <a:pt x="41312" y="2008759"/>
                  </a:lnTo>
                  <a:lnTo>
                    <a:pt x="31756" y="1968732"/>
                  </a:lnTo>
                  <a:lnTo>
                    <a:pt x="23423" y="1928379"/>
                  </a:lnTo>
                  <a:lnTo>
                    <a:pt x="16331" y="1887712"/>
                  </a:lnTo>
                  <a:lnTo>
                    <a:pt x="10493" y="1846743"/>
                  </a:lnTo>
                  <a:lnTo>
                    <a:pt x="5925" y="1805483"/>
                  </a:lnTo>
                  <a:lnTo>
                    <a:pt x="2643" y="1763945"/>
                  </a:lnTo>
                  <a:lnTo>
                    <a:pt x="663" y="1722141"/>
                  </a:lnTo>
                  <a:lnTo>
                    <a:pt x="0" y="1680082"/>
                  </a:lnTo>
                  <a:close/>
                </a:path>
              </a:pathLst>
            </a:custGeom>
            <a:ln w="9525">
              <a:solidFill>
                <a:srgbClr val="CCB4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52017"/>
            <a:ext cx="10380980" cy="462597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ts val="2510"/>
              </a:lnSpc>
              <a:spcBef>
                <a:spcPts val="285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Madame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R,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âgée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68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ans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eu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infiltration</a:t>
            </a:r>
            <a:r>
              <a:rPr sz="2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corticoïdes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au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niveau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son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épaule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droite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pour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omarthrose.</a:t>
            </a:r>
            <a:r>
              <a:rPr sz="2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Trois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jours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après,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elle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consulte</a:t>
            </a:r>
            <a:r>
              <a:rPr sz="2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pour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douleur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fébrile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son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épaule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droite.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ponction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liquide</a:t>
            </a:r>
            <a:r>
              <a:rPr sz="2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articulaire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ramène</a:t>
            </a:r>
            <a:r>
              <a:rPr sz="2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liquide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purulent.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Concernant</a:t>
            </a:r>
            <a:r>
              <a:rPr sz="2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mode</a:t>
            </a:r>
            <a:r>
              <a:rPr sz="2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contamination:</a:t>
            </a:r>
            <a:endParaRPr sz="22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760"/>
              </a:spcBef>
              <a:buAutoNum type="alphaUcPeriod"/>
              <a:tabLst>
                <a:tab pos="468630" algn="l"/>
              </a:tabLst>
            </a:pPr>
            <a:r>
              <a:rPr sz="2700" spc="-20" dirty="0">
                <a:solidFill>
                  <a:srgbClr val="FFFFFF"/>
                </a:solidFill>
                <a:latin typeface="Times New Roman"/>
                <a:cs typeface="Times New Roman"/>
              </a:rPr>
              <a:t>L’omarthrose</a:t>
            </a: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27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un</a:t>
            </a:r>
            <a:r>
              <a:rPr sz="27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facteur</a:t>
            </a:r>
            <a:r>
              <a:rPr sz="27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favorisant</a:t>
            </a:r>
            <a:r>
              <a:rPr sz="27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7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survenue</a:t>
            </a:r>
            <a:r>
              <a:rPr sz="27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7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Times New Roman"/>
                <a:cs typeface="Times New Roman"/>
              </a:rPr>
              <a:t>l’infection</a:t>
            </a:r>
            <a:endParaRPr sz="270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495"/>
              </a:spcBef>
              <a:buAutoNum type="alphaUcPeriod"/>
              <a:tabLst>
                <a:tab pos="469265" algn="l"/>
              </a:tabLst>
            </a:pP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Il</a:t>
            </a:r>
            <a:r>
              <a:rPr sz="27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s’agit</a:t>
            </a:r>
            <a:r>
              <a:rPr sz="27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d’une</a:t>
            </a:r>
            <a:r>
              <a:rPr sz="27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contamination</a:t>
            </a:r>
            <a:r>
              <a:rPr sz="27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par</a:t>
            </a:r>
            <a:r>
              <a:rPr sz="27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FF0000"/>
                </a:solidFill>
                <a:latin typeface="Times New Roman"/>
                <a:cs typeface="Times New Roman"/>
              </a:rPr>
              <a:t>inoculation</a:t>
            </a:r>
            <a:endParaRPr sz="27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480"/>
              </a:spcBef>
              <a:buAutoNum type="alphaUcPeriod"/>
              <a:tabLst>
                <a:tab pos="469265" algn="l"/>
              </a:tabLst>
            </a:pP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Un</a:t>
            </a:r>
            <a:r>
              <a:rPr sz="27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défaut</a:t>
            </a:r>
            <a:r>
              <a:rPr sz="27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d’asepsie</a:t>
            </a:r>
            <a:r>
              <a:rPr sz="27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lors</a:t>
            </a:r>
            <a:r>
              <a:rPr sz="27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sz="27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l’infiltration</a:t>
            </a:r>
            <a:r>
              <a:rPr sz="27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peut</a:t>
            </a:r>
            <a:r>
              <a:rPr sz="27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causer</a:t>
            </a:r>
            <a:r>
              <a:rPr sz="27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cette</a:t>
            </a:r>
            <a:r>
              <a:rPr sz="27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FF0000"/>
                </a:solidFill>
                <a:latin typeface="Times New Roman"/>
                <a:cs typeface="Times New Roman"/>
              </a:rPr>
              <a:t>infection</a:t>
            </a:r>
            <a:endParaRPr sz="27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8630" indent="-455930">
              <a:lnSpc>
                <a:spcPts val="3125"/>
              </a:lnSpc>
              <a:spcBef>
                <a:spcPts val="550"/>
              </a:spcBef>
              <a:buAutoNum type="alphaUcPeriod"/>
              <a:tabLst>
                <a:tab pos="468630" algn="l"/>
              </a:tabLst>
            </a:pP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Les corticoïdes</a:t>
            </a:r>
            <a:r>
              <a:rPr sz="27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injectées</a:t>
            </a:r>
            <a:r>
              <a:rPr sz="27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inhibent</a:t>
            </a:r>
            <a:r>
              <a:rPr sz="27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l’immunité</a:t>
            </a:r>
            <a:r>
              <a:rPr sz="27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locale</a:t>
            </a:r>
            <a:r>
              <a:rPr sz="27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au niveau de</a:t>
            </a:r>
            <a:r>
              <a:rPr sz="27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spc="-25" dirty="0">
                <a:solidFill>
                  <a:srgbClr val="FF0000"/>
                </a:solidFill>
                <a:latin typeface="Times New Roman"/>
                <a:cs typeface="Times New Roman"/>
              </a:rPr>
              <a:t>la</a:t>
            </a:r>
            <a:endParaRPr sz="27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9900">
              <a:lnSpc>
                <a:spcPts val="3125"/>
              </a:lnSpc>
            </a:pPr>
            <a:r>
              <a:rPr sz="2700" dirty="0">
                <a:solidFill>
                  <a:srgbClr val="FF0000"/>
                </a:solidFill>
                <a:latin typeface="Times New Roman"/>
                <a:cs typeface="Times New Roman"/>
              </a:rPr>
              <a:t>synoviale</a:t>
            </a:r>
            <a:r>
              <a:rPr sz="27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FF0000"/>
                </a:solidFill>
                <a:latin typeface="Times New Roman"/>
                <a:cs typeface="Times New Roman"/>
              </a:rPr>
              <a:t>articulaire</a:t>
            </a:r>
            <a:endParaRPr sz="27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790"/>
              </a:spcBef>
              <a:buAutoNum type="alphaUcPeriod" startAt="5"/>
              <a:tabLst>
                <a:tab pos="469265" algn="l"/>
              </a:tabLst>
            </a:pP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C’est</a:t>
            </a:r>
            <a:r>
              <a:rPr sz="27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27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FFFFFF"/>
                </a:solidFill>
                <a:latin typeface="Times New Roman"/>
                <a:cs typeface="Times New Roman"/>
              </a:rPr>
              <a:t>contamination</a:t>
            </a:r>
            <a:r>
              <a:rPr sz="27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Times New Roman"/>
                <a:cs typeface="Times New Roman"/>
              </a:rPr>
              <a:t>hématogène</a:t>
            </a:r>
            <a:endParaRPr sz="27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41349"/>
            <a:ext cx="695261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Concernant</a:t>
            </a:r>
            <a:r>
              <a:rPr sz="25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5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physiopathologie</a:t>
            </a:r>
            <a:r>
              <a:rPr sz="25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5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solidFill>
                  <a:srgbClr val="FFFFFF"/>
                </a:solidFill>
                <a:latin typeface="Times New Roman"/>
                <a:cs typeface="Times New Roman"/>
              </a:rPr>
              <a:t>cette</a:t>
            </a:r>
            <a:r>
              <a:rPr sz="25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complication: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1259789"/>
            <a:ext cx="9572625" cy="908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475"/>
              </a:lnSpc>
              <a:spcBef>
                <a:spcPts val="100"/>
              </a:spcBef>
            </a:pPr>
            <a:r>
              <a:rPr sz="3000" dirty="0">
                <a:latin typeface="Times New Roman"/>
                <a:cs typeface="Times New Roman"/>
              </a:rPr>
              <a:t>A.</a:t>
            </a:r>
            <a:r>
              <a:rPr sz="3000" spc="-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cartilage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articulaire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peut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résister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pendant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des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semaines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imes New Roman"/>
                <a:cs typeface="Times New Roman"/>
              </a:rPr>
              <a:t>à</a:t>
            </a:r>
            <a:endParaRPr sz="3000">
              <a:latin typeface="Times New Roman"/>
              <a:cs typeface="Times New Roman"/>
            </a:endParaRPr>
          </a:p>
          <a:p>
            <a:pPr marL="469900">
              <a:lnSpc>
                <a:spcPts val="3475"/>
              </a:lnSpc>
            </a:pPr>
            <a:r>
              <a:rPr sz="3000" spc="-10" dirty="0">
                <a:latin typeface="Times New Roman"/>
                <a:cs typeface="Times New Roman"/>
              </a:rPr>
              <a:t>l’infection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340" y="2134093"/>
            <a:ext cx="10832465" cy="3207288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710"/>
              </a:spcBef>
              <a:buAutoNum type="alphaUcPeriod" startAt="2"/>
              <a:tabLst>
                <a:tab pos="469265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Le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tendon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long</a:t>
            </a:r>
            <a:r>
              <a:rPr sz="3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biceps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peut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être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détruit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par</a:t>
            </a:r>
            <a:r>
              <a:rPr sz="3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l’infection</a:t>
            </a:r>
            <a:endParaRPr sz="30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9900" marR="415925" indent="-457200">
              <a:lnSpc>
                <a:spcPts val="3350"/>
              </a:lnSpc>
              <a:spcBef>
                <a:spcPts val="930"/>
              </a:spcBef>
              <a:buAutoNum type="alphaUcPeriod" startAt="2"/>
              <a:tabLst>
                <a:tab pos="469900" algn="l"/>
              </a:tabLst>
            </a:pP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membrane</a:t>
            </a:r>
            <a:r>
              <a:rPr sz="3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synoviale</a:t>
            </a:r>
            <a:r>
              <a:rPr sz="3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3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3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dernier</a:t>
            </a:r>
            <a:r>
              <a:rPr sz="3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élément</a:t>
            </a:r>
            <a:r>
              <a:rPr sz="3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à</a:t>
            </a:r>
            <a:r>
              <a:rPr sz="3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être</a:t>
            </a:r>
            <a:r>
              <a:rPr sz="3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colonisé</a:t>
            </a:r>
            <a:r>
              <a:rPr sz="3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Times New Roman"/>
                <a:cs typeface="Times New Roman"/>
              </a:rPr>
              <a:t>par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les</a:t>
            </a:r>
            <a:r>
              <a:rPr sz="3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bactéries</a:t>
            </a:r>
            <a:endParaRPr sz="3000" dirty="0">
              <a:latin typeface="Times New Roman"/>
              <a:cs typeface="Times New Roman"/>
            </a:endParaRPr>
          </a:p>
          <a:p>
            <a:pPr marL="468630" indent="-455930">
              <a:lnSpc>
                <a:spcPts val="3475"/>
              </a:lnSpc>
              <a:spcBef>
                <a:spcPts val="540"/>
              </a:spcBef>
              <a:buAutoNum type="alphaUcPeriod" startAt="2"/>
              <a:tabLst>
                <a:tab pos="468630" algn="l"/>
              </a:tabLst>
            </a:pP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L’aspect</a:t>
            </a:r>
            <a:r>
              <a:rPr sz="30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purulent</a:t>
            </a:r>
            <a:r>
              <a:rPr sz="30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du</a:t>
            </a:r>
            <a:r>
              <a:rPr sz="3000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liquide</a:t>
            </a:r>
            <a:r>
              <a:rPr sz="3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ponctionné</a:t>
            </a:r>
            <a:r>
              <a:rPr sz="30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témoigne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sz="300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l’activation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endParaRPr sz="30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9900">
              <a:lnSpc>
                <a:spcPts val="3475"/>
              </a:lnSpc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la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 phagocytose</a:t>
            </a:r>
            <a:endParaRPr sz="30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850"/>
              </a:spcBef>
              <a:buAutoNum type="alphaUcPeriod" startAt="5"/>
              <a:tabLst>
                <a:tab pos="46863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Le</a:t>
            </a:r>
            <a:r>
              <a:rPr sz="30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liquide</a:t>
            </a:r>
            <a:r>
              <a:rPr sz="30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articulaire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contient</a:t>
            </a:r>
            <a:r>
              <a:rPr sz="30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des</a:t>
            </a:r>
            <a:r>
              <a:rPr sz="30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polynucléaires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neutrophiles</a:t>
            </a:r>
            <a:endParaRPr sz="30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87723" y="1609344"/>
            <a:ext cx="4411980" cy="3450590"/>
            <a:chOff x="3887723" y="1609344"/>
            <a:chExt cx="4411980" cy="34505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7723" y="1609344"/>
              <a:ext cx="4411980" cy="345033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5729" y="1636522"/>
              <a:ext cx="4320540" cy="33602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935729" y="1636522"/>
              <a:ext cx="4320540" cy="3360420"/>
            </a:xfrm>
            <a:custGeom>
              <a:avLst/>
              <a:gdLst/>
              <a:ahLst/>
              <a:cxnLst/>
              <a:rect l="l" t="t" r="r" b="b"/>
              <a:pathLst>
                <a:path w="4320540" h="3360420">
                  <a:moveTo>
                    <a:pt x="1243203" y="1177670"/>
                  </a:moveTo>
                  <a:lnTo>
                    <a:pt x="1249144" y="1137545"/>
                  </a:lnTo>
                  <a:lnTo>
                    <a:pt x="1266068" y="1100710"/>
                  </a:lnTo>
                  <a:lnTo>
                    <a:pt x="1292628" y="1068216"/>
                  </a:lnTo>
                  <a:lnTo>
                    <a:pt x="1327474" y="1041113"/>
                  </a:lnTo>
                  <a:lnTo>
                    <a:pt x="1369258" y="1020453"/>
                  </a:lnTo>
                  <a:lnTo>
                    <a:pt x="1416632" y="1007287"/>
                  </a:lnTo>
                  <a:lnTo>
                    <a:pt x="1468247" y="1002664"/>
                  </a:lnTo>
                  <a:lnTo>
                    <a:pt x="1519814" y="1007287"/>
                  </a:lnTo>
                  <a:lnTo>
                    <a:pt x="1567154" y="1020453"/>
                  </a:lnTo>
                  <a:lnTo>
                    <a:pt x="1608915" y="1041113"/>
                  </a:lnTo>
                  <a:lnTo>
                    <a:pt x="1643748" y="1068216"/>
                  </a:lnTo>
                  <a:lnTo>
                    <a:pt x="1670301" y="1100710"/>
                  </a:lnTo>
                  <a:lnTo>
                    <a:pt x="1687223" y="1137545"/>
                  </a:lnTo>
                  <a:lnTo>
                    <a:pt x="1693164" y="1177670"/>
                  </a:lnTo>
                  <a:lnTo>
                    <a:pt x="1687223" y="1217796"/>
                  </a:lnTo>
                  <a:lnTo>
                    <a:pt x="1670301" y="1254631"/>
                  </a:lnTo>
                  <a:lnTo>
                    <a:pt x="1643748" y="1287125"/>
                  </a:lnTo>
                  <a:lnTo>
                    <a:pt x="1608915" y="1314228"/>
                  </a:lnTo>
                  <a:lnTo>
                    <a:pt x="1567154" y="1334888"/>
                  </a:lnTo>
                  <a:lnTo>
                    <a:pt x="1519814" y="1348054"/>
                  </a:lnTo>
                  <a:lnTo>
                    <a:pt x="1468247" y="1352677"/>
                  </a:lnTo>
                  <a:lnTo>
                    <a:pt x="1416632" y="1348054"/>
                  </a:lnTo>
                  <a:lnTo>
                    <a:pt x="1369258" y="1334888"/>
                  </a:lnTo>
                  <a:lnTo>
                    <a:pt x="1327474" y="1314228"/>
                  </a:lnTo>
                  <a:lnTo>
                    <a:pt x="1292628" y="1287125"/>
                  </a:lnTo>
                  <a:lnTo>
                    <a:pt x="1266068" y="1254631"/>
                  </a:lnTo>
                  <a:lnTo>
                    <a:pt x="1249144" y="1217796"/>
                  </a:lnTo>
                  <a:lnTo>
                    <a:pt x="1243203" y="1177670"/>
                  </a:lnTo>
                </a:path>
                <a:path w="4320540" h="3360420">
                  <a:moveTo>
                    <a:pt x="2627376" y="1177670"/>
                  </a:moveTo>
                  <a:lnTo>
                    <a:pt x="2633316" y="1137545"/>
                  </a:lnTo>
                  <a:lnTo>
                    <a:pt x="2650238" y="1100710"/>
                  </a:lnTo>
                  <a:lnTo>
                    <a:pt x="2676791" y="1068216"/>
                  </a:lnTo>
                  <a:lnTo>
                    <a:pt x="2711624" y="1041113"/>
                  </a:lnTo>
                  <a:lnTo>
                    <a:pt x="2753385" y="1020453"/>
                  </a:lnTo>
                  <a:lnTo>
                    <a:pt x="2800725" y="1007287"/>
                  </a:lnTo>
                  <a:lnTo>
                    <a:pt x="2852293" y="1002664"/>
                  </a:lnTo>
                  <a:lnTo>
                    <a:pt x="2903907" y="1007287"/>
                  </a:lnTo>
                  <a:lnTo>
                    <a:pt x="2951281" y="1020453"/>
                  </a:lnTo>
                  <a:lnTo>
                    <a:pt x="2993065" y="1041113"/>
                  </a:lnTo>
                  <a:lnTo>
                    <a:pt x="3027911" y="1068216"/>
                  </a:lnTo>
                  <a:lnTo>
                    <a:pt x="3054471" y="1100710"/>
                  </a:lnTo>
                  <a:lnTo>
                    <a:pt x="3071395" y="1137545"/>
                  </a:lnTo>
                  <a:lnTo>
                    <a:pt x="3077337" y="1177670"/>
                  </a:lnTo>
                  <a:lnTo>
                    <a:pt x="3071395" y="1217796"/>
                  </a:lnTo>
                  <a:lnTo>
                    <a:pt x="3054471" y="1254631"/>
                  </a:lnTo>
                  <a:lnTo>
                    <a:pt x="3027911" y="1287125"/>
                  </a:lnTo>
                  <a:lnTo>
                    <a:pt x="2993065" y="1314228"/>
                  </a:lnTo>
                  <a:lnTo>
                    <a:pt x="2951281" y="1334888"/>
                  </a:lnTo>
                  <a:lnTo>
                    <a:pt x="2903907" y="1348054"/>
                  </a:lnTo>
                  <a:lnTo>
                    <a:pt x="2852293" y="1352677"/>
                  </a:lnTo>
                  <a:lnTo>
                    <a:pt x="2800725" y="1348054"/>
                  </a:lnTo>
                  <a:lnTo>
                    <a:pt x="2753385" y="1334888"/>
                  </a:lnTo>
                  <a:lnTo>
                    <a:pt x="2711624" y="1314228"/>
                  </a:lnTo>
                  <a:lnTo>
                    <a:pt x="2676791" y="1287125"/>
                  </a:lnTo>
                  <a:lnTo>
                    <a:pt x="2650238" y="1254631"/>
                  </a:lnTo>
                  <a:lnTo>
                    <a:pt x="2633316" y="1217796"/>
                  </a:lnTo>
                  <a:lnTo>
                    <a:pt x="2627376" y="1177670"/>
                  </a:lnTo>
                </a:path>
                <a:path w="4320540" h="3360420">
                  <a:moveTo>
                    <a:pt x="989457" y="2412872"/>
                  </a:moveTo>
                  <a:lnTo>
                    <a:pt x="1036288" y="2437389"/>
                  </a:lnTo>
                  <a:lnTo>
                    <a:pt x="1083117" y="2460904"/>
                  </a:lnTo>
                  <a:lnTo>
                    <a:pt x="1129944" y="2483419"/>
                  </a:lnTo>
                  <a:lnTo>
                    <a:pt x="1176770" y="2504933"/>
                  </a:lnTo>
                  <a:lnTo>
                    <a:pt x="1223592" y="2525447"/>
                  </a:lnTo>
                  <a:lnTo>
                    <a:pt x="1270413" y="2544959"/>
                  </a:lnTo>
                  <a:lnTo>
                    <a:pt x="1317232" y="2563472"/>
                  </a:lnTo>
                  <a:lnTo>
                    <a:pt x="1364048" y="2580983"/>
                  </a:lnTo>
                  <a:lnTo>
                    <a:pt x="1410863" y="2597494"/>
                  </a:lnTo>
                  <a:lnTo>
                    <a:pt x="1457675" y="2613004"/>
                  </a:lnTo>
                  <a:lnTo>
                    <a:pt x="1504485" y="2627514"/>
                  </a:lnTo>
                  <a:lnTo>
                    <a:pt x="1551293" y="2641023"/>
                  </a:lnTo>
                  <a:lnTo>
                    <a:pt x="1598099" y="2653531"/>
                  </a:lnTo>
                  <a:lnTo>
                    <a:pt x="1644903" y="2665038"/>
                  </a:lnTo>
                  <a:lnTo>
                    <a:pt x="1691704" y="2675545"/>
                  </a:lnTo>
                  <a:lnTo>
                    <a:pt x="1738504" y="2685052"/>
                  </a:lnTo>
                  <a:lnTo>
                    <a:pt x="1785301" y="2693557"/>
                  </a:lnTo>
                  <a:lnTo>
                    <a:pt x="1832096" y="2701062"/>
                  </a:lnTo>
                  <a:lnTo>
                    <a:pt x="1878889" y="2707566"/>
                  </a:lnTo>
                  <a:lnTo>
                    <a:pt x="1925680" y="2713070"/>
                  </a:lnTo>
                  <a:lnTo>
                    <a:pt x="1972469" y="2717573"/>
                  </a:lnTo>
                  <a:lnTo>
                    <a:pt x="2019256" y="2721075"/>
                  </a:lnTo>
                  <a:lnTo>
                    <a:pt x="2066040" y="2723577"/>
                  </a:lnTo>
                  <a:lnTo>
                    <a:pt x="2112823" y="2725078"/>
                  </a:lnTo>
                  <a:lnTo>
                    <a:pt x="2159603" y="2725578"/>
                  </a:lnTo>
                  <a:lnTo>
                    <a:pt x="2206381" y="2725078"/>
                  </a:lnTo>
                  <a:lnTo>
                    <a:pt x="2253157" y="2723577"/>
                  </a:lnTo>
                  <a:lnTo>
                    <a:pt x="2299931" y="2721075"/>
                  </a:lnTo>
                  <a:lnTo>
                    <a:pt x="2346702" y="2717573"/>
                  </a:lnTo>
                  <a:lnTo>
                    <a:pt x="2393472" y="2713070"/>
                  </a:lnTo>
                  <a:lnTo>
                    <a:pt x="2440239" y="2707566"/>
                  </a:lnTo>
                  <a:lnTo>
                    <a:pt x="2487005" y="2701062"/>
                  </a:lnTo>
                  <a:lnTo>
                    <a:pt x="2533768" y="2693557"/>
                  </a:lnTo>
                  <a:lnTo>
                    <a:pt x="2580529" y="2685052"/>
                  </a:lnTo>
                  <a:lnTo>
                    <a:pt x="2627288" y="2675545"/>
                  </a:lnTo>
                  <a:lnTo>
                    <a:pt x="2674045" y="2665038"/>
                  </a:lnTo>
                  <a:lnTo>
                    <a:pt x="2720799" y="2653531"/>
                  </a:lnTo>
                  <a:lnTo>
                    <a:pt x="2767552" y="2641023"/>
                  </a:lnTo>
                  <a:lnTo>
                    <a:pt x="2814302" y="2627514"/>
                  </a:lnTo>
                  <a:lnTo>
                    <a:pt x="2861050" y="2613004"/>
                  </a:lnTo>
                  <a:lnTo>
                    <a:pt x="2907797" y="2597494"/>
                  </a:lnTo>
                  <a:lnTo>
                    <a:pt x="2954541" y="2580983"/>
                  </a:lnTo>
                  <a:lnTo>
                    <a:pt x="3001282" y="2563472"/>
                  </a:lnTo>
                  <a:lnTo>
                    <a:pt x="3048022" y="2544959"/>
                  </a:lnTo>
                  <a:lnTo>
                    <a:pt x="3094760" y="2525447"/>
                  </a:lnTo>
                  <a:lnTo>
                    <a:pt x="3141495" y="2504933"/>
                  </a:lnTo>
                  <a:lnTo>
                    <a:pt x="3188228" y="2483419"/>
                  </a:lnTo>
                  <a:lnTo>
                    <a:pt x="3234960" y="2460904"/>
                  </a:lnTo>
                  <a:lnTo>
                    <a:pt x="3281689" y="2437389"/>
                  </a:lnTo>
                  <a:lnTo>
                    <a:pt x="3328416" y="2412872"/>
                  </a:lnTo>
                </a:path>
                <a:path w="4320540" h="3360420">
                  <a:moveTo>
                    <a:pt x="0" y="1680082"/>
                  </a:moveTo>
                  <a:lnTo>
                    <a:pt x="663" y="1638030"/>
                  </a:lnTo>
                  <a:lnTo>
                    <a:pt x="2643" y="1596231"/>
                  </a:lnTo>
                  <a:lnTo>
                    <a:pt x="5925" y="1554699"/>
                  </a:lnTo>
                  <a:lnTo>
                    <a:pt x="10493" y="1513444"/>
                  </a:lnTo>
                  <a:lnTo>
                    <a:pt x="16331" y="1472480"/>
                  </a:lnTo>
                  <a:lnTo>
                    <a:pt x="23423" y="1431817"/>
                  </a:lnTo>
                  <a:lnTo>
                    <a:pt x="31756" y="1391469"/>
                  </a:lnTo>
                  <a:lnTo>
                    <a:pt x="41312" y="1351447"/>
                  </a:lnTo>
                  <a:lnTo>
                    <a:pt x="52077" y="1311763"/>
                  </a:lnTo>
                  <a:lnTo>
                    <a:pt x="64034" y="1272429"/>
                  </a:lnTo>
                  <a:lnTo>
                    <a:pt x="77170" y="1233458"/>
                  </a:lnTo>
                  <a:lnTo>
                    <a:pt x="91467" y="1194860"/>
                  </a:lnTo>
                  <a:lnTo>
                    <a:pt x="106911" y="1156650"/>
                  </a:lnTo>
                  <a:lnTo>
                    <a:pt x="123486" y="1118837"/>
                  </a:lnTo>
                  <a:lnTo>
                    <a:pt x="141177" y="1081435"/>
                  </a:lnTo>
                  <a:lnTo>
                    <a:pt x="159968" y="1044455"/>
                  </a:lnTo>
                  <a:lnTo>
                    <a:pt x="179843" y="1007910"/>
                  </a:lnTo>
                  <a:lnTo>
                    <a:pt x="200788" y="971812"/>
                  </a:lnTo>
                  <a:lnTo>
                    <a:pt x="222786" y="936171"/>
                  </a:lnTo>
                  <a:lnTo>
                    <a:pt x="245823" y="901002"/>
                  </a:lnTo>
                  <a:lnTo>
                    <a:pt x="269883" y="866315"/>
                  </a:lnTo>
                  <a:lnTo>
                    <a:pt x="294950" y="832122"/>
                  </a:lnTo>
                  <a:lnTo>
                    <a:pt x="321009" y="798437"/>
                  </a:lnTo>
                  <a:lnTo>
                    <a:pt x="348044" y="765270"/>
                  </a:lnTo>
                  <a:lnTo>
                    <a:pt x="376040" y="732633"/>
                  </a:lnTo>
                  <a:lnTo>
                    <a:pt x="404982" y="700540"/>
                  </a:lnTo>
                  <a:lnTo>
                    <a:pt x="434853" y="669001"/>
                  </a:lnTo>
                  <a:lnTo>
                    <a:pt x="465639" y="638029"/>
                  </a:lnTo>
                  <a:lnTo>
                    <a:pt x="497324" y="607636"/>
                  </a:lnTo>
                  <a:lnTo>
                    <a:pt x="529893" y="577834"/>
                  </a:lnTo>
                  <a:lnTo>
                    <a:pt x="563330" y="548634"/>
                  </a:lnTo>
                  <a:lnTo>
                    <a:pt x="597619" y="520050"/>
                  </a:lnTo>
                  <a:lnTo>
                    <a:pt x="632745" y="492093"/>
                  </a:lnTo>
                  <a:lnTo>
                    <a:pt x="668693" y="464774"/>
                  </a:lnTo>
                  <a:lnTo>
                    <a:pt x="705448" y="438107"/>
                  </a:lnTo>
                  <a:lnTo>
                    <a:pt x="742992" y="412103"/>
                  </a:lnTo>
                  <a:lnTo>
                    <a:pt x="781313" y="386774"/>
                  </a:lnTo>
                  <a:lnTo>
                    <a:pt x="820393" y="362132"/>
                  </a:lnTo>
                  <a:lnTo>
                    <a:pt x="860217" y="338189"/>
                  </a:lnTo>
                  <a:lnTo>
                    <a:pt x="900770" y="314958"/>
                  </a:lnTo>
                  <a:lnTo>
                    <a:pt x="942036" y="292450"/>
                  </a:lnTo>
                  <a:lnTo>
                    <a:pt x="984000" y="270677"/>
                  </a:lnTo>
                  <a:lnTo>
                    <a:pt x="1026647" y="249651"/>
                  </a:lnTo>
                  <a:lnTo>
                    <a:pt x="1069960" y="229385"/>
                  </a:lnTo>
                  <a:lnTo>
                    <a:pt x="1113925" y="209890"/>
                  </a:lnTo>
                  <a:lnTo>
                    <a:pt x="1158526" y="191179"/>
                  </a:lnTo>
                  <a:lnTo>
                    <a:pt x="1203748" y="173263"/>
                  </a:lnTo>
                  <a:lnTo>
                    <a:pt x="1249574" y="156154"/>
                  </a:lnTo>
                  <a:lnTo>
                    <a:pt x="1295990" y="139865"/>
                  </a:lnTo>
                  <a:lnTo>
                    <a:pt x="1342980" y="124408"/>
                  </a:lnTo>
                  <a:lnTo>
                    <a:pt x="1390529" y="109794"/>
                  </a:lnTo>
                  <a:lnTo>
                    <a:pt x="1438621" y="96036"/>
                  </a:lnTo>
                  <a:lnTo>
                    <a:pt x="1487240" y="83145"/>
                  </a:lnTo>
                  <a:lnTo>
                    <a:pt x="1536372" y="71134"/>
                  </a:lnTo>
                  <a:lnTo>
                    <a:pt x="1586000" y="60015"/>
                  </a:lnTo>
                  <a:lnTo>
                    <a:pt x="1636110" y="49800"/>
                  </a:lnTo>
                  <a:lnTo>
                    <a:pt x="1686685" y="40500"/>
                  </a:lnTo>
                  <a:lnTo>
                    <a:pt x="1737711" y="32128"/>
                  </a:lnTo>
                  <a:lnTo>
                    <a:pt x="1789171" y="24696"/>
                  </a:lnTo>
                  <a:lnTo>
                    <a:pt x="1841051" y="18216"/>
                  </a:lnTo>
                  <a:lnTo>
                    <a:pt x="1893335" y="12700"/>
                  </a:lnTo>
                  <a:lnTo>
                    <a:pt x="1946007" y="8160"/>
                  </a:lnTo>
                  <a:lnTo>
                    <a:pt x="1999052" y="4608"/>
                  </a:lnTo>
                  <a:lnTo>
                    <a:pt x="2052454" y="2056"/>
                  </a:lnTo>
                  <a:lnTo>
                    <a:pt x="2106199" y="516"/>
                  </a:lnTo>
                  <a:lnTo>
                    <a:pt x="2160270" y="0"/>
                  </a:lnTo>
                  <a:lnTo>
                    <a:pt x="2214340" y="516"/>
                  </a:lnTo>
                  <a:lnTo>
                    <a:pt x="2268085" y="2056"/>
                  </a:lnTo>
                  <a:lnTo>
                    <a:pt x="2321487" y="4608"/>
                  </a:lnTo>
                  <a:lnTo>
                    <a:pt x="2374532" y="8160"/>
                  </a:lnTo>
                  <a:lnTo>
                    <a:pt x="2427204" y="12700"/>
                  </a:lnTo>
                  <a:lnTo>
                    <a:pt x="2479488" y="18216"/>
                  </a:lnTo>
                  <a:lnTo>
                    <a:pt x="2531368" y="24696"/>
                  </a:lnTo>
                  <a:lnTo>
                    <a:pt x="2582828" y="32128"/>
                  </a:lnTo>
                  <a:lnTo>
                    <a:pt x="2633854" y="40500"/>
                  </a:lnTo>
                  <a:lnTo>
                    <a:pt x="2684429" y="49800"/>
                  </a:lnTo>
                  <a:lnTo>
                    <a:pt x="2734539" y="60015"/>
                  </a:lnTo>
                  <a:lnTo>
                    <a:pt x="2784167" y="71134"/>
                  </a:lnTo>
                  <a:lnTo>
                    <a:pt x="2833299" y="83145"/>
                  </a:lnTo>
                  <a:lnTo>
                    <a:pt x="2881918" y="96036"/>
                  </a:lnTo>
                  <a:lnTo>
                    <a:pt x="2930010" y="109794"/>
                  </a:lnTo>
                  <a:lnTo>
                    <a:pt x="2977559" y="124408"/>
                  </a:lnTo>
                  <a:lnTo>
                    <a:pt x="3024549" y="139865"/>
                  </a:lnTo>
                  <a:lnTo>
                    <a:pt x="3070965" y="156154"/>
                  </a:lnTo>
                  <a:lnTo>
                    <a:pt x="3116791" y="173263"/>
                  </a:lnTo>
                  <a:lnTo>
                    <a:pt x="3162013" y="191179"/>
                  </a:lnTo>
                  <a:lnTo>
                    <a:pt x="3206614" y="209890"/>
                  </a:lnTo>
                  <a:lnTo>
                    <a:pt x="3250579" y="229385"/>
                  </a:lnTo>
                  <a:lnTo>
                    <a:pt x="3293892" y="249651"/>
                  </a:lnTo>
                  <a:lnTo>
                    <a:pt x="3336539" y="270677"/>
                  </a:lnTo>
                  <a:lnTo>
                    <a:pt x="3378503" y="292450"/>
                  </a:lnTo>
                  <a:lnTo>
                    <a:pt x="3419769" y="314958"/>
                  </a:lnTo>
                  <a:lnTo>
                    <a:pt x="3460322" y="338189"/>
                  </a:lnTo>
                  <a:lnTo>
                    <a:pt x="3500146" y="362132"/>
                  </a:lnTo>
                  <a:lnTo>
                    <a:pt x="3539226" y="386774"/>
                  </a:lnTo>
                  <a:lnTo>
                    <a:pt x="3577547" y="412103"/>
                  </a:lnTo>
                  <a:lnTo>
                    <a:pt x="3615091" y="438107"/>
                  </a:lnTo>
                  <a:lnTo>
                    <a:pt x="3651846" y="464774"/>
                  </a:lnTo>
                  <a:lnTo>
                    <a:pt x="3687794" y="492093"/>
                  </a:lnTo>
                  <a:lnTo>
                    <a:pt x="3722920" y="520050"/>
                  </a:lnTo>
                  <a:lnTo>
                    <a:pt x="3757209" y="548634"/>
                  </a:lnTo>
                  <a:lnTo>
                    <a:pt x="3790646" y="577834"/>
                  </a:lnTo>
                  <a:lnTo>
                    <a:pt x="3823215" y="607636"/>
                  </a:lnTo>
                  <a:lnTo>
                    <a:pt x="3854900" y="638029"/>
                  </a:lnTo>
                  <a:lnTo>
                    <a:pt x="3885686" y="669001"/>
                  </a:lnTo>
                  <a:lnTo>
                    <a:pt x="3915557" y="700540"/>
                  </a:lnTo>
                  <a:lnTo>
                    <a:pt x="3944499" y="732633"/>
                  </a:lnTo>
                  <a:lnTo>
                    <a:pt x="3972495" y="765270"/>
                  </a:lnTo>
                  <a:lnTo>
                    <a:pt x="3999530" y="798437"/>
                  </a:lnTo>
                  <a:lnTo>
                    <a:pt x="4025589" y="832122"/>
                  </a:lnTo>
                  <a:lnTo>
                    <a:pt x="4050656" y="866315"/>
                  </a:lnTo>
                  <a:lnTo>
                    <a:pt x="4074716" y="901002"/>
                  </a:lnTo>
                  <a:lnTo>
                    <a:pt x="4097753" y="936171"/>
                  </a:lnTo>
                  <a:lnTo>
                    <a:pt x="4119751" y="971812"/>
                  </a:lnTo>
                  <a:lnTo>
                    <a:pt x="4140696" y="1007910"/>
                  </a:lnTo>
                  <a:lnTo>
                    <a:pt x="4160571" y="1044455"/>
                  </a:lnTo>
                  <a:lnTo>
                    <a:pt x="4179362" y="1081435"/>
                  </a:lnTo>
                  <a:lnTo>
                    <a:pt x="4197053" y="1118837"/>
                  </a:lnTo>
                  <a:lnTo>
                    <a:pt x="4213628" y="1156650"/>
                  </a:lnTo>
                  <a:lnTo>
                    <a:pt x="4229072" y="1194860"/>
                  </a:lnTo>
                  <a:lnTo>
                    <a:pt x="4243369" y="1233458"/>
                  </a:lnTo>
                  <a:lnTo>
                    <a:pt x="4256505" y="1272429"/>
                  </a:lnTo>
                  <a:lnTo>
                    <a:pt x="4268462" y="1311763"/>
                  </a:lnTo>
                  <a:lnTo>
                    <a:pt x="4279227" y="1351447"/>
                  </a:lnTo>
                  <a:lnTo>
                    <a:pt x="4288783" y="1391469"/>
                  </a:lnTo>
                  <a:lnTo>
                    <a:pt x="4297116" y="1431817"/>
                  </a:lnTo>
                  <a:lnTo>
                    <a:pt x="4304208" y="1472480"/>
                  </a:lnTo>
                  <a:lnTo>
                    <a:pt x="4310046" y="1513444"/>
                  </a:lnTo>
                  <a:lnTo>
                    <a:pt x="4314614" y="1554699"/>
                  </a:lnTo>
                  <a:lnTo>
                    <a:pt x="4317896" y="1596231"/>
                  </a:lnTo>
                  <a:lnTo>
                    <a:pt x="4319876" y="1638030"/>
                  </a:lnTo>
                  <a:lnTo>
                    <a:pt x="4320540" y="1680082"/>
                  </a:lnTo>
                  <a:lnTo>
                    <a:pt x="4319876" y="1722141"/>
                  </a:lnTo>
                  <a:lnTo>
                    <a:pt x="4317896" y="1763945"/>
                  </a:lnTo>
                  <a:lnTo>
                    <a:pt x="4314614" y="1805483"/>
                  </a:lnTo>
                  <a:lnTo>
                    <a:pt x="4310046" y="1846743"/>
                  </a:lnTo>
                  <a:lnTo>
                    <a:pt x="4304208" y="1887712"/>
                  </a:lnTo>
                  <a:lnTo>
                    <a:pt x="4297116" y="1928379"/>
                  </a:lnTo>
                  <a:lnTo>
                    <a:pt x="4288783" y="1968732"/>
                  </a:lnTo>
                  <a:lnTo>
                    <a:pt x="4279227" y="2008759"/>
                  </a:lnTo>
                  <a:lnTo>
                    <a:pt x="4268462" y="2048447"/>
                  </a:lnTo>
                  <a:lnTo>
                    <a:pt x="4256505" y="2087785"/>
                  </a:lnTo>
                  <a:lnTo>
                    <a:pt x="4243369" y="2126761"/>
                  </a:lnTo>
                  <a:lnTo>
                    <a:pt x="4229072" y="2165362"/>
                  </a:lnTo>
                  <a:lnTo>
                    <a:pt x="4213628" y="2203577"/>
                  </a:lnTo>
                  <a:lnTo>
                    <a:pt x="4197053" y="2241393"/>
                  </a:lnTo>
                  <a:lnTo>
                    <a:pt x="4179362" y="2278798"/>
                  </a:lnTo>
                  <a:lnTo>
                    <a:pt x="4160571" y="2315781"/>
                  </a:lnTo>
                  <a:lnTo>
                    <a:pt x="4140696" y="2352330"/>
                  </a:lnTo>
                  <a:lnTo>
                    <a:pt x="4119751" y="2388432"/>
                  </a:lnTo>
                  <a:lnTo>
                    <a:pt x="4097753" y="2424075"/>
                  </a:lnTo>
                  <a:lnTo>
                    <a:pt x="4074716" y="2459247"/>
                  </a:lnTo>
                  <a:lnTo>
                    <a:pt x="4050656" y="2493937"/>
                  </a:lnTo>
                  <a:lnTo>
                    <a:pt x="4025589" y="2528132"/>
                  </a:lnTo>
                  <a:lnTo>
                    <a:pt x="3999530" y="2561820"/>
                  </a:lnTo>
                  <a:lnTo>
                    <a:pt x="3972495" y="2594990"/>
                  </a:lnTo>
                  <a:lnTo>
                    <a:pt x="3944499" y="2627628"/>
                  </a:lnTo>
                  <a:lnTo>
                    <a:pt x="3915557" y="2659724"/>
                  </a:lnTo>
                  <a:lnTo>
                    <a:pt x="3885686" y="2691265"/>
                  </a:lnTo>
                  <a:lnTo>
                    <a:pt x="3854900" y="2722239"/>
                  </a:lnTo>
                  <a:lnTo>
                    <a:pt x="3823215" y="2752634"/>
                  </a:lnTo>
                  <a:lnTo>
                    <a:pt x="3790646" y="2782438"/>
                  </a:lnTo>
                  <a:lnTo>
                    <a:pt x="3757209" y="2811639"/>
                  </a:lnTo>
                  <a:lnTo>
                    <a:pt x="3722920" y="2840225"/>
                  </a:lnTo>
                  <a:lnTo>
                    <a:pt x="3687794" y="2868183"/>
                  </a:lnTo>
                  <a:lnTo>
                    <a:pt x="3651846" y="2895503"/>
                  </a:lnTo>
                  <a:lnTo>
                    <a:pt x="3615091" y="2922172"/>
                  </a:lnTo>
                  <a:lnTo>
                    <a:pt x="3577547" y="2948177"/>
                  </a:lnTo>
                  <a:lnTo>
                    <a:pt x="3539226" y="2973507"/>
                  </a:lnTo>
                  <a:lnTo>
                    <a:pt x="3500146" y="2998150"/>
                  </a:lnTo>
                  <a:lnTo>
                    <a:pt x="3460322" y="3022094"/>
                  </a:lnTo>
                  <a:lnTo>
                    <a:pt x="3419769" y="3045326"/>
                  </a:lnTo>
                  <a:lnTo>
                    <a:pt x="3378503" y="3067835"/>
                  </a:lnTo>
                  <a:lnTo>
                    <a:pt x="3336539" y="3089609"/>
                  </a:lnTo>
                  <a:lnTo>
                    <a:pt x="3293892" y="3110635"/>
                  </a:lnTo>
                  <a:lnTo>
                    <a:pt x="3250579" y="3130902"/>
                  </a:lnTo>
                  <a:lnTo>
                    <a:pt x="3206614" y="3150398"/>
                  </a:lnTo>
                  <a:lnTo>
                    <a:pt x="3162013" y="3169110"/>
                  </a:lnTo>
                  <a:lnTo>
                    <a:pt x="3116791" y="3187026"/>
                  </a:lnTo>
                  <a:lnTo>
                    <a:pt x="3070965" y="3204135"/>
                  </a:lnTo>
                  <a:lnTo>
                    <a:pt x="3024549" y="3220425"/>
                  </a:lnTo>
                  <a:lnTo>
                    <a:pt x="2977559" y="3235882"/>
                  </a:lnTo>
                  <a:lnTo>
                    <a:pt x="2930010" y="3250496"/>
                  </a:lnTo>
                  <a:lnTo>
                    <a:pt x="2881918" y="3264255"/>
                  </a:lnTo>
                  <a:lnTo>
                    <a:pt x="2833299" y="3277146"/>
                  </a:lnTo>
                  <a:lnTo>
                    <a:pt x="2784167" y="3289157"/>
                  </a:lnTo>
                  <a:lnTo>
                    <a:pt x="2734539" y="3300276"/>
                  </a:lnTo>
                  <a:lnTo>
                    <a:pt x="2684429" y="3310492"/>
                  </a:lnTo>
                  <a:lnTo>
                    <a:pt x="2633854" y="3319791"/>
                  </a:lnTo>
                  <a:lnTo>
                    <a:pt x="2582828" y="3328163"/>
                  </a:lnTo>
                  <a:lnTo>
                    <a:pt x="2531368" y="3335595"/>
                  </a:lnTo>
                  <a:lnTo>
                    <a:pt x="2479488" y="3342075"/>
                  </a:lnTo>
                  <a:lnTo>
                    <a:pt x="2427204" y="3347592"/>
                  </a:lnTo>
                  <a:lnTo>
                    <a:pt x="2374532" y="3352132"/>
                  </a:lnTo>
                  <a:lnTo>
                    <a:pt x="2321487" y="3355684"/>
                  </a:lnTo>
                  <a:lnTo>
                    <a:pt x="2268085" y="3358236"/>
                  </a:lnTo>
                  <a:lnTo>
                    <a:pt x="2214340" y="3359776"/>
                  </a:lnTo>
                  <a:lnTo>
                    <a:pt x="2160270" y="3360292"/>
                  </a:lnTo>
                  <a:lnTo>
                    <a:pt x="2106199" y="3359776"/>
                  </a:lnTo>
                  <a:lnTo>
                    <a:pt x="2052454" y="3358236"/>
                  </a:lnTo>
                  <a:lnTo>
                    <a:pt x="1999052" y="3355684"/>
                  </a:lnTo>
                  <a:lnTo>
                    <a:pt x="1946007" y="3352132"/>
                  </a:lnTo>
                  <a:lnTo>
                    <a:pt x="1893335" y="3347592"/>
                  </a:lnTo>
                  <a:lnTo>
                    <a:pt x="1841051" y="3342075"/>
                  </a:lnTo>
                  <a:lnTo>
                    <a:pt x="1789171" y="3335595"/>
                  </a:lnTo>
                  <a:lnTo>
                    <a:pt x="1737711" y="3328163"/>
                  </a:lnTo>
                  <a:lnTo>
                    <a:pt x="1686685" y="3319791"/>
                  </a:lnTo>
                  <a:lnTo>
                    <a:pt x="1636110" y="3310492"/>
                  </a:lnTo>
                  <a:lnTo>
                    <a:pt x="1586000" y="3300276"/>
                  </a:lnTo>
                  <a:lnTo>
                    <a:pt x="1536372" y="3289157"/>
                  </a:lnTo>
                  <a:lnTo>
                    <a:pt x="1487240" y="3277146"/>
                  </a:lnTo>
                  <a:lnTo>
                    <a:pt x="1438621" y="3264255"/>
                  </a:lnTo>
                  <a:lnTo>
                    <a:pt x="1390529" y="3250496"/>
                  </a:lnTo>
                  <a:lnTo>
                    <a:pt x="1342980" y="3235882"/>
                  </a:lnTo>
                  <a:lnTo>
                    <a:pt x="1295990" y="3220425"/>
                  </a:lnTo>
                  <a:lnTo>
                    <a:pt x="1249574" y="3204135"/>
                  </a:lnTo>
                  <a:lnTo>
                    <a:pt x="1203748" y="3187026"/>
                  </a:lnTo>
                  <a:lnTo>
                    <a:pt x="1158526" y="3169110"/>
                  </a:lnTo>
                  <a:lnTo>
                    <a:pt x="1113925" y="3150398"/>
                  </a:lnTo>
                  <a:lnTo>
                    <a:pt x="1069960" y="3130902"/>
                  </a:lnTo>
                  <a:lnTo>
                    <a:pt x="1026647" y="3110635"/>
                  </a:lnTo>
                  <a:lnTo>
                    <a:pt x="984000" y="3089609"/>
                  </a:lnTo>
                  <a:lnTo>
                    <a:pt x="942036" y="3067835"/>
                  </a:lnTo>
                  <a:lnTo>
                    <a:pt x="900770" y="3045326"/>
                  </a:lnTo>
                  <a:lnTo>
                    <a:pt x="860217" y="3022094"/>
                  </a:lnTo>
                  <a:lnTo>
                    <a:pt x="820393" y="2998150"/>
                  </a:lnTo>
                  <a:lnTo>
                    <a:pt x="781313" y="2973507"/>
                  </a:lnTo>
                  <a:lnTo>
                    <a:pt x="742992" y="2948177"/>
                  </a:lnTo>
                  <a:lnTo>
                    <a:pt x="705448" y="2922172"/>
                  </a:lnTo>
                  <a:lnTo>
                    <a:pt x="668693" y="2895503"/>
                  </a:lnTo>
                  <a:lnTo>
                    <a:pt x="632745" y="2868183"/>
                  </a:lnTo>
                  <a:lnTo>
                    <a:pt x="597619" y="2840225"/>
                  </a:lnTo>
                  <a:lnTo>
                    <a:pt x="563330" y="2811639"/>
                  </a:lnTo>
                  <a:lnTo>
                    <a:pt x="529893" y="2782438"/>
                  </a:lnTo>
                  <a:lnTo>
                    <a:pt x="497324" y="2752634"/>
                  </a:lnTo>
                  <a:lnTo>
                    <a:pt x="465639" y="2722239"/>
                  </a:lnTo>
                  <a:lnTo>
                    <a:pt x="434853" y="2691265"/>
                  </a:lnTo>
                  <a:lnTo>
                    <a:pt x="404982" y="2659724"/>
                  </a:lnTo>
                  <a:lnTo>
                    <a:pt x="376040" y="2627628"/>
                  </a:lnTo>
                  <a:lnTo>
                    <a:pt x="348044" y="2594990"/>
                  </a:lnTo>
                  <a:lnTo>
                    <a:pt x="321009" y="2561820"/>
                  </a:lnTo>
                  <a:lnTo>
                    <a:pt x="294950" y="2528132"/>
                  </a:lnTo>
                  <a:lnTo>
                    <a:pt x="269883" y="2493937"/>
                  </a:lnTo>
                  <a:lnTo>
                    <a:pt x="245823" y="2459247"/>
                  </a:lnTo>
                  <a:lnTo>
                    <a:pt x="222786" y="2424075"/>
                  </a:lnTo>
                  <a:lnTo>
                    <a:pt x="200788" y="2388432"/>
                  </a:lnTo>
                  <a:lnTo>
                    <a:pt x="179843" y="2352330"/>
                  </a:lnTo>
                  <a:lnTo>
                    <a:pt x="159968" y="2315781"/>
                  </a:lnTo>
                  <a:lnTo>
                    <a:pt x="141177" y="2278798"/>
                  </a:lnTo>
                  <a:lnTo>
                    <a:pt x="123486" y="2241393"/>
                  </a:lnTo>
                  <a:lnTo>
                    <a:pt x="106911" y="2203577"/>
                  </a:lnTo>
                  <a:lnTo>
                    <a:pt x="91467" y="2165362"/>
                  </a:lnTo>
                  <a:lnTo>
                    <a:pt x="77170" y="2126761"/>
                  </a:lnTo>
                  <a:lnTo>
                    <a:pt x="64034" y="2087785"/>
                  </a:lnTo>
                  <a:lnTo>
                    <a:pt x="52077" y="2048447"/>
                  </a:lnTo>
                  <a:lnTo>
                    <a:pt x="41312" y="2008759"/>
                  </a:lnTo>
                  <a:lnTo>
                    <a:pt x="31756" y="1968732"/>
                  </a:lnTo>
                  <a:lnTo>
                    <a:pt x="23423" y="1928379"/>
                  </a:lnTo>
                  <a:lnTo>
                    <a:pt x="16331" y="1887712"/>
                  </a:lnTo>
                  <a:lnTo>
                    <a:pt x="10493" y="1846743"/>
                  </a:lnTo>
                  <a:lnTo>
                    <a:pt x="5925" y="1805483"/>
                  </a:lnTo>
                  <a:lnTo>
                    <a:pt x="2643" y="1763945"/>
                  </a:lnTo>
                  <a:lnTo>
                    <a:pt x="663" y="1722141"/>
                  </a:lnTo>
                  <a:lnTo>
                    <a:pt x="0" y="1680082"/>
                  </a:lnTo>
                  <a:close/>
                </a:path>
              </a:pathLst>
            </a:custGeom>
            <a:ln w="9525">
              <a:solidFill>
                <a:srgbClr val="CCB4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16957"/>
            <a:ext cx="10297160" cy="986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100"/>
              </a:lnSpc>
              <a:spcBef>
                <a:spcPts val="100"/>
              </a:spcBef>
            </a:pP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Les</a:t>
            </a:r>
            <a:r>
              <a:rPr sz="3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données</a:t>
            </a:r>
            <a:r>
              <a:rPr sz="3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cliniques</a:t>
            </a:r>
            <a:r>
              <a:rPr sz="3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suivantes</a:t>
            </a:r>
            <a:r>
              <a:rPr sz="3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orientent</a:t>
            </a:r>
            <a:r>
              <a:rPr sz="3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vers</a:t>
            </a:r>
            <a:r>
              <a:rPr sz="30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arthrite</a:t>
            </a:r>
            <a:r>
              <a:rPr sz="3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septique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aigue</a:t>
            </a:r>
            <a:r>
              <a:rPr sz="3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3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genou: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1871929"/>
            <a:ext cx="82276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0000"/>
                </a:solidFill>
                <a:latin typeface="Times New Roman"/>
                <a:cs typeface="Times New Roman"/>
              </a:rPr>
              <a:t>A.La</a:t>
            </a:r>
            <a:r>
              <a:rPr sz="36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FF0000"/>
                </a:solidFill>
                <a:latin typeface="Times New Roman"/>
                <a:cs typeface="Times New Roman"/>
              </a:rPr>
              <a:t>douleur</a:t>
            </a:r>
            <a:r>
              <a:rPr sz="36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FF0000"/>
                </a:solidFill>
                <a:latin typeface="Times New Roman"/>
                <a:cs typeface="Times New Roman"/>
              </a:rPr>
              <a:t>est</a:t>
            </a:r>
            <a:r>
              <a:rPr sz="36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FF0000"/>
                </a:solidFill>
                <a:latin typeface="Times New Roman"/>
                <a:cs typeface="Times New Roman"/>
              </a:rPr>
              <a:t>plus</a:t>
            </a:r>
            <a:r>
              <a:rPr sz="36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FF0000"/>
                </a:solidFill>
                <a:latin typeface="Times New Roman"/>
                <a:cs typeface="Times New Roman"/>
              </a:rPr>
              <a:t>intense</a:t>
            </a:r>
            <a:r>
              <a:rPr sz="360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FF0000"/>
                </a:solidFill>
                <a:latin typeface="Times New Roman"/>
                <a:cs typeface="Times New Roman"/>
              </a:rPr>
              <a:t>pendant</a:t>
            </a:r>
            <a:r>
              <a:rPr sz="36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FF0000"/>
                </a:solidFill>
                <a:latin typeface="Times New Roman"/>
                <a:cs typeface="Times New Roman"/>
              </a:rPr>
              <a:t>la</a:t>
            </a:r>
            <a:r>
              <a:rPr sz="36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600" spc="-20" dirty="0">
                <a:solidFill>
                  <a:srgbClr val="FF0000"/>
                </a:solidFill>
                <a:latin typeface="Times New Roman"/>
                <a:cs typeface="Times New Roman"/>
              </a:rPr>
              <a:t>nuit</a:t>
            </a:r>
            <a:endParaRPr sz="36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FF0000"/>
                </a:solidFill>
              </a:rPr>
              <a:t>B</a:t>
            </a:r>
            <a:r>
              <a:rPr spc="300" dirty="0">
                <a:solidFill>
                  <a:srgbClr val="FF0000"/>
                </a:solidFill>
              </a:rPr>
              <a:t>.</a:t>
            </a:r>
            <a:r>
              <a:rPr spc="-345" dirty="0">
                <a:solidFill>
                  <a:srgbClr val="FF0000"/>
                </a:solidFill>
              </a:rPr>
              <a:t>L</a:t>
            </a:r>
            <a:r>
              <a:rPr dirty="0">
                <a:solidFill>
                  <a:srgbClr val="FF0000"/>
                </a:solidFill>
              </a:rPr>
              <a:t>’antécédent</a:t>
            </a:r>
            <a:r>
              <a:rPr spc="-8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d’une</a:t>
            </a:r>
            <a:r>
              <a:rPr spc="-12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arthroplastie</a:t>
            </a:r>
            <a:r>
              <a:rPr spc="-9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par</a:t>
            </a:r>
            <a:r>
              <a:rPr spc="-10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prothèse</a:t>
            </a:r>
            <a:r>
              <a:rPr spc="-114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totale</a:t>
            </a:r>
            <a:r>
              <a:rPr spc="-95" dirty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FF0000"/>
                </a:solidFill>
              </a:rPr>
              <a:t>du</a:t>
            </a:r>
          </a:p>
          <a:p>
            <a:pPr marL="469900">
              <a:lnSpc>
                <a:spcPct val="100000"/>
              </a:lnSpc>
              <a:spcBef>
                <a:spcPts val="215"/>
              </a:spcBef>
            </a:pPr>
            <a:r>
              <a:rPr spc="-10" dirty="0">
                <a:solidFill>
                  <a:srgbClr val="FF0000"/>
                </a:solidFill>
              </a:rPr>
              <a:t>genou</a:t>
            </a:r>
          </a:p>
          <a:p>
            <a:pPr marL="12700" marR="2129790">
              <a:lnSpc>
                <a:spcPct val="125000"/>
              </a:lnSpc>
            </a:pPr>
            <a:r>
              <a:rPr spc="60" dirty="0"/>
              <a:t>C.La</a:t>
            </a:r>
            <a:r>
              <a:rPr spc="-80" dirty="0"/>
              <a:t> </a:t>
            </a:r>
            <a:r>
              <a:rPr dirty="0"/>
              <a:t>douleur</a:t>
            </a:r>
            <a:r>
              <a:rPr spc="-85" dirty="0"/>
              <a:t> </a:t>
            </a:r>
            <a:r>
              <a:rPr dirty="0"/>
              <a:t>intéresse</a:t>
            </a:r>
            <a:r>
              <a:rPr spc="-80" dirty="0"/>
              <a:t> </a:t>
            </a:r>
            <a:r>
              <a:rPr dirty="0"/>
              <a:t>plusieurs</a:t>
            </a:r>
            <a:r>
              <a:rPr spc="-70" dirty="0"/>
              <a:t> </a:t>
            </a:r>
            <a:r>
              <a:rPr spc="-10" dirty="0"/>
              <a:t>articulations </a:t>
            </a:r>
            <a:r>
              <a:rPr spc="-10" dirty="0">
                <a:solidFill>
                  <a:srgbClr val="FF0000"/>
                </a:solidFill>
              </a:rPr>
              <a:t>D.L’impotence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fonctionnelle</a:t>
            </a:r>
            <a:r>
              <a:rPr spc="-5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totale</a:t>
            </a:r>
          </a:p>
          <a:p>
            <a:pPr marL="12700">
              <a:lnSpc>
                <a:spcPct val="100000"/>
              </a:lnSpc>
              <a:spcBef>
                <a:spcPts val="2380"/>
              </a:spcBef>
            </a:pPr>
            <a:r>
              <a:rPr spc="-25" dirty="0"/>
              <a:t>E.</a:t>
            </a:r>
            <a:r>
              <a:rPr spc="-400" dirty="0"/>
              <a:t> </a:t>
            </a:r>
            <a:r>
              <a:rPr spc="-30" dirty="0"/>
              <a:t>L’évolution</a:t>
            </a:r>
            <a:r>
              <a:rPr spc="-80" dirty="0"/>
              <a:t> </a:t>
            </a:r>
            <a:r>
              <a:rPr dirty="0"/>
              <a:t>des</a:t>
            </a:r>
            <a:r>
              <a:rPr spc="-65" dirty="0"/>
              <a:t> </a:t>
            </a:r>
            <a:r>
              <a:rPr dirty="0"/>
              <a:t>symptômes</a:t>
            </a:r>
            <a:r>
              <a:rPr spc="-55" dirty="0"/>
              <a:t> </a:t>
            </a:r>
            <a:r>
              <a:rPr dirty="0"/>
              <a:t>depuis</a:t>
            </a:r>
            <a:r>
              <a:rPr spc="-60" dirty="0"/>
              <a:t> </a:t>
            </a:r>
            <a:r>
              <a:rPr dirty="0"/>
              <a:t>2</a:t>
            </a:r>
            <a:r>
              <a:rPr spc="-70" dirty="0"/>
              <a:t> </a:t>
            </a:r>
            <a:r>
              <a:rPr spc="-20" dirty="0"/>
              <a:t>mois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19458"/>
            <a:ext cx="10287000" cy="589280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Dans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cadre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d’une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arthrite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septique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aigue,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l’épanchement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articulaire:</a:t>
            </a:r>
            <a:endParaRPr sz="3200" dirty="0">
              <a:latin typeface="Times New Roman"/>
              <a:cs typeface="Times New Roman"/>
            </a:endParaRPr>
          </a:p>
          <a:p>
            <a:pPr marL="572135" indent="-559435">
              <a:lnSpc>
                <a:spcPct val="100000"/>
              </a:lnSpc>
              <a:spcBef>
                <a:spcPts val="2645"/>
              </a:spcBef>
              <a:buAutoNum type="alphaUcPeriod"/>
              <a:tabLst>
                <a:tab pos="572135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est</a:t>
            </a: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identifiable</a:t>
            </a:r>
            <a:r>
              <a:rPr sz="32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par</a:t>
            </a:r>
            <a:r>
              <a:rPr sz="3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l’examen</a:t>
            </a:r>
            <a:r>
              <a:rPr sz="32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physique</a:t>
            </a:r>
            <a:r>
              <a:rPr sz="32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au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niveau</a:t>
            </a:r>
            <a:r>
              <a:rPr sz="3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du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genou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572135" indent="-559435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57213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peut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pas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être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ponctionné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au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niveau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l’épaule</a:t>
            </a:r>
            <a:endParaRPr sz="3200" dirty="0">
              <a:latin typeface="Times New Roman"/>
              <a:cs typeface="Times New Roman"/>
            </a:endParaRPr>
          </a:p>
          <a:p>
            <a:pPr marL="572135" indent="-559435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57213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peut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être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mis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évidence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que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par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échographie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chez</a:t>
            </a:r>
            <a:endParaRPr sz="32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l’enfant</a:t>
            </a:r>
            <a:endParaRPr sz="3200" dirty="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14999"/>
              </a:lnSpc>
              <a:spcBef>
                <a:spcPts val="770"/>
              </a:spcBef>
              <a:buAutoNum type="alphaUcPeriod" startAt="4"/>
              <a:tabLst>
                <a:tab pos="469900" algn="l"/>
                <a:tab pos="572135" algn="l"/>
              </a:tabLst>
            </a:pP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	Peut</a:t>
            </a:r>
            <a:r>
              <a:rPr sz="32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se</a:t>
            </a:r>
            <a:r>
              <a:rPr sz="3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manifester</a:t>
            </a:r>
            <a:r>
              <a:rPr sz="32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par</a:t>
            </a:r>
            <a:r>
              <a:rPr sz="3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des</a:t>
            </a:r>
            <a:r>
              <a:rPr sz="3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signes</a:t>
            </a:r>
            <a:r>
              <a:rPr sz="32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indirects</a:t>
            </a:r>
            <a:r>
              <a:rPr sz="32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à</a:t>
            </a:r>
            <a:r>
              <a:rPr sz="3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la</a:t>
            </a:r>
            <a:r>
              <a:rPr sz="3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radiographie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standard</a:t>
            </a:r>
            <a:r>
              <a:rPr sz="3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au</a:t>
            </a:r>
            <a:r>
              <a:rPr sz="32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niveau</a:t>
            </a:r>
            <a:r>
              <a:rPr sz="3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la</a:t>
            </a:r>
            <a:r>
              <a:rPr sz="32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imes New Roman"/>
                <a:cs typeface="Times New Roman"/>
              </a:rPr>
              <a:t>hanche</a:t>
            </a:r>
            <a:endParaRPr sz="32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655"/>
              </a:spcBef>
              <a:buAutoNum type="alphaUcPeriod" startAt="4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 signe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pathognomonique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l’arthrite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septique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87723" y="1609344"/>
            <a:ext cx="4411980" cy="3450590"/>
            <a:chOff x="3887723" y="1609344"/>
            <a:chExt cx="4411980" cy="34505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7723" y="1609344"/>
              <a:ext cx="4411980" cy="345033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5729" y="1636522"/>
              <a:ext cx="4320540" cy="33602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935729" y="1636522"/>
              <a:ext cx="4320540" cy="3360420"/>
            </a:xfrm>
            <a:custGeom>
              <a:avLst/>
              <a:gdLst/>
              <a:ahLst/>
              <a:cxnLst/>
              <a:rect l="l" t="t" r="r" b="b"/>
              <a:pathLst>
                <a:path w="4320540" h="3360420">
                  <a:moveTo>
                    <a:pt x="1243203" y="1177670"/>
                  </a:moveTo>
                  <a:lnTo>
                    <a:pt x="1249144" y="1137545"/>
                  </a:lnTo>
                  <a:lnTo>
                    <a:pt x="1266068" y="1100710"/>
                  </a:lnTo>
                  <a:lnTo>
                    <a:pt x="1292628" y="1068216"/>
                  </a:lnTo>
                  <a:lnTo>
                    <a:pt x="1327474" y="1041113"/>
                  </a:lnTo>
                  <a:lnTo>
                    <a:pt x="1369258" y="1020453"/>
                  </a:lnTo>
                  <a:lnTo>
                    <a:pt x="1416632" y="1007287"/>
                  </a:lnTo>
                  <a:lnTo>
                    <a:pt x="1468247" y="1002664"/>
                  </a:lnTo>
                  <a:lnTo>
                    <a:pt x="1519814" y="1007287"/>
                  </a:lnTo>
                  <a:lnTo>
                    <a:pt x="1567154" y="1020453"/>
                  </a:lnTo>
                  <a:lnTo>
                    <a:pt x="1608915" y="1041113"/>
                  </a:lnTo>
                  <a:lnTo>
                    <a:pt x="1643748" y="1068216"/>
                  </a:lnTo>
                  <a:lnTo>
                    <a:pt x="1670301" y="1100710"/>
                  </a:lnTo>
                  <a:lnTo>
                    <a:pt x="1687223" y="1137545"/>
                  </a:lnTo>
                  <a:lnTo>
                    <a:pt x="1693164" y="1177670"/>
                  </a:lnTo>
                  <a:lnTo>
                    <a:pt x="1687223" y="1217796"/>
                  </a:lnTo>
                  <a:lnTo>
                    <a:pt x="1670301" y="1254631"/>
                  </a:lnTo>
                  <a:lnTo>
                    <a:pt x="1643748" y="1287125"/>
                  </a:lnTo>
                  <a:lnTo>
                    <a:pt x="1608915" y="1314228"/>
                  </a:lnTo>
                  <a:lnTo>
                    <a:pt x="1567154" y="1334888"/>
                  </a:lnTo>
                  <a:lnTo>
                    <a:pt x="1519814" y="1348054"/>
                  </a:lnTo>
                  <a:lnTo>
                    <a:pt x="1468247" y="1352677"/>
                  </a:lnTo>
                  <a:lnTo>
                    <a:pt x="1416632" y="1348054"/>
                  </a:lnTo>
                  <a:lnTo>
                    <a:pt x="1369258" y="1334888"/>
                  </a:lnTo>
                  <a:lnTo>
                    <a:pt x="1327474" y="1314228"/>
                  </a:lnTo>
                  <a:lnTo>
                    <a:pt x="1292628" y="1287125"/>
                  </a:lnTo>
                  <a:lnTo>
                    <a:pt x="1266068" y="1254631"/>
                  </a:lnTo>
                  <a:lnTo>
                    <a:pt x="1249144" y="1217796"/>
                  </a:lnTo>
                  <a:lnTo>
                    <a:pt x="1243203" y="1177670"/>
                  </a:lnTo>
                </a:path>
                <a:path w="4320540" h="3360420">
                  <a:moveTo>
                    <a:pt x="2627376" y="1177670"/>
                  </a:moveTo>
                  <a:lnTo>
                    <a:pt x="2633316" y="1137545"/>
                  </a:lnTo>
                  <a:lnTo>
                    <a:pt x="2650238" y="1100710"/>
                  </a:lnTo>
                  <a:lnTo>
                    <a:pt x="2676791" y="1068216"/>
                  </a:lnTo>
                  <a:lnTo>
                    <a:pt x="2711624" y="1041113"/>
                  </a:lnTo>
                  <a:lnTo>
                    <a:pt x="2753385" y="1020453"/>
                  </a:lnTo>
                  <a:lnTo>
                    <a:pt x="2800725" y="1007287"/>
                  </a:lnTo>
                  <a:lnTo>
                    <a:pt x="2852293" y="1002664"/>
                  </a:lnTo>
                  <a:lnTo>
                    <a:pt x="2903907" y="1007287"/>
                  </a:lnTo>
                  <a:lnTo>
                    <a:pt x="2951281" y="1020453"/>
                  </a:lnTo>
                  <a:lnTo>
                    <a:pt x="2993065" y="1041113"/>
                  </a:lnTo>
                  <a:lnTo>
                    <a:pt x="3027911" y="1068216"/>
                  </a:lnTo>
                  <a:lnTo>
                    <a:pt x="3054471" y="1100710"/>
                  </a:lnTo>
                  <a:lnTo>
                    <a:pt x="3071395" y="1137545"/>
                  </a:lnTo>
                  <a:lnTo>
                    <a:pt x="3077337" y="1177670"/>
                  </a:lnTo>
                  <a:lnTo>
                    <a:pt x="3071395" y="1217796"/>
                  </a:lnTo>
                  <a:lnTo>
                    <a:pt x="3054471" y="1254631"/>
                  </a:lnTo>
                  <a:lnTo>
                    <a:pt x="3027911" y="1287125"/>
                  </a:lnTo>
                  <a:lnTo>
                    <a:pt x="2993065" y="1314228"/>
                  </a:lnTo>
                  <a:lnTo>
                    <a:pt x="2951281" y="1334888"/>
                  </a:lnTo>
                  <a:lnTo>
                    <a:pt x="2903907" y="1348054"/>
                  </a:lnTo>
                  <a:lnTo>
                    <a:pt x="2852293" y="1352677"/>
                  </a:lnTo>
                  <a:lnTo>
                    <a:pt x="2800725" y="1348054"/>
                  </a:lnTo>
                  <a:lnTo>
                    <a:pt x="2753385" y="1334888"/>
                  </a:lnTo>
                  <a:lnTo>
                    <a:pt x="2711624" y="1314228"/>
                  </a:lnTo>
                  <a:lnTo>
                    <a:pt x="2676791" y="1287125"/>
                  </a:lnTo>
                  <a:lnTo>
                    <a:pt x="2650238" y="1254631"/>
                  </a:lnTo>
                  <a:lnTo>
                    <a:pt x="2633316" y="1217796"/>
                  </a:lnTo>
                  <a:lnTo>
                    <a:pt x="2627376" y="1177670"/>
                  </a:lnTo>
                </a:path>
                <a:path w="4320540" h="3360420">
                  <a:moveTo>
                    <a:pt x="989457" y="2412872"/>
                  </a:moveTo>
                  <a:lnTo>
                    <a:pt x="1036288" y="2437389"/>
                  </a:lnTo>
                  <a:lnTo>
                    <a:pt x="1083117" y="2460904"/>
                  </a:lnTo>
                  <a:lnTo>
                    <a:pt x="1129944" y="2483419"/>
                  </a:lnTo>
                  <a:lnTo>
                    <a:pt x="1176770" y="2504933"/>
                  </a:lnTo>
                  <a:lnTo>
                    <a:pt x="1223592" y="2525447"/>
                  </a:lnTo>
                  <a:lnTo>
                    <a:pt x="1270413" y="2544959"/>
                  </a:lnTo>
                  <a:lnTo>
                    <a:pt x="1317232" y="2563472"/>
                  </a:lnTo>
                  <a:lnTo>
                    <a:pt x="1364048" y="2580983"/>
                  </a:lnTo>
                  <a:lnTo>
                    <a:pt x="1410863" y="2597494"/>
                  </a:lnTo>
                  <a:lnTo>
                    <a:pt x="1457675" y="2613004"/>
                  </a:lnTo>
                  <a:lnTo>
                    <a:pt x="1504485" y="2627514"/>
                  </a:lnTo>
                  <a:lnTo>
                    <a:pt x="1551293" y="2641023"/>
                  </a:lnTo>
                  <a:lnTo>
                    <a:pt x="1598099" y="2653531"/>
                  </a:lnTo>
                  <a:lnTo>
                    <a:pt x="1644903" y="2665038"/>
                  </a:lnTo>
                  <a:lnTo>
                    <a:pt x="1691704" y="2675545"/>
                  </a:lnTo>
                  <a:lnTo>
                    <a:pt x="1738504" y="2685052"/>
                  </a:lnTo>
                  <a:lnTo>
                    <a:pt x="1785301" y="2693557"/>
                  </a:lnTo>
                  <a:lnTo>
                    <a:pt x="1832096" y="2701062"/>
                  </a:lnTo>
                  <a:lnTo>
                    <a:pt x="1878889" y="2707566"/>
                  </a:lnTo>
                  <a:lnTo>
                    <a:pt x="1925680" y="2713070"/>
                  </a:lnTo>
                  <a:lnTo>
                    <a:pt x="1972469" y="2717573"/>
                  </a:lnTo>
                  <a:lnTo>
                    <a:pt x="2019256" y="2721075"/>
                  </a:lnTo>
                  <a:lnTo>
                    <a:pt x="2066040" y="2723577"/>
                  </a:lnTo>
                  <a:lnTo>
                    <a:pt x="2112823" y="2725078"/>
                  </a:lnTo>
                  <a:lnTo>
                    <a:pt x="2159603" y="2725578"/>
                  </a:lnTo>
                  <a:lnTo>
                    <a:pt x="2206381" y="2725078"/>
                  </a:lnTo>
                  <a:lnTo>
                    <a:pt x="2253157" y="2723577"/>
                  </a:lnTo>
                  <a:lnTo>
                    <a:pt x="2299931" y="2721075"/>
                  </a:lnTo>
                  <a:lnTo>
                    <a:pt x="2346702" y="2717573"/>
                  </a:lnTo>
                  <a:lnTo>
                    <a:pt x="2393472" y="2713070"/>
                  </a:lnTo>
                  <a:lnTo>
                    <a:pt x="2440239" y="2707566"/>
                  </a:lnTo>
                  <a:lnTo>
                    <a:pt x="2487005" y="2701062"/>
                  </a:lnTo>
                  <a:lnTo>
                    <a:pt x="2533768" y="2693557"/>
                  </a:lnTo>
                  <a:lnTo>
                    <a:pt x="2580529" y="2685052"/>
                  </a:lnTo>
                  <a:lnTo>
                    <a:pt x="2627288" y="2675545"/>
                  </a:lnTo>
                  <a:lnTo>
                    <a:pt x="2674045" y="2665038"/>
                  </a:lnTo>
                  <a:lnTo>
                    <a:pt x="2720799" y="2653531"/>
                  </a:lnTo>
                  <a:lnTo>
                    <a:pt x="2767552" y="2641023"/>
                  </a:lnTo>
                  <a:lnTo>
                    <a:pt x="2814302" y="2627514"/>
                  </a:lnTo>
                  <a:lnTo>
                    <a:pt x="2861050" y="2613004"/>
                  </a:lnTo>
                  <a:lnTo>
                    <a:pt x="2907797" y="2597494"/>
                  </a:lnTo>
                  <a:lnTo>
                    <a:pt x="2954541" y="2580983"/>
                  </a:lnTo>
                  <a:lnTo>
                    <a:pt x="3001282" y="2563472"/>
                  </a:lnTo>
                  <a:lnTo>
                    <a:pt x="3048022" y="2544959"/>
                  </a:lnTo>
                  <a:lnTo>
                    <a:pt x="3094760" y="2525447"/>
                  </a:lnTo>
                  <a:lnTo>
                    <a:pt x="3141495" y="2504933"/>
                  </a:lnTo>
                  <a:lnTo>
                    <a:pt x="3188228" y="2483419"/>
                  </a:lnTo>
                  <a:lnTo>
                    <a:pt x="3234960" y="2460904"/>
                  </a:lnTo>
                  <a:lnTo>
                    <a:pt x="3281689" y="2437389"/>
                  </a:lnTo>
                  <a:lnTo>
                    <a:pt x="3328416" y="2412872"/>
                  </a:lnTo>
                </a:path>
                <a:path w="4320540" h="3360420">
                  <a:moveTo>
                    <a:pt x="0" y="1680082"/>
                  </a:moveTo>
                  <a:lnTo>
                    <a:pt x="663" y="1638030"/>
                  </a:lnTo>
                  <a:lnTo>
                    <a:pt x="2643" y="1596231"/>
                  </a:lnTo>
                  <a:lnTo>
                    <a:pt x="5925" y="1554699"/>
                  </a:lnTo>
                  <a:lnTo>
                    <a:pt x="10493" y="1513444"/>
                  </a:lnTo>
                  <a:lnTo>
                    <a:pt x="16331" y="1472480"/>
                  </a:lnTo>
                  <a:lnTo>
                    <a:pt x="23423" y="1431817"/>
                  </a:lnTo>
                  <a:lnTo>
                    <a:pt x="31756" y="1391469"/>
                  </a:lnTo>
                  <a:lnTo>
                    <a:pt x="41312" y="1351447"/>
                  </a:lnTo>
                  <a:lnTo>
                    <a:pt x="52077" y="1311763"/>
                  </a:lnTo>
                  <a:lnTo>
                    <a:pt x="64034" y="1272429"/>
                  </a:lnTo>
                  <a:lnTo>
                    <a:pt x="77170" y="1233458"/>
                  </a:lnTo>
                  <a:lnTo>
                    <a:pt x="91467" y="1194860"/>
                  </a:lnTo>
                  <a:lnTo>
                    <a:pt x="106911" y="1156650"/>
                  </a:lnTo>
                  <a:lnTo>
                    <a:pt x="123486" y="1118837"/>
                  </a:lnTo>
                  <a:lnTo>
                    <a:pt x="141177" y="1081435"/>
                  </a:lnTo>
                  <a:lnTo>
                    <a:pt x="159968" y="1044455"/>
                  </a:lnTo>
                  <a:lnTo>
                    <a:pt x="179843" y="1007910"/>
                  </a:lnTo>
                  <a:lnTo>
                    <a:pt x="200788" y="971812"/>
                  </a:lnTo>
                  <a:lnTo>
                    <a:pt x="222786" y="936171"/>
                  </a:lnTo>
                  <a:lnTo>
                    <a:pt x="245823" y="901002"/>
                  </a:lnTo>
                  <a:lnTo>
                    <a:pt x="269883" y="866315"/>
                  </a:lnTo>
                  <a:lnTo>
                    <a:pt x="294950" y="832122"/>
                  </a:lnTo>
                  <a:lnTo>
                    <a:pt x="321009" y="798437"/>
                  </a:lnTo>
                  <a:lnTo>
                    <a:pt x="348044" y="765270"/>
                  </a:lnTo>
                  <a:lnTo>
                    <a:pt x="376040" y="732633"/>
                  </a:lnTo>
                  <a:lnTo>
                    <a:pt x="404982" y="700540"/>
                  </a:lnTo>
                  <a:lnTo>
                    <a:pt x="434853" y="669001"/>
                  </a:lnTo>
                  <a:lnTo>
                    <a:pt x="465639" y="638029"/>
                  </a:lnTo>
                  <a:lnTo>
                    <a:pt x="497324" y="607636"/>
                  </a:lnTo>
                  <a:lnTo>
                    <a:pt x="529893" y="577834"/>
                  </a:lnTo>
                  <a:lnTo>
                    <a:pt x="563330" y="548634"/>
                  </a:lnTo>
                  <a:lnTo>
                    <a:pt x="597619" y="520050"/>
                  </a:lnTo>
                  <a:lnTo>
                    <a:pt x="632745" y="492093"/>
                  </a:lnTo>
                  <a:lnTo>
                    <a:pt x="668693" y="464774"/>
                  </a:lnTo>
                  <a:lnTo>
                    <a:pt x="705448" y="438107"/>
                  </a:lnTo>
                  <a:lnTo>
                    <a:pt x="742992" y="412103"/>
                  </a:lnTo>
                  <a:lnTo>
                    <a:pt x="781313" y="386774"/>
                  </a:lnTo>
                  <a:lnTo>
                    <a:pt x="820393" y="362132"/>
                  </a:lnTo>
                  <a:lnTo>
                    <a:pt x="860217" y="338189"/>
                  </a:lnTo>
                  <a:lnTo>
                    <a:pt x="900770" y="314958"/>
                  </a:lnTo>
                  <a:lnTo>
                    <a:pt x="942036" y="292450"/>
                  </a:lnTo>
                  <a:lnTo>
                    <a:pt x="984000" y="270677"/>
                  </a:lnTo>
                  <a:lnTo>
                    <a:pt x="1026647" y="249651"/>
                  </a:lnTo>
                  <a:lnTo>
                    <a:pt x="1069960" y="229385"/>
                  </a:lnTo>
                  <a:lnTo>
                    <a:pt x="1113925" y="209890"/>
                  </a:lnTo>
                  <a:lnTo>
                    <a:pt x="1158526" y="191179"/>
                  </a:lnTo>
                  <a:lnTo>
                    <a:pt x="1203748" y="173263"/>
                  </a:lnTo>
                  <a:lnTo>
                    <a:pt x="1249574" y="156154"/>
                  </a:lnTo>
                  <a:lnTo>
                    <a:pt x="1295990" y="139865"/>
                  </a:lnTo>
                  <a:lnTo>
                    <a:pt x="1342980" y="124408"/>
                  </a:lnTo>
                  <a:lnTo>
                    <a:pt x="1390529" y="109794"/>
                  </a:lnTo>
                  <a:lnTo>
                    <a:pt x="1438621" y="96036"/>
                  </a:lnTo>
                  <a:lnTo>
                    <a:pt x="1487240" y="83145"/>
                  </a:lnTo>
                  <a:lnTo>
                    <a:pt x="1536372" y="71134"/>
                  </a:lnTo>
                  <a:lnTo>
                    <a:pt x="1586000" y="60015"/>
                  </a:lnTo>
                  <a:lnTo>
                    <a:pt x="1636110" y="49800"/>
                  </a:lnTo>
                  <a:lnTo>
                    <a:pt x="1686685" y="40500"/>
                  </a:lnTo>
                  <a:lnTo>
                    <a:pt x="1737711" y="32128"/>
                  </a:lnTo>
                  <a:lnTo>
                    <a:pt x="1789171" y="24696"/>
                  </a:lnTo>
                  <a:lnTo>
                    <a:pt x="1841051" y="18216"/>
                  </a:lnTo>
                  <a:lnTo>
                    <a:pt x="1893335" y="12700"/>
                  </a:lnTo>
                  <a:lnTo>
                    <a:pt x="1946007" y="8160"/>
                  </a:lnTo>
                  <a:lnTo>
                    <a:pt x="1999052" y="4608"/>
                  </a:lnTo>
                  <a:lnTo>
                    <a:pt x="2052454" y="2056"/>
                  </a:lnTo>
                  <a:lnTo>
                    <a:pt x="2106199" y="516"/>
                  </a:lnTo>
                  <a:lnTo>
                    <a:pt x="2160270" y="0"/>
                  </a:lnTo>
                  <a:lnTo>
                    <a:pt x="2214340" y="516"/>
                  </a:lnTo>
                  <a:lnTo>
                    <a:pt x="2268085" y="2056"/>
                  </a:lnTo>
                  <a:lnTo>
                    <a:pt x="2321487" y="4608"/>
                  </a:lnTo>
                  <a:lnTo>
                    <a:pt x="2374532" y="8160"/>
                  </a:lnTo>
                  <a:lnTo>
                    <a:pt x="2427204" y="12700"/>
                  </a:lnTo>
                  <a:lnTo>
                    <a:pt x="2479488" y="18216"/>
                  </a:lnTo>
                  <a:lnTo>
                    <a:pt x="2531368" y="24696"/>
                  </a:lnTo>
                  <a:lnTo>
                    <a:pt x="2582828" y="32128"/>
                  </a:lnTo>
                  <a:lnTo>
                    <a:pt x="2633854" y="40500"/>
                  </a:lnTo>
                  <a:lnTo>
                    <a:pt x="2684429" y="49800"/>
                  </a:lnTo>
                  <a:lnTo>
                    <a:pt x="2734539" y="60015"/>
                  </a:lnTo>
                  <a:lnTo>
                    <a:pt x="2784167" y="71134"/>
                  </a:lnTo>
                  <a:lnTo>
                    <a:pt x="2833299" y="83145"/>
                  </a:lnTo>
                  <a:lnTo>
                    <a:pt x="2881918" y="96036"/>
                  </a:lnTo>
                  <a:lnTo>
                    <a:pt x="2930010" y="109794"/>
                  </a:lnTo>
                  <a:lnTo>
                    <a:pt x="2977559" y="124408"/>
                  </a:lnTo>
                  <a:lnTo>
                    <a:pt x="3024549" y="139865"/>
                  </a:lnTo>
                  <a:lnTo>
                    <a:pt x="3070965" y="156154"/>
                  </a:lnTo>
                  <a:lnTo>
                    <a:pt x="3116791" y="173263"/>
                  </a:lnTo>
                  <a:lnTo>
                    <a:pt x="3162013" y="191179"/>
                  </a:lnTo>
                  <a:lnTo>
                    <a:pt x="3206614" y="209890"/>
                  </a:lnTo>
                  <a:lnTo>
                    <a:pt x="3250579" y="229385"/>
                  </a:lnTo>
                  <a:lnTo>
                    <a:pt x="3293892" y="249651"/>
                  </a:lnTo>
                  <a:lnTo>
                    <a:pt x="3336539" y="270677"/>
                  </a:lnTo>
                  <a:lnTo>
                    <a:pt x="3378503" y="292450"/>
                  </a:lnTo>
                  <a:lnTo>
                    <a:pt x="3419769" y="314958"/>
                  </a:lnTo>
                  <a:lnTo>
                    <a:pt x="3460322" y="338189"/>
                  </a:lnTo>
                  <a:lnTo>
                    <a:pt x="3500146" y="362132"/>
                  </a:lnTo>
                  <a:lnTo>
                    <a:pt x="3539226" y="386774"/>
                  </a:lnTo>
                  <a:lnTo>
                    <a:pt x="3577547" y="412103"/>
                  </a:lnTo>
                  <a:lnTo>
                    <a:pt x="3615091" y="438107"/>
                  </a:lnTo>
                  <a:lnTo>
                    <a:pt x="3651846" y="464774"/>
                  </a:lnTo>
                  <a:lnTo>
                    <a:pt x="3687794" y="492093"/>
                  </a:lnTo>
                  <a:lnTo>
                    <a:pt x="3722920" y="520050"/>
                  </a:lnTo>
                  <a:lnTo>
                    <a:pt x="3757209" y="548634"/>
                  </a:lnTo>
                  <a:lnTo>
                    <a:pt x="3790646" y="577834"/>
                  </a:lnTo>
                  <a:lnTo>
                    <a:pt x="3823215" y="607636"/>
                  </a:lnTo>
                  <a:lnTo>
                    <a:pt x="3854900" y="638029"/>
                  </a:lnTo>
                  <a:lnTo>
                    <a:pt x="3885686" y="669001"/>
                  </a:lnTo>
                  <a:lnTo>
                    <a:pt x="3915557" y="700540"/>
                  </a:lnTo>
                  <a:lnTo>
                    <a:pt x="3944499" y="732633"/>
                  </a:lnTo>
                  <a:lnTo>
                    <a:pt x="3972495" y="765270"/>
                  </a:lnTo>
                  <a:lnTo>
                    <a:pt x="3999530" y="798437"/>
                  </a:lnTo>
                  <a:lnTo>
                    <a:pt x="4025589" y="832122"/>
                  </a:lnTo>
                  <a:lnTo>
                    <a:pt x="4050656" y="866315"/>
                  </a:lnTo>
                  <a:lnTo>
                    <a:pt x="4074716" y="901002"/>
                  </a:lnTo>
                  <a:lnTo>
                    <a:pt x="4097753" y="936171"/>
                  </a:lnTo>
                  <a:lnTo>
                    <a:pt x="4119751" y="971812"/>
                  </a:lnTo>
                  <a:lnTo>
                    <a:pt x="4140696" y="1007910"/>
                  </a:lnTo>
                  <a:lnTo>
                    <a:pt x="4160571" y="1044455"/>
                  </a:lnTo>
                  <a:lnTo>
                    <a:pt x="4179362" y="1081435"/>
                  </a:lnTo>
                  <a:lnTo>
                    <a:pt x="4197053" y="1118837"/>
                  </a:lnTo>
                  <a:lnTo>
                    <a:pt x="4213628" y="1156650"/>
                  </a:lnTo>
                  <a:lnTo>
                    <a:pt x="4229072" y="1194860"/>
                  </a:lnTo>
                  <a:lnTo>
                    <a:pt x="4243369" y="1233458"/>
                  </a:lnTo>
                  <a:lnTo>
                    <a:pt x="4256505" y="1272429"/>
                  </a:lnTo>
                  <a:lnTo>
                    <a:pt x="4268462" y="1311763"/>
                  </a:lnTo>
                  <a:lnTo>
                    <a:pt x="4279227" y="1351447"/>
                  </a:lnTo>
                  <a:lnTo>
                    <a:pt x="4288783" y="1391469"/>
                  </a:lnTo>
                  <a:lnTo>
                    <a:pt x="4297116" y="1431817"/>
                  </a:lnTo>
                  <a:lnTo>
                    <a:pt x="4304208" y="1472480"/>
                  </a:lnTo>
                  <a:lnTo>
                    <a:pt x="4310046" y="1513444"/>
                  </a:lnTo>
                  <a:lnTo>
                    <a:pt x="4314614" y="1554699"/>
                  </a:lnTo>
                  <a:lnTo>
                    <a:pt x="4317896" y="1596231"/>
                  </a:lnTo>
                  <a:lnTo>
                    <a:pt x="4319876" y="1638030"/>
                  </a:lnTo>
                  <a:lnTo>
                    <a:pt x="4320540" y="1680082"/>
                  </a:lnTo>
                  <a:lnTo>
                    <a:pt x="4319876" y="1722141"/>
                  </a:lnTo>
                  <a:lnTo>
                    <a:pt x="4317896" y="1763945"/>
                  </a:lnTo>
                  <a:lnTo>
                    <a:pt x="4314614" y="1805483"/>
                  </a:lnTo>
                  <a:lnTo>
                    <a:pt x="4310046" y="1846743"/>
                  </a:lnTo>
                  <a:lnTo>
                    <a:pt x="4304208" y="1887712"/>
                  </a:lnTo>
                  <a:lnTo>
                    <a:pt x="4297116" y="1928379"/>
                  </a:lnTo>
                  <a:lnTo>
                    <a:pt x="4288783" y="1968732"/>
                  </a:lnTo>
                  <a:lnTo>
                    <a:pt x="4279227" y="2008759"/>
                  </a:lnTo>
                  <a:lnTo>
                    <a:pt x="4268462" y="2048447"/>
                  </a:lnTo>
                  <a:lnTo>
                    <a:pt x="4256505" y="2087785"/>
                  </a:lnTo>
                  <a:lnTo>
                    <a:pt x="4243369" y="2126761"/>
                  </a:lnTo>
                  <a:lnTo>
                    <a:pt x="4229072" y="2165362"/>
                  </a:lnTo>
                  <a:lnTo>
                    <a:pt x="4213628" y="2203577"/>
                  </a:lnTo>
                  <a:lnTo>
                    <a:pt x="4197053" y="2241393"/>
                  </a:lnTo>
                  <a:lnTo>
                    <a:pt x="4179362" y="2278798"/>
                  </a:lnTo>
                  <a:lnTo>
                    <a:pt x="4160571" y="2315781"/>
                  </a:lnTo>
                  <a:lnTo>
                    <a:pt x="4140696" y="2352330"/>
                  </a:lnTo>
                  <a:lnTo>
                    <a:pt x="4119751" y="2388432"/>
                  </a:lnTo>
                  <a:lnTo>
                    <a:pt x="4097753" y="2424075"/>
                  </a:lnTo>
                  <a:lnTo>
                    <a:pt x="4074716" y="2459247"/>
                  </a:lnTo>
                  <a:lnTo>
                    <a:pt x="4050656" y="2493937"/>
                  </a:lnTo>
                  <a:lnTo>
                    <a:pt x="4025589" y="2528132"/>
                  </a:lnTo>
                  <a:lnTo>
                    <a:pt x="3999530" y="2561820"/>
                  </a:lnTo>
                  <a:lnTo>
                    <a:pt x="3972495" y="2594990"/>
                  </a:lnTo>
                  <a:lnTo>
                    <a:pt x="3944499" y="2627628"/>
                  </a:lnTo>
                  <a:lnTo>
                    <a:pt x="3915557" y="2659724"/>
                  </a:lnTo>
                  <a:lnTo>
                    <a:pt x="3885686" y="2691265"/>
                  </a:lnTo>
                  <a:lnTo>
                    <a:pt x="3854900" y="2722239"/>
                  </a:lnTo>
                  <a:lnTo>
                    <a:pt x="3823215" y="2752634"/>
                  </a:lnTo>
                  <a:lnTo>
                    <a:pt x="3790646" y="2782438"/>
                  </a:lnTo>
                  <a:lnTo>
                    <a:pt x="3757209" y="2811639"/>
                  </a:lnTo>
                  <a:lnTo>
                    <a:pt x="3722920" y="2840225"/>
                  </a:lnTo>
                  <a:lnTo>
                    <a:pt x="3687794" y="2868183"/>
                  </a:lnTo>
                  <a:lnTo>
                    <a:pt x="3651846" y="2895503"/>
                  </a:lnTo>
                  <a:lnTo>
                    <a:pt x="3615091" y="2922172"/>
                  </a:lnTo>
                  <a:lnTo>
                    <a:pt x="3577547" y="2948177"/>
                  </a:lnTo>
                  <a:lnTo>
                    <a:pt x="3539226" y="2973507"/>
                  </a:lnTo>
                  <a:lnTo>
                    <a:pt x="3500146" y="2998150"/>
                  </a:lnTo>
                  <a:lnTo>
                    <a:pt x="3460322" y="3022094"/>
                  </a:lnTo>
                  <a:lnTo>
                    <a:pt x="3419769" y="3045326"/>
                  </a:lnTo>
                  <a:lnTo>
                    <a:pt x="3378503" y="3067835"/>
                  </a:lnTo>
                  <a:lnTo>
                    <a:pt x="3336539" y="3089609"/>
                  </a:lnTo>
                  <a:lnTo>
                    <a:pt x="3293892" y="3110635"/>
                  </a:lnTo>
                  <a:lnTo>
                    <a:pt x="3250579" y="3130902"/>
                  </a:lnTo>
                  <a:lnTo>
                    <a:pt x="3206614" y="3150398"/>
                  </a:lnTo>
                  <a:lnTo>
                    <a:pt x="3162013" y="3169110"/>
                  </a:lnTo>
                  <a:lnTo>
                    <a:pt x="3116791" y="3187026"/>
                  </a:lnTo>
                  <a:lnTo>
                    <a:pt x="3070965" y="3204135"/>
                  </a:lnTo>
                  <a:lnTo>
                    <a:pt x="3024549" y="3220425"/>
                  </a:lnTo>
                  <a:lnTo>
                    <a:pt x="2977559" y="3235882"/>
                  </a:lnTo>
                  <a:lnTo>
                    <a:pt x="2930010" y="3250496"/>
                  </a:lnTo>
                  <a:lnTo>
                    <a:pt x="2881918" y="3264255"/>
                  </a:lnTo>
                  <a:lnTo>
                    <a:pt x="2833299" y="3277146"/>
                  </a:lnTo>
                  <a:lnTo>
                    <a:pt x="2784167" y="3289157"/>
                  </a:lnTo>
                  <a:lnTo>
                    <a:pt x="2734539" y="3300276"/>
                  </a:lnTo>
                  <a:lnTo>
                    <a:pt x="2684429" y="3310492"/>
                  </a:lnTo>
                  <a:lnTo>
                    <a:pt x="2633854" y="3319791"/>
                  </a:lnTo>
                  <a:lnTo>
                    <a:pt x="2582828" y="3328163"/>
                  </a:lnTo>
                  <a:lnTo>
                    <a:pt x="2531368" y="3335595"/>
                  </a:lnTo>
                  <a:lnTo>
                    <a:pt x="2479488" y="3342075"/>
                  </a:lnTo>
                  <a:lnTo>
                    <a:pt x="2427204" y="3347592"/>
                  </a:lnTo>
                  <a:lnTo>
                    <a:pt x="2374532" y="3352132"/>
                  </a:lnTo>
                  <a:lnTo>
                    <a:pt x="2321487" y="3355684"/>
                  </a:lnTo>
                  <a:lnTo>
                    <a:pt x="2268085" y="3358236"/>
                  </a:lnTo>
                  <a:lnTo>
                    <a:pt x="2214340" y="3359776"/>
                  </a:lnTo>
                  <a:lnTo>
                    <a:pt x="2160270" y="3360292"/>
                  </a:lnTo>
                  <a:lnTo>
                    <a:pt x="2106199" y="3359776"/>
                  </a:lnTo>
                  <a:lnTo>
                    <a:pt x="2052454" y="3358236"/>
                  </a:lnTo>
                  <a:lnTo>
                    <a:pt x="1999052" y="3355684"/>
                  </a:lnTo>
                  <a:lnTo>
                    <a:pt x="1946007" y="3352132"/>
                  </a:lnTo>
                  <a:lnTo>
                    <a:pt x="1893335" y="3347592"/>
                  </a:lnTo>
                  <a:lnTo>
                    <a:pt x="1841051" y="3342075"/>
                  </a:lnTo>
                  <a:lnTo>
                    <a:pt x="1789171" y="3335595"/>
                  </a:lnTo>
                  <a:lnTo>
                    <a:pt x="1737711" y="3328163"/>
                  </a:lnTo>
                  <a:lnTo>
                    <a:pt x="1686685" y="3319791"/>
                  </a:lnTo>
                  <a:lnTo>
                    <a:pt x="1636110" y="3310492"/>
                  </a:lnTo>
                  <a:lnTo>
                    <a:pt x="1586000" y="3300276"/>
                  </a:lnTo>
                  <a:lnTo>
                    <a:pt x="1536372" y="3289157"/>
                  </a:lnTo>
                  <a:lnTo>
                    <a:pt x="1487240" y="3277146"/>
                  </a:lnTo>
                  <a:lnTo>
                    <a:pt x="1438621" y="3264255"/>
                  </a:lnTo>
                  <a:lnTo>
                    <a:pt x="1390529" y="3250496"/>
                  </a:lnTo>
                  <a:lnTo>
                    <a:pt x="1342980" y="3235882"/>
                  </a:lnTo>
                  <a:lnTo>
                    <a:pt x="1295990" y="3220425"/>
                  </a:lnTo>
                  <a:lnTo>
                    <a:pt x="1249574" y="3204135"/>
                  </a:lnTo>
                  <a:lnTo>
                    <a:pt x="1203748" y="3187026"/>
                  </a:lnTo>
                  <a:lnTo>
                    <a:pt x="1158526" y="3169110"/>
                  </a:lnTo>
                  <a:lnTo>
                    <a:pt x="1113925" y="3150398"/>
                  </a:lnTo>
                  <a:lnTo>
                    <a:pt x="1069960" y="3130902"/>
                  </a:lnTo>
                  <a:lnTo>
                    <a:pt x="1026647" y="3110635"/>
                  </a:lnTo>
                  <a:lnTo>
                    <a:pt x="984000" y="3089609"/>
                  </a:lnTo>
                  <a:lnTo>
                    <a:pt x="942036" y="3067835"/>
                  </a:lnTo>
                  <a:lnTo>
                    <a:pt x="900770" y="3045326"/>
                  </a:lnTo>
                  <a:lnTo>
                    <a:pt x="860217" y="3022094"/>
                  </a:lnTo>
                  <a:lnTo>
                    <a:pt x="820393" y="2998150"/>
                  </a:lnTo>
                  <a:lnTo>
                    <a:pt x="781313" y="2973507"/>
                  </a:lnTo>
                  <a:lnTo>
                    <a:pt x="742992" y="2948177"/>
                  </a:lnTo>
                  <a:lnTo>
                    <a:pt x="705448" y="2922172"/>
                  </a:lnTo>
                  <a:lnTo>
                    <a:pt x="668693" y="2895503"/>
                  </a:lnTo>
                  <a:lnTo>
                    <a:pt x="632745" y="2868183"/>
                  </a:lnTo>
                  <a:lnTo>
                    <a:pt x="597619" y="2840225"/>
                  </a:lnTo>
                  <a:lnTo>
                    <a:pt x="563330" y="2811639"/>
                  </a:lnTo>
                  <a:lnTo>
                    <a:pt x="529893" y="2782438"/>
                  </a:lnTo>
                  <a:lnTo>
                    <a:pt x="497324" y="2752634"/>
                  </a:lnTo>
                  <a:lnTo>
                    <a:pt x="465639" y="2722239"/>
                  </a:lnTo>
                  <a:lnTo>
                    <a:pt x="434853" y="2691265"/>
                  </a:lnTo>
                  <a:lnTo>
                    <a:pt x="404982" y="2659724"/>
                  </a:lnTo>
                  <a:lnTo>
                    <a:pt x="376040" y="2627628"/>
                  </a:lnTo>
                  <a:lnTo>
                    <a:pt x="348044" y="2594990"/>
                  </a:lnTo>
                  <a:lnTo>
                    <a:pt x="321009" y="2561820"/>
                  </a:lnTo>
                  <a:lnTo>
                    <a:pt x="294950" y="2528132"/>
                  </a:lnTo>
                  <a:lnTo>
                    <a:pt x="269883" y="2493937"/>
                  </a:lnTo>
                  <a:lnTo>
                    <a:pt x="245823" y="2459247"/>
                  </a:lnTo>
                  <a:lnTo>
                    <a:pt x="222786" y="2424075"/>
                  </a:lnTo>
                  <a:lnTo>
                    <a:pt x="200788" y="2388432"/>
                  </a:lnTo>
                  <a:lnTo>
                    <a:pt x="179843" y="2352330"/>
                  </a:lnTo>
                  <a:lnTo>
                    <a:pt x="159968" y="2315781"/>
                  </a:lnTo>
                  <a:lnTo>
                    <a:pt x="141177" y="2278798"/>
                  </a:lnTo>
                  <a:lnTo>
                    <a:pt x="123486" y="2241393"/>
                  </a:lnTo>
                  <a:lnTo>
                    <a:pt x="106911" y="2203577"/>
                  </a:lnTo>
                  <a:lnTo>
                    <a:pt x="91467" y="2165362"/>
                  </a:lnTo>
                  <a:lnTo>
                    <a:pt x="77170" y="2126761"/>
                  </a:lnTo>
                  <a:lnTo>
                    <a:pt x="64034" y="2087785"/>
                  </a:lnTo>
                  <a:lnTo>
                    <a:pt x="52077" y="2048447"/>
                  </a:lnTo>
                  <a:lnTo>
                    <a:pt x="41312" y="2008759"/>
                  </a:lnTo>
                  <a:lnTo>
                    <a:pt x="31756" y="1968732"/>
                  </a:lnTo>
                  <a:lnTo>
                    <a:pt x="23423" y="1928379"/>
                  </a:lnTo>
                  <a:lnTo>
                    <a:pt x="16331" y="1887712"/>
                  </a:lnTo>
                  <a:lnTo>
                    <a:pt x="10493" y="1846743"/>
                  </a:lnTo>
                  <a:lnTo>
                    <a:pt x="5925" y="1805483"/>
                  </a:lnTo>
                  <a:lnTo>
                    <a:pt x="2643" y="1763945"/>
                  </a:lnTo>
                  <a:lnTo>
                    <a:pt x="663" y="1722141"/>
                  </a:lnTo>
                  <a:lnTo>
                    <a:pt x="0" y="1680082"/>
                  </a:lnTo>
                  <a:close/>
                </a:path>
              </a:pathLst>
            </a:custGeom>
            <a:ln w="9525">
              <a:solidFill>
                <a:srgbClr val="CCB4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28604"/>
            <a:ext cx="10640695" cy="450215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Mademoiselle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60" dirty="0">
                <a:solidFill>
                  <a:srgbClr val="FFFFFF"/>
                </a:solidFill>
                <a:latin typeface="Times New Roman"/>
                <a:cs typeface="Times New Roman"/>
              </a:rPr>
              <a:t>F,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20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ans,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consulte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pour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26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monoarthrite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aigue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genou</a:t>
            </a:r>
            <a:endParaRPr sz="2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gauche.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Quelles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sont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les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proposition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exactes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concernant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l’examen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physique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25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endParaRPr sz="2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cette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patiente:</a:t>
            </a:r>
            <a:endParaRPr sz="2650" dirty="0">
              <a:latin typeface="Times New Roman"/>
              <a:cs typeface="Times New Roman"/>
            </a:endParaRPr>
          </a:p>
          <a:p>
            <a:pPr marL="553720" indent="-541020">
              <a:lnSpc>
                <a:spcPct val="100000"/>
              </a:lnSpc>
              <a:spcBef>
                <a:spcPts val="2450"/>
              </a:spcBef>
              <a:buAutoNum type="alphaUcPeriod"/>
              <a:tabLst>
                <a:tab pos="553720" algn="l"/>
              </a:tabLst>
            </a:pP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Le</a:t>
            </a:r>
            <a:r>
              <a:rPr sz="265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prise de</a:t>
            </a:r>
            <a:r>
              <a:rPr sz="26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la</a:t>
            </a:r>
            <a:r>
              <a:rPr sz="265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température</a:t>
            </a:r>
            <a:r>
              <a:rPr sz="265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est</a:t>
            </a:r>
            <a:r>
              <a:rPr sz="26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0000"/>
                </a:solidFill>
                <a:latin typeface="Times New Roman"/>
                <a:cs typeface="Times New Roman"/>
              </a:rPr>
              <a:t>obligatoire</a:t>
            </a:r>
            <a:endParaRPr sz="265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553720" indent="-541020">
              <a:lnSpc>
                <a:spcPct val="100000"/>
              </a:lnSpc>
              <a:spcBef>
                <a:spcPts val="1140"/>
              </a:spcBef>
              <a:buAutoNum type="alphaUcPeriod"/>
              <a:tabLst>
                <a:tab pos="553720" algn="l"/>
              </a:tabLst>
            </a:pP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Il faut examiner</a:t>
            </a:r>
            <a:r>
              <a:rPr sz="26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la</a:t>
            </a:r>
            <a:r>
              <a:rPr sz="265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hanche</a:t>
            </a:r>
            <a:r>
              <a:rPr sz="26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0000"/>
                </a:solidFill>
                <a:latin typeface="Times New Roman"/>
                <a:cs typeface="Times New Roman"/>
              </a:rPr>
              <a:t>gauche</a:t>
            </a:r>
            <a:endParaRPr sz="265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553720" indent="-541020">
              <a:lnSpc>
                <a:spcPct val="100000"/>
              </a:lnSpc>
              <a:spcBef>
                <a:spcPts val="1140"/>
              </a:spcBef>
              <a:buAutoNum type="alphaUcPeriod"/>
              <a:tabLst>
                <a:tab pos="553720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test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choc</a:t>
            </a:r>
            <a:r>
              <a:rPr sz="26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patellaire</a:t>
            </a:r>
            <a:r>
              <a:rPr sz="26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recherche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abcès sous-périosté</a:t>
            </a:r>
            <a:r>
              <a:rPr sz="26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patella</a:t>
            </a:r>
            <a:endParaRPr sz="2650" dirty="0">
              <a:latin typeface="Times New Roman"/>
              <a:cs typeface="Times New Roman"/>
            </a:endParaRPr>
          </a:p>
          <a:p>
            <a:pPr marL="553720" indent="-541020">
              <a:lnSpc>
                <a:spcPct val="100000"/>
              </a:lnSpc>
              <a:spcBef>
                <a:spcPts val="1140"/>
              </a:spcBef>
              <a:buAutoNum type="alphaUcPeriod"/>
              <a:tabLst>
                <a:tab pos="553720" algn="l"/>
              </a:tabLst>
            </a:pP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L’auscultation</a:t>
            </a:r>
            <a:r>
              <a:rPr sz="265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pulmonaire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n’est</a:t>
            </a:r>
            <a:r>
              <a:rPr sz="26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pas</a:t>
            </a:r>
            <a:r>
              <a:rPr sz="26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indiquée</a:t>
            </a:r>
            <a:endParaRPr sz="265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2440"/>
              </a:spcBef>
              <a:buAutoNum type="alphaUcPeriod"/>
              <a:tabLst>
                <a:tab pos="46926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mesure</a:t>
            </a:r>
            <a:r>
              <a:rPr sz="26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6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pression</a:t>
            </a:r>
            <a:r>
              <a:rPr sz="26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artérielle</a:t>
            </a:r>
            <a:r>
              <a:rPr sz="26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n’a</a:t>
            </a:r>
            <a:r>
              <a:rPr sz="26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pas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d’intérêt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dans</a:t>
            </a:r>
            <a:r>
              <a:rPr sz="26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cette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pathologie</a:t>
            </a:r>
            <a:endParaRPr sz="26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28604"/>
            <a:ext cx="10414000" cy="543814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2650" spc="-20" dirty="0">
                <a:solidFill>
                  <a:srgbClr val="FFFFFF"/>
                </a:solidFill>
                <a:latin typeface="Times New Roman"/>
                <a:cs typeface="Times New Roman"/>
              </a:rPr>
              <a:t>L’examen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physique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Mademoiselle</a:t>
            </a:r>
            <a:r>
              <a:rPr sz="26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trouve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fièvre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à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39</a:t>
            </a:r>
            <a:r>
              <a:rPr sz="2650" dirty="0">
                <a:solidFill>
                  <a:srgbClr val="FFFFFF"/>
                </a:solidFill>
                <a:latin typeface="Calibri"/>
                <a:cs typeface="Calibri"/>
              </a:rPr>
              <a:t>°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C,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25" dirty="0">
                <a:solidFill>
                  <a:srgbClr val="FFFFFF"/>
                </a:solidFill>
                <a:latin typeface="Times New Roman"/>
                <a:cs typeface="Times New Roman"/>
              </a:rPr>
              <a:t>un</a:t>
            </a:r>
            <a:endParaRPr sz="2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épanchement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du genou</a:t>
            </a:r>
            <a:r>
              <a:rPr sz="26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gauche</a:t>
            </a:r>
            <a:r>
              <a:rPr sz="26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et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26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tachycardie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à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100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bpm.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20" dirty="0">
                <a:solidFill>
                  <a:srgbClr val="FFFFFF"/>
                </a:solidFill>
                <a:latin typeface="Times New Roman"/>
                <a:cs typeface="Times New Roman"/>
              </a:rPr>
              <a:t>L’</a:t>
            </a:r>
            <a:r>
              <a:rPr sz="2650" spc="-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(les)</a:t>
            </a:r>
            <a:endParaRPr sz="2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examen(s)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biologique(s)</a:t>
            </a:r>
            <a:r>
              <a:rPr sz="26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permettant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 confirmer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diagnostic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d’une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arthrite</a:t>
            </a:r>
            <a:endParaRPr sz="2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septique en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urgence est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(sont):</a:t>
            </a:r>
            <a:endParaRPr sz="2650" dirty="0">
              <a:latin typeface="Times New Roman"/>
              <a:cs typeface="Times New Roman"/>
            </a:endParaRPr>
          </a:p>
          <a:p>
            <a:pPr marL="553720" indent="-541020">
              <a:lnSpc>
                <a:spcPct val="100000"/>
              </a:lnSpc>
              <a:spcBef>
                <a:spcPts val="2450"/>
              </a:spcBef>
              <a:buAutoNum type="alphaUcPeriod"/>
              <a:tabLst>
                <a:tab pos="553720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une vitesse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sédimentation</a:t>
            </a:r>
            <a:endParaRPr sz="2650" dirty="0">
              <a:latin typeface="Times New Roman"/>
              <a:cs typeface="Times New Roman"/>
            </a:endParaRPr>
          </a:p>
          <a:p>
            <a:pPr marL="469900" marR="614680" indent="-457200">
              <a:lnSpc>
                <a:spcPct val="115500"/>
              </a:lnSpc>
              <a:spcBef>
                <a:spcPts val="645"/>
              </a:spcBef>
              <a:buAutoNum type="alphaUcPeriod"/>
              <a:tabLst>
                <a:tab pos="469900" algn="l"/>
                <a:tab pos="553720" algn="l"/>
              </a:tabLst>
            </a:pP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	une</a:t>
            </a:r>
            <a:r>
              <a:rPr sz="26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analyse</a:t>
            </a:r>
            <a:r>
              <a:rPr sz="26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macroscopique,</a:t>
            </a:r>
            <a:r>
              <a:rPr sz="2650" spc="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0000"/>
                </a:solidFill>
                <a:latin typeface="Times New Roman"/>
                <a:cs typeface="Times New Roman"/>
              </a:rPr>
              <a:t>cyto-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bactériologique</a:t>
            </a:r>
            <a:r>
              <a:rPr sz="26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et</a:t>
            </a:r>
            <a:r>
              <a:rPr sz="26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biochimique</a:t>
            </a:r>
            <a:r>
              <a:rPr sz="265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spc="-25" dirty="0">
                <a:solidFill>
                  <a:srgbClr val="FF0000"/>
                </a:solidFill>
                <a:latin typeface="Times New Roman"/>
                <a:cs typeface="Times New Roman"/>
              </a:rPr>
              <a:t>du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liquide</a:t>
            </a:r>
            <a:r>
              <a:rPr sz="265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0000"/>
                </a:solidFill>
                <a:latin typeface="Times New Roman"/>
                <a:cs typeface="Times New Roman"/>
              </a:rPr>
              <a:t>articulaire</a:t>
            </a:r>
            <a:endParaRPr sz="265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553720" indent="-541020">
              <a:lnSpc>
                <a:spcPct val="100000"/>
              </a:lnSpc>
              <a:spcBef>
                <a:spcPts val="1145"/>
              </a:spcBef>
              <a:buAutoNum type="alphaUcPeriod"/>
              <a:tabLst>
                <a:tab pos="553720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hémogramme</a:t>
            </a:r>
            <a:endParaRPr sz="2650" dirty="0">
              <a:latin typeface="Times New Roman"/>
              <a:cs typeface="Times New Roman"/>
            </a:endParaRPr>
          </a:p>
          <a:p>
            <a:pPr marL="553720" indent="-541020">
              <a:lnSpc>
                <a:spcPct val="100000"/>
              </a:lnSpc>
              <a:spcBef>
                <a:spcPts val="1140"/>
              </a:spcBef>
              <a:buAutoNum type="alphaUcPeriod"/>
              <a:tabLst>
                <a:tab pos="553720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hémoculture</a:t>
            </a:r>
            <a:endParaRPr sz="265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2450"/>
              </a:spcBef>
              <a:buAutoNum type="alphaUcPeriod"/>
              <a:tabLst>
                <a:tab pos="46926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</a:t>
            </a:r>
            <a:r>
              <a:rPr sz="26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dosage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6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65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i="1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650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i="1" dirty="0">
                <a:solidFill>
                  <a:srgbClr val="FFFFFF"/>
                </a:solidFill>
                <a:latin typeface="Times New Roman"/>
                <a:cs typeface="Times New Roman"/>
              </a:rPr>
              <a:t>reactive</a:t>
            </a:r>
            <a:r>
              <a:rPr sz="2650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i="1" dirty="0">
                <a:solidFill>
                  <a:srgbClr val="FFFFFF"/>
                </a:solidFill>
                <a:latin typeface="Times New Roman"/>
                <a:cs typeface="Times New Roman"/>
              </a:rPr>
              <a:t>protein</a:t>
            </a:r>
            <a:r>
              <a:rPr sz="2650"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(CRP)</a:t>
            </a:r>
            <a:endParaRPr sz="26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28604"/>
            <a:ext cx="10786110" cy="543814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2650" spc="-65" dirty="0">
                <a:solidFill>
                  <a:srgbClr val="FFFFFF"/>
                </a:solidFill>
                <a:latin typeface="Times New Roman"/>
                <a:cs typeface="Times New Roman"/>
              </a:rPr>
              <a:t>Vous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décidez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d’effectuer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ponction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genou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pour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Mademoiselle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25" dirty="0">
                <a:solidFill>
                  <a:srgbClr val="FFFFFF"/>
                </a:solidFill>
                <a:latin typeface="Times New Roman"/>
                <a:cs typeface="Times New Roman"/>
              </a:rPr>
              <a:t>F.</a:t>
            </a:r>
            <a:endParaRPr sz="2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Concernant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le liquide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ponctionné:</a:t>
            </a:r>
            <a:endParaRPr sz="2650" dirty="0">
              <a:latin typeface="Times New Roman"/>
              <a:cs typeface="Times New Roman"/>
            </a:endParaRPr>
          </a:p>
          <a:p>
            <a:pPr marL="469900" marR="1105535" indent="-457200">
              <a:lnSpc>
                <a:spcPct val="115799"/>
              </a:lnSpc>
              <a:spcBef>
                <a:spcPts val="1935"/>
              </a:spcBef>
              <a:buAutoNum type="alphaUcPeriod"/>
              <a:tabLst>
                <a:tab pos="469900" algn="l"/>
                <a:tab pos="553720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	Le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liquide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prélevé peut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être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conservé</a:t>
            </a:r>
            <a:r>
              <a:rPr sz="26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au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froid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pendant</a:t>
            </a:r>
            <a:r>
              <a:rPr sz="26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24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heures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25" dirty="0">
                <a:solidFill>
                  <a:srgbClr val="FFFFFF"/>
                </a:solidFill>
                <a:latin typeface="Times New Roman"/>
                <a:cs typeface="Times New Roman"/>
              </a:rPr>
              <a:t>au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maximum</a:t>
            </a:r>
            <a:endParaRPr sz="2650" dirty="0">
              <a:latin typeface="Times New Roman"/>
              <a:cs typeface="Times New Roman"/>
            </a:endParaRPr>
          </a:p>
          <a:p>
            <a:pPr marL="553720" indent="-541020">
              <a:lnSpc>
                <a:spcPct val="100000"/>
              </a:lnSpc>
              <a:spcBef>
                <a:spcPts val="1145"/>
              </a:spcBef>
              <a:buAutoNum type="alphaUcPeriod"/>
              <a:tabLst>
                <a:tab pos="553720" algn="l"/>
              </a:tabLst>
            </a:pP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La</a:t>
            </a:r>
            <a:r>
              <a:rPr sz="265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quantité</a:t>
            </a:r>
            <a:r>
              <a:rPr sz="26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du liquide</a:t>
            </a:r>
            <a:r>
              <a:rPr sz="26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ponctionné</a:t>
            </a:r>
            <a:r>
              <a:rPr sz="265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doit</a:t>
            </a:r>
            <a:r>
              <a:rPr sz="26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être</a:t>
            </a:r>
            <a:r>
              <a:rPr sz="265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spc="-20" dirty="0">
                <a:solidFill>
                  <a:srgbClr val="FF0000"/>
                </a:solidFill>
                <a:latin typeface="Times New Roman"/>
                <a:cs typeface="Times New Roman"/>
              </a:rPr>
              <a:t>notée</a:t>
            </a:r>
            <a:endParaRPr sz="265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553720" indent="-541020">
              <a:lnSpc>
                <a:spcPct val="100000"/>
              </a:lnSpc>
              <a:spcBef>
                <a:spcPts val="1140"/>
              </a:spcBef>
              <a:buAutoNum type="alphaUcPeriod"/>
              <a:tabLst>
                <a:tab pos="553720" algn="l"/>
              </a:tabLst>
            </a:pP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La viscosité du</a:t>
            </a:r>
            <a:r>
              <a:rPr sz="26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liquide</a:t>
            </a:r>
            <a:r>
              <a:rPr sz="265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ponctionné</a:t>
            </a:r>
            <a:r>
              <a:rPr sz="265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est un élément</a:t>
            </a:r>
            <a:r>
              <a:rPr sz="265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du</a:t>
            </a:r>
            <a:r>
              <a:rPr sz="265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diagnostic </a:t>
            </a:r>
            <a:r>
              <a:rPr sz="2650" spc="-10" dirty="0">
                <a:solidFill>
                  <a:srgbClr val="FF0000"/>
                </a:solidFill>
                <a:latin typeface="Times New Roman"/>
                <a:cs typeface="Times New Roman"/>
              </a:rPr>
              <a:t>étiologique</a:t>
            </a:r>
            <a:endParaRPr sz="265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553720" indent="-541020">
              <a:lnSpc>
                <a:spcPct val="100000"/>
              </a:lnSpc>
              <a:spcBef>
                <a:spcPts val="1140"/>
              </a:spcBef>
              <a:buAutoNum type="alphaUcPeriod"/>
              <a:tabLst>
                <a:tab pos="553720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couleur jaune citrin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liquide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ponctionné</a:t>
            </a:r>
            <a:r>
              <a:rPr sz="26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élimine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la possibilité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d’une</a:t>
            </a:r>
            <a:endParaRPr sz="265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05"/>
              </a:spcBef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arthrite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septique</a:t>
            </a:r>
            <a:endParaRPr sz="265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2435"/>
              </a:spcBef>
              <a:buAutoNum type="alphaUcPeriod" startAt="5"/>
              <a:tabLst>
                <a:tab pos="46926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présence</a:t>
            </a:r>
            <a:r>
              <a:rPr sz="26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6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sang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dans</a:t>
            </a:r>
            <a:r>
              <a:rPr sz="26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liquide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ponctionné</a:t>
            </a:r>
            <a:r>
              <a:rPr sz="26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élimine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diagnostic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d’une</a:t>
            </a:r>
            <a:endParaRPr sz="265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09"/>
              </a:spcBef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arthrite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septique</a:t>
            </a:r>
            <a:endParaRPr sz="26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28604"/>
            <a:ext cx="10483215" cy="5438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05485">
              <a:lnSpc>
                <a:spcPct val="115700"/>
              </a:lnSpc>
              <a:spcBef>
                <a:spcPts val="100"/>
              </a:spcBef>
            </a:pPr>
            <a:r>
              <a:rPr sz="2650" spc="-65" dirty="0">
                <a:solidFill>
                  <a:srgbClr val="FFFFFF"/>
                </a:solidFill>
                <a:latin typeface="Times New Roman"/>
                <a:cs typeface="Times New Roman"/>
              </a:rPr>
              <a:t>Vous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rédigez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demande</a:t>
            </a:r>
            <a:r>
              <a:rPr sz="26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d’analyse</a:t>
            </a:r>
            <a:r>
              <a:rPr sz="26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cyto-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bactériologique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liquide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ponctionné.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Les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analyses pertinentes pour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confirmer</a:t>
            </a:r>
            <a:r>
              <a:rPr sz="26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diagnostic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d’une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arthrite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septique en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urgence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sont:</a:t>
            </a:r>
            <a:endParaRPr sz="265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2445"/>
              </a:spcBef>
              <a:buAutoNum type="alphaUcPeriod"/>
              <a:tabLst>
                <a:tab pos="469265" algn="l"/>
              </a:tabLst>
            </a:pP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un</a:t>
            </a:r>
            <a:r>
              <a:rPr sz="26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examen</a:t>
            </a:r>
            <a:r>
              <a:rPr sz="265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direct</a:t>
            </a:r>
            <a:r>
              <a:rPr sz="26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avec</a:t>
            </a:r>
            <a:r>
              <a:rPr sz="26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coloration</a:t>
            </a:r>
            <a:r>
              <a:rPr sz="265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sz="265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spc="-20" dirty="0">
                <a:solidFill>
                  <a:srgbClr val="FF0000"/>
                </a:solidFill>
                <a:latin typeface="Times New Roman"/>
                <a:cs typeface="Times New Roman"/>
              </a:rPr>
              <a:t>Gram</a:t>
            </a:r>
            <a:endParaRPr sz="265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9900" marR="1231265" indent="-457200">
              <a:lnSpc>
                <a:spcPct val="115799"/>
              </a:lnSpc>
              <a:spcBef>
                <a:spcPts val="640"/>
              </a:spcBef>
              <a:buAutoNum type="alphaUcPeriod"/>
              <a:tabLst>
                <a:tab pos="469900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formule</a:t>
            </a:r>
            <a:r>
              <a:rPr sz="26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leucocytaire</a:t>
            </a:r>
            <a:r>
              <a:rPr sz="26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avec</a:t>
            </a:r>
            <a:r>
              <a:rPr sz="26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identification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26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pourcentage</a:t>
            </a:r>
            <a:r>
              <a:rPr sz="265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25" dirty="0">
                <a:solidFill>
                  <a:srgbClr val="FFFFFF"/>
                </a:solidFill>
                <a:latin typeface="Times New Roman"/>
                <a:cs typeface="Times New Roman"/>
              </a:rPr>
              <a:t>des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polynucléaires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neutrophiles</a:t>
            </a:r>
            <a:r>
              <a:rPr sz="26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sans</a:t>
            </a:r>
            <a:r>
              <a:rPr sz="265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numération</a:t>
            </a:r>
            <a:endParaRPr sz="2650" dirty="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15599"/>
              </a:lnSpc>
              <a:spcBef>
                <a:spcPts val="645"/>
              </a:spcBef>
              <a:buAutoNum type="alphaUcPeriod"/>
              <a:tabLst>
                <a:tab pos="469900" algn="l"/>
              </a:tabLst>
            </a:pP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Une</a:t>
            </a:r>
            <a:r>
              <a:rPr sz="265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numération</a:t>
            </a:r>
            <a:r>
              <a:rPr sz="265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des</a:t>
            </a:r>
            <a:r>
              <a:rPr sz="26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leucocytes</a:t>
            </a:r>
            <a:r>
              <a:rPr sz="26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avec</a:t>
            </a:r>
            <a:r>
              <a:rPr sz="26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formule</a:t>
            </a:r>
            <a:r>
              <a:rPr sz="265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leucocytaire</a:t>
            </a:r>
            <a:r>
              <a:rPr sz="265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et</a:t>
            </a:r>
            <a:r>
              <a:rPr sz="26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recherche</a:t>
            </a:r>
            <a:r>
              <a:rPr sz="26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spc="-25" dirty="0">
                <a:solidFill>
                  <a:srgbClr val="FF0000"/>
                </a:solidFill>
                <a:latin typeface="Times New Roman"/>
                <a:cs typeface="Times New Roman"/>
              </a:rPr>
              <a:t>de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polynucléaires</a:t>
            </a:r>
            <a:r>
              <a:rPr sz="26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0000"/>
                </a:solidFill>
                <a:latin typeface="Times New Roman"/>
                <a:cs typeface="Times New Roman"/>
              </a:rPr>
              <a:t>altérées</a:t>
            </a:r>
            <a:endParaRPr sz="265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553720" indent="-541020">
              <a:lnSpc>
                <a:spcPct val="100000"/>
              </a:lnSpc>
              <a:spcBef>
                <a:spcPts val="1140"/>
              </a:spcBef>
              <a:buAutoNum type="alphaUcPeriod"/>
              <a:tabLst>
                <a:tab pos="553720" algn="l"/>
              </a:tabLst>
            </a:pP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Une mise</a:t>
            </a:r>
            <a:r>
              <a:rPr sz="26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en</a:t>
            </a:r>
            <a:r>
              <a:rPr sz="265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culture</a:t>
            </a:r>
            <a:r>
              <a:rPr sz="265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du</a:t>
            </a:r>
            <a:r>
              <a:rPr sz="26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liquide </a:t>
            </a:r>
            <a:r>
              <a:rPr sz="2650" spc="-10" dirty="0">
                <a:solidFill>
                  <a:srgbClr val="FF0000"/>
                </a:solidFill>
                <a:latin typeface="Times New Roman"/>
                <a:cs typeface="Times New Roman"/>
              </a:rPr>
              <a:t>articulaire</a:t>
            </a:r>
            <a:endParaRPr sz="265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2450"/>
              </a:spcBef>
              <a:buAutoNum type="alphaUcPeriod"/>
              <a:tabLst>
                <a:tab pos="46926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recherche</a:t>
            </a:r>
            <a:r>
              <a:rPr sz="26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6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bacille</a:t>
            </a:r>
            <a:r>
              <a:rPr sz="26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6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Kock</a:t>
            </a:r>
            <a:r>
              <a:rPr sz="26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dans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liquide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articulaire</a:t>
            </a:r>
            <a:endParaRPr sz="26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2940" y="609269"/>
            <a:ext cx="10829290" cy="572262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05"/>
              </a:spcBef>
            </a:pP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L’analyse</a:t>
            </a:r>
            <a:r>
              <a:rPr sz="37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37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liquide</a:t>
            </a:r>
            <a:r>
              <a:rPr sz="37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ponctionné</a:t>
            </a:r>
            <a:r>
              <a:rPr sz="37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chez</a:t>
            </a:r>
            <a:r>
              <a:rPr sz="37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Mademoiselle</a:t>
            </a:r>
            <a:r>
              <a:rPr sz="37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spc="-5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37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10"/>
              </a:spcBef>
            </a:pPr>
            <a:r>
              <a:rPr sz="3700" spc="-10" dirty="0">
                <a:solidFill>
                  <a:srgbClr val="FFFFFF"/>
                </a:solidFill>
                <a:latin typeface="Times New Roman"/>
                <a:cs typeface="Times New Roman"/>
              </a:rPr>
              <a:t>trouve:</a:t>
            </a:r>
            <a:endParaRPr sz="3700">
              <a:latin typeface="Times New Roman"/>
              <a:cs typeface="Times New Roman"/>
            </a:endParaRPr>
          </a:p>
          <a:p>
            <a:pPr marL="494665" indent="-456565">
              <a:lnSpc>
                <a:spcPct val="100000"/>
              </a:lnSpc>
              <a:spcBef>
                <a:spcPts val="2915"/>
              </a:spcBef>
              <a:buFont typeface="Arial"/>
              <a:buChar char="•"/>
              <a:tabLst>
                <a:tab pos="494665" algn="l"/>
              </a:tabLst>
            </a:pP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Examen</a:t>
            </a:r>
            <a:r>
              <a:rPr sz="37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direct:</a:t>
            </a:r>
            <a:r>
              <a:rPr sz="3700" spc="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absence</a:t>
            </a:r>
            <a:r>
              <a:rPr sz="37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700" spc="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spc="-10" dirty="0">
                <a:solidFill>
                  <a:srgbClr val="FFFFFF"/>
                </a:solidFill>
                <a:latin typeface="Times New Roman"/>
                <a:cs typeface="Times New Roman"/>
              </a:rPr>
              <a:t>bactéries</a:t>
            </a:r>
            <a:endParaRPr sz="3700">
              <a:latin typeface="Times New Roman"/>
              <a:cs typeface="Times New Roman"/>
            </a:endParaRPr>
          </a:p>
          <a:p>
            <a:pPr marL="495300" marR="30480" indent="-457200">
              <a:lnSpc>
                <a:spcPct val="115900"/>
              </a:lnSpc>
              <a:spcBef>
                <a:spcPts val="2200"/>
              </a:spcBef>
              <a:buFont typeface="Arial"/>
              <a:buChar char="•"/>
              <a:tabLst>
                <a:tab pos="495300" algn="l"/>
              </a:tabLst>
            </a:pP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Leucocytes</a:t>
            </a:r>
            <a:r>
              <a:rPr sz="37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70</a:t>
            </a:r>
            <a:r>
              <a:rPr sz="37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000</a:t>
            </a:r>
            <a:r>
              <a:rPr sz="37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éléments/mm</a:t>
            </a:r>
            <a:r>
              <a:rPr sz="3675" baseline="24943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3700" spc="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dont</a:t>
            </a:r>
            <a:r>
              <a:rPr sz="37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90%</a:t>
            </a:r>
            <a:r>
              <a:rPr sz="37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des</a:t>
            </a:r>
            <a:r>
              <a:rPr sz="37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spc="-25" dirty="0">
                <a:solidFill>
                  <a:srgbClr val="FFFFFF"/>
                </a:solidFill>
                <a:latin typeface="Times New Roman"/>
                <a:cs typeface="Times New Roman"/>
              </a:rPr>
              <a:t>PNN </a:t>
            </a:r>
            <a:r>
              <a:rPr sz="3700" spc="-10" dirty="0">
                <a:solidFill>
                  <a:srgbClr val="FFFFFF"/>
                </a:solidFill>
                <a:latin typeface="Times New Roman"/>
                <a:cs typeface="Times New Roman"/>
              </a:rPr>
              <a:t>altérées</a:t>
            </a:r>
            <a:endParaRPr sz="3700">
              <a:latin typeface="Times New Roman"/>
              <a:cs typeface="Times New Roman"/>
            </a:endParaRPr>
          </a:p>
          <a:p>
            <a:pPr marL="494665" indent="-456565">
              <a:lnSpc>
                <a:spcPct val="100000"/>
              </a:lnSpc>
              <a:spcBef>
                <a:spcPts val="2905"/>
              </a:spcBef>
              <a:buFont typeface="Arial"/>
              <a:buChar char="•"/>
              <a:tabLst>
                <a:tab pos="494665" algn="l"/>
              </a:tabLst>
            </a:pP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Glucose</a:t>
            </a:r>
            <a:r>
              <a:rPr sz="37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à</a:t>
            </a:r>
            <a:r>
              <a:rPr sz="37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0,2</a:t>
            </a:r>
            <a:r>
              <a:rPr sz="37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g/L,</a:t>
            </a:r>
            <a:r>
              <a:rPr sz="37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Protides</a:t>
            </a:r>
            <a:r>
              <a:rPr sz="37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à</a:t>
            </a:r>
            <a:r>
              <a:rPr sz="37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80</a:t>
            </a:r>
            <a:r>
              <a:rPr sz="37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spc="-25" dirty="0">
                <a:solidFill>
                  <a:srgbClr val="FFFFFF"/>
                </a:solidFill>
                <a:latin typeface="Times New Roman"/>
                <a:cs typeface="Times New Roman"/>
              </a:rPr>
              <a:t>g/L</a:t>
            </a:r>
            <a:endParaRPr sz="3700">
              <a:latin typeface="Times New Roman"/>
              <a:cs typeface="Times New Roman"/>
            </a:endParaRPr>
          </a:p>
          <a:p>
            <a:pPr marL="494665" indent="-456565">
              <a:lnSpc>
                <a:spcPct val="100000"/>
              </a:lnSpc>
              <a:spcBef>
                <a:spcPts val="2920"/>
              </a:spcBef>
              <a:buFont typeface="Arial"/>
              <a:buChar char="•"/>
              <a:tabLst>
                <a:tab pos="494665" algn="l"/>
              </a:tabLst>
            </a:pP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Absence</a:t>
            </a:r>
            <a:r>
              <a:rPr sz="37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700" spc="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micro-</a:t>
            </a:r>
            <a:r>
              <a:rPr sz="3700" spc="-10" dirty="0">
                <a:solidFill>
                  <a:srgbClr val="FFFFFF"/>
                </a:solidFill>
                <a:latin typeface="Times New Roman"/>
                <a:cs typeface="Times New Roman"/>
              </a:rPr>
              <a:t>cristaux</a:t>
            </a:r>
            <a:endParaRPr sz="3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690118"/>
            <a:ext cx="7488555" cy="35064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Quelle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antibiothérapie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prescrivez-vous</a:t>
            </a:r>
            <a:r>
              <a:rPr sz="26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à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cette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patiente:</a:t>
            </a:r>
            <a:endParaRPr sz="265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2440"/>
              </a:spcBef>
              <a:buAutoNum type="alphaUcPeriod"/>
              <a:tabLst>
                <a:tab pos="469265" algn="l"/>
              </a:tabLst>
            </a:pP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Céfotaxime+fosfomycine</a:t>
            </a:r>
            <a:endParaRPr sz="265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140"/>
              </a:spcBef>
              <a:buAutoNum type="alphaUcPeriod"/>
              <a:tabLst>
                <a:tab pos="46926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Rifampicine</a:t>
            </a:r>
            <a:r>
              <a:rPr sz="26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seule</a:t>
            </a:r>
            <a:r>
              <a:rPr sz="26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26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25" dirty="0">
                <a:solidFill>
                  <a:srgbClr val="FFFFFF"/>
                </a:solidFill>
                <a:latin typeface="Times New Roman"/>
                <a:cs typeface="Times New Roman"/>
              </a:rPr>
              <a:t>IV</a:t>
            </a:r>
            <a:endParaRPr sz="265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155"/>
              </a:spcBef>
              <a:buAutoNum type="alphaUcPeriod"/>
              <a:tabLst>
                <a:tab pos="469265" algn="l"/>
              </a:tabLst>
            </a:pP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Ciprofloxacine+rifampicine</a:t>
            </a:r>
            <a:endParaRPr sz="265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140"/>
              </a:spcBef>
              <a:buAutoNum type="alphaUcPeriod"/>
              <a:tabLst>
                <a:tab pos="469265" algn="l"/>
              </a:tabLst>
            </a:pPr>
            <a:r>
              <a:rPr sz="2650" spc="-10" dirty="0">
                <a:solidFill>
                  <a:srgbClr val="FF0000"/>
                </a:solidFill>
                <a:latin typeface="Times New Roman"/>
                <a:cs typeface="Times New Roman"/>
              </a:rPr>
              <a:t>Oxacilline+gentamycine</a:t>
            </a:r>
            <a:endParaRPr sz="265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2435"/>
              </a:spcBef>
              <a:buAutoNum type="alphaUcPeriod"/>
              <a:tabLst>
                <a:tab pos="46926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Cotrimoxazol par</a:t>
            </a:r>
            <a:r>
              <a:rPr sz="26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voie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20" dirty="0">
                <a:solidFill>
                  <a:srgbClr val="FFFFFF"/>
                </a:solidFill>
                <a:latin typeface="Times New Roman"/>
                <a:cs typeface="Times New Roman"/>
              </a:rPr>
              <a:t>orale</a:t>
            </a:r>
            <a:endParaRPr sz="26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87723" y="1609344"/>
            <a:ext cx="4411980" cy="3450590"/>
            <a:chOff x="3887723" y="1609344"/>
            <a:chExt cx="4411980" cy="34505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7723" y="1609344"/>
              <a:ext cx="4411980" cy="345033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5729" y="1636522"/>
              <a:ext cx="4320540" cy="33602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935729" y="1636522"/>
              <a:ext cx="4320540" cy="3360420"/>
            </a:xfrm>
            <a:custGeom>
              <a:avLst/>
              <a:gdLst/>
              <a:ahLst/>
              <a:cxnLst/>
              <a:rect l="l" t="t" r="r" b="b"/>
              <a:pathLst>
                <a:path w="4320540" h="3360420">
                  <a:moveTo>
                    <a:pt x="1243203" y="1177670"/>
                  </a:moveTo>
                  <a:lnTo>
                    <a:pt x="1249144" y="1137545"/>
                  </a:lnTo>
                  <a:lnTo>
                    <a:pt x="1266068" y="1100710"/>
                  </a:lnTo>
                  <a:lnTo>
                    <a:pt x="1292628" y="1068216"/>
                  </a:lnTo>
                  <a:lnTo>
                    <a:pt x="1327474" y="1041113"/>
                  </a:lnTo>
                  <a:lnTo>
                    <a:pt x="1369258" y="1020453"/>
                  </a:lnTo>
                  <a:lnTo>
                    <a:pt x="1416632" y="1007287"/>
                  </a:lnTo>
                  <a:lnTo>
                    <a:pt x="1468247" y="1002664"/>
                  </a:lnTo>
                  <a:lnTo>
                    <a:pt x="1519814" y="1007287"/>
                  </a:lnTo>
                  <a:lnTo>
                    <a:pt x="1567154" y="1020453"/>
                  </a:lnTo>
                  <a:lnTo>
                    <a:pt x="1608915" y="1041113"/>
                  </a:lnTo>
                  <a:lnTo>
                    <a:pt x="1643748" y="1068216"/>
                  </a:lnTo>
                  <a:lnTo>
                    <a:pt x="1670301" y="1100710"/>
                  </a:lnTo>
                  <a:lnTo>
                    <a:pt x="1687223" y="1137545"/>
                  </a:lnTo>
                  <a:lnTo>
                    <a:pt x="1693164" y="1177670"/>
                  </a:lnTo>
                  <a:lnTo>
                    <a:pt x="1687223" y="1217796"/>
                  </a:lnTo>
                  <a:lnTo>
                    <a:pt x="1670301" y="1254631"/>
                  </a:lnTo>
                  <a:lnTo>
                    <a:pt x="1643748" y="1287125"/>
                  </a:lnTo>
                  <a:lnTo>
                    <a:pt x="1608915" y="1314228"/>
                  </a:lnTo>
                  <a:lnTo>
                    <a:pt x="1567154" y="1334888"/>
                  </a:lnTo>
                  <a:lnTo>
                    <a:pt x="1519814" y="1348054"/>
                  </a:lnTo>
                  <a:lnTo>
                    <a:pt x="1468247" y="1352677"/>
                  </a:lnTo>
                  <a:lnTo>
                    <a:pt x="1416632" y="1348054"/>
                  </a:lnTo>
                  <a:lnTo>
                    <a:pt x="1369258" y="1334888"/>
                  </a:lnTo>
                  <a:lnTo>
                    <a:pt x="1327474" y="1314228"/>
                  </a:lnTo>
                  <a:lnTo>
                    <a:pt x="1292628" y="1287125"/>
                  </a:lnTo>
                  <a:lnTo>
                    <a:pt x="1266068" y="1254631"/>
                  </a:lnTo>
                  <a:lnTo>
                    <a:pt x="1249144" y="1217796"/>
                  </a:lnTo>
                  <a:lnTo>
                    <a:pt x="1243203" y="1177670"/>
                  </a:lnTo>
                </a:path>
                <a:path w="4320540" h="3360420">
                  <a:moveTo>
                    <a:pt x="2627376" y="1177670"/>
                  </a:moveTo>
                  <a:lnTo>
                    <a:pt x="2633316" y="1137545"/>
                  </a:lnTo>
                  <a:lnTo>
                    <a:pt x="2650238" y="1100710"/>
                  </a:lnTo>
                  <a:lnTo>
                    <a:pt x="2676791" y="1068216"/>
                  </a:lnTo>
                  <a:lnTo>
                    <a:pt x="2711624" y="1041113"/>
                  </a:lnTo>
                  <a:lnTo>
                    <a:pt x="2753385" y="1020453"/>
                  </a:lnTo>
                  <a:lnTo>
                    <a:pt x="2800725" y="1007287"/>
                  </a:lnTo>
                  <a:lnTo>
                    <a:pt x="2852293" y="1002664"/>
                  </a:lnTo>
                  <a:lnTo>
                    <a:pt x="2903907" y="1007287"/>
                  </a:lnTo>
                  <a:lnTo>
                    <a:pt x="2951281" y="1020453"/>
                  </a:lnTo>
                  <a:lnTo>
                    <a:pt x="2993065" y="1041113"/>
                  </a:lnTo>
                  <a:lnTo>
                    <a:pt x="3027911" y="1068216"/>
                  </a:lnTo>
                  <a:lnTo>
                    <a:pt x="3054471" y="1100710"/>
                  </a:lnTo>
                  <a:lnTo>
                    <a:pt x="3071395" y="1137545"/>
                  </a:lnTo>
                  <a:lnTo>
                    <a:pt x="3077337" y="1177670"/>
                  </a:lnTo>
                  <a:lnTo>
                    <a:pt x="3071395" y="1217796"/>
                  </a:lnTo>
                  <a:lnTo>
                    <a:pt x="3054471" y="1254631"/>
                  </a:lnTo>
                  <a:lnTo>
                    <a:pt x="3027911" y="1287125"/>
                  </a:lnTo>
                  <a:lnTo>
                    <a:pt x="2993065" y="1314228"/>
                  </a:lnTo>
                  <a:lnTo>
                    <a:pt x="2951281" y="1334888"/>
                  </a:lnTo>
                  <a:lnTo>
                    <a:pt x="2903907" y="1348054"/>
                  </a:lnTo>
                  <a:lnTo>
                    <a:pt x="2852293" y="1352677"/>
                  </a:lnTo>
                  <a:lnTo>
                    <a:pt x="2800725" y="1348054"/>
                  </a:lnTo>
                  <a:lnTo>
                    <a:pt x="2753385" y="1334888"/>
                  </a:lnTo>
                  <a:lnTo>
                    <a:pt x="2711624" y="1314228"/>
                  </a:lnTo>
                  <a:lnTo>
                    <a:pt x="2676791" y="1287125"/>
                  </a:lnTo>
                  <a:lnTo>
                    <a:pt x="2650238" y="1254631"/>
                  </a:lnTo>
                  <a:lnTo>
                    <a:pt x="2633316" y="1217796"/>
                  </a:lnTo>
                  <a:lnTo>
                    <a:pt x="2627376" y="1177670"/>
                  </a:lnTo>
                </a:path>
                <a:path w="4320540" h="3360420">
                  <a:moveTo>
                    <a:pt x="989457" y="2412872"/>
                  </a:moveTo>
                  <a:lnTo>
                    <a:pt x="1036288" y="2437389"/>
                  </a:lnTo>
                  <a:lnTo>
                    <a:pt x="1083117" y="2460904"/>
                  </a:lnTo>
                  <a:lnTo>
                    <a:pt x="1129944" y="2483419"/>
                  </a:lnTo>
                  <a:lnTo>
                    <a:pt x="1176770" y="2504933"/>
                  </a:lnTo>
                  <a:lnTo>
                    <a:pt x="1223592" y="2525447"/>
                  </a:lnTo>
                  <a:lnTo>
                    <a:pt x="1270413" y="2544959"/>
                  </a:lnTo>
                  <a:lnTo>
                    <a:pt x="1317232" y="2563472"/>
                  </a:lnTo>
                  <a:lnTo>
                    <a:pt x="1364048" y="2580983"/>
                  </a:lnTo>
                  <a:lnTo>
                    <a:pt x="1410863" y="2597494"/>
                  </a:lnTo>
                  <a:lnTo>
                    <a:pt x="1457675" y="2613004"/>
                  </a:lnTo>
                  <a:lnTo>
                    <a:pt x="1504485" y="2627514"/>
                  </a:lnTo>
                  <a:lnTo>
                    <a:pt x="1551293" y="2641023"/>
                  </a:lnTo>
                  <a:lnTo>
                    <a:pt x="1598099" y="2653531"/>
                  </a:lnTo>
                  <a:lnTo>
                    <a:pt x="1644903" y="2665038"/>
                  </a:lnTo>
                  <a:lnTo>
                    <a:pt x="1691704" y="2675545"/>
                  </a:lnTo>
                  <a:lnTo>
                    <a:pt x="1738504" y="2685052"/>
                  </a:lnTo>
                  <a:lnTo>
                    <a:pt x="1785301" y="2693557"/>
                  </a:lnTo>
                  <a:lnTo>
                    <a:pt x="1832096" y="2701062"/>
                  </a:lnTo>
                  <a:lnTo>
                    <a:pt x="1878889" y="2707566"/>
                  </a:lnTo>
                  <a:lnTo>
                    <a:pt x="1925680" y="2713070"/>
                  </a:lnTo>
                  <a:lnTo>
                    <a:pt x="1972469" y="2717573"/>
                  </a:lnTo>
                  <a:lnTo>
                    <a:pt x="2019256" y="2721075"/>
                  </a:lnTo>
                  <a:lnTo>
                    <a:pt x="2066040" y="2723577"/>
                  </a:lnTo>
                  <a:lnTo>
                    <a:pt x="2112823" y="2725078"/>
                  </a:lnTo>
                  <a:lnTo>
                    <a:pt x="2159603" y="2725578"/>
                  </a:lnTo>
                  <a:lnTo>
                    <a:pt x="2206381" y="2725078"/>
                  </a:lnTo>
                  <a:lnTo>
                    <a:pt x="2253157" y="2723577"/>
                  </a:lnTo>
                  <a:lnTo>
                    <a:pt x="2299931" y="2721075"/>
                  </a:lnTo>
                  <a:lnTo>
                    <a:pt x="2346702" y="2717573"/>
                  </a:lnTo>
                  <a:lnTo>
                    <a:pt x="2393472" y="2713070"/>
                  </a:lnTo>
                  <a:lnTo>
                    <a:pt x="2440239" y="2707566"/>
                  </a:lnTo>
                  <a:lnTo>
                    <a:pt x="2487005" y="2701062"/>
                  </a:lnTo>
                  <a:lnTo>
                    <a:pt x="2533768" y="2693557"/>
                  </a:lnTo>
                  <a:lnTo>
                    <a:pt x="2580529" y="2685052"/>
                  </a:lnTo>
                  <a:lnTo>
                    <a:pt x="2627288" y="2675545"/>
                  </a:lnTo>
                  <a:lnTo>
                    <a:pt x="2674045" y="2665038"/>
                  </a:lnTo>
                  <a:lnTo>
                    <a:pt x="2720799" y="2653531"/>
                  </a:lnTo>
                  <a:lnTo>
                    <a:pt x="2767552" y="2641023"/>
                  </a:lnTo>
                  <a:lnTo>
                    <a:pt x="2814302" y="2627514"/>
                  </a:lnTo>
                  <a:lnTo>
                    <a:pt x="2861050" y="2613004"/>
                  </a:lnTo>
                  <a:lnTo>
                    <a:pt x="2907797" y="2597494"/>
                  </a:lnTo>
                  <a:lnTo>
                    <a:pt x="2954541" y="2580983"/>
                  </a:lnTo>
                  <a:lnTo>
                    <a:pt x="3001282" y="2563472"/>
                  </a:lnTo>
                  <a:lnTo>
                    <a:pt x="3048022" y="2544959"/>
                  </a:lnTo>
                  <a:lnTo>
                    <a:pt x="3094760" y="2525447"/>
                  </a:lnTo>
                  <a:lnTo>
                    <a:pt x="3141495" y="2504933"/>
                  </a:lnTo>
                  <a:lnTo>
                    <a:pt x="3188228" y="2483419"/>
                  </a:lnTo>
                  <a:lnTo>
                    <a:pt x="3234960" y="2460904"/>
                  </a:lnTo>
                  <a:lnTo>
                    <a:pt x="3281689" y="2437389"/>
                  </a:lnTo>
                  <a:lnTo>
                    <a:pt x="3328416" y="2412872"/>
                  </a:lnTo>
                </a:path>
                <a:path w="4320540" h="3360420">
                  <a:moveTo>
                    <a:pt x="0" y="1680082"/>
                  </a:moveTo>
                  <a:lnTo>
                    <a:pt x="663" y="1638030"/>
                  </a:lnTo>
                  <a:lnTo>
                    <a:pt x="2643" y="1596231"/>
                  </a:lnTo>
                  <a:lnTo>
                    <a:pt x="5925" y="1554699"/>
                  </a:lnTo>
                  <a:lnTo>
                    <a:pt x="10493" y="1513444"/>
                  </a:lnTo>
                  <a:lnTo>
                    <a:pt x="16331" y="1472480"/>
                  </a:lnTo>
                  <a:lnTo>
                    <a:pt x="23423" y="1431817"/>
                  </a:lnTo>
                  <a:lnTo>
                    <a:pt x="31756" y="1391469"/>
                  </a:lnTo>
                  <a:lnTo>
                    <a:pt x="41312" y="1351447"/>
                  </a:lnTo>
                  <a:lnTo>
                    <a:pt x="52077" y="1311763"/>
                  </a:lnTo>
                  <a:lnTo>
                    <a:pt x="64034" y="1272429"/>
                  </a:lnTo>
                  <a:lnTo>
                    <a:pt x="77170" y="1233458"/>
                  </a:lnTo>
                  <a:lnTo>
                    <a:pt x="91467" y="1194860"/>
                  </a:lnTo>
                  <a:lnTo>
                    <a:pt x="106911" y="1156650"/>
                  </a:lnTo>
                  <a:lnTo>
                    <a:pt x="123486" y="1118837"/>
                  </a:lnTo>
                  <a:lnTo>
                    <a:pt x="141177" y="1081435"/>
                  </a:lnTo>
                  <a:lnTo>
                    <a:pt x="159968" y="1044455"/>
                  </a:lnTo>
                  <a:lnTo>
                    <a:pt x="179843" y="1007910"/>
                  </a:lnTo>
                  <a:lnTo>
                    <a:pt x="200788" y="971812"/>
                  </a:lnTo>
                  <a:lnTo>
                    <a:pt x="222786" y="936171"/>
                  </a:lnTo>
                  <a:lnTo>
                    <a:pt x="245823" y="901002"/>
                  </a:lnTo>
                  <a:lnTo>
                    <a:pt x="269883" y="866315"/>
                  </a:lnTo>
                  <a:lnTo>
                    <a:pt x="294950" y="832122"/>
                  </a:lnTo>
                  <a:lnTo>
                    <a:pt x="321009" y="798437"/>
                  </a:lnTo>
                  <a:lnTo>
                    <a:pt x="348044" y="765270"/>
                  </a:lnTo>
                  <a:lnTo>
                    <a:pt x="376040" y="732633"/>
                  </a:lnTo>
                  <a:lnTo>
                    <a:pt x="404982" y="700540"/>
                  </a:lnTo>
                  <a:lnTo>
                    <a:pt x="434853" y="669001"/>
                  </a:lnTo>
                  <a:lnTo>
                    <a:pt x="465639" y="638029"/>
                  </a:lnTo>
                  <a:lnTo>
                    <a:pt x="497324" y="607636"/>
                  </a:lnTo>
                  <a:lnTo>
                    <a:pt x="529893" y="577834"/>
                  </a:lnTo>
                  <a:lnTo>
                    <a:pt x="563330" y="548634"/>
                  </a:lnTo>
                  <a:lnTo>
                    <a:pt x="597619" y="520050"/>
                  </a:lnTo>
                  <a:lnTo>
                    <a:pt x="632745" y="492093"/>
                  </a:lnTo>
                  <a:lnTo>
                    <a:pt x="668693" y="464774"/>
                  </a:lnTo>
                  <a:lnTo>
                    <a:pt x="705448" y="438107"/>
                  </a:lnTo>
                  <a:lnTo>
                    <a:pt x="742992" y="412103"/>
                  </a:lnTo>
                  <a:lnTo>
                    <a:pt x="781313" y="386774"/>
                  </a:lnTo>
                  <a:lnTo>
                    <a:pt x="820393" y="362132"/>
                  </a:lnTo>
                  <a:lnTo>
                    <a:pt x="860217" y="338189"/>
                  </a:lnTo>
                  <a:lnTo>
                    <a:pt x="900770" y="314958"/>
                  </a:lnTo>
                  <a:lnTo>
                    <a:pt x="942036" y="292450"/>
                  </a:lnTo>
                  <a:lnTo>
                    <a:pt x="984000" y="270677"/>
                  </a:lnTo>
                  <a:lnTo>
                    <a:pt x="1026647" y="249651"/>
                  </a:lnTo>
                  <a:lnTo>
                    <a:pt x="1069960" y="229385"/>
                  </a:lnTo>
                  <a:lnTo>
                    <a:pt x="1113925" y="209890"/>
                  </a:lnTo>
                  <a:lnTo>
                    <a:pt x="1158526" y="191179"/>
                  </a:lnTo>
                  <a:lnTo>
                    <a:pt x="1203748" y="173263"/>
                  </a:lnTo>
                  <a:lnTo>
                    <a:pt x="1249574" y="156154"/>
                  </a:lnTo>
                  <a:lnTo>
                    <a:pt x="1295990" y="139865"/>
                  </a:lnTo>
                  <a:lnTo>
                    <a:pt x="1342980" y="124408"/>
                  </a:lnTo>
                  <a:lnTo>
                    <a:pt x="1390529" y="109794"/>
                  </a:lnTo>
                  <a:lnTo>
                    <a:pt x="1438621" y="96036"/>
                  </a:lnTo>
                  <a:lnTo>
                    <a:pt x="1487240" y="83145"/>
                  </a:lnTo>
                  <a:lnTo>
                    <a:pt x="1536372" y="71134"/>
                  </a:lnTo>
                  <a:lnTo>
                    <a:pt x="1586000" y="60015"/>
                  </a:lnTo>
                  <a:lnTo>
                    <a:pt x="1636110" y="49800"/>
                  </a:lnTo>
                  <a:lnTo>
                    <a:pt x="1686685" y="40500"/>
                  </a:lnTo>
                  <a:lnTo>
                    <a:pt x="1737711" y="32128"/>
                  </a:lnTo>
                  <a:lnTo>
                    <a:pt x="1789171" y="24696"/>
                  </a:lnTo>
                  <a:lnTo>
                    <a:pt x="1841051" y="18216"/>
                  </a:lnTo>
                  <a:lnTo>
                    <a:pt x="1893335" y="12700"/>
                  </a:lnTo>
                  <a:lnTo>
                    <a:pt x="1946007" y="8160"/>
                  </a:lnTo>
                  <a:lnTo>
                    <a:pt x="1999052" y="4608"/>
                  </a:lnTo>
                  <a:lnTo>
                    <a:pt x="2052454" y="2056"/>
                  </a:lnTo>
                  <a:lnTo>
                    <a:pt x="2106199" y="516"/>
                  </a:lnTo>
                  <a:lnTo>
                    <a:pt x="2160270" y="0"/>
                  </a:lnTo>
                  <a:lnTo>
                    <a:pt x="2214340" y="516"/>
                  </a:lnTo>
                  <a:lnTo>
                    <a:pt x="2268085" y="2056"/>
                  </a:lnTo>
                  <a:lnTo>
                    <a:pt x="2321487" y="4608"/>
                  </a:lnTo>
                  <a:lnTo>
                    <a:pt x="2374532" y="8160"/>
                  </a:lnTo>
                  <a:lnTo>
                    <a:pt x="2427204" y="12700"/>
                  </a:lnTo>
                  <a:lnTo>
                    <a:pt x="2479488" y="18216"/>
                  </a:lnTo>
                  <a:lnTo>
                    <a:pt x="2531368" y="24696"/>
                  </a:lnTo>
                  <a:lnTo>
                    <a:pt x="2582828" y="32128"/>
                  </a:lnTo>
                  <a:lnTo>
                    <a:pt x="2633854" y="40500"/>
                  </a:lnTo>
                  <a:lnTo>
                    <a:pt x="2684429" y="49800"/>
                  </a:lnTo>
                  <a:lnTo>
                    <a:pt x="2734539" y="60015"/>
                  </a:lnTo>
                  <a:lnTo>
                    <a:pt x="2784167" y="71134"/>
                  </a:lnTo>
                  <a:lnTo>
                    <a:pt x="2833299" y="83145"/>
                  </a:lnTo>
                  <a:lnTo>
                    <a:pt x="2881918" y="96036"/>
                  </a:lnTo>
                  <a:lnTo>
                    <a:pt x="2930010" y="109794"/>
                  </a:lnTo>
                  <a:lnTo>
                    <a:pt x="2977559" y="124408"/>
                  </a:lnTo>
                  <a:lnTo>
                    <a:pt x="3024549" y="139865"/>
                  </a:lnTo>
                  <a:lnTo>
                    <a:pt x="3070965" y="156154"/>
                  </a:lnTo>
                  <a:lnTo>
                    <a:pt x="3116791" y="173263"/>
                  </a:lnTo>
                  <a:lnTo>
                    <a:pt x="3162013" y="191179"/>
                  </a:lnTo>
                  <a:lnTo>
                    <a:pt x="3206614" y="209890"/>
                  </a:lnTo>
                  <a:lnTo>
                    <a:pt x="3250579" y="229385"/>
                  </a:lnTo>
                  <a:lnTo>
                    <a:pt x="3293892" y="249651"/>
                  </a:lnTo>
                  <a:lnTo>
                    <a:pt x="3336539" y="270677"/>
                  </a:lnTo>
                  <a:lnTo>
                    <a:pt x="3378503" y="292450"/>
                  </a:lnTo>
                  <a:lnTo>
                    <a:pt x="3419769" y="314958"/>
                  </a:lnTo>
                  <a:lnTo>
                    <a:pt x="3460322" y="338189"/>
                  </a:lnTo>
                  <a:lnTo>
                    <a:pt x="3500146" y="362132"/>
                  </a:lnTo>
                  <a:lnTo>
                    <a:pt x="3539226" y="386774"/>
                  </a:lnTo>
                  <a:lnTo>
                    <a:pt x="3577547" y="412103"/>
                  </a:lnTo>
                  <a:lnTo>
                    <a:pt x="3615091" y="438107"/>
                  </a:lnTo>
                  <a:lnTo>
                    <a:pt x="3651846" y="464774"/>
                  </a:lnTo>
                  <a:lnTo>
                    <a:pt x="3687794" y="492093"/>
                  </a:lnTo>
                  <a:lnTo>
                    <a:pt x="3722920" y="520050"/>
                  </a:lnTo>
                  <a:lnTo>
                    <a:pt x="3757209" y="548634"/>
                  </a:lnTo>
                  <a:lnTo>
                    <a:pt x="3790646" y="577834"/>
                  </a:lnTo>
                  <a:lnTo>
                    <a:pt x="3823215" y="607636"/>
                  </a:lnTo>
                  <a:lnTo>
                    <a:pt x="3854900" y="638029"/>
                  </a:lnTo>
                  <a:lnTo>
                    <a:pt x="3885686" y="669001"/>
                  </a:lnTo>
                  <a:lnTo>
                    <a:pt x="3915557" y="700540"/>
                  </a:lnTo>
                  <a:lnTo>
                    <a:pt x="3944499" y="732633"/>
                  </a:lnTo>
                  <a:lnTo>
                    <a:pt x="3972495" y="765270"/>
                  </a:lnTo>
                  <a:lnTo>
                    <a:pt x="3999530" y="798437"/>
                  </a:lnTo>
                  <a:lnTo>
                    <a:pt x="4025589" y="832122"/>
                  </a:lnTo>
                  <a:lnTo>
                    <a:pt x="4050656" y="866315"/>
                  </a:lnTo>
                  <a:lnTo>
                    <a:pt x="4074716" y="901002"/>
                  </a:lnTo>
                  <a:lnTo>
                    <a:pt x="4097753" y="936171"/>
                  </a:lnTo>
                  <a:lnTo>
                    <a:pt x="4119751" y="971812"/>
                  </a:lnTo>
                  <a:lnTo>
                    <a:pt x="4140696" y="1007910"/>
                  </a:lnTo>
                  <a:lnTo>
                    <a:pt x="4160571" y="1044455"/>
                  </a:lnTo>
                  <a:lnTo>
                    <a:pt x="4179362" y="1081435"/>
                  </a:lnTo>
                  <a:lnTo>
                    <a:pt x="4197053" y="1118837"/>
                  </a:lnTo>
                  <a:lnTo>
                    <a:pt x="4213628" y="1156650"/>
                  </a:lnTo>
                  <a:lnTo>
                    <a:pt x="4229072" y="1194860"/>
                  </a:lnTo>
                  <a:lnTo>
                    <a:pt x="4243369" y="1233458"/>
                  </a:lnTo>
                  <a:lnTo>
                    <a:pt x="4256505" y="1272429"/>
                  </a:lnTo>
                  <a:lnTo>
                    <a:pt x="4268462" y="1311763"/>
                  </a:lnTo>
                  <a:lnTo>
                    <a:pt x="4279227" y="1351447"/>
                  </a:lnTo>
                  <a:lnTo>
                    <a:pt x="4288783" y="1391469"/>
                  </a:lnTo>
                  <a:lnTo>
                    <a:pt x="4297116" y="1431817"/>
                  </a:lnTo>
                  <a:lnTo>
                    <a:pt x="4304208" y="1472480"/>
                  </a:lnTo>
                  <a:lnTo>
                    <a:pt x="4310046" y="1513444"/>
                  </a:lnTo>
                  <a:lnTo>
                    <a:pt x="4314614" y="1554699"/>
                  </a:lnTo>
                  <a:lnTo>
                    <a:pt x="4317896" y="1596231"/>
                  </a:lnTo>
                  <a:lnTo>
                    <a:pt x="4319876" y="1638030"/>
                  </a:lnTo>
                  <a:lnTo>
                    <a:pt x="4320540" y="1680082"/>
                  </a:lnTo>
                  <a:lnTo>
                    <a:pt x="4319876" y="1722141"/>
                  </a:lnTo>
                  <a:lnTo>
                    <a:pt x="4317896" y="1763945"/>
                  </a:lnTo>
                  <a:lnTo>
                    <a:pt x="4314614" y="1805483"/>
                  </a:lnTo>
                  <a:lnTo>
                    <a:pt x="4310046" y="1846743"/>
                  </a:lnTo>
                  <a:lnTo>
                    <a:pt x="4304208" y="1887712"/>
                  </a:lnTo>
                  <a:lnTo>
                    <a:pt x="4297116" y="1928379"/>
                  </a:lnTo>
                  <a:lnTo>
                    <a:pt x="4288783" y="1968732"/>
                  </a:lnTo>
                  <a:lnTo>
                    <a:pt x="4279227" y="2008759"/>
                  </a:lnTo>
                  <a:lnTo>
                    <a:pt x="4268462" y="2048447"/>
                  </a:lnTo>
                  <a:lnTo>
                    <a:pt x="4256505" y="2087785"/>
                  </a:lnTo>
                  <a:lnTo>
                    <a:pt x="4243369" y="2126761"/>
                  </a:lnTo>
                  <a:lnTo>
                    <a:pt x="4229072" y="2165362"/>
                  </a:lnTo>
                  <a:lnTo>
                    <a:pt x="4213628" y="2203577"/>
                  </a:lnTo>
                  <a:lnTo>
                    <a:pt x="4197053" y="2241393"/>
                  </a:lnTo>
                  <a:lnTo>
                    <a:pt x="4179362" y="2278798"/>
                  </a:lnTo>
                  <a:lnTo>
                    <a:pt x="4160571" y="2315781"/>
                  </a:lnTo>
                  <a:lnTo>
                    <a:pt x="4140696" y="2352330"/>
                  </a:lnTo>
                  <a:lnTo>
                    <a:pt x="4119751" y="2388432"/>
                  </a:lnTo>
                  <a:lnTo>
                    <a:pt x="4097753" y="2424075"/>
                  </a:lnTo>
                  <a:lnTo>
                    <a:pt x="4074716" y="2459247"/>
                  </a:lnTo>
                  <a:lnTo>
                    <a:pt x="4050656" y="2493937"/>
                  </a:lnTo>
                  <a:lnTo>
                    <a:pt x="4025589" y="2528132"/>
                  </a:lnTo>
                  <a:lnTo>
                    <a:pt x="3999530" y="2561820"/>
                  </a:lnTo>
                  <a:lnTo>
                    <a:pt x="3972495" y="2594990"/>
                  </a:lnTo>
                  <a:lnTo>
                    <a:pt x="3944499" y="2627628"/>
                  </a:lnTo>
                  <a:lnTo>
                    <a:pt x="3915557" y="2659724"/>
                  </a:lnTo>
                  <a:lnTo>
                    <a:pt x="3885686" y="2691265"/>
                  </a:lnTo>
                  <a:lnTo>
                    <a:pt x="3854900" y="2722239"/>
                  </a:lnTo>
                  <a:lnTo>
                    <a:pt x="3823215" y="2752634"/>
                  </a:lnTo>
                  <a:lnTo>
                    <a:pt x="3790646" y="2782438"/>
                  </a:lnTo>
                  <a:lnTo>
                    <a:pt x="3757209" y="2811639"/>
                  </a:lnTo>
                  <a:lnTo>
                    <a:pt x="3722920" y="2840225"/>
                  </a:lnTo>
                  <a:lnTo>
                    <a:pt x="3687794" y="2868183"/>
                  </a:lnTo>
                  <a:lnTo>
                    <a:pt x="3651846" y="2895503"/>
                  </a:lnTo>
                  <a:lnTo>
                    <a:pt x="3615091" y="2922172"/>
                  </a:lnTo>
                  <a:lnTo>
                    <a:pt x="3577547" y="2948177"/>
                  </a:lnTo>
                  <a:lnTo>
                    <a:pt x="3539226" y="2973507"/>
                  </a:lnTo>
                  <a:lnTo>
                    <a:pt x="3500146" y="2998150"/>
                  </a:lnTo>
                  <a:lnTo>
                    <a:pt x="3460322" y="3022094"/>
                  </a:lnTo>
                  <a:lnTo>
                    <a:pt x="3419769" y="3045326"/>
                  </a:lnTo>
                  <a:lnTo>
                    <a:pt x="3378503" y="3067835"/>
                  </a:lnTo>
                  <a:lnTo>
                    <a:pt x="3336539" y="3089609"/>
                  </a:lnTo>
                  <a:lnTo>
                    <a:pt x="3293892" y="3110635"/>
                  </a:lnTo>
                  <a:lnTo>
                    <a:pt x="3250579" y="3130902"/>
                  </a:lnTo>
                  <a:lnTo>
                    <a:pt x="3206614" y="3150398"/>
                  </a:lnTo>
                  <a:lnTo>
                    <a:pt x="3162013" y="3169110"/>
                  </a:lnTo>
                  <a:lnTo>
                    <a:pt x="3116791" y="3187026"/>
                  </a:lnTo>
                  <a:lnTo>
                    <a:pt x="3070965" y="3204135"/>
                  </a:lnTo>
                  <a:lnTo>
                    <a:pt x="3024549" y="3220425"/>
                  </a:lnTo>
                  <a:lnTo>
                    <a:pt x="2977559" y="3235882"/>
                  </a:lnTo>
                  <a:lnTo>
                    <a:pt x="2930010" y="3250496"/>
                  </a:lnTo>
                  <a:lnTo>
                    <a:pt x="2881918" y="3264255"/>
                  </a:lnTo>
                  <a:lnTo>
                    <a:pt x="2833299" y="3277146"/>
                  </a:lnTo>
                  <a:lnTo>
                    <a:pt x="2784167" y="3289157"/>
                  </a:lnTo>
                  <a:lnTo>
                    <a:pt x="2734539" y="3300276"/>
                  </a:lnTo>
                  <a:lnTo>
                    <a:pt x="2684429" y="3310492"/>
                  </a:lnTo>
                  <a:lnTo>
                    <a:pt x="2633854" y="3319791"/>
                  </a:lnTo>
                  <a:lnTo>
                    <a:pt x="2582828" y="3328163"/>
                  </a:lnTo>
                  <a:lnTo>
                    <a:pt x="2531368" y="3335595"/>
                  </a:lnTo>
                  <a:lnTo>
                    <a:pt x="2479488" y="3342075"/>
                  </a:lnTo>
                  <a:lnTo>
                    <a:pt x="2427204" y="3347592"/>
                  </a:lnTo>
                  <a:lnTo>
                    <a:pt x="2374532" y="3352132"/>
                  </a:lnTo>
                  <a:lnTo>
                    <a:pt x="2321487" y="3355684"/>
                  </a:lnTo>
                  <a:lnTo>
                    <a:pt x="2268085" y="3358236"/>
                  </a:lnTo>
                  <a:lnTo>
                    <a:pt x="2214340" y="3359776"/>
                  </a:lnTo>
                  <a:lnTo>
                    <a:pt x="2160270" y="3360292"/>
                  </a:lnTo>
                  <a:lnTo>
                    <a:pt x="2106199" y="3359776"/>
                  </a:lnTo>
                  <a:lnTo>
                    <a:pt x="2052454" y="3358236"/>
                  </a:lnTo>
                  <a:lnTo>
                    <a:pt x="1999052" y="3355684"/>
                  </a:lnTo>
                  <a:lnTo>
                    <a:pt x="1946007" y="3352132"/>
                  </a:lnTo>
                  <a:lnTo>
                    <a:pt x="1893335" y="3347592"/>
                  </a:lnTo>
                  <a:lnTo>
                    <a:pt x="1841051" y="3342075"/>
                  </a:lnTo>
                  <a:lnTo>
                    <a:pt x="1789171" y="3335595"/>
                  </a:lnTo>
                  <a:lnTo>
                    <a:pt x="1737711" y="3328163"/>
                  </a:lnTo>
                  <a:lnTo>
                    <a:pt x="1686685" y="3319791"/>
                  </a:lnTo>
                  <a:lnTo>
                    <a:pt x="1636110" y="3310492"/>
                  </a:lnTo>
                  <a:lnTo>
                    <a:pt x="1586000" y="3300276"/>
                  </a:lnTo>
                  <a:lnTo>
                    <a:pt x="1536372" y="3289157"/>
                  </a:lnTo>
                  <a:lnTo>
                    <a:pt x="1487240" y="3277146"/>
                  </a:lnTo>
                  <a:lnTo>
                    <a:pt x="1438621" y="3264255"/>
                  </a:lnTo>
                  <a:lnTo>
                    <a:pt x="1390529" y="3250496"/>
                  </a:lnTo>
                  <a:lnTo>
                    <a:pt x="1342980" y="3235882"/>
                  </a:lnTo>
                  <a:lnTo>
                    <a:pt x="1295990" y="3220425"/>
                  </a:lnTo>
                  <a:lnTo>
                    <a:pt x="1249574" y="3204135"/>
                  </a:lnTo>
                  <a:lnTo>
                    <a:pt x="1203748" y="3187026"/>
                  </a:lnTo>
                  <a:lnTo>
                    <a:pt x="1158526" y="3169110"/>
                  </a:lnTo>
                  <a:lnTo>
                    <a:pt x="1113925" y="3150398"/>
                  </a:lnTo>
                  <a:lnTo>
                    <a:pt x="1069960" y="3130902"/>
                  </a:lnTo>
                  <a:lnTo>
                    <a:pt x="1026647" y="3110635"/>
                  </a:lnTo>
                  <a:lnTo>
                    <a:pt x="984000" y="3089609"/>
                  </a:lnTo>
                  <a:lnTo>
                    <a:pt x="942036" y="3067835"/>
                  </a:lnTo>
                  <a:lnTo>
                    <a:pt x="900770" y="3045326"/>
                  </a:lnTo>
                  <a:lnTo>
                    <a:pt x="860217" y="3022094"/>
                  </a:lnTo>
                  <a:lnTo>
                    <a:pt x="820393" y="2998150"/>
                  </a:lnTo>
                  <a:lnTo>
                    <a:pt x="781313" y="2973507"/>
                  </a:lnTo>
                  <a:lnTo>
                    <a:pt x="742992" y="2948177"/>
                  </a:lnTo>
                  <a:lnTo>
                    <a:pt x="705448" y="2922172"/>
                  </a:lnTo>
                  <a:lnTo>
                    <a:pt x="668693" y="2895503"/>
                  </a:lnTo>
                  <a:lnTo>
                    <a:pt x="632745" y="2868183"/>
                  </a:lnTo>
                  <a:lnTo>
                    <a:pt x="597619" y="2840225"/>
                  </a:lnTo>
                  <a:lnTo>
                    <a:pt x="563330" y="2811639"/>
                  </a:lnTo>
                  <a:lnTo>
                    <a:pt x="529893" y="2782438"/>
                  </a:lnTo>
                  <a:lnTo>
                    <a:pt x="497324" y="2752634"/>
                  </a:lnTo>
                  <a:lnTo>
                    <a:pt x="465639" y="2722239"/>
                  </a:lnTo>
                  <a:lnTo>
                    <a:pt x="434853" y="2691265"/>
                  </a:lnTo>
                  <a:lnTo>
                    <a:pt x="404982" y="2659724"/>
                  </a:lnTo>
                  <a:lnTo>
                    <a:pt x="376040" y="2627628"/>
                  </a:lnTo>
                  <a:lnTo>
                    <a:pt x="348044" y="2594990"/>
                  </a:lnTo>
                  <a:lnTo>
                    <a:pt x="321009" y="2561820"/>
                  </a:lnTo>
                  <a:lnTo>
                    <a:pt x="294950" y="2528132"/>
                  </a:lnTo>
                  <a:lnTo>
                    <a:pt x="269883" y="2493937"/>
                  </a:lnTo>
                  <a:lnTo>
                    <a:pt x="245823" y="2459247"/>
                  </a:lnTo>
                  <a:lnTo>
                    <a:pt x="222786" y="2424075"/>
                  </a:lnTo>
                  <a:lnTo>
                    <a:pt x="200788" y="2388432"/>
                  </a:lnTo>
                  <a:lnTo>
                    <a:pt x="179843" y="2352330"/>
                  </a:lnTo>
                  <a:lnTo>
                    <a:pt x="159968" y="2315781"/>
                  </a:lnTo>
                  <a:lnTo>
                    <a:pt x="141177" y="2278798"/>
                  </a:lnTo>
                  <a:lnTo>
                    <a:pt x="123486" y="2241393"/>
                  </a:lnTo>
                  <a:lnTo>
                    <a:pt x="106911" y="2203577"/>
                  </a:lnTo>
                  <a:lnTo>
                    <a:pt x="91467" y="2165362"/>
                  </a:lnTo>
                  <a:lnTo>
                    <a:pt x="77170" y="2126761"/>
                  </a:lnTo>
                  <a:lnTo>
                    <a:pt x="64034" y="2087785"/>
                  </a:lnTo>
                  <a:lnTo>
                    <a:pt x="52077" y="2048447"/>
                  </a:lnTo>
                  <a:lnTo>
                    <a:pt x="41312" y="2008759"/>
                  </a:lnTo>
                  <a:lnTo>
                    <a:pt x="31756" y="1968732"/>
                  </a:lnTo>
                  <a:lnTo>
                    <a:pt x="23423" y="1928379"/>
                  </a:lnTo>
                  <a:lnTo>
                    <a:pt x="16331" y="1887712"/>
                  </a:lnTo>
                  <a:lnTo>
                    <a:pt x="10493" y="1846743"/>
                  </a:lnTo>
                  <a:lnTo>
                    <a:pt x="5925" y="1805483"/>
                  </a:lnTo>
                  <a:lnTo>
                    <a:pt x="2643" y="1763945"/>
                  </a:lnTo>
                  <a:lnTo>
                    <a:pt x="663" y="1722141"/>
                  </a:lnTo>
                  <a:lnTo>
                    <a:pt x="0" y="1680082"/>
                  </a:lnTo>
                  <a:close/>
                </a:path>
              </a:pathLst>
            </a:custGeom>
            <a:ln w="9525">
              <a:solidFill>
                <a:srgbClr val="CCB4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8372" y="663146"/>
            <a:ext cx="10804525" cy="4770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42060">
              <a:lnSpc>
                <a:spcPct val="114999"/>
              </a:lnSpc>
              <a:spcBef>
                <a:spcPts val="9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Chez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nourrisson,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les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éléments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suivants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font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évoquer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une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arthrite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septique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hanche:</a:t>
            </a:r>
            <a:endParaRPr sz="320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640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notion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prématurité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926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asymétrie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mobilité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spontanée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des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membres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inférieurs</a:t>
            </a:r>
            <a:endParaRPr sz="320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asymétrie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des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plis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inguinaux</a:t>
            </a:r>
            <a:endParaRPr sz="32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9265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notion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d’une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voie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veineuse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centrale</a:t>
            </a:r>
            <a:endParaRPr sz="320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65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vaccination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récente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contre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tétanos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8372" y="735330"/>
            <a:ext cx="8991600" cy="4137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arthrite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septique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polyarticulaire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plus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fréquente:</a:t>
            </a:r>
            <a:endParaRPr sz="320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640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Entre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l’âge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 40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et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60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ans</a:t>
            </a:r>
            <a:endParaRPr sz="320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Chez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nouveau-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né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prématuré</a:t>
            </a:r>
            <a:endParaRPr sz="320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Chez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les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immunodéprimés</a:t>
            </a:r>
            <a:endParaRPr sz="320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34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cas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d’infection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au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staphylococcus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aureus</a:t>
            </a:r>
            <a:endParaRPr sz="320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655"/>
              </a:spcBef>
              <a:buAutoNum type="alphaUcPeriod"/>
              <a:tabLst>
                <a:tab pos="4686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cas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polyarthrite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rhumatoïde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87723" y="1609344"/>
            <a:ext cx="4411980" cy="3450590"/>
            <a:chOff x="3887723" y="1609344"/>
            <a:chExt cx="4411980" cy="34505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7723" y="1609344"/>
              <a:ext cx="4411980" cy="345033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5729" y="1636522"/>
              <a:ext cx="4320540" cy="33602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935729" y="1636522"/>
              <a:ext cx="4320540" cy="3360420"/>
            </a:xfrm>
            <a:custGeom>
              <a:avLst/>
              <a:gdLst/>
              <a:ahLst/>
              <a:cxnLst/>
              <a:rect l="l" t="t" r="r" b="b"/>
              <a:pathLst>
                <a:path w="4320540" h="3360420">
                  <a:moveTo>
                    <a:pt x="1243203" y="1177670"/>
                  </a:moveTo>
                  <a:lnTo>
                    <a:pt x="1249144" y="1137545"/>
                  </a:lnTo>
                  <a:lnTo>
                    <a:pt x="1266068" y="1100710"/>
                  </a:lnTo>
                  <a:lnTo>
                    <a:pt x="1292628" y="1068216"/>
                  </a:lnTo>
                  <a:lnTo>
                    <a:pt x="1327474" y="1041113"/>
                  </a:lnTo>
                  <a:lnTo>
                    <a:pt x="1369258" y="1020453"/>
                  </a:lnTo>
                  <a:lnTo>
                    <a:pt x="1416632" y="1007287"/>
                  </a:lnTo>
                  <a:lnTo>
                    <a:pt x="1468247" y="1002664"/>
                  </a:lnTo>
                  <a:lnTo>
                    <a:pt x="1519814" y="1007287"/>
                  </a:lnTo>
                  <a:lnTo>
                    <a:pt x="1567154" y="1020453"/>
                  </a:lnTo>
                  <a:lnTo>
                    <a:pt x="1608915" y="1041113"/>
                  </a:lnTo>
                  <a:lnTo>
                    <a:pt x="1643748" y="1068216"/>
                  </a:lnTo>
                  <a:lnTo>
                    <a:pt x="1670301" y="1100710"/>
                  </a:lnTo>
                  <a:lnTo>
                    <a:pt x="1687223" y="1137545"/>
                  </a:lnTo>
                  <a:lnTo>
                    <a:pt x="1693164" y="1177670"/>
                  </a:lnTo>
                  <a:lnTo>
                    <a:pt x="1687223" y="1217796"/>
                  </a:lnTo>
                  <a:lnTo>
                    <a:pt x="1670301" y="1254631"/>
                  </a:lnTo>
                  <a:lnTo>
                    <a:pt x="1643748" y="1287125"/>
                  </a:lnTo>
                  <a:lnTo>
                    <a:pt x="1608915" y="1314228"/>
                  </a:lnTo>
                  <a:lnTo>
                    <a:pt x="1567154" y="1334888"/>
                  </a:lnTo>
                  <a:lnTo>
                    <a:pt x="1519814" y="1348054"/>
                  </a:lnTo>
                  <a:lnTo>
                    <a:pt x="1468247" y="1352677"/>
                  </a:lnTo>
                  <a:lnTo>
                    <a:pt x="1416632" y="1348054"/>
                  </a:lnTo>
                  <a:lnTo>
                    <a:pt x="1369258" y="1334888"/>
                  </a:lnTo>
                  <a:lnTo>
                    <a:pt x="1327474" y="1314228"/>
                  </a:lnTo>
                  <a:lnTo>
                    <a:pt x="1292628" y="1287125"/>
                  </a:lnTo>
                  <a:lnTo>
                    <a:pt x="1266068" y="1254631"/>
                  </a:lnTo>
                  <a:lnTo>
                    <a:pt x="1249144" y="1217796"/>
                  </a:lnTo>
                  <a:lnTo>
                    <a:pt x="1243203" y="1177670"/>
                  </a:lnTo>
                </a:path>
                <a:path w="4320540" h="3360420">
                  <a:moveTo>
                    <a:pt x="2627376" y="1177670"/>
                  </a:moveTo>
                  <a:lnTo>
                    <a:pt x="2633316" y="1137545"/>
                  </a:lnTo>
                  <a:lnTo>
                    <a:pt x="2650238" y="1100710"/>
                  </a:lnTo>
                  <a:lnTo>
                    <a:pt x="2676791" y="1068216"/>
                  </a:lnTo>
                  <a:lnTo>
                    <a:pt x="2711624" y="1041113"/>
                  </a:lnTo>
                  <a:lnTo>
                    <a:pt x="2753385" y="1020453"/>
                  </a:lnTo>
                  <a:lnTo>
                    <a:pt x="2800725" y="1007287"/>
                  </a:lnTo>
                  <a:lnTo>
                    <a:pt x="2852293" y="1002664"/>
                  </a:lnTo>
                  <a:lnTo>
                    <a:pt x="2903907" y="1007287"/>
                  </a:lnTo>
                  <a:lnTo>
                    <a:pt x="2951281" y="1020453"/>
                  </a:lnTo>
                  <a:lnTo>
                    <a:pt x="2993065" y="1041113"/>
                  </a:lnTo>
                  <a:lnTo>
                    <a:pt x="3027911" y="1068216"/>
                  </a:lnTo>
                  <a:lnTo>
                    <a:pt x="3054471" y="1100710"/>
                  </a:lnTo>
                  <a:lnTo>
                    <a:pt x="3071395" y="1137545"/>
                  </a:lnTo>
                  <a:lnTo>
                    <a:pt x="3077337" y="1177670"/>
                  </a:lnTo>
                  <a:lnTo>
                    <a:pt x="3071395" y="1217796"/>
                  </a:lnTo>
                  <a:lnTo>
                    <a:pt x="3054471" y="1254631"/>
                  </a:lnTo>
                  <a:lnTo>
                    <a:pt x="3027911" y="1287125"/>
                  </a:lnTo>
                  <a:lnTo>
                    <a:pt x="2993065" y="1314228"/>
                  </a:lnTo>
                  <a:lnTo>
                    <a:pt x="2951281" y="1334888"/>
                  </a:lnTo>
                  <a:lnTo>
                    <a:pt x="2903907" y="1348054"/>
                  </a:lnTo>
                  <a:lnTo>
                    <a:pt x="2852293" y="1352677"/>
                  </a:lnTo>
                  <a:lnTo>
                    <a:pt x="2800725" y="1348054"/>
                  </a:lnTo>
                  <a:lnTo>
                    <a:pt x="2753385" y="1334888"/>
                  </a:lnTo>
                  <a:lnTo>
                    <a:pt x="2711624" y="1314228"/>
                  </a:lnTo>
                  <a:lnTo>
                    <a:pt x="2676791" y="1287125"/>
                  </a:lnTo>
                  <a:lnTo>
                    <a:pt x="2650238" y="1254631"/>
                  </a:lnTo>
                  <a:lnTo>
                    <a:pt x="2633316" y="1217796"/>
                  </a:lnTo>
                  <a:lnTo>
                    <a:pt x="2627376" y="1177670"/>
                  </a:lnTo>
                </a:path>
                <a:path w="4320540" h="3360420">
                  <a:moveTo>
                    <a:pt x="989457" y="2412872"/>
                  </a:moveTo>
                  <a:lnTo>
                    <a:pt x="1036288" y="2437389"/>
                  </a:lnTo>
                  <a:lnTo>
                    <a:pt x="1083117" y="2460904"/>
                  </a:lnTo>
                  <a:lnTo>
                    <a:pt x="1129944" y="2483419"/>
                  </a:lnTo>
                  <a:lnTo>
                    <a:pt x="1176770" y="2504933"/>
                  </a:lnTo>
                  <a:lnTo>
                    <a:pt x="1223592" y="2525447"/>
                  </a:lnTo>
                  <a:lnTo>
                    <a:pt x="1270413" y="2544959"/>
                  </a:lnTo>
                  <a:lnTo>
                    <a:pt x="1317232" y="2563472"/>
                  </a:lnTo>
                  <a:lnTo>
                    <a:pt x="1364048" y="2580983"/>
                  </a:lnTo>
                  <a:lnTo>
                    <a:pt x="1410863" y="2597494"/>
                  </a:lnTo>
                  <a:lnTo>
                    <a:pt x="1457675" y="2613004"/>
                  </a:lnTo>
                  <a:lnTo>
                    <a:pt x="1504485" y="2627514"/>
                  </a:lnTo>
                  <a:lnTo>
                    <a:pt x="1551293" y="2641023"/>
                  </a:lnTo>
                  <a:lnTo>
                    <a:pt x="1598099" y="2653531"/>
                  </a:lnTo>
                  <a:lnTo>
                    <a:pt x="1644903" y="2665038"/>
                  </a:lnTo>
                  <a:lnTo>
                    <a:pt x="1691704" y="2675545"/>
                  </a:lnTo>
                  <a:lnTo>
                    <a:pt x="1738504" y="2685052"/>
                  </a:lnTo>
                  <a:lnTo>
                    <a:pt x="1785301" y="2693557"/>
                  </a:lnTo>
                  <a:lnTo>
                    <a:pt x="1832096" y="2701062"/>
                  </a:lnTo>
                  <a:lnTo>
                    <a:pt x="1878889" y="2707566"/>
                  </a:lnTo>
                  <a:lnTo>
                    <a:pt x="1925680" y="2713070"/>
                  </a:lnTo>
                  <a:lnTo>
                    <a:pt x="1972469" y="2717573"/>
                  </a:lnTo>
                  <a:lnTo>
                    <a:pt x="2019256" y="2721075"/>
                  </a:lnTo>
                  <a:lnTo>
                    <a:pt x="2066040" y="2723577"/>
                  </a:lnTo>
                  <a:lnTo>
                    <a:pt x="2112823" y="2725078"/>
                  </a:lnTo>
                  <a:lnTo>
                    <a:pt x="2159603" y="2725578"/>
                  </a:lnTo>
                  <a:lnTo>
                    <a:pt x="2206381" y="2725078"/>
                  </a:lnTo>
                  <a:lnTo>
                    <a:pt x="2253157" y="2723577"/>
                  </a:lnTo>
                  <a:lnTo>
                    <a:pt x="2299931" y="2721075"/>
                  </a:lnTo>
                  <a:lnTo>
                    <a:pt x="2346702" y="2717573"/>
                  </a:lnTo>
                  <a:lnTo>
                    <a:pt x="2393472" y="2713070"/>
                  </a:lnTo>
                  <a:lnTo>
                    <a:pt x="2440239" y="2707566"/>
                  </a:lnTo>
                  <a:lnTo>
                    <a:pt x="2487005" y="2701062"/>
                  </a:lnTo>
                  <a:lnTo>
                    <a:pt x="2533768" y="2693557"/>
                  </a:lnTo>
                  <a:lnTo>
                    <a:pt x="2580529" y="2685052"/>
                  </a:lnTo>
                  <a:lnTo>
                    <a:pt x="2627288" y="2675545"/>
                  </a:lnTo>
                  <a:lnTo>
                    <a:pt x="2674045" y="2665038"/>
                  </a:lnTo>
                  <a:lnTo>
                    <a:pt x="2720799" y="2653531"/>
                  </a:lnTo>
                  <a:lnTo>
                    <a:pt x="2767552" y="2641023"/>
                  </a:lnTo>
                  <a:lnTo>
                    <a:pt x="2814302" y="2627514"/>
                  </a:lnTo>
                  <a:lnTo>
                    <a:pt x="2861050" y="2613004"/>
                  </a:lnTo>
                  <a:lnTo>
                    <a:pt x="2907797" y="2597494"/>
                  </a:lnTo>
                  <a:lnTo>
                    <a:pt x="2954541" y="2580983"/>
                  </a:lnTo>
                  <a:lnTo>
                    <a:pt x="3001282" y="2563472"/>
                  </a:lnTo>
                  <a:lnTo>
                    <a:pt x="3048022" y="2544959"/>
                  </a:lnTo>
                  <a:lnTo>
                    <a:pt x="3094760" y="2525447"/>
                  </a:lnTo>
                  <a:lnTo>
                    <a:pt x="3141495" y="2504933"/>
                  </a:lnTo>
                  <a:lnTo>
                    <a:pt x="3188228" y="2483419"/>
                  </a:lnTo>
                  <a:lnTo>
                    <a:pt x="3234960" y="2460904"/>
                  </a:lnTo>
                  <a:lnTo>
                    <a:pt x="3281689" y="2437389"/>
                  </a:lnTo>
                  <a:lnTo>
                    <a:pt x="3328416" y="2412872"/>
                  </a:lnTo>
                </a:path>
                <a:path w="4320540" h="3360420">
                  <a:moveTo>
                    <a:pt x="0" y="1680082"/>
                  </a:moveTo>
                  <a:lnTo>
                    <a:pt x="663" y="1638030"/>
                  </a:lnTo>
                  <a:lnTo>
                    <a:pt x="2643" y="1596231"/>
                  </a:lnTo>
                  <a:lnTo>
                    <a:pt x="5925" y="1554699"/>
                  </a:lnTo>
                  <a:lnTo>
                    <a:pt x="10493" y="1513444"/>
                  </a:lnTo>
                  <a:lnTo>
                    <a:pt x="16331" y="1472480"/>
                  </a:lnTo>
                  <a:lnTo>
                    <a:pt x="23423" y="1431817"/>
                  </a:lnTo>
                  <a:lnTo>
                    <a:pt x="31756" y="1391469"/>
                  </a:lnTo>
                  <a:lnTo>
                    <a:pt x="41312" y="1351447"/>
                  </a:lnTo>
                  <a:lnTo>
                    <a:pt x="52077" y="1311763"/>
                  </a:lnTo>
                  <a:lnTo>
                    <a:pt x="64034" y="1272429"/>
                  </a:lnTo>
                  <a:lnTo>
                    <a:pt x="77170" y="1233458"/>
                  </a:lnTo>
                  <a:lnTo>
                    <a:pt x="91467" y="1194860"/>
                  </a:lnTo>
                  <a:lnTo>
                    <a:pt x="106911" y="1156650"/>
                  </a:lnTo>
                  <a:lnTo>
                    <a:pt x="123486" y="1118837"/>
                  </a:lnTo>
                  <a:lnTo>
                    <a:pt x="141177" y="1081435"/>
                  </a:lnTo>
                  <a:lnTo>
                    <a:pt x="159968" y="1044455"/>
                  </a:lnTo>
                  <a:lnTo>
                    <a:pt x="179843" y="1007910"/>
                  </a:lnTo>
                  <a:lnTo>
                    <a:pt x="200788" y="971812"/>
                  </a:lnTo>
                  <a:lnTo>
                    <a:pt x="222786" y="936171"/>
                  </a:lnTo>
                  <a:lnTo>
                    <a:pt x="245823" y="901002"/>
                  </a:lnTo>
                  <a:lnTo>
                    <a:pt x="269883" y="866315"/>
                  </a:lnTo>
                  <a:lnTo>
                    <a:pt x="294950" y="832122"/>
                  </a:lnTo>
                  <a:lnTo>
                    <a:pt x="321009" y="798437"/>
                  </a:lnTo>
                  <a:lnTo>
                    <a:pt x="348044" y="765270"/>
                  </a:lnTo>
                  <a:lnTo>
                    <a:pt x="376040" y="732633"/>
                  </a:lnTo>
                  <a:lnTo>
                    <a:pt x="404982" y="700540"/>
                  </a:lnTo>
                  <a:lnTo>
                    <a:pt x="434853" y="669001"/>
                  </a:lnTo>
                  <a:lnTo>
                    <a:pt x="465639" y="638029"/>
                  </a:lnTo>
                  <a:lnTo>
                    <a:pt x="497324" y="607636"/>
                  </a:lnTo>
                  <a:lnTo>
                    <a:pt x="529893" y="577834"/>
                  </a:lnTo>
                  <a:lnTo>
                    <a:pt x="563330" y="548634"/>
                  </a:lnTo>
                  <a:lnTo>
                    <a:pt x="597619" y="520050"/>
                  </a:lnTo>
                  <a:lnTo>
                    <a:pt x="632745" y="492093"/>
                  </a:lnTo>
                  <a:lnTo>
                    <a:pt x="668693" y="464774"/>
                  </a:lnTo>
                  <a:lnTo>
                    <a:pt x="705448" y="438107"/>
                  </a:lnTo>
                  <a:lnTo>
                    <a:pt x="742992" y="412103"/>
                  </a:lnTo>
                  <a:lnTo>
                    <a:pt x="781313" y="386774"/>
                  </a:lnTo>
                  <a:lnTo>
                    <a:pt x="820393" y="362132"/>
                  </a:lnTo>
                  <a:lnTo>
                    <a:pt x="860217" y="338189"/>
                  </a:lnTo>
                  <a:lnTo>
                    <a:pt x="900770" y="314958"/>
                  </a:lnTo>
                  <a:lnTo>
                    <a:pt x="942036" y="292450"/>
                  </a:lnTo>
                  <a:lnTo>
                    <a:pt x="984000" y="270677"/>
                  </a:lnTo>
                  <a:lnTo>
                    <a:pt x="1026647" y="249651"/>
                  </a:lnTo>
                  <a:lnTo>
                    <a:pt x="1069960" y="229385"/>
                  </a:lnTo>
                  <a:lnTo>
                    <a:pt x="1113925" y="209890"/>
                  </a:lnTo>
                  <a:lnTo>
                    <a:pt x="1158526" y="191179"/>
                  </a:lnTo>
                  <a:lnTo>
                    <a:pt x="1203748" y="173263"/>
                  </a:lnTo>
                  <a:lnTo>
                    <a:pt x="1249574" y="156154"/>
                  </a:lnTo>
                  <a:lnTo>
                    <a:pt x="1295990" y="139865"/>
                  </a:lnTo>
                  <a:lnTo>
                    <a:pt x="1342980" y="124408"/>
                  </a:lnTo>
                  <a:lnTo>
                    <a:pt x="1390529" y="109794"/>
                  </a:lnTo>
                  <a:lnTo>
                    <a:pt x="1438621" y="96036"/>
                  </a:lnTo>
                  <a:lnTo>
                    <a:pt x="1487240" y="83145"/>
                  </a:lnTo>
                  <a:lnTo>
                    <a:pt x="1536372" y="71134"/>
                  </a:lnTo>
                  <a:lnTo>
                    <a:pt x="1586000" y="60015"/>
                  </a:lnTo>
                  <a:lnTo>
                    <a:pt x="1636110" y="49800"/>
                  </a:lnTo>
                  <a:lnTo>
                    <a:pt x="1686685" y="40500"/>
                  </a:lnTo>
                  <a:lnTo>
                    <a:pt x="1737711" y="32128"/>
                  </a:lnTo>
                  <a:lnTo>
                    <a:pt x="1789171" y="24696"/>
                  </a:lnTo>
                  <a:lnTo>
                    <a:pt x="1841051" y="18216"/>
                  </a:lnTo>
                  <a:lnTo>
                    <a:pt x="1893335" y="12700"/>
                  </a:lnTo>
                  <a:lnTo>
                    <a:pt x="1946007" y="8160"/>
                  </a:lnTo>
                  <a:lnTo>
                    <a:pt x="1999052" y="4608"/>
                  </a:lnTo>
                  <a:lnTo>
                    <a:pt x="2052454" y="2056"/>
                  </a:lnTo>
                  <a:lnTo>
                    <a:pt x="2106199" y="516"/>
                  </a:lnTo>
                  <a:lnTo>
                    <a:pt x="2160270" y="0"/>
                  </a:lnTo>
                  <a:lnTo>
                    <a:pt x="2214340" y="516"/>
                  </a:lnTo>
                  <a:lnTo>
                    <a:pt x="2268085" y="2056"/>
                  </a:lnTo>
                  <a:lnTo>
                    <a:pt x="2321487" y="4608"/>
                  </a:lnTo>
                  <a:lnTo>
                    <a:pt x="2374532" y="8160"/>
                  </a:lnTo>
                  <a:lnTo>
                    <a:pt x="2427204" y="12700"/>
                  </a:lnTo>
                  <a:lnTo>
                    <a:pt x="2479488" y="18216"/>
                  </a:lnTo>
                  <a:lnTo>
                    <a:pt x="2531368" y="24696"/>
                  </a:lnTo>
                  <a:lnTo>
                    <a:pt x="2582828" y="32128"/>
                  </a:lnTo>
                  <a:lnTo>
                    <a:pt x="2633854" y="40500"/>
                  </a:lnTo>
                  <a:lnTo>
                    <a:pt x="2684429" y="49800"/>
                  </a:lnTo>
                  <a:lnTo>
                    <a:pt x="2734539" y="60015"/>
                  </a:lnTo>
                  <a:lnTo>
                    <a:pt x="2784167" y="71134"/>
                  </a:lnTo>
                  <a:lnTo>
                    <a:pt x="2833299" y="83145"/>
                  </a:lnTo>
                  <a:lnTo>
                    <a:pt x="2881918" y="96036"/>
                  </a:lnTo>
                  <a:lnTo>
                    <a:pt x="2930010" y="109794"/>
                  </a:lnTo>
                  <a:lnTo>
                    <a:pt x="2977559" y="124408"/>
                  </a:lnTo>
                  <a:lnTo>
                    <a:pt x="3024549" y="139865"/>
                  </a:lnTo>
                  <a:lnTo>
                    <a:pt x="3070965" y="156154"/>
                  </a:lnTo>
                  <a:lnTo>
                    <a:pt x="3116791" y="173263"/>
                  </a:lnTo>
                  <a:lnTo>
                    <a:pt x="3162013" y="191179"/>
                  </a:lnTo>
                  <a:lnTo>
                    <a:pt x="3206614" y="209890"/>
                  </a:lnTo>
                  <a:lnTo>
                    <a:pt x="3250579" y="229385"/>
                  </a:lnTo>
                  <a:lnTo>
                    <a:pt x="3293892" y="249651"/>
                  </a:lnTo>
                  <a:lnTo>
                    <a:pt x="3336539" y="270677"/>
                  </a:lnTo>
                  <a:lnTo>
                    <a:pt x="3378503" y="292450"/>
                  </a:lnTo>
                  <a:lnTo>
                    <a:pt x="3419769" y="314958"/>
                  </a:lnTo>
                  <a:lnTo>
                    <a:pt x="3460322" y="338189"/>
                  </a:lnTo>
                  <a:lnTo>
                    <a:pt x="3500146" y="362132"/>
                  </a:lnTo>
                  <a:lnTo>
                    <a:pt x="3539226" y="386774"/>
                  </a:lnTo>
                  <a:lnTo>
                    <a:pt x="3577547" y="412103"/>
                  </a:lnTo>
                  <a:lnTo>
                    <a:pt x="3615091" y="438107"/>
                  </a:lnTo>
                  <a:lnTo>
                    <a:pt x="3651846" y="464774"/>
                  </a:lnTo>
                  <a:lnTo>
                    <a:pt x="3687794" y="492093"/>
                  </a:lnTo>
                  <a:lnTo>
                    <a:pt x="3722920" y="520050"/>
                  </a:lnTo>
                  <a:lnTo>
                    <a:pt x="3757209" y="548634"/>
                  </a:lnTo>
                  <a:lnTo>
                    <a:pt x="3790646" y="577834"/>
                  </a:lnTo>
                  <a:lnTo>
                    <a:pt x="3823215" y="607636"/>
                  </a:lnTo>
                  <a:lnTo>
                    <a:pt x="3854900" y="638029"/>
                  </a:lnTo>
                  <a:lnTo>
                    <a:pt x="3885686" y="669001"/>
                  </a:lnTo>
                  <a:lnTo>
                    <a:pt x="3915557" y="700540"/>
                  </a:lnTo>
                  <a:lnTo>
                    <a:pt x="3944499" y="732633"/>
                  </a:lnTo>
                  <a:lnTo>
                    <a:pt x="3972495" y="765270"/>
                  </a:lnTo>
                  <a:lnTo>
                    <a:pt x="3999530" y="798437"/>
                  </a:lnTo>
                  <a:lnTo>
                    <a:pt x="4025589" y="832122"/>
                  </a:lnTo>
                  <a:lnTo>
                    <a:pt x="4050656" y="866315"/>
                  </a:lnTo>
                  <a:lnTo>
                    <a:pt x="4074716" y="901002"/>
                  </a:lnTo>
                  <a:lnTo>
                    <a:pt x="4097753" y="936171"/>
                  </a:lnTo>
                  <a:lnTo>
                    <a:pt x="4119751" y="971812"/>
                  </a:lnTo>
                  <a:lnTo>
                    <a:pt x="4140696" y="1007910"/>
                  </a:lnTo>
                  <a:lnTo>
                    <a:pt x="4160571" y="1044455"/>
                  </a:lnTo>
                  <a:lnTo>
                    <a:pt x="4179362" y="1081435"/>
                  </a:lnTo>
                  <a:lnTo>
                    <a:pt x="4197053" y="1118837"/>
                  </a:lnTo>
                  <a:lnTo>
                    <a:pt x="4213628" y="1156650"/>
                  </a:lnTo>
                  <a:lnTo>
                    <a:pt x="4229072" y="1194860"/>
                  </a:lnTo>
                  <a:lnTo>
                    <a:pt x="4243369" y="1233458"/>
                  </a:lnTo>
                  <a:lnTo>
                    <a:pt x="4256505" y="1272429"/>
                  </a:lnTo>
                  <a:lnTo>
                    <a:pt x="4268462" y="1311763"/>
                  </a:lnTo>
                  <a:lnTo>
                    <a:pt x="4279227" y="1351447"/>
                  </a:lnTo>
                  <a:lnTo>
                    <a:pt x="4288783" y="1391469"/>
                  </a:lnTo>
                  <a:lnTo>
                    <a:pt x="4297116" y="1431817"/>
                  </a:lnTo>
                  <a:lnTo>
                    <a:pt x="4304208" y="1472480"/>
                  </a:lnTo>
                  <a:lnTo>
                    <a:pt x="4310046" y="1513444"/>
                  </a:lnTo>
                  <a:lnTo>
                    <a:pt x="4314614" y="1554699"/>
                  </a:lnTo>
                  <a:lnTo>
                    <a:pt x="4317896" y="1596231"/>
                  </a:lnTo>
                  <a:lnTo>
                    <a:pt x="4319876" y="1638030"/>
                  </a:lnTo>
                  <a:lnTo>
                    <a:pt x="4320540" y="1680082"/>
                  </a:lnTo>
                  <a:lnTo>
                    <a:pt x="4319876" y="1722141"/>
                  </a:lnTo>
                  <a:lnTo>
                    <a:pt x="4317896" y="1763945"/>
                  </a:lnTo>
                  <a:lnTo>
                    <a:pt x="4314614" y="1805483"/>
                  </a:lnTo>
                  <a:lnTo>
                    <a:pt x="4310046" y="1846743"/>
                  </a:lnTo>
                  <a:lnTo>
                    <a:pt x="4304208" y="1887712"/>
                  </a:lnTo>
                  <a:lnTo>
                    <a:pt x="4297116" y="1928379"/>
                  </a:lnTo>
                  <a:lnTo>
                    <a:pt x="4288783" y="1968732"/>
                  </a:lnTo>
                  <a:lnTo>
                    <a:pt x="4279227" y="2008759"/>
                  </a:lnTo>
                  <a:lnTo>
                    <a:pt x="4268462" y="2048447"/>
                  </a:lnTo>
                  <a:lnTo>
                    <a:pt x="4256505" y="2087785"/>
                  </a:lnTo>
                  <a:lnTo>
                    <a:pt x="4243369" y="2126761"/>
                  </a:lnTo>
                  <a:lnTo>
                    <a:pt x="4229072" y="2165362"/>
                  </a:lnTo>
                  <a:lnTo>
                    <a:pt x="4213628" y="2203577"/>
                  </a:lnTo>
                  <a:lnTo>
                    <a:pt x="4197053" y="2241393"/>
                  </a:lnTo>
                  <a:lnTo>
                    <a:pt x="4179362" y="2278798"/>
                  </a:lnTo>
                  <a:lnTo>
                    <a:pt x="4160571" y="2315781"/>
                  </a:lnTo>
                  <a:lnTo>
                    <a:pt x="4140696" y="2352330"/>
                  </a:lnTo>
                  <a:lnTo>
                    <a:pt x="4119751" y="2388432"/>
                  </a:lnTo>
                  <a:lnTo>
                    <a:pt x="4097753" y="2424075"/>
                  </a:lnTo>
                  <a:lnTo>
                    <a:pt x="4074716" y="2459247"/>
                  </a:lnTo>
                  <a:lnTo>
                    <a:pt x="4050656" y="2493937"/>
                  </a:lnTo>
                  <a:lnTo>
                    <a:pt x="4025589" y="2528132"/>
                  </a:lnTo>
                  <a:lnTo>
                    <a:pt x="3999530" y="2561820"/>
                  </a:lnTo>
                  <a:lnTo>
                    <a:pt x="3972495" y="2594990"/>
                  </a:lnTo>
                  <a:lnTo>
                    <a:pt x="3944499" y="2627628"/>
                  </a:lnTo>
                  <a:lnTo>
                    <a:pt x="3915557" y="2659724"/>
                  </a:lnTo>
                  <a:lnTo>
                    <a:pt x="3885686" y="2691265"/>
                  </a:lnTo>
                  <a:lnTo>
                    <a:pt x="3854900" y="2722239"/>
                  </a:lnTo>
                  <a:lnTo>
                    <a:pt x="3823215" y="2752634"/>
                  </a:lnTo>
                  <a:lnTo>
                    <a:pt x="3790646" y="2782438"/>
                  </a:lnTo>
                  <a:lnTo>
                    <a:pt x="3757209" y="2811639"/>
                  </a:lnTo>
                  <a:lnTo>
                    <a:pt x="3722920" y="2840225"/>
                  </a:lnTo>
                  <a:lnTo>
                    <a:pt x="3687794" y="2868183"/>
                  </a:lnTo>
                  <a:lnTo>
                    <a:pt x="3651846" y="2895503"/>
                  </a:lnTo>
                  <a:lnTo>
                    <a:pt x="3615091" y="2922172"/>
                  </a:lnTo>
                  <a:lnTo>
                    <a:pt x="3577547" y="2948177"/>
                  </a:lnTo>
                  <a:lnTo>
                    <a:pt x="3539226" y="2973507"/>
                  </a:lnTo>
                  <a:lnTo>
                    <a:pt x="3500146" y="2998150"/>
                  </a:lnTo>
                  <a:lnTo>
                    <a:pt x="3460322" y="3022094"/>
                  </a:lnTo>
                  <a:lnTo>
                    <a:pt x="3419769" y="3045326"/>
                  </a:lnTo>
                  <a:lnTo>
                    <a:pt x="3378503" y="3067835"/>
                  </a:lnTo>
                  <a:lnTo>
                    <a:pt x="3336539" y="3089609"/>
                  </a:lnTo>
                  <a:lnTo>
                    <a:pt x="3293892" y="3110635"/>
                  </a:lnTo>
                  <a:lnTo>
                    <a:pt x="3250579" y="3130902"/>
                  </a:lnTo>
                  <a:lnTo>
                    <a:pt x="3206614" y="3150398"/>
                  </a:lnTo>
                  <a:lnTo>
                    <a:pt x="3162013" y="3169110"/>
                  </a:lnTo>
                  <a:lnTo>
                    <a:pt x="3116791" y="3187026"/>
                  </a:lnTo>
                  <a:lnTo>
                    <a:pt x="3070965" y="3204135"/>
                  </a:lnTo>
                  <a:lnTo>
                    <a:pt x="3024549" y="3220425"/>
                  </a:lnTo>
                  <a:lnTo>
                    <a:pt x="2977559" y="3235882"/>
                  </a:lnTo>
                  <a:lnTo>
                    <a:pt x="2930010" y="3250496"/>
                  </a:lnTo>
                  <a:lnTo>
                    <a:pt x="2881918" y="3264255"/>
                  </a:lnTo>
                  <a:lnTo>
                    <a:pt x="2833299" y="3277146"/>
                  </a:lnTo>
                  <a:lnTo>
                    <a:pt x="2784167" y="3289157"/>
                  </a:lnTo>
                  <a:lnTo>
                    <a:pt x="2734539" y="3300276"/>
                  </a:lnTo>
                  <a:lnTo>
                    <a:pt x="2684429" y="3310492"/>
                  </a:lnTo>
                  <a:lnTo>
                    <a:pt x="2633854" y="3319791"/>
                  </a:lnTo>
                  <a:lnTo>
                    <a:pt x="2582828" y="3328163"/>
                  </a:lnTo>
                  <a:lnTo>
                    <a:pt x="2531368" y="3335595"/>
                  </a:lnTo>
                  <a:lnTo>
                    <a:pt x="2479488" y="3342075"/>
                  </a:lnTo>
                  <a:lnTo>
                    <a:pt x="2427204" y="3347592"/>
                  </a:lnTo>
                  <a:lnTo>
                    <a:pt x="2374532" y="3352132"/>
                  </a:lnTo>
                  <a:lnTo>
                    <a:pt x="2321487" y="3355684"/>
                  </a:lnTo>
                  <a:lnTo>
                    <a:pt x="2268085" y="3358236"/>
                  </a:lnTo>
                  <a:lnTo>
                    <a:pt x="2214340" y="3359776"/>
                  </a:lnTo>
                  <a:lnTo>
                    <a:pt x="2160270" y="3360292"/>
                  </a:lnTo>
                  <a:lnTo>
                    <a:pt x="2106199" y="3359776"/>
                  </a:lnTo>
                  <a:lnTo>
                    <a:pt x="2052454" y="3358236"/>
                  </a:lnTo>
                  <a:lnTo>
                    <a:pt x="1999052" y="3355684"/>
                  </a:lnTo>
                  <a:lnTo>
                    <a:pt x="1946007" y="3352132"/>
                  </a:lnTo>
                  <a:lnTo>
                    <a:pt x="1893335" y="3347592"/>
                  </a:lnTo>
                  <a:lnTo>
                    <a:pt x="1841051" y="3342075"/>
                  </a:lnTo>
                  <a:lnTo>
                    <a:pt x="1789171" y="3335595"/>
                  </a:lnTo>
                  <a:lnTo>
                    <a:pt x="1737711" y="3328163"/>
                  </a:lnTo>
                  <a:lnTo>
                    <a:pt x="1686685" y="3319791"/>
                  </a:lnTo>
                  <a:lnTo>
                    <a:pt x="1636110" y="3310492"/>
                  </a:lnTo>
                  <a:lnTo>
                    <a:pt x="1586000" y="3300276"/>
                  </a:lnTo>
                  <a:lnTo>
                    <a:pt x="1536372" y="3289157"/>
                  </a:lnTo>
                  <a:lnTo>
                    <a:pt x="1487240" y="3277146"/>
                  </a:lnTo>
                  <a:lnTo>
                    <a:pt x="1438621" y="3264255"/>
                  </a:lnTo>
                  <a:lnTo>
                    <a:pt x="1390529" y="3250496"/>
                  </a:lnTo>
                  <a:lnTo>
                    <a:pt x="1342980" y="3235882"/>
                  </a:lnTo>
                  <a:lnTo>
                    <a:pt x="1295990" y="3220425"/>
                  </a:lnTo>
                  <a:lnTo>
                    <a:pt x="1249574" y="3204135"/>
                  </a:lnTo>
                  <a:lnTo>
                    <a:pt x="1203748" y="3187026"/>
                  </a:lnTo>
                  <a:lnTo>
                    <a:pt x="1158526" y="3169110"/>
                  </a:lnTo>
                  <a:lnTo>
                    <a:pt x="1113925" y="3150398"/>
                  </a:lnTo>
                  <a:lnTo>
                    <a:pt x="1069960" y="3130902"/>
                  </a:lnTo>
                  <a:lnTo>
                    <a:pt x="1026647" y="3110635"/>
                  </a:lnTo>
                  <a:lnTo>
                    <a:pt x="984000" y="3089609"/>
                  </a:lnTo>
                  <a:lnTo>
                    <a:pt x="942036" y="3067835"/>
                  </a:lnTo>
                  <a:lnTo>
                    <a:pt x="900770" y="3045326"/>
                  </a:lnTo>
                  <a:lnTo>
                    <a:pt x="860217" y="3022094"/>
                  </a:lnTo>
                  <a:lnTo>
                    <a:pt x="820393" y="2998150"/>
                  </a:lnTo>
                  <a:lnTo>
                    <a:pt x="781313" y="2973507"/>
                  </a:lnTo>
                  <a:lnTo>
                    <a:pt x="742992" y="2948177"/>
                  </a:lnTo>
                  <a:lnTo>
                    <a:pt x="705448" y="2922172"/>
                  </a:lnTo>
                  <a:lnTo>
                    <a:pt x="668693" y="2895503"/>
                  </a:lnTo>
                  <a:lnTo>
                    <a:pt x="632745" y="2868183"/>
                  </a:lnTo>
                  <a:lnTo>
                    <a:pt x="597619" y="2840225"/>
                  </a:lnTo>
                  <a:lnTo>
                    <a:pt x="563330" y="2811639"/>
                  </a:lnTo>
                  <a:lnTo>
                    <a:pt x="529893" y="2782438"/>
                  </a:lnTo>
                  <a:lnTo>
                    <a:pt x="497324" y="2752634"/>
                  </a:lnTo>
                  <a:lnTo>
                    <a:pt x="465639" y="2722239"/>
                  </a:lnTo>
                  <a:lnTo>
                    <a:pt x="434853" y="2691265"/>
                  </a:lnTo>
                  <a:lnTo>
                    <a:pt x="404982" y="2659724"/>
                  </a:lnTo>
                  <a:lnTo>
                    <a:pt x="376040" y="2627628"/>
                  </a:lnTo>
                  <a:lnTo>
                    <a:pt x="348044" y="2594990"/>
                  </a:lnTo>
                  <a:lnTo>
                    <a:pt x="321009" y="2561820"/>
                  </a:lnTo>
                  <a:lnTo>
                    <a:pt x="294950" y="2528132"/>
                  </a:lnTo>
                  <a:lnTo>
                    <a:pt x="269883" y="2493937"/>
                  </a:lnTo>
                  <a:lnTo>
                    <a:pt x="245823" y="2459247"/>
                  </a:lnTo>
                  <a:lnTo>
                    <a:pt x="222786" y="2424075"/>
                  </a:lnTo>
                  <a:lnTo>
                    <a:pt x="200788" y="2388432"/>
                  </a:lnTo>
                  <a:lnTo>
                    <a:pt x="179843" y="2352330"/>
                  </a:lnTo>
                  <a:lnTo>
                    <a:pt x="159968" y="2315781"/>
                  </a:lnTo>
                  <a:lnTo>
                    <a:pt x="141177" y="2278798"/>
                  </a:lnTo>
                  <a:lnTo>
                    <a:pt x="123486" y="2241393"/>
                  </a:lnTo>
                  <a:lnTo>
                    <a:pt x="106911" y="2203577"/>
                  </a:lnTo>
                  <a:lnTo>
                    <a:pt x="91467" y="2165362"/>
                  </a:lnTo>
                  <a:lnTo>
                    <a:pt x="77170" y="2126761"/>
                  </a:lnTo>
                  <a:lnTo>
                    <a:pt x="64034" y="2087785"/>
                  </a:lnTo>
                  <a:lnTo>
                    <a:pt x="52077" y="2048447"/>
                  </a:lnTo>
                  <a:lnTo>
                    <a:pt x="41312" y="2008759"/>
                  </a:lnTo>
                  <a:lnTo>
                    <a:pt x="31756" y="1968732"/>
                  </a:lnTo>
                  <a:lnTo>
                    <a:pt x="23423" y="1928379"/>
                  </a:lnTo>
                  <a:lnTo>
                    <a:pt x="16331" y="1887712"/>
                  </a:lnTo>
                  <a:lnTo>
                    <a:pt x="10493" y="1846743"/>
                  </a:lnTo>
                  <a:lnTo>
                    <a:pt x="5925" y="1805483"/>
                  </a:lnTo>
                  <a:lnTo>
                    <a:pt x="2643" y="1763945"/>
                  </a:lnTo>
                  <a:lnTo>
                    <a:pt x="663" y="1722141"/>
                  </a:lnTo>
                  <a:lnTo>
                    <a:pt x="0" y="1680082"/>
                  </a:lnTo>
                  <a:close/>
                </a:path>
              </a:pathLst>
            </a:custGeom>
            <a:ln w="9525">
              <a:solidFill>
                <a:srgbClr val="CCB4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8372" y="1486001"/>
            <a:ext cx="10589895" cy="28301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Monsieur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B,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45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ans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consulte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pour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l’inoculation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d’une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écharde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palmier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au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niveau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région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supra-patellaire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genou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droit.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14999"/>
              </a:lnSpc>
            </a:pP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L’examen</a:t>
            </a:r>
            <a:r>
              <a:rPr sz="32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physique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et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l’échographie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confirment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l’absence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de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corps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étranger.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patient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à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son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tour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confirme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que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l’écharde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été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retirée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totalité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sur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les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lieux.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8372" y="672292"/>
            <a:ext cx="9952355" cy="4502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Une radiographie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genou</a:t>
            </a:r>
            <a:r>
              <a:rPr sz="26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droit de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face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et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profil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été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demandée</a:t>
            </a:r>
            <a:r>
              <a:rPr sz="265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20" dirty="0">
                <a:solidFill>
                  <a:srgbClr val="FFFFFF"/>
                </a:solidFill>
                <a:latin typeface="Times New Roman"/>
                <a:cs typeface="Times New Roman"/>
              </a:rPr>
              <a:t>pour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Monsieur</a:t>
            </a:r>
            <a:r>
              <a:rPr sz="26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B. le(s)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signe(s) radiologique(s)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qui fait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(font) suspecter </a:t>
            </a:r>
            <a:r>
              <a:rPr sz="2650" spc="-25" dirty="0">
                <a:solidFill>
                  <a:srgbClr val="FFFFFF"/>
                </a:solidFill>
                <a:latin typeface="Times New Roman"/>
                <a:cs typeface="Times New Roman"/>
              </a:rPr>
              <a:t>une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effraction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 la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capsule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articulaire</a:t>
            </a:r>
            <a:r>
              <a:rPr sz="26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est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(sont)</a:t>
            </a:r>
            <a:endParaRPr sz="26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2445"/>
              </a:spcBef>
              <a:buAutoNum type="alphaUcPeriod"/>
              <a:tabLst>
                <a:tab pos="46926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Une lacune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osseuse</a:t>
            </a:r>
            <a:r>
              <a:rPr sz="26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plateau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tibial</a:t>
            </a:r>
            <a:endParaRPr sz="26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145"/>
              </a:spcBef>
              <a:buAutoNum type="alphaUcPeriod"/>
              <a:tabLst>
                <a:tab pos="46926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Une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pneumarthrose</a:t>
            </a:r>
            <a:endParaRPr sz="26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140"/>
              </a:spcBef>
              <a:buAutoNum type="alphaUcPeriod"/>
              <a:tabLst>
                <a:tab pos="46926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présence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calcifications</a:t>
            </a:r>
            <a:r>
              <a:rPr sz="265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méniscales</a:t>
            </a:r>
            <a:endParaRPr sz="26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140"/>
              </a:spcBef>
              <a:buAutoNum type="alphaUcPeriod"/>
              <a:tabLst>
                <a:tab pos="46926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6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présence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d’ostéophytes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marginaux</a:t>
            </a:r>
            <a:endParaRPr sz="26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2435"/>
              </a:spcBef>
              <a:buAutoNum type="alphaUcPeriod"/>
              <a:tabLst>
                <a:tab pos="46926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présence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d’un</a:t>
            </a:r>
            <a:r>
              <a:rPr sz="26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pincement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l’interligne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fémoro-tibiale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médiale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8372" y="672292"/>
            <a:ext cx="10502900" cy="5438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39090">
              <a:lnSpc>
                <a:spcPct val="115799"/>
              </a:lnSpc>
              <a:spcBef>
                <a:spcPts val="95"/>
              </a:spcBef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La radiographie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genou</a:t>
            </a:r>
            <a:r>
              <a:rPr sz="26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est revenue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normale.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conduite à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tenir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adaptée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pour ce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patient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20" dirty="0">
                <a:solidFill>
                  <a:srgbClr val="FFFFFF"/>
                </a:solidFill>
                <a:latin typeface="Times New Roman"/>
                <a:cs typeface="Times New Roman"/>
              </a:rPr>
              <a:t>est:</a:t>
            </a:r>
            <a:endParaRPr sz="26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2435"/>
              </a:spcBef>
              <a:buAutoNum type="alphaUcPeriod"/>
              <a:tabLst>
                <a:tab pos="46926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Des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soins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locaux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et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contrôle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clinique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dans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48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heures</a:t>
            </a:r>
            <a:endParaRPr sz="265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15900"/>
              </a:lnSpc>
              <a:spcBef>
                <a:spcPts val="635"/>
              </a:spcBef>
              <a:buAutoNum type="alphaUcPeriod"/>
              <a:tabLst>
                <a:tab pos="469900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Des soins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locaux,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antibiothérapie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prophylactique</a:t>
            </a:r>
            <a:r>
              <a:rPr sz="26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et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contrôle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clinique </a:t>
            </a:r>
            <a:r>
              <a:rPr sz="2650" spc="-20" dirty="0">
                <a:solidFill>
                  <a:srgbClr val="FFFFFF"/>
                </a:solidFill>
                <a:latin typeface="Times New Roman"/>
                <a:cs typeface="Times New Roman"/>
              </a:rPr>
              <a:t>dans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semaine</a:t>
            </a:r>
            <a:endParaRPr sz="26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140"/>
              </a:spcBef>
              <a:buAutoNum type="alphaUcPeriod"/>
              <a:tabLst>
                <a:tab pos="469265" algn="l"/>
                <a:tab pos="2832100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Une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exploration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	et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suture de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plaie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sous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anesthésie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locale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salle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25" dirty="0">
                <a:solidFill>
                  <a:srgbClr val="FFFFFF"/>
                </a:solidFill>
                <a:latin typeface="Times New Roman"/>
                <a:cs typeface="Times New Roman"/>
              </a:rPr>
              <a:t>des</a:t>
            </a:r>
            <a:endParaRPr sz="265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05"/>
              </a:spcBef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soins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en respectant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les règles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d’asepsie</a:t>
            </a:r>
            <a:endParaRPr sz="26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145"/>
              </a:spcBef>
              <a:buAutoNum type="alphaUcPeriod" startAt="4"/>
              <a:tabLst>
                <a:tab pos="46926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exploration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chirurgicale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plaie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au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bloc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opératoire</a:t>
            </a:r>
            <a:endParaRPr sz="2650">
              <a:latin typeface="Times New Roman"/>
              <a:cs typeface="Times New Roman"/>
            </a:endParaRPr>
          </a:p>
          <a:p>
            <a:pPr marL="469900" marR="419734" indent="-457200">
              <a:lnSpc>
                <a:spcPct val="115900"/>
              </a:lnSpc>
              <a:spcBef>
                <a:spcPts val="1930"/>
              </a:spcBef>
              <a:buAutoNum type="alphaUcPeriod" startAt="4"/>
              <a:tabLst>
                <a:tab pos="469900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antibiothérapie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intra-veineuse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milieu hospitalier et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surveillance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étroite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température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8372" y="672292"/>
            <a:ext cx="10494010" cy="4970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  <a:tabLst>
                <a:tab pos="224218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Monsieur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B a finalement préféré de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rentrer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chez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lui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contre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l’avis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médecin.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Deux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semaines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	après, il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consulte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pour un écoulement</a:t>
            </a:r>
            <a:r>
              <a:rPr sz="26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purulent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à partir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25" dirty="0">
                <a:solidFill>
                  <a:srgbClr val="FFFFFF"/>
                </a:solidFill>
                <a:latin typeface="Times New Roman"/>
                <a:cs typeface="Times New Roman"/>
              </a:rPr>
              <a:t>la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plaie.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30" dirty="0">
                <a:solidFill>
                  <a:srgbClr val="FFFFFF"/>
                </a:solidFill>
                <a:latin typeface="Times New Roman"/>
                <a:cs typeface="Times New Roman"/>
              </a:rPr>
              <a:t>L’</a:t>
            </a:r>
            <a:r>
              <a:rPr sz="2650" spc="-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(les)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élément(s)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l’examen physique</a:t>
            </a:r>
            <a:r>
              <a:rPr sz="26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qui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vous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fait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(font)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suspecter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arthrite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septique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plutôt qu’une</a:t>
            </a:r>
            <a:r>
              <a:rPr sz="26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simple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infection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plaie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(sont):</a:t>
            </a:r>
            <a:endParaRPr sz="26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2445"/>
              </a:spcBef>
              <a:buAutoNum type="alphaUcPeriod"/>
              <a:tabLst>
                <a:tab pos="46926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 test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du choc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patellaire</a:t>
            </a:r>
            <a:r>
              <a:rPr sz="26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positif</a:t>
            </a:r>
            <a:endParaRPr sz="26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145"/>
              </a:spcBef>
              <a:buAutoNum type="alphaUcPeriod"/>
              <a:tabLst>
                <a:tab pos="46926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Une fièvre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supérieure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à </a:t>
            </a:r>
            <a:r>
              <a:rPr sz="2650" spc="-20" dirty="0">
                <a:solidFill>
                  <a:srgbClr val="FFFFFF"/>
                </a:solidFill>
                <a:latin typeface="Times New Roman"/>
                <a:cs typeface="Times New Roman"/>
              </a:rPr>
              <a:t>39</a:t>
            </a:r>
            <a:r>
              <a:rPr sz="2650" spc="-20" dirty="0">
                <a:solidFill>
                  <a:srgbClr val="FFFFFF"/>
                </a:solidFill>
                <a:latin typeface="Calibri"/>
                <a:cs typeface="Calibri"/>
              </a:rPr>
              <a:t>°</a:t>
            </a:r>
            <a:r>
              <a:rPr sz="2650" spc="-2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6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140"/>
              </a:spcBef>
              <a:buAutoNum type="alphaUcPeriod"/>
              <a:tabLst>
                <a:tab pos="46926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Une rougeur</a:t>
            </a:r>
            <a:r>
              <a:rPr sz="26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et une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chaleur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locale</a:t>
            </a:r>
            <a:endParaRPr sz="26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140"/>
              </a:spcBef>
              <a:buAutoNum type="alphaUcPeriod"/>
              <a:tabLst>
                <a:tab pos="46926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boiterie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d’esquive</a:t>
            </a:r>
            <a:endParaRPr sz="26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2435"/>
              </a:spcBef>
              <a:buAutoNum type="alphaUcPeriod"/>
              <a:tabLst>
                <a:tab pos="46926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douleur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à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moindre</a:t>
            </a:r>
            <a:r>
              <a:rPr sz="26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mobilisation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passive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genou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87723" y="1609344"/>
            <a:ext cx="4411980" cy="3450590"/>
            <a:chOff x="3887723" y="1609344"/>
            <a:chExt cx="4411980" cy="34505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7723" y="1609344"/>
              <a:ext cx="4411980" cy="345033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5729" y="1636522"/>
              <a:ext cx="4320540" cy="33602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935729" y="1636522"/>
              <a:ext cx="4320540" cy="3360420"/>
            </a:xfrm>
            <a:custGeom>
              <a:avLst/>
              <a:gdLst/>
              <a:ahLst/>
              <a:cxnLst/>
              <a:rect l="l" t="t" r="r" b="b"/>
              <a:pathLst>
                <a:path w="4320540" h="3360420">
                  <a:moveTo>
                    <a:pt x="1243203" y="1177670"/>
                  </a:moveTo>
                  <a:lnTo>
                    <a:pt x="1249144" y="1137545"/>
                  </a:lnTo>
                  <a:lnTo>
                    <a:pt x="1266068" y="1100710"/>
                  </a:lnTo>
                  <a:lnTo>
                    <a:pt x="1292628" y="1068216"/>
                  </a:lnTo>
                  <a:lnTo>
                    <a:pt x="1327474" y="1041113"/>
                  </a:lnTo>
                  <a:lnTo>
                    <a:pt x="1369258" y="1020453"/>
                  </a:lnTo>
                  <a:lnTo>
                    <a:pt x="1416632" y="1007287"/>
                  </a:lnTo>
                  <a:lnTo>
                    <a:pt x="1468247" y="1002664"/>
                  </a:lnTo>
                  <a:lnTo>
                    <a:pt x="1519814" y="1007287"/>
                  </a:lnTo>
                  <a:lnTo>
                    <a:pt x="1567154" y="1020453"/>
                  </a:lnTo>
                  <a:lnTo>
                    <a:pt x="1608915" y="1041113"/>
                  </a:lnTo>
                  <a:lnTo>
                    <a:pt x="1643748" y="1068216"/>
                  </a:lnTo>
                  <a:lnTo>
                    <a:pt x="1670301" y="1100710"/>
                  </a:lnTo>
                  <a:lnTo>
                    <a:pt x="1687223" y="1137545"/>
                  </a:lnTo>
                  <a:lnTo>
                    <a:pt x="1693164" y="1177670"/>
                  </a:lnTo>
                  <a:lnTo>
                    <a:pt x="1687223" y="1217796"/>
                  </a:lnTo>
                  <a:lnTo>
                    <a:pt x="1670301" y="1254631"/>
                  </a:lnTo>
                  <a:lnTo>
                    <a:pt x="1643748" y="1287125"/>
                  </a:lnTo>
                  <a:lnTo>
                    <a:pt x="1608915" y="1314228"/>
                  </a:lnTo>
                  <a:lnTo>
                    <a:pt x="1567154" y="1334888"/>
                  </a:lnTo>
                  <a:lnTo>
                    <a:pt x="1519814" y="1348054"/>
                  </a:lnTo>
                  <a:lnTo>
                    <a:pt x="1468247" y="1352677"/>
                  </a:lnTo>
                  <a:lnTo>
                    <a:pt x="1416632" y="1348054"/>
                  </a:lnTo>
                  <a:lnTo>
                    <a:pt x="1369258" y="1334888"/>
                  </a:lnTo>
                  <a:lnTo>
                    <a:pt x="1327474" y="1314228"/>
                  </a:lnTo>
                  <a:lnTo>
                    <a:pt x="1292628" y="1287125"/>
                  </a:lnTo>
                  <a:lnTo>
                    <a:pt x="1266068" y="1254631"/>
                  </a:lnTo>
                  <a:lnTo>
                    <a:pt x="1249144" y="1217796"/>
                  </a:lnTo>
                  <a:lnTo>
                    <a:pt x="1243203" y="1177670"/>
                  </a:lnTo>
                </a:path>
                <a:path w="4320540" h="3360420">
                  <a:moveTo>
                    <a:pt x="2627376" y="1177670"/>
                  </a:moveTo>
                  <a:lnTo>
                    <a:pt x="2633316" y="1137545"/>
                  </a:lnTo>
                  <a:lnTo>
                    <a:pt x="2650238" y="1100710"/>
                  </a:lnTo>
                  <a:lnTo>
                    <a:pt x="2676791" y="1068216"/>
                  </a:lnTo>
                  <a:lnTo>
                    <a:pt x="2711624" y="1041113"/>
                  </a:lnTo>
                  <a:lnTo>
                    <a:pt x="2753385" y="1020453"/>
                  </a:lnTo>
                  <a:lnTo>
                    <a:pt x="2800725" y="1007287"/>
                  </a:lnTo>
                  <a:lnTo>
                    <a:pt x="2852293" y="1002664"/>
                  </a:lnTo>
                  <a:lnTo>
                    <a:pt x="2903907" y="1007287"/>
                  </a:lnTo>
                  <a:lnTo>
                    <a:pt x="2951281" y="1020453"/>
                  </a:lnTo>
                  <a:lnTo>
                    <a:pt x="2993065" y="1041113"/>
                  </a:lnTo>
                  <a:lnTo>
                    <a:pt x="3027911" y="1068216"/>
                  </a:lnTo>
                  <a:lnTo>
                    <a:pt x="3054471" y="1100710"/>
                  </a:lnTo>
                  <a:lnTo>
                    <a:pt x="3071395" y="1137545"/>
                  </a:lnTo>
                  <a:lnTo>
                    <a:pt x="3077337" y="1177670"/>
                  </a:lnTo>
                  <a:lnTo>
                    <a:pt x="3071395" y="1217796"/>
                  </a:lnTo>
                  <a:lnTo>
                    <a:pt x="3054471" y="1254631"/>
                  </a:lnTo>
                  <a:lnTo>
                    <a:pt x="3027911" y="1287125"/>
                  </a:lnTo>
                  <a:lnTo>
                    <a:pt x="2993065" y="1314228"/>
                  </a:lnTo>
                  <a:lnTo>
                    <a:pt x="2951281" y="1334888"/>
                  </a:lnTo>
                  <a:lnTo>
                    <a:pt x="2903907" y="1348054"/>
                  </a:lnTo>
                  <a:lnTo>
                    <a:pt x="2852293" y="1352677"/>
                  </a:lnTo>
                  <a:lnTo>
                    <a:pt x="2800725" y="1348054"/>
                  </a:lnTo>
                  <a:lnTo>
                    <a:pt x="2753385" y="1334888"/>
                  </a:lnTo>
                  <a:lnTo>
                    <a:pt x="2711624" y="1314228"/>
                  </a:lnTo>
                  <a:lnTo>
                    <a:pt x="2676791" y="1287125"/>
                  </a:lnTo>
                  <a:lnTo>
                    <a:pt x="2650238" y="1254631"/>
                  </a:lnTo>
                  <a:lnTo>
                    <a:pt x="2633316" y="1217796"/>
                  </a:lnTo>
                  <a:lnTo>
                    <a:pt x="2627376" y="1177670"/>
                  </a:lnTo>
                </a:path>
                <a:path w="4320540" h="3360420">
                  <a:moveTo>
                    <a:pt x="989457" y="2412872"/>
                  </a:moveTo>
                  <a:lnTo>
                    <a:pt x="1036288" y="2437389"/>
                  </a:lnTo>
                  <a:lnTo>
                    <a:pt x="1083117" y="2460904"/>
                  </a:lnTo>
                  <a:lnTo>
                    <a:pt x="1129944" y="2483419"/>
                  </a:lnTo>
                  <a:lnTo>
                    <a:pt x="1176770" y="2504933"/>
                  </a:lnTo>
                  <a:lnTo>
                    <a:pt x="1223592" y="2525447"/>
                  </a:lnTo>
                  <a:lnTo>
                    <a:pt x="1270413" y="2544959"/>
                  </a:lnTo>
                  <a:lnTo>
                    <a:pt x="1317232" y="2563472"/>
                  </a:lnTo>
                  <a:lnTo>
                    <a:pt x="1364048" y="2580983"/>
                  </a:lnTo>
                  <a:lnTo>
                    <a:pt x="1410863" y="2597494"/>
                  </a:lnTo>
                  <a:lnTo>
                    <a:pt x="1457675" y="2613004"/>
                  </a:lnTo>
                  <a:lnTo>
                    <a:pt x="1504485" y="2627514"/>
                  </a:lnTo>
                  <a:lnTo>
                    <a:pt x="1551293" y="2641023"/>
                  </a:lnTo>
                  <a:lnTo>
                    <a:pt x="1598099" y="2653531"/>
                  </a:lnTo>
                  <a:lnTo>
                    <a:pt x="1644903" y="2665038"/>
                  </a:lnTo>
                  <a:lnTo>
                    <a:pt x="1691704" y="2675545"/>
                  </a:lnTo>
                  <a:lnTo>
                    <a:pt x="1738504" y="2685052"/>
                  </a:lnTo>
                  <a:lnTo>
                    <a:pt x="1785301" y="2693557"/>
                  </a:lnTo>
                  <a:lnTo>
                    <a:pt x="1832096" y="2701062"/>
                  </a:lnTo>
                  <a:lnTo>
                    <a:pt x="1878889" y="2707566"/>
                  </a:lnTo>
                  <a:lnTo>
                    <a:pt x="1925680" y="2713070"/>
                  </a:lnTo>
                  <a:lnTo>
                    <a:pt x="1972469" y="2717573"/>
                  </a:lnTo>
                  <a:lnTo>
                    <a:pt x="2019256" y="2721075"/>
                  </a:lnTo>
                  <a:lnTo>
                    <a:pt x="2066040" y="2723577"/>
                  </a:lnTo>
                  <a:lnTo>
                    <a:pt x="2112823" y="2725078"/>
                  </a:lnTo>
                  <a:lnTo>
                    <a:pt x="2159603" y="2725578"/>
                  </a:lnTo>
                  <a:lnTo>
                    <a:pt x="2206381" y="2725078"/>
                  </a:lnTo>
                  <a:lnTo>
                    <a:pt x="2253157" y="2723577"/>
                  </a:lnTo>
                  <a:lnTo>
                    <a:pt x="2299931" y="2721075"/>
                  </a:lnTo>
                  <a:lnTo>
                    <a:pt x="2346702" y="2717573"/>
                  </a:lnTo>
                  <a:lnTo>
                    <a:pt x="2393472" y="2713070"/>
                  </a:lnTo>
                  <a:lnTo>
                    <a:pt x="2440239" y="2707566"/>
                  </a:lnTo>
                  <a:lnTo>
                    <a:pt x="2487005" y="2701062"/>
                  </a:lnTo>
                  <a:lnTo>
                    <a:pt x="2533768" y="2693557"/>
                  </a:lnTo>
                  <a:lnTo>
                    <a:pt x="2580529" y="2685052"/>
                  </a:lnTo>
                  <a:lnTo>
                    <a:pt x="2627288" y="2675545"/>
                  </a:lnTo>
                  <a:lnTo>
                    <a:pt x="2674045" y="2665038"/>
                  </a:lnTo>
                  <a:lnTo>
                    <a:pt x="2720799" y="2653531"/>
                  </a:lnTo>
                  <a:lnTo>
                    <a:pt x="2767552" y="2641023"/>
                  </a:lnTo>
                  <a:lnTo>
                    <a:pt x="2814302" y="2627514"/>
                  </a:lnTo>
                  <a:lnTo>
                    <a:pt x="2861050" y="2613004"/>
                  </a:lnTo>
                  <a:lnTo>
                    <a:pt x="2907797" y="2597494"/>
                  </a:lnTo>
                  <a:lnTo>
                    <a:pt x="2954541" y="2580983"/>
                  </a:lnTo>
                  <a:lnTo>
                    <a:pt x="3001282" y="2563472"/>
                  </a:lnTo>
                  <a:lnTo>
                    <a:pt x="3048022" y="2544959"/>
                  </a:lnTo>
                  <a:lnTo>
                    <a:pt x="3094760" y="2525447"/>
                  </a:lnTo>
                  <a:lnTo>
                    <a:pt x="3141495" y="2504933"/>
                  </a:lnTo>
                  <a:lnTo>
                    <a:pt x="3188228" y="2483419"/>
                  </a:lnTo>
                  <a:lnTo>
                    <a:pt x="3234960" y="2460904"/>
                  </a:lnTo>
                  <a:lnTo>
                    <a:pt x="3281689" y="2437389"/>
                  </a:lnTo>
                  <a:lnTo>
                    <a:pt x="3328416" y="2412872"/>
                  </a:lnTo>
                </a:path>
                <a:path w="4320540" h="3360420">
                  <a:moveTo>
                    <a:pt x="0" y="1680082"/>
                  </a:moveTo>
                  <a:lnTo>
                    <a:pt x="663" y="1638030"/>
                  </a:lnTo>
                  <a:lnTo>
                    <a:pt x="2643" y="1596231"/>
                  </a:lnTo>
                  <a:lnTo>
                    <a:pt x="5925" y="1554699"/>
                  </a:lnTo>
                  <a:lnTo>
                    <a:pt x="10493" y="1513444"/>
                  </a:lnTo>
                  <a:lnTo>
                    <a:pt x="16331" y="1472480"/>
                  </a:lnTo>
                  <a:lnTo>
                    <a:pt x="23423" y="1431817"/>
                  </a:lnTo>
                  <a:lnTo>
                    <a:pt x="31756" y="1391469"/>
                  </a:lnTo>
                  <a:lnTo>
                    <a:pt x="41312" y="1351447"/>
                  </a:lnTo>
                  <a:lnTo>
                    <a:pt x="52077" y="1311763"/>
                  </a:lnTo>
                  <a:lnTo>
                    <a:pt x="64034" y="1272429"/>
                  </a:lnTo>
                  <a:lnTo>
                    <a:pt x="77170" y="1233458"/>
                  </a:lnTo>
                  <a:lnTo>
                    <a:pt x="91467" y="1194860"/>
                  </a:lnTo>
                  <a:lnTo>
                    <a:pt x="106911" y="1156650"/>
                  </a:lnTo>
                  <a:lnTo>
                    <a:pt x="123486" y="1118837"/>
                  </a:lnTo>
                  <a:lnTo>
                    <a:pt x="141177" y="1081435"/>
                  </a:lnTo>
                  <a:lnTo>
                    <a:pt x="159968" y="1044455"/>
                  </a:lnTo>
                  <a:lnTo>
                    <a:pt x="179843" y="1007910"/>
                  </a:lnTo>
                  <a:lnTo>
                    <a:pt x="200788" y="971812"/>
                  </a:lnTo>
                  <a:lnTo>
                    <a:pt x="222786" y="936171"/>
                  </a:lnTo>
                  <a:lnTo>
                    <a:pt x="245823" y="901002"/>
                  </a:lnTo>
                  <a:lnTo>
                    <a:pt x="269883" y="866315"/>
                  </a:lnTo>
                  <a:lnTo>
                    <a:pt x="294950" y="832122"/>
                  </a:lnTo>
                  <a:lnTo>
                    <a:pt x="321009" y="798437"/>
                  </a:lnTo>
                  <a:lnTo>
                    <a:pt x="348044" y="765270"/>
                  </a:lnTo>
                  <a:lnTo>
                    <a:pt x="376040" y="732633"/>
                  </a:lnTo>
                  <a:lnTo>
                    <a:pt x="404982" y="700540"/>
                  </a:lnTo>
                  <a:lnTo>
                    <a:pt x="434853" y="669001"/>
                  </a:lnTo>
                  <a:lnTo>
                    <a:pt x="465639" y="638029"/>
                  </a:lnTo>
                  <a:lnTo>
                    <a:pt x="497324" y="607636"/>
                  </a:lnTo>
                  <a:lnTo>
                    <a:pt x="529893" y="577834"/>
                  </a:lnTo>
                  <a:lnTo>
                    <a:pt x="563330" y="548634"/>
                  </a:lnTo>
                  <a:lnTo>
                    <a:pt x="597619" y="520050"/>
                  </a:lnTo>
                  <a:lnTo>
                    <a:pt x="632745" y="492093"/>
                  </a:lnTo>
                  <a:lnTo>
                    <a:pt x="668693" y="464774"/>
                  </a:lnTo>
                  <a:lnTo>
                    <a:pt x="705448" y="438107"/>
                  </a:lnTo>
                  <a:lnTo>
                    <a:pt x="742992" y="412103"/>
                  </a:lnTo>
                  <a:lnTo>
                    <a:pt x="781313" y="386774"/>
                  </a:lnTo>
                  <a:lnTo>
                    <a:pt x="820393" y="362132"/>
                  </a:lnTo>
                  <a:lnTo>
                    <a:pt x="860217" y="338189"/>
                  </a:lnTo>
                  <a:lnTo>
                    <a:pt x="900770" y="314958"/>
                  </a:lnTo>
                  <a:lnTo>
                    <a:pt x="942036" y="292450"/>
                  </a:lnTo>
                  <a:lnTo>
                    <a:pt x="984000" y="270677"/>
                  </a:lnTo>
                  <a:lnTo>
                    <a:pt x="1026647" y="249651"/>
                  </a:lnTo>
                  <a:lnTo>
                    <a:pt x="1069960" y="229385"/>
                  </a:lnTo>
                  <a:lnTo>
                    <a:pt x="1113925" y="209890"/>
                  </a:lnTo>
                  <a:lnTo>
                    <a:pt x="1158526" y="191179"/>
                  </a:lnTo>
                  <a:lnTo>
                    <a:pt x="1203748" y="173263"/>
                  </a:lnTo>
                  <a:lnTo>
                    <a:pt x="1249574" y="156154"/>
                  </a:lnTo>
                  <a:lnTo>
                    <a:pt x="1295990" y="139865"/>
                  </a:lnTo>
                  <a:lnTo>
                    <a:pt x="1342980" y="124408"/>
                  </a:lnTo>
                  <a:lnTo>
                    <a:pt x="1390529" y="109794"/>
                  </a:lnTo>
                  <a:lnTo>
                    <a:pt x="1438621" y="96036"/>
                  </a:lnTo>
                  <a:lnTo>
                    <a:pt x="1487240" y="83145"/>
                  </a:lnTo>
                  <a:lnTo>
                    <a:pt x="1536372" y="71134"/>
                  </a:lnTo>
                  <a:lnTo>
                    <a:pt x="1586000" y="60015"/>
                  </a:lnTo>
                  <a:lnTo>
                    <a:pt x="1636110" y="49800"/>
                  </a:lnTo>
                  <a:lnTo>
                    <a:pt x="1686685" y="40500"/>
                  </a:lnTo>
                  <a:lnTo>
                    <a:pt x="1737711" y="32128"/>
                  </a:lnTo>
                  <a:lnTo>
                    <a:pt x="1789171" y="24696"/>
                  </a:lnTo>
                  <a:lnTo>
                    <a:pt x="1841051" y="18216"/>
                  </a:lnTo>
                  <a:lnTo>
                    <a:pt x="1893335" y="12700"/>
                  </a:lnTo>
                  <a:lnTo>
                    <a:pt x="1946007" y="8160"/>
                  </a:lnTo>
                  <a:lnTo>
                    <a:pt x="1999052" y="4608"/>
                  </a:lnTo>
                  <a:lnTo>
                    <a:pt x="2052454" y="2056"/>
                  </a:lnTo>
                  <a:lnTo>
                    <a:pt x="2106199" y="516"/>
                  </a:lnTo>
                  <a:lnTo>
                    <a:pt x="2160270" y="0"/>
                  </a:lnTo>
                  <a:lnTo>
                    <a:pt x="2214340" y="516"/>
                  </a:lnTo>
                  <a:lnTo>
                    <a:pt x="2268085" y="2056"/>
                  </a:lnTo>
                  <a:lnTo>
                    <a:pt x="2321487" y="4608"/>
                  </a:lnTo>
                  <a:lnTo>
                    <a:pt x="2374532" y="8160"/>
                  </a:lnTo>
                  <a:lnTo>
                    <a:pt x="2427204" y="12700"/>
                  </a:lnTo>
                  <a:lnTo>
                    <a:pt x="2479488" y="18216"/>
                  </a:lnTo>
                  <a:lnTo>
                    <a:pt x="2531368" y="24696"/>
                  </a:lnTo>
                  <a:lnTo>
                    <a:pt x="2582828" y="32128"/>
                  </a:lnTo>
                  <a:lnTo>
                    <a:pt x="2633854" y="40500"/>
                  </a:lnTo>
                  <a:lnTo>
                    <a:pt x="2684429" y="49800"/>
                  </a:lnTo>
                  <a:lnTo>
                    <a:pt x="2734539" y="60015"/>
                  </a:lnTo>
                  <a:lnTo>
                    <a:pt x="2784167" y="71134"/>
                  </a:lnTo>
                  <a:lnTo>
                    <a:pt x="2833299" y="83145"/>
                  </a:lnTo>
                  <a:lnTo>
                    <a:pt x="2881918" y="96036"/>
                  </a:lnTo>
                  <a:lnTo>
                    <a:pt x="2930010" y="109794"/>
                  </a:lnTo>
                  <a:lnTo>
                    <a:pt x="2977559" y="124408"/>
                  </a:lnTo>
                  <a:lnTo>
                    <a:pt x="3024549" y="139865"/>
                  </a:lnTo>
                  <a:lnTo>
                    <a:pt x="3070965" y="156154"/>
                  </a:lnTo>
                  <a:lnTo>
                    <a:pt x="3116791" y="173263"/>
                  </a:lnTo>
                  <a:lnTo>
                    <a:pt x="3162013" y="191179"/>
                  </a:lnTo>
                  <a:lnTo>
                    <a:pt x="3206614" y="209890"/>
                  </a:lnTo>
                  <a:lnTo>
                    <a:pt x="3250579" y="229385"/>
                  </a:lnTo>
                  <a:lnTo>
                    <a:pt x="3293892" y="249651"/>
                  </a:lnTo>
                  <a:lnTo>
                    <a:pt x="3336539" y="270677"/>
                  </a:lnTo>
                  <a:lnTo>
                    <a:pt x="3378503" y="292450"/>
                  </a:lnTo>
                  <a:lnTo>
                    <a:pt x="3419769" y="314958"/>
                  </a:lnTo>
                  <a:lnTo>
                    <a:pt x="3460322" y="338189"/>
                  </a:lnTo>
                  <a:lnTo>
                    <a:pt x="3500146" y="362132"/>
                  </a:lnTo>
                  <a:lnTo>
                    <a:pt x="3539226" y="386774"/>
                  </a:lnTo>
                  <a:lnTo>
                    <a:pt x="3577547" y="412103"/>
                  </a:lnTo>
                  <a:lnTo>
                    <a:pt x="3615091" y="438107"/>
                  </a:lnTo>
                  <a:lnTo>
                    <a:pt x="3651846" y="464774"/>
                  </a:lnTo>
                  <a:lnTo>
                    <a:pt x="3687794" y="492093"/>
                  </a:lnTo>
                  <a:lnTo>
                    <a:pt x="3722920" y="520050"/>
                  </a:lnTo>
                  <a:lnTo>
                    <a:pt x="3757209" y="548634"/>
                  </a:lnTo>
                  <a:lnTo>
                    <a:pt x="3790646" y="577834"/>
                  </a:lnTo>
                  <a:lnTo>
                    <a:pt x="3823215" y="607636"/>
                  </a:lnTo>
                  <a:lnTo>
                    <a:pt x="3854900" y="638029"/>
                  </a:lnTo>
                  <a:lnTo>
                    <a:pt x="3885686" y="669001"/>
                  </a:lnTo>
                  <a:lnTo>
                    <a:pt x="3915557" y="700540"/>
                  </a:lnTo>
                  <a:lnTo>
                    <a:pt x="3944499" y="732633"/>
                  </a:lnTo>
                  <a:lnTo>
                    <a:pt x="3972495" y="765270"/>
                  </a:lnTo>
                  <a:lnTo>
                    <a:pt x="3999530" y="798437"/>
                  </a:lnTo>
                  <a:lnTo>
                    <a:pt x="4025589" y="832122"/>
                  </a:lnTo>
                  <a:lnTo>
                    <a:pt x="4050656" y="866315"/>
                  </a:lnTo>
                  <a:lnTo>
                    <a:pt x="4074716" y="901002"/>
                  </a:lnTo>
                  <a:lnTo>
                    <a:pt x="4097753" y="936171"/>
                  </a:lnTo>
                  <a:lnTo>
                    <a:pt x="4119751" y="971812"/>
                  </a:lnTo>
                  <a:lnTo>
                    <a:pt x="4140696" y="1007910"/>
                  </a:lnTo>
                  <a:lnTo>
                    <a:pt x="4160571" y="1044455"/>
                  </a:lnTo>
                  <a:lnTo>
                    <a:pt x="4179362" y="1081435"/>
                  </a:lnTo>
                  <a:lnTo>
                    <a:pt x="4197053" y="1118837"/>
                  </a:lnTo>
                  <a:lnTo>
                    <a:pt x="4213628" y="1156650"/>
                  </a:lnTo>
                  <a:lnTo>
                    <a:pt x="4229072" y="1194860"/>
                  </a:lnTo>
                  <a:lnTo>
                    <a:pt x="4243369" y="1233458"/>
                  </a:lnTo>
                  <a:lnTo>
                    <a:pt x="4256505" y="1272429"/>
                  </a:lnTo>
                  <a:lnTo>
                    <a:pt x="4268462" y="1311763"/>
                  </a:lnTo>
                  <a:lnTo>
                    <a:pt x="4279227" y="1351447"/>
                  </a:lnTo>
                  <a:lnTo>
                    <a:pt x="4288783" y="1391469"/>
                  </a:lnTo>
                  <a:lnTo>
                    <a:pt x="4297116" y="1431817"/>
                  </a:lnTo>
                  <a:lnTo>
                    <a:pt x="4304208" y="1472480"/>
                  </a:lnTo>
                  <a:lnTo>
                    <a:pt x="4310046" y="1513444"/>
                  </a:lnTo>
                  <a:lnTo>
                    <a:pt x="4314614" y="1554699"/>
                  </a:lnTo>
                  <a:lnTo>
                    <a:pt x="4317896" y="1596231"/>
                  </a:lnTo>
                  <a:lnTo>
                    <a:pt x="4319876" y="1638030"/>
                  </a:lnTo>
                  <a:lnTo>
                    <a:pt x="4320540" y="1680082"/>
                  </a:lnTo>
                  <a:lnTo>
                    <a:pt x="4319876" y="1722141"/>
                  </a:lnTo>
                  <a:lnTo>
                    <a:pt x="4317896" y="1763945"/>
                  </a:lnTo>
                  <a:lnTo>
                    <a:pt x="4314614" y="1805483"/>
                  </a:lnTo>
                  <a:lnTo>
                    <a:pt x="4310046" y="1846743"/>
                  </a:lnTo>
                  <a:lnTo>
                    <a:pt x="4304208" y="1887712"/>
                  </a:lnTo>
                  <a:lnTo>
                    <a:pt x="4297116" y="1928379"/>
                  </a:lnTo>
                  <a:lnTo>
                    <a:pt x="4288783" y="1968732"/>
                  </a:lnTo>
                  <a:lnTo>
                    <a:pt x="4279227" y="2008759"/>
                  </a:lnTo>
                  <a:lnTo>
                    <a:pt x="4268462" y="2048447"/>
                  </a:lnTo>
                  <a:lnTo>
                    <a:pt x="4256505" y="2087785"/>
                  </a:lnTo>
                  <a:lnTo>
                    <a:pt x="4243369" y="2126761"/>
                  </a:lnTo>
                  <a:lnTo>
                    <a:pt x="4229072" y="2165362"/>
                  </a:lnTo>
                  <a:lnTo>
                    <a:pt x="4213628" y="2203577"/>
                  </a:lnTo>
                  <a:lnTo>
                    <a:pt x="4197053" y="2241393"/>
                  </a:lnTo>
                  <a:lnTo>
                    <a:pt x="4179362" y="2278798"/>
                  </a:lnTo>
                  <a:lnTo>
                    <a:pt x="4160571" y="2315781"/>
                  </a:lnTo>
                  <a:lnTo>
                    <a:pt x="4140696" y="2352330"/>
                  </a:lnTo>
                  <a:lnTo>
                    <a:pt x="4119751" y="2388432"/>
                  </a:lnTo>
                  <a:lnTo>
                    <a:pt x="4097753" y="2424075"/>
                  </a:lnTo>
                  <a:lnTo>
                    <a:pt x="4074716" y="2459247"/>
                  </a:lnTo>
                  <a:lnTo>
                    <a:pt x="4050656" y="2493937"/>
                  </a:lnTo>
                  <a:lnTo>
                    <a:pt x="4025589" y="2528132"/>
                  </a:lnTo>
                  <a:lnTo>
                    <a:pt x="3999530" y="2561820"/>
                  </a:lnTo>
                  <a:lnTo>
                    <a:pt x="3972495" y="2594990"/>
                  </a:lnTo>
                  <a:lnTo>
                    <a:pt x="3944499" y="2627628"/>
                  </a:lnTo>
                  <a:lnTo>
                    <a:pt x="3915557" y="2659724"/>
                  </a:lnTo>
                  <a:lnTo>
                    <a:pt x="3885686" y="2691265"/>
                  </a:lnTo>
                  <a:lnTo>
                    <a:pt x="3854900" y="2722239"/>
                  </a:lnTo>
                  <a:lnTo>
                    <a:pt x="3823215" y="2752634"/>
                  </a:lnTo>
                  <a:lnTo>
                    <a:pt x="3790646" y="2782438"/>
                  </a:lnTo>
                  <a:lnTo>
                    <a:pt x="3757209" y="2811639"/>
                  </a:lnTo>
                  <a:lnTo>
                    <a:pt x="3722920" y="2840225"/>
                  </a:lnTo>
                  <a:lnTo>
                    <a:pt x="3687794" y="2868183"/>
                  </a:lnTo>
                  <a:lnTo>
                    <a:pt x="3651846" y="2895503"/>
                  </a:lnTo>
                  <a:lnTo>
                    <a:pt x="3615091" y="2922172"/>
                  </a:lnTo>
                  <a:lnTo>
                    <a:pt x="3577547" y="2948177"/>
                  </a:lnTo>
                  <a:lnTo>
                    <a:pt x="3539226" y="2973507"/>
                  </a:lnTo>
                  <a:lnTo>
                    <a:pt x="3500146" y="2998150"/>
                  </a:lnTo>
                  <a:lnTo>
                    <a:pt x="3460322" y="3022094"/>
                  </a:lnTo>
                  <a:lnTo>
                    <a:pt x="3419769" y="3045326"/>
                  </a:lnTo>
                  <a:lnTo>
                    <a:pt x="3378503" y="3067835"/>
                  </a:lnTo>
                  <a:lnTo>
                    <a:pt x="3336539" y="3089609"/>
                  </a:lnTo>
                  <a:lnTo>
                    <a:pt x="3293892" y="3110635"/>
                  </a:lnTo>
                  <a:lnTo>
                    <a:pt x="3250579" y="3130902"/>
                  </a:lnTo>
                  <a:lnTo>
                    <a:pt x="3206614" y="3150398"/>
                  </a:lnTo>
                  <a:lnTo>
                    <a:pt x="3162013" y="3169110"/>
                  </a:lnTo>
                  <a:lnTo>
                    <a:pt x="3116791" y="3187026"/>
                  </a:lnTo>
                  <a:lnTo>
                    <a:pt x="3070965" y="3204135"/>
                  </a:lnTo>
                  <a:lnTo>
                    <a:pt x="3024549" y="3220425"/>
                  </a:lnTo>
                  <a:lnTo>
                    <a:pt x="2977559" y="3235882"/>
                  </a:lnTo>
                  <a:lnTo>
                    <a:pt x="2930010" y="3250496"/>
                  </a:lnTo>
                  <a:lnTo>
                    <a:pt x="2881918" y="3264255"/>
                  </a:lnTo>
                  <a:lnTo>
                    <a:pt x="2833299" y="3277146"/>
                  </a:lnTo>
                  <a:lnTo>
                    <a:pt x="2784167" y="3289157"/>
                  </a:lnTo>
                  <a:lnTo>
                    <a:pt x="2734539" y="3300276"/>
                  </a:lnTo>
                  <a:lnTo>
                    <a:pt x="2684429" y="3310492"/>
                  </a:lnTo>
                  <a:lnTo>
                    <a:pt x="2633854" y="3319791"/>
                  </a:lnTo>
                  <a:lnTo>
                    <a:pt x="2582828" y="3328163"/>
                  </a:lnTo>
                  <a:lnTo>
                    <a:pt x="2531368" y="3335595"/>
                  </a:lnTo>
                  <a:lnTo>
                    <a:pt x="2479488" y="3342075"/>
                  </a:lnTo>
                  <a:lnTo>
                    <a:pt x="2427204" y="3347592"/>
                  </a:lnTo>
                  <a:lnTo>
                    <a:pt x="2374532" y="3352132"/>
                  </a:lnTo>
                  <a:lnTo>
                    <a:pt x="2321487" y="3355684"/>
                  </a:lnTo>
                  <a:lnTo>
                    <a:pt x="2268085" y="3358236"/>
                  </a:lnTo>
                  <a:lnTo>
                    <a:pt x="2214340" y="3359776"/>
                  </a:lnTo>
                  <a:lnTo>
                    <a:pt x="2160270" y="3360292"/>
                  </a:lnTo>
                  <a:lnTo>
                    <a:pt x="2106199" y="3359776"/>
                  </a:lnTo>
                  <a:lnTo>
                    <a:pt x="2052454" y="3358236"/>
                  </a:lnTo>
                  <a:lnTo>
                    <a:pt x="1999052" y="3355684"/>
                  </a:lnTo>
                  <a:lnTo>
                    <a:pt x="1946007" y="3352132"/>
                  </a:lnTo>
                  <a:lnTo>
                    <a:pt x="1893335" y="3347592"/>
                  </a:lnTo>
                  <a:lnTo>
                    <a:pt x="1841051" y="3342075"/>
                  </a:lnTo>
                  <a:lnTo>
                    <a:pt x="1789171" y="3335595"/>
                  </a:lnTo>
                  <a:lnTo>
                    <a:pt x="1737711" y="3328163"/>
                  </a:lnTo>
                  <a:lnTo>
                    <a:pt x="1686685" y="3319791"/>
                  </a:lnTo>
                  <a:lnTo>
                    <a:pt x="1636110" y="3310492"/>
                  </a:lnTo>
                  <a:lnTo>
                    <a:pt x="1586000" y="3300276"/>
                  </a:lnTo>
                  <a:lnTo>
                    <a:pt x="1536372" y="3289157"/>
                  </a:lnTo>
                  <a:lnTo>
                    <a:pt x="1487240" y="3277146"/>
                  </a:lnTo>
                  <a:lnTo>
                    <a:pt x="1438621" y="3264255"/>
                  </a:lnTo>
                  <a:lnTo>
                    <a:pt x="1390529" y="3250496"/>
                  </a:lnTo>
                  <a:lnTo>
                    <a:pt x="1342980" y="3235882"/>
                  </a:lnTo>
                  <a:lnTo>
                    <a:pt x="1295990" y="3220425"/>
                  </a:lnTo>
                  <a:lnTo>
                    <a:pt x="1249574" y="3204135"/>
                  </a:lnTo>
                  <a:lnTo>
                    <a:pt x="1203748" y="3187026"/>
                  </a:lnTo>
                  <a:lnTo>
                    <a:pt x="1158526" y="3169110"/>
                  </a:lnTo>
                  <a:lnTo>
                    <a:pt x="1113925" y="3150398"/>
                  </a:lnTo>
                  <a:lnTo>
                    <a:pt x="1069960" y="3130902"/>
                  </a:lnTo>
                  <a:lnTo>
                    <a:pt x="1026647" y="3110635"/>
                  </a:lnTo>
                  <a:lnTo>
                    <a:pt x="984000" y="3089609"/>
                  </a:lnTo>
                  <a:lnTo>
                    <a:pt x="942036" y="3067835"/>
                  </a:lnTo>
                  <a:lnTo>
                    <a:pt x="900770" y="3045326"/>
                  </a:lnTo>
                  <a:lnTo>
                    <a:pt x="860217" y="3022094"/>
                  </a:lnTo>
                  <a:lnTo>
                    <a:pt x="820393" y="2998150"/>
                  </a:lnTo>
                  <a:lnTo>
                    <a:pt x="781313" y="2973507"/>
                  </a:lnTo>
                  <a:lnTo>
                    <a:pt x="742992" y="2948177"/>
                  </a:lnTo>
                  <a:lnTo>
                    <a:pt x="705448" y="2922172"/>
                  </a:lnTo>
                  <a:lnTo>
                    <a:pt x="668693" y="2895503"/>
                  </a:lnTo>
                  <a:lnTo>
                    <a:pt x="632745" y="2868183"/>
                  </a:lnTo>
                  <a:lnTo>
                    <a:pt x="597619" y="2840225"/>
                  </a:lnTo>
                  <a:lnTo>
                    <a:pt x="563330" y="2811639"/>
                  </a:lnTo>
                  <a:lnTo>
                    <a:pt x="529893" y="2782438"/>
                  </a:lnTo>
                  <a:lnTo>
                    <a:pt x="497324" y="2752634"/>
                  </a:lnTo>
                  <a:lnTo>
                    <a:pt x="465639" y="2722239"/>
                  </a:lnTo>
                  <a:lnTo>
                    <a:pt x="434853" y="2691265"/>
                  </a:lnTo>
                  <a:lnTo>
                    <a:pt x="404982" y="2659724"/>
                  </a:lnTo>
                  <a:lnTo>
                    <a:pt x="376040" y="2627628"/>
                  </a:lnTo>
                  <a:lnTo>
                    <a:pt x="348044" y="2594990"/>
                  </a:lnTo>
                  <a:lnTo>
                    <a:pt x="321009" y="2561820"/>
                  </a:lnTo>
                  <a:lnTo>
                    <a:pt x="294950" y="2528132"/>
                  </a:lnTo>
                  <a:lnTo>
                    <a:pt x="269883" y="2493937"/>
                  </a:lnTo>
                  <a:lnTo>
                    <a:pt x="245823" y="2459247"/>
                  </a:lnTo>
                  <a:lnTo>
                    <a:pt x="222786" y="2424075"/>
                  </a:lnTo>
                  <a:lnTo>
                    <a:pt x="200788" y="2388432"/>
                  </a:lnTo>
                  <a:lnTo>
                    <a:pt x="179843" y="2352330"/>
                  </a:lnTo>
                  <a:lnTo>
                    <a:pt x="159968" y="2315781"/>
                  </a:lnTo>
                  <a:lnTo>
                    <a:pt x="141177" y="2278798"/>
                  </a:lnTo>
                  <a:lnTo>
                    <a:pt x="123486" y="2241393"/>
                  </a:lnTo>
                  <a:lnTo>
                    <a:pt x="106911" y="2203577"/>
                  </a:lnTo>
                  <a:lnTo>
                    <a:pt x="91467" y="2165362"/>
                  </a:lnTo>
                  <a:lnTo>
                    <a:pt x="77170" y="2126761"/>
                  </a:lnTo>
                  <a:lnTo>
                    <a:pt x="64034" y="2087785"/>
                  </a:lnTo>
                  <a:lnTo>
                    <a:pt x="52077" y="2048447"/>
                  </a:lnTo>
                  <a:lnTo>
                    <a:pt x="41312" y="2008759"/>
                  </a:lnTo>
                  <a:lnTo>
                    <a:pt x="31756" y="1968732"/>
                  </a:lnTo>
                  <a:lnTo>
                    <a:pt x="23423" y="1928379"/>
                  </a:lnTo>
                  <a:lnTo>
                    <a:pt x="16331" y="1887712"/>
                  </a:lnTo>
                  <a:lnTo>
                    <a:pt x="10493" y="1846743"/>
                  </a:lnTo>
                  <a:lnTo>
                    <a:pt x="5925" y="1805483"/>
                  </a:lnTo>
                  <a:lnTo>
                    <a:pt x="2643" y="1763945"/>
                  </a:lnTo>
                  <a:lnTo>
                    <a:pt x="663" y="1722141"/>
                  </a:lnTo>
                  <a:lnTo>
                    <a:pt x="0" y="1680082"/>
                  </a:lnTo>
                  <a:close/>
                </a:path>
              </a:pathLst>
            </a:custGeom>
            <a:ln w="9525">
              <a:solidFill>
                <a:srgbClr val="CCB4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8372" y="663146"/>
            <a:ext cx="10495915" cy="5073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91465">
              <a:lnSpc>
                <a:spcPct val="114999"/>
              </a:lnSpc>
              <a:spcBef>
                <a:spcPts val="95"/>
              </a:spcBef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Madame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K,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71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ans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été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opérée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il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25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jours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pour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une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gonarthrose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droite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invalidante.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Il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lui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été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fait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arthroplastie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par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prothèse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totale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genou.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Elle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consulte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pour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douleur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persistante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et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retard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cicatrisation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plaie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opératoire.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14999"/>
              </a:lnSpc>
            </a:pP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L’examen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trouve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température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à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37,2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°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C,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impossibilité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de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marcher,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un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genou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droit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globalement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tuméfié</a:t>
            </a:r>
            <a:r>
              <a:rPr sz="32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chaud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à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la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palpation.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moindre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mobilisation</a:t>
            </a:r>
            <a:r>
              <a:rPr sz="32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passive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extrêmement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douloureuse.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plaie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opératoire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humide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faisant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sortir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des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sérosités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jaunâtres.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test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choc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patellaire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3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positif.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8372" y="738377"/>
            <a:ext cx="9652635" cy="4765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37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diagnostic</a:t>
            </a:r>
            <a:r>
              <a:rPr sz="37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suspecté</a:t>
            </a:r>
            <a:r>
              <a:rPr sz="37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37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premier</a:t>
            </a:r>
            <a:r>
              <a:rPr sz="37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lieu</a:t>
            </a:r>
            <a:r>
              <a:rPr sz="3700" spc="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spc="-20" dirty="0">
                <a:solidFill>
                  <a:srgbClr val="FFFFFF"/>
                </a:solidFill>
                <a:latin typeface="Times New Roman"/>
                <a:cs typeface="Times New Roman"/>
              </a:rPr>
              <a:t>est:</a:t>
            </a:r>
            <a:endParaRPr sz="3700" dirty="0">
              <a:latin typeface="Times New Roman"/>
              <a:cs typeface="Times New Roman"/>
            </a:endParaRPr>
          </a:p>
          <a:p>
            <a:pPr marL="473709" indent="-461009">
              <a:lnSpc>
                <a:spcPct val="100000"/>
              </a:lnSpc>
              <a:spcBef>
                <a:spcPts val="2905"/>
              </a:spcBef>
              <a:buSzPct val="97297"/>
              <a:buAutoNum type="alphaUcPeriod"/>
              <a:tabLst>
                <a:tab pos="473709" algn="l"/>
              </a:tabLst>
            </a:pP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7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infection</a:t>
            </a:r>
            <a:r>
              <a:rPr sz="37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superficielle</a:t>
            </a:r>
            <a:r>
              <a:rPr sz="37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37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37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plaie</a:t>
            </a:r>
            <a:r>
              <a:rPr sz="37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spc="-10" dirty="0">
                <a:solidFill>
                  <a:srgbClr val="FFFFFF"/>
                </a:solidFill>
                <a:latin typeface="Times New Roman"/>
                <a:cs typeface="Times New Roman"/>
              </a:rPr>
              <a:t>opératoire</a:t>
            </a:r>
            <a:endParaRPr sz="37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610"/>
              </a:spcBef>
              <a:buSzPct val="97297"/>
              <a:buAutoNum type="alphaUcPeriod"/>
              <a:tabLst>
                <a:tab pos="468630" algn="l"/>
              </a:tabLst>
            </a:pP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700" spc="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bursite</a:t>
            </a:r>
            <a:r>
              <a:rPr sz="3700" spc="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pré-patellaire</a:t>
            </a:r>
            <a:r>
              <a:rPr sz="3700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spc="-10" dirty="0">
                <a:solidFill>
                  <a:srgbClr val="FFFFFF"/>
                </a:solidFill>
                <a:latin typeface="Times New Roman"/>
                <a:cs typeface="Times New Roman"/>
              </a:rPr>
              <a:t>infectée</a:t>
            </a:r>
            <a:endParaRPr sz="3700" dirty="0"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1610"/>
              </a:spcBef>
              <a:buSzPct val="97297"/>
              <a:buAutoNum type="alphaUcPeriod"/>
              <a:tabLst>
                <a:tab pos="468630" algn="l"/>
              </a:tabLst>
            </a:pP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700" spc="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dermo-</a:t>
            </a:r>
            <a:r>
              <a:rPr sz="3700" spc="-10" dirty="0">
                <a:solidFill>
                  <a:srgbClr val="FFFFFF"/>
                </a:solidFill>
                <a:latin typeface="Times New Roman"/>
                <a:cs typeface="Times New Roman"/>
              </a:rPr>
              <a:t>hypodermite</a:t>
            </a:r>
            <a:endParaRPr sz="3700" dirty="0">
              <a:latin typeface="Times New Roman"/>
              <a:cs typeface="Times New Roman"/>
            </a:endParaRPr>
          </a:p>
          <a:p>
            <a:pPr marL="473709" indent="-461009">
              <a:lnSpc>
                <a:spcPct val="100000"/>
              </a:lnSpc>
              <a:spcBef>
                <a:spcPts val="1610"/>
              </a:spcBef>
              <a:buSzPct val="97297"/>
              <a:buAutoNum type="alphaUcPeriod"/>
              <a:tabLst>
                <a:tab pos="473709" algn="l"/>
              </a:tabLst>
            </a:pPr>
            <a:r>
              <a:rPr sz="3700" dirty="0">
                <a:solidFill>
                  <a:srgbClr val="FF0000"/>
                </a:solidFill>
                <a:latin typeface="Times New Roman"/>
                <a:cs typeface="Times New Roman"/>
              </a:rPr>
              <a:t>Une</a:t>
            </a:r>
            <a:r>
              <a:rPr sz="3700" spc="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0000"/>
                </a:solidFill>
                <a:latin typeface="Times New Roman"/>
                <a:cs typeface="Times New Roman"/>
              </a:rPr>
              <a:t>arthrite</a:t>
            </a:r>
            <a:r>
              <a:rPr sz="3700" spc="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0000"/>
                </a:solidFill>
                <a:latin typeface="Times New Roman"/>
                <a:cs typeface="Times New Roman"/>
              </a:rPr>
              <a:t>septique</a:t>
            </a:r>
            <a:r>
              <a:rPr sz="3700" spc="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0000"/>
                </a:solidFill>
                <a:latin typeface="Times New Roman"/>
                <a:cs typeface="Times New Roman"/>
              </a:rPr>
              <a:t>sur</a:t>
            </a:r>
            <a:r>
              <a:rPr sz="37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0000"/>
                </a:solidFill>
                <a:latin typeface="Times New Roman"/>
                <a:cs typeface="Times New Roman"/>
              </a:rPr>
              <a:t>prothèse</a:t>
            </a:r>
            <a:r>
              <a:rPr sz="3700" spc="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700" spc="-10" dirty="0">
                <a:solidFill>
                  <a:srgbClr val="FF0000"/>
                </a:solidFill>
                <a:latin typeface="Times New Roman"/>
                <a:cs typeface="Times New Roman"/>
              </a:rPr>
              <a:t>articulaire</a:t>
            </a:r>
            <a:endParaRPr sz="37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8630" indent="-455930">
              <a:lnSpc>
                <a:spcPct val="100000"/>
              </a:lnSpc>
              <a:spcBef>
                <a:spcPts val="2905"/>
              </a:spcBef>
              <a:buSzPct val="97297"/>
              <a:buAutoNum type="alphaUcPeriod"/>
              <a:tabLst>
                <a:tab pos="468630" algn="l"/>
              </a:tabLst>
            </a:pP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37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dirty="0">
                <a:solidFill>
                  <a:srgbClr val="FFFFFF"/>
                </a:solidFill>
                <a:latin typeface="Times New Roman"/>
                <a:cs typeface="Times New Roman"/>
              </a:rPr>
              <a:t>thrombophlébite</a:t>
            </a:r>
            <a:r>
              <a:rPr sz="37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700" spc="-10" dirty="0">
                <a:solidFill>
                  <a:srgbClr val="FFFFFF"/>
                </a:solidFill>
                <a:latin typeface="Times New Roman"/>
                <a:cs typeface="Times New Roman"/>
              </a:rPr>
              <a:t>surale</a:t>
            </a:r>
            <a:endParaRPr sz="37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8372" y="672292"/>
            <a:ext cx="10338435" cy="450215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2650" spc="-20" dirty="0">
                <a:solidFill>
                  <a:srgbClr val="FFFFFF"/>
                </a:solidFill>
                <a:latin typeface="Times New Roman"/>
                <a:cs typeface="Times New Roman"/>
              </a:rPr>
              <a:t>L’examen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 complémentaire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à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demander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en premier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lieu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pour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confirmer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25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endParaRPr sz="2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diagnostic </a:t>
            </a:r>
            <a:r>
              <a:rPr sz="2650" spc="-20" dirty="0">
                <a:solidFill>
                  <a:srgbClr val="FFFFFF"/>
                </a:solidFill>
                <a:latin typeface="Times New Roman"/>
                <a:cs typeface="Times New Roman"/>
              </a:rPr>
              <a:t>est:</a:t>
            </a:r>
            <a:endParaRPr sz="2650" dirty="0">
              <a:latin typeface="Times New Roman"/>
              <a:cs typeface="Times New Roman"/>
            </a:endParaRPr>
          </a:p>
          <a:p>
            <a:pPr marL="553085" indent="-540385">
              <a:lnSpc>
                <a:spcPct val="100000"/>
              </a:lnSpc>
              <a:spcBef>
                <a:spcPts val="2440"/>
              </a:spcBef>
              <a:buAutoNum type="alphaUcPeriod"/>
              <a:tabLst>
                <a:tab pos="55308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radiographie</a:t>
            </a:r>
            <a:r>
              <a:rPr sz="26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genou</a:t>
            </a:r>
            <a:endParaRPr sz="265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140"/>
              </a:spcBef>
              <a:buAutoNum type="alphaUcPeriod"/>
              <a:tabLst>
                <a:tab pos="46926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échographie</a:t>
            </a:r>
            <a:r>
              <a:rPr sz="26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genou</a:t>
            </a:r>
            <a:r>
              <a:rPr sz="26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à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recherche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d’une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collection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profonde</a:t>
            </a:r>
            <a:endParaRPr sz="265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140"/>
              </a:spcBef>
              <a:buAutoNum type="alphaUcPeriod"/>
              <a:tabLst>
                <a:tab pos="46926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 dosage</a:t>
            </a:r>
            <a:r>
              <a:rPr sz="26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25" dirty="0">
                <a:solidFill>
                  <a:srgbClr val="FFFFFF"/>
                </a:solidFill>
                <a:latin typeface="Times New Roman"/>
                <a:cs typeface="Times New Roman"/>
              </a:rPr>
              <a:t>CRP</a:t>
            </a:r>
            <a:endParaRPr sz="2650" dirty="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15799"/>
              </a:lnSpc>
              <a:spcBef>
                <a:spcPts val="640"/>
              </a:spcBef>
              <a:buAutoNum type="alphaUcPeriod"/>
              <a:tabLst>
                <a:tab pos="469900" algn="l"/>
                <a:tab pos="553085" algn="l"/>
              </a:tabLst>
            </a:pP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	Une</a:t>
            </a:r>
            <a:r>
              <a:rPr sz="26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ponction</a:t>
            </a:r>
            <a:r>
              <a:rPr sz="265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du</a:t>
            </a:r>
            <a:r>
              <a:rPr sz="26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liquide</a:t>
            </a:r>
            <a:r>
              <a:rPr sz="26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articulaire</a:t>
            </a:r>
            <a:r>
              <a:rPr sz="265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avec</a:t>
            </a:r>
            <a:r>
              <a:rPr sz="26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analyse</a:t>
            </a:r>
            <a:r>
              <a:rPr sz="2650" spc="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0000"/>
                </a:solidFill>
                <a:latin typeface="Times New Roman"/>
                <a:cs typeface="Times New Roman"/>
              </a:rPr>
              <a:t>cyto-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bactériologique</a:t>
            </a:r>
            <a:r>
              <a:rPr sz="265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spc="-25" dirty="0">
                <a:solidFill>
                  <a:srgbClr val="FF0000"/>
                </a:solidFill>
                <a:latin typeface="Times New Roman"/>
                <a:cs typeface="Times New Roman"/>
              </a:rPr>
              <a:t>et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biochimique</a:t>
            </a:r>
            <a:r>
              <a:rPr sz="26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du</a:t>
            </a:r>
            <a:r>
              <a:rPr sz="26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liquide </a:t>
            </a:r>
            <a:r>
              <a:rPr sz="2650" spc="-10" dirty="0">
                <a:solidFill>
                  <a:srgbClr val="FF0000"/>
                </a:solidFill>
                <a:latin typeface="Times New Roman"/>
                <a:cs typeface="Times New Roman"/>
              </a:rPr>
              <a:t>ponctionné</a:t>
            </a:r>
            <a:endParaRPr sz="265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2435"/>
              </a:spcBef>
              <a:buAutoNum type="alphaUcPeriod"/>
              <a:tabLst>
                <a:tab pos="46926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imagerie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par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résonnance</a:t>
            </a:r>
            <a:r>
              <a:rPr sz="265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magnétique</a:t>
            </a:r>
            <a:r>
              <a:rPr sz="26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du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genou</a:t>
            </a:r>
            <a:endParaRPr sz="26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8372" y="672292"/>
            <a:ext cx="10413365" cy="543814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diagnostic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d’une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arthrite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septique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sur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prothèse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genou</a:t>
            </a:r>
            <a:r>
              <a:rPr sz="26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été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retenu </a:t>
            </a:r>
            <a:r>
              <a:rPr sz="2650" spc="-20" dirty="0">
                <a:solidFill>
                  <a:srgbClr val="FFFFFF"/>
                </a:solidFill>
                <a:latin typeface="Times New Roman"/>
                <a:cs typeface="Times New Roman"/>
              </a:rPr>
              <a:t>pour</a:t>
            </a:r>
            <a:endParaRPr sz="2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Madame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K.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stratégie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thérapeutique adaptée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urgence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20" dirty="0">
                <a:solidFill>
                  <a:srgbClr val="FFFFFF"/>
                </a:solidFill>
                <a:latin typeface="Times New Roman"/>
                <a:cs typeface="Times New Roman"/>
              </a:rPr>
              <a:t>est:</a:t>
            </a:r>
            <a:endParaRPr sz="2650" dirty="0">
              <a:latin typeface="Times New Roman"/>
              <a:cs typeface="Times New Roman"/>
            </a:endParaRPr>
          </a:p>
          <a:p>
            <a:pPr marL="469900" marR="1421130" indent="-457200">
              <a:lnSpc>
                <a:spcPct val="115799"/>
              </a:lnSpc>
              <a:spcBef>
                <a:spcPts val="1935"/>
              </a:spcBef>
              <a:buAutoNum type="alphaUcPeriod"/>
              <a:tabLst>
                <a:tab pos="469900" algn="l"/>
                <a:tab pos="55308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	une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antibiothérapie intraveineuse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à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large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spectre à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commencer immédiatement</a:t>
            </a:r>
            <a:endParaRPr sz="265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145"/>
              </a:spcBef>
              <a:buAutoNum type="alphaUcPeriod"/>
              <a:tabLst>
                <a:tab pos="46926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drainage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chirurgical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suivi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d’une</a:t>
            </a:r>
            <a:r>
              <a:rPr sz="265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antibiothérapie</a:t>
            </a:r>
            <a:r>
              <a:rPr sz="26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prolongée</a:t>
            </a:r>
            <a:endParaRPr sz="265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140"/>
              </a:spcBef>
              <a:buAutoNum type="alphaUcPeriod"/>
              <a:tabLst>
                <a:tab pos="469265" algn="l"/>
              </a:tabLst>
            </a:pP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Un</a:t>
            </a:r>
            <a:r>
              <a:rPr sz="265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drainage</a:t>
            </a:r>
            <a:r>
              <a:rPr sz="26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chirurgical avec</a:t>
            </a:r>
            <a:r>
              <a:rPr sz="26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ablation</a:t>
            </a:r>
            <a:r>
              <a:rPr sz="265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sz="265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la</a:t>
            </a:r>
            <a:r>
              <a:rPr sz="265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prothèse</a:t>
            </a:r>
            <a:r>
              <a:rPr sz="265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suivis</a:t>
            </a:r>
            <a:r>
              <a:rPr sz="265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0000"/>
                </a:solidFill>
                <a:latin typeface="Times New Roman"/>
                <a:cs typeface="Times New Roman"/>
              </a:rPr>
              <a:t>d’une</a:t>
            </a:r>
            <a:endParaRPr sz="265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00"/>
              </a:spcBef>
            </a:pPr>
            <a:r>
              <a:rPr sz="2650" dirty="0">
                <a:solidFill>
                  <a:srgbClr val="FF0000"/>
                </a:solidFill>
                <a:latin typeface="Times New Roman"/>
                <a:cs typeface="Times New Roman"/>
              </a:rPr>
              <a:t>antibiothérapie</a:t>
            </a:r>
            <a:r>
              <a:rPr sz="265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0000"/>
                </a:solidFill>
                <a:latin typeface="Times New Roman"/>
                <a:cs typeface="Times New Roman"/>
              </a:rPr>
              <a:t>prolongée</a:t>
            </a:r>
            <a:endParaRPr sz="265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9900" marR="38100" indent="-457200">
              <a:lnSpc>
                <a:spcPct val="115500"/>
              </a:lnSpc>
              <a:spcBef>
                <a:spcPts val="655"/>
              </a:spcBef>
              <a:buAutoNum type="alphaUcPeriod" startAt="4"/>
              <a:tabLst>
                <a:tab pos="469900" algn="l"/>
                <a:tab pos="55308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	une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antibiothérapie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par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voie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orale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avec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contrôle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clinique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la plaie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20" dirty="0">
                <a:solidFill>
                  <a:srgbClr val="FFFFFF"/>
                </a:solidFill>
                <a:latin typeface="Times New Roman"/>
                <a:cs typeface="Times New Roman"/>
              </a:rPr>
              <a:t>dans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semaine</a:t>
            </a:r>
            <a:endParaRPr sz="2650" dirty="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2450"/>
              </a:spcBef>
              <a:buAutoNum type="alphaUcPeriod" startAt="4"/>
              <a:tabLst>
                <a:tab pos="46926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Des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ponctions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quotidiennes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liquide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articulaire</a:t>
            </a:r>
            <a:endParaRPr sz="26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87723" y="1609344"/>
            <a:ext cx="4411980" cy="3450590"/>
            <a:chOff x="3887723" y="1609344"/>
            <a:chExt cx="4411980" cy="34505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7723" y="1609344"/>
              <a:ext cx="4411980" cy="345033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5729" y="1636522"/>
              <a:ext cx="4320540" cy="336029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935729" y="1636522"/>
              <a:ext cx="4320540" cy="3360420"/>
            </a:xfrm>
            <a:custGeom>
              <a:avLst/>
              <a:gdLst/>
              <a:ahLst/>
              <a:cxnLst/>
              <a:rect l="l" t="t" r="r" b="b"/>
              <a:pathLst>
                <a:path w="4320540" h="3360420">
                  <a:moveTo>
                    <a:pt x="1243203" y="1177670"/>
                  </a:moveTo>
                  <a:lnTo>
                    <a:pt x="1249144" y="1137545"/>
                  </a:lnTo>
                  <a:lnTo>
                    <a:pt x="1266068" y="1100710"/>
                  </a:lnTo>
                  <a:lnTo>
                    <a:pt x="1292628" y="1068216"/>
                  </a:lnTo>
                  <a:lnTo>
                    <a:pt x="1327474" y="1041113"/>
                  </a:lnTo>
                  <a:lnTo>
                    <a:pt x="1369258" y="1020453"/>
                  </a:lnTo>
                  <a:lnTo>
                    <a:pt x="1416632" y="1007287"/>
                  </a:lnTo>
                  <a:lnTo>
                    <a:pt x="1468247" y="1002664"/>
                  </a:lnTo>
                  <a:lnTo>
                    <a:pt x="1519814" y="1007287"/>
                  </a:lnTo>
                  <a:lnTo>
                    <a:pt x="1567154" y="1020453"/>
                  </a:lnTo>
                  <a:lnTo>
                    <a:pt x="1608915" y="1041113"/>
                  </a:lnTo>
                  <a:lnTo>
                    <a:pt x="1643748" y="1068216"/>
                  </a:lnTo>
                  <a:lnTo>
                    <a:pt x="1670301" y="1100710"/>
                  </a:lnTo>
                  <a:lnTo>
                    <a:pt x="1687223" y="1137545"/>
                  </a:lnTo>
                  <a:lnTo>
                    <a:pt x="1693164" y="1177670"/>
                  </a:lnTo>
                  <a:lnTo>
                    <a:pt x="1687223" y="1217796"/>
                  </a:lnTo>
                  <a:lnTo>
                    <a:pt x="1670301" y="1254631"/>
                  </a:lnTo>
                  <a:lnTo>
                    <a:pt x="1643748" y="1287125"/>
                  </a:lnTo>
                  <a:lnTo>
                    <a:pt x="1608915" y="1314228"/>
                  </a:lnTo>
                  <a:lnTo>
                    <a:pt x="1567154" y="1334888"/>
                  </a:lnTo>
                  <a:lnTo>
                    <a:pt x="1519814" y="1348054"/>
                  </a:lnTo>
                  <a:lnTo>
                    <a:pt x="1468247" y="1352677"/>
                  </a:lnTo>
                  <a:lnTo>
                    <a:pt x="1416632" y="1348054"/>
                  </a:lnTo>
                  <a:lnTo>
                    <a:pt x="1369258" y="1334888"/>
                  </a:lnTo>
                  <a:lnTo>
                    <a:pt x="1327474" y="1314228"/>
                  </a:lnTo>
                  <a:lnTo>
                    <a:pt x="1292628" y="1287125"/>
                  </a:lnTo>
                  <a:lnTo>
                    <a:pt x="1266068" y="1254631"/>
                  </a:lnTo>
                  <a:lnTo>
                    <a:pt x="1249144" y="1217796"/>
                  </a:lnTo>
                  <a:lnTo>
                    <a:pt x="1243203" y="1177670"/>
                  </a:lnTo>
                </a:path>
                <a:path w="4320540" h="3360420">
                  <a:moveTo>
                    <a:pt x="2627376" y="1177670"/>
                  </a:moveTo>
                  <a:lnTo>
                    <a:pt x="2633316" y="1137545"/>
                  </a:lnTo>
                  <a:lnTo>
                    <a:pt x="2650238" y="1100710"/>
                  </a:lnTo>
                  <a:lnTo>
                    <a:pt x="2676791" y="1068216"/>
                  </a:lnTo>
                  <a:lnTo>
                    <a:pt x="2711624" y="1041113"/>
                  </a:lnTo>
                  <a:lnTo>
                    <a:pt x="2753385" y="1020453"/>
                  </a:lnTo>
                  <a:lnTo>
                    <a:pt x="2800725" y="1007287"/>
                  </a:lnTo>
                  <a:lnTo>
                    <a:pt x="2852293" y="1002664"/>
                  </a:lnTo>
                  <a:lnTo>
                    <a:pt x="2903907" y="1007287"/>
                  </a:lnTo>
                  <a:lnTo>
                    <a:pt x="2951281" y="1020453"/>
                  </a:lnTo>
                  <a:lnTo>
                    <a:pt x="2993065" y="1041113"/>
                  </a:lnTo>
                  <a:lnTo>
                    <a:pt x="3027911" y="1068216"/>
                  </a:lnTo>
                  <a:lnTo>
                    <a:pt x="3054471" y="1100710"/>
                  </a:lnTo>
                  <a:lnTo>
                    <a:pt x="3071395" y="1137545"/>
                  </a:lnTo>
                  <a:lnTo>
                    <a:pt x="3077337" y="1177670"/>
                  </a:lnTo>
                  <a:lnTo>
                    <a:pt x="3071395" y="1217796"/>
                  </a:lnTo>
                  <a:lnTo>
                    <a:pt x="3054471" y="1254631"/>
                  </a:lnTo>
                  <a:lnTo>
                    <a:pt x="3027911" y="1287125"/>
                  </a:lnTo>
                  <a:lnTo>
                    <a:pt x="2993065" y="1314228"/>
                  </a:lnTo>
                  <a:lnTo>
                    <a:pt x="2951281" y="1334888"/>
                  </a:lnTo>
                  <a:lnTo>
                    <a:pt x="2903907" y="1348054"/>
                  </a:lnTo>
                  <a:lnTo>
                    <a:pt x="2852293" y="1352677"/>
                  </a:lnTo>
                  <a:lnTo>
                    <a:pt x="2800725" y="1348054"/>
                  </a:lnTo>
                  <a:lnTo>
                    <a:pt x="2753385" y="1334888"/>
                  </a:lnTo>
                  <a:lnTo>
                    <a:pt x="2711624" y="1314228"/>
                  </a:lnTo>
                  <a:lnTo>
                    <a:pt x="2676791" y="1287125"/>
                  </a:lnTo>
                  <a:lnTo>
                    <a:pt x="2650238" y="1254631"/>
                  </a:lnTo>
                  <a:lnTo>
                    <a:pt x="2633316" y="1217796"/>
                  </a:lnTo>
                  <a:lnTo>
                    <a:pt x="2627376" y="1177670"/>
                  </a:lnTo>
                </a:path>
                <a:path w="4320540" h="3360420">
                  <a:moveTo>
                    <a:pt x="989457" y="2412872"/>
                  </a:moveTo>
                  <a:lnTo>
                    <a:pt x="1036288" y="2437389"/>
                  </a:lnTo>
                  <a:lnTo>
                    <a:pt x="1083117" y="2460904"/>
                  </a:lnTo>
                  <a:lnTo>
                    <a:pt x="1129944" y="2483419"/>
                  </a:lnTo>
                  <a:lnTo>
                    <a:pt x="1176770" y="2504933"/>
                  </a:lnTo>
                  <a:lnTo>
                    <a:pt x="1223592" y="2525447"/>
                  </a:lnTo>
                  <a:lnTo>
                    <a:pt x="1270413" y="2544959"/>
                  </a:lnTo>
                  <a:lnTo>
                    <a:pt x="1317232" y="2563472"/>
                  </a:lnTo>
                  <a:lnTo>
                    <a:pt x="1364048" y="2580983"/>
                  </a:lnTo>
                  <a:lnTo>
                    <a:pt x="1410863" y="2597494"/>
                  </a:lnTo>
                  <a:lnTo>
                    <a:pt x="1457675" y="2613004"/>
                  </a:lnTo>
                  <a:lnTo>
                    <a:pt x="1504485" y="2627514"/>
                  </a:lnTo>
                  <a:lnTo>
                    <a:pt x="1551293" y="2641023"/>
                  </a:lnTo>
                  <a:lnTo>
                    <a:pt x="1598099" y="2653531"/>
                  </a:lnTo>
                  <a:lnTo>
                    <a:pt x="1644903" y="2665038"/>
                  </a:lnTo>
                  <a:lnTo>
                    <a:pt x="1691704" y="2675545"/>
                  </a:lnTo>
                  <a:lnTo>
                    <a:pt x="1738504" y="2685052"/>
                  </a:lnTo>
                  <a:lnTo>
                    <a:pt x="1785301" y="2693557"/>
                  </a:lnTo>
                  <a:lnTo>
                    <a:pt x="1832096" y="2701062"/>
                  </a:lnTo>
                  <a:lnTo>
                    <a:pt x="1878889" y="2707566"/>
                  </a:lnTo>
                  <a:lnTo>
                    <a:pt x="1925680" y="2713070"/>
                  </a:lnTo>
                  <a:lnTo>
                    <a:pt x="1972469" y="2717573"/>
                  </a:lnTo>
                  <a:lnTo>
                    <a:pt x="2019256" y="2721075"/>
                  </a:lnTo>
                  <a:lnTo>
                    <a:pt x="2066040" y="2723577"/>
                  </a:lnTo>
                  <a:lnTo>
                    <a:pt x="2112823" y="2725078"/>
                  </a:lnTo>
                  <a:lnTo>
                    <a:pt x="2159603" y="2725578"/>
                  </a:lnTo>
                  <a:lnTo>
                    <a:pt x="2206381" y="2725078"/>
                  </a:lnTo>
                  <a:lnTo>
                    <a:pt x="2253157" y="2723577"/>
                  </a:lnTo>
                  <a:lnTo>
                    <a:pt x="2299931" y="2721075"/>
                  </a:lnTo>
                  <a:lnTo>
                    <a:pt x="2346702" y="2717573"/>
                  </a:lnTo>
                  <a:lnTo>
                    <a:pt x="2393472" y="2713070"/>
                  </a:lnTo>
                  <a:lnTo>
                    <a:pt x="2440239" y="2707566"/>
                  </a:lnTo>
                  <a:lnTo>
                    <a:pt x="2487005" y="2701062"/>
                  </a:lnTo>
                  <a:lnTo>
                    <a:pt x="2533768" y="2693557"/>
                  </a:lnTo>
                  <a:lnTo>
                    <a:pt x="2580529" y="2685052"/>
                  </a:lnTo>
                  <a:lnTo>
                    <a:pt x="2627288" y="2675545"/>
                  </a:lnTo>
                  <a:lnTo>
                    <a:pt x="2674045" y="2665038"/>
                  </a:lnTo>
                  <a:lnTo>
                    <a:pt x="2720799" y="2653531"/>
                  </a:lnTo>
                  <a:lnTo>
                    <a:pt x="2767552" y="2641023"/>
                  </a:lnTo>
                  <a:lnTo>
                    <a:pt x="2814302" y="2627514"/>
                  </a:lnTo>
                  <a:lnTo>
                    <a:pt x="2861050" y="2613004"/>
                  </a:lnTo>
                  <a:lnTo>
                    <a:pt x="2907797" y="2597494"/>
                  </a:lnTo>
                  <a:lnTo>
                    <a:pt x="2954541" y="2580983"/>
                  </a:lnTo>
                  <a:lnTo>
                    <a:pt x="3001282" y="2563472"/>
                  </a:lnTo>
                  <a:lnTo>
                    <a:pt x="3048022" y="2544959"/>
                  </a:lnTo>
                  <a:lnTo>
                    <a:pt x="3094760" y="2525447"/>
                  </a:lnTo>
                  <a:lnTo>
                    <a:pt x="3141495" y="2504933"/>
                  </a:lnTo>
                  <a:lnTo>
                    <a:pt x="3188228" y="2483419"/>
                  </a:lnTo>
                  <a:lnTo>
                    <a:pt x="3234960" y="2460904"/>
                  </a:lnTo>
                  <a:lnTo>
                    <a:pt x="3281689" y="2437389"/>
                  </a:lnTo>
                  <a:lnTo>
                    <a:pt x="3328416" y="2412872"/>
                  </a:lnTo>
                </a:path>
                <a:path w="4320540" h="3360420">
                  <a:moveTo>
                    <a:pt x="0" y="1680082"/>
                  </a:moveTo>
                  <a:lnTo>
                    <a:pt x="663" y="1638030"/>
                  </a:lnTo>
                  <a:lnTo>
                    <a:pt x="2643" y="1596231"/>
                  </a:lnTo>
                  <a:lnTo>
                    <a:pt x="5925" y="1554699"/>
                  </a:lnTo>
                  <a:lnTo>
                    <a:pt x="10493" y="1513444"/>
                  </a:lnTo>
                  <a:lnTo>
                    <a:pt x="16331" y="1472480"/>
                  </a:lnTo>
                  <a:lnTo>
                    <a:pt x="23423" y="1431817"/>
                  </a:lnTo>
                  <a:lnTo>
                    <a:pt x="31756" y="1391469"/>
                  </a:lnTo>
                  <a:lnTo>
                    <a:pt x="41312" y="1351447"/>
                  </a:lnTo>
                  <a:lnTo>
                    <a:pt x="52077" y="1311763"/>
                  </a:lnTo>
                  <a:lnTo>
                    <a:pt x="64034" y="1272429"/>
                  </a:lnTo>
                  <a:lnTo>
                    <a:pt x="77170" y="1233458"/>
                  </a:lnTo>
                  <a:lnTo>
                    <a:pt x="91467" y="1194860"/>
                  </a:lnTo>
                  <a:lnTo>
                    <a:pt x="106911" y="1156650"/>
                  </a:lnTo>
                  <a:lnTo>
                    <a:pt x="123486" y="1118837"/>
                  </a:lnTo>
                  <a:lnTo>
                    <a:pt x="141177" y="1081435"/>
                  </a:lnTo>
                  <a:lnTo>
                    <a:pt x="159968" y="1044455"/>
                  </a:lnTo>
                  <a:lnTo>
                    <a:pt x="179843" y="1007910"/>
                  </a:lnTo>
                  <a:lnTo>
                    <a:pt x="200788" y="971812"/>
                  </a:lnTo>
                  <a:lnTo>
                    <a:pt x="222786" y="936171"/>
                  </a:lnTo>
                  <a:lnTo>
                    <a:pt x="245823" y="901002"/>
                  </a:lnTo>
                  <a:lnTo>
                    <a:pt x="269883" y="866315"/>
                  </a:lnTo>
                  <a:lnTo>
                    <a:pt x="294950" y="832122"/>
                  </a:lnTo>
                  <a:lnTo>
                    <a:pt x="321009" y="798437"/>
                  </a:lnTo>
                  <a:lnTo>
                    <a:pt x="348044" y="765270"/>
                  </a:lnTo>
                  <a:lnTo>
                    <a:pt x="376040" y="732633"/>
                  </a:lnTo>
                  <a:lnTo>
                    <a:pt x="404982" y="700540"/>
                  </a:lnTo>
                  <a:lnTo>
                    <a:pt x="434853" y="669001"/>
                  </a:lnTo>
                  <a:lnTo>
                    <a:pt x="465639" y="638029"/>
                  </a:lnTo>
                  <a:lnTo>
                    <a:pt x="497324" y="607636"/>
                  </a:lnTo>
                  <a:lnTo>
                    <a:pt x="529893" y="577834"/>
                  </a:lnTo>
                  <a:lnTo>
                    <a:pt x="563330" y="548634"/>
                  </a:lnTo>
                  <a:lnTo>
                    <a:pt x="597619" y="520050"/>
                  </a:lnTo>
                  <a:lnTo>
                    <a:pt x="632745" y="492093"/>
                  </a:lnTo>
                  <a:lnTo>
                    <a:pt x="668693" y="464774"/>
                  </a:lnTo>
                  <a:lnTo>
                    <a:pt x="705448" y="438107"/>
                  </a:lnTo>
                  <a:lnTo>
                    <a:pt x="742992" y="412103"/>
                  </a:lnTo>
                  <a:lnTo>
                    <a:pt x="781313" y="386774"/>
                  </a:lnTo>
                  <a:lnTo>
                    <a:pt x="820393" y="362132"/>
                  </a:lnTo>
                  <a:lnTo>
                    <a:pt x="860217" y="338189"/>
                  </a:lnTo>
                  <a:lnTo>
                    <a:pt x="900770" y="314958"/>
                  </a:lnTo>
                  <a:lnTo>
                    <a:pt x="942036" y="292450"/>
                  </a:lnTo>
                  <a:lnTo>
                    <a:pt x="984000" y="270677"/>
                  </a:lnTo>
                  <a:lnTo>
                    <a:pt x="1026647" y="249651"/>
                  </a:lnTo>
                  <a:lnTo>
                    <a:pt x="1069960" y="229385"/>
                  </a:lnTo>
                  <a:lnTo>
                    <a:pt x="1113925" y="209890"/>
                  </a:lnTo>
                  <a:lnTo>
                    <a:pt x="1158526" y="191179"/>
                  </a:lnTo>
                  <a:lnTo>
                    <a:pt x="1203748" y="173263"/>
                  </a:lnTo>
                  <a:lnTo>
                    <a:pt x="1249574" y="156154"/>
                  </a:lnTo>
                  <a:lnTo>
                    <a:pt x="1295990" y="139865"/>
                  </a:lnTo>
                  <a:lnTo>
                    <a:pt x="1342980" y="124408"/>
                  </a:lnTo>
                  <a:lnTo>
                    <a:pt x="1390529" y="109794"/>
                  </a:lnTo>
                  <a:lnTo>
                    <a:pt x="1438621" y="96036"/>
                  </a:lnTo>
                  <a:lnTo>
                    <a:pt x="1487240" y="83145"/>
                  </a:lnTo>
                  <a:lnTo>
                    <a:pt x="1536372" y="71134"/>
                  </a:lnTo>
                  <a:lnTo>
                    <a:pt x="1586000" y="60015"/>
                  </a:lnTo>
                  <a:lnTo>
                    <a:pt x="1636110" y="49800"/>
                  </a:lnTo>
                  <a:lnTo>
                    <a:pt x="1686685" y="40500"/>
                  </a:lnTo>
                  <a:lnTo>
                    <a:pt x="1737711" y="32128"/>
                  </a:lnTo>
                  <a:lnTo>
                    <a:pt x="1789171" y="24696"/>
                  </a:lnTo>
                  <a:lnTo>
                    <a:pt x="1841051" y="18216"/>
                  </a:lnTo>
                  <a:lnTo>
                    <a:pt x="1893335" y="12700"/>
                  </a:lnTo>
                  <a:lnTo>
                    <a:pt x="1946007" y="8160"/>
                  </a:lnTo>
                  <a:lnTo>
                    <a:pt x="1999052" y="4608"/>
                  </a:lnTo>
                  <a:lnTo>
                    <a:pt x="2052454" y="2056"/>
                  </a:lnTo>
                  <a:lnTo>
                    <a:pt x="2106199" y="516"/>
                  </a:lnTo>
                  <a:lnTo>
                    <a:pt x="2160270" y="0"/>
                  </a:lnTo>
                  <a:lnTo>
                    <a:pt x="2214340" y="516"/>
                  </a:lnTo>
                  <a:lnTo>
                    <a:pt x="2268085" y="2056"/>
                  </a:lnTo>
                  <a:lnTo>
                    <a:pt x="2321487" y="4608"/>
                  </a:lnTo>
                  <a:lnTo>
                    <a:pt x="2374532" y="8160"/>
                  </a:lnTo>
                  <a:lnTo>
                    <a:pt x="2427204" y="12700"/>
                  </a:lnTo>
                  <a:lnTo>
                    <a:pt x="2479488" y="18216"/>
                  </a:lnTo>
                  <a:lnTo>
                    <a:pt x="2531368" y="24696"/>
                  </a:lnTo>
                  <a:lnTo>
                    <a:pt x="2582828" y="32128"/>
                  </a:lnTo>
                  <a:lnTo>
                    <a:pt x="2633854" y="40500"/>
                  </a:lnTo>
                  <a:lnTo>
                    <a:pt x="2684429" y="49800"/>
                  </a:lnTo>
                  <a:lnTo>
                    <a:pt x="2734539" y="60015"/>
                  </a:lnTo>
                  <a:lnTo>
                    <a:pt x="2784167" y="71134"/>
                  </a:lnTo>
                  <a:lnTo>
                    <a:pt x="2833299" y="83145"/>
                  </a:lnTo>
                  <a:lnTo>
                    <a:pt x="2881918" y="96036"/>
                  </a:lnTo>
                  <a:lnTo>
                    <a:pt x="2930010" y="109794"/>
                  </a:lnTo>
                  <a:lnTo>
                    <a:pt x="2977559" y="124408"/>
                  </a:lnTo>
                  <a:lnTo>
                    <a:pt x="3024549" y="139865"/>
                  </a:lnTo>
                  <a:lnTo>
                    <a:pt x="3070965" y="156154"/>
                  </a:lnTo>
                  <a:lnTo>
                    <a:pt x="3116791" y="173263"/>
                  </a:lnTo>
                  <a:lnTo>
                    <a:pt x="3162013" y="191179"/>
                  </a:lnTo>
                  <a:lnTo>
                    <a:pt x="3206614" y="209890"/>
                  </a:lnTo>
                  <a:lnTo>
                    <a:pt x="3250579" y="229385"/>
                  </a:lnTo>
                  <a:lnTo>
                    <a:pt x="3293892" y="249651"/>
                  </a:lnTo>
                  <a:lnTo>
                    <a:pt x="3336539" y="270677"/>
                  </a:lnTo>
                  <a:lnTo>
                    <a:pt x="3378503" y="292450"/>
                  </a:lnTo>
                  <a:lnTo>
                    <a:pt x="3419769" y="314958"/>
                  </a:lnTo>
                  <a:lnTo>
                    <a:pt x="3460322" y="338189"/>
                  </a:lnTo>
                  <a:lnTo>
                    <a:pt x="3500146" y="362132"/>
                  </a:lnTo>
                  <a:lnTo>
                    <a:pt x="3539226" y="386774"/>
                  </a:lnTo>
                  <a:lnTo>
                    <a:pt x="3577547" y="412103"/>
                  </a:lnTo>
                  <a:lnTo>
                    <a:pt x="3615091" y="438107"/>
                  </a:lnTo>
                  <a:lnTo>
                    <a:pt x="3651846" y="464774"/>
                  </a:lnTo>
                  <a:lnTo>
                    <a:pt x="3687794" y="492093"/>
                  </a:lnTo>
                  <a:lnTo>
                    <a:pt x="3722920" y="520050"/>
                  </a:lnTo>
                  <a:lnTo>
                    <a:pt x="3757209" y="548634"/>
                  </a:lnTo>
                  <a:lnTo>
                    <a:pt x="3790646" y="577834"/>
                  </a:lnTo>
                  <a:lnTo>
                    <a:pt x="3823215" y="607636"/>
                  </a:lnTo>
                  <a:lnTo>
                    <a:pt x="3854900" y="638029"/>
                  </a:lnTo>
                  <a:lnTo>
                    <a:pt x="3885686" y="669001"/>
                  </a:lnTo>
                  <a:lnTo>
                    <a:pt x="3915557" y="700540"/>
                  </a:lnTo>
                  <a:lnTo>
                    <a:pt x="3944499" y="732633"/>
                  </a:lnTo>
                  <a:lnTo>
                    <a:pt x="3972495" y="765270"/>
                  </a:lnTo>
                  <a:lnTo>
                    <a:pt x="3999530" y="798437"/>
                  </a:lnTo>
                  <a:lnTo>
                    <a:pt x="4025589" y="832122"/>
                  </a:lnTo>
                  <a:lnTo>
                    <a:pt x="4050656" y="866315"/>
                  </a:lnTo>
                  <a:lnTo>
                    <a:pt x="4074716" y="901002"/>
                  </a:lnTo>
                  <a:lnTo>
                    <a:pt x="4097753" y="936171"/>
                  </a:lnTo>
                  <a:lnTo>
                    <a:pt x="4119751" y="971812"/>
                  </a:lnTo>
                  <a:lnTo>
                    <a:pt x="4140696" y="1007910"/>
                  </a:lnTo>
                  <a:lnTo>
                    <a:pt x="4160571" y="1044455"/>
                  </a:lnTo>
                  <a:lnTo>
                    <a:pt x="4179362" y="1081435"/>
                  </a:lnTo>
                  <a:lnTo>
                    <a:pt x="4197053" y="1118837"/>
                  </a:lnTo>
                  <a:lnTo>
                    <a:pt x="4213628" y="1156650"/>
                  </a:lnTo>
                  <a:lnTo>
                    <a:pt x="4229072" y="1194860"/>
                  </a:lnTo>
                  <a:lnTo>
                    <a:pt x="4243369" y="1233458"/>
                  </a:lnTo>
                  <a:lnTo>
                    <a:pt x="4256505" y="1272429"/>
                  </a:lnTo>
                  <a:lnTo>
                    <a:pt x="4268462" y="1311763"/>
                  </a:lnTo>
                  <a:lnTo>
                    <a:pt x="4279227" y="1351447"/>
                  </a:lnTo>
                  <a:lnTo>
                    <a:pt x="4288783" y="1391469"/>
                  </a:lnTo>
                  <a:lnTo>
                    <a:pt x="4297116" y="1431817"/>
                  </a:lnTo>
                  <a:lnTo>
                    <a:pt x="4304208" y="1472480"/>
                  </a:lnTo>
                  <a:lnTo>
                    <a:pt x="4310046" y="1513444"/>
                  </a:lnTo>
                  <a:lnTo>
                    <a:pt x="4314614" y="1554699"/>
                  </a:lnTo>
                  <a:lnTo>
                    <a:pt x="4317896" y="1596231"/>
                  </a:lnTo>
                  <a:lnTo>
                    <a:pt x="4319876" y="1638030"/>
                  </a:lnTo>
                  <a:lnTo>
                    <a:pt x="4320540" y="1680082"/>
                  </a:lnTo>
                  <a:lnTo>
                    <a:pt x="4319876" y="1722141"/>
                  </a:lnTo>
                  <a:lnTo>
                    <a:pt x="4317896" y="1763945"/>
                  </a:lnTo>
                  <a:lnTo>
                    <a:pt x="4314614" y="1805483"/>
                  </a:lnTo>
                  <a:lnTo>
                    <a:pt x="4310046" y="1846743"/>
                  </a:lnTo>
                  <a:lnTo>
                    <a:pt x="4304208" y="1887712"/>
                  </a:lnTo>
                  <a:lnTo>
                    <a:pt x="4297116" y="1928379"/>
                  </a:lnTo>
                  <a:lnTo>
                    <a:pt x="4288783" y="1968732"/>
                  </a:lnTo>
                  <a:lnTo>
                    <a:pt x="4279227" y="2008759"/>
                  </a:lnTo>
                  <a:lnTo>
                    <a:pt x="4268462" y="2048447"/>
                  </a:lnTo>
                  <a:lnTo>
                    <a:pt x="4256505" y="2087785"/>
                  </a:lnTo>
                  <a:lnTo>
                    <a:pt x="4243369" y="2126761"/>
                  </a:lnTo>
                  <a:lnTo>
                    <a:pt x="4229072" y="2165362"/>
                  </a:lnTo>
                  <a:lnTo>
                    <a:pt x="4213628" y="2203577"/>
                  </a:lnTo>
                  <a:lnTo>
                    <a:pt x="4197053" y="2241393"/>
                  </a:lnTo>
                  <a:lnTo>
                    <a:pt x="4179362" y="2278798"/>
                  </a:lnTo>
                  <a:lnTo>
                    <a:pt x="4160571" y="2315781"/>
                  </a:lnTo>
                  <a:lnTo>
                    <a:pt x="4140696" y="2352330"/>
                  </a:lnTo>
                  <a:lnTo>
                    <a:pt x="4119751" y="2388432"/>
                  </a:lnTo>
                  <a:lnTo>
                    <a:pt x="4097753" y="2424075"/>
                  </a:lnTo>
                  <a:lnTo>
                    <a:pt x="4074716" y="2459247"/>
                  </a:lnTo>
                  <a:lnTo>
                    <a:pt x="4050656" y="2493937"/>
                  </a:lnTo>
                  <a:lnTo>
                    <a:pt x="4025589" y="2528132"/>
                  </a:lnTo>
                  <a:lnTo>
                    <a:pt x="3999530" y="2561820"/>
                  </a:lnTo>
                  <a:lnTo>
                    <a:pt x="3972495" y="2594990"/>
                  </a:lnTo>
                  <a:lnTo>
                    <a:pt x="3944499" y="2627628"/>
                  </a:lnTo>
                  <a:lnTo>
                    <a:pt x="3915557" y="2659724"/>
                  </a:lnTo>
                  <a:lnTo>
                    <a:pt x="3885686" y="2691265"/>
                  </a:lnTo>
                  <a:lnTo>
                    <a:pt x="3854900" y="2722239"/>
                  </a:lnTo>
                  <a:lnTo>
                    <a:pt x="3823215" y="2752634"/>
                  </a:lnTo>
                  <a:lnTo>
                    <a:pt x="3790646" y="2782438"/>
                  </a:lnTo>
                  <a:lnTo>
                    <a:pt x="3757209" y="2811639"/>
                  </a:lnTo>
                  <a:lnTo>
                    <a:pt x="3722920" y="2840225"/>
                  </a:lnTo>
                  <a:lnTo>
                    <a:pt x="3687794" y="2868183"/>
                  </a:lnTo>
                  <a:lnTo>
                    <a:pt x="3651846" y="2895503"/>
                  </a:lnTo>
                  <a:lnTo>
                    <a:pt x="3615091" y="2922172"/>
                  </a:lnTo>
                  <a:lnTo>
                    <a:pt x="3577547" y="2948177"/>
                  </a:lnTo>
                  <a:lnTo>
                    <a:pt x="3539226" y="2973507"/>
                  </a:lnTo>
                  <a:lnTo>
                    <a:pt x="3500146" y="2998150"/>
                  </a:lnTo>
                  <a:lnTo>
                    <a:pt x="3460322" y="3022094"/>
                  </a:lnTo>
                  <a:lnTo>
                    <a:pt x="3419769" y="3045326"/>
                  </a:lnTo>
                  <a:lnTo>
                    <a:pt x="3378503" y="3067835"/>
                  </a:lnTo>
                  <a:lnTo>
                    <a:pt x="3336539" y="3089609"/>
                  </a:lnTo>
                  <a:lnTo>
                    <a:pt x="3293892" y="3110635"/>
                  </a:lnTo>
                  <a:lnTo>
                    <a:pt x="3250579" y="3130902"/>
                  </a:lnTo>
                  <a:lnTo>
                    <a:pt x="3206614" y="3150398"/>
                  </a:lnTo>
                  <a:lnTo>
                    <a:pt x="3162013" y="3169110"/>
                  </a:lnTo>
                  <a:lnTo>
                    <a:pt x="3116791" y="3187026"/>
                  </a:lnTo>
                  <a:lnTo>
                    <a:pt x="3070965" y="3204135"/>
                  </a:lnTo>
                  <a:lnTo>
                    <a:pt x="3024549" y="3220425"/>
                  </a:lnTo>
                  <a:lnTo>
                    <a:pt x="2977559" y="3235882"/>
                  </a:lnTo>
                  <a:lnTo>
                    <a:pt x="2930010" y="3250496"/>
                  </a:lnTo>
                  <a:lnTo>
                    <a:pt x="2881918" y="3264255"/>
                  </a:lnTo>
                  <a:lnTo>
                    <a:pt x="2833299" y="3277146"/>
                  </a:lnTo>
                  <a:lnTo>
                    <a:pt x="2784167" y="3289157"/>
                  </a:lnTo>
                  <a:lnTo>
                    <a:pt x="2734539" y="3300276"/>
                  </a:lnTo>
                  <a:lnTo>
                    <a:pt x="2684429" y="3310492"/>
                  </a:lnTo>
                  <a:lnTo>
                    <a:pt x="2633854" y="3319791"/>
                  </a:lnTo>
                  <a:lnTo>
                    <a:pt x="2582828" y="3328163"/>
                  </a:lnTo>
                  <a:lnTo>
                    <a:pt x="2531368" y="3335595"/>
                  </a:lnTo>
                  <a:lnTo>
                    <a:pt x="2479488" y="3342075"/>
                  </a:lnTo>
                  <a:lnTo>
                    <a:pt x="2427204" y="3347592"/>
                  </a:lnTo>
                  <a:lnTo>
                    <a:pt x="2374532" y="3352132"/>
                  </a:lnTo>
                  <a:lnTo>
                    <a:pt x="2321487" y="3355684"/>
                  </a:lnTo>
                  <a:lnTo>
                    <a:pt x="2268085" y="3358236"/>
                  </a:lnTo>
                  <a:lnTo>
                    <a:pt x="2214340" y="3359776"/>
                  </a:lnTo>
                  <a:lnTo>
                    <a:pt x="2160270" y="3360292"/>
                  </a:lnTo>
                  <a:lnTo>
                    <a:pt x="2106199" y="3359776"/>
                  </a:lnTo>
                  <a:lnTo>
                    <a:pt x="2052454" y="3358236"/>
                  </a:lnTo>
                  <a:lnTo>
                    <a:pt x="1999052" y="3355684"/>
                  </a:lnTo>
                  <a:lnTo>
                    <a:pt x="1946007" y="3352132"/>
                  </a:lnTo>
                  <a:lnTo>
                    <a:pt x="1893335" y="3347592"/>
                  </a:lnTo>
                  <a:lnTo>
                    <a:pt x="1841051" y="3342075"/>
                  </a:lnTo>
                  <a:lnTo>
                    <a:pt x="1789171" y="3335595"/>
                  </a:lnTo>
                  <a:lnTo>
                    <a:pt x="1737711" y="3328163"/>
                  </a:lnTo>
                  <a:lnTo>
                    <a:pt x="1686685" y="3319791"/>
                  </a:lnTo>
                  <a:lnTo>
                    <a:pt x="1636110" y="3310492"/>
                  </a:lnTo>
                  <a:lnTo>
                    <a:pt x="1586000" y="3300276"/>
                  </a:lnTo>
                  <a:lnTo>
                    <a:pt x="1536372" y="3289157"/>
                  </a:lnTo>
                  <a:lnTo>
                    <a:pt x="1487240" y="3277146"/>
                  </a:lnTo>
                  <a:lnTo>
                    <a:pt x="1438621" y="3264255"/>
                  </a:lnTo>
                  <a:lnTo>
                    <a:pt x="1390529" y="3250496"/>
                  </a:lnTo>
                  <a:lnTo>
                    <a:pt x="1342980" y="3235882"/>
                  </a:lnTo>
                  <a:lnTo>
                    <a:pt x="1295990" y="3220425"/>
                  </a:lnTo>
                  <a:lnTo>
                    <a:pt x="1249574" y="3204135"/>
                  </a:lnTo>
                  <a:lnTo>
                    <a:pt x="1203748" y="3187026"/>
                  </a:lnTo>
                  <a:lnTo>
                    <a:pt x="1158526" y="3169110"/>
                  </a:lnTo>
                  <a:lnTo>
                    <a:pt x="1113925" y="3150398"/>
                  </a:lnTo>
                  <a:lnTo>
                    <a:pt x="1069960" y="3130902"/>
                  </a:lnTo>
                  <a:lnTo>
                    <a:pt x="1026647" y="3110635"/>
                  </a:lnTo>
                  <a:lnTo>
                    <a:pt x="984000" y="3089609"/>
                  </a:lnTo>
                  <a:lnTo>
                    <a:pt x="942036" y="3067835"/>
                  </a:lnTo>
                  <a:lnTo>
                    <a:pt x="900770" y="3045326"/>
                  </a:lnTo>
                  <a:lnTo>
                    <a:pt x="860217" y="3022094"/>
                  </a:lnTo>
                  <a:lnTo>
                    <a:pt x="820393" y="2998150"/>
                  </a:lnTo>
                  <a:lnTo>
                    <a:pt x="781313" y="2973507"/>
                  </a:lnTo>
                  <a:lnTo>
                    <a:pt x="742992" y="2948177"/>
                  </a:lnTo>
                  <a:lnTo>
                    <a:pt x="705448" y="2922172"/>
                  </a:lnTo>
                  <a:lnTo>
                    <a:pt x="668693" y="2895503"/>
                  </a:lnTo>
                  <a:lnTo>
                    <a:pt x="632745" y="2868183"/>
                  </a:lnTo>
                  <a:lnTo>
                    <a:pt x="597619" y="2840225"/>
                  </a:lnTo>
                  <a:lnTo>
                    <a:pt x="563330" y="2811639"/>
                  </a:lnTo>
                  <a:lnTo>
                    <a:pt x="529893" y="2782438"/>
                  </a:lnTo>
                  <a:lnTo>
                    <a:pt x="497324" y="2752634"/>
                  </a:lnTo>
                  <a:lnTo>
                    <a:pt x="465639" y="2722239"/>
                  </a:lnTo>
                  <a:lnTo>
                    <a:pt x="434853" y="2691265"/>
                  </a:lnTo>
                  <a:lnTo>
                    <a:pt x="404982" y="2659724"/>
                  </a:lnTo>
                  <a:lnTo>
                    <a:pt x="376040" y="2627628"/>
                  </a:lnTo>
                  <a:lnTo>
                    <a:pt x="348044" y="2594990"/>
                  </a:lnTo>
                  <a:lnTo>
                    <a:pt x="321009" y="2561820"/>
                  </a:lnTo>
                  <a:lnTo>
                    <a:pt x="294950" y="2528132"/>
                  </a:lnTo>
                  <a:lnTo>
                    <a:pt x="269883" y="2493937"/>
                  </a:lnTo>
                  <a:lnTo>
                    <a:pt x="245823" y="2459247"/>
                  </a:lnTo>
                  <a:lnTo>
                    <a:pt x="222786" y="2424075"/>
                  </a:lnTo>
                  <a:lnTo>
                    <a:pt x="200788" y="2388432"/>
                  </a:lnTo>
                  <a:lnTo>
                    <a:pt x="179843" y="2352330"/>
                  </a:lnTo>
                  <a:lnTo>
                    <a:pt x="159968" y="2315781"/>
                  </a:lnTo>
                  <a:lnTo>
                    <a:pt x="141177" y="2278798"/>
                  </a:lnTo>
                  <a:lnTo>
                    <a:pt x="123486" y="2241393"/>
                  </a:lnTo>
                  <a:lnTo>
                    <a:pt x="106911" y="2203577"/>
                  </a:lnTo>
                  <a:lnTo>
                    <a:pt x="91467" y="2165362"/>
                  </a:lnTo>
                  <a:lnTo>
                    <a:pt x="77170" y="2126761"/>
                  </a:lnTo>
                  <a:lnTo>
                    <a:pt x="64034" y="2087785"/>
                  </a:lnTo>
                  <a:lnTo>
                    <a:pt x="52077" y="2048447"/>
                  </a:lnTo>
                  <a:lnTo>
                    <a:pt x="41312" y="2008759"/>
                  </a:lnTo>
                  <a:lnTo>
                    <a:pt x="31756" y="1968732"/>
                  </a:lnTo>
                  <a:lnTo>
                    <a:pt x="23423" y="1928379"/>
                  </a:lnTo>
                  <a:lnTo>
                    <a:pt x="16331" y="1887712"/>
                  </a:lnTo>
                  <a:lnTo>
                    <a:pt x="10493" y="1846743"/>
                  </a:lnTo>
                  <a:lnTo>
                    <a:pt x="5925" y="1805483"/>
                  </a:lnTo>
                  <a:lnTo>
                    <a:pt x="2643" y="1763945"/>
                  </a:lnTo>
                  <a:lnTo>
                    <a:pt x="663" y="1722141"/>
                  </a:lnTo>
                  <a:lnTo>
                    <a:pt x="0" y="1680082"/>
                  </a:lnTo>
                  <a:close/>
                </a:path>
              </a:pathLst>
            </a:custGeom>
            <a:ln w="9525">
              <a:solidFill>
                <a:srgbClr val="CCB4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8372" y="732282"/>
            <a:ext cx="10772775" cy="4874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Concernant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l’antibiothérapie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dans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cadre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d’une arthrite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septique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chez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l’adulte:</a:t>
            </a:r>
            <a:endParaRPr sz="2400">
              <a:latin typeface="Times New Roman"/>
              <a:cs typeface="Times New Roman"/>
            </a:endParaRPr>
          </a:p>
          <a:p>
            <a:pPr marL="545465" indent="-532765">
              <a:lnSpc>
                <a:spcPct val="100000"/>
              </a:lnSpc>
              <a:spcBef>
                <a:spcPts val="2300"/>
              </a:spcBef>
              <a:buAutoNum type="alphaUcPeriod"/>
              <a:tabLst>
                <a:tab pos="545465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l’antibiothérapie</a:t>
            </a:r>
            <a:r>
              <a:rPr sz="24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probabiliste</a:t>
            </a:r>
            <a:r>
              <a:rPr sz="2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devant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un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examen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direct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négatif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associe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l’oxacilline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et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434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la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gentamicine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010"/>
              </a:spcBef>
              <a:buAutoNum type="alphaUcPeriod" startAt="2"/>
              <a:tabLst>
                <a:tab pos="469265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association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à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ceftriaxone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et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gentamicine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indiquée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cas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43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d’identification</a:t>
            </a:r>
            <a:r>
              <a:rPr sz="24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bacilles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Gram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négatif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à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l’examen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direct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010"/>
              </a:spcBef>
              <a:buAutoNum type="alphaUcPeriod" startAt="3"/>
              <a:tabLst>
                <a:tab pos="469265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cas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de culture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négative,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l’antibiothérapie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arrêtée</a:t>
            </a:r>
            <a:endParaRPr sz="2400">
              <a:latin typeface="Times New Roman"/>
              <a:cs typeface="Times New Roman"/>
            </a:endParaRPr>
          </a:p>
          <a:p>
            <a:pPr marL="545465" indent="-532765">
              <a:lnSpc>
                <a:spcPct val="100000"/>
              </a:lnSpc>
              <a:spcBef>
                <a:spcPts val="1010"/>
              </a:spcBef>
              <a:buAutoNum type="alphaUcPeriod" startAt="3"/>
              <a:tabLst>
                <a:tab pos="545465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une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association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à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base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d’oxacilline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et gentamicine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indiquée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si une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porte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d’entrée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43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urinaire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24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retrouvée</a:t>
            </a:r>
            <a:endParaRPr sz="24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2320"/>
              </a:spcBef>
              <a:buAutoNum type="alphaUcPeriod" startAt="5"/>
              <a:tabLst>
                <a:tab pos="469265" algn="l"/>
              </a:tabLst>
            </a:pP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L’association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fluoroquinolone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rifampicine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peut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être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utilisée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cas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d’arthrite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43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septique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avec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culture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négative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non amélioré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par oxacilline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gentamicine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8372" y="733806"/>
            <a:ext cx="9559290" cy="44405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Dans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cadre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d’une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arthrite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septique,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l’antibiothérapie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probabiliste:</a:t>
            </a:r>
            <a:endParaRPr sz="2650">
              <a:latin typeface="Times New Roman"/>
              <a:cs typeface="Times New Roman"/>
            </a:endParaRPr>
          </a:p>
          <a:p>
            <a:pPr marL="553085" indent="-540385">
              <a:lnSpc>
                <a:spcPct val="100000"/>
              </a:lnSpc>
              <a:spcBef>
                <a:spcPts val="2440"/>
              </a:spcBef>
              <a:buAutoNum type="alphaUcPeriod"/>
              <a:tabLst>
                <a:tab pos="55308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doit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être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commencée</a:t>
            </a:r>
            <a:r>
              <a:rPr sz="265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dès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suspicion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diagnostic</a:t>
            </a:r>
            <a:endParaRPr sz="26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140"/>
              </a:spcBef>
              <a:buAutoNum type="alphaUcPeriod"/>
              <a:tabLst>
                <a:tab pos="46926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Doit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être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débutée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après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la ponction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articulaire</a:t>
            </a:r>
            <a:endParaRPr sz="26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150"/>
              </a:spcBef>
              <a:buAutoNum type="alphaUcPeriod"/>
              <a:tabLst>
                <a:tab pos="46926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Doit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être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administrée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milieu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hospitalier</a:t>
            </a:r>
            <a:endParaRPr sz="2650">
              <a:latin typeface="Times New Roman"/>
              <a:cs typeface="Times New Roman"/>
            </a:endParaRPr>
          </a:p>
          <a:p>
            <a:pPr marL="469900" marR="1003300" indent="-457200">
              <a:lnSpc>
                <a:spcPct val="115500"/>
              </a:lnSpc>
              <a:spcBef>
                <a:spcPts val="650"/>
              </a:spcBef>
              <a:buAutoNum type="alphaUcPeriod"/>
              <a:tabLst>
                <a:tab pos="469900" algn="l"/>
                <a:tab pos="55308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	est débutée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après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l’obtention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des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résultat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culture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et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25" dirty="0">
                <a:solidFill>
                  <a:srgbClr val="FFFFFF"/>
                </a:solidFill>
                <a:latin typeface="Times New Roman"/>
                <a:cs typeface="Times New Roman"/>
              </a:rPr>
              <a:t>de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l’antibiogramme</a:t>
            </a:r>
            <a:endParaRPr sz="265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15500"/>
              </a:lnSpc>
              <a:spcBef>
                <a:spcPts val="1960"/>
              </a:spcBef>
              <a:buAutoNum type="alphaUcPeriod"/>
              <a:tabLst>
                <a:tab pos="469900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Est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débutée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après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la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prise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prélèvements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bactériologiques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lors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25" dirty="0">
                <a:solidFill>
                  <a:srgbClr val="FFFFFF"/>
                </a:solidFill>
                <a:latin typeface="Times New Roman"/>
                <a:cs typeface="Times New Roman"/>
              </a:rPr>
              <a:t>du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drainage</a:t>
            </a:r>
            <a:r>
              <a:rPr sz="265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chirurgical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8372" y="733806"/>
            <a:ext cx="10703560" cy="44405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Concernant le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traitement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chirurgical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d’une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arthrite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septique:</a:t>
            </a:r>
            <a:endParaRPr sz="2650">
              <a:latin typeface="Times New Roman"/>
              <a:cs typeface="Times New Roman"/>
            </a:endParaRPr>
          </a:p>
          <a:p>
            <a:pPr marL="553085" indent="-540385">
              <a:lnSpc>
                <a:spcPct val="100000"/>
              </a:lnSpc>
              <a:spcBef>
                <a:spcPts val="2440"/>
              </a:spcBef>
              <a:buAutoNum type="alphaUcPeriod"/>
              <a:tabLst>
                <a:tab pos="55308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drainage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peut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être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réalisé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par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arthroscopie</a:t>
            </a:r>
            <a:endParaRPr sz="26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140"/>
              </a:spcBef>
              <a:buAutoNum type="alphaUcPeriod"/>
              <a:tabLst>
                <a:tab pos="469265" algn="l"/>
              </a:tabLst>
            </a:pP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L’arthrotomie</a:t>
            </a:r>
            <a:r>
              <a:rPr sz="26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permet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le</a:t>
            </a:r>
            <a:r>
              <a:rPr sz="26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drainage,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l’exploration</a:t>
            </a:r>
            <a:r>
              <a:rPr sz="26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des lésions</a:t>
            </a:r>
            <a:r>
              <a:rPr sz="265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cartilagineuses</a:t>
            </a:r>
            <a:endParaRPr sz="265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05"/>
              </a:spcBef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et les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prélèvement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bactériologique</a:t>
            </a:r>
            <a:endParaRPr sz="26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1140"/>
              </a:spcBef>
              <a:buAutoNum type="alphaUcPeriod" startAt="3"/>
              <a:tabLst>
                <a:tab pos="46926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Le drainage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chirurgical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n’est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pas indiqué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chez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l’enfant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absence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fièvre</a:t>
            </a:r>
            <a:endParaRPr sz="2650">
              <a:latin typeface="Times New Roman"/>
              <a:cs typeface="Times New Roman"/>
            </a:endParaRPr>
          </a:p>
          <a:p>
            <a:pPr marL="469900" marR="733425" indent="-457200">
              <a:lnSpc>
                <a:spcPct val="115799"/>
              </a:lnSpc>
              <a:spcBef>
                <a:spcPts val="640"/>
              </a:spcBef>
              <a:buAutoNum type="alphaUcPeriod" startAt="3"/>
              <a:tabLst>
                <a:tab pos="469900" algn="l"/>
                <a:tab pos="55308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	Le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drainage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chirurgical</a:t>
            </a:r>
            <a:r>
              <a:rPr sz="26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se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fait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habituellement après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quelques</a:t>
            </a:r>
            <a:r>
              <a:rPr sz="265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jours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25" dirty="0">
                <a:solidFill>
                  <a:srgbClr val="FFFFFF"/>
                </a:solidFill>
                <a:latin typeface="Times New Roman"/>
                <a:cs typeface="Times New Roman"/>
              </a:rPr>
              <a:t>de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traitement</a:t>
            </a:r>
            <a:r>
              <a:rPr sz="265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antibiotique</a:t>
            </a:r>
            <a:endParaRPr sz="26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2440"/>
              </a:spcBef>
              <a:buAutoNum type="alphaUcPeriod" startAt="3"/>
              <a:tabLst>
                <a:tab pos="469265" algn="l"/>
              </a:tabLst>
            </a:pP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Un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drain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aspiratif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est laissé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place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après</a:t>
            </a:r>
            <a:r>
              <a:rPr sz="265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fermeture de</a:t>
            </a:r>
            <a:r>
              <a:rPr sz="265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dirty="0">
                <a:solidFill>
                  <a:srgbClr val="FFFFFF"/>
                </a:solidFill>
                <a:latin typeface="Times New Roman"/>
                <a:cs typeface="Times New Roman"/>
              </a:rPr>
              <a:t>la plaie</a:t>
            </a:r>
            <a:r>
              <a:rPr sz="265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50" spc="-10" dirty="0">
                <a:solidFill>
                  <a:srgbClr val="FFFFFF"/>
                </a:solidFill>
                <a:latin typeface="Times New Roman"/>
                <a:cs typeface="Times New Roman"/>
              </a:rPr>
              <a:t>opératoire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2928</Words>
  <Application>Microsoft Office PowerPoint</Application>
  <PresentationFormat>Grand écran</PresentationFormat>
  <Paragraphs>320</Paragraphs>
  <Slides>63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63</vt:i4>
      </vt:variant>
    </vt:vector>
  </HeadingPairs>
  <TitlesOfParts>
    <vt:vector size="67" baseType="lpstr">
      <vt:lpstr>Arial</vt:lpstr>
      <vt:lpstr>Calibri</vt:lpstr>
      <vt:lpstr>Times New Roman</vt:lpstr>
      <vt:lpstr>Office Theme</vt:lpstr>
      <vt:lpstr>Cours de résidanat 2025 Objectif n° 6 Arthrites septiques</vt:lpstr>
      <vt:lpstr>Présentation PowerPoint</vt:lpstr>
      <vt:lpstr>Présentation PowerPoint</vt:lpstr>
      <vt:lpstr>Présentation PowerPoint</vt:lpstr>
      <vt:lpstr>Aspect du liquide ponctionné</vt:lpstr>
      <vt:lpstr>Présentation PowerPoint</vt:lpstr>
      <vt:lpstr>Résultat de l’analyse cytobactériologique et chimique</vt:lpstr>
      <vt:lpstr>Présentation PowerPoint</vt:lpstr>
      <vt:lpstr>Présentation PowerPoint</vt:lpstr>
      <vt:lpstr>Présentation PowerPoint</vt:lpstr>
      <vt:lpstr>Monsieur S, un homme de 26 ans aux antécédents de diabète type 1, consulte aux urgences pour une plaie du genou droit suite à une agression par arme blanche. La plaie est illustrée par la figure suivante :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Monsieur R, âgé de 27 ans, consulte pour une tuméfaction douloureuse fébrile des 2 genoux, de la cheville droite et poignet gauche. Vous suspectez une arthrite septique.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A. Le cartilage articulaire peut résister pendant des semaines à l’infection</vt:lpstr>
      <vt:lpstr>Présentation PowerPoint</vt:lpstr>
      <vt:lpstr>A.La douleur est plus intense pendant la nuit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de résidanat 2022 Objectif n° 6 Arthrites septiques</dc:title>
  <dc:creator/>
  <cp:lastModifiedBy>zied.kammoun</cp:lastModifiedBy>
  <cp:revision>2</cp:revision>
  <dcterms:created xsi:type="dcterms:W3CDTF">2025-08-25T23:30:00Z</dcterms:created>
  <dcterms:modified xsi:type="dcterms:W3CDTF">2025-08-25T23:37:34Z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2025-08-05T00:00:00Z</vt:filetime>
  </property>
  <property fmtid="{D5CDD505-2E9C-101B-9397-08002B2CF9AE}" pid="3" name="Creator">
    <vt:lpwstr>Microsoft® PowerPoint® pour Microsoft 365</vt:lpwstr>
  </property>
  <property fmtid="{D5CDD505-2E9C-101B-9397-08002B2CF9AE}" pid="4" name="LastSaved">
    <vt:filetime>2025-08-25T00:00:00Z</vt:filetime>
  </property>
  <property fmtid="{D5CDD505-2E9C-101B-9397-08002B2CF9AE}" pid="5" name="Producer">
    <vt:lpwstr>Microsoft® PowerPoint® pour Microsoft 365</vt:lpwstr>
  </property>
</Properties>
</file>
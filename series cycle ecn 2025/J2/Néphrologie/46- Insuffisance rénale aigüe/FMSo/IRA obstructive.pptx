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1" r:id="rId3"/>
    <p:sldId id="303" r:id="rId4"/>
    <p:sldId id="310" r:id="rId5"/>
    <p:sldId id="305" r:id="rId6"/>
    <p:sldId id="314" r:id="rId7"/>
    <p:sldId id="306" r:id="rId8"/>
    <p:sldId id="340" r:id="rId9"/>
    <p:sldId id="341" r:id="rId10"/>
    <p:sldId id="342" r:id="rId11"/>
    <p:sldId id="343" r:id="rId12"/>
    <p:sldId id="344" r:id="rId13"/>
    <p:sldId id="345" r:id="rId14"/>
    <p:sldId id="346" r:id="rId15"/>
    <p:sldId id="347" r:id="rId16"/>
    <p:sldId id="348" r:id="rId17"/>
    <p:sldId id="349" r:id="rId18"/>
    <p:sldId id="257" r:id="rId19"/>
    <p:sldId id="258" r:id="rId20"/>
    <p:sldId id="259" r:id="rId21"/>
    <p:sldId id="260" r:id="rId22"/>
    <p:sldId id="261" r:id="rId23"/>
    <p:sldId id="262" r:id="rId24"/>
    <p:sldId id="263" r:id="rId25"/>
    <p:sldId id="264" r:id="rId26"/>
    <p:sldId id="265" r:id="rId27"/>
    <p:sldId id="267" r:id="rId28"/>
    <p:sldId id="266" r:id="rId29"/>
    <p:sldId id="268" r:id="rId30"/>
    <p:sldId id="269" r:id="rId31"/>
    <p:sldId id="270" r:id="rId32"/>
    <p:sldId id="271" r:id="rId33"/>
    <p:sldId id="272" r:id="rId34"/>
    <p:sldId id="274" r:id="rId35"/>
    <p:sldId id="273" r:id="rId36"/>
    <p:sldId id="275" r:id="rId37"/>
    <p:sldId id="276" r:id="rId38"/>
    <p:sldId id="277" r:id="rId39"/>
    <p:sldId id="278" r:id="rId40"/>
    <p:sldId id="279" r:id="rId41"/>
    <p:sldId id="280" r:id="rId42"/>
    <p:sldId id="281" r:id="rId43"/>
    <p:sldId id="282" r:id="rId44"/>
    <p:sldId id="287" r:id="rId45"/>
    <p:sldId id="284" r:id="rId46"/>
    <p:sldId id="288" r:id="rId47"/>
    <p:sldId id="283" r:id="rId48"/>
    <p:sldId id="285" r:id="rId49"/>
    <p:sldId id="286" r:id="rId50"/>
    <p:sldId id="289" r:id="rId5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6941A9-3F33-26B7-77ED-21E279389A3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089E1DA-3ED6-0CF1-43E4-5F16F7DB1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5049D0D-5E0E-B672-9E59-DB5FC25EE9C4}"/>
              </a:ext>
            </a:extLst>
          </p:cNvPr>
          <p:cNvSpPr>
            <a:spLocks noGrp="1"/>
          </p:cNvSpPr>
          <p:nvPr>
            <p:ph type="dt" sz="half" idx="10"/>
          </p:nvPr>
        </p:nvSpPr>
        <p:spPr/>
        <p:txBody>
          <a:bodyPr/>
          <a:lstStyle/>
          <a:p>
            <a:fld id="{F8F95B5F-7F91-488C-92A3-2826ED7D066F}" type="datetimeFigureOut">
              <a:rPr lang="fr-FR" smtClean="0"/>
              <a:t>29/07/2025</a:t>
            </a:fld>
            <a:endParaRPr lang="fr-FR"/>
          </a:p>
        </p:txBody>
      </p:sp>
      <p:sp>
        <p:nvSpPr>
          <p:cNvPr id="5" name="Espace réservé du pied de page 4">
            <a:extLst>
              <a:ext uri="{FF2B5EF4-FFF2-40B4-BE49-F238E27FC236}">
                <a16:creationId xmlns:a16="http://schemas.microsoft.com/office/drawing/2014/main" id="{DF86F96C-E63A-3A95-022D-05FDB8BD0A7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C1128AA-9095-0348-4C64-BE36AF663BEE}"/>
              </a:ext>
            </a:extLst>
          </p:cNvPr>
          <p:cNvSpPr>
            <a:spLocks noGrp="1"/>
          </p:cNvSpPr>
          <p:nvPr>
            <p:ph type="sldNum" sz="quarter" idx="12"/>
          </p:nvPr>
        </p:nvSpPr>
        <p:spPr/>
        <p:txBody>
          <a:bodyPr/>
          <a:lstStyle/>
          <a:p>
            <a:fld id="{DB34867E-F241-45D4-8CF5-3C05CC6032AA}" type="slidenum">
              <a:rPr lang="fr-FR" smtClean="0"/>
              <a:t>‹N°›</a:t>
            </a:fld>
            <a:endParaRPr lang="fr-FR"/>
          </a:p>
        </p:txBody>
      </p:sp>
    </p:spTree>
    <p:extLst>
      <p:ext uri="{BB962C8B-B14F-4D97-AF65-F5344CB8AC3E}">
        <p14:creationId xmlns:p14="http://schemas.microsoft.com/office/powerpoint/2010/main" val="208135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B0FFA3-A796-A383-A21A-E559E60494D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E0E6610-AED6-BB8D-5913-DD6E96A458C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129E8ED-E390-8BCE-CAB4-D6E7B1992D0C}"/>
              </a:ext>
            </a:extLst>
          </p:cNvPr>
          <p:cNvSpPr>
            <a:spLocks noGrp="1"/>
          </p:cNvSpPr>
          <p:nvPr>
            <p:ph type="dt" sz="half" idx="10"/>
          </p:nvPr>
        </p:nvSpPr>
        <p:spPr/>
        <p:txBody>
          <a:bodyPr/>
          <a:lstStyle/>
          <a:p>
            <a:fld id="{F8F95B5F-7F91-488C-92A3-2826ED7D066F}" type="datetimeFigureOut">
              <a:rPr lang="fr-FR" smtClean="0"/>
              <a:t>29/07/2025</a:t>
            </a:fld>
            <a:endParaRPr lang="fr-FR"/>
          </a:p>
        </p:txBody>
      </p:sp>
      <p:sp>
        <p:nvSpPr>
          <p:cNvPr id="5" name="Espace réservé du pied de page 4">
            <a:extLst>
              <a:ext uri="{FF2B5EF4-FFF2-40B4-BE49-F238E27FC236}">
                <a16:creationId xmlns:a16="http://schemas.microsoft.com/office/drawing/2014/main" id="{EFEB1D2C-8ADE-F974-D8E7-396A89246E7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B8E687C-D3B3-E269-BFB3-EEA7B1D1C7DC}"/>
              </a:ext>
            </a:extLst>
          </p:cNvPr>
          <p:cNvSpPr>
            <a:spLocks noGrp="1"/>
          </p:cNvSpPr>
          <p:nvPr>
            <p:ph type="sldNum" sz="quarter" idx="12"/>
          </p:nvPr>
        </p:nvSpPr>
        <p:spPr/>
        <p:txBody>
          <a:bodyPr/>
          <a:lstStyle/>
          <a:p>
            <a:fld id="{DB34867E-F241-45D4-8CF5-3C05CC6032AA}" type="slidenum">
              <a:rPr lang="fr-FR" smtClean="0"/>
              <a:t>‹N°›</a:t>
            </a:fld>
            <a:endParaRPr lang="fr-FR"/>
          </a:p>
        </p:txBody>
      </p:sp>
    </p:spTree>
    <p:extLst>
      <p:ext uri="{BB962C8B-B14F-4D97-AF65-F5344CB8AC3E}">
        <p14:creationId xmlns:p14="http://schemas.microsoft.com/office/powerpoint/2010/main" val="303624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846B70-6906-88CB-73DE-3FB8480EF11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3595AB4-C4AE-B0AD-D3FC-92C0523BB8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1C6791C-8FE2-2D27-6F63-DB42B184BE68}"/>
              </a:ext>
            </a:extLst>
          </p:cNvPr>
          <p:cNvSpPr>
            <a:spLocks noGrp="1"/>
          </p:cNvSpPr>
          <p:nvPr>
            <p:ph type="dt" sz="half" idx="10"/>
          </p:nvPr>
        </p:nvSpPr>
        <p:spPr/>
        <p:txBody>
          <a:bodyPr/>
          <a:lstStyle/>
          <a:p>
            <a:fld id="{F8F95B5F-7F91-488C-92A3-2826ED7D066F}" type="datetimeFigureOut">
              <a:rPr lang="fr-FR" smtClean="0"/>
              <a:t>29/07/2025</a:t>
            </a:fld>
            <a:endParaRPr lang="fr-FR"/>
          </a:p>
        </p:txBody>
      </p:sp>
      <p:sp>
        <p:nvSpPr>
          <p:cNvPr id="5" name="Espace réservé du pied de page 4">
            <a:extLst>
              <a:ext uri="{FF2B5EF4-FFF2-40B4-BE49-F238E27FC236}">
                <a16:creationId xmlns:a16="http://schemas.microsoft.com/office/drawing/2014/main" id="{4C914EEA-A0E4-E515-F68D-AC757F0CFF8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F92036F-ECB8-97C0-24A4-3B1FF8F88A90}"/>
              </a:ext>
            </a:extLst>
          </p:cNvPr>
          <p:cNvSpPr>
            <a:spLocks noGrp="1"/>
          </p:cNvSpPr>
          <p:nvPr>
            <p:ph type="sldNum" sz="quarter" idx="12"/>
          </p:nvPr>
        </p:nvSpPr>
        <p:spPr/>
        <p:txBody>
          <a:bodyPr/>
          <a:lstStyle/>
          <a:p>
            <a:fld id="{DB34867E-F241-45D4-8CF5-3C05CC6032AA}" type="slidenum">
              <a:rPr lang="fr-FR" smtClean="0"/>
              <a:t>‹N°›</a:t>
            </a:fld>
            <a:endParaRPr lang="fr-FR"/>
          </a:p>
        </p:txBody>
      </p:sp>
    </p:spTree>
    <p:extLst>
      <p:ext uri="{BB962C8B-B14F-4D97-AF65-F5344CB8AC3E}">
        <p14:creationId xmlns:p14="http://schemas.microsoft.com/office/powerpoint/2010/main" val="981685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BD62A9-160E-728D-97D2-AFD47076F61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3BE3A74-BE03-98AC-3188-FE36BECC63F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8D54DAD-786A-79D7-A836-29CD6AC3ECD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710DD94F-E31C-A845-6D95-9EA19BD75013}"/>
              </a:ext>
            </a:extLst>
          </p:cNvPr>
          <p:cNvSpPr>
            <a:spLocks noGrp="1"/>
          </p:cNvSpPr>
          <p:nvPr>
            <p:ph type="dt" sz="half" idx="10"/>
          </p:nvPr>
        </p:nvSpPr>
        <p:spPr/>
        <p:txBody>
          <a:bodyPr/>
          <a:lstStyle/>
          <a:p>
            <a:fld id="{F8F95B5F-7F91-488C-92A3-2826ED7D066F}" type="datetimeFigureOut">
              <a:rPr lang="fr-FR" smtClean="0"/>
              <a:t>29/07/2025</a:t>
            </a:fld>
            <a:endParaRPr lang="fr-FR"/>
          </a:p>
        </p:txBody>
      </p:sp>
      <p:sp>
        <p:nvSpPr>
          <p:cNvPr id="6" name="Espace réservé du pied de page 5">
            <a:extLst>
              <a:ext uri="{FF2B5EF4-FFF2-40B4-BE49-F238E27FC236}">
                <a16:creationId xmlns:a16="http://schemas.microsoft.com/office/drawing/2014/main" id="{2D7563BB-0839-ACE0-5BAD-BA1B7DD5DEC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6229E01-756C-82D9-42DC-38FE8C6CDD19}"/>
              </a:ext>
            </a:extLst>
          </p:cNvPr>
          <p:cNvSpPr>
            <a:spLocks noGrp="1"/>
          </p:cNvSpPr>
          <p:nvPr>
            <p:ph type="sldNum" sz="quarter" idx="12"/>
          </p:nvPr>
        </p:nvSpPr>
        <p:spPr/>
        <p:txBody>
          <a:bodyPr/>
          <a:lstStyle/>
          <a:p>
            <a:fld id="{DB34867E-F241-45D4-8CF5-3C05CC6032AA}" type="slidenum">
              <a:rPr lang="fr-FR" smtClean="0"/>
              <a:t>‹N°›</a:t>
            </a:fld>
            <a:endParaRPr lang="fr-FR"/>
          </a:p>
        </p:txBody>
      </p:sp>
    </p:spTree>
    <p:extLst>
      <p:ext uri="{BB962C8B-B14F-4D97-AF65-F5344CB8AC3E}">
        <p14:creationId xmlns:p14="http://schemas.microsoft.com/office/powerpoint/2010/main" val="3951621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5E44F7-654B-DA41-5F8F-26159C510009}"/>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7F6D801-ED05-481F-C966-82C8EE69AC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81CF07B-B047-818F-B2BB-A7EE39532EA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DD9E55F-BF9F-A058-F84D-29EE79CB9F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1972D18-A41F-8685-2406-C3F270DFD35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CDF9380C-D026-96E0-8F69-F4AD9403A44C}"/>
              </a:ext>
            </a:extLst>
          </p:cNvPr>
          <p:cNvSpPr>
            <a:spLocks noGrp="1"/>
          </p:cNvSpPr>
          <p:nvPr>
            <p:ph type="dt" sz="half" idx="10"/>
          </p:nvPr>
        </p:nvSpPr>
        <p:spPr/>
        <p:txBody>
          <a:bodyPr/>
          <a:lstStyle/>
          <a:p>
            <a:fld id="{F8F95B5F-7F91-488C-92A3-2826ED7D066F}" type="datetimeFigureOut">
              <a:rPr lang="fr-FR" smtClean="0"/>
              <a:t>29/07/2025</a:t>
            </a:fld>
            <a:endParaRPr lang="fr-FR"/>
          </a:p>
        </p:txBody>
      </p:sp>
      <p:sp>
        <p:nvSpPr>
          <p:cNvPr id="8" name="Espace réservé du pied de page 7">
            <a:extLst>
              <a:ext uri="{FF2B5EF4-FFF2-40B4-BE49-F238E27FC236}">
                <a16:creationId xmlns:a16="http://schemas.microsoft.com/office/drawing/2014/main" id="{87505358-D3DB-B64D-DCA4-25BA351DE25A}"/>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5FA420AC-6AE9-C493-2084-F1024A556540}"/>
              </a:ext>
            </a:extLst>
          </p:cNvPr>
          <p:cNvSpPr>
            <a:spLocks noGrp="1"/>
          </p:cNvSpPr>
          <p:nvPr>
            <p:ph type="sldNum" sz="quarter" idx="12"/>
          </p:nvPr>
        </p:nvSpPr>
        <p:spPr/>
        <p:txBody>
          <a:bodyPr/>
          <a:lstStyle/>
          <a:p>
            <a:fld id="{DB34867E-F241-45D4-8CF5-3C05CC6032AA}" type="slidenum">
              <a:rPr lang="fr-FR" smtClean="0"/>
              <a:t>‹N°›</a:t>
            </a:fld>
            <a:endParaRPr lang="fr-FR"/>
          </a:p>
        </p:txBody>
      </p:sp>
    </p:spTree>
    <p:extLst>
      <p:ext uri="{BB962C8B-B14F-4D97-AF65-F5344CB8AC3E}">
        <p14:creationId xmlns:p14="http://schemas.microsoft.com/office/powerpoint/2010/main" val="2318913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EECB55-5132-F0D4-28C2-75A84E52D12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C822D8F-C0F2-BD09-6CBC-82D697E47E96}"/>
              </a:ext>
            </a:extLst>
          </p:cNvPr>
          <p:cNvSpPr>
            <a:spLocks noGrp="1"/>
          </p:cNvSpPr>
          <p:nvPr>
            <p:ph type="dt" sz="half" idx="10"/>
          </p:nvPr>
        </p:nvSpPr>
        <p:spPr/>
        <p:txBody>
          <a:bodyPr/>
          <a:lstStyle/>
          <a:p>
            <a:fld id="{F8F95B5F-7F91-488C-92A3-2826ED7D066F}" type="datetimeFigureOut">
              <a:rPr lang="fr-FR" smtClean="0"/>
              <a:t>29/07/2025</a:t>
            </a:fld>
            <a:endParaRPr lang="fr-FR"/>
          </a:p>
        </p:txBody>
      </p:sp>
      <p:sp>
        <p:nvSpPr>
          <p:cNvPr id="4" name="Espace réservé du pied de page 3">
            <a:extLst>
              <a:ext uri="{FF2B5EF4-FFF2-40B4-BE49-F238E27FC236}">
                <a16:creationId xmlns:a16="http://schemas.microsoft.com/office/drawing/2014/main" id="{095CA4BD-9C42-A583-AB23-5A118E3FBF7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2FD02B3-9019-97E2-F5A2-A9DCE5C60B79}"/>
              </a:ext>
            </a:extLst>
          </p:cNvPr>
          <p:cNvSpPr>
            <a:spLocks noGrp="1"/>
          </p:cNvSpPr>
          <p:nvPr>
            <p:ph type="sldNum" sz="quarter" idx="12"/>
          </p:nvPr>
        </p:nvSpPr>
        <p:spPr/>
        <p:txBody>
          <a:bodyPr/>
          <a:lstStyle/>
          <a:p>
            <a:fld id="{DB34867E-F241-45D4-8CF5-3C05CC6032AA}" type="slidenum">
              <a:rPr lang="fr-FR" smtClean="0"/>
              <a:t>‹N°›</a:t>
            </a:fld>
            <a:endParaRPr lang="fr-FR"/>
          </a:p>
        </p:txBody>
      </p:sp>
    </p:spTree>
    <p:extLst>
      <p:ext uri="{BB962C8B-B14F-4D97-AF65-F5344CB8AC3E}">
        <p14:creationId xmlns:p14="http://schemas.microsoft.com/office/powerpoint/2010/main" val="3605209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555438E-5A59-50AB-C823-775BA9E24204}"/>
              </a:ext>
            </a:extLst>
          </p:cNvPr>
          <p:cNvSpPr>
            <a:spLocks noGrp="1"/>
          </p:cNvSpPr>
          <p:nvPr>
            <p:ph type="dt" sz="half" idx="10"/>
          </p:nvPr>
        </p:nvSpPr>
        <p:spPr/>
        <p:txBody>
          <a:bodyPr/>
          <a:lstStyle/>
          <a:p>
            <a:fld id="{F8F95B5F-7F91-488C-92A3-2826ED7D066F}" type="datetimeFigureOut">
              <a:rPr lang="fr-FR" smtClean="0"/>
              <a:t>29/07/2025</a:t>
            </a:fld>
            <a:endParaRPr lang="fr-FR"/>
          </a:p>
        </p:txBody>
      </p:sp>
      <p:sp>
        <p:nvSpPr>
          <p:cNvPr id="3" name="Espace réservé du pied de page 2">
            <a:extLst>
              <a:ext uri="{FF2B5EF4-FFF2-40B4-BE49-F238E27FC236}">
                <a16:creationId xmlns:a16="http://schemas.microsoft.com/office/drawing/2014/main" id="{1620D50C-5E02-5A5E-8DB7-79139AD03B7F}"/>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98024C5-DFB7-A1E4-B731-10B61E3C7BE9}"/>
              </a:ext>
            </a:extLst>
          </p:cNvPr>
          <p:cNvSpPr>
            <a:spLocks noGrp="1"/>
          </p:cNvSpPr>
          <p:nvPr>
            <p:ph type="sldNum" sz="quarter" idx="12"/>
          </p:nvPr>
        </p:nvSpPr>
        <p:spPr/>
        <p:txBody>
          <a:bodyPr/>
          <a:lstStyle/>
          <a:p>
            <a:fld id="{DB34867E-F241-45D4-8CF5-3C05CC6032AA}" type="slidenum">
              <a:rPr lang="fr-FR" smtClean="0"/>
              <a:t>‹N°›</a:t>
            </a:fld>
            <a:endParaRPr lang="fr-FR"/>
          </a:p>
        </p:txBody>
      </p:sp>
    </p:spTree>
    <p:extLst>
      <p:ext uri="{BB962C8B-B14F-4D97-AF65-F5344CB8AC3E}">
        <p14:creationId xmlns:p14="http://schemas.microsoft.com/office/powerpoint/2010/main" val="4084826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121DE3-0C97-E2B7-E5E4-BEFE7A331E9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BE6A9B12-90A5-91C0-7894-0FD1A28EB9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E8D6F92-F922-1995-66A5-8698F28ADA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06A83E3-C455-EC1B-F06D-A5CAE8EC9B71}"/>
              </a:ext>
            </a:extLst>
          </p:cNvPr>
          <p:cNvSpPr>
            <a:spLocks noGrp="1"/>
          </p:cNvSpPr>
          <p:nvPr>
            <p:ph type="dt" sz="half" idx="10"/>
          </p:nvPr>
        </p:nvSpPr>
        <p:spPr/>
        <p:txBody>
          <a:bodyPr/>
          <a:lstStyle/>
          <a:p>
            <a:fld id="{F8F95B5F-7F91-488C-92A3-2826ED7D066F}" type="datetimeFigureOut">
              <a:rPr lang="fr-FR" smtClean="0"/>
              <a:t>29/07/2025</a:t>
            </a:fld>
            <a:endParaRPr lang="fr-FR"/>
          </a:p>
        </p:txBody>
      </p:sp>
      <p:sp>
        <p:nvSpPr>
          <p:cNvPr id="6" name="Espace réservé du pied de page 5">
            <a:extLst>
              <a:ext uri="{FF2B5EF4-FFF2-40B4-BE49-F238E27FC236}">
                <a16:creationId xmlns:a16="http://schemas.microsoft.com/office/drawing/2014/main" id="{300FEA45-79E1-976B-04E7-E51AFCED9AB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5766957-2789-9A7E-3DAF-E33E264CA94F}"/>
              </a:ext>
            </a:extLst>
          </p:cNvPr>
          <p:cNvSpPr>
            <a:spLocks noGrp="1"/>
          </p:cNvSpPr>
          <p:nvPr>
            <p:ph type="sldNum" sz="quarter" idx="12"/>
          </p:nvPr>
        </p:nvSpPr>
        <p:spPr/>
        <p:txBody>
          <a:bodyPr/>
          <a:lstStyle/>
          <a:p>
            <a:fld id="{DB34867E-F241-45D4-8CF5-3C05CC6032AA}" type="slidenum">
              <a:rPr lang="fr-FR" smtClean="0"/>
              <a:t>‹N°›</a:t>
            </a:fld>
            <a:endParaRPr lang="fr-FR"/>
          </a:p>
        </p:txBody>
      </p:sp>
    </p:spTree>
    <p:extLst>
      <p:ext uri="{BB962C8B-B14F-4D97-AF65-F5344CB8AC3E}">
        <p14:creationId xmlns:p14="http://schemas.microsoft.com/office/powerpoint/2010/main" val="1298934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87427A-90B0-0A7D-2B97-EB1C5FFA52C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9ACAEB4-FA36-F18B-2CAF-9C0D88F9B0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220CA37-CD21-2119-A36C-D46F0190C5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0B77FCF-B405-EF41-2691-8400937FE9DF}"/>
              </a:ext>
            </a:extLst>
          </p:cNvPr>
          <p:cNvSpPr>
            <a:spLocks noGrp="1"/>
          </p:cNvSpPr>
          <p:nvPr>
            <p:ph type="dt" sz="half" idx="10"/>
          </p:nvPr>
        </p:nvSpPr>
        <p:spPr/>
        <p:txBody>
          <a:bodyPr/>
          <a:lstStyle/>
          <a:p>
            <a:fld id="{F8F95B5F-7F91-488C-92A3-2826ED7D066F}" type="datetimeFigureOut">
              <a:rPr lang="fr-FR" smtClean="0"/>
              <a:t>29/07/2025</a:t>
            </a:fld>
            <a:endParaRPr lang="fr-FR"/>
          </a:p>
        </p:txBody>
      </p:sp>
      <p:sp>
        <p:nvSpPr>
          <p:cNvPr id="6" name="Espace réservé du pied de page 5">
            <a:extLst>
              <a:ext uri="{FF2B5EF4-FFF2-40B4-BE49-F238E27FC236}">
                <a16:creationId xmlns:a16="http://schemas.microsoft.com/office/drawing/2014/main" id="{59A6BF25-D170-DFD5-FA61-72E98A63641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8A80A77-33F2-4C4A-583E-8718FEEB939A}"/>
              </a:ext>
            </a:extLst>
          </p:cNvPr>
          <p:cNvSpPr>
            <a:spLocks noGrp="1"/>
          </p:cNvSpPr>
          <p:nvPr>
            <p:ph type="sldNum" sz="quarter" idx="12"/>
          </p:nvPr>
        </p:nvSpPr>
        <p:spPr/>
        <p:txBody>
          <a:bodyPr/>
          <a:lstStyle/>
          <a:p>
            <a:fld id="{DB34867E-F241-45D4-8CF5-3C05CC6032AA}" type="slidenum">
              <a:rPr lang="fr-FR" smtClean="0"/>
              <a:t>‹N°›</a:t>
            </a:fld>
            <a:endParaRPr lang="fr-FR"/>
          </a:p>
        </p:txBody>
      </p:sp>
    </p:spTree>
    <p:extLst>
      <p:ext uri="{BB962C8B-B14F-4D97-AF65-F5344CB8AC3E}">
        <p14:creationId xmlns:p14="http://schemas.microsoft.com/office/powerpoint/2010/main" val="868942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BCCD25-E6B8-B18C-CA9B-1C062D11D90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E493AFB-198F-8721-40FB-550352F7A0C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B838B4B-95D6-6C14-CD99-64B1CA7C1FC5}"/>
              </a:ext>
            </a:extLst>
          </p:cNvPr>
          <p:cNvSpPr>
            <a:spLocks noGrp="1"/>
          </p:cNvSpPr>
          <p:nvPr>
            <p:ph type="dt" sz="half" idx="10"/>
          </p:nvPr>
        </p:nvSpPr>
        <p:spPr/>
        <p:txBody>
          <a:bodyPr/>
          <a:lstStyle/>
          <a:p>
            <a:fld id="{F8F95B5F-7F91-488C-92A3-2826ED7D066F}" type="datetimeFigureOut">
              <a:rPr lang="fr-FR" smtClean="0"/>
              <a:t>29/07/2025</a:t>
            </a:fld>
            <a:endParaRPr lang="fr-FR"/>
          </a:p>
        </p:txBody>
      </p:sp>
      <p:sp>
        <p:nvSpPr>
          <p:cNvPr id="5" name="Espace réservé du pied de page 4">
            <a:extLst>
              <a:ext uri="{FF2B5EF4-FFF2-40B4-BE49-F238E27FC236}">
                <a16:creationId xmlns:a16="http://schemas.microsoft.com/office/drawing/2014/main" id="{6AC72A11-0D3B-C6C9-4F04-E274AA31AAF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1669261-D8E5-B800-9BC4-F825E29E0259}"/>
              </a:ext>
            </a:extLst>
          </p:cNvPr>
          <p:cNvSpPr>
            <a:spLocks noGrp="1"/>
          </p:cNvSpPr>
          <p:nvPr>
            <p:ph type="sldNum" sz="quarter" idx="12"/>
          </p:nvPr>
        </p:nvSpPr>
        <p:spPr/>
        <p:txBody>
          <a:bodyPr/>
          <a:lstStyle/>
          <a:p>
            <a:fld id="{DB34867E-F241-45D4-8CF5-3C05CC6032AA}" type="slidenum">
              <a:rPr lang="fr-FR" smtClean="0"/>
              <a:t>‹N°›</a:t>
            </a:fld>
            <a:endParaRPr lang="fr-FR"/>
          </a:p>
        </p:txBody>
      </p:sp>
    </p:spTree>
    <p:extLst>
      <p:ext uri="{BB962C8B-B14F-4D97-AF65-F5344CB8AC3E}">
        <p14:creationId xmlns:p14="http://schemas.microsoft.com/office/powerpoint/2010/main" val="2447203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48FB588-A213-B72C-4FB5-A96FD463128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EDB1DA4-F788-0230-C8E9-0DC60FCEDBB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A78DE02-4113-B8B5-7CBB-9A248DB655E8}"/>
              </a:ext>
            </a:extLst>
          </p:cNvPr>
          <p:cNvSpPr>
            <a:spLocks noGrp="1"/>
          </p:cNvSpPr>
          <p:nvPr>
            <p:ph type="dt" sz="half" idx="10"/>
          </p:nvPr>
        </p:nvSpPr>
        <p:spPr/>
        <p:txBody>
          <a:bodyPr/>
          <a:lstStyle/>
          <a:p>
            <a:fld id="{F8F95B5F-7F91-488C-92A3-2826ED7D066F}" type="datetimeFigureOut">
              <a:rPr lang="fr-FR" smtClean="0"/>
              <a:t>29/07/2025</a:t>
            </a:fld>
            <a:endParaRPr lang="fr-FR"/>
          </a:p>
        </p:txBody>
      </p:sp>
      <p:sp>
        <p:nvSpPr>
          <p:cNvPr id="5" name="Espace réservé du pied de page 4">
            <a:extLst>
              <a:ext uri="{FF2B5EF4-FFF2-40B4-BE49-F238E27FC236}">
                <a16:creationId xmlns:a16="http://schemas.microsoft.com/office/drawing/2014/main" id="{A4B737C9-B807-9EB2-1442-2F1C6B8DDF8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679B900-CF93-1B76-C5ED-71A67A4BBDAB}"/>
              </a:ext>
            </a:extLst>
          </p:cNvPr>
          <p:cNvSpPr>
            <a:spLocks noGrp="1"/>
          </p:cNvSpPr>
          <p:nvPr>
            <p:ph type="sldNum" sz="quarter" idx="12"/>
          </p:nvPr>
        </p:nvSpPr>
        <p:spPr/>
        <p:txBody>
          <a:bodyPr/>
          <a:lstStyle/>
          <a:p>
            <a:fld id="{DB34867E-F241-45D4-8CF5-3C05CC6032AA}" type="slidenum">
              <a:rPr lang="fr-FR" smtClean="0"/>
              <a:t>‹N°›</a:t>
            </a:fld>
            <a:endParaRPr lang="fr-FR"/>
          </a:p>
        </p:txBody>
      </p:sp>
    </p:spTree>
    <p:extLst>
      <p:ext uri="{BB962C8B-B14F-4D97-AF65-F5344CB8AC3E}">
        <p14:creationId xmlns:p14="http://schemas.microsoft.com/office/powerpoint/2010/main" val="4114812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0E3068D-C922-6D1A-0621-A77B18E511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FD99FBED-C77A-15B9-10EC-A99F13593C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40DAC27-A3B5-955F-DB57-8D8C3432AF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F95B5F-7F91-488C-92A3-2826ED7D066F}" type="datetimeFigureOut">
              <a:rPr lang="fr-FR" smtClean="0"/>
              <a:t>29/07/2025</a:t>
            </a:fld>
            <a:endParaRPr lang="fr-FR"/>
          </a:p>
        </p:txBody>
      </p:sp>
      <p:sp>
        <p:nvSpPr>
          <p:cNvPr id="5" name="Espace réservé du pied de page 4">
            <a:extLst>
              <a:ext uri="{FF2B5EF4-FFF2-40B4-BE49-F238E27FC236}">
                <a16:creationId xmlns:a16="http://schemas.microsoft.com/office/drawing/2014/main" id="{B8F4CA41-BB81-9B7E-0649-1BBBA9B677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6B9D18D-34CE-19BE-A3CE-140191B712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34867E-F241-45D4-8CF5-3C05CC6032AA}" type="slidenum">
              <a:rPr lang="fr-FR" smtClean="0"/>
              <a:t>‹N°›</a:t>
            </a:fld>
            <a:endParaRPr lang="fr-FR"/>
          </a:p>
        </p:txBody>
      </p:sp>
    </p:spTree>
    <p:extLst>
      <p:ext uri="{BB962C8B-B14F-4D97-AF65-F5344CB8AC3E}">
        <p14:creationId xmlns:p14="http://schemas.microsoft.com/office/powerpoint/2010/main" val="30754448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F9E17E-8269-4C9A-2CE6-7BD2DC22829D}"/>
              </a:ext>
            </a:extLst>
          </p:cNvPr>
          <p:cNvSpPr>
            <a:spLocks noGrp="1"/>
          </p:cNvSpPr>
          <p:nvPr>
            <p:ph type="ctrTitle"/>
          </p:nvPr>
        </p:nvSpPr>
        <p:spPr>
          <a:xfrm>
            <a:off x="1487183" y="2101075"/>
            <a:ext cx="9217632" cy="1549083"/>
          </a:xfrm>
        </p:spPr>
        <p:style>
          <a:lnRef idx="2">
            <a:schemeClr val="dk1"/>
          </a:lnRef>
          <a:fillRef idx="1">
            <a:schemeClr val="lt1"/>
          </a:fillRef>
          <a:effectRef idx="0">
            <a:schemeClr val="dk1"/>
          </a:effectRef>
          <a:fontRef idx="minor">
            <a:schemeClr val="dk1"/>
          </a:fontRef>
        </p:style>
        <p:txBody>
          <a:bodyPr>
            <a:normAutofit fontScale="90000"/>
          </a:bodyPr>
          <a:lstStyle/>
          <a:p>
            <a:r>
              <a:rPr lang="fr-FR" dirty="0"/>
              <a:t>Insuffisance rénale aigue obstructive</a:t>
            </a:r>
          </a:p>
        </p:txBody>
      </p:sp>
      <p:sp>
        <p:nvSpPr>
          <p:cNvPr id="3" name="Sous-titre 2">
            <a:extLst>
              <a:ext uri="{FF2B5EF4-FFF2-40B4-BE49-F238E27FC236}">
                <a16:creationId xmlns:a16="http://schemas.microsoft.com/office/drawing/2014/main" id="{775A9621-3FF6-EC6A-7249-EC1D5EBB30F5}"/>
              </a:ext>
            </a:extLst>
          </p:cNvPr>
          <p:cNvSpPr>
            <a:spLocks noGrp="1"/>
          </p:cNvSpPr>
          <p:nvPr>
            <p:ph type="subTitle" idx="1"/>
          </p:nvPr>
        </p:nvSpPr>
        <p:spPr>
          <a:xfrm>
            <a:off x="2487560" y="4019270"/>
            <a:ext cx="7216877" cy="891304"/>
          </a:xfrm>
        </p:spPr>
        <p:style>
          <a:lnRef idx="2">
            <a:schemeClr val="dk1"/>
          </a:lnRef>
          <a:fillRef idx="1">
            <a:schemeClr val="lt1"/>
          </a:fillRef>
          <a:effectRef idx="0">
            <a:schemeClr val="dk1"/>
          </a:effectRef>
          <a:fontRef idx="minor">
            <a:schemeClr val="dk1"/>
          </a:fontRef>
        </p:style>
        <p:txBody>
          <a:bodyPr/>
          <a:lstStyle/>
          <a:p>
            <a:r>
              <a:rPr lang="fr-FR" dirty="0"/>
              <a:t>Dr Loghmari Ahmed</a:t>
            </a:r>
          </a:p>
          <a:p>
            <a:r>
              <a:rPr lang="fr-FR" dirty="0"/>
              <a:t>Préparation résidanat 2025</a:t>
            </a:r>
          </a:p>
        </p:txBody>
      </p:sp>
      <p:pic>
        <p:nvPicPr>
          <p:cNvPr id="4" name="Google Shape;86;p1" descr="C:\Users\POSTE-40\Desktop\hqdefault_live.jpg">
            <a:extLst>
              <a:ext uri="{FF2B5EF4-FFF2-40B4-BE49-F238E27FC236}">
                <a16:creationId xmlns:a16="http://schemas.microsoft.com/office/drawing/2014/main" id="{154E5BBC-292A-D220-476C-B53A34764BAF}"/>
              </a:ext>
            </a:extLst>
          </p:cNvPr>
          <p:cNvPicPr preferRelativeResize="0"/>
          <p:nvPr/>
        </p:nvPicPr>
        <p:blipFill rotWithShape="1">
          <a:blip r:embed="rId2">
            <a:alphaModFix/>
          </a:blip>
          <a:srcRect l="14430" r="14428"/>
          <a:stretch/>
        </p:blipFill>
        <p:spPr>
          <a:xfrm>
            <a:off x="5102321" y="5279686"/>
            <a:ext cx="1987353" cy="1446891"/>
          </a:xfrm>
          <a:prstGeom prst="rect">
            <a:avLst/>
          </a:prstGeom>
          <a:noFill/>
          <a:ln>
            <a:noFill/>
          </a:ln>
        </p:spPr>
      </p:pic>
      <p:pic>
        <p:nvPicPr>
          <p:cNvPr id="5" name="Picture 4" descr="Etablissement d'enseignement supérieur privé | | Faculté de Médecine de  Sousse (FMS) - Sousse">
            <a:extLst>
              <a:ext uri="{FF2B5EF4-FFF2-40B4-BE49-F238E27FC236}">
                <a16:creationId xmlns:a16="http://schemas.microsoft.com/office/drawing/2014/main" id="{181B0F4D-D8C2-0855-D026-A50C57D25E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806" r="14127"/>
          <a:stretch>
            <a:fillRect/>
          </a:stretch>
        </p:blipFill>
        <p:spPr bwMode="auto">
          <a:xfrm>
            <a:off x="953729" y="29887"/>
            <a:ext cx="2010133" cy="170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Université de Sousse">
            <a:extLst>
              <a:ext uri="{FF2B5EF4-FFF2-40B4-BE49-F238E27FC236}">
                <a16:creationId xmlns:a16="http://schemas.microsoft.com/office/drawing/2014/main" id="{FA6114EB-FD0B-777E-6A61-D8D4AAEDF4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39471" y="182880"/>
            <a:ext cx="2368542" cy="1549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5021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pPr algn="ctr"/>
            <a:r>
              <a:rPr lang="fr-FR" sz="3600" dirty="0">
                <a:solidFill>
                  <a:srgbClr val="0000FF"/>
                </a:solidFill>
                <a:latin typeface="Tahoma" panose="020B0604030504040204" pitchFamily="34" charset="0"/>
                <a:ea typeface="Tahoma" panose="020B0604030504040204" pitchFamily="34" charset="0"/>
                <a:cs typeface="Tahoma" panose="020B0604030504040204" pitchFamily="34" charset="0"/>
              </a:rPr>
              <a:t>Insuffisance rénale aigue obstructive</a:t>
            </a:r>
          </a:p>
        </p:txBody>
      </p:sp>
      <p:sp>
        <p:nvSpPr>
          <p:cNvPr id="3" name="Espace réservé du contenu 2"/>
          <p:cNvSpPr>
            <a:spLocks noGrp="1"/>
          </p:cNvSpPr>
          <p:nvPr>
            <p:ph idx="1"/>
          </p:nvPr>
        </p:nvSpPr>
        <p:spPr>
          <a:xfrm>
            <a:off x="838200" y="1825624"/>
            <a:ext cx="10515600" cy="4893227"/>
          </a:xfrm>
        </p:spPr>
        <p:txBody>
          <a:bodyPr>
            <a:normAutofit fontScale="92500"/>
          </a:bodyPr>
          <a:lstStyle/>
          <a:p>
            <a:pPr marL="0" indent="0" algn="ctr">
              <a:spcBef>
                <a:spcPct val="0"/>
              </a:spcBef>
              <a:buNone/>
            </a:pPr>
            <a:r>
              <a:rPr lang="fr-FR" sz="3600" dirty="0">
                <a:solidFill>
                  <a:srgbClr val="0000FF"/>
                </a:solidFill>
                <a:latin typeface="Tahoma" panose="020B0604030504040204" pitchFamily="34" charset="0"/>
                <a:ea typeface="Tahoma" panose="020B0604030504040204" pitchFamily="34" charset="0"/>
                <a:cs typeface="Tahoma" panose="020B0604030504040204" pitchFamily="34" charset="0"/>
              </a:rPr>
              <a:t>OBJECTIFS</a:t>
            </a:r>
          </a:p>
          <a:p>
            <a:pPr marL="457200" indent="-457200">
              <a:lnSpc>
                <a:spcPct val="150000"/>
              </a:lnSpc>
              <a:spcBef>
                <a:spcPct val="0"/>
              </a:spcBef>
              <a:buFont typeface="+mj-lt"/>
              <a:buAutoNum type="arabicPeriod"/>
            </a:pPr>
            <a:r>
              <a:rPr lang="fr-FR" sz="2400" dirty="0"/>
              <a:t>Définir une IRA obstructive</a:t>
            </a:r>
          </a:p>
          <a:p>
            <a:pPr marL="457200" indent="-457200">
              <a:lnSpc>
                <a:spcPct val="150000"/>
              </a:lnSpc>
              <a:spcBef>
                <a:spcPct val="0"/>
              </a:spcBef>
              <a:buFont typeface="+mj-lt"/>
              <a:buAutoNum type="arabicPeriod"/>
            </a:pPr>
            <a:r>
              <a:rPr lang="fr-FR" sz="2400" dirty="0"/>
              <a:t>Expliquer les principaux mécanismes physiopathologiques impliqués dans l’IRA</a:t>
            </a:r>
            <a:br>
              <a:rPr lang="fr-FR" sz="2400" dirty="0"/>
            </a:br>
            <a:r>
              <a:rPr lang="fr-FR" sz="2400" dirty="0"/>
              <a:t>obstructive</a:t>
            </a:r>
          </a:p>
          <a:p>
            <a:pPr marL="457200" indent="-457200">
              <a:lnSpc>
                <a:spcPct val="150000"/>
              </a:lnSpc>
              <a:spcBef>
                <a:spcPct val="0"/>
              </a:spcBef>
              <a:buFont typeface="+mj-lt"/>
              <a:buAutoNum type="arabicPeriod"/>
            </a:pPr>
            <a:r>
              <a:rPr lang="fr-FR" sz="2400" dirty="0"/>
              <a:t>Etablir le diagnostic positif d’une IRA obstructive à partir des données anamnestiques, cliniques et échographiques.</a:t>
            </a:r>
          </a:p>
          <a:p>
            <a:pPr marL="457200" indent="-457200">
              <a:lnSpc>
                <a:spcPct val="150000"/>
              </a:lnSpc>
              <a:spcBef>
                <a:spcPct val="0"/>
              </a:spcBef>
              <a:buFont typeface="+mj-lt"/>
              <a:buAutoNum type="arabicPeriod"/>
            </a:pPr>
            <a:r>
              <a:rPr lang="fr-FR" sz="2400" dirty="0"/>
              <a:t>Indiquer un drainage urgent des voies excrétrices au cours de l’IRA obstructive</a:t>
            </a:r>
          </a:p>
          <a:p>
            <a:pPr marL="457200" indent="-457200">
              <a:lnSpc>
                <a:spcPct val="150000"/>
              </a:lnSpc>
              <a:spcBef>
                <a:spcPct val="0"/>
              </a:spcBef>
              <a:buFont typeface="+mj-lt"/>
              <a:buAutoNum type="arabicPeriod"/>
            </a:pPr>
            <a:r>
              <a:rPr lang="fr-FR" sz="2400" dirty="0"/>
              <a:t>Enumérer les éléments cliniques et biologiques permettant le diagnostic précoce d’un syndrome de levée d’obstacle</a:t>
            </a:r>
            <a:endParaRPr lang="fr-FR" sz="24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076269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43310" y="759125"/>
            <a:ext cx="10515600" cy="853926"/>
          </a:xfrm>
        </p:spPr>
        <p:txBody>
          <a:bodyPr>
            <a:normAutofit/>
          </a:bodyPr>
          <a:lstStyle/>
          <a:p>
            <a:pPr algn="ctr"/>
            <a:r>
              <a:rPr lang="fr-FR" sz="3600" dirty="0">
                <a:solidFill>
                  <a:srgbClr val="0000FF"/>
                </a:solidFill>
                <a:latin typeface="Tahoma" panose="020B0604030504040204" pitchFamily="34" charset="0"/>
                <a:ea typeface="Tahoma" panose="020B0604030504040204" pitchFamily="34" charset="0"/>
                <a:cs typeface="Tahoma" panose="020B0604030504040204" pitchFamily="34" charset="0"/>
              </a:rPr>
              <a:t>Objectif 4</a:t>
            </a:r>
          </a:p>
        </p:txBody>
      </p:sp>
      <p:sp>
        <p:nvSpPr>
          <p:cNvPr id="3" name="Espace réservé du contenu 2"/>
          <p:cNvSpPr>
            <a:spLocks noGrp="1"/>
          </p:cNvSpPr>
          <p:nvPr>
            <p:ph idx="1"/>
          </p:nvPr>
        </p:nvSpPr>
        <p:spPr>
          <a:xfrm>
            <a:off x="872706" y="2532991"/>
            <a:ext cx="10515600" cy="952081"/>
          </a:xfrm>
        </p:spPr>
        <p:txBody>
          <a:bodyPr/>
          <a:lstStyle/>
          <a:p>
            <a:r>
              <a:rPr lang="fr-FR" dirty="0"/>
              <a:t>Définir une IRA obstructive</a:t>
            </a:r>
          </a:p>
        </p:txBody>
      </p:sp>
    </p:spTree>
    <p:extLst>
      <p:ext uri="{BB962C8B-B14F-4D97-AF65-F5344CB8AC3E}">
        <p14:creationId xmlns:p14="http://schemas.microsoft.com/office/powerpoint/2010/main" val="1262605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Insuffisance rénale aigue obstructive</a:t>
            </a:r>
            <a:b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b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Définition</a:t>
            </a:r>
            <a:endParaRPr lang="fr-FR" dirty="0"/>
          </a:p>
        </p:txBody>
      </p:sp>
      <p:sp>
        <p:nvSpPr>
          <p:cNvPr id="3" name="Espace réservé du contenu 2"/>
          <p:cNvSpPr>
            <a:spLocks noGrp="1"/>
          </p:cNvSpPr>
          <p:nvPr>
            <p:ph idx="1"/>
          </p:nvPr>
        </p:nvSpPr>
        <p:spPr/>
        <p:txBody>
          <a:bodyPr>
            <a:normAutofit lnSpcReduction="10000"/>
          </a:bodyPr>
          <a:lstStyle/>
          <a:p>
            <a:pPr>
              <a:lnSpc>
                <a:spcPct val="150000"/>
              </a:lnSpc>
            </a:pPr>
            <a:r>
              <a:rPr lang="fr-FR" dirty="0"/>
              <a:t>Insuffisance rénale aigue post rénale</a:t>
            </a:r>
          </a:p>
          <a:p>
            <a:pPr>
              <a:lnSpc>
                <a:spcPct val="150000"/>
              </a:lnSpc>
            </a:pPr>
            <a:r>
              <a:rPr lang="fr-FR" dirty="0"/>
              <a:t>Diminution du débit de filtration glomérulaire due  à une obstruction située à un niveau quelconque de la voie excrétrice</a:t>
            </a:r>
          </a:p>
          <a:p>
            <a:pPr>
              <a:lnSpc>
                <a:spcPct val="150000"/>
              </a:lnSpc>
            </a:pPr>
            <a:r>
              <a:rPr lang="fr-FR" b="1" u="sng" dirty="0"/>
              <a:t>Urgence médico-chirurgicale</a:t>
            </a:r>
          </a:p>
          <a:p>
            <a:pPr>
              <a:lnSpc>
                <a:spcPct val="150000"/>
              </a:lnSpc>
            </a:pPr>
            <a:r>
              <a:rPr lang="fr-FR" dirty="0"/>
              <a:t>Prise en charge repose sur le drainage des urines</a:t>
            </a:r>
          </a:p>
          <a:p>
            <a:pPr>
              <a:lnSpc>
                <a:spcPct val="150000"/>
              </a:lnSpc>
            </a:pPr>
            <a:r>
              <a:rPr lang="fr-FR" dirty="0"/>
              <a:t>Pronostic dépend du délai de prise en charge</a:t>
            </a:r>
          </a:p>
        </p:txBody>
      </p:sp>
    </p:spTree>
    <p:extLst>
      <p:ext uri="{BB962C8B-B14F-4D97-AF65-F5344CB8AC3E}">
        <p14:creationId xmlns:p14="http://schemas.microsoft.com/office/powerpoint/2010/main" val="2200995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43310" y="759125"/>
            <a:ext cx="10515600" cy="853926"/>
          </a:xfrm>
        </p:spPr>
        <p:txBody>
          <a:bodyPr>
            <a:normAutofit/>
          </a:bodyPr>
          <a:lstStyle/>
          <a:p>
            <a:pPr algn="ctr"/>
            <a:r>
              <a:rPr lang="fr-FR" sz="3600">
                <a:solidFill>
                  <a:srgbClr val="0000FF"/>
                </a:solidFill>
                <a:latin typeface="Tahoma" panose="020B0604030504040204" pitchFamily="34" charset="0"/>
                <a:ea typeface="Tahoma" panose="020B0604030504040204" pitchFamily="34" charset="0"/>
                <a:cs typeface="Tahoma" panose="020B0604030504040204" pitchFamily="34" charset="0"/>
              </a:rPr>
              <a:t>Objectif 5</a:t>
            </a:r>
            <a:endParaRPr lang="fr-FR" sz="3600" dirty="0">
              <a:solidFill>
                <a:srgbClr val="0000FF"/>
              </a:solidFill>
              <a:latin typeface="Tahoma" panose="020B0604030504040204" pitchFamily="34" charset="0"/>
              <a:ea typeface="Tahoma" panose="020B0604030504040204" pitchFamily="34" charset="0"/>
              <a:cs typeface="Tahoma" panose="020B0604030504040204" pitchFamily="34" charset="0"/>
            </a:endParaRPr>
          </a:p>
        </p:txBody>
      </p:sp>
      <p:sp>
        <p:nvSpPr>
          <p:cNvPr id="3" name="Espace réservé du contenu 2"/>
          <p:cNvSpPr>
            <a:spLocks noGrp="1"/>
          </p:cNvSpPr>
          <p:nvPr>
            <p:ph idx="1"/>
          </p:nvPr>
        </p:nvSpPr>
        <p:spPr>
          <a:xfrm>
            <a:off x="872706" y="2532991"/>
            <a:ext cx="10515600" cy="952081"/>
          </a:xfrm>
        </p:spPr>
        <p:txBody>
          <a:bodyPr>
            <a:normAutofit/>
          </a:bodyPr>
          <a:lstStyle/>
          <a:p>
            <a:r>
              <a:rPr lang="fr-FR" dirty="0"/>
              <a:t>Expliquer les principaux mécanismes physiopathologiques impliqués dans l’IRA obstructive</a:t>
            </a:r>
          </a:p>
        </p:txBody>
      </p:sp>
    </p:spTree>
    <p:extLst>
      <p:ext uri="{BB962C8B-B14F-4D97-AF65-F5344CB8AC3E}">
        <p14:creationId xmlns:p14="http://schemas.microsoft.com/office/powerpoint/2010/main" val="2889009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Insuffisance rénale aigue obstructive</a:t>
            </a:r>
            <a:b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b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Physiopathologie</a:t>
            </a:r>
            <a:endParaRPr lang="fr-FR" dirty="0"/>
          </a:p>
        </p:txBody>
      </p:sp>
      <p:sp>
        <p:nvSpPr>
          <p:cNvPr id="3" name="Espace réservé du contenu 2"/>
          <p:cNvSpPr>
            <a:spLocks noGrp="1"/>
          </p:cNvSpPr>
          <p:nvPr>
            <p:ph idx="1"/>
          </p:nvPr>
        </p:nvSpPr>
        <p:spPr>
          <a:xfrm>
            <a:off x="413467" y="2119824"/>
            <a:ext cx="8651020" cy="4351338"/>
          </a:xfrm>
        </p:spPr>
        <p:txBody>
          <a:bodyPr>
            <a:normAutofit/>
          </a:bodyPr>
          <a:lstStyle/>
          <a:p>
            <a:pPr lvl="1">
              <a:lnSpc>
                <a:spcPct val="150000"/>
              </a:lnSpc>
            </a:pPr>
            <a:r>
              <a:rPr lang="fr-FR" dirty="0"/>
              <a:t>Une cascade de phénomènes</a:t>
            </a:r>
          </a:p>
          <a:p>
            <a:pPr lvl="2">
              <a:lnSpc>
                <a:spcPct val="200000"/>
              </a:lnSpc>
            </a:pPr>
            <a:r>
              <a:rPr lang="fr-FR" sz="2400" dirty="0"/>
              <a:t>Obstruction intrinsèque ou extrinsèque</a:t>
            </a:r>
          </a:p>
          <a:p>
            <a:pPr lvl="2">
              <a:lnSpc>
                <a:spcPct val="200000"/>
              </a:lnSpc>
            </a:pPr>
            <a:r>
              <a:rPr lang="fr-FR" sz="2400" dirty="0"/>
              <a:t>Hyperpression d’amant dans les tubules rénaux (TCP )</a:t>
            </a:r>
          </a:p>
          <a:p>
            <a:pPr lvl="2">
              <a:lnSpc>
                <a:spcPct val="200000"/>
              </a:lnSpc>
            </a:pPr>
            <a:r>
              <a:rPr lang="fr-FR" sz="2400" dirty="0"/>
              <a:t>Blocage de la filtration glomérulaire</a:t>
            </a:r>
          </a:p>
          <a:p>
            <a:pPr lvl="2">
              <a:lnSpc>
                <a:spcPct val="200000"/>
              </a:lnSpc>
            </a:pPr>
            <a:r>
              <a:rPr lang="fr-FR" sz="2400" dirty="0"/>
              <a:t>Diminution du débit sanguin rénal </a:t>
            </a:r>
          </a:p>
        </p:txBody>
      </p:sp>
      <p:pic>
        <p:nvPicPr>
          <p:cNvPr id="1026" name="Picture 2" descr="Physiopathologie de l'IRA obstructive - YouTube"/>
          <p:cNvPicPr>
            <a:picLocks noChangeAspect="1" noChangeArrowheads="1"/>
          </p:cNvPicPr>
          <p:nvPr/>
        </p:nvPicPr>
        <p:blipFill rotWithShape="1">
          <a:blip r:embed="rId2">
            <a:extLst>
              <a:ext uri="{28A0092B-C50C-407E-A947-70E740481C1C}">
                <a14:useLocalDpi xmlns:a14="http://schemas.microsoft.com/office/drawing/2010/main" val="0"/>
              </a:ext>
            </a:extLst>
          </a:blip>
          <a:srcRect l="25988" t="23198" r="37142" b="13730"/>
          <a:stretch/>
        </p:blipFill>
        <p:spPr bwMode="auto">
          <a:xfrm>
            <a:off x="8308451" y="2011680"/>
            <a:ext cx="3593989" cy="4293704"/>
          </a:xfrm>
          <a:prstGeom prst="rect">
            <a:avLst/>
          </a:prstGeom>
          <a:noFill/>
          <a:extLst>
            <a:ext uri="{909E8E84-426E-40DD-AFC4-6F175D3DCCD1}">
              <a14:hiddenFill xmlns:a14="http://schemas.microsoft.com/office/drawing/2010/main">
                <a:solidFill>
                  <a:srgbClr val="FFFFFF"/>
                </a:solidFill>
              </a14:hiddenFill>
            </a:ext>
          </a:extLst>
        </p:spPr>
      </p:pic>
      <p:sp>
        <p:nvSpPr>
          <p:cNvPr id="6" name="Moins 5"/>
          <p:cNvSpPr/>
          <p:nvPr/>
        </p:nvSpPr>
        <p:spPr>
          <a:xfrm>
            <a:off x="9994790" y="6062868"/>
            <a:ext cx="803082" cy="246491"/>
          </a:xfrm>
          <a:prstGeom prst="mathMin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ln>
                <a:solidFill>
                  <a:prstClr val="black"/>
                </a:solidFill>
              </a:ln>
              <a:solidFill>
                <a:sysClr val="windowText" lastClr="000000"/>
              </a:solidFill>
            </a:endParaRPr>
          </a:p>
        </p:txBody>
      </p:sp>
    </p:spTree>
    <p:extLst>
      <p:ext uri="{BB962C8B-B14F-4D97-AF65-F5344CB8AC3E}">
        <p14:creationId xmlns:p14="http://schemas.microsoft.com/office/powerpoint/2010/main" val="2963530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43310" y="759125"/>
            <a:ext cx="10515600" cy="853926"/>
          </a:xfrm>
        </p:spPr>
        <p:txBody>
          <a:bodyPr>
            <a:normAutofit/>
          </a:bodyPr>
          <a:lstStyle/>
          <a:p>
            <a:pPr algn="ctr"/>
            <a:r>
              <a:rPr lang="fr-FR" sz="3600" dirty="0">
                <a:solidFill>
                  <a:srgbClr val="0000FF"/>
                </a:solidFill>
                <a:latin typeface="Tahoma" panose="020B0604030504040204" pitchFamily="34" charset="0"/>
                <a:ea typeface="Tahoma" panose="020B0604030504040204" pitchFamily="34" charset="0"/>
                <a:cs typeface="Tahoma" panose="020B0604030504040204" pitchFamily="34" charset="0"/>
              </a:rPr>
              <a:t>Objectif 10</a:t>
            </a:r>
          </a:p>
        </p:txBody>
      </p:sp>
      <p:sp>
        <p:nvSpPr>
          <p:cNvPr id="3" name="Espace réservé du contenu 2"/>
          <p:cNvSpPr>
            <a:spLocks noGrp="1"/>
          </p:cNvSpPr>
          <p:nvPr>
            <p:ph idx="1"/>
          </p:nvPr>
        </p:nvSpPr>
        <p:spPr>
          <a:xfrm>
            <a:off x="872706" y="2532991"/>
            <a:ext cx="10515600" cy="952081"/>
          </a:xfrm>
        </p:spPr>
        <p:txBody>
          <a:bodyPr>
            <a:normAutofit/>
          </a:bodyPr>
          <a:lstStyle/>
          <a:p>
            <a:r>
              <a:rPr lang="fr-FR" dirty="0"/>
              <a:t>Etablir le diagnostic positif d’une IRA obstructive à partir des données anamnestiques, cliniques et échographiques.</a:t>
            </a:r>
          </a:p>
        </p:txBody>
      </p:sp>
    </p:spTree>
    <p:extLst>
      <p:ext uri="{BB962C8B-B14F-4D97-AF65-F5344CB8AC3E}">
        <p14:creationId xmlns:p14="http://schemas.microsoft.com/office/powerpoint/2010/main" val="2327953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Insuffisance rénale aigue obstructive</a:t>
            </a:r>
            <a:b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b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Diagnostic positif</a:t>
            </a:r>
            <a:endParaRPr lang="fr-FR" dirty="0"/>
          </a:p>
        </p:txBody>
      </p:sp>
      <p:sp>
        <p:nvSpPr>
          <p:cNvPr id="3" name="Espace réservé du contenu 2"/>
          <p:cNvSpPr>
            <a:spLocks noGrp="1"/>
          </p:cNvSpPr>
          <p:nvPr>
            <p:ph idx="1"/>
          </p:nvPr>
        </p:nvSpPr>
        <p:spPr/>
        <p:txBody>
          <a:bodyPr>
            <a:normAutofit/>
          </a:bodyPr>
          <a:lstStyle/>
          <a:p>
            <a:r>
              <a:rPr lang="fr-FR" dirty="0"/>
              <a:t>Contexte</a:t>
            </a:r>
          </a:p>
          <a:p>
            <a:pPr lvl="1"/>
            <a:r>
              <a:rPr lang="fr-FR" dirty="0"/>
              <a:t>Absence de miction !!</a:t>
            </a:r>
          </a:p>
          <a:p>
            <a:pPr lvl="1"/>
            <a:r>
              <a:rPr lang="fr-FR" dirty="0"/>
              <a:t>signes d’IR :nausées, vomissements, céphalées, diarrhées</a:t>
            </a:r>
          </a:p>
          <a:p>
            <a:pPr lvl="1"/>
            <a:r>
              <a:rPr lang="fr-FR" dirty="0"/>
              <a:t>Colique néphrétique</a:t>
            </a:r>
          </a:p>
          <a:p>
            <a:r>
              <a:rPr lang="fr-FR" dirty="0"/>
              <a:t>Mode d’installation</a:t>
            </a:r>
          </a:p>
          <a:p>
            <a:r>
              <a:rPr lang="fr-FR" dirty="0"/>
              <a:t>ATCD</a:t>
            </a:r>
          </a:p>
          <a:p>
            <a:r>
              <a:rPr lang="fr-FR" dirty="0"/>
              <a:t>Notion de rein unique</a:t>
            </a:r>
          </a:p>
          <a:p>
            <a:r>
              <a:rPr lang="fr-FR" dirty="0"/>
              <a:t>Notion de dlr précédent l’anurie</a:t>
            </a:r>
          </a:p>
          <a:p>
            <a:r>
              <a:rPr lang="fr-FR" b="1" dirty="0"/>
              <a:t>Souvent le diagnostic est facile si le sujet est conscient </a:t>
            </a:r>
          </a:p>
        </p:txBody>
      </p:sp>
    </p:spTree>
    <p:extLst>
      <p:ext uri="{BB962C8B-B14F-4D97-AF65-F5344CB8AC3E}">
        <p14:creationId xmlns:p14="http://schemas.microsoft.com/office/powerpoint/2010/main" val="3994091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Insuffisance rénale aigue obstructive</a:t>
            </a:r>
            <a:b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b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Diagnostic positif</a:t>
            </a:r>
            <a:endParaRPr lang="fr-FR" dirty="0"/>
          </a:p>
        </p:txBody>
      </p:sp>
      <p:sp>
        <p:nvSpPr>
          <p:cNvPr id="3" name="Espace réservé du contenu 2"/>
          <p:cNvSpPr>
            <a:spLocks noGrp="1"/>
          </p:cNvSpPr>
          <p:nvPr>
            <p:ph idx="1"/>
          </p:nvPr>
        </p:nvSpPr>
        <p:spPr>
          <a:xfrm>
            <a:off x="782540" y="2350411"/>
            <a:ext cx="10515600" cy="3644872"/>
          </a:xfrm>
        </p:spPr>
        <p:txBody>
          <a:bodyPr>
            <a:normAutofit/>
          </a:bodyPr>
          <a:lstStyle/>
          <a:p>
            <a:r>
              <a:rPr lang="fr-FR" dirty="0"/>
              <a:t>Chercher un globe vésical</a:t>
            </a:r>
          </a:p>
          <a:p>
            <a:r>
              <a:rPr lang="fr-FR" dirty="0"/>
              <a:t>Chercher les signes d IRA</a:t>
            </a:r>
          </a:p>
          <a:p>
            <a:r>
              <a:rPr lang="fr-FR" dirty="0"/>
              <a:t>Chercher les signes d’orientation étiologiques</a:t>
            </a:r>
          </a:p>
          <a:p>
            <a:pPr lvl="1"/>
            <a:r>
              <a:rPr lang="fr-FR" dirty="0"/>
              <a:t>Cicatrices</a:t>
            </a:r>
          </a:p>
          <a:p>
            <a:pPr lvl="1"/>
            <a:r>
              <a:rPr lang="fr-FR" dirty="0"/>
              <a:t>Lombalgie provoqué</a:t>
            </a:r>
          </a:p>
          <a:p>
            <a:pPr lvl="1"/>
            <a:r>
              <a:rPr lang="fr-FR" dirty="0"/>
              <a:t>Touchers pelviens</a:t>
            </a:r>
          </a:p>
          <a:p>
            <a:r>
              <a:rPr lang="fr-FR" dirty="0"/>
              <a:t>Rechercher des signes de gravités de l’ IR </a:t>
            </a:r>
            <a:br>
              <a:rPr lang="fr-FR" dirty="0"/>
            </a:br>
            <a:endParaRPr lang="fr-FR" b="1" dirty="0"/>
          </a:p>
        </p:txBody>
      </p:sp>
    </p:spTree>
    <p:extLst>
      <p:ext uri="{BB962C8B-B14F-4D97-AF65-F5344CB8AC3E}">
        <p14:creationId xmlns:p14="http://schemas.microsoft.com/office/powerpoint/2010/main" val="383381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Insuffisance rénale aigue obstructive</a:t>
            </a:r>
            <a:b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b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Diagnostic positif</a:t>
            </a:r>
            <a:endParaRPr lang="fr-FR" dirty="0"/>
          </a:p>
        </p:txBody>
      </p:sp>
      <p:sp>
        <p:nvSpPr>
          <p:cNvPr id="3" name="Espace réservé du contenu 2"/>
          <p:cNvSpPr>
            <a:spLocks noGrp="1"/>
          </p:cNvSpPr>
          <p:nvPr>
            <p:ph idx="1"/>
          </p:nvPr>
        </p:nvSpPr>
        <p:spPr>
          <a:xfrm>
            <a:off x="353170" y="2294752"/>
            <a:ext cx="5013960" cy="3644872"/>
          </a:xfrm>
        </p:spPr>
        <p:txBody>
          <a:bodyPr>
            <a:normAutofit lnSpcReduction="10000"/>
          </a:bodyPr>
          <a:lstStyle/>
          <a:p>
            <a:r>
              <a:rPr lang="fr-FR" b="1" dirty="0"/>
              <a:t>Bilans à réaliser en urgence :</a:t>
            </a:r>
          </a:p>
          <a:p>
            <a:r>
              <a:rPr lang="fr-FR" dirty="0"/>
              <a:t>Urée , </a:t>
            </a:r>
            <a:r>
              <a:rPr lang="fr-FR" dirty="0" err="1"/>
              <a:t>créat</a:t>
            </a:r>
            <a:endParaRPr lang="fr-FR" dirty="0"/>
          </a:p>
          <a:p>
            <a:r>
              <a:rPr lang="fr-FR" dirty="0"/>
              <a:t>Ionogramme sanguin</a:t>
            </a:r>
          </a:p>
          <a:p>
            <a:r>
              <a:rPr lang="fr-FR" dirty="0"/>
              <a:t>Gaz du sang si disponible</a:t>
            </a:r>
          </a:p>
          <a:p>
            <a:r>
              <a:rPr lang="fr-FR" dirty="0"/>
              <a:t>RX Thorax</a:t>
            </a:r>
          </a:p>
          <a:p>
            <a:r>
              <a:rPr lang="fr-FR" dirty="0"/>
              <a:t>ECG</a:t>
            </a:r>
            <a:br>
              <a:rPr lang="fr-FR" dirty="0"/>
            </a:br>
            <a:endParaRPr lang="fr-FR" b="1" dirty="0"/>
          </a:p>
        </p:txBody>
      </p:sp>
      <p:sp>
        <p:nvSpPr>
          <p:cNvPr id="4" name="Accolade fermante 3"/>
          <p:cNvSpPr/>
          <p:nvPr/>
        </p:nvSpPr>
        <p:spPr>
          <a:xfrm>
            <a:off x="5852161" y="3490622"/>
            <a:ext cx="1367624" cy="1566407"/>
          </a:xfrm>
          <a:prstGeom prst="rightBrace">
            <a:avLst>
              <a:gd name="adj1" fmla="val 8333"/>
              <a:gd name="adj2" fmla="val 4949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solidFill>
                <a:prstClr val="black"/>
              </a:solidFill>
            </a:endParaRPr>
          </a:p>
        </p:txBody>
      </p:sp>
      <p:sp>
        <p:nvSpPr>
          <p:cNvPr id="5" name="ZoneTexte 4"/>
          <p:cNvSpPr txBox="1"/>
          <p:nvPr/>
        </p:nvSpPr>
        <p:spPr>
          <a:xfrm>
            <a:off x="7076661" y="4073770"/>
            <a:ext cx="3363402" cy="400110"/>
          </a:xfrm>
          <a:prstGeom prst="rect">
            <a:avLst/>
          </a:prstGeom>
          <a:noFill/>
        </p:spPr>
        <p:txBody>
          <a:bodyPr wrap="square" rtlCol="0">
            <a:spAutoFit/>
          </a:bodyPr>
          <a:lstStyle/>
          <a:p>
            <a:pPr algn="ctr"/>
            <a:r>
              <a:rPr lang="fr-FR" sz="2000" b="1" dirty="0">
                <a:solidFill>
                  <a:prstClr val="black"/>
                </a:solidFill>
              </a:rPr>
              <a:t>Signes de gravité</a:t>
            </a:r>
          </a:p>
        </p:txBody>
      </p:sp>
    </p:spTree>
    <p:extLst>
      <p:ext uri="{BB962C8B-B14F-4D97-AF65-F5344CB8AC3E}">
        <p14:creationId xmlns:p14="http://schemas.microsoft.com/office/powerpoint/2010/main" val="40277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Insuffisance rénale aigue obstructive</a:t>
            </a:r>
            <a:b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b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Diagnostic positif</a:t>
            </a:r>
            <a:endParaRPr lang="fr-FR" dirty="0"/>
          </a:p>
        </p:txBody>
      </p:sp>
      <p:sp>
        <p:nvSpPr>
          <p:cNvPr id="6" name="Espace réservé du contenu 5"/>
          <p:cNvSpPr>
            <a:spLocks noGrp="1"/>
          </p:cNvSpPr>
          <p:nvPr>
            <p:ph idx="1"/>
          </p:nvPr>
        </p:nvSpPr>
        <p:spPr>
          <a:xfrm>
            <a:off x="400877" y="2175483"/>
            <a:ext cx="7749210" cy="3533554"/>
          </a:xfrm>
        </p:spPr>
        <p:txBody>
          <a:bodyPr/>
          <a:lstStyle/>
          <a:p>
            <a:r>
              <a:rPr lang="fr-FR" dirty="0"/>
              <a:t>Examen radiologique de première intention:</a:t>
            </a:r>
          </a:p>
          <a:p>
            <a:pPr lvl="1"/>
            <a:r>
              <a:rPr lang="fr-FR" b="1" u="sng" dirty="0"/>
              <a:t>Echographie rénale :</a:t>
            </a:r>
          </a:p>
          <a:p>
            <a:pPr lvl="2"/>
            <a:r>
              <a:rPr lang="fr-FR" sz="2300" dirty="0"/>
              <a:t>Dilatation des VES </a:t>
            </a:r>
          </a:p>
          <a:p>
            <a:pPr lvl="2"/>
            <a:r>
              <a:rPr lang="fr-FR" sz="2300" dirty="0"/>
              <a:t>Taille normale des reins</a:t>
            </a:r>
          </a:p>
          <a:p>
            <a:pPr lvl="2"/>
            <a:r>
              <a:rPr lang="fr-FR" dirty="0">
                <a:solidFill>
                  <a:srgbClr val="FF0000"/>
                </a:solidFill>
              </a:rPr>
              <a:t>L’absence de dilatation des cavités ne permet pas d’exclure une origine obstructive à l’IRA </a:t>
            </a:r>
            <a:br>
              <a:rPr lang="fr-FR" dirty="0">
                <a:solidFill>
                  <a:srgbClr val="FF0000"/>
                </a:solidFill>
              </a:rPr>
            </a:br>
            <a:endParaRPr lang="fr-FR" dirty="0">
              <a:solidFill>
                <a:srgbClr val="FF0000"/>
              </a:solidFill>
            </a:endParaRPr>
          </a:p>
          <a:p>
            <a:pPr lvl="1"/>
            <a:r>
              <a:rPr lang="fr-FR" dirty="0"/>
              <a:t>Autres examens : AUSP, TDM, </a:t>
            </a:r>
            <a:r>
              <a:rPr lang="fr-FR" dirty="0" err="1"/>
              <a:t>Uro</a:t>
            </a:r>
            <a:r>
              <a:rPr lang="fr-FR" dirty="0"/>
              <a:t>-IRM</a:t>
            </a:r>
          </a:p>
        </p:txBody>
      </p:sp>
      <p:pic>
        <p:nvPicPr>
          <p:cNvPr id="3074" name="Picture 2" descr="CHAPITRE 34 Insuffisance rénale aiguë de l'adulte ITEM 348 – Insuffisance  rénale aiguë (IRA). Anur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4930" y="1987826"/>
            <a:ext cx="3767069" cy="2957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998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Insuffisance rénale aigue obstructive</a:t>
            </a:r>
            <a:b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b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ETIOLOGIES</a:t>
            </a:r>
            <a:endParaRPr lang="fr-FR" dirty="0"/>
          </a:p>
        </p:txBody>
      </p:sp>
      <p:sp>
        <p:nvSpPr>
          <p:cNvPr id="4" name="Rectangle 1"/>
          <p:cNvSpPr>
            <a:spLocks noChangeArrowheads="1"/>
          </p:cNvSpPr>
          <p:nvPr/>
        </p:nvSpPr>
        <p:spPr bwMode="auto">
          <a:xfrm>
            <a:off x="-2957885" y="5566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fr-FR" altLang="fr-FR">
                <a:solidFill>
                  <a:prstClr val="black"/>
                </a:solidFill>
                <a:latin typeface="Arial" panose="020B0604020202020204" pitchFamily="34" charset="0"/>
              </a:rPr>
            </a:br>
            <a:endParaRPr lang="fr-FR" altLang="fr-FR">
              <a:solidFill>
                <a:prstClr val="black"/>
              </a:solidFill>
              <a:latin typeface="Arial" panose="020B0604020202020204" pitchFamily="34" charset="0"/>
            </a:endParaRPr>
          </a:p>
        </p:txBody>
      </p:sp>
      <p:sp>
        <p:nvSpPr>
          <p:cNvPr id="5" name="Rectangle 4"/>
          <p:cNvSpPr/>
          <p:nvPr/>
        </p:nvSpPr>
        <p:spPr>
          <a:xfrm>
            <a:off x="691763" y="1720840"/>
            <a:ext cx="9994790" cy="4570482"/>
          </a:xfrm>
          <a:prstGeom prst="rect">
            <a:avLst/>
          </a:prstGeom>
        </p:spPr>
        <p:txBody>
          <a:bodyPr wrap="square">
            <a:spAutoFit/>
          </a:bodyPr>
          <a:lstStyle/>
          <a:p>
            <a:pPr marL="228600" indent="-228600">
              <a:lnSpc>
                <a:spcPct val="90000"/>
              </a:lnSpc>
              <a:spcBef>
                <a:spcPts val="1000"/>
              </a:spcBef>
              <a:buFont typeface="Arial" panose="020B0604020202020204" pitchFamily="34" charset="0"/>
              <a:buChar char="•"/>
            </a:pPr>
            <a:r>
              <a:rPr lang="fr-FR" sz="2400" b="1" dirty="0">
                <a:solidFill>
                  <a:prstClr val="black"/>
                </a:solidFill>
              </a:rPr>
              <a:t>Lithiases urinaires</a:t>
            </a:r>
          </a:p>
          <a:p>
            <a:pPr marL="685800" lvl="1" indent="-228600">
              <a:lnSpc>
                <a:spcPct val="90000"/>
              </a:lnSpc>
              <a:spcBef>
                <a:spcPts val="1000"/>
              </a:spcBef>
              <a:buFont typeface="Arial" panose="020B0604020202020204" pitchFamily="34" charset="0"/>
              <a:buChar char="•"/>
            </a:pPr>
            <a:r>
              <a:rPr lang="fr-FR" sz="2400" dirty="0">
                <a:solidFill>
                  <a:prstClr val="black"/>
                </a:solidFill>
              </a:rPr>
              <a:t>Calcul unilatéral sur rein fonctionnel unique ou lithiases bilatérales</a:t>
            </a:r>
          </a:p>
          <a:p>
            <a:pPr marL="228600" indent="-228600">
              <a:lnSpc>
                <a:spcPct val="90000"/>
              </a:lnSpc>
              <a:spcBef>
                <a:spcPts val="1000"/>
              </a:spcBef>
              <a:buFont typeface="Arial" panose="020B0604020202020204" pitchFamily="34" charset="0"/>
              <a:buChar char="•"/>
            </a:pPr>
            <a:r>
              <a:rPr lang="fr-FR" sz="2400" b="1" dirty="0">
                <a:solidFill>
                  <a:prstClr val="black"/>
                </a:solidFill>
              </a:rPr>
              <a:t>Pathologie tumorale</a:t>
            </a:r>
          </a:p>
          <a:p>
            <a:pPr marL="685800" lvl="1" indent="-228600">
              <a:lnSpc>
                <a:spcPct val="90000"/>
              </a:lnSpc>
              <a:spcBef>
                <a:spcPts val="1000"/>
              </a:spcBef>
              <a:buFont typeface="Arial" panose="020B0604020202020204" pitchFamily="34" charset="0"/>
              <a:buChar char="•"/>
            </a:pPr>
            <a:r>
              <a:rPr lang="fr-FR" sz="2400" dirty="0">
                <a:solidFill>
                  <a:prstClr val="black"/>
                </a:solidFill>
              </a:rPr>
              <a:t>Adénome de prostate</a:t>
            </a:r>
          </a:p>
          <a:p>
            <a:pPr marL="685800" lvl="1" indent="-228600">
              <a:lnSpc>
                <a:spcPct val="90000"/>
              </a:lnSpc>
              <a:spcBef>
                <a:spcPts val="1000"/>
              </a:spcBef>
              <a:buFont typeface="Arial" panose="020B0604020202020204" pitchFamily="34" charset="0"/>
              <a:buChar char="•"/>
            </a:pPr>
            <a:r>
              <a:rPr lang="fr-FR" sz="2400" dirty="0">
                <a:solidFill>
                  <a:prstClr val="black"/>
                </a:solidFill>
              </a:rPr>
              <a:t>Cancer de la prostate</a:t>
            </a:r>
          </a:p>
          <a:p>
            <a:pPr marL="685800" lvl="1" indent="-228600">
              <a:lnSpc>
                <a:spcPct val="90000"/>
              </a:lnSpc>
              <a:spcBef>
                <a:spcPts val="1000"/>
              </a:spcBef>
              <a:buFont typeface="Arial" panose="020B0604020202020204" pitchFamily="34" charset="0"/>
              <a:buChar char="•"/>
            </a:pPr>
            <a:r>
              <a:rPr lang="fr-FR" sz="2400" dirty="0">
                <a:solidFill>
                  <a:prstClr val="black"/>
                </a:solidFill>
              </a:rPr>
              <a:t>Cancer du col utérin</a:t>
            </a:r>
          </a:p>
          <a:p>
            <a:pPr marL="685800" lvl="1" indent="-228600">
              <a:lnSpc>
                <a:spcPct val="90000"/>
              </a:lnSpc>
              <a:spcBef>
                <a:spcPts val="1000"/>
              </a:spcBef>
              <a:buFont typeface="Arial" panose="020B0604020202020204" pitchFamily="34" charset="0"/>
              <a:buChar char="•"/>
            </a:pPr>
            <a:r>
              <a:rPr lang="fr-FR" sz="2400" dirty="0">
                <a:solidFill>
                  <a:prstClr val="black"/>
                </a:solidFill>
              </a:rPr>
              <a:t>Tumeur de vessie</a:t>
            </a:r>
          </a:p>
          <a:p>
            <a:pPr marL="685800" lvl="1" indent="-228600">
              <a:lnSpc>
                <a:spcPct val="90000"/>
              </a:lnSpc>
              <a:spcBef>
                <a:spcPts val="1000"/>
              </a:spcBef>
              <a:buFont typeface="Arial" panose="020B0604020202020204" pitchFamily="34" charset="0"/>
              <a:buChar char="•"/>
            </a:pPr>
            <a:r>
              <a:rPr lang="fr-FR" sz="2400" dirty="0">
                <a:solidFill>
                  <a:prstClr val="black"/>
                </a:solidFill>
              </a:rPr>
              <a:t>Cancer du rectum, de l’ovaire, de l’utérus</a:t>
            </a:r>
          </a:p>
          <a:p>
            <a:pPr marL="685800" lvl="1" indent="-228600">
              <a:lnSpc>
                <a:spcPct val="90000"/>
              </a:lnSpc>
              <a:spcBef>
                <a:spcPts val="1000"/>
              </a:spcBef>
              <a:buFont typeface="Arial" panose="020B0604020202020204" pitchFamily="34" charset="0"/>
              <a:buChar char="•"/>
            </a:pPr>
            <a:r>
              <a:rPr lang="fr-FR" sz="2400" dirty="0">
                <a:solidFill>
                  <a:prstClr val="black"/>
                </a:solidFill>
              </a:rPr>
              <a:t>Métastases </a:t>
            </a:r>
            <a:r>
              <a:rPr lang="fr-FR" sz="2400" dirty="0" err="1">
                <a:solidFill>
                  <a:prstClr val="black"/>
                </a:solidFill>
              </a:rPr>
              <a:t>rétropéritonéales</a:t>
            </a:r>
            <a:endParaRPr lang="fr-FR" sz="2400" dirty="0">
              <a:solidFill>
                <a:prstClr val="black"/>
              </a:solidFill>
            </a:endParaRPr>
          </a:p>
          <a:p>
            <a:pPr marL="228600" indent="-228600">
              <a:lnSpc>
                <a:spcPct val="90000"/>
              </a:lnSpc>
              <a:spcBef>
                <a:spcPts val="1000"/>
              </a:spcBef>
              <a:buFont typeface="Arial" panose="020B0604020202020204" pitchFamily="34" charset="0"/>
              <a:buChar char="•"/>
            </a:pPr>
            <a:r>
              <a:rPr lang="fr-FR" sz="2400" b="1" dirty="0">
                <a:solidFill>
                  <a:prstClr val="black"/>
                </a:solidFill>
              </a:rPr>
              <a:t>Pathologies inflammatoires : fibrose </a:t>
            </a:r>
            <a:r>
              <a:rPr lang="fr-FR" sz="2400" b="1" dirty="0" err="1">
                <a:solidFill>
                  <a:prstClr val="black"/>
                </a:solidFill>
              </a:rPr>
              <a:t>rétropéritonéale</a:t>
            </a:r>
            <a:endParaRPr lang="fr-FR" sz="2400" b="1" dirty="0">
              <a:solidFill>
                <a:prstClr val="black"/>
              </a:solidFill>
            </a:endParaRPr>
          </a:p>
        </p:txBody>
      </p:sp>
    </p:spTree>
    <p:extLst>
      <p:ext uri="{BB962C8B-B14F-4D97-AF65-F5344CB8AC3E}">
        <p14:creationId xmlns:p14="http://schemas.microsoft.com/office/powerpoint/2010/main" val="1614578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43310" y="759125"/>
            <a:ext cx="10515600" cy="853926"/>
          </a:xfrm>
        </p:spPr>
        <p:txBody>
          <a:bodyPr>
            <a:normAutofit/>
          </a:bodyPr>
          <a:lstStyle/>
          <a:p>
            <a:pPr algn="ctr"/>
            <a:r>
              <a:rPr lang="fr-FR" sz="3600" dirty="0">
                <a:solidFill>
                  <a:srgbClr val="0000FF"/>
                </a:solidFill>
                <a:latin typeface="Tahoma" panose="020B0604030504040204" pitchFamily="34" charset="0"/>
                <a:ea typeface="Tahoma" panose="020B0604030504040204" pitchFamily="34" charset="0"/>
                <a:cs typeface="Tahoma" panose="020B0604030504040204" pitchFamily="34" charset="0"/>
              </a:rPr>
              <a:t>Objectif 11</a:t>
            </a:r>
          </a:p>
        </p:txBody>
      </p:sp>
      <p:sp>
        <p:nvSpPr>
          <p:cNvPr id="3" name="Espace réservé du contenu 2"/>
          <p:cNvSpPr>
            <a:spLocks noGrp="1"/>
          </p:cNvSpPr>
          <p:nvPr>
            <p:ph idx="1"/>
          </p:nvPr>
        </p:nvSpPr>
        <p:spPr>
          <a:xfrm>
            <a:off x="872706" y="2532991"/>
            <a:ext cx="10515600" cy="952081"/>
          </a:xfrm>
        </p:spPr>
        <p:txBody>
          <a:bodyPr>
            <a:normAutofit/>
          </a:bodyPr>
          <a:lstStyle/>
          <a:p>
            <a:r>
              <a:rPr lang="fr-FR" dirty="0"/>
              <a:t>Indiquer un drainage urgent des voies excrétrices au cours de l’IRA obstructive</a:t>
            </a:r>
          </a:p>
        </p:txBody>
      </p:sp>
    </p:spTree>
    <p:extLst>
      <p:ext uri="{BB962C8B-B14F-4D97-AF65-F5344CB8AC3E}">
        <p14:creationId xmlns:p14="http://schemas.microsoft.com/office/powerpoint/2010/main" val="2108829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Insuffisance rénale aigue obstructive</a:t>
            </a:r>
            <a:b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b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PEC </a:t>
            </a:r>
            <a:endParaRPr lang="fr-FR" dirty="0"/>
          </a:p>
        </p:txBody>
      </p:sp>
      <p:sp>
        <p:nvSpPr>
          <p:cNvPr id="3" name="Espace réservé du contenu 2"/>
          <p:cNvSpPr>
            <a:spLocks noGrp="1"/>
          </p:cNvSpPr>
          <p:nvPr>
            <p:ph idx="1"/>
          </p:nvPr>
        </p:nvSpPr>
        <p:spPr/>
        <p:txBody>
          <a:bodyPr>
            <a:normAutofit fontScale="77500" lnSpcReduction="20000"/>
          </a:bodyPr>
          <a:lstStyle/>
          <a:p>
            <a:pPr>
              <a:lnSpc>
                <a:spcPct val="150000"/>
              </a:lnSpc>
            </a:pPr>
            <a:r>
              <a:rPr lang="fr-FR" dirty="0"/>
              <a:t>Urgence médico-chirurgicale</a:t>
            </a:r>
          </a:p>
          <a:p>
            <a:pPr>
              <a:lnSpc>
                <a:spcPct val="150000"/>
              </a:lnSpc>
            </a:pPr>
            <a:r>
              <a:rPr lang="fr-FR" dirty="0"/>
              <a:t>Milieu Urologique</a:t>
            </a:r>
          </a:p>
          <a:p>
            <a:pPr>
              <a:lnSpc>
                <a:spcPct val="150000"/>
              </a:lnSpc>
            </a:pPr>
            <a:r>
              <a:rPr lang="fr-FR" dirty="0"/>
              <a:t>Hospitalisation</a:t>
            </a:r>
          </a:p>
          <a:p>
            <a:pPr>
              <a:lnSpc>
                <a:spcPct val="150000"/>
              </a:lnSpc>
            </a:pPr>
            <a:r>
              <a:rPr lang="fr-FR" dirty="0"/>
              <a:t>Eliminer une urgence à l’hémodialyse</a:t>
            </a:r>
          </a:p>
          <a:p>
            <a:pPr>
              <a:lnSpc>
                <a:spcPct val="150000"/>
              </a:lnSpc>
            </a:pPr>
            <a:r>
              <a:rPr lang="fr-FR" b="1" u="sng" dirty="0">
                <a:solidFill>
                  <a:srgbClr val="FF0000"/>
                </a:solidFill>
              </a:rPr>
              <a:t>Drainage en urgence des urines</a:t>
            </a:r>
          </a:p>
          <a:p>
            <a:pPr>
              <a:lnSpc>
                <a:spcPct val="150000"/>
              </a:lnSpc>
            </a:pPr>
            <a:r>
              <a:rPr lang="fr-FR" dirty="0"/>
              <a:t>Surveillance de la diurèse et dépistage du syndrome de levée d’obstacle</a:t>
            </a:r>
          </a:p>
          <a:p>
            <a:pPr>
              <a:lnSpc>
                <a:spcPct val="150000"/>
              </a:lnSpc>
            </a:pPr>
            <a:r>
              <a:rPr lang="fr-FR" dirty="0"/>
              <a:t>Traitement étiologique ultérieur </a:t>
            </a:r>
            <a:br>
              <a:rPr lang="fr-FR" dirty="0"/>
            </a:br>
            <a:endParaRPr lang="fr-FR" b="1" u="sng" dirty="0">
              <a:solidFill>
                <a:srgbClr val="FF0000"/>
              </a:solidFill>
            </a:endParaRPr>
          </a:p>
        </p:txBody>
      </p:sp>
      <p:sp>
        <p:nvSpPr>
          <p:cNvPr id="4" name="Rectangle 1"/>
          <p:cNvSpPr>
            <a:spLocks noChangeArrowheads="1"/>
          </p:cNvSpPr>
          <p:nvPr/>
        </p:nvSpPr>
        <p:spPr bwMode="auto">
          <a:xfrm>
            <a:off x="-2957885" y="5566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fr-FR" altLang="fr-FR">
                <a:solidFill>
                  <a:prstClr val="black"/>
                </a:solidFill>
                <a:latin typeface="Arial" panose="020B0604020202020204" pitchFamily="34" charset="0"/>
              </a:rPr>
            </a:br>
            <a:endParaRPr lang="fr-FR" altLang="fr-FR">
              <a:solidFill>
                <a:prstClr val="black"/>
              </a:solidFill>
              <a:latin typeface="Arial" panose="020B0604020202020204" pitchFamily="34" charset="0"/>
            </a:endParaRPr>
          </a:p>
        </p:txBody>
      </p:sp>
    </p:spTree>
    <p:extLst>
      <p:ext uri="{BB962C8B-B14F-4D97-AF65-F5344CB8AC3E}">
        <p14:creationId xmlns:p14="http://schemas.microsoft.com/office/powerpoint/2010/main" val="3945345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Insuffisance rénale aigue obstructive</a:t>
            </a:r>
            <a:b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b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Moyens de drainage</a:t>
            </a:r>
            <a:endParaRPr lang="fr-FR" dirty="0"/>
          </a:p>
        </p:txBody>
      </p:sp>
      <p:sp>
        <p:nvSpPr>
          <p:cNvPr id="3" name="Espace réservé du contenu 2"/>
          <p:cNvSpPr>
            <a:spLocks noGrp="1"/>
          </p:cNvSpPr>
          <p:nvPr>
            <p:ph idx="1"/>
          </p:nvPr>
        </p:nvSpPr>
        <p:spPr>
          <a:xfrm>
            <a:off x="838200" y="1825625"/>
            <a:ext cx="6095337" cy="4351338"/>
          </a:xfrm>
        </p:spPr>
        <p:txBody>
          <a:bodyPr>
            <a:normAutofit lnSpcReduction="10000"/>
          </a:bodyPr>
          <a:lstStyle/>
          <a:p>
            <a:pPr>
              <a:lnSpc>
                <a:spcPct val="150000"/>
              </a:lnSpc>
            </a:pPr>
            <a:r>
              <a:rPr lang="fr-FR" u="sng" dirty="0"/>
              <a:t>Obstacle sous vésical</a:t>
            </a:r>
          </a:p>
          <a:p>
            <a:pPr lvl="1">
              <a:lnSpc>
                <a:spcPct val="150000"/>
              </a:lnSpc>
            </a:pPr>
            <a:r>
              <a:rPr lang="fr-FR" dirty="0"/>
              <a:t>Sonde transuréthrale</a:t>
            </a:r>
          </a:p>
          <a:p>
            <a:pPr lvl="1">
              <a:lnSpc>
                <a:spcPct val="150000"/>
              </a:lnSpc>
            </a:pPr>
            <a:r>
              <a:rPr lang="fr-FR" dirty="0"/>
              <a:t>Ponction sus pubienne</a:t>
            </a:r>
          </a:p>
          <a:p>
            <a:pPr>
              <a:lnSpc>
                <a:spcPct val="150000"/>
              </a:lnSpc>
            </a:pPr>
            <a:r>
              <a:rPr lang="fr-FR" dirty="0"/>
              <a:t>Obstacle sus vésical</a:t>
            </a:r>
            <a:endParaRPr lang="fr-FR" b="1" u="sng" dirty="0">
              <a:solidFill>
                <a:srgbClr val="FF0000"/>
              </a:solidFill>
            </a:endParaRPr>
          </a:p>
          <a:p>
            <a:pPr lvl="1">
              <a:lnSpc>
                <a:spcPct val="150000"/>
              </a:lnSpc>
            </a:pPr>
            <a:r>
              <a:rPr lang="fr-FR" dirty="0"/>
              <a:t>Sonde double j</a:t>
            </a:r>
          </a:p>
          <a:p>
            <a:pPr lvl="1">
              <a:lnSpc>
                <a:spcPct val="150000"/>
              </a:lnSpc>
            </a:pPr>
            <a:r>
              <a:rPr lang="fr-FR" dirty="0"/>
              <a:t>Sonde urétérale </a:t>
            </a:r>
          </a:p>
          <a:p>
            <a:pPr lvl="1">
              <a:lnSpc>
                <a:spcPct val="150000"/>
              </a:lnSpc>
            </a:pPr>
            <a:r>
              <a:rPr lang="fr-FR" dirty="0"/>
              <a:t>Sonde de nephrostomie percutanée</a:t>
            </a:r>
          </a:p>
        </p:txBody>
      </p:sp>
      <p:sp>
        <p:nvSpPr>
          <p:cNvPr id="4" name="Rectangle 1"/>
          <p:cNvSpPr>
            <a:spLocks noChangeArrowheads="1"/>
          </p:cNvSpPr>
          <p:nvPr/>
        </p:nvSpPr>
        <p:spPr bwMode="auto">
          <a:xfrm>
            <a:off x="-2957885" y="5566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br>
              <a:rPr lang="fr-FR" altLang="fr-FR">
                <a:solidFill>
                  <a:prstClr val="black"/>
                </a:solidFill>
                <a:latin typeface="Arial" panose="020B0604020202020204" pitchFamily="34" charset="0"/>
              </a:rPr>
            </a:br>
            <a:endParaRPr lang="fr-FR" altLang="fr-FR">
              <a:solidFill>
                <a:prstClr val="black"/>
              </a:solidFill>
              <a:latin typeface="Arial" panose="020B0604020202020204" pitchFamily="34" charset="0"/>
            </a:endParaRPr>
          </a:p>
        </p:txBody>
      </p:sp>
      <p:pic>
        <p:nvPicPr>
          <p:cNvPr id="7170" name="Picture 2" descr="Urol'Orient - Chirurgie Urologique à Lori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9192" y="1825625"/>
            <a:ext cx="1689128" cy="2031159"/>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Néphrostomi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5478" y="3719512"/>
            <a:ext cx="1857375" cy="245745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www.dr-dacremont.fr/Interventions/sondes%20ureterale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15478" y="1690688"/>
            <a:ext cx="2059388" cy="1533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37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43310" y="759125"/>
            <a:ext cx="10515600" cy="853926"/>
          </a:xfrm>
        </p:spPr>
        <p:txBody>
          <a:bodyPr>
            <a:normAutofit/>
          </a:bodyPr>
          <a:lstStyle/>
          <a:p>
            <a:pPr algn="ctr"/>
            <a:r>
              <a:rPr lang="fr-FR" sz="3600" dirty="0">
                <a:solidFill>
                  <a:srgbClr val="0000FF"/>
                </a:solidFill>
                <a:latin typeface="Tahoma" panose="020B0604030504040204" pitchFamily="34" charset="0"/>
                <a:ea typeface="Tahoma" panose="020B0604030504040204" pitchFamily="34" charset="0"/>
                <a:cs typeface="Tahoma" panose="020B0604030504040204" pitchFamily="34" charset="0"/>
              </a:rPr>
              <a:t>Objectif 12</a:t>
            </a:r>
          </a:p>
        </p:txBody>
      </p:sp>
      <p:sp>
        <p:nvSpPr>
          <p:cNvPr id="3" name="Espace réservé du contenu 2"/>
          <p:cNvSpPr>
            <a:spLocks noGrp="1"/>
          </p:cNvSpPr>
          <p:nvPr>
            <p:ph idx="1"/>
          </p:nvPr>
        </p:nvSpPr>
        <p:spPr>
          <a:xfrm>
            <a:off x="872706" y="2532991"/>
            <a:ext cx="10515600" cy="952081"/>
          </a:xfrm>
        </p:spPr>
        <p:txBody>
          <a:bodyPr>
            <a:normAutofit fontScale="77500" lnSpcReduction="20000"/>
          </a:bodyPr>
          <a:lstStyle/>
          <a:p>
            <a:r>
              <a:rPr lang="fr-FR" dirty="0"/>
              <a:t>Enumérer les éléments cliniques et biologiques permettant le diagnostic précoce d’un</a:t>
            </a:r>
          </a:p>
          <a:p>
            <a:r>
              <a:rPr lang="fr-FR" dirty="0"/>
              <a:t>syndrome de levée d’obstacle</a:t>
            </a:r>
          </a:p>
        </p:txBody>
      </p:sp>
    </p:spTree>
    <p:extLst>
      <p:ext uri="{BB962C8B-B14F-4D97-AF65-F5344CB8AC3E}">
        <p14:creationId xmlns:p14="http://schemas.microsoft.com/office/powerpoint/2010/main" val="3519071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1356099"/>
          </a:xfrm>
        </p:spPr>
        <p:txBody>
          <a:bodyPr/>
          <a:lstStyle/>
          <a:p>
            <a:pPr algn="ct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Insuffisance rénale aigue obstructive</a:t>
            </a:r>
            <a:b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br>
            <a:r>
              <a:rPr lang="fr-FR" dirty="0">
                <a:solidFill>
                  <a:srgbClr val="0000FF"/>
                </a:solidFill>
                <a:latin typeface="Tahoma" panose="020B0604030504040204" pitchFamily="34" charset="0"/>
                <a:ea typeface="Tahoma" panose="020B0604030504040204" pitchFamily="34" charset="0"/>
                <a:cs typeface="Tahoma" panose="020B0604030504040204" pitchFamily="34" charset="0"/>
              </a:rPr>
              <a:t>Syndrome de levée d’obstacle</a:t>
            </a:r>
            <a:endParaRPr lang="fr-FR" dirty="0"/>
          </a:p>
        </p:txBody>
      </p:sp>
      <p:sp>
        <p:nvSpPr>
          <p:cNvPr id="3" name="Espace réservé du contenu 2"/>
          <p:cNvSpPr>
            <a:spLocks noGrp="1"/>
          </p:cNvSpPr>
          <p:nvPr>
            <p:ph idx="1"/>
          </p:nvPr>
        </p:nvSpPr>
        <p:spPr>
          <a:xfrm>
            <a:off x="838200" y="1855693"/>
            <a:ext cx="11084859" cy="4321269"/>
          </a:xfrm>
        </p:spPr>
        <p:txBody>
          <a:bodyPr>
            <a:normAutofit fontScale="92500" lnSpcReduction="10000"/>
          </a:bodyPr>
          <a:lstStyle/>
          <a:p>
            <a:pPr>
              <a:lnSpc>
                <a:spcPct val="150000"/>
              </a:lnSpc>
            </a:pPr>
            <a:r>
              <a:rPr lang="fr-FR" dirty="0"/>
              <a:t>Hyper diurèse secondaire à la perte du pouvoir de concentration des urines de l’un ou des 2 reins qui aboutit a la déshydratation majeure</a:t>
            </a:r>
          </a:p>
          <a:p>
            <a:pPr>
              <a:lnSpc>
                <a:spcPct val="150000"/>
              </a:lnSpc>
            </a:pPr>
            <a:r>
              <a:rPr lang="fr-FR" dirty="0"/>
              <a:t>Due à une compensation inefficace des pertes urinaires</a:t>
            </a:r>
          </a:p>
          <a:p>
            <a:pPr>
              <a:lnSpc>
                <a:spcPct val="150000"/>
              </a:lnSpc>
            </a:pPr>
            <a:r>
              <a:rPr lang="fr-FR" dirty="0"/>
              <a:t>Traitement </a:t>
            </a:r>
          </a:p>
          <a:p>
            <a:pPr lvl="1">
              <a:lnSpc>
                <a:spcPct val="150000"/>
              </a:lnSpc>
            </a:pPr>
            <a:r>
              <a:rPr lang="fr-FR" dirty="0"/>
              <a:t>Préventif</a:t>
            </a:r>
          </a:p>
          <a:p>
            <a:pPr lvl="1">
              <a:lnSpc>
                <a:spcPct val="150000"/>
              </a:lnSpc>
            </a:pPr>
            <a:r>
              <a:rPr lang="fr-FR" dirty="0"/>
              <a:t>Surveillance clinique (état d’hydratation), diurèse, biologique ( Na+, K+)</a:t>
            </a:r>
          </a:p>
          <a:p>
            <a:pPr lvl="1">
              <a:lnSpc>
                <a:spcPct val="150000"/>
              </a:lnSpc>
            </a:pPr>
            <a:r>
              <a:rPr lang="fr-FR" dirty="0"/>
              <a:t>Compensation efficace des pertes volume par volume</a:t>
            </a:r>
          </a:p>
        </p:txBody>
      </p:sp>
      <p:sp>
        <p:nvSpPr>
          <p:cNvPr id="4" name="Rectangle 1"/>
          <p:cNvSpPr>
            <a:spLocks noChangeArrowheads="1"/>
          </p:cNvSpPr>
          <p:nvPr/>
        </p:nvSpPr>
        <p:spPr bwMode="auto">
          <a:xfrm>
            <a:off x="-2957885" y="5566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7683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A3231E-2CC9-6031-04F4-4298EF407842}"/>
              </a:ext>
            </a:extLst>
          </p:cNvPr>
          <p:cNvSpPr>
            <a:spLocks noGrp="1"/>
          </p:cNvSpPr>
          <p:nvPr>
            <p:ph type="title"/>
          </p:nvPr>
        </p:nvSpPr>
        <p:spPr/>
        <p:txBody>
          <a:bodyPr/>
          <a:lstStyle/>
          <a:p>
            <a:pPr algn="ctr"/>
            <a:r>
              <a:rPr lang="fr-FR" dirty="0"/>
              <a:t>Cas clinique 1 </a:t>
            </a:r>
          </a:p>
        </p:txBody>
      </p:sp>
      <p:sp>
        <p:nvSpPr>
          <p:cNvPr id="3" name="Espace réservé du contenu 2">
            <a:extLst>
              <a:ext uri="{FF2B5EF4-FFF2-40B4-BE49-F238E27FC236}">
                <a16:creationId xmlns:a16="http://schemas.microsoft.com/office/drawing/2014/main" id="{FB489214-D6FB-8171-4ACE-696BE614DD71}"/>
              </a:ext>
            </a:extLst>
          </p:cNvPr>
          <p:cNvSpPr>
            <a:spLocks noGrp="1"/>
          </p:cNvSpPr>
          <p:nvPr>
            <p:ph idx="1"/>
          </p:nvPr>
        </p:nvSpPr>
        <p:spPr>
          <a:xfrm>
            <a:off x="838200" y="1825625"/>
            <a:ext cx="10515600" cy="4667250"/>
          </a:xfrm>
        </p:spPr>
        <p:txBody>
          <a:bodyPr>
            <a:normAutofit fontScale="92500" lnSpcReduction="20000"/>
          </a:bodyPr>
          <a:lstStyle/>
          <a:p>
            <a:pPr>
              <a:lnSpc>
                <a:spcPct val="150000"/>
              </a:lnSpc>
            </a:pPr>
            <a:r>
              <a:rPr lang="fr-FR" sz="2400" dirty="0"/>
              <a:t>Un homme de 50 ans, avec des antécédents de lithiases urinaires, consulte aux urgences pour colique néphrétique, évoluant depuis 24 heures. Il signale des nausées sans vomissements ni fièvre. Il n’a pas uriné depuis 12 heures.</a:t>
            </a:r>
          </a:p>
          <a:p>
            <a:pPr>
              <a:lnSpc>
                <a:spcPct val="150000"/>
              </a:lnSpc>
            </a:pPr>
            <a:r>
              <a:rPr lang="fr-FR" sz="2400" dirty="0"/>
              <a:t>Aux urgences </a:t>
            </a:r>
          </a:p>
          <a:p>
            <a:pPr>
              <a:lnSpc>
                <a:spcPct val="150000"/>
              </a:lnSpc>
            </a:pPr>
            <a:r>
              <a:rPr lang="fr-FR" sz="2400" dirty="0"/>
              <a:t>TA : 140/85 </a:t>
            </a:r>
            <a:r>
              <a:rPr lang="fr-FR" sz="2400" dirty="0" err="1"/>
              <a:t>mmHg</a:t>
            </a:r>
            <a:r>
              <a:rPr lang="fr-FR" sz="2400" dirty="0"/>
              <a:t> , FC : 95 bpm , Température : 37,2 °C</a:t>
            </a:r>
          </a:p>
          <a:p>
            <a:pPr>
              <a:lnSpc>
                <a:spcPct val="150000"/>
              </a:lnSpc>
            </a:pPr>
            <a:r>
              <a:rPr lang="fr-FR" sz="2400" dirty="0"/>
              <a:t>Examen clinique : douleur à la percussion lombaire droite</a:t>
            </a:r>
          </a:p>
          <a:p>
            <a:pPr>
              <a:lnSpc>
                <a:spcPct val="150000"/>
              </a:lnSpc>
            </a:pPr>
            <a:r>
              <a:rPr lang="fr-FR" sz="2400" dirty="0"/>
              <a:t>Sonde urinaire: pas d’urines</a:t>
            </a:r>
          </a:p>
          <a:p>
            <a:pPr>
              <a:lnSpc>
                <a:spcPct val="150000"/>
              </a:lnSpc>
            </a:pPr>
            <a:r>
              <a:rPr lang="fr-FR" sz="2400" dirty="0"/>
              <a:t>Biologie initiale : Créatinine : 220 µmol/L , Kaliémie : 4,8 </a:t>
            </a:r>
            <a:r>
              <a:rPr lang="fr-FR" sz="2400" dirty="0" err="1"/>
              <a:t>mmol</a:t>
            </a:r>
            <a:r>
              <a:rPr lang="fr-FR" sz="2400" dirty="0"/>
              <a:t>/L , Bicarbonates : 20 </a:t>
            </a:r>
            <a:r>
              <a:rPr lang="fr-FR" sz="2400" dirty="0" err="1"/>
              <a:t>mmol</a:t>
            </a:r>
            <a:r>
              <a:rPr lang="fr-FR" sz="2400" dirty="0"/>
              <a:t>/L</a:t>
            </a:r>
          </a:p>
          <a:p>
            <a:endParaRPr lang="fr-FR" dirty="0"/>
          </a:p>
        </p:txBody>
      </p:sp>
    </p:spTree>
    <p:extLst>
      <p:ext uri="{BB962C8B-B14F-4D97-AF65-F5344CB8AC3E}">
        <p14:creationId xmlns:p14="http://schemas.microsoft.com/office/powerpoint/2010/main" val="3152039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C44F1A-3301-4B6B-5C4F-C95034981A30}"/>
              </a:ext>
            </a:extLst>
          </p:cNvPr>
          <p:cNvSpPr>
            <a:spLocks noGrp="1"/>
          </p:cNvSpPr>
          <p:nvPr>
            <p:ph type="title"/>
          </p:nvPr>
        </p:nvSpPr>
        <p:spPr/>
        <p:txBody>
          <a:bodyPr>
            <a:normAutofit/>
          </a:bodyPr>
          <a:lstStyle/>
          <a:p>
            <a:pPr marL="742950" indent="-742950">
              <a:buFont typeface="+mj-lt"/>
              <a:buAutoNum type="arabicPeriod"/>
            </a:pPr>
            <a:r>
              <a:rPr lang="fr-FR" dirty="0"/>
              <a:t>Quel examen d’imagerie faut-il réaliser en urgence ?</a:t>
            </a:r>
          </a:p>
        </p:txBody>
      </p:sp>
      <p:sp>
        <p:nvSpPr>
          <p:cNvPr id="3" name="Espace réservé du contenu 2">
            <a:extLst>
              <a:ext uri="{FF2B5EF4-FFF2-40B4-BE49-F238E27FC236}">
                <a16:creationId xmlns:a16="http://schemas.microsoft.com/office/drawing/2014/main" id="{E2471B17-EE4B-D1E2-E826-6242ABD7D9AD}"/>
              </a:ext>
            </a:extLst>
          </p:cNvPr>
          <p:cNvSpPr>
            <a:spLocks noGrp="1"/>
          </p:cNvSpPr>
          <p:nvPr>
            <p:ph idx="1"/>
          </p:nvPr>
        </p:nvSpPr>
        <p:spPr/>
        <p:txBody>
          <a:bodyPr/>
          <a:lstStyle/>
          <a:p>
            <a:pPr marL="0" indent="0">
              <a:lnSpc>
                <a:spcPct val="150000"/>
              </a:lnSpc>
              <a:buNone/>
            </a:pPr>
            <a:r>
              <a:rPr lang="fr-FR" dirty="0"/>
              <a:t>A. Scanner abdominal avec injection</a:t>
            </a:r>
          </a:p>
          <a:p>
            <a:pPr marL="0" indent="0">
              <a:lnSpc>
                <a:spcPct val="150000"/>
              </a:lnSpc>
              <a:buNone/>
            </a:pPr>
            <a:r>
              <a:rPr lang="fr-FR" dirty="0"/>
              <a:t>B. Échographie rénale</a:t>
            </a:r>
          </a:p>
          <a:p>
            <a:pPr marL="0" indent="0">
              <a:lnSpc>
                <a:spcPct val="150000"/>
              </a:lnSpc>
              <a:buNone/>
            </a:pPr>
            <a:r>
              <a:rPr lang="fr-FR" dirty="0"/>
              <a:t>C. Urographie intraveineuse (UIV)</a:t>
            </a:r>
          </a:p>
          <a:p>
            <a:pPr marL="0" indent="0">
              <a:lnSpc>
                <a:spcPct val="150000"/>
              </a:lnSpc>
              <a:buNone/>
            </a:pPr>
            <a:r>
              <a:rPr lang="fr-FR" dirty="0"/>
              <a:t>D. Radiographie de l’abdomen sans préparation (AUSP)</a:t>
            </a:r>
          </a:p>
          <a:p>
            <a:pPr marL="0" indent="0">
              <a:lnSpc>
                <a:spcPct val="150000"/>
              </a:lnSpc>
              <a:buNone/>
            </a:pPr>
            <a:r>
              <a:rPr lang="fr-FR" dirty="0"/>
              <a:t>E. IRM abdomino-pelvienne</a:t>
            </a:r>
          </a:p>
        </p:txBody>
      </p:sp>
    </p:spTree>
    <p:extLst>
      <p:ext uri="{BB962C8B-B14F-4D97-AF65-F5344CB8AC3E}">
        <p14:creationId xmlns:p14="http://schemas.microsoft.com/office/powerpoint/2010/main" val="622467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882BE-95A9-3194-22ED-8F748EE0E4C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9F339F-450C-06A1-2EB5-983E847E115A}"/>
              </a:ext>
            </a:extLst>
          </p:cNvPr>
          <p:cNvSpPr>
            <a:spLocks noGrp="1"/>
          </p:cNvSpPr>
          <p:nvPr>
            <p:ph type="title"/>
          </p:nvPr>
        </p:nvSpPr>
        <p:spPr/>
        <p:txBody>
          <a:bodyPr>
            <a:normAutofit/>
          </a:bodyPr>
          <a:lstStyle/>
          <a:p>
            <a:pPr marL="742950" indent="-742950">
              <a:buFont typeface="+mj-lt"/>
              <a:buAutoNum type="arabicPeriod"/>
            </a:pPr>
            <a:r>
              <a:rPr lang="fr-FR" dirty="0"/>
              <a:t>Quel examen d’imagerie faut-il réaliser en urgence ?</a:t>
            </a:r>
          </a:p>
        </p:txBody>
      </p:sp>
      <p:sp>
        <p:nvSpPr>
          <p:cNvPr id="3" name="Espace réservé du contenu 2">
            <a:extLst>
              <a:ext uri="{FF2B5EF4-FFF2-40B4-BE49-F238E27FC236}">
                <a16:creationId xmlns:a16="http://schemas.microsoft.com/office/drawing/2014/main" id="{A38DB82C-98F7-E9A0-F35C-E905D15A2108}"/>
              </a:ext>
            </a:extLst>
          </p:cNvPr>
          <p:cNvSpPr>
            <a:spLocks noGrp="1"/>
          </p:cNvSpPr>
          <p:nvPr>
            <p:ph idx="1"/>
          </p:nvPr>
        </p:nvSpPr>
        <p:spPr/>
        <p:txBody>
          <a:bodyPr/>
          <a:lstStyle/>
          <a:p>
            <a:pPr>
              <a:lnSpc>
                <a:spcPct val="150000"/>
              </a:lnSpc>
            </a:pPr>
            <a:r>
              <a:rPr lang="fr-FR" dirty="0"/>
              <a:t>A. Scanner abdominal avec injection</a:t>
            </a:r>
          </a:p>
          <a:p>
            <a:pPr>
              <a:lnSpc>
                <a:spcPct val="150000"/>
              </a:lnSpc>
            </a:pPr>
            <a:r>
              <a:rPr lang="fr-FR" b="1" dirty="0"/>
              <a:t>B. Échographie rénale</a:t>
            </a:r>
          </a:p>
          <a:p>
            <a:pPr>
              <a:lnSpc>
                <a:spcPct val="150000"/>
              </a:lnSpc>
            </a:pPr>
            <a:r>
              <a:rPr lang="fr-FR" dirty="0"/>
              <a:t>C. Urographie intraveineuse (UIV)</a:t>
            </a:r>
          </a:p>
          <a:p>
            <a:pPr>
              <a:lnSpc>
                <a:spcPct val="150000"/>
              </a:lnSpc>
            </a:pPr>
            <a:r>
              <a:rPr lang="fr-FR" dirty="0"/>
              <a:t>D. Radiographie de l’abdomen sans préparation (AUSP)</a:t>
            </a:r>
          </a:p>
          <a:p>
            <a:pPr>
              <a:lnSpc>
                <a:spcPct val="150000"/>
              </a:lnSpc>
            </a:pPr>
            <a:r>
              <a:rPr lang="fr-FR" dirty="0"/>
              <a:t>E. IRM abdomino-pelvienne</a:t>
            </a:r>
          </a:p>
          <a:p>
            <a:endParaRPr lang="fr-FR" dirty="0"/>
          </a:p>
        </p:txBody>
      </p:sp>
      <p:pic>
        <p:nvPicPr>
          <p:cNvPr id="5" name="Image 4">
            <a:extLst>
              <a:ext uri="{FF2B5EF4-FFF2-40B4-BE49-F238E27FC236}">
                <a16:creationId xmlns:a16="http://schemas.microsoft.com/office/drawing/2014/main" id="{D9AE7EA3-0040-2392-EA6D-E3B0C4346AAB}"/>
              </a:ext>
            </a:extLst>
          </p:cNvPr>
          <p:cNvPicPr>
            <a:picLocks noChangeAspect="1"/>
          </p:cNvPicPr>
          <p:nvPr/>
        </p:nvPicPr>
        <p:blipFill>
          <a:blip r:embed="rId2"/>
          <a:stretch>
            <a:fillRect/>
          </a:stretch>
        </p:blipFill>
        <p:spPr>
          <a:xfrm>
            <a:off x="490247" y="1223369"/>
            <a:ext cx="11024533" cy="47199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49048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B754D7-C113-ED0D-2658-255C42C3973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F5C440A-911A-7691-B907-3206512B32BA}"/>
              </a:ext>
            </a:extLst>
          </p:cNvPr>
          <p:cNvSpPr>
            <a:spLocks noGrp="1"/>
          </p:cNvSpPr>
          <p:nvPr>
            <p:ph idx="1"/>
          </p:nvPr>
        </p:nvSpPr>
        <p:spPr/>
        <p:txBody>
          <a:bodyPr>
            <a:normAutofit/>
          </a:bodyPr>
          <a:lstStyle/>
          <a:p>
            <a:pPr>
              <a:lnSpc>
                <a:spcPct val="200000"/>
              </a:lnSpc>
            </a:pPr>
            <a:r>
              <a:rPr lang="fr-FR" dirty="0"/>
              <a:t>Biologie de contrôle réalisé après quelques heures : </a:t>
            </a:r>
          </a:p>
          <a:p>
            <a:pPr lvl="1">
              <a:lnSpc>
                <a:spcPct val="200000"/>
              </a:lnSpc>
            </a:pPr>
            <a:r>
              <a:rPr lang="fr-FR" dirty="0"/>
              <a:t>Créatinine : 520 µmol/L Kaliémie : 7,8 </a:t>
            </a:r>
            <a:r>
              <a:rPr lang="fr-FR" dirty="0" err="1"/>
              <a:t>mmol</a:t>
            </a:r>
            <a:r>
              <a:rPr lang="fr-FR" dirty="0"/>
              <a:t>/L  Bicarbonates : 7 </a:t>
            </a:r>
            <a:r>
              <a:rPr lang="fr-FR" dirty="0" err="1"/>
              <a:t>mmol</a:t>
            </a:r>
            <a:r>
              <a:rPr lang="fr-FR" dirty="0"/>
              <a:t>/L</a:t>
            </a:r>
          </a:p>
          <a:p>
            <a:pPr>
              <a:lnSpc>
                <a:spcPct val="200000"/>
              </a:lnSpc>
            </a:pPr>
            <a:r>
              <a:rPr lang="fr-FR" dirty="0"/>
              <a:t>Échographie rénale : Calcul obstructif droit de 10 mm avec dilatation pyélocalicielle droite Rein gauche non visualisé, </a:t>
            </a:r>
          </a:p>
        </p:txBody>
      </p:sp>
    </p:spTree>
    <p:extLst>
      <p:ext uri="{BB962C8B-B14F-4D97-AF65-F5344CB8AC3E}">
        <p14:creationId xmlns:p14="http://schemas.microsoft.com/office/powerpoint/2010/main" val="38829609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7D59E3-0B5B-A2D8-F551-FAA9F7602EFF}"/>
              </a:ext>
            </a:extLst>
          </p:cNvPr>
          <p:cNvSpPr>
            <a:spLocks noGrp="1"/>
          </p:cNvSpPr>
          <p:nvPr>
            <p:ph type="title"/>
          </p:nvPr>
        </p:nvSpPr>
        <p:spPr/>
        <p:txBody>
          <a:bodyPr>
            <a:normAutofit/>
          </a:bodyPr>
          <a:lstStyle/>
          <a:p>
            <a:r>
              <a:rPr lang="fr-FR" dirty="0"/>
              <a:t>2. Quelle(s) prise(s) en charge immédiate(s) recommandez-vous dans ce contexte ?</a:t>
            </a:r>
          </a:p>
        </p:txBody>
      </p:sp>
      <p:sp>
        <p:nvSpPr>
          <p:cNvPr id="3" name="Espace réservé du contenu 2">
            <a:extLst>
              <a:ext uri="{FF2B5EF4-FFF2-40B4-BE49-F238E27FC236}">
                <a16:creationId xmlns:a16="http://schemas.microsoft.com/office/drawing/2014/main" id="{92C60EED-C5B9-907C-4AD8-67B2C78F6F63}"/>
              </a:ext>
            </a:extLst>
          </p:cNvPr>
          <p:cNvSpPr>
            <a:spLocks noGrp="1"/>
          </p:cNvSpPr>
          <p:nvPr>
            <p:ph idx="1"/>
          </p:nvPr>
        </p:nvSpPr>
        <p:spPr/>
        <p:txBody>
          <a:bodyPr>
            <a:normAutofit fontScale="92500"/>
          </a:bodyPr>
          <a:lstStyle/>
          <a:p>
            <a:pPr marL="0" indent="0">
              <a:lnSpc>
                <a:spcPct val="150000"/>
              </a:lnSpc>
              <a:buNone/>
            </a:pPr>
            <a:r>
              <a:rPr lang="fr-FR" dirty="0"/>
              <a:t>A. hémodialyse en urgence </a:t>
            </a:r>
          </a:p>
          <a:p>
            <a:pPr marL="0" indent="0">
              <a:lnSpc>
                <a:spcPct val="150000"/>
              </a:lnSpc>
              <a:buNone/>
            </a:pPr>
            <a:r>
              <a:rPr lang="fr-FR" dirty="0"/>
              <a:t>B. Prescription de diurétiques de l’anse  par voie intra-veineuse  </a:t>
            </a:r>
          </a:p>
          <a:p>
            <a:pPr marL="0" indent="0">
              <a:lnSpc>
                <a:spcPct val="150000"/>
              </a:lnSpc>
              <a:buNone/>
            </a:pPr>
            <a:r>
              <a:rPr lang="fr-FR" dirty="0"/>
              <a:t>C. Alcalinisation des urines par bicarbonates de sodium par voie intra-veineuse  </a:t>
            </a:r>
          </a:p>
          <a:p>
            <a:pPr marL="0" indent="0">
              <a:lnSpc>
                <a:spcPct val="150000"/>
              </a:lnSpc>
              <a:buNone/>
            </a:pPr>
            <a:r>
              <a:rPr lang="fr-FR" dirty="0"/>
              <a:t>D. Administration de gluconate de calcium  par voie intra-veineuse  lente</a:t>
            </a:r>
          </a:p>
          <a:p>
            <a:pPr marL="0" indent="0">
              <a:lnSpc>
                <a:spcPct val="150000"/>
              </a:lnSpc>
              <a:buNone/>
            </a:pPr>
            <a:r>
              <a:rPr lang="fr-FR" dirty="0"/>
              <a:t>E. administration de résine échangeuse d’ions : </a:t>
            </a:r>
            <a:r>
              <a:rPr lang="fr-FR" dirty="0" err="1"/>
              <a:t>Kayexalate</a:t>
            </a:r>
            <a:endParaRPr lang="fr-FR" dirty="0"/>
          </a:p>
        </p:txBody>
      </p:sp>
    </p:spTree>
    <p:extLst>
      <p:ext uri="{BB962C8B-B14F-4D97-AF65-F5344CB8AC3E}">
        <p14:creationId xmlns:p14="http://schemas.microsoft.com/office/powerpoint/2010/main" val="3225609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B0B22-6978-AFD8-7BE4-3B809E62D52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17A4037-E766-C482-6274-AE2EDDA17A30}"/>
              </a:ext>
            </a:extLst>
          </p:cNvPr>
          <p:cNvSpPr>
            <a:spLocks noGrp="1"/>
          </p:cNvSpPr>
          <p:nvPr>
            <p:ph type="title"/>
          </p:nvPr>
        </p:nvSpPr>
        <p:spPr/>
        <p:txBody>
          <a:bodyPr>
            <a:normAutofit/>
          </a:bodyPr>
          <a:lstStyle/>
          <a:p>
            <a:r>
              <a:rPr lang="fr-FR" dirty="0"/>
              <a:t>2. Quelle(s) prise(s) en charge immédiate(s) recommandez-vous dans ce contexte ?</a:t>
            </a:r>
          </a:p>
        </p:txBody>
      </p:sp>
      <p:sp>
        <p:nvSpPr>
          <p:cNvPr id="3" name="Espace réservé du contenu 2">
            <a:extLst>
              <a:ext uri="{FF2B5EF4-FFF2-40B4-BE49-F238E27FC236}">
                <a16:creationId xmlns:a16="http://schemas.microsoft.com/office/drawing/2014/main" id="{26A424CC-AD52-1854-61EE-BE3A85654F39}"/>
              </a:ext>
            </a:extLst>
          </p:cNvPr>
          <p:cNvSpPr>
            <a:spLocks noGrp="1"/>
          </p:cNvSpPr>
          <p:nvPr>
            <p:ph idx="1"/>
          </p:nvPr>
        </p:nvSpPr>
        <p:spPr/>
        <p:txBody>
          <a:bodyPr>
            <a:normAutofit fontScale="92500" lnSpcReduction="20000"/>
          </a:bodyPr>
          <a:lstStyle/>
          <a:p>
            <a:pPr marL="0" indent="0">
              <a:lnSpc>
                <a:spcPct val="150000"/>
              </a:lnSpc>
              <a:buNone/>
            </a:pPr>
            <a:r>
              <a:rPr lang="fr-FR" b="1" dirty="0">
                <a:solidFill>
                  <a:srgbClr val="FF0000"/>
                </a:solidFill>
              </a:rPr>
              <a:t>A. hémodialyse en urgence </a:t>
            </a:r>
          </a:p>
          <a:p>
            <a:pPr marL="0" indent="0">
              <a:lnSpc>
                <a:spcPct val="150000"/>
              </a:lnSpc>
              <a:buNone/>
            </a:pPr>
            <a:r>
              <a:rPr lang="fr-FR" dirty="0"/>
              <a:t>B. Prescription de diurétiques de l’anse  par voie intra-veineuse  </a:t>
            </a:r>
          </a:p>
          <a:p>
            <a:pPr marL="0" indent="0">
              <a:lnSpc>
                <a:spcPct val="150000"/>
              </a:lnSpc>
              <a:buNone/>
            </a:pPr>
            <a:r>
              <a:rPr lang="fr-FR" dirty="0"/>
              <a:t>C. Alcalinisation des urines par bicarbonates de sodium par voie intra-veineuse  </a:t>
            </a:r>
          </a:p>
          <a:p>
            <a:pPr marL="0" indent="0">
              <a:lnSpc>
                <a:spcPct val="150000"/>
              </a:lnSpc>
              <a:buNone/>
            </a:pPr>
            <a:r>
              <a:rPr lang="fr-FR" b="1" dirty="0">
                <a:solidFill>
                  <a:srgbClr val="FF0000"/>
                </a:solidFill>
              </a:rPr>
              <a:t>D. Administration de gluconate de calcium  par voie intra-veineuse  lente</a:t>
            </a:r>
          </a:p>
          <a:p>
            <a:pPr marL="0" indent="0">
              <a:lnSpc>
                <a:spcPct val="150000"/>
              </a:lnSpc>
              <a:buNone/>
            </a:pPr>
            <a:r>
              <a:rPr lang="fr-FR" dirty="0"/>
              <a:t>E. administration de résine échangeuse d’ions : </a:t>
            </a:r>
            <a:r>
              <a:rPr lang="fr-FR" dirty="0" err="1"/>
              <a:t>Kayexalate</a:t>
            </a:r>
            <a:endParaRPr lang="fr-FR" dirty="0"/>
          </a:p>
        </p:txBody>
      </p:sp>
    </p:spTree>
    <p:extLst>
      <p:ext uri="{BB962C8B-B14F-4D97-AF65-F5344CB8AC3E}">
        <p14:creationId xmlns:p14="http://schemas.microsoft.com/office/powerpoint/2010/main" val="4264661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E4102-3BB1-E45B-9748-9F466EB8AA1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9F21682-94DA-5E40-94F0-A82DA44D9665}"/>
              </a:ext>
            </a:extLst>
          </p:cNvPr>
          <p:cNvSpPr>
            <a:spLocks noGrp="1"/>
          </p:cNvSpPr>
          <p:nvPr>
            <p:ph type="title"/>
          </p:nvPr>
        </p:nvSpPr>
        <p:spPr/>
        <p:txBody>
          <a:bodyPr>
            <a:normAutofit/>
          </a:bodyPr>
          <a:lstStyle/>
          <a:p>
            <a:r>
              <a:rPr lang="fr-FR" dirty="0"/>
              <a:t>2. Quelle(s) prise(s) en charge immédiate(s) recommandez-vous dans ce contexte ?</a:t>
            </a:r>
          </a:p>
        </p:txBody>
      </p:sp>
      <p:sp>
        <p:nvSpPr>
          <p:cNvPr id="3" name="Espace réservé du contenu 2">
            <a:extLst>
              <a:ext uri="{FF2B5EF4-FFF2-40B4-BE49-F238E27FC236}">
                <a16:creationId xmlns:a16="http://schemas.microsoft.com/office/drawing/2014/main" id="{5EAEAC63-F554-CADB-3B7B-35DE0B549E5E}"/>
              </a:ext>
            </a:extLst>
          </p:cNvPr>
          <p:cNvSpPr>
            <a:spLocks noGrp="1"/>
          </p:cNvSpPr>
          <p:nvPr>
            <p:ph idx="1"/>
          </p:nvPr>
        </p:nvSpPr>
        <p:spPr/>
        <p:txBody>
          <a:bodyPr>
            <a:normAutofit fontScale="92500" lnSpcReduction="20000"/>
          </a:bodyPr>
          <a:lstStyle/>
          <a:p>
            <a:pPr>
              <a:lnSpc>
                <a:spcPct val="150000"/>
              </a:lnSpc>
            </a:pPr>
            <a:r>
              <a:rPr lang="fr-FR" b="1" dirty="0">
                <a:solidFill>
                  <a:srgbClr val="FF0000"/>
                </a:solidFill>
              </a:rPr>
              <a:t>A. hémodialyse en urgence </a:t>
            </a:r>
          </a:p>
          <a:p>
            <a:pPr>
              <a:lnSpc>
                <a:spcPct val="150000"/>
              </a:lnSpc>
            </a:pPr>
            <a:r>
              <a:rPr lang="fr-FR" dirty="0"/>
              <a:t>B. Prescription de diurétiques de l’anse  par voie intra-veineuse  </a:t>
            </a:r>
          </a:p>
          <a:p>
            <a:pPr>
              <a:lnSpc>
                <a:spcPct val="150000"/>
              </a:lnSpc>
            </a:pPr>
            <a:r>
              <a:rPr lang="fr-FR" dirty="0"/>
              <a:t>C. Alcalinisation des urines par bicarbonates de sodium par voie intra-veineuse  </a:t>
            </a:r>
          </a:p>
          <a:p>
            <a:pPr>
              <a:lnSpc>
                <a:spcPct val="150000"/>
              </a:lnSpc>
            </a:pPr>
            <a:r>
              <a:rPr lang="fr-FR" b="1" dirty="0">
                <a:solidFill>
                  <a:srgbClr val="FF0000"/>
                </a:solidFill>
              </a:rPr>
              <a:t>D. Administration de gluconate de calcium  par voie intra-veineuse  lente</a:t>
            </a:r>
          </a:p>
          <a:p>
            <a:pPr>
              <a:lnSpc>
                <a:spcPct val="150000"/>
              </a:lnSpc>
            </a:pPr>
            <a:r>
              <a:rPr lang="fr-FR" dirty="0"/>
              <a:t>E. administration de résine échangeuse d’ions : </a:t>
            </a:r>
            <a:r>
              <a:rPr lang="fr-FR" dirty="0" err="1"/>
              <a:t>Kayexalate</a:t>
            </a:r>
            <a:endParaRPr lang="fr-FR" dirty="0"/>
          </a:p>
        </p:txBody>
      </p:sp>
      <p:pic>
        <p:nvPicPr>
          <p:cNvPr id="5" name="Image 4">
            <a:extLst>
              <a:ext uri="{FF2B5EF4-FFF2-40B4-BE49-F238E27FC236}">
                <a16:creationId xmlns:a16="http://schemas.microsoft.com/office/drawing/2014/main" id="{C549181F-4284-489B-F88D-ED1B6046638E}"/>
              </a:ext>
            </a:extLst>
          </p:cNvPr>
          <p:cNvPicPr>
            <a:picLocks noChangeAspect="1"/>
          </p:cNvPicPr>
          <p:nvPr/>
        </p:nvPicPr>
        <p:blipFill>
          <a:blip r:embed="rId2"/>
          <a:stretch>
            <a:fillRect/>
          </a:stretch>
        </p:blipFill>
        <p:spPr>
          <a:xfrm>
            <a:off x="1367330" y="1513840"/>
            <a:ext cx="9457340" cy="327646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39991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0C44A-88E2-835A-B86D-3C4A26E1056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B55BC18-9412-1B61-7F12-6350392E4DE4}"/>
              </a:ext>
            </a:extLst>
          </p:cNvPr>
          <p:cNvSpPr>
            <a:spLocks noGrp="1"/>
          </p:cNvSpPr>
          <p:nvPr>
            <p:ph type="title"/>
          </p:nvPr>
        </p:nvSpPr>
        <p:spPr/>
        <p:txBody>
          <a:bodyPr>
            <a:normAutofit/>
          </a:bodyPr>
          <a:lstStyle/>
          <a:p>
            <a:r>
              <a:rPr lang="fr-FR" dirty="0"/>
              <a:t>2. Quelle(s) prise(s) en charge immédiate(s) recommandez-vous dans ce contexte ?</a:t>
            </a:r>
          </a:p>
        </p:txBody>
      </p:sp>
      <p:sp>
        <p:nvSpPr>
          <p:cNvPr id="3" name="Espace réservé du contenu 2">
            <a:extLst>
              <a:ext uri="{FF2B5EF4-FFF2-40B4-BE49-F238E27FC236}">
                <a16:creationId xmlns:a16="http://schemas.microsoft.com/office/drawing/2014/main" id="{8ACBE713-0267-4E32-3847-626D87A740FF}"/>
              </a:ext>
            </a:extLst>
          </p:cNvPr>
          <p:cNvSpPr>
            <a:spLocks noGrp="1"/>
          </p:cNvSpPr>
          <p:nvPr>
            <p:ph idx="1"/>
          </p:nvPr>
        </p:nvSpPr>
        <p:spPr/>
        <p:txBody>
          <a:bodyPr>
            <a:normAutofit fontScale="92500" lnSpcReduction="20000"/>
          </a:bodyPr>
          <a:lstStyle/>
          <a:p>
            <a:pPr>
              <a:lnSpc>
                <a:spcPct val="150000"/>
              </a:lnSpc>
            </a:pPr>
            <a:r>
              <a:rPr lang="fr-FR" b="1" dirty="0">
                <a:solidFill>
                  <a:srgbClr val="FF0000"/>
                </a:solidFill>
              </a:rPr>
              <a:t>A. hémodialyse en urgence </a:t>
            </a:r>
          </a:p>
          <a:p>
            <a:pPr>
              <a:lnSpc>
                <a:spcPct val="150000"/>
              </a:lnSpc>
            </a:pPr>
            <a:r>
              <a:rPr lang="fr-FR" dirty="0"/>
              <a:t>B. Prescription de diurétiques de l’anse  par voie intra-veineuse  </a:t>
            </a:r>
          </a:p>
          <a:p>
            <a:pPr>
              <a:lnSpc>
                <a:spcPct val="150000"/>
              </a:lnSpc>
            </a:pPr>
            <a:r>
              <a:rPr lang="fr-FR" dirty="0"/>
              <a:t>C. Alcalinisation des urines par bicarbonates de sodium par voie intra-veineuse  </a:t>
            </a:r>
          </a:p>
          <a:p>
            <a:pPr>
              <a:lnSpc>
                <a:spcPct val="150000"/>
              </a:lnSpc>
            </a:pPr>
            <a:r>
              <a:rPr lang="fr-FR" b="1" dirty="0">
                <a:solidFill>
                  <a:srgbClr val="FF0000"/>
                </a:solidFill>
              </a:rPr>
              <a:t>D. Administration de gluconate de calcium  par voie intra-veineuse  lente</a:t>
            </a:r>
          </a:p>
          <a:p>
            <a:pPr>
              <a:lnSpc>
                <a:spcPct val="150000"/>
              </a:lnSpc>
            </a:pPr>
            <a:r>
              <a:rPr lang="fr-FR" dirty="0"/>
              <a:t>E. administration de résine échangeuse d’ions : </a:t>
            </a:r>
            <a:r>
              <a:rPr lang="fr-FR" dirty="0" err="1"/>
              <a:t>Kayexalate</a:t>
            </a:r>
            <a:endParaRPr lang="fr-FR" dirty="0"/>
          </a:p>
        </p:txBody>
      </p:sp>
      <p:pic>
        <p:nvPicPr>
          <p:cNvPr id="5" name="Image 4">
            <a:extLst>
              <a:ext uri="{FF2B5EF4-FFF2-40B4-BE49-F238E27FC236}">
                <a16:creationId xmlns:a16="http://schemas.microsoft.com/office/drawing/2014/main" id="{B523AD08-0251-EAF2-77A4-816BDCBA6CB5}"/>
              </a:ext>
            </a:extLst>
          </p:cNvPr>
          <p:cNvPicPr>
            <a:picLocks noChangeAspect="1"/>
          </p:cNvPicPr>
          <p:nvPr/>
        </p:nvPicPr>
        <p:blipFill>
          <a:blip r:embed="rId2"/>
          <a:stretch>
            <a:fillRect/>
          </a:stretch>
        </p:blipFill>
        <p:spPr>
          <a:xfrm>
            <a:off x="1367330" y="1513840"/>
            <a:ext cx="9457340" cy="3276464"/>
          </a:xfrm>
          <a:prstGeom prst="rect">
            <a:avLst/>
          </a:prstGeom>
          <a:ln>
            <a:noFill/>
          </a:ln>
          <a:effectLst>
            <a:outerShdw blurRad="292100" dist="139700" dir="2700000" algn="tl" rotWithShape="0">
              <a:srgbClr val="333333">
                <a:alpha val="65000"/>
              </a:srgbClr>
            </a:outerShdw>
          </a:effectLst>
        </p:spPr>
      </p:pic>
      <p:pic>
        <p:nvPicPr>
          <p:cNvPr id="6" name="Image 5">
            <a:extLst>
              <a:ext uri="{FF2B5EF4-FFF2-40B4-BE49-F238E27FC236}">
                <a16:creationId xmlns:a16="http://schemas.microsoft.com/office/drawing/2014/main" id="{223DF579-09FD-A8F0-75A8-6843DE4C43CB}"/>
              </a:ext>
            </a:extLst>
          </p:cNvPr>
          <p:cNvPicPr>
            <a:picLocks noChangeAspect="1"/>
          </p:cNvPicPr>
          <p:nvPr/>
        </p:nvPicPr>
        <p:blipFill>
          <a:blip r:embed="rId3"/>
          <a:stretch>
            <a:fillRect/>
          </a:stretch>
        </p:blipFill>
        <p:spPr>
          <a:xfrm>
            <a:off x="1483359" y="99302"/>
            <a:ext cx="8501723" cy="639357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76762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F0B741-E7B0-7C29-C17D-9335EFB5BE68}"/>
              </a:ext>
            </a:extLst>
          </p:cNvPr>
          <p:cNvSpPr>
            <a:spLocks noGrp="1"/>
          </p:cNvSpPr>
          <p:nvPr>
            <p:ph type="title"/>
          </p:nvPr>
        </p:nvSpPr>
        <p:spPr/>
        <p:txBody>
          <a:bodyPr>
            <a:normAutofit/>
          </a:bodyPr>
          <a:lstStyle/>
          <a:p>
            <a:r>
              <a:rPr lang="fr-FR" dirty="0"/>
              <a:t>3. Concernant la cause de cette insuffisance rénale aiguë, quelle proposition est exacte ?</a:t>
            </a:r>
          </a:p>
        </p:txBody>
      </p:sp>
      <p:sp>
        <p:nvSpPr>
          <p:cNvPr id="3" name="Espace réservé du contenu 2">
            <a:extLst>
              <a:ext uri="{FF2B5EF4-FFF2-40B4-BE49-F238E27FC236}">
                <a16:creationId xmlns:a16="http://schemas.microsoft.com/office/drawing/2014/main" id="{CFE3695C-B50C-DA33-DC74-55CECEA8B474}"/>
              </a:ext>
            </a:extLst>
          </p:cNvPr>
          <p:cNvSpPr>
            <a:spLocks noGrp="1"/>
          </p:cNvSpPr>
          <p:nvPr>
            <p:ph idx="1"/>
          </p:nvPr>
        </p:nvSpPr>
        <p:spPr/>
        <p:txBody>
          <a:bodyPr>
            <a:normAutofit lnSpcReduction="10000"/>
          </a:bodyPr>
          <a:lstStyle/>
          <a:p>
            <a:pPr marL="0" indent="0">
              <a:lnSpc>
                <a:spcPct val="150000"/>
              </a:lnSpc>
              <a:buNone/>
            </a:pPr>
            <a:r>
              <a:rPr lang="fr-FR" dirty="0"/>
              <a:t>A. Il s’agit d’une IRA obstructive par obstacle unilatéral sur rein unique</a:t>
            </a:r>
          </a:p>
          <a:p>
            <a:pPr marL="0" indent="0">
              <a:lnSpc>
                <a:spcPct val="150000"/>
              </a:lnSpc>
              <a:buNone/>
            </a:pPr>
            <a:r>
              <a:rPr lang="fr-FR" dirty="0"/>
              <a:t>B. Il s’agit d’une IRA par rétention urinaire aigue avec globe vésical</a:t>
            </a:r>
          </a:p>
          <a:p>
            <a:pPr marL="0" indent="0">
              <a:lnSpc>
                <a:spcPct val="150000"/>
              </a:lnSpc>
              <a:buNone/>
            </a:pPr>
            <a:r>
              <a:rPr lang="fr-FR" dirty="0"/>
              <a:t>C Il s’agit d’une IRA obstructive par obstacle bilatéral</a:t>
            </a:r>
          </a:p>
          <a:p>
            <a:pPr marL="0" indent="0">
              <a:lnSpc>
                <a:spcPct val="150000"/>
              </a:lnSpc>
              <a:buNone/>
            </a:pPr>
            <a:r>
              <a:rPr lang="fr-FR" dirty="0"/>
              <a:t>D. Elle est secondaire à une néphrite interstitielle aigue </a:t>
            </a:r>
          </a:p>
          <a:p>
            <a:pPr marL="0" indent="0">
              <a:lnSpc>
                <a:spcPct val="150000"/>
              </a:lnSpc>
              <a:buNone/>
            </a:pPr>
            <a:r>
              <a:rPr lang="fr-FR" dirty="0"/>
              <a:t>E. Elle est secondaire à une pyélonéphrite aigue</a:t>
            </a:r>
          </a:p>
        </p:txBody>
      </p:sp>
    </p:spTree>
    <p:extLst>
      <p:ext uri="{BB962C8B-B14F-4D97-AF65-F5344CB8AC3E}">
        <p14:creationId xmlns:p14="http://schemas.microsoft.com/office/powerpoint/2010/main" val="3149225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965F7-57D4-C161-1A80-C312CB43388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38EB84C-E0CD-9F30-83BD-CD3D5218000B}"/>
              </a:ext>
            </a:extLst>
          </p:cNvPr>
          <p:cNvSpPr>
            <a:spLocks noGrp="1"/>
          </p:cNvSpPr>
          <p:nvPr>
            <p:ph type="title"/>
          </p:nvPr>
        </p:nvSpPr>
        <p:spPr/>
        <p:txBody>
          <a:bodyPr>
            <a:normAutofit/>
          </a:bodyPr>
          <a:lstStyle/>
          <a:p>
            <a:r>
              <a:rPr lang="fr-FR" dirty="0"/>
              <a:t>3. Concernant la cause de cette insuffisance rénale aiguë, quelle proposition est exacte ?</a:t>
            </a:r>
          </a:p>
        </p:txBody>
      </p:sp>
      <p:sp>
        <p:nvSpPr>
          <p:cNvPr id="3" name="Espace réservé du contenu 2">
            <a:extLst>
              <a:ext uri="{FF2B5EF4-FFF2-40B4-BE49-F238E27FC236}">
                <a16:creationId xmlns:a16="http://schemas.microsoft.com/office/drawing/2014/main" id="{FFC06B8D-8BDF-3415-A486-2D851F688FED}"/>
              </a:ext>
            </a:extLst>
          </p:cNvPr>
          <p:cNvSpPr>
            <a:spLocks noGrp="1"/>
          </p:cNvSpPr>
          <p:nvPr>
            <p:ph idx="1"/>
          </p:nvPr>
        </p:nvSpPr>
        <p:spPr/>
        <p:txBody>
          <a:bodyPr>
            <a:normAutofit lnSpcReduction="10000"/>
          </a:bodyPr>
          <a:lstStyle/>
          <a:p>
            <a:pPr marL="0" indent="0">
              <a:lnSpc>
                <a:spcPct val="150000"/>
              </a:lnSpc>
              <a:buNone/>
            </a:pPr>
            <a:r>
              <a:rPr lang="fr-FR" b="1" dirty="0">
                <a:solidFill>
                  <a:srgbClr val="FF0000"/>
                </a:solidFill>
              </a:rPr>
              <a:t>A. Il s’agit d’une IRA obstructive par obstacle unilatéral sur rein unique</a:t>
            </a:r>
          </a:p>
          <a:p>
            <a:pPr marL="0" indent="0">
              <a:lnSpc>
                <a:spcPct val="150000"/>
              </a:lnSpc>
              <a:buNone/>
            </a:pPr>
            <a:r>
              <a:rPr lang="fr-FR" dirty="0"/>
              <a:t>B. Il s’agit d’une IRA par rétention urinaire aigue avec globe vésical</a:t>
            </a:r>
          </a:p>
          <a:p>
            <a:pPr marL="0" indent="0">
              <a:lnSpc>
                <a:spcPct val="150000"/>
              </a:lnSpc>
              <a:buNone/>
            </a:pPr>
            <a:r>
              <a:rPr lang="fr-FR" dirty="0"/>
              <a:t>C Il s’agit d’une IRA obstructive par obstacle bilatéral</a:t>
            </a:r>
          </a:p>
          <a:p>
            <a:pPr marL="0" indent="0">
              <a:lnSpc>
                <a:spcPct val="150000"/>
              </a:lnSpc>
              <a:buNone/>
            </a:pPr>
            <a:r>
              <a:rPr lang="fr-FR" dirty="0"/>
              <a:t>D. Elle est secondaire à une néphrite interstitielle aigue </a:t>
            </a:r>
          </a:p>
          <a:p>
            <a:pPr marL="0" indent="0">
              <a:lnSpc>
                <a:spcPct val="150000"/>
              </a:lnSpc>
              <a:buNone/>
            </a:pPr>
            <a:r>
              <a:rPr lang="fr-FR" dirty="0"/>
              <a:t>E. Elle est secondaire à une pyélonéphrite aigue</a:t>
            </a:r>
          </a:p>
        </p:txBody>
      </p:sp>
    </p:spTree>
    <p:extLst>
      <p:ext uri="{BB962C8B-B14F-4D97-AF65-F5344CB8AC3E}">
        <p14:creationId xmlns:p14="http://schemas.microsoft.com/office/powerpoint/2010/main" val="1435097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9F4B87-C27A-ADB6-6B2D-FC3502B506FD}"/>
              </a:ext>
            </a:extLst>
          </p:cNvPr>
          <p:cNvSpPr>
            <a:spLocks noGrp="1"/>
          </p:cNvSpPr>
          <p:nvPr>
            <p:ph type="title"/>
          </p:nvPr>
        </p:nvSpPr>
        <p:spPr/>
        <p:txBody>
          <a:bodyPr>
            <a:normAutofit/>
          </a:bodyPr>
          <a:lstStyle/>
          <a:p>
            <a:r>
              <a:rPr lang="fr-FR" dirty="0"/>
              <a:t>4. Quelle est l’attitude thérapeutique dans ce contexte ?</a:t>
            </a:r>
          </a:p>
        </p:txBody>
      </p:sp>
      <p:sp>
        <p:nvSpPr>
          <p:cNvPr id="3" name="Espace réservé du contenu 2">
            <a:extLst>
              <a:ext uri="{FF2B5EF4-FFF2-40B4-BE49-F238E27FC236}">
                <a16:creationId xmlns:a16="http://schemas.microsoft.com/office/drawing/2014/main" id="{F00ACA80-8B41-F5E2-1302-EB69E0A4D731}"/>
              </a:ext>
            </a:extLst>
          </p:cNvPr>
          <p:cNvSpPr>
            <a:spLocks noGrp="1"/>
          </p:cNvSpPr>
          <p:nvPr>
            <p:ph idx="1"/>
          </p:nvPr>
        </p:nvSpPr>
        <p:spPr/>
        <p:txBody>
          <a:bodyPr>
            <a:normAutofit lnSpcReduction="10000"/>
          </a:bodyPr>
          <a:lstStyle/>
          <a:p>
            <a:pPr marL="0" indent="0">
              <a:lnSpc>
                <a:spcPct val="150000"/>
              </a:lnSpc>
              <a:buNone/>
            </a:pPr>
            <a:r>
              <a:rPr lang="fr-FR" b="1" dirty="0">
                <a:solidFill>
                  <a:srgbClr val="FF0000"/>
                </a:solidFill>
              </a:rPr>
              <a:t>A .Drainage des voies urinaires par néphrostomie percutanée droite ou Pose d’une sonde double J droite</a:t>
            </a:r>
          </a:p>
          <a:p>
            <a:pPr marL="0" indent="0">
              <a:lnSpc>
                <a:spcPct val="150000"/>
              </a:lnSpc>
              <a:buNone/>
            </a:pPr>
            <a:r>
              <a:rPr lang="fr-FR" dirty="0"/>
              <a:t>B. Diurétiques </a:t>
            </a:r>
          </a:p>
          <a:p>
            <a:pPr marL="0" indent="0">
              <a:lnSpc>
                <a:spcPct val="150000"/>
              </a:lnSpc>
              <a:buNone/>
            </a:pPr>
            <a:r>
              <a:rPr lang="fr-FR" dirty="0"/>
              <a:t>C. Antibiothérapie </a:t>
            </a:r>
          </a:p>
          <a:p>
            <a:pPr marL="0" indent="0">
              <a:lnSpc>
                <a:spcPct val="150000"/>
              </a:lnSpc>
              <a:buNone/>
            </a:pPr>
            <a:r>
              <a:rPr lang="fr-FR" dirty="0"/>
              <a:t>D. Cathéter sus –pubien </a:t>
            </a:r>
          </a:p>
          <a:p>
            <a:pPr marL="0" indent="0">
              <a:lnSpc>
                <a:spcPct val="150000"/>
              </a:lnSpc>
              <a:buNone/>
            </a:pPr>
            <a:r>
              <a:rPr lang="fr-FR" dirty="0"/>
              <a:t>E. lithotritie extra-corporelle</a:t>
            </a:r>
          </a:p>
        </p:txBody>
      </p:sp>
    </p:spTree>
    <p:extLst>
      <p:ext uri="{BB962C8B-B14F-4D97-AF65-F5344CB8AC3E}">
        <p14:creationId xmlns:p14="http://schemas.microsoft.com/office/powerpoint/2010/main" val="124300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BF21FF-E582-4016-381D-9E5C44B3229D}"/>
              </a:ext>
            </a:extLst>
          </p:cNvPr>
          <p:cNvSpPr>
            <a:spLocks noGrp="1"/>
          </p:cNvSpPr>
          <p:nvPr>
            <p:ph type="title"/>
          </p:nvPr>
        </p:nvSpPr>
        <p:spPr/>
        <p:txBody>
          <a:bodyPr/>
          <a:lstStyle/>
          <a:p>
            <a:pPr algn="ctr"/>
            <a:r>
              <a:rPr lang="fr-FR" dirty="0"/>
              <a:t>Cas clinique 2</a:t>
            </a:r>
          </a:p>
        </p:txBody>
      </p:sp>
      <p:sp>
        <p:nvSpPr>
          <p:cNvPr id="3" name="Espace réservé du contenu 2">
            <a:extLst>
              <a:ext uri="{FF2B5EF4-FFF2-40B4-BE49-F238E27FC236}">
                <a16:creationId xmlns:a16="http://schemas.microsoft.com/office/drawing/2014/main" id="{26316403-A7F2-D42E-8E7D-7E99CEEBB7F1}"/>
              </a:ext>
            </a:extLst>
          </p:cNvPr>
          <p:cNvSpPr>
            <a:spLocks noGrp="1"/>
          </p:cNvSpPr>
          <p:nvPr>
            <p:ph idx="1"/>
          </p:nvPr>
        </p:nvSpPr>
        <p:spPr>
          <a:xfrm>
            <a:off x="838200" y="1796128"/>
            <a:ext cx="10515600" cy="4840646"/>
          </a:xfrm>
        </p:spPr>
        <p:txBody>
          <a:bodyPr>
            <a:normAutofit fontScale="85000" lnSpcReduction="20000"/>
          </a:bodyPr>
          <a:lstStyle/>
          <a:p>
            <a:pPr marL="0" indent="0">
              <a:lnSpc>
                <a:spcPct val="150000"/>
              </a:lnSpc>
              <a:buNone/>
            </a:pPr>
            <a:r>
              <a:rPr lang="fr-FR" dirty="0"/>
              <a:t>Un homme de 65 ans, aux antécédents d’hypertension artérielle et d’adénome de la prostate, consulte pour une anurie totale depuis 24 heures. </a:t>
            </a:r>
          </a:p>
          <a:p>
            <a:pPr marL="0" indent="0">
              <a:lnSpc>
                <a:spcPct val="150000"/>
              </a:lnSpc>
              <a:buNone/>
            </a:pPr>
            <a:r>
              <a:rPr lang="fr-FR" dirty="0"/>
              <a:t>Il présente des douleurs hypogastriques. </a:t>
            </a:r>
          </a:p>
          <a:p>
            <a:pPr marL="0" indent="0">
              <a:lnSpc>
                <a:spcPct val="150000"/>
              </a:lnSpc>
              <a:buNone/>
            </a:pPr>
            <a:r>
              <a:rPr lang="fr-FR" dirty="0"/>
              <a:t>Examen clinique :</a:t>
            </a:r>
          </a:p>
          <a:p>
            <a:pPr marL="0" indent="0">
              <a:lnSpc>
                <a:spcPct val="150000"/>
              </a:lnSpc>
              <a:buNone/>
            </a:pPr>
            <a:r>
              <a:rPr lang="fr-FR" dirty="0"/>
              <a:t> Pas de fièvre</a:t>
            </a:r>
          </a:p>
          <a:p>
            <a:pPr marL="0" indent="0">
              <a:lnSpc>
                <a:spcPct val="150000"/>
              </a:lnSpc>
              <a:buNone/>
            </a:pPr>
            <a:r>
              <a:rPr lang="fr-FR" dirty="0"/>
              <a:t>TA : 160/90 </a:t>
            </a:r>
            <a:r>
              <a:rPr lang="fr-FR" dirty="0" err="1"/>
              <a:t>mmHg</a:t>
            </a:r>
            <a:r>
              <a:rPr lang="fr-FR" dirty="0"/>
              <a:t>, FC : 88 bpm</a:t>
            </a:r>
          </a:p>
          <a:p>
            <a:pPr marL="0" indent="0">
              <a:lnSpc>
                <a:spcPct val="150000"/>
              </a:lnSpc>
              <a:buNone/>
            </a:pPr>
            <a:r>
              <a:rPr lang="fr-FR" dirty="0"/>
              <a:t>Globe vésical à la palpation</a:t>
            </a:r>
          </a:p>
          <a:p>
            <a:pPr marL="0" indent="0">
              <a:lnSpc>
                <a:spcPct val="150000"/>
              </a:lnSpc>
              <a:buNone/>
            </a:pPr>
            <a:r>
              <a:rPr lang="fr-FR" dirty="0"/>
              <a:t>Pas de douleur lombaire</a:t>
            </a:r>
          </a:p>
        </p:txBody>
      </p:sp>
    </p:spTree>
    <p:extLst>
      <p:ext uri="{BB962C8B-B14F-4D97-AF65-F5344CB8AC3E}">
        <p14:creationId xmlns:p14="http://schemas.microsoft.com/office/powerpoint/2010/main" val="168006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867D97-6C50-220B-E9F7-3D0D1F837F3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7B37E84-7163-000C-3719-CAFC85A51F40}"/>
              </a:ext>
            </a:extLst>
          </p:cNvPr>
          <p:cNvSpPr>
            <a:spLocks noGrp="1"/>
          </p:cNvSpPr>
          <p:nvPr>
            <p:ph idx="1"/>
          </p:nvPr>
        </p:nvSpPr>
        <p:spPr>
          <a:xfrm>
            <a:off x="838200" y="1825624"/>
            <a:ext cx="10515600" cy="4879975"/>
          </a:xfrm>
        </p:spPr>
        <p:txBody>
          <a:bodyPr>
            <a:normAutofit fontScale="85000" lnSpcReduction="20000"/>
          </a:bodyPr>
          <a:lstStyle/>
          <a:p>
            <a:pPr marL="0" indent="0">
              <a:lnSpc>
                <a:spcPct val="150000"/>
              </a:lnSpc>
              <a:buNone/>
            </a:pPr>
            <a:r>
              <a:rPr lang="fr-FR" dirty="0"/>
              <a:t> </a:t>
            </a:r>
            <a:r>
              <a:rPr lang="fr-FR" b="1" dirty="0"/>
              <a:t>Biologie : </a:t>
            </a:r>
          </a:p>
          <a:p>
            <a:pPr marL="0" indent="0">
              <a:lnSpc>
                <a:spcPct val="150000"/>
              </a:lnSpc>
              <a:buNone/>
            </a:pPr>
            <a:r>
              <a:rPr lang="fr-FR" dirty="0"/>
              <a:t>Créatinine : 450 µmol/L (normale : 60-110)</a:t>
            </a:r>
          </a:p>
          <a:p>
            <a:pPr marL="0" indent="0">
              <a:lnSpc>
                <a:spcPct val="150000"/>
              </a:lnSpc>
              <a:buNone/>
            </a:pPr>
            <a:r>
              <a:rPr lang="fr-FR" dirty="0"/>
              <a:t> Kaliémie : 5,6 </a:t>
            </a:r>
            <a:r>
              <a:rPr lang="fr-FR" dirty="0" err="1"/>
              <a:t>mmol</a:t>
            </a:r>
            <a:r>
              <a:rPr lang="fr-FR" dirty="0"/>
              <a:t>/L</a:t>
            </a:r>
          </a:p>
          <a:p>
            <a:pPr marL="0" indent="0">
              <a:lnSpc>
                <a:spcPct val="150000"/>
              </a:lnSpc>
              <a:buNone/>
            </a:pPr>
            <a:r>
              <a:rPr lang="fr-FR" dirty="0"/>
              <a:t> Bicarbonates : 16 </a:t>
            </a:r>
            <a:r>
              <a:rPr lang="fr-FR" dirty="0" err="1"/>
              <a:t>mmol</a:t>
            </a:r>
            <a:r>
              <a:rPr lang="fr-FR" dirty="0"/>
              <a:t>/L</a:t>
            </a:r>
          </a:p>
          <a:p>
            <a:pPr marL="0" indent="0">
              <a:lnSpc>
                <a:spcPct val="150000"/>
              </a:lnSpc>
              <a:buNone/>
            </a:pPr>
            <a:r>
              <a:rPr lang="fr-FR" b="1" dirty="0"/>
              <a:t>Échographie :</a:t>
            </a:r>
          </a:p>
          <a:p>
            <a:pPr marL="0" indent="0">
              <a:lnSpc>
                <a:spcPct val="150000"/>
              </a:lnSpc>
              <a:buNone/>
            </a:pPr>
            <a:r>
              <a:rPr lang="fr-FR" dirty="0"/>
              <a:t>Vessie distendue (&gt; 1000 </a:t>
            </a:r>
            <a:r>
              <a:rPr lang="fr-FR" dirty="0" err="1"/>
              <a:t>mL</a:t>
            </a:r>
            <a:r>
              <a:rPr lang="fr-FR" dirty="0"/>
              <a:t>)</a:t>
            </a:r>
          </a:p>
          <a:p>
            <a:pPr marL="0" indent="0">
              <a:lnSpc>
                <a:spcPct val="150000"/>
              </a:lnSpc>
              <a:buNone/>
            </a:pPr>
            <a:r>
              <a:rPr lang="fr-FR" dirty="0"/>
              <a:t> Rein droit : dilatation modérée des cavités</a:t>
            </a:r>
          </a:p>
          <a:p>
            <a:pPr marL="0" indent="0">
              <a:lnSpc>
                <a:spcPct val="150000"/>
              </a:lnSpc>
              <a:buNone/>
            </a:pPr>
            <a:r>
              <a:rPr lang="fr-FR" dirty="0"/>
              <a:t> Rein gauche : normal</a:t>
            </a:r>
          </a:p>
        </p:txBody>
      </p:sp>
    </p:spTree>
    <p:extLst>
      <p:ext uri="{BB962C8B-B14F-4D97-AF65-F5344CB8AC3E}">
        <p14:creationId xmlns:p14="http://schemas.microsoft.com/office/powerpoint/2010/main" val="10111368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F700A0-9724-A5F2-402A-A27BE14AABCC}"/>
              </a:ext>
            </a:extLst>
          </p:cNvPr>
          <p:cNvSpPr>
            <a:spLocks noGrp="1"/>
          </p:cNvSpPr>
          <p:nvPr>
            <p:ph type="title"/>
          </p:nvPr>
        </p:nvSpPr>
        <p:spPr/>
        <p:txBody>
          <a:bodyPr>
            <a:normAutofit/>
          </a:bodyPr>
          <a:lstStyle/>
          <a:p>
            <a:r>
              <a:rPr lang="fr-FR" dirty="0"/>
              <a:t>1. Quelle est la cause la plus probable de cette IRA ?</a:t>
            </a:r>
          </a:p>
        </p:txBody>
      </p:sp>
      <p:sp>
        <p:nvSpPr>
          <p:cNvPr id="3" name="Espace réservé du contenu 2">
            <a:extLst>
              <a:ext uri="{FF2B5EF4-FFF2-40B4-BE49-F238E27FC236}">
                <a16:creationId xmlns:a16="http://schemas.microsoft.com/office/drawing/2014/main" id="{3C30A962-24F7-9B16-3F89-35FB4F2E33F3}"/>
              </a:ext>
            </a:extLst>
          </p:cNvPr>
          <p:cNvSpPr>
            <a:spLocks noGrp="1"/>
          </p:cNvSpPr>
          <p:nvPr>
            <p:ph idx="1"/>
          </p:nvPr>
        </p:nvSpPr>
        <p:spPr/>
        <p:txBody>
          <a:bodyPr/>
          <a:lstStyle/>
          <a:p>
            <a:pPr marL="0" indent="0">
              <a:lnSpc>
                <a:spcPct val="150000"/>
              </a:lnSpc>
              <a:buNone/>
            </a:pPr>
            <a:r>
              <a:rPr lang="fr-FR" dirty="0"/>
              <a:t>A. Obstruction urétrale (adénome de prostate)</a:t>
            </a:r>
          </a:p>
          <a:p>
            <a:pPr marL="0" indent="0">
              <a:lnSpc>
                <a:spcPct val="150000"/>
              </a:lnSpc>
              <a:buNone/>
            </a:pPr>
            <a:r>
              <a:rPr lang="fr-FR" dirty="0"/>
              <a:t>B. Calcul urétéral bilatéral</a:t>
            </a:r>
          </a:p>
          <a:p>
            <a:pPr marL="0" indent="0">
              <a:lnSpc>
                <a:spcPct val="150000"/>
              </a:lnSpc>
              <a:buNone/>
            </a:pPr>
            <a:r>
              <a:rPr lang="fr-FR" dirty="0"/>
              <a:t>C. Néphrite interstitielle</a:t>
            </a:r>
          </a:p>
          <a:p>
            <a:pPr marL="0" indent="0">
              <a:lnSpc>
                <a:spcPct val="150000"/>
              </a:lnSpc>
              <a:buNone/>
            </a:pPr>
            <a:r>
              <a:rPr lang="fr-FR" dirty="0"/>
              <a:t>D. Glomérulonéphrite aiguë</a:t>
            </a:r>
          </a:p>
          <a:p>
            <a:pPr marL="0" indent="0">
              <a:lnSpc>
                <a:spcPct val="150000"/>
              </a:lnSpc>
              <a:buNone/>
            </a:pPr>
            <a:r>
              <a:rPr lang="fr-FR" dirty="0"/>
              <a:t>E. Pyélonéphrite</a:t>
            </a:r>
          </a:p>
        </p:txBody>
      </p:sp>
    </p:spTree>
    <p:extLst>
      <p:ext uri="{BB962C8B-B14F-4D97-AF65-F5344CB8AC3E}">
        <p14:creationId xmlns:p14="http://schemas.microsoft.com/office/powerpoint/2010/main" val="9160553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2D9DC-DA3C-D0C5-E615-9210FCCE131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21984C3-E02E-CE62-76F6-B1DE38213BAE}"/>
              </a:ext>
            </a:extLst>
          </p:cNvPr>
          <p:cNvSpPr>
            <a:spLocks noGrp="1"/>
          </p:cNvSpPr>
          <p:nvPr>
            <p:ph type="title"/>
          </p:nvPr>
        </p:nvSpPr>
        <p:spPr/>
        <p:txBody>
          <a:bodyPr>
            <a:normAutofit/>
          </a:bodyPr>
          <a:lstStyle/>
          <a:p>
            <a:r>
              <a:rPr lang="fr-FR" dirty="0"/>
              <a:t>1. Quelle est la cause la plus probable de cette IRA ?</a:t>
            </a:r>
          </a:p>
        </p:txBody>
      </p:sp>
      <p:sp>
        <p:nvSpPr>
          <p:cNvPr id="3" name="Espace réservé du contenu 2">
            <a:extLst>
              <a:ext uri="{FF2B5EF4-FFF2-40B4-BE49-F238E27FC236}">
                <a16:creationId xmlns:a16="http://schemas.microsoft.com/office/drawing/2014/main" id="{54F1DB96-A21C-610E-D43A-F1A1E3D38D8A}"/>
              </a:ext>
            </a:extLst>
          </p:cNvPr>
          <p:cNvSpPr>
            <a:spLocks noGrp="1"/>
          </p:cNvSpPr>
          <p:nvPr>
            <p:ph idx="1"/>
          </p:nvPr>
        </p:nvSpPr>
        <p:spPr/>
        <p:txBody>
          <a:bodyPr/>
          <a:lstStyle/>
          <a:p>
            <a:pPr marL="0" indent="0">
              <a:lnSpc>
                <a:spcPct val="150000"/>
              </a:lnSpc>
              <a:buNone/>
            </a:pPr>
            <a:r>
              <a:rPr lang="fr-FR" b="1" dirty="0">
                <a:solidFill>
                  <a:srgbClr val="FF0000"/>
                </a:solidFill>
              </a:rPr>
              <a:t>A. Obstruction urétrale (adénome de prostate)</a:t>
            </a:r>
          </a:p>
          <a:p>
            <a:pPr marL="0" indent="0">
              <a:lnSpc>
                <a:spcPct val="150000"/>
              </a:lnSpc>
              <a:buNone/>
            </a:pPr>
            <a:r>
              <a:rPr lang="fr-FR" dirty="0"/>
              <a:t>B. Calcul urétéral bilatéral</a:t>
            </a:r>
          </a:p>
          <a:p>
            <a:pPr marL="0" indent="0">
              <a:lnSpc>
                <a:spcPct val="150000"/>
              </a:lnSpc>
              <a:buNone/>
            </a:pPr>
            <a:r>
              <a:rPr lang="fr-FR" dirty="0"/>
              <a:t>C. Néphrite interstitielle</a:t>
            </a:r>
          </a:p>
          <a:p>
            <a:pPr marL="0" indent="0">
              <a:lnSpc>
                <a:spcPct val="150000"/>
              </a:lnSpc>
              <a:buNone/>
            </a:pPr>
            <a:r>
              <a:rPr lang="fr-FR" dirty="0"/>
              <a:t>D. Glomérulonéphrite aiguë</a:t>
            </a:r>
          </a:p>
          <a:p>
            <a:pPr marL="0" indent="0">
              <a:lnSpc>
                <a:spcPct val="150000"/>
              </a:lnSpc>
              <a:buNone/>
            </a:pPr>
            <a:r>
              <a:rPr lang="fr-FR" dirty="0"/>
              <a:t>E. Pyélonéphrite</a:t>
            </a:r>
          </a:p>
        </p:txBody>
      </p:sp>
      <p:pic>
        <p:nvPicPr>
          <p:cNvPr id="5" name="Image 4">
            <a:extLst>
              <a:ext uri="{FF2B5EF4-FFF2-40B4-BE49-F238E27FC236}">
                <a16:creationId xmlns:a16="http://schemas.microsoft.com/office/drawing/2014/main" id="{A77254CE-45C5-1582-02DF-CCCBAA2B855C}"/>
              </a:ext>
            </a:extLst>
          </p:cNvPr>
          <p:cNvPicPr>
            <a:picLocks noChangeAspect="1"/>
          </p:cNvPicPr>
          <p:nvPr/>
        </p:nvPicPr>
        <p:blipFill>
          <a:blip r:embed="rId2"/>
          <a:stretch>
            <a:fillRect/>
          </a:stretch>
        </p:blipFill>
        <p:spPr>
          <a:xfrm>
            <a:off x="1270914" y="1595181"/>
            <a:ext cx="9650172" cy="36676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05780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4822B7-08A9-4CEC-493C-D67A38450966}"/>
              </a:ext>
            </a:extLst>
          </p:cNvPr>
          <p:cNvSpPr>
            <a:spLocks noGrp="1"/>
          </p:cNvSpPr>
          <p:nvPr>
            <p:ph type="title"/>
          </p:nvPr>
        </p:nvSpPr>
        <p:spPr/>
        <p:txBody>
          <a:bodyPr/>
          <a:lstStyle/>
          <a:p>
            <a:r>
              <a:rPr lang="fr-FR" dirty="0"/>
              <a:t>2. Quelle est la prise en charge urgente ?</a:t>
            </a:r>
          </a:p>
        </p:txBody>
      </p:sp>
      <p:sp>
        <p:nvSpPr>
          <p:cNvPr id="3" name="Espace réservé du contenu 2">
            <a:extLst>
              <a:ext uri="{FF2B5EF4-FFF2-40B4-BE49-F238E27FC236}">
                <a16:creationId xmlns:a16="http://schemas.microsoft.com/office/drawing/2014/main" id="{C200C9DE-7765-E794-E2C7-E2EC7DE5F3B0}"/>
              </a:ext>
            </a:extLst>
          </p:cNvPr>
          <p:cNvSpPr>
            <a:spLocks noGrp="1"/>
          </p:cNvSpPr>
          <p:nvPr>
            <p:ph idx="1"/>
          </p:nvPr>
        </p:nvSpPr>
        <p:spPr/>
        <p:txBody>
          <a:bodyPr/>
          <a:lstStyle/>
          <a:p>
            <a:pPr marL="0" indent="0">
              <a:lnSpc>
                <a:spcPct val="150000"/>
              </a:lnSpc>
              <a:buNone/>
            </a:pPr>
            <a:r>
              <a:rPr lang="fr-FR" dirty="0"/>
              <a:t>A. Pose d’une sonde urinaire</a:t>
            </a:r>
          </a:p>
          <a:p>
            <a:pPr marL="0" indent="0">
              <a:lnSpc>
                <a:spcPct val="150000"/>
              </a:lnSpc>
              <a:buNone/>
            </a:pPr>
            <a:r>
              <a:rPr lang="fr-FR" dirty="0"/>
              <a:t>B. Néphrostomise percutanée</a:t>
            </a:r>
          </a:p>
          <a:p>
            <a:pPr marL="0" indent="0">
              <a:lnSpc>
                <a:spcPct val="150000"/>
              </a:lnSpc>
              <a:buNone/>
            </a:pPr>
            <a:r>
              <a:rPr lang="fr-FR" dirty="0"/>
              <a:t>C. Diurétiques de l’anse</a:t>
            </a:r>
          </a:p>
          <a:p>
            <a:pPr marL="0" indent="0">
              <a:lnSpc>
                <a:spcPct val="150000"/>
              </a:lnSpc>
              <a:buNone/>
            </a:pPr>
            <a:r>
              <a:rPr lang="fr-FR" dirty="0"/>
              <a:t>D. Alcalinisation des urines</a:t>
            </a:r>
          </a:p>
          <a:p>
            <a:pPr marL="0" indent="0">
              <a:lnSpc>
                <a:spcPct val="150000"/>
              </a:lnSpc>
              <a:buNone/>
            </a:pPr>
            <a:r>
              <a:rPr lang="fr-FR" dirty="0"/>
              <a:t>E. Scanner abdomino-pelvien</a:t>
            </a:r>
          </a:p>
        </p:txBody>
      </p:sp>
    </p:spTree>
    <p:extLst>
      <p:ext uri="{BB962C8B-B14F-4D97-AF65-F5344CB8AC3E}">
        <p14:creationId xmlns:p14="http://schemas.microsoft.com/office/powerpoint/2010/main" val="31998983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1F82D-6798-313C-2B69-4543711EA59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BA48A67-E070-17BD-A3FC-5DFB51C581FA}"/>
              </a:ext>
            </a:extLst>
          </p:cNvPr>
          <p:cNvSpPr>
            <a:spLocks noGrp="1"/>
          </p:cNvSpPr>
          <p:nvPr>
            <p:ph type="title"/>
          </p:nvPr>
        </p:nvSpPr>
        <p:spPr/>
        <p:txBody>
          <a:bodyPr/>
          <a:lstStyle/>
          <a:p>
            <a:r>
              <a:rPr lang="fr-FR" dirty="0"/>
              <a:t>2. Quelle est la prise en charge urgente ?</a:t>
            </a:r>
          </a:p>
        </p:txBody>
      </p:sp>
      <p:sp>
        <p:nvSpPr>
          <p:cNvPr id="3" name="Espace réservé du contenu 2">
            <a:extLst>
              <a:ext uri="{FF2B5EF4-FFF2-40B4-BE49-F238E27FC236}">
                <a16:creationId xmlns:a16="http://schemas.microsoft.com/office/drawing/2014/main" id="{109B7D85-9286-2272-13B6-4442E04C7ED9}"/>
              </a:ext>
            </a:extLst>
          </p:cNvPr>
          <p:cNvSpPr>
            <a:spLocks noGrp="1"/>
          </p:cNvSpPr>
          <p:nvPr>
            <p:ph idx="1"/>
          </p:nvPr>
        </p:nvSpPr>
        <p:spPr/>
        <p:txBody>
          <a:bodyPr/>
          <a:lstStyle/>
          <a:p>
            <a:pPr marL="0" indent="0">
              <a:lnSpc>
                <a:spcPct val="150000"/>
              </a:lnSpc>
              <a:buNone/>
            </a:pPr>
            <a:r>
              <a:rPr lang="fr-FR" b="1" dirty="0">
                <a:solidFill>
                  <a:srgbClr val="FF0000"/>
                </a:solidFill>
              </a:rPr>
              <a:t>A. Pose d’une sonde urinaire</a:t>
            </a:r>
          </a:p>
          <a:p>
            <a:pPr marL="0" indent="0">
              <a:lnSpc>
                <a:spcPct val="150000"/>
              </a:lnSpc>
              <a:buNone/>
            </a:pPr>
            <a:r>
              <a:rPr lang="fr-FR" dirty="0"/>
              <a:t>B. Néphrostomise percutanée</a:t>
            </a:r>
          </a:p>
          <a:p>
            <a:pPr marL="0" indent="0">
              <a:lnSpc>
                <a:spcPct val="150000"/>
              </a:lnSpc>
              <a:buNone/>
            </a:pPr>
            <a:r>
              <a:rPr lang="fr-FR" dirty="0"/>
              <a:t>C. Diurétiques de l’anse</a:t>
            </a:r>
          </a:p>
          <a:p>
            <a:pPr marL="0" indent="0">
              <a:lnSpc>
                <a:spcPct val="150000"/>
              </a:lnSpc>
              <a:buNone/>
            </a:pPr>
            <a:r>
              <a:rPr lang="fr-FR" dirty="0"/>
              <a:t>D. Alcalinisation des urines</a:t>
            </a:r>
          </a:p>
          <a:p>
            <a:pPr marL="0" indent="0">
              <a:lnSpc>
                <a:spcPct val="150000"/>
              </a:lnSpc>
              <a:buNone/>
            </a:pPr>
            <a:r>
              <a:rPr lang="fr-FR" dirty="0"/>
              <a:t>E. Scanner abdomino-pelvien</a:t>
            </a:r>
          </a:p>
        </p:txBody>
      </p:sp>
      <p:pic>
        <p:nvPicPr>
          <p:cNvPr id="1026" name="Picture 2" descr="Hypertrophie de la prostate : Complications">
            <a:extLst>
              <a:ext uri="{FF2B5EF4-FFF2-40B4-BE49-F238E27FC236}">
                <a16:creationId xmlns:a16="http://schemas.microsoft.com/office/drawing/2014/main" id="{D7A21EE5-1FD2-9F28-DA0C-F2742EB5A4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4129" y="2200434"/>
            <a:ext cx="5089785" cy="3570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09101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39DDB5-02F0-DB8C-F105-892725144794}"/>
              </a:ext>
            </a:extLst>
          </p:cNvPr>
          <p:cNvSpPr>
            <a:spLocks noGrp="1"/>
          </p:cNvSpPr>
          <p:nvPr>
            <p:ph type="title"/>
          </p:nvPr>
        </p:nvSpPr>
        <p:spPr/>
        <p:txBody>
          <a:bodyPr/>
          <a:lstStyle/>
          <a:p>
            <a:r>
              <a:rPr lang="fr-FR" dirty="0"/>
              <a:t>3. Quels risques immédiats sont à craindre ?</a:t>
            </a:r>
          </a:p>
        </p:txBody>
      </p:sp>
      <p:sp>
        <p:nvSpPr>
          <p:cNvPr id="3" name="Espace réservé du contenu 2">
            <a:extLst>
              <a:ext uri="{FF2B5EF4-FFF2-40B4-BE49-F238E27FC236}">
                <a16:creationId xmlns:a16="http://schemas.microsoft.com/office/drawing/2014/main" id="{FFE1BAF4-D4D5-8368-D54B-A8ECC704CEB5}"/>
              </a:ext>
            </a:extLst>
          </p:cNvPr>
          <p:cNvSpPr>
            <a:spLocks noGrp="1"/>
          </p:cNvSpPr>
          <p:nvPr>
            <p:ph idx="1"/>
          </p:nvPr>
        </p:nvSpPr>
        <p:spPr/>
        <p:txBody>
          <a:bodyPr/>
          <a:lstStyle/>
          <a:p>
            <a:pPr marL="0" indent="0">
              <a:lnSpc>
                <a:spcPct val="150000"/>
              </a:lnSpc>
              <a:buNone/>
            </a:pPr>
            <a:r>
              <a:rPr lang="fr-FR" dirty="0"/>
              <a:t>A. Rupture vésicale</a:t>
            </a:r>
          </a:p>
          <a:p>
            <a:pPr marL="0" indent="0">
              <a:lnSpc>
                <a:spcPct val="150000"/>
              </a:lnSpc>
              <a:buNone/>
            </a:pPr>
            <a:r>
              <a:rPr lang="fr-FR" dirty="0"/>
              <a:t>B. Hyperkaliémie sévère</a:t>
            </a:r>
          </a:p>
          <a:p>
            <a:pPr marL="0" indent="0">
              <a:lnSpc>
                <a:spcPct val="150000"/>
              </a:lnSpc>
              <a:buNone/>
            </a:pPr>
            <a:r>
              <a:rPr lang="fr-FR" dirty="0"/>
              <a:t>C. Acidose métabolique</a:t>
            </a:r>
          </a:p>
          <a:p>
            <a:pPr marL="0" indent="0">
              <a:lnSpc>
                <a:spcPct val="150000"/>
              </a:lnSpc>
              <a:buNone/>
            </a:pPr>
            <a:r>
              <a:rPr lang="fr-FR" dirty="0"/>
              <a:t>D. Choc septique</a:t>
            </a:r>
          </a:p>
          <a:p>
            <a:pPr marL="0" indent="0">
              <a:lnSpc>
                <a:spcPct val="150000"/>
              </a:lnSpc>
              <a:buNone/>
            </a:pPr>
            <a:r>
              <a:rPr lang="fr-FR" dirty="0"/>
              <a:t>E. Infarctus rénal</a:t>
            </a:r>
          </a:p>
        </p:txBody>
      </p:sp>
    </p:spTree>
    <p:extLst>
      <p:ext uri="{BB962C8B-B14F-4D97-AF65-F5344CB8AC3E}">
        <p14:creationId xmlns:p14="http://schemas.microsoft.com/office/powerpoint/2010/main" val="15172930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020BE-6171-4644-154B-82EB607CDD8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F3A1E40-A123-122A-65F6-E20EA5BBCBD1}"/>
              </a:ext>
            </a:extLst>
          </p:cNvPr>
          <p:cNvSpPr>
            <a:spLocks noGrp="1"/>
          </p:cNvSpPr>
          <p:nvPr>
            <p:ph type="title"/>
          </p:nvPr>
        </p:nvSpPr>
        <p:spPr/>
        <p:txBody>
          <a:bodyPr/>
          <a:lstStyle/>
          <a:p>
            <a:r>
              <a:rPr lang="fr-FR" dirty="0"/>
              <a:t>3. Quels risques immédiats sont à craindre ?</a:t>
            </a:r>
          </a:p>
        </p:txBody>
      </p:sp>
      <p:sp>
        <p:nvSpPr>
          <p:cNvPr id="3" name="Espace réservé du contenu 2">
            <a:extLst>
              <a:ext uri="{FF2B5EF4-FFF2-40B4-BE49-F238E27FC236}">
                <a16:creationId xmlns:a16="http://schemas.microsoft.com/office/drawing/2014/main" id="{5D5CF948-B740-81AB-B531-798329436F8D}"/>
              </a:ext>
            </a:extLst>
          </p:cNvPr>
          <p:cNvSpPr>
            <a:spLocks noGrp="1"/>
          </p:cNvSpPr>
          <p:nvPr>
            <p:ph idx="1"/>
          </p:nvPr>
        </p:nvSpPr>
        <p:spPr/>
        <p:txBody>
          <a:bodyPr/>
          <a:lstStyle/>
          <a:p>
            <a:pPr marL="0" indent="0">
              <a:lnSpc>
                <a:spcPct val="150000"/>
              </a:lnSpc>
              <a:buNone/>
            </a:pPr>
            <a:r>
              <a:rPr lang="fr-FR" dirty="0"/>
              <a:t>A. Rupture vésicale</a:t>
            </a:r>
          </a:p>
          <a:p>
            <a:pPr marL="0" indent="0">
              <a:lnSpc>
                <a:spcPct val="150000"/>
              </a:lnSpc>
              <a:buNone/>
            </a:pPr>
            <a:r>
              <a:rPr lang="fr-FR" b="1" dirty="0">
                <a:solidFill>
                  <a:srgbClr val="FF0000"/>
                </a:solidFill>
              </a:rPr>
              <a:t>B. Hyperkaliémie sévère</a:t>
            </a:r>
          </a:p>
          <a:p>
            <a:pPr marL="0" indent="0">
              <a:lnSpc>
                <a:spcPct val="150000"/>
              </a:lnSpc>
              <a:buNone/>
            </a:pPr>
            <a:r>
              <a:rPr lang="fr-FR" b="1" dirty="0">
                <a:solidFill>
                  <a:srgbClr val="FF0000"/>
                </a:solidFill>
              </a:rPr>
              <a:t>C. Acidose métabolique</a:t>
            </a:r>
          </a:p>
          <a:p>
            <a:pPr marL="0" indent="0">
              <a:lnSpc>
                <a:spcPct val="150000"/>
              </a:lnSpc>
              <a:buNone/>
            </a:pPr>
            <a:r>
              <a:rPr lang="fr-FR" dirty="0"/>
              <a:t>D. Choc septique</a:t>
            </a:r>
          </a:p>
          <a:p>
            <a:pPr marL="0" indent="0">
              <a:lnSpc>
                <a:spcPct val="150000"/>
              </a:lnSpc>
              <a:buNone/>
            </a:pPr>
            <a:r>
              <a:rPr lang="fr-FR" dirty="0"/>
              <a:t>E. Infarctus rénal</a:t>
            </a:r>
          </a:p>
        </p:txBody>
      </p:sp>
    </p:spTree>
    <p:extLst>
      <p:ext uri="{BB962C8B-B14F-4D97-AF65-F5344CB8AC3E}">
        <p14:creationId xmlns:p14="http://schemas.microsoft.com/office/powerpoint/2010/main" val="10647504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585D61-0819-F73F-A7E9-35DB32C18DA0}"/>
              </a:ext>
            </a:extLst>
          </p:cNvPr>
          <p:cNvSpPr>
            <a:spLocks noGrp="1"/>
          </p:cNvSpPr>
          <p:nvPr>
            <p:ph type="title"/>
          </p:nvPr>
        </p:nvSpPr>
        <p:spPr/>
        <p:txBody>
          <a:bodyPr/>
          <a:lstStyle/>
          <a:p>
            <a:r>
              <a:rPr lang="fr-FR" dirty="0"/>
              <a:t>Cas clinique 3</a:t>
            </a:r>
          </a:p>
        </p:txBody>
      </p:sp>
      <p:sp>
        <p:nvSpPr>
          <p:cNvPr id="3" name="Espace réservé du contenu 2">
            <a:extLst>
              <a:ext uri="{FF2B5EF4-FFF2-40B4-BE49-F238E27FC236}">
                <a16:creationId xmlns:a16="http://schemas.microsoft.com/office/drawing/2014/main" id="{966572E2-2D4D-C899-F4E3-1BDB0E8D43D6}"/>
              </a:ext>
            </a:extLst>
          </p:cNvPr>
          <p:cNvSpPr>
            <a:spLocks noGrp="1"/>
          </p:cNvSpPr>
          <p:nvPr>
            <p:ph idx="1"/>
          </p:nvPr>
        </p:nvSpPr>
        <p:spPr>
          <a:xfrm>
            <a:off x="838200" y="1825624"/>
            <a:ext cx="10515600" cy="4879975"/>
          </a:xfrm>
        </p:spPr>
        <p:txBody>
          <a:bodyPr>
            <a:normAutofit/>
          </a:bodyPr>
          <a:lstStyle/>
          <a:p>
            <a:pPr marL="0" indent="0">
              <a:lnSpc>
                <a:spcPct val="150000"/>
              </a:lnSpc>
              <a:buNone/>
            </a:pPr>
            <a:r>
              <a:rPr lang="fr-FR" dirty="0"/>
              <a:t>Une femme de 40 ans, sans antécédents, consulte pour des douleurs lombaires bilatérales et une oligurie progressive depuis 3 jours. Elle a des antécédents de fibrose rétropéritonéale.</a:t>
            </a:r>
          </a:p>
          <a:p>
            <a:pPr marL="0" indent="0">
              <a:lnSpc>
                <a:spcPct val="150000"/>
              </a:lnSpc>
              <a:buNone/>
            </a:pPr>
            <a:r>
              <a:rPr lang="fr-FR" dirty="0"/>
              <a:t>Examen :</a:t>
            </a:r>
          </a:p>
          <a:p>
            <a:pPr marL="0" indent="0">
              <a:lnSpc>
                <a:spcPct val="150000"/>
              </a:lnSpc>
              <a:buNone/>
            </a:pPr>
            <a:r>
              <a:rPr lang="fr-FR" dirty="0"/>
              <a:t>TA : 150/80 </a:t>
            </a:r>
            <a:r>
              <a:rPr lang="fr-FR" dirty="0" err="1"/>
              <a:t>mmHg</a:t>
            </a:r>
            <a:r>
              <a:rPr lang="fr-FR" dirty="0"/>
              <a:t>, FC : 90 bpm</a:t>
            </a:r>
          </a:p>
          <a:p>
            <a:pPr marL="0" indent="0">
              <a:lnSpc>
                <a:spcPct val="150000"/>
              </a:lnSpc>
              <a:buNone/>
            </a:pPr>
            <a:r>
              <a:rPr lang="fr-FR" dirty="0"/>
              <a:t>Douleur à la percussion lombaire bilatérale</a:t>
            </a:r>
          </a:p>
        </p:txBody>
      </p:sp>
    </p:spTree>
    <p:extLst>
      <p:ext uri="{BB962C8B-B14F-4D97-AF65-F5344CB8AC3E}">
        <p14:creationId xmlns:p14="http://schemas.microsoft.com/office/powerpoint/2010/main" val="2670455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21F2B7-9610-F48D-2A8C-F94628BC567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1C7F76E-7C77-66F2-BAEE-8B09537C6A63}"/>
              </a:ext>
            </a:extLst>
          </p:cNvPr>
          <p:cNvSpPr>
            <a:spLocks noGrp="1"/>
          </p:cNvSpPr>
          <p:nvPr>
            <p:ph idx="1"/>
          </p:nvPr>
        </p:nvSpPr>
        <p:spPr/>
        <p:txBody>
          <a:bodyPr/>
          <a:lstStyle/>
          <a:p>
            <a:pPr marL="0" indent="0">
              <a:buNone/>
            </a:pPr>
            <a:r>
              <a:rPr lang="fr-FR" dirty="0"/>
              <a:t>Biologie :</a:t>
            </a:r>
          </a:p>
          <a:p>
            <a:pPr marL="0" indent="0">
              <a:buNone/>
            </a:pPr>
            <a:r>
              <a:rPr lang="fr-FR" dirty="0"/>
              <a:t>Créatinine : 600 µmol/L</a:t>
            </a:r>
          </a:p>
          <a:p>
            <a:pPr marL="0" indent="0">
              <a:buNone/>
            </a:pPr>
            <a:r>
              <a:rPr lang="fr-FR" dirty="0"/>
              <a:t>Kaliémie : 6,0 </a:t>
            </a:r>
            <a:r>
              <a:rPr lang="fr-FR" dirty="0" err="1"/>
              <a:t>mmol</a:t>
            </a:r>
            <a:r>
              <a:rPr lang="fr-FR" dirty="0"/>
              <a:t>/L</a:t>
            </a:r>
          </a:p>
          <a:p>
            <a:pPr marL="0" indent="0">
              <a:buNone/>
            </a:pPr>
            <a:r>
              <a:rPr lang="fr-FR" dirty="0"/>
              <a:t>CRP : 45 mg/L</a:t>
            </a:r>
          </a:p>
          <a:p>
            <a:pPr marL="0" indent="0">
              <a:buNone/>
            </a:pPr>
            <a:r>
              <a:rPr lang="fr-FR" dirty="0"/>
              <a:t>Scanner abdominal :</a:t>
            </a:r>
          </a:p>
          <a:p>
            <a:pPr marL="0" indent="0">
              <a:buNone/>
            </a:pPr>
            <a:r>
              <a:rPr lang="fr-FR" dirty="0"/>
              <a:t>Dilatation bilatérale des voies urinaires</a:t>
            </a:r>
          </a:p>
          <a:p>
            <a:pPr marL="0" indent="0">
              <a:buNone/>
            </a:pPr>
            <a:r>
              <a:rPr lang="fr-FR" dirty="0"/>
              <a:t>Fibrose rétropéritonéale englobant les uretères</a:t>
            </a:r>
          </a:p>
        </p:txBody>
      </p:sp>
    </p:spTree>
    <p:extLst>
      <p:ext uri="{BB962C8B-B14F-4D97-AF65-F5344CB8AC3E}">
        <p14:creationId xmlns:p14="http://schemas.microsoft.com/office/powerpoint/2010/main" val="3382598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186ECF-9435-90B6-ECCA-D01C673FE44E}"/>
              </a:ext>
            </a:extLst>
          </p:cNvPr>
          <p:cNvSpPr>
            <a:spLocks noGrp="1"/>
          </p:cNvSpPr>
          <p:nvPr>
            <p:ph type="title"/>
          </p:nvPr>
        </p:nvSpPr>
        <p:spPr/>
        <p:txBody>
          <a:bodyPr/>
          <a:lstStyle/>
          <a:p>
            <a:r>
              <a:rPr lang="fr-FR" dirty="0"/>
              <a:t>1. Quel est le mécanisme de l’IRA :</a:t>
            </a:r>
          </a:p>
        </p:txBody>
      </p:sp>
      <p:sp>
        <p:nvSpPr>
          <p:cNvPr id="3" name="Espace réservé du contenu 2">
            <a:extLst>
              <a:ext uri="{FF2B5EF4-FFF2-40B4-BE49-F238E27FC236}">
                <a16:creationId xmlns:a16="http://schemas.microsoft.com/office/drawing/2014/main" id="{AE240D0F-E237-4765-3683-D81F2DF48E92}"/>
              </a:ext>
            </a:extLst>
          </p:cNvPr>
          <p:cNvSpPr>
            <a:spLocks noGrp="1"/>
          </p:cNvSpPr>
          <p:nvPr>
            <p:ph idx="1"/>
          </p:nvPr>
        </p:nvSpPr>
        <p:spPr/>
        <p:txBody>
          <a:bodyPr/>
          <a:lstStyle/>
          <a:p>
            <a:pPr marL="0" indent="0">
              <a:lnSpc>
                <a:spcPct val="150000"/>
              </a:lnSpc>
              <a:buNone/>
            </a:pPr>
            <a:r>
              <a:rPr lang="fr-FR" dirty="0"/>
              <a:t>A. Obstruction bilatérale par fibrose</a:t>
            </a:r>
          </a:p>
          <a:p>
            <a:pPr marL="0" indent="0">
              <a:lnSpc>
                <a:spcPct val="150000"/>
              </a:lnSpc>
              <a:buNone/>
            </a:pPr>
            <a:r>
              <a:rPr lang="fr-FR" dirty="0"/>
              <a:t>B. Néphropathie </a:t>
            </a:r>
            <a:r>
              <a:rPr lang="fr-FR" dirty="0" err="1"/>
              <a:t>tubulo</a:t>
            </a:r>
            <a:r>
              <a:rPr lang="fr-FR" dirty="0"/>
              <a:t>-interstitielle</a:t>
            </a:r>
          </a:p>
          <a:p>
            <a:pPr marL="0" indent="0">
              <a:lnSpc>
                <a:spcPct val="150000"/>
              </a:lnSpc>
              <a:buNone/>
            </a:pPr>
            <a:r>
              <a:rPr lang="fr-FR" dirty="0"/>
              <a:t>C. Glomérulonéphrite</a:t>
            </a:r>
          </a:p>
          <a:p>
            <a:pPr marL="0" indent="0">
              <a:lnSpc>
                <a:spcPct val="150000"/>
              </a:lnSpc>
              <a:buNone/>
            </a:pPr>
            <a:r>
              <a:rPr lang="fr-FR" dirty="0"/>
              <a:t>D. Thrombose des artères rénales</a:t>
            </a:r>
          </a:p>
          <a:p>
            <a:pPr marL="0" indent="0">
              <a:lnSpc>
                <a:spcPct val="150000"/>
              </a:lnSpc>
              <a:buNone/>
            </a:pPr>
            <a:r>
              <a:rPr lang="fr-FR" dirty="0"/>
              <a:t>E. Infection urinaire haute</a:t>
            </a:r>
          </a:p>
        </p:txBody>
      </p:sp>
    </p:spTree>
    <p:extLst>
      <p:ext uri="{BB962C8B-B14F-4D97-AF65-F5344CB8AC3E}">
        <p14:creationId xmlns:p14="http://schemas.microsoft.com/office/powerpoint/2010/main" val="1377973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3F644-8696-1AAB-E490-0F7F51395BE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99FC68D-1A01-F31A-55DE-49C851E83A34}"/>
              </a:ext>
            </a:extLst>
          </p:cNvPr>
          <p:cNvSpPr>
            <a:spLocks noGrp="1"/>
          </p:cNvSpPr>
          <p:nvPr>
            <p:ph type="title"/>
          </p:nvPr>
        </p:nvSpPr>
        <p:spPr/>
        <p:txBody>
          <a:bodyPr/>
          <a:lstStyle/>
          <a:p>
            <a:r>
              <a:rPr lang="fr-FR" dirty="0"/>
              <a:t>1. Quel est le mécanisme de l’IRA :</a:t>
            </a:r>
          </a:p>
        </p:txBody>
      </p:sp>
      <p:sp>
        <p:nvSpPr>
          <p:cNvPr id="3" name="Espace réservé du contenu 2">
            <a:extLst>
              <a:ext uri="{FF2B5EF4-FFF2-40B4-BE49-F238E27FC236}">
                <a16:creationId xmlns:a16="http://schemas.microsoft.com/office/drawing/2014/main" id="{63B5ED3C-15D3-AC4E-42D1-64E115973A5D}"/>
              </a:ext>
            </a:extLst>
          </p:cNvPr>
          <p:cNvSpPr>
            <a:spLocks noGrp="1"/>
          </p:cNvSpPr>
          <p:nvPr>
            <p:ph idx="1"/>
          </p:nvPr>
        </p:nvSpPr>
        <p:spPr/>
        <p:txBody>
          <a:bodyPr/>
          <a:lstStyle/>
          <a:p>
            <a:pPr marL="0" indent="0">
              <a:lnSpc>
                <a:spcPct val="150000"/>
              </a:lnSpc>
              <a:buNone/>
            </a:pPr>
            <a:r>
              <a:rPr lang="fr-FR" b="1" dirty="0">
                <a:solidFill>
                  <a:srgbClr val="FF0000"/>
                </a:solidFill>
              </a:rPr>
              <a:t>A. Obstruction bilatérale par fibrose</a:t>
            </a:r>
          </a:p>
          <a:p>
            <a:pPr marL="0" indent="0">
              <a:lnSpc>
                <a:spcPct val="150000"/>
              </a:lnSpc>
              <a:buNone/>
            </a:pPr>
            <a:r>
              <a:rPr lang="fr-FR" dirty="0"/>
              <a:t>B. Néphropathie </a:t>
            </a:r>
            <a:r>
              <a:rPr lang="fr-FR" dirty="0" err="1"/>
              <a:t>tubulo</a:t>
            </a:r>
            <a:r>
              <a:rPr lang="fr-FR" dirty="0"/>
              <a:t>-interstitielle</a:t>
            </a:r>
          </a:p>
          <a:p>
            <a:pPr marL="0" indent="0">
              <a:lnSpc>
                <a:spcPct val="150000"/>
              </a:lnSpc>
              <a:buNone/>
            </a:pPr>
            <a:r>
              <a:rPr lang="fr-FR" dirty="0"/>
              <a:t>C. Glomérulonéphrite</a:t>
            </a:r>
          </a:p>
          <a:p>
            <a:pPr marL="0" indent="0">
              <a:lnSpc>
                <a:spcPct val="150000"/>
              </a:lnSpc>
              <a:buNone/>
            </a:pPr>
            <a:r>
              <a:rPr lang="fr-FR" dirty="0"/>
              <a:t>D. Thrombose des artères rénales</a:t>
            </a:r>
          </a:p>
          <a:p>
            <a:pPr marL="0" indent="0">
              <a:lnSpc>
                <a:spcPct val="150000"/>
              </a:lnSpc>
              <a:buNone/>
            </a:pPr>
            <a:r>
              <a:rPr lang="fr-FR" dirty="0"/>
              <a:t>E. Infection urinaire haute</a:t>
            </a:r>
          </a:p>
        </p:txBody>
      </p:sp>
    </p:spTree>
    <p:extLst>
      <p:ext uri="{BB962C8B-B14F-4D97-AF65-F5344CB8AC3E}">
        <p14:creationId xmlns:p14="http://schemas.microsoft.com/office/powerpoint/2010/main" val="1275222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53DF54-78B8-33AE-2D6F-013E186E97AC}"/>
              </a:ext>
            </a:extLst>
          </p:cNvPr>
          <p:cNvSpPr>
            <a:spLocks noGrp="1"/>
          </p:cNvSpPr>
          <p:nvPr>
            <p:ph type="title"/>
          </p:nvPr>
        </p:nvSpPr>
        <p:spPr/>
        <p:txBody>
          <a:bodyPr/>
          <a:lstStyle/>
          <a:p>
            <a:r>
              <a:rPr lang="fr-FR" dirty="0"/>
              <a:t>2. Quelle(s) est la prise(s) en charge ?</a:t>
            </a:r>
          </a:p>
        </p:txBody>
      </p:sp>
      <p:sp>
        <p:nvSpPr>
          <p:cNvPr id="3" name="Espace réservé du contenu 2">
            <a:extLst>
              <a:ext uri="{FF2B5EF4-FFF2-40B4-BE49-F238E27FC236}">
                <a16:creationId xmlns:a16="http://schemas.microsoft.com/office/drawing/2014/main" id="{C66BE7F2-8870-07E2-EF41-B6A20A803126}"/>
              </a:ext>
            </a:extLst>
          </p:cNvPr>
          <p:cNvSpPr>
            <a:spLocks noGrp="1"/>
          </p:cNvSpPr>
          <p:nvPr>
            <p:ph idx="1"/>
          </p:nvPr>
        </p:nvSpPr>
        <p:spPr/>
        <p:txBody>
          <a:bodyPr/>
          <a:lstStyle/>
          <a:p>
            <a:pPr marL="0" indent="0">
              <a:lnSpc>
                <a:spcPct val="150000"/>
              </a:lnSpc>
              <a:buNone/>
            </a:pPr>
            <a:r>
              <a:rPr lang="fr-FR" b="1" dirty="0">
                <a:solidFill>
                  <a:srgbClr val="FF0000"/>
                </a:solidFill>
              </a:rPr>
              <a:t>A. Pose de sondes double J bilatérales</a:t>
            </a:r>
          </a:p>
          <a:p>
            <a:pPr marL="0" indent="0">
              <a:lnSpc>
                <a:spcPct val="150000"/>
              </a:lnSpc>
              <a:buNone/>
            </a:pPr>
            <a:r>
              <a:rPr lang="fr-FR" b="1" dirty="0">
                <a:solidFill>
                  <a:srgbClr val="FF0000"/>
                </a:solidFill>
              </a:rPr>
              <a:t>B. Néphrostomie percutanée</a:t>
            </a:r>
          </a:p>
          <a:p>
            <a:pPr marL="0" indent="0">
              <a:lnSpc>
                <a:spcPct val="150000"/>
              </a:lnSpc>
              <a:buNone/>
            </a:pPr>
            <a:r>
              <a:rPr lang="fr-FR" dirty="0"/>
              <a:t>C. Traitement par corticoïdes</a:t>
            </a:r>
          </a:p>
          <a:p>
            <a:pPr marL="0" indent="0">
              <a:lnSpc>
                <a:spcPct val="150000"/>
              </a:lnSpc>
              <a:buNone/>
            </a:pPr>
            <a:r>
              <a:rPr lang="fr-FR" dirty="0"/>
              <a:t>D. Hémodialyse en urgence</a:t>
            </a:r>
          </a:p>
          <a:p>
            <a:pPr marL="0" indent="0">
              <a:lnSpc>
                <a:spcPct val="150000"/>
              </a:lnSpc>
              <a:buNone/>
            </a:pPr>
            <a:r>
              <a:rPr lang="fr-FR" dirty="0"/>
              <a:t>E. Antibiothérapie probabiliste</a:t>
            </a:r>
          </a:p>
        </p:txBody>
      </p:sp>
    </p:spTree>
    <p:extLst>
      <p:ext uri="{BB962C8B-B14F-4D97-AF65-F5344CB8AC3E}">
        <p14:creationId xmlns:p14="http://schemas.microsoft.com/office/powerpoint/2010/main" val="23399764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E460ED1-295D-C961-721C-DCACEB532B58}"/>
              </a:ext>
            </a:extLst>
          </p:cNvPr>
          <p:cNvSpPr>
            <a:spLocks noGrp="1"/>
          </p:cNvSpPr>
          <p:nvPr>
            <p:ph type="title"/>
          </p:nvPr>
        </p:nvSpPr>
        <p:spPr/>
        <p:txBody>
          <a:bodyPr/>
          <a:lstStyle/>
          <a:p>
            <a:pPr algn="ctr"/>
            <a:r>
              <a:rPr lang="fr-FR" dirty="0"/>
              <a:t>QCM</a:t>
            </a:r>
          </a:p>
        </p:txBody>
      </p:sp>
      <p:sp>
        <p:nvSpPr>
          <p:cNvPr id="5" name="Espace réservé du texte 4">
            <a:extLst>
              <a:ext uri="{FF2B5EF4-FFF2-40B4-BE49-F238E27FC236}">
                <a16:creationId xmlns:a16="http://schemas.microsoft.com/office/drawing/2014/main" id="{58D5D9D3-B827-4766-FDDE-3317A81483D5}"/>
              </a:ext>
            </a:extLst>
          </p:cNvPr>
          <p:cNvSpPr>
            <a:spLocks noGrp="1"/>
          </p:cNvSpPr>
          <p:nvPr>
            <p:ph type="body" idx="1"/>
          </p:nvPr>
        </p:nvSpPr>
        <p:spPr/>
        <p:txBody>
          <a:bodyPr/>
          <a:lstStyle/>
          <a:p>
            <a:endParaRPr lang="fr-FR"/>
          </a:p>
        </p:txBody>
      </p:sp>
    </p:spTree>
    <p:extLst>
      <p:ext uri="{BB962C8B-B14F-4D97-AF65-F5344CB8AC3E}">
        <p14:creationId xmlns:p14="http://schemas.microsoft.com/office/powerpoint/2010/main" val="36753414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0F84B59E-5A11-66AA-529D-A5CCA67BD844}"/>
              </a:ext>
            </a:extLst>
          </p:cNvPr>
          <p:cNvSpPr>
            <a:spLocks noGrp="1"/>
          </p:cNvSpPr>
          <p:nvPr>
            <p:ph type="title"/>
          </p:nvPr>
        </p:nvSpPr>
        <p:spPr/>
        <p:txBody>
          <a:bodyPr/>
          <a:lstStyle/>
          <a:p>
            <a:r>
              <a:rPr lang="fr-FR" dirty="0"/>
              <a:t>1.l’IRA obstructive : </a:t>
            </a:r>
          </a:p>
        </p:txBody>
      </p:sp>
      <p:sp>
        <p:nvSpPr>
          <p:cNvPr id="5" name="Espace réservé du contenu 4">
            <a:extLst>
              <a:ext uri="{FF2B5EF4-FFF2-40B4-BE49-F238E27FC236}">
                <a16:creationId xmlns:a16="http://schemas.microsoft.com/office/drawing/2014/main" id="{475DDB63-8A07-3965-EC4D-BC521B02272B}"/>
              </a:ext>
            </a:extLst>
          </p:cNvPr>
          <p:cNvSpPr>
            <a:spLocks noGrp="1"/>
          </p:cNvSpPr>
          <p:nvPr>
            <p:ph idx="1"/>
          </p:nvPr>
        </p:nvSpPr>
        <p:spPr/>
        <p:txBody>
          <a:bodyPr/>
          <a:lstStyle/>
          <a:p>
            <a:pPr marL="0" indent="0">
              <a:buNone/>
            </a:pPr>
            <a:r>
              <a:rPr lang="fr-FR" dirty="0"/>
              <a:t>A - survient  lorsque l’écoulement de l’urine est empêché par la présence d’un obstacle unilatéral. </a:t>
            </a:r>
          </a:p>
          <a:p>
            <a:pPr marL="0" indent="0">
              <a:buNone/>
            </a:pPr>
            <a:r>
              <a:rPr lang="fr-FR" dirty="0"/>
              <a:t>B – survient si l’obstacle est bilatéral. </a:t>
            </a:r>
          </a:p>
          <a:p>
            <a:pPr marL="0" indent="0">
              <a:buNone/>
            </a:pPr>
            <a:r>
              <a:rPr lang="fr-FR" dirty="0"/>
              <a:t>C - survient si l’obstacle sur la voie excrétrice du seul rein fonctionnel </a:t>
            </a:r>
          </a:p>
          <a:p>
            <a:pPr marL="0" indent="0">
              <a:buNone/>
            </a:pPr>
            <a:r>
              <a:rPr lang="fr-FR" dirty="0"/>
              <a:t>D - l’IRA est généralement non réversible après la libération de la voie excrétrice. </a:t>
            </a:r>
          </a:p>
          <a:p>
            <a:pPr marL="0" indent="0">
              <a:buNone/>
            </a:pPr>
            <a:r>
              <a:rPr lang="fr-FR" dirty="0"/>
              <a:t>E –peut être consécutive à une fibrose </a:t>
            </a:r>
            <a:r>
              <a:rPr lang="fr-FR" dirty="0" err="1"/>
              <a:t>rétro-péritonéale</a:t>
            </a:r>
            <a:r>
              <a:rPr lang="fr-FR" dirty="0"/>
              <a:t> </a:t>
            </a:r>
          </a:p>
        </p:txBody>
      </p:sp>
    </p:spTree>
    <p:extLst>
      <p:ext uri="{BB962C8B-B14F-4D97-AF65-F5344CB8AC3E}">
        <p14:creationId xmlns:p14="http://schemas.microsoft.com/office/powerpoint/2010/main" val="6713037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0085C-4286-31DD-DC25-4F6931BF3FA9}"/>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AFB0C24A-7204-2B2F-2FDE-440755027479}"/>
              </a:ext>
            </a:extLst>
          </p:cNvPr>
          <p:cNvSpPr>
            <a:spLocks noGrp="1"/>
          </p:cNvSpPr>
          <p:nvPr>
            <p:ph type="title"/>
          </p:nvPr>
        </p:nvSpPr>
        <p:spPr/>
        <p:txBody>
          <a:bodyPr/>
          <a:lstStyle/>
          <a:p>
            <a:r>
              <a:rPr lang="fr-FR" dirty="0"/>
              <a:t>1.l’IRA obstructive : </a:t>
            </a:r>
          </a:p>
        </p:txBody>
      </p:sp>
      <p:sp>
        <p:nvSpPr>
          <p:cNvPr id="5" name="Espace réservé du contenu 4">
            <a:extLst>
              <a:ext uri="{FF2B5EF4-FFF2-40B4-BE49-F238E27FC236}">
                <a16:creationId xmlns:a16="http://schemas.microsoft.com/office/drawing/2014/main" id="{CD1CA697-B95E-09E8-5E24-981DE0391007}"/>
              </a:ext>
            </a:extLst>
          </p:cNvPr>
          <p:cNvSpPr>
            <a:spLocks noGrp="1"/>
          </p:cNvSpPr>
          <p:nvPr>
            <p:ph idx="1"/>
          </p:nvPr>
        </p:nvSpPr>
        <p:spPr/>
        <p:txBody>
          <a:bodyPr/>
          <a:lstStyle/>
          <a:p>
            <a:pPr marL="0" indent="0">
              <a:buNone/>
            </a:pPr>
            <a:r>
              <a:rPr lang="fr-FR" dirty="0"/>
              <a:t>A - survient  lorsque l’écoulement de l’urine est empêché par la présence d’un obstacle unilatéral. </a:t>
            </a:r>
          </a:p>
          <a:p>
            <a:pPr marL="0" indent="0">
              <a:buNone/>
            </a:pPr>
            <a:r>
              <a:rPr lang="fr-FR" b="1" dirty="0">
                <a:solidFill>
                  <a:srgbClr val="FF0000"/>
                </a:solidFill>
              </a:rPr>
              <a:t>B – survient si l’obstacle est bilatéral. </a:t>
            </a:r>
          </a:p>
          <a:p>
            <a:pPr marL="0" indent="0">
              <a:buNone/>
            </a:pPr>
            <a:r>
              <a:rPr lang="fr-FR" b="1" dirty="0">
                <a:solidFill>
                  <a:srgbClr val="FF0000"/>
                </a:solidFill>
              </a:rPr>
              <a:t>C - survient si l’obstacle sur la voie excrétrice du seul rein fonctionnel </a:t>
            </a:r>
          </a:p>
          <a:p>
            <a:pPr marL="0" indent="0">
              <a:buNone/>
            </a:pPr>
            <a:r>
              <a:rPr lang="fr-FR" dirty="0"/>
              <a:t>D - l’IRA est généralement non réversible après la libération de la voie excrétrice. </a:t>
            </a:r>
          </a:p>
          <a:p>
            <a:pPr marL="0" indent="0">
              <a:buNone/>
            </a:pPr>
            <a:r>
              <a:rPr lang="fr-FR" b="1" dirty="0">
                <a:solidFill>
                  <a:srgbClr val="FF0000"/>
                </a:solidFill>
              </a:rPr>
              <a:t>E –peut être consécutive à une fibrose </a:t>
            </a:r>
            <a:r>
              <a:rPr lang="fr-FR" b="1" dirty="0" err="1">
                <a:solidFill>
                  <a:srgbClr val="FF0000"/>
                </a:solidFill>
              </a:rPr>
              <a:t>rétro-péritonéale</a:t>
            </a:r>
            <a:r>
              <a:rPr lang="fr-FR" b="1" dirty="0">
                <a:solidFill>
                  <a:srgbClr val="FF0000"/>
                </a:solidFill>
              </a:rPr>
              <a:t> </a:t>
            </a:r>
          </a:p>
        </p:txBody>
      </p:sp>
    </p:spTree>
    <p:extLst>
      <p:ext uri="{BB962C8B-B14F-4D97-AF65-F5344CB8AC3E}">
        <p14:creationId xmlns:p14="http://schemas.microsoft.com/office/powerpoint/2010/main" val="1884860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CE495A-D9C9-0BEB-FA61-794C7CDF1A19}"/>
              </a:ext>
            </a:extLst>
          </p:cNvPr>
          <p:cNvSpPr>
            <a:spLocks noGrp="1"/>
          </p:cNvSpPr>
          <p:nvPr>
            <p:ph type="title"/>
          </p:nvPr>
        </p:nvSpPr>
        <p:spPr/>
        <p:txBody>
          <a:bodyPr>
            <a:normAutofit/>
          </a:bodyPr>
          <a:lstStyle/>
          <a:p>
            <a:r>
              <a:rPr lang="fr-FR" dirty="0"/>
              <a:t>2. Au cours du syndrome de levée d’obstacle , on peut constater :</a:t>
            </a:r>
          </a:p>
        </p:txBody>
      </p:sp>
      <p:sp>
        <p:nvSpPr>
          <p:cNvPr id="3" name="Espace réservé du contenu 2">
            <a:extLst>
              <a:ext uri="{FF2B5EF4-FFF2-40B4-BE49-F238E27FC236}">
                <a16:creationId xmlns:a16="http://schemas.microsoft.com/office/drawing/2014/main" id="{8F75F550-CF40-8BAC-F329-061042C44CDF}"/>
              </a:ext>
            </a:extLst>
          </p:cNvPr>
          <p:cNvSpPr>
            <a:spLocks noGrp="1"/>
          </p:cNvSpPr>
          <p:nvPr>
            <p:ph idx="1"/>
          </p:nvPr>
        </p:nvSpPr>
        <p:spPr/>
        <p:txBody>
          <a:bodyPr/>
          <a:lstStyle/>
          <a:p>
            <a:pPr marL="0" indent="0">
              <a:lnSpc>
                <a:spcPct val="150000"/>
              </a:lnSpc>
              <a:buNone/>
            </a:pPr>
            <a:r>
              <a:rPr lang="fr-FR" dirty="0"/>
              <a:t>A/Une diurèse horaire importante </a:t>
            </a:r>
          </a:p>
          <a:p>
            <a:pPr marL="0" indent="0">
              <a:lnSpc>
                <a:spcPct val="150000"/>
              </a:lnSpc>
              <a:buNone/>
            </a:pPr>
            <a:r>
              <a:rPr lang="fr-FR" dirty="0"/>
              <a:t>B/une hypokaliémie </a:t>
            </a:r>
          </a:p>
          <a:p>
            <a:pPr marL="0" indent="0">
              <a:lnSpc>
                <a:spcPct val="150000"/>
              </a:lnSpc>
              <a:buNone/>
            </a:pPr>
            <a:r>
              <a:rPr lang="fr-FR" dirty="0"/>
              <a:t>C/une déshydratation extracellulaire </a:t>
            </a:r>
          </a:p>
          <a:p>
            <a:pPr marL="0" indent="0">
              <a:lnSpc>
                <a:spcPct val="150000"/>
              </a:lnSpc>
              <a:buNone/>
            </a:pPr>
            <a:r>
              <a:rPr lang="fr-FR" dirty="0"/>
              <a:t> D/une hyperglycémie </a:t>
            </a:r>
          </a:p>
          <a:p>
            <a:pPr marL="0" indent="0">
              <a:lnSpc>
                <a:spcPct val="150000"/>
              </a:lnSpc>
              <a:buNone/>
            </a:pPr>
            <a:r>
              <a:rPr lang="fr-FR" dirty="0"/>
              <a:t>E/une hyponatrémie </a:t>
            </a:r>
          </a:p>
        </p:txBody>
      </p:sp>
    </p:spTree>
    <p:extLst>
      <p:ext uri="{BB962C8B-B14F-4D97-AF65-F5344CB8AC3E}">
        <p14:creationId xmlns:p14="http://schemas.microsoft.com/office/powerpoint/2010/main" val="40433644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988D0-FB1C-74A5-0161-C6D85C235D7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E9FA308-8CB9-10C4-3BA8-11CAAE480A54}"/>
              </a:ext>
            </a:extLst>
          </p:cNvPr>
          <p:cNvSpPr>
            <a:spLocks noGrp="1"/>
          </p:cNvSpPr>
          <p:nvPr>
            <p:ph type="title"/>
          </p:nvPr>
        </p:nvSpPr>
        <p:spPr/>
        <p:txBody>
          <a:bodyPr>
            <a:normAutofit/>
          </a:bodyPr>
          <a:lstStyle/>
          <a:p>
            <a:r>
              <a:rPr lang="fr-FR" dirty="0"/>
              <a:t>2. Au cours du syndrome de levée d’obstacle , on peut constater :</a:t>
            </a:r>
          </a:p>
        </p:txBody>
      </p:sp>
      <p:sp>
        <p:nvSpPr>
          <p:cNvPr id="3" name="Espace réservé du contenu 2">
            <a:extLst>
              <a:ext uri="{FF2B5EF4-FFF2-40B4-BE49-F238E27FC236}">
                <a16:creationId xmlns:a16="http://schemas.microsoft.com/office/drawing/2014/main" id="{43C66C12-05E3-B36C-FF1E-6331AF068E9C}"/>
              </a:ext>
            </a:extLst>
          </p:cNvPr>
          <p:cNvSpPr>
            <a:spLocks noGrp="1"/>
          </p:cNvSpPr>
          <p:nvPr>
            <p:ph idx="1"/>
          </p:nvPr>
        </p:nvSpPr>
        <p:spPr/>
        <p:txBody>
          <a:bodyPr/>
          <a:lstStyle/>
          <a:p>
            <a:pPr marL="0" indent="0">
              <a:lnSpc>
                <a:spcPct val="150000"/>
              </a:lnSpc>
              <a:buNone/>
            </a:pPr>
            <a:r>
              <a:rPr lang="fr-FR" b="1" dirty="0">
                <a:solidFill>
                  <a:srgbClr val="FF0000"/>
                </a:solidFill>
              </a:rPr>
              <a:t>A/Une diurèse horaire importante </a:t>
            </a:r>
          </a:p>
          <a:p>
            <a:pPr marL="0" indent="0">
              <a:lnSpc>
                <a:spcPct val="150000"/>
              </a:lnSpc>
              <a:buNone/>
            </a:pPr>
            <a:r>
              <a:rPr lang="fr-FR" b="1" dirty="0">
                <a:solidFill>
                  <a:srgbClr val="FF0000"/>
                </a:solidFill>
              </a:rPr>
              <a:t>B/une hypokaliémie </a:t>
            </a:r>
          </a:p>
          <a:p>
            <a:pPr marL="0" indent="0">
              <a:lnSpc>
                <a:spcPct val="150000"/>
              </a:lnSpc>
              <a:buNone/>
            </a:pPr>
            <a:r>
              <a:rPr lang="fr-FR" b="1" dirty="0">
                <a:solidFill>
                  <a:srgbClr val="FF0000"/>
                </a:solidFill>
              </a:rPr>
              <a:t>C/une déshydratation extracellulaire </a:t>
            </a:r>
          </a:p>
          <a:p>
            <a:pPr marL="0" indent="0">
              <a:lnSpc>
                <a:spcPct val="150000"/>
              </a:lnSpc>
              <a:buNone/>
            </a:pPr>
            <a:r>
              <a:rPr lang="fr-FR" dirty="0"/>
              <a:t> D/une hyperglycémie </a:t>
            </a:r>
          </a:p>
          <a:p>
            <a:pPr marL="0" indent="0">
              <a:lnSpc>
                <a:spcPct val="150000"/>
              </a:lnSpc>
              <a:buNone/>
            </a:pPr>
            <a:r>
              <a:rPr lang="fr-FR" b="1" dirty="0">
                <a:solidFill>
                  <a:srgbClr val="FF0000"/>
                </a:solidFill>
              </a:rPr>
              <a:t>E/une hyponatrémie </a:t>
            </a:r>
          </a:p>
        </p:txBody>
      </p:sp>
    </p:spTree>
    <p:extLst>
      <p:ext uri="{BB962C8B-B14F-4D97-AF65-F5344CB8AC3E}">
        <p14:creationId xmlns:p14="http://schemas.microsoft.com/office/powerpoint/2010/main" val="28676887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1171F4-4F08-8228-F890-3EA4E1670269}"/>
              </a:ext>
            </a:extLst>
          </p:cNvPr>
          <p:cNvSpPr>
            <a:spLocks noGrp="1"/>
          </p:cNvSpPr>
          <p:nvPr>
            <p:ph type="title"/>
          </p:nvPr>
        </p:nvSpPr>
        <p:spPr/>
        <p:txBody>
          <a:bodyPr>
            <a:normAutofit/>
          </a:bodyPr>
          <a:lstStyle/>
          <a:p>
            <a:r>
              <a:rPr lang="fr-FR" dirty="0"/>
              <a:t>3. Devant une  IRA ,la cause obstructive est évoquée devant:</a:t>
            </a:r>
          </a:p>
        </p:txBody>
      </p:sp>
      <p:sp>
        <p:nvSpPr>
          <p:cNvPr id="3" name="Espace réservé du contenu 2">
            <a:extLst>
              <a:ext uri="{FF2B5EF4-FFF2-40B4-BE49-F238E27FC236}">
                <a16:creationId xmlns:a16="http://schemas.microsoft.com/office/drawing/2014/main" id="{46316A38-7137-2128-7C45-376146DE180F}"/>
              </a:ext>
            </a:extLst>
          </p:cNvPr>
          <p:cNvSpPr>
            <a:spLocks noGrp="1"/>
          </p:cNvSpPr>
          <p:nvPr>
            <p:ph idx="1"/>
          </p:nvPr>
        </p:nvSpPr>
        <p:spPr/>
        <p:txBody>
          <a:bodyPr/>
          <a:lstStyle/>
          <a:p>
            <a:pPr marL="0" indent="0">
              <a:lnSpc>
                <a:spcPct val="150000"/>
              </a:lnSpc>
              <a:buNone/>
            </a:pPr>
            <a:r>
              <a:rPr lang="fr-FR" dirty="0"/>
              <a:t>A/une anurie brutale</a:t>
            </a:r>
          </a:p>
          <a:p>
            <a:pPr marL="0" indent="0">
              <a:lnSpc>
                <a:spcPct val="150000"/>
              </a:lnSpc>
              <a:buNone/>
            </a:pPr>
            <a:r>
              <a:rPr lang="fr-FR" dirty="0"/>
              <a:t>B/une hématurie macroscopique avec caillots </a:t>
            </a:r>
          </a:p>
          <a:p>
            <a:pPr marL="0" indent="0">
              <a:lnSpc>
                <a:spcPct val="150000"/>
              </a:lnSpc>
              <a:buNone/>
            </a:pPr>
            <a:r>
              <a:rPr lang="fr-FR" dirty="0"/>
              <a:t>C/une diurèse à éclipse</a:t>
            </a:r>
          </a:p>
          <a:p>
            <a:pPr marL="0" indent="0">
              <a:lnSpc>
                <a:spcPct val="150000"/>
              </a:lnSpc>
              <a:buNone/>
            </a:pPr>
            <a:r>
              <a:rPr lang="fr-FR" dirty="0"/>
              <a:t>D/une albuminurie </a:t>
            </a:r>
          </a:p>
          <a:p>
            <a:pPr marL="0" indent="0">
              <a:lnSpc>
                <a:spcPct val="150000"/>
              </a:lnSpc>
              <a:buNone/>
            </a:pPr>
            <a:r>
              <a:rPr lang="fr-FR" dirty="0"/>
              <a:t>E/une anémie hémolytique</a:t>
            </a:r>
          </a:p>
        </p:txBody>
      </p:sp>
    </p:spTree>
    <p:extLst>
      <p:ext uri="{BB962C8B-B14F-4D97-AF65-F5344CB8AC3E}">
        <p14:creationId xmlns:p14="http://schemas.microsoft.com/office/powerpoint/2010/main" val="1479349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3732A-382B-992A-8175-BA144A3984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F4AE483-330F-CF9C-AE23-DD1D041E57C0}"/>
              </a:ext>
            </a:extLst>
          </p:cNvPr>
          <p:cNvSpPr>
            <a:spLocks noGrp="1"/>
          </p:cNvSpPr>
          <p:nvPr>
            <p:ph type="title"/>
          </p:nvPr>
        </p:nvSpPr>
        <p:spPr/>
        <p:txBody>
          <a:bodyPr>
            <a:normAutofit/>
          </a:bodyPr>
          <a:lstStyle/>
          <a:p>
            <a:r>
              <a:rPr lang="fr-FR" dirty="0"/>
              <a:t>3. Devant une  IRA ,la cause obstructive est évoquée devant:</a:t>
            </a:r>
          </a:p>
        </p:txBody>
      </p:sp>
      <p:sp>
        <p:nvSpPr>
          <p:cNvPr id="3" name="Espace réservé du contenu 2">
            <a:extLst>
              <a:ext uri="{FF2B5EF4-FFF2-40B4-BE49-F238E27FC236}">
                <a16:creationId xmlns:a16="http://schemas.microsoft.com/office/drawing/2014/main" id="{74508C2A-26A3-18F1-95CF-C7F0D7799030}"/>
              </a:ext>
            </a:extLst>
          </p:cNvPr>
          <p:cNvSpPr>
            <a:spLocks noGrp="1"/>
          </p:cNvSpPr>
          <p:nvPr>
            <p:ph idx="1"/>
          </p:nvPr>
        </p:nvSpPr>
        <p:spPr/>
        <p:txBody>
          <a:bodyPr/>
          <a:lstStyle/>
          <a:p>
            <a:pPr marL="0" indent="0">
              <a:lnSpc>
                <a:spcPct val="150000"/>
              </a:lnSpc>
              <a:buNone/>
            </a:pPr>
            <a:r>
              <a:rPr lang="fr-FR" b="1" dirty="0">
                <a:solidFill>
                  <a:srgbClr val="FF0000"/>
                </a:solidFill>
              </a:rPr>
              <a:t>A/une anurie brutale</a:t>
            </a:r>
          </a:p>
          <a:p>
            <a:pPr marL="0" indent="0">
              <a:lnSpc>
                <a:spcPct val="150000"/>
              </a:lnSpc>
              <a:buNone/>
            </a:pPr>
            <a:r>
              <a:rPr lang="fr-FR" b="1" dirty="0">
                <a:solidFill>
                  <a:srgbClr val="FF0000"/>
                </a:solidFill>
              </a:rPr>
              <a:t>B/une hématurie macroscopique avec caillots </a:t>
            </a:r>
          </a:p>
          <a:p>
            <a:pPr marL="0" indent="0">
              <a:lnSpc>
                <a:spcPct val="150000"/>
              </a:lnSpc>
              <a:buNone/>
            </a:pPr>
            <a:r>
              <a:rPr lang="fr-FR" b="1" dirty="0">
                <a:solidFill>
                  <a:srgbClr val="FF0000"/>
                </a:solidFill>
              </a:rPr>
              <a:t>C/une diurèse à éclipse</a:t>
            </a:r>
          </a:p>
          <a:p>
            <a:pPr marL="0" indent="0">
              <a:lnSpc>
                <a:spcPct val="150000"/>
              </a:lnSpc>
              <a:buNone/>
            </a:pPr>
            <a:r>
              <a:rPr lang="fr-FR" dirty="0"/>
              <a:t>D/une albuminurie </a:t>
            </a:r>
          </a:p>
          <a:p>
            <a:pPr marL="0" indent="0">
              <a:lnSpc>
                <a:spcPct val="150000"/>
              </a:lnSpc>
              <a:buNone/>
            </a:pPr>
            <a:r>
              <a:rPr lang="fr-FR" dirty="0"/>
              <a:t>E/une anémie hémolytique</a:t>
            </a:r>
          </a:p>
        </p:txBody>
      </p:sp>
    </p:spTree>
    <p:extLst>
      <p:ext uri="{BB962C8B-B14F-4D97-AF65-F5344CB8AC3E}">
        <p14:creationId xmlns:p14="http://schemas.microsoft.com/office/powerpoint/2010/main" val="17964973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B68C74-B806-EBAF-6735-1A55C2E8EC58}"/>
              </a:ext>
            </a:extLst>
          </p:cNvPr>
          <p:cNvSpPr>
            <a:spLocks noGrp="1"/>
          </p:cNvSpPr>
          <p:nvPr>
            <p:ph type="title"/>
          </p:nvPr>
        </p:nvSpPr>
        <p:spPr/>
        <p:txBody>
          <a:bodyPr>
            <a:normAutofit/>
          </a:bodyPr>
          <a:lstStyle/>
          <a:p>
            <a:r>
              <a:rPr lang="fr-FR" dirty="0"/>
              <a:t>4. Quels éléments orientent vers une IRA obstructive ?</a:t>
            </a:r>
          </a:p>
        </p:txBody>
      </p:sp>
      <p:sp>
        <p:nvSpPr>
          <p:cNvPr id="3" name="Espace réservé du contenu 2">
            <a:extLst>
              <a:ext uri="{FF2B5EF4-FFF2-40B4-BE49-F238E27FC236}">
                <a16:creationId xmlns:a16="http://schemas.microsoft.com/office/drawing/2014/main" id="{927DBEF2-1A5A-B57C-CC1E-9270CA2A1E0C}"/>
              </a:ext>
            </a:extLst>
          </p:cNvPr>
          <p:cNvSpPr>
            <a:spLocks noGrp="1"/>
          </p:cNvSpPr>
          <p:nvPr>
            <p:ph idx="1"/>
          </p:nvPr>
        </p:nvSpPr>
        <p:spPr/>
        <p:txBody>
          <a:bodyPr/>
          <a:lstStyle/>
          <a:p>
            <a:pPr marL="0" indent="0">
              <a:lnSpc>
                <a:spcPct val="150000"/>
              </a:lnSpc>
              <a:buNone/>
            </a:pPr>
            <a:r>
              <a:rPr lang="fr-FR" dirty="0"/>
              <a:t>A. l’absence Globe vésical</a:t>
            </a:r>
          </a:p>
          <a:p>
            <a:pPr marL="0" indent="0">
              <a:lnSpc>
                <a:spcPct val="150000"/>
              </a:lnSpc>
              <a:buNone/>
            </a:pPr>
            <a:r>
              <a:rPr lang="fr-FR" dirty="0"/>
              <a:t>B. ATCD de néoplasie pelvienne</a:t>
            </a:r>
          </a:p>
          <a:p>
            <a:pPr marL="0" indent="0">
              <a:lnSpc>
                <a:spcPct val="150000"/>
              </a:lnSpc>
              <a:buNone/>
            </a:pPr>
            <a:r>
              <a:rPr lang="fr-FR" dirty="0"/>
              <a:t>C. Une installation progressive</a:t>
            </a:r>
          </a:p>
          <a:p>
            <a:pPr marL="0" indent="0">
              <a:lnSpc>
                <a:spcPct val="150000"/>
              </a:lnSpc>
              <a:buNone/>
            </a:pPr>
            <a:r>
              <a:rPr lang="fr-FR" dirty="0"/>
              <a:t>D. une colique néphritique</a:t>
            </a:r>
          </a:p>
          <a:p>
            <a:pPr marL="0" indent="0">
              <a:lnSpc>
                <a:spcPct val="150000"/>
              </a:lnSpc>
              <a:buNone/>
            </a:pPr>
            <a:r>
              <a:rPr lang="fr-FR" dirty="0"/>
              <a:t>E. un blindage pelvien au toucher vaginal et/ou au toucher rectal</a:t>
            </a:r>
          </a:p>
        </p:txBody>
      </p:sp>
    </p:spTree>
    <p:extLst>
      <p:ext uri="{BB962C8B-B14F-4D97-AF65-F5344CB8AC3E}">
        <p14:creationId xmlns:p14="http://schemas.microsoft.com/office/powerpoint/2010/main" val="19267399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88F14-DD5C-E1DB-BA23-3B1CF3B45A2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646EC9A-C642-5EB6-44F6-66AD379A71AA}"/>
              </a:ext>
            </a:extLst>
          </p:cNvPr>
          <p:cNvSpPr>
            <a:spLocks noGrp="1"/>
          </p:cNvSpPr>
          <p:nvPr>
            <p:ph type="title"/>
          </p:nvPr>
        </p:nvSpPr>
        <p:spPr/>
        <p:txBody>
          <a:bodyPr>
            <a:normAutofit/>
          </a:bodyPr>
          <a:lstStyle/>
          <a:p>
            <a:r>
              <a:rPr lang="fr-FR" dirty="0"/>
              <a:t>4. Quels éléments orientent vers une IRA obstructive ?</a:t>
            </a:r>
          </a:p>
        </p:txBody>
      </p:sp>
      <p:sp>
        <p:nvSpPr>
          <p:cNvPr id="3" name="Espace réservé du contenu 2">
            <a:extLst>
              <a:ext uri="{FF2B5EF4-FFF2-40B4-BE49-F238E27FC236}">
                <a16:creationId xmlns:a16="http://schemas.microsoft.com/office/drawing/2014/main" id="{8B4B2D01-6F4D-B02C-6321-E86387A62AAF}"/>
              </a:ext>
            </a:extLst>
          </p:cNvPr>
          <p:cNvSpPr>
            <a:spLocks noGrp="1"/>
          </p:cNvSpPr>
          <p:nvPr>
            <p:ph idx="1"/>
          </p:nvPr>
        </p:nvSpPr>
        <p:spPr/>
        <p:txBody>
          <a:bodyPr>
            <a:normAutofit lnSpcReduction="10000"/>
          </a:bodyPr>
          <a:lstStyle/>
          <a:p>
            <a:pPr marL="0" indent="0">
              <a:lnSpc>
                <a:spcPct val="150000"/>
              </a:lnSpc>
              <a:buNone/>
            </a:pPr>
            <a:r>
              <a:rPr lang="fr-FR" dirty="0"/>
              <a:t>A. l’absence Globe vésical</a:t>
            </a:r>
          </a:p>
          <a:p>
            <a:pPr marL="0" indent="0">
              <a:lnSpc>
                <a:spcPct val="150000"/>
              </a:lnSpc>
              <a:buNone/>
            </a:pPr>
            <a:r>
              <a:rPr lang="fr-FR" b="1" dirty="0">
                <a:solidFill>
                  <a:srgbClr val="FF0000"/>
                </a:solidFill>
              </a:rPr>
              <a:t>B. ATCD de néoplasie pelvienne</a:t>
            </a:r>
          </a:p>
          <a:p>
            <a:pPr marL="0" indent="0">
              <a:lnSpc>
                <a:spcPct val="150000"/>
              </a:lnSpc>
              <a:buNone/>
            </a:pPr>
            <a:r>
              <a:rPr lang="fr-FR" dirty="0"/>
              <a:t>C. Une installation progressive</a:t>
            </a:r>
          </a:p>
          <a:p>
            <a:pPr marL="0" indent="0">
              <a:lnSpc>
                <a:spcPct val="150000"/>
              </a:lnSpc>
              <a:buNone/>
            </a:pPr>
            <a:r>
              <a:rPr lang="fr-FR" b="1" dirty="0">
                <a:solidFill>
                  <a:srgbClr val="FF0000"/>
                </a:solidFill>
              </a:rPr>
              <a:t>D. une colique néphritique</a:t>
            </a:r>
          </a:p>
          <a:p>
            <a:pPr marL="0" indent="0">
              <a:lnSpc>
                <a:spcPct val="150000"/>
              </a:lnSpc>
              <a:buNone/>
            </a:pPr>
            <a:r>
              <a:rPr lang="fr-FR" b="1" dirty="0">
                <a:solidFill>
                  <a:srgbClr val="FF0000"/>
                </a:solidFill>
              </a:rPr>
              <a:t>E. un blindage pelvien au toucher vaginal et/ou au toucher rectal</a:t>
            </a:r>
          </a:p>
        </p:txBody>
      </p:sp>
    </p:spTree>
    <p:extLst>
      <p:ext uri="{BB962C8B-B14F-4D97-AF65-F5344CB8AC3E}">
        <p14:creationId xmlns:p14="http://schemas.microsoft.com/office/powerpoint/2010/main" val="400724328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1293</TotalTime>
  <Words>2117</Words>
  <Application>Microsoft Office PowerPoint</Application>
  <PresentationFormat>Grand écran</PresentationFormat>
  <Paragraphs>299</Paragraphs>
  <Slides>50</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50</vt:i4>
      </vt:variant>
    </vt:vector>
  </HeadingPairs>
  <TitlesOfParts>
    <vt:vector size="55" baseType="lpstr">
      <vt:lpstr>Aptos</vt:lpstr>
      <vt:lpstr>Aptos Display</vt:lpstr>
      <vt:lpstr>Arial</vt:lpstr>
      <vt:lpstr>Tahoma</vt:lpstr>
      <vt:lpstr>Thème Office</vt:lpstr>
      <vt:lpstr>Insuffisance rénale aigue obstructive</vt:lpstr>
      <vt:lpstr>Insuffisance rénale aigue obstructive</vt:lpstr>
      <vt:lpstr>Objectif 4</vt:lpstr>
      <vt:lpstr>Insuffisance rénale aigue obstructive Définition</vt:lpstr>
      <vt:lpstr>Objectif 5</vt:lpstr>
      <vt:lpstr>Insuffisance rénale aigue obstructive Physiopathologie</vt:lpstr>
      <vt:lpstr>Objectif 10</vt:lpstr>
      <vt:lpstr>Insuffisance rénale aigue obstructive Diagnostic positif</vt:lpstr>
      <vt:lpstr>Insuffisance rénale aigue obstructive Diagnostic positif</vt:lpstr>
      <vt:lpstr>Insuffisance rénale aigue obstructive Diagnostic positif</vt:lpstr>
      <vt:lpstr>Insuffisance rénale aigue obstructive Diagnostic positif</vt:lpstr>
      <vt:lpstr>Insuffisance rénale aigue obstructive ETIOLOGIES</vt:lpstr>
      <vt:lpstr>Objectif 11</vt:lpstr>
      <vt:lpstr>Insuffisance rénale aigue obstructive PEC </vt:lpstr>
      <vt:lpstr>Insuffisance rénale aigue obstructive Moyens de drainage</vt:lpstr>
      <vt:lpstr>Objectif 12</vt:lpstr>
      <vt:lpstr>Insuffisance rénale aigue obstructive Syndrome de levée d’obstacle</vt:lpstr>
      <vt:lpstr>Cas clinique 1 </vt:lpstr>
      <vt:lpstr>Quel examen d’imagerie faut-il réaliser en urgence ?</vt:lpstr>
      <vt:lpstr>Quel examen d’imagerie faut-il réaliser en urgence ?</vt:lpstr>
      <vt:lpstr>Présentation PowerPoint</vt:lpstr>
      <vt:lpstr>2. Quelle(s) prise(s) en charge immédiate(s) recommandez-vous dans ce contexte ?</vt:lpstr>
      <vt:lpstr>2. Quelle(s) prise(s) en charge immédiate(s) recommandez-vous dans ce contexte ?</vt:lpstr>
      <vt:lpstr>2. Quelle(s) prise(s) en charge immédiate(s) recommandez-vous dans ce contexte ?</vt:lpstr>
      <vt:lpstr>2. Quelle(s) prise(s) en charge immédiate(s) recommandez-vous dans ce contexte ?</vt:lpstr>
      <vt:lpstr>3. Concernant la cause de cette insuffisance rénale aiguë, quelle proposition est exacte ?</vt:lpstr>
      <vt:lpstr>3. Concernant la cause de cette insuffisance rénale aiguë, quelle proposition est exacte ?</vt:lpstr>
      <vt:lpstr>4. Quelle est l’attitude thérapeutique dans ce contexte ?</vt:lpstr>
      <vt:lpstr>Cas clinique 2</vt:lpstr>
      <vt:lpstr>Présentation PowerPoint</vt:lpstr>
      <vt:lpstr>1. Quelle est la cause la plus probable de cette IRA ?</vt:lpstr>
      <vt:lpstr>1. Quelle est la cause la plus probable de cette IRA ?</vt:lpstr>
      <vt:lpstr>2. Quelle est la prise en charge urgente ?</vt:lpstr>
      <vt:lpstr>2. Quelle est la prise en charge urgente ?</vt:lpstr>
      <vt:lpstr>3. Quels risques immédiats sont à craindre ?</vt:lpstr>
      <vt:lpstr>3. Quels risques immédiats sont à craindre ?</vt:lpstr>
      <vt:lpstr>Cas clinique 3</vt:lpstr>
      <vt:lpstr>Présentation PowerPoint</vt:lpstr>
      <vt:lpstr>1. Quel est le mécanisme de l’IRA :</vt:lpstr>
      <vt:lpstr>1. Quel est le mécanisme de l’IRA :</vt:lpstr>
      <vt:lpstr>2. Quelle(s) est la prise(s) en charge ?</vt:lpstr>
      <vt:lpstr>QCM</vt:lpstr>
      <vt:lpstr>1.l’IRA obstructive : </vt:lpstr>
      <vt:lpstr>1.l’IRA obstructive : </vt:lpstr>
      <vt:lpstr>2. Au cours du syndrome de levée d’obstacle , on peut constater :</vt:lpstr>
      <vt:lpstr>2. Au cours du syndrome de levée d’obstacle , on peut constater :</vt:lpstr>
      <vt:lpstr>3. Devant une  IRA ,la cause obstructive est évoquée devant:</vt:lpstr>
      <vt:lpstr>3. Devant une  IRA ,la cause obstructive est évoquée devant:</vt:lpstr>
      <vt:lpstr>4. Quels éléments orientent vers une IRA obstructive ?</vt:lpstr>
      <vt:lpstr>4. Quels éléments orientent vers une IRA obstructive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Loghmari Ahmed ( FAMSO )</dc:creator>
  <cp:lastModifiedBy>Loghmari Ahmed ( FAMSO )</cp:lastModifiedBy>
  <cp:revision>43</cp:revision>
  <dcterms:created xsi:type="dcterms:W3CDTF">2025-07-29T18:11:34Z</dcterms:created>
  <dcterms:modified xsi:type="dcterms:W3CDTF">2025-07-30T15:45:19Z</dcterms:modified>
</cp:coreProperties>
</file>
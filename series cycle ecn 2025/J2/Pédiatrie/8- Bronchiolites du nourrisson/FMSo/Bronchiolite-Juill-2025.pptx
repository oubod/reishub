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9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slides/slide7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Default Extension="bin" ContentType="application/vnd.openxmlformats-officedocument.oleObject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Default Extension="emf" ContentType="image/x-emf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6"/>
  </p:notesMasterIdLst>
  <p:sldIdLst>
    <p:sldId id="257" r:id="rId2"/>
    <p:sldId id="355" r:id="rId3"/>
    <p:sldId id="356" r:id="rId4"/>
    <p:sldId id="357" r:id="rId5"/>
    <p:sldId id="418" r:id="rId6"/>
    <p:sldId id="488" r:id="rId7"/>
    <p:sldId id="426" r:id="rId8"/>
    <p:sldId id="380" r:id="rId9"/>
    <p:sldId id="489" r:id="rId10"/>
    <p:sldId id="422" r:id="rId11"/>
    <p:sldId id="490" r:id="rId12"/>
    <p:sldId id="458" r:id="rId13"/>
    <p:sldId id="491" r:id="rId14"/>
    <p:sldId id="266" r:id="rId15"/>
    <p:sldId id="461" r:id="rId16"/>
    <p:sldId id="492" r:id="rId17"/>
    <p:sldId id="463" r:id="rId18"/>
    <p:sldId id="493" r:id="rId19"/>
    <p:sldId id="267" r:id="rId20"/>
    <p:sldId id="268" r:id="rId21"/>
    <p:sldId id="273" r:id="rId22"/>
    <p:sldId id="274" r:id="rId23"/>
    <p:sldId id="275" r:id="rId24"/>
    <p:sldId id="382" r:id="rId25"/>
    <p:sldId id="494" r:id="rId26"/>
    <p:sldId id="428" r:id="rId27"/>
    <p:sldId id="495" r:id="rId28"/>
    <p:sldId id="281" r:id="rId29"/>
    <p:sldId id="283" r:id="rId30"/>
    <p:sldId id="392" r:id="rId31"/>
    <p:sldId id="497" r:id="rId32"/>
    <p:sldId id="468" r:id="rId33"/>
    <p:sldId id="498" r:id="rId34"/>
    <p:sldId id="500" r:id="rId35"/>
    <p:sldId id="501" r:id="rId36"/>
    <p:sldId id="472" r:id="rId37"/>
    <p:sldId id="473" r:id="rId38"/>
    <p:sldId id="401" r:id="rId39"/>
    <p:sldId id="499" r:id="rId40"/>
    <p:sldId id="439" r:id="rId41"/>
    <p:sldId id="454" r:id="rId42"/>
    <p:sldId id="403" r:id="rId43"/>
    <p:sldId id="502" r:id="rId44"/>
    <p:sldId id="296" r:id="rId45"/>
    <p:sldId id="298" r:id="rId46"/>
    <p:sldId id="299" r:id="rId47"/>
    <p:sldId id="300" r:id="rId48"/>
    <p:sldId id="320" r:id="rId49"/>
    <p:sldId id="324" r:id="rId50"/>
    <p:sldId id="398" r:id="rId51"/>
    <p:sldId id="503" r:id="rId52"/>
    <p:sldId id="481" r:id="rId53"/>
    <p:sldId id="407" r:id="rId54"/>
    <p:sldId id="504" r:id="rId55"/>
    <p:sldId id="444" r:id="rId56"/>
    <p:sldId id="505" r:id="rId57"/>
    <p:sldId id="329" r:id="rId58"/>
    <p:sldId id="409" r:id="rId59"/>
    <p:sldId id="506" r:id="rId60"/>
    <p:sldId id="331" r:id="rId61"/>
    <p:sldId id="411" r:id="rId62"/>
    <p:sldId id="507" r:id="rId63"/>
    <p:sldId id="333" r:id="rId64"/>
    <p:sldId id="334" r:id="rId65"/>
    <p:sldId id="335" r:id="rId66"/>
    <p:sldId id="508" r:id="rId67"/>
    <p:sldId id="509" r:id="rId68"/>
    <p:sldId id="337" r:id="rId69"/>
    <p:sldId id="339" r:id="rId70"/>
    <p:sldId id="340" r:id="rId71"/>
    <p:sldId id="341" r:id="rId72"/>
    <p:sldId id="510" r:id="rId73"/>
    <p:sldId id="345" r:id="rId74"/>
    <p:sldId id="511" r:id="rId75"/>
    <p:sldId id="512" r:id="rId76"/>
    <p:sldId id="484" r:id="rId77"/>
    <p:sldId id="346" r:id="rId78"/>
    <p:sldId id="513" r:id="rId79"/>
    <p:sldId id="376" r:id="rId80"/>
    <p:sldId id="377" r:id="rId81"/>
    <p:sldId id="378" r:id="rId82"/>
    <p:sldId id="486" r:id="rId83"/>
    <p:sldId id="514" r:id="rId84"/>
    <p:sldId id="353" r:id="rId85"/>
  </p:sldIdLst>
  <p:sldSz cx="9144000" cy="5143500" type="screen16x9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60" d="100"/>
          <a:sy n="60" d="100"/>
        </p:scale>
        <p:origin x="-192" y="-48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125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tableStyles" Target="tableStyles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EC4727-8A9E-4199-B25A-210040F136C5}" type="datetimeFigureOut">
              <a:rPr lang="fr-FR" smtClean="0"/>
              <a:pPr/>
              <a:t>07/07/2025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61C2B8-7C37-4D19-8A42-CF8DAF0B965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61C2B8-7C37-4D19-8A42-CF8DAF0B9659}" type="slidenum">
              <a:rPr lang="fr-FR" smtClean="0"/>
              <a:pPr/>
              <a:t>1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61C2B8-7C37-4D19-8A42-CF8DAF0B9659}" type="slidenum">
              <a:rPr lang="fr-FR" smtClean="0"/>
              <a:pPr/>
              <a:t>14</a:t>
            </a:fld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61C2B8-7C37-4D19-8A42-CF8DAF0B9659}" type="slidenum">
              <a:rPr lang="fr-FR" smtClean="0"/>
              <a:pPr/>
              <a:t>28</a:t>
            </a:fld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61C2B8-7C37-4D19-8A42-CF8DAF0B9659}" type="slidenum">
              <a:rPr lang="fr-FR" smtClean="0"/>
              <a:pPr/>
              <a:t>71</a:t>
            </a:fld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61C2B8-7C37-4D19-8A42-CF8DAF0B9659}" type="slidenum">
              <a:rPr lang="fr-FR" smtClean="0"/>
              <a:pPr/>
              <a:t>72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5CEE1-F5C5-4817-B922-ED1BE5C379C4}" type="datetimeFigureOut">
              <a:rPr lang="fr-FR" smtClean="0"/>
              <a:pPr/>
              <a:t>07/07/2025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846CE-15BC-4CE9-9BB0-1309559619D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5CEE1-F5C5-4817-B922-ED1BE5C379C4}" type="datetimeFigureOut">
              <a:rPr lang="fr-FR" smtClean="0"/>
              <a:pPr/>
              <a:t>07/07/2025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846CE-15BC-4CE9-9BB0-1309559619D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5CEE1-F5C5-4817-B922-ED1BE5C379C4}" type="datetimeFigureOut">
              <a:rPr lang="fr-FR" smtClean="0"/>
              <a:pPr/>
              <a:t>07/07/2025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846CE-15BC-4CE9-9BB0-1309559619D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5CEE1-F5C5-4817-B922-ED1BE5C379C4}" type="datetimeFigureOut">
              <a:rPr lang="fr-FR" smtClean="0"/>
              <a:pPr/>
              <a:t>07/07/2025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846CE-15BC-4CE9-9BB0-1309559619D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5CEE1-F5C5-4817-B922-ED1BE5C379C4}" type="datetimeFigureOut">
              <a:rPr lang="fr-FR" smtClean="0"/>
              <a:pPr/>
              <a:t>07/07/2025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846CE-15BC-4CE9-9BB0-1309559619D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5CEE1-F5C5-4817-B922-ED1BE5C379C4}" type="datetimeFigureOut">
              <a:rPr lang="fr-FR" smtClean="0"/>
              <a:pPr/>
              <a:t>07/07/2025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846CE-15BC-4CE9-9BB0-1309559619D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5CEE1-F5C5-4817-B922-ED1BE5C379C4}" type="datetimeFigureOut">
              <a:rPr lang="fr-FR" smtClean="0"/>
              <a:pPr/>
              <a:t>07/07/2025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846CE-15BC-4CE9-9BB0-1309559619D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5CEE1-F5C5-4817-B922-ED1BE5C379C4}" type="datetimeFigureOut">
              <a:rPr lang="fr-FR" smtClean="0"/>
              <a:pPr/>
              <a:t>07/07/2025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846CE-15BC-4CE9-9BB0-1309559619D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5CEE1-F5C5-4817-B922-ED1BE5C379C4}" type="datetimeFigureOut">
              <a:rPr lang="fr-FR" smtClean="0"/>
              <a:pPr/>
              <a:t>07/07/2025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846CE-15BC-4CE9-9BB0-1309559619D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5CEE1-F5C5-4817-B922-ED1BE5C379C4}" type="datetimeFigureOut">
              <a:rPr lang="fr-FR" smtClean="0"/>
              <a:pPr/>
              <a:t>07/07/2025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846CE-15BC-4CE9-9BB0-1309559619D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5CEE1-F5C5-4817-B922-ED1BE5C379C4}" type="datetimeFigureOut">
              <a:rPr lang="fr-FR" smtClean="0"/>
              <a:pPr/>
              <a:t>07/07/2025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846CE-15BC-4CE9-9BB0-1309559619D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5CEE1-F5C5-4817-B922-ED1BE5C379C4}" type="datetimeFigureOut">
              <a:rPr lang="fr-FR" smtClean="0"/>
              <a:pPr/>
              <a:t>07/07/2025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5846CE-15BC-4CE9-9BB0-1309559619D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85814" y="3161113"/>
            <a:ext cx="6929459" cy="1010837"/>
          </a:xfrm>
        </p:spPr>
        <p:txBody>
          <a:bodyPr rtlCol="0">
            <a:normAutofit fontScale="85000" lnSpcReduction="20000"/>
          </a:bodyPr>
          <a:lstStyle/>
          <a:p>
            <a:pPr>
              <a:defRPr/>
            </a:pPr>
            <a:r>
              <a:rPr lang="fr-FR" sz="2400" b="1" dirty="0" smtClean="0"/>
              <a:t>Pr. BOUGUILA </a:t>
            </a:r>
            <a:r>
              <a:rPr lang="fr-FR" sz="2400" b="1" dirty="0" err="1" smtClean="0"/>
              <a:t>Jihene</a:t>
            </a:r>
            <a:endParaRPr lang="fr-FR" sz="2400" b="1" dirty="0" smtClean="0"/>
          </a:p>
          <a:p>
            <a:pPr>
              <a:defRPr/>
            </a:pPr>
            <a:r>
              <a:rPr lang="fr-FR" sz="2400" b="1" dirty="0" smtClean="0"/>
              <a:t>Service Pédiatrie CHU </a:t>
            </a:r>
            <a:r>
              <a:rPr lang="fr-FR" sz="2400" b="1" dirty="0" err="1" smtClean="0"/>
              <a:t>Farhat</a:t>
            </a:r>
            <a:r>
              <a:rPr lang="fr-FR" sz="2400" b="1" dirty="0" smtClean="0"/>
              <a:t> </a:t>
            </a:r>
            <a:r>
              <a:rPr lang="fr-FR" sz="2400" b="1" dirty="0" err="1" smtClean="0"/>
              <a:t>Hached</a:t>
            </a:r>
            <a:r>
              <a:rPr lang="fr-FR" sz="2400" b="1" dirty="0" smtClean="0"/>
              <a:t> Sousse</a:t>
            </a:r>
          </a:p>
          <a:p>
            <a:pPr>
              <a:defRPr/>
            </a:pPr>
            <a:r>
              <a:rPr lang="fr-FR" sz="2400" b="1" dirty="0" smtClean="0"/>
              <a:t>Faculté de Médecine de Sousse</a:t>
            </a:r>
          </a:p>
          <a:p>
            <a:pPr>
              <a:defRPr/>
            </a:pPr>
            <a:endParaRPr lang="fr-FR" sz="2400" dirty="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4071934" y="357172"/>
            <a:ext cx="4857756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2400" b="1" dirty="0" smtClean="0"/>
              <a:t>Concours de résidanat </a:t>
            </a:r>
            <a:r>
              <a:rPr lang="fr-FR" sz="2400" b="1" dirty="0" smtClean="0"/>
              <a:t>2025-2026</a:t>
            </a:r>
            <a:endParaRPr lang="fr-FR" sz="2400" b="1" dirty="0"/>
          </a:p>
        </p:txBody>
      </p:sp>
      <p:sp>
        <p:nvSpPr>
          <p:cNvPr id="7" name="ZoneTexte 6"/>
          <p:cNvSpPr txBox="1"/>
          <p:nvPr/>
        </p:nvSpPr>
        <p:spPr>
          <a:xfrm>
            <a:off x="0" y="4774168"/>
            <a:ext cx="3171825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fr-FR" b="1" dirty="0">
                <a:solidFill>
                  <a:schemeClr val="tx1">
                    <a:lumMod val="65000"/>
                  </a:schemeClr>
                </a:solidFill>
              </a:rPr>
              <a:t>Sousse, </a:t>
            </a:r>
            <a:r>
              <a:rPr lang="fr-FR" b="1" dirty="0" smtClean="0">
                <a:solidFill>
                  <a:schemeClr val="tx1">
                    <a:lumMod val="65000"/>
                  </a:schemeClr>
                </a:solidFill>
              </a:rPr>
              <a:t>8</a:t>
            </a:r>
            <a:r>
              <a:rPr lang="fr-FR" b="1" dirty="0" smtClean="0">
                <a:solidFill>
                  <a:schemeClr val="tx1">
                    <a:lumMod val="65000"/>
                  </a:schemeClr>
                </a:solidFill>
              </a:rPr>
              <a:t>  Juillet 2025</a:t>
            </a:r>
            <a:endParaRPr lang="fr-FR" b="1" dirty="0">
              <a:solidFill>
                <a:schemeClr val="tx1">
                  <a:lumMod val="65000"/>
                </a:schemeClr>
              </a:solidFill>
            </a:endParaRPr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785786" y="1500180"/>
            <a:ext cx="7772400" cy="13573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Bronchiolite aigue</a:t>
            </a:r>
            <a:r>
              <a:rPr kumimoji="0" lang="fr-FR" sz="48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du nourrisson</a:t>
            </a:r>
            <a:endParaRPr kumimoji="0" lang="fr-FR" sz="4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97282" name="Picture 2" descr="Les bons réflexes à adopter quand bébé tousse - Drôles de mum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929454" y="3943668"/>
            <a:ext cx="2214546" cy="1199832"/>
          </a:xfrm>
          <a:prstGeom prst="rect">
            <a:avLst/>
          </a:prstGeom>
          <a:noFill/>
        </p:spPr>
      </p:pic>
      <p:pic>
        <p:nvPicPr>
          <p:cNvPr id="9" name="Picture 5" descr="C:\Users\Jihen\Desktop\LOGO FACULTE 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0"/>
            <a:ext cx="1428750" cy="126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214296"/>
            <a:ext cx="8229600" cy="785800"/>
          </a:xfrm>
        </p:spPr>
        <p:txBody>
          <a:bodyPr>
            <a:normAutofit/>
          </a:bodyPr>
          <a:lstStyle/>
          <a:p>
            <a:r>
              <a:rPr lang="fr-FR" b="1" dirty="0" smtClean="0"/>
              <a:t>Introduction</a:t>
            </a:r>
            <a:r>
              <a:rPr lang="fr-FR" dirty="0" smtClean="0"/>
              <a:t>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000114"/>
            <a:ext cx="8586790" cy="3929072"/>
          </a:xfrm>
        </p:spPr>
        <p:txBody>
          <a:bodyPr>
            <a:noAutofit/>
          </a:bodyPr>
          <a:lstStyle/>
          <a:p>
            <a:pPr>
              <a:lnSpc>
                <a:spcPct val="160000"/>
              </a:lnSpc>
            </a:pPr>
            <a:r>
              <a:rPr lang="fr-FR" sz="2000" dirty="0" smtClean="0"/>
              <a:t>Infection virale </a:t>
            </a:r>
            <a:r>
              <a:rPr lang="fr-FR" sz="2000" b="1" dirty="0" smtClean="0">
                <a:cs typeface="Arial" charset="0"/>
              </a:rPr>
              <a:t>la plus fréquente durant la 1</a:t>
            </a:r>
            <a:r>
              <a:rPr lang="fr-FR" sz="2000" b="1" baseline="30000" dirty="0" smtClean="0">
                <a:cs typeface="Arial" charset="0"/>
              </a:rPr>
              <a:t>ère</a:t>
            </a:r>
            <a:r>
              <a:rPr lang="fr-FR" sz="2000" b="1" dirty="0" smtClean="0">
                <a:cs typeface="Arial" charset="0"/>
              </a:rPr>
              <a:t> année de vie</a:t>
            </a:r>
          </a:p>
          <a:p>
            <a:r>
              <a:rPr lang="fr-FR" sz="2000" b="1" dirty="0" smtClean="0"/>
              <a:t>Problème </a:t>
            </a:r>
            <a:r>
              <a:rPr lang="fr-FR" sz="2000" b="1" dirty="0"/>
              <a:t>de santé publique :</a:t>
            </a:r>
          </a:p>
          <a:p>
            <a:pPr lvl="1" algn="just">
              <a:buClr>
                <a:schemeClr val="folHlink"/>
              </a:buClr>
            </a:pPr>
            <a:r>
              <a:rPr lang="fr-FR" sz="2000" dirty="0" smtClean="0">
                <a:solidFill>
                  <a:srgbClr val="FF0000"/>
                </a:solidFill>
              </a:rPr>
              <a:t>Fréquence croissante</a:t>
            </a:r>
          </a:p>
          <a:p>
            <a:pPr lvl="1" algn="just">
              <a:buClr>
                <a:schemeClr val="folHlink"/>
              </a:buClr>
            </a:pPr>
            <a:r>
              <a:rPr lang="fr-FR" sz="2000" dirty="0" smtClean="0">
                <a:solidFill>
                  <a:schemeClr val="tx1"/>
                </a:solidFill>
              </a:rPr>
              <a:t>Principale </a:t>
            </a:r>
            <a:r>
              <a:rPr lang="fr-FR" sz="2000" dirty="0" smtClean="0">
                <a:solidFill>
                  <a:srgbClr val="FF0000"/>
                </a:solidFill>
              </a:rPr>
              <a:t>cause d’hospitalisation </a:t>
            </a:r>
            <a:r>
              <a:rPr lang="fr-FR" sz="2000" dirty="0" smtClean="0">
                <a:solidFill>
                  <a:schemeClr val="tx1"/>
                </a:solidFill>
              </a:rPr>
              <a:t>(encombrement des services d’urgence…)</a:t>
            </a:r>
          </a:p>
          <a:p>
            <a:pPr lvl="1" algn="just">
              <a:buClr>
                <a:schemeClr val="folHlink"/>
              </a:buClr>
            </a:pPr>
            <a:r>
              <a:rPr lang="fr-FR" sz="2000" b="1" dirty="0" smtClean="0">
                <a:solidFill>
                  <a:schemeClr val="tx1"/>
                </a:solidFill>
              </a:rPr>
              <a:t>Nombreux acteurs du système de santé: </a:t>
            </a:r>
            <a:r>
              <a:rPr lang="fr-FR" sz="2000" dirty="0" smtClean="0">
                <a:solidFill>
                  <a:schemeClr val="tx1"/>
                </a:solidFill>
              </a:rPr>
              <a:t>médecins généralistes, pédiatres, kinésithérapeutes, organismes payeurs…)</a:t>
            </a:r>
          </a:p>
          <a:p>
            <a:pPr lvl="1" algn="just">
              <a:buClr>
                <a:schemeClr val="folHlink"/>
              </a:buClr>
              <a:buNone/>
            </a:pPr>
            <a:endParaRPr lang="fr-FR" sz="2000" dirty="0" smtClean="0">
              <a:solidFill>
                <a:schemeClr val="tx1"/>
              </a:solidFill>
            </a:endParaRPr>
          </a:p>
          <a:p>
            <a:r>
              <a:rPr lang="fr-FR" sz="2000" b="1" dirty="0" smtClean="0"/>
              <a:t>Prise </a:t>
            </a:r>
            <a:r>
              <a:rPr lang="fr-FR" sz="2000" b="1" dirty="0"/>
              <a:t>en charge: </a:t>
            </a:r>
            <a:r>
              <a:rPr lang="fr-FR" sz="2000" dirty="0"/>
              <a:t>sujet de controverse, Fait l’objet </a:t>
            </a:r>
            <a:r>
              <a:rPr lang="fr-FR" sz="2000" dirty="0" smtClean="0"/>
              <a:t>de </a:t>
            </a:r>
            <a:r>
              <a:rPr lang="fr-FR" sz="2000" b="1" dirty="0" smtClean="0"/>
              <a:t>recommandations </a:t>
            </a:r>
            <a:r>
              <a:rPr lang="fr-FR" sz="2000" b="1" dirty="0"/>
              <a:t>de </a:t>
            </a:r>
            <a:r>
              <a:rPr lang="fr-FR" sz="2000" b="1" dirty="0" smtClean="0"/>
              <a:t>bonnes  pratiques</a:t>
            </a:r>
            <a:endParaRPr lang="fr-FR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/>
              <a:t>Epidémiologie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071552"/>
            <a:ext cx="8229600" cy="3857651"/>
          </a:xfrm>
        </p:spPr>
        <p:txBody>
          <a:bodyPr>
            <a:normAutofit fontScale="70000" lnSpcReduction="20000"/>
          </a:bodyPr>
          <a:lstStyle/>
          <a:p>
            <a:r>
              <a:rPr lang="fr-FR" dirty="0" smtClean="0">
                <a:cs typeface="Arial" charset="0"/>
              </a:rPr>
              <a:t>70- 80 % des bronchiolites aiguës sont secondaires au </a:t>
            </a:r>
            <a:r>
              <a:rPr lang="fr-FR" b="1" dirty="0" smtClean="0">
                <a:cs typeface="Arial" charset="0"/>
              </a:rPr>
              <a:t>VRS</a:t>
            </a:r>
          </a:p>
          <a:p>
            <a:pPr>
              <a:buNone/>
            </a:pPr>
            <a:endParaRPr lang="fr-FR" dirty="0" smtClean="0">
              <a:cs typeface="Arial" charset="0"/>
            </a:endParaRPr>
          </a:p>
          <a:p>
            <a:r>
              <a:rPr lang="fr-FR" dirty="0" smtClean="0">
                <a:cs typeface="Arial" charset="0"/>
              </a:rPr>
              <a:t>D’autres agents peuvent être en cause :</a:t>
            </a:r>
          </a:p>
          <a:p>
            <a:pPr lvl="1"/>
            <a:r>
              <a:rPr lang="fr-FR" dirty="0" smtClean="0">
                <a:cs typeface="Arial" charset="0"/>
              </a:rPr>
              <a:t>Rhinovirus</a:t>
            </a:r>
          </a:p>
          <a:p>
            <a:pPr lvl="1"/>
            <a:r>
              <a:rPr lang="fr-FR" dirty="0" smtClean="0">
                <a:solidFill>
                  <a:schemeClr val="tx1"/>
                </a:solidFill>
                <a:cs typeface="Arial" charset="0"/>
              </a:rPr>
              <a:t>Para </a:t>
            </a:r>
            <a:r>
              <a:rPr lang="fr-FR" dirty="0" err="1" smtClean="0">
                <a:solidFill>
                  <a:schemeClr val="tx1"/>
                </a:solidFill>
                <a:cs typeface="Arial" charset="0"/>
              </a:rPr>
              <a:t>influenzae</a:t>
            </a:r>
            <a:r>
              <a:rPr lang="fr-FR" dirty="0" smtClean="0">
                <a:solidFill>
                  <a:schemeClr val="tx1"/>
                </a:solidFill>
                <a:cs typeface="Arial" charset="0"/>
              </a:rPr>
              <a:t>, type 1, 2 et 3</a:t>
            </a:r>
          </a:p>
          <a:p>
            <a:pPr lvl="1"/>
            <a:r>
              <a:rPr lang="fr-FR" dirty="0" err="1" smtClean="0">
                <a:solidFill>
                  <a:schemeClr val="tx1"/>
                </a:solidFill>
                <a:cs typeface="Arial" charset="0"/>
              </a:rPr>
              <a:t>Influenzae</a:t>
            </a:r>
            <a:endParaRPr lang="fr-FR" dirty="0" smtClean="0">
              <a:solidFill>
                <a:schemeClr val="tx1"/>
              </a:solidFill>
              <a:cs typeface="Arial" charset="0"/>
            </a:endParaRPr>
          </a:p>
          <a:p>
            <a:pPr lvl="1"/>
            <a:r>
              <a:rPr lang="fr-FR" dirty="0" smtClean="0">
                <a:cs typeface="Arial" charset="0"/>
              </a:rPr>
              <a:t>Métapneumovirus</a:t>
            </a:r>
          </a:p>
          <a:p>
            <a:pPr lvl="1"/>
            <a:r>
              <a:rPr lang="fr-FR" b="1" dirty="0" smtClean="0">
                <a:cs typeface="Arial" charset="0"/>
              </a:rPr>
              <a:t>Coronavirus</a:t>
            </a:r>
          </a:p>
          <a:p>
            <a:pPr lvl="1"/>
            <a:r>
              <a:rPr lang="fr-FR" dirty="0" smtClean="0">
                <a:solidFill>
                  <a:schemeClr val="tx1"/>
                </a:solidFill>
                <a:cs typeface="Arial" charset="0"/>
              </a:rPr>
              <a:t>Adénovirus type 1, 2 et 5</a:t>
            </a:r>
          </a:p>
          <a:p>
            <a:pPr lvl="1"/>
            <a:r>
              <a:rPr lang="fr-FR" dirty="0" err="1" smtClean="0">
                <a:cs typeface="Arial" charset="0"/>
              </a:rPr>
              <a:t>Bocavirus</a:t>
            </a:r>
            <a:endParaRPr lang="fr-FR" dirty="0" smtClean="0">
              <a:cs typeface="Arial" charset="0"/>
            </a:endParaRPr>
          </a:p>
          <a:p>
            <a:pPr lvl="1">
              <a:buNone/>
            </a:pPr>
            <a:endParaRPr lang="fr-FR" dirty="0" smtClean="0">
              <a:solidFill>
                <a:schemeClr val="tx1"/>
              </a:solidFill>
              <a:cs typeface="Arial" charset="0"/>
            </a:endParaRPr>
          </a:p>
          <a:p>
            <a:pPr lvl="1">
              <a:buNone/>
            </a:pPr>
            <a:r>
              <a:rPr lang="fr-FR" b="1" dirty="0" err="1" smtClean="0">
                <a:solidFill>
                  <a:schemeClr val="tx1"/>
                </a:solidFill>
                <a:cs typeface="Arial" charset="0"/>
              </a:rPr>
              <a:t>Coinfection</a:t>
            </a:r>
            <a:r>
              <a:rPr lang="fr-FR" b="1" dirty="0" smtClean="0">
                <a:solidFill>
                  <a:schemeClr val="tx1"/>
                </a:solidFill>
                <a:cs typeface="Arial" charset="0"/>
              </a:rPr>
              <a:t> virale: 20% des cas</a:t>
            </a:r>
          </a:p>
          <a:p>
            <a:endParaRPr lang="fr-FR" dirty="0"/>
          </a:p>
        </p:txBody>
      </p:sp>
      <p:pic>
        <p:nvPicPr>
          <p:cNvPr id="21506" name="Picture 2" descr="Résultat de recherche d'images pour &quot;image bronchiolite&quot;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72256" y="3214692"/>
            <a:ext cx="2571744" cy="192880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722697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Epidémiologie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071552"/>
            <a:ext cx="8472518" cy="407194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fr-FR" sz="3400" b="1" dirty="0" smtClean="0">
                <a:solidFill>
                  <a:schemeClr val="tx2"/>
                </a:solidFill>
                <a:cs typeface="Arial" charset="0"/>
              </a:rPr>
              <a:t>Les facteurs de risque </a:t>
            </a:r>
            <a:r>
              <a:rPr lang="fr-FR" sz="3400" dirty="0" smtClean="0">
                <a:solidFill>
                  <a:schemeClr val="tx2"/>
                </a:solidFill>
                <a:cs typeface="Arial" charset="0"/>
              </a:rPr>
              <a:t>de la bronchiolite </a:t>
            </a:r>
            <a:r>
              <a:rPr lang="fr-FR" sz="3400" b="1" dirty="0" smtClean="0">
                <a:solidFill>
                  <a:srgbClr val="FF0000"/>
                </a:solidFill>
                <a:cs typeface="Arial" charset="0"/>
              </a:rPr>
              <a:t>aiguë à </a:t>
            </a:r>
            <a:r>
              <a:rPr lang="fr-FR" sz="3400" b="1" dirty="0" smtClean="0">
                <a:solidFill>
                  <a:srgbClr val="FF0000"/>
                </a:solidFill>
                <a:cs typeface="Arial" charset="0"/>
              </a:rPr>
              <a:t>VRS</a:t>
            </a:r>
            <a:endParaRPr lang="fr-FR" sz="3100" dirty="0" smtClean="0">
              <a:solidFill>
                <a:schemeClr val="tx2"/>
              </a:solidFill>
              <a:cs typeface="Arial" charset="0"/>
            </a:endParaRPr>
          </a:p>
          <a:p>
            <a:pPr marL="749808" lvl="1" indent="-457200">
              <a:lnSpc>
                <a:spcPct val="120000"/>
              </a:lnSpc>
              <a:buFont typeface="+mj-lt"/>
              <a:buAutoNum type="arabicPeriod"/>
            </a:pPr>
            <a:r>
              <a:rPr lang="fr-FR" sz="3100" dirty="0" smtClean="0">
                <a:solidFill>
                  <a:schemeClr val="tx1"/>
                </a:solidFill>
                <a:cs typeface="Arial" charset="0"/>
              </a:rPr>
              <a:t>Faible poids de naissance</a:t>
            </a:r>
          </a:p>
          <a:p>
            <a:pPr marL="749808" lvl="1" indent="-457200">
              <a:lnSpc>
                <a:spcPct val="120000"/>
              </a:lnSpc>
              <a:buFont typeface="+mj-lt"/>
              <a:buAutoNum type="arabicPeriod"/>
            </a:pPr>
            <a:r>
              <a:rPr lang="fr-FR" sz="3100" dirty="0" smtClean="0">
                <a:solidFill>
                  <a:srgbClr val="FF0000"/>
                </a:solidFill>
                <a:cs typeface="Arial" charset="0"/>
              </a:rPr>
              <a:t>Prématurité</a:t>
            </a:r>
          </a:p>
          <a:p>
            <a:pPr marL="749808" lvl="1" indent="-457200">
              <a:lnSpc>
                <a:spcPct val="120000"/>
              </a:lnSpc>
              <a:buFont typeface="+mj-lt"/>
              <a:buAutoNum type="arabicPeriod"/>
            </a:pPr>
            <a:r>
              <a:rPr lang="fr-FR" sz="3100" dirty="0" smtClean="0">
                <a:solidFill>
                  <a:schemeClr val="tx1"/>
                </a:solidFill>
                <a:cs typeface="Arial" charset="0"/>
              </a:rPr>
              <a:t>Bas niveau socio-économique</a:t>
            </a:r>
          </a:p>
          <a:p>
            <a:pPr marL="749808" lvl="1" indent="-457200">
              <a:lnSpc>
                <a:spcPct val="120000"/>
              </a:lnSpc>
              <a:buFont typeface="+mj-lt"/>
              <a:buAutoNum type="arabicPeriod"/>
            </a:pPr>
            <a:r>
              <a:rPr lang="fr-FR" sz="3100" dirty="0" smtClean="0">
                <a:solidFill>
                  <a:schemeClr val="tx1"/>
                </a:solidFill>
                <a:cs typeface="Arial" charset="0"/>
              </a:rPr>
              <a:t>Promiscuité</a:t>
            </a:r>
          </a:p>
          <a:p>
            <a:pPr marL="749808" lvl="1" indent="-457200">
              <a:lnSpc>
                <a:spcPct val="120000"/>
              </a:lnSpc>
              <a:buFont typeface="+mj-lt"/>
              <a:buAutoNum type="arabicPeriod"/>
            </a:pPr>
            <a:r>
              <a:rPr lang="fr-FR" sz="3100" dirty="0" smtClean="0">
                <a:solidFill>
                  <a:schemeClr val="tx1"/>
                </a:solidFill>
                <a:cs typeface="Arial" charset="0"/>
              </a:rPr>
              <a:t>Urbanisation</a:t>
            </a:r>
          </a:p>
          <a:p>
            <a:pPr marL="749808" lvl="1" indent="-457200">
              <a:lnSpc>
                <a:spcPct val="120000"/>
              </a:lnSpc>
              <a:buFont typeface="+mj-lt"/>
              <a:buAutoNum type="arabicPeriod"/>
            </a:pPr>
            <a:r>
              <a:rPr lang="fr-FR" sz="3100" dirty="0" smtClean="0">
                <a:solidFill>
                  <a:schemeClr val="tx1"/>
                </a:solidFill>
                <a:cs typeface="Arial" charset="0"/>
              </a:rPr>
              <a:t>Mise en collectivité précoce (crèches++)</a:t>
            </a:r>
          </a:p>
          <a:p>
            <a:pPr marL="749808" lvl="1" indent="-457200">
              <a:lnSpc>
                <a:spcPct val="120000"/>
              </a:lnSpc>
              <a:buFont typeface="+mj-lt"/>
              <a:buAutoNum type="arabicPeriod"/>
            </a:pPr>
            <a:r>
              <a:rPr lang="fr-FR" sz="3100" dirty="0" smtClean="0">
                <a:solidFill>
                  <a:srgbClr val="FF0000"/>
                </a:solidFill>
                <a:cs typeface="Arial" charset="0"/>
              </a:rPr>
              <a:t>Tabagisme passif</a:t>
            </a:r>
          </a:p>
          <a:p>
            <a:pPr marL="749808" lvl="1" indent="-457200">
              <a:lnSpc>
                <a:spcPct val="120000"/>
              </a:lnSpc>
              <a:buFont typeface="+mj-lt"/>
              <a:buAutoNum type="arabicPeriod"/>
            </a:pPr>
            <a:r>
              <a:rPr lang="fr-FR" sz="3100" dirty="0" smtClean="0">
                <a:solidFill>
                  <a:srgbClr val="FF0000"/>
                </a:solidFill>
                <a:cs typeface="Arial" charset="0"/>
              </a:rPr>
              <a:t>Absence d’allaitement maternel</a:t>
            </a:r>
          </a:p>
        </p:txBody>
      </p:sp>
      <p:graphicFrame>
        <p:nvGraphicFramePr>
          <p:cNvPr id="3074" name="Object 2">
            <a:hlinkClick r:id="" action="ppaction://ole?verb=0"/>
          </p:cNvPr>
          <p:cNvGraphicFramePr>
            <a:graphicFrameLocks/>
          </p:cNvGraphicFramePr>
          <p:nvPr/>
        </p:nvGraphicFramePr>
        <p:xfrm>
          <a:off x="6324600" y="3257550"/>
          <a:ext cx="1752600" cy="1200150"/>
        </p:xfrm>
        <a:graphic>
          <a:graphicData uri="http://schemas.openxmlformats.org/presentationml/2006/ole">
            <p:oleObj spid="_x0000_s111618" r:id="rId3" imgW="1123920" imgH="112392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714362"/>
            <a:ext cx="8229600" cy="3880261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fr-FR" b="1" dirty="0" smtClean="0"/>
              <a:t>Question n°1: 	</a:t>
            </a:r>
          </a:p>
          <a:p>
            <a:pPr>
              <a:buNone/>
            </a:pPr>
            <a:endParaRPr lang="fr-FR" dirty="0" smtClean="0"/>
          </a:p>
          <a:p>
            <a:pPr>
              <a:buNone/>
            </a:pPr>
            <a:r>
              <a:rPr lang="fr-FR" dirty="0" smtClean="0"/>
              <a:t>La bronchiolite aigue du nourrisson  est</a:t>
            </a:r>
            <a:r>
              <a:rPr lang="fr-FR" dirty="0" smtClean="0"/>
              <a:t>:</a:t>
            </a:r>
          </a:p>
          <a:p>
            <a:pPr>
              <a:buNone/>
            </a:pP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/>
              <a:t>Diagnostiquée cliniquement avec preuve d’infection virale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/>
              <a:t>Une infection virale des voies aériennes supérieures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/>
              <a:t>Une cause de dyspnée obstructive expiratoire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/>
              <a:t>Une pathologie fréquente chez les nourrissons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/>
              <a:t>Souvent causée par </a:t>
            </a:r>
            <a:r>
              <a:rPr lang="fr-FR" sz="2800" i="1" dirty="0" smtClean="0"/>
              <a:t>l’</a:t>
            </a:r>
            <a:r>
              <a:rPr lang="fr-FR" sz="2800" i="1" dirty="0" err="1" smtClean="0"/>
              <a:t>haemophilus</a:t>
            </a:r>
            <a:r>
              <a:rPr lang="fr-FR" sz="2800" i="1" dirty="0" smtClean="0"/>
              <a:t> </a:t>
            </a:r>
            <a:r>
              <a:rPr lang="fr-FR" sz="2800" i="1" dirty="0" err="1" smtClean="0"/>
              <a:t>influenzae</a:t>
            </a:r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714362"/>
            <a:ext cx="8472518" cy="4071966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fr-FR" b="1" dirty="0" smtClean="0"/>
              <a:t>Question n°1: 	</a:t>
            </a:r>
          </a:p>
          <a:p>
            <a:pPr>
              <a:buNone/>
            </a:pPr>
            <a:endParaRPr lang="fr-FR" dirty="0" smtClean="0"/>
          </a:p>
          <a:p>
            <a:pPr>
              <a:buNone/>
            </a:pPr>
            <a:r>
              <a:rPr lang="fr-FR" dirty="0" smtClean="0"/>
              <a:t>La bronchiolite aigue du nourrisson  est</a:t>
            </a:r>
            <a:r>
              <a:rPr lang="fr-FR" dirty="0" smtClean="0"/>
              <a:t>:</a:t>
            </a:r>
          </a:p>
          <a:p>
            <a:pPr>
              <a:buNone/>
            </a:pP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/>
              <a:t>Diagnostiquée cliniquement avec preuve d’infection virale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/>
              <a:t>Une infection virale des voies aériennes supérieures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sz="2800" b="1" dirty="0" smtClean="0"/>
              <a:t>Une cause de dyspnée obstructive expiratoire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sz="2800" b="1" dirty="0" smtClean="0"/>
              <a:t>Une pathologie fréquente chez les nourrissons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/>
              <a:t>Souvent causée par </a:t>
            </a:r>
            <a:r>
              <a:rPr lang="fr-FR" sz="2800" i="1" dirty="0" smtClean="0"/>
              <a:t>l’</a:t>
            </a:r>
            <a:r>
              <a:rPr lang="fr-FR" sz="2800" i="1" dirty="0" err="1" smtClean="0"/>
              <a:t>haemophilus</a:t>
            </a:r>
            <a:r>
              <a:rPr lang="fr-FR" sz="2800" i="1" dirty="0" smtClean="0"/>
              <a:t> </a:t>
            </a:r>
            <a:r>
              <a:rPr lang="fr-FR" sz="2800" i="1" dirty="0" err="1" smtClean="0"/>
              <a:t>influenzae</a:t>
            </a:r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14282" y="285734"/>
            <a:ext cx="4857752" cy="857250"/>
          </a:xfrm>
        </p:spPr>
        <p:txBody>
          <a:bodyPr/>
          <a:lstStyle/>
          <a:p>
            <a:r>
              <a:rPr lang="fr-FR" b="1" dirty="0" smtClean="0"/>
              <a:t>Définition:  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1357306"/>
            <a:ext cx="8229600" cy="3500460"/>
          </a:xfrm>
        </p:spPr>
        <p:txBody>
          <a:bodyPr>
            <a:normAutofit fontScale="77500" lnSpcReduction="20000"/>
          </a:bodyPr>
          <a:lstStyle/>
          <a:p>
            <a:pPr marL="514350" indent="-514350" algn="just"/>
            <a:r>
              <a:rPr lang="fr-FR" sz="2800" dirty="0" smtClean="0"/>
              <a:t>La bronchiolite est une </a:t>
            </a:r>
            <a:r>
              <a:rPr lang="fr-FR" sz="2800" b="1" dirty="0" smtClean="0"/>
              <a:t>infection virale </a:t>
            </a:r>
            <a:r>
              <a:rPr lang="fr-FR" sz="2800" dirty="0" smtClean="0"/>
              <a:t>des voies respiratoires inferieures du nourrisson. </a:t>
            </a:r>
          </a:p>
          <a:p>
            <a:pPr marL="514350" indent="-514350" algn="just">
              <a:buNone/>
            </a:pPr>
            <a:endParaRPr lang="fr-FR" sz="2800" dirty="0" smtClean="0"/>
          </a:p>
          <a:p>
            <a:pPr marL="514350" indent="-514350" algn="just"/>
            <a:r>
              <a:rPr lang="fr-FR" sz="2800" dirty="0" smtClean="0"/>
              <a:t>Le diagnostic est retenu devant un </a:t>
            </a:r>
            <a:r>
              <a:rPr lang="fr-FR" sz="2800" b="1" dirty="0" smtClean="0"/>
              <a:t>premier épisode </a:t>
            </a:r>
            <a:r>
              <a:rPr lang="fr-FR" sz="2800" dirty="0" smtClean="0"/>
              <a:t>de </a:t>
            </a:r>
            <a:r>
              <a:rPr lang="fr-FR" sz="2800" b="1" dirty="0" smtClean="0"/>
              <a:t>dyspnée sifflante </a:t>
            </a:r>
            <a:r>
              <a:rPr lang="fr-FR" sz="2800" dirty="0" smtClean="0"/>
              <a:t>chez un nourrisson de </a:t>
            </a:r>
            <a:r>
              <a:rPr lang="fr-FR" sz="2800" b="1" dirty="0" smtClean="0"/>
              <a:t>moins de 1 an.</a:t>
            </a:r>
          </a:p>
          <a:p>
            <a:pPr marL="514350" indent="-514350" algn="just">
              <a:buNone/>
            </a:pPr>
            <a:r>
              <a:rPr lang="fr-FR" sz="2800" b="1" dirty="0" smtClean="0"/>
              <a:t> </a:t>
            </a:r>
          </a:p>
          <a:p>
            <a:pPr marL="514350" indent="-514350" algn="just"/>
            <a:r>
              <a:rPr lang="fr-FR" sz="2800" dirty="0" smtClean="0"/>
              <a:t>La dyspnée est précédée, 1 à 3 jours avant son apparition, de </a:t>
            </a:r>
            <a:r>
              <a:rPr lang="fr-FR" sz="2800" b="1" dirty="0" smtClean="0"/>
              <a:t>rhinite, de toux avec ou sans fièvre. </a:t>
            </a:r>
          </a:p>
          <a:p>
            <a:pPr marL="514350" indent="-514350" algn="just">
              <a:buNone/>
            </a:pPr>
            <a:endParaRPr lang="fr-FR" sz="2800" dirty="0" smtClean="0"/>
          </a:p>
          <a:p>
            <a:pPr marL="514350" indent="-514350" algn="just"/>
            <a:r>
              <a:rPr lang="fr-FR" sz="2800" dirty="0" smtClean="0"/>
              <a:t>La </a:t>
            </a:r>
            <a:r>
              <a:rPr lang="fr-FR" sz="2800" b="1" dirty="0" smtClean="0"/>
              <a:t>notion de contage viral est </a:t>
            </a:r>
            <a:r>
              <a:rPr lang="fr-FR" sz="2800" dirty="0" smtClean="0"/>
              <a:t>souvent retrouvée à l’interrogatoire des parents.</a:t>
            </a:r>
            <a:endParaRPr lang="fr-FR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714362"/>
            <a:ext cx="8229600" cy="388026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b="1" dirty="0" smtClean="0"/>
              <a:t>Question n°2: 	</a:t>
            </a:r>
          </a:p>
          <a:p>
            <a:pPr>
              <a:buNone/>
            </a:pPr>
            <a:r>
              <a:rPr lang="fr-FR" sz="2800" dirty="0" smtClean="0"/>
              <a:t>Dans  la bronchiolite aigue du nourrisson </a:t>
            </a:r>
            <a:r>
              <a:rPr lang="fr-FR" sz="2800" dirty="0" smtClean="0"/>
              <a:t>:</a:t>
            </a:r>
            <a:endParaRPr lang="fr-FR" sz="2200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 smtClean="0"/>
              <a:t>Le rhinovirus est le principal agent pathogène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 smtClean="0"/>
              <a:t>La </a:t>
            </a:r>
            <a:r>
              <a:rPr lang="fr-FR" sz="2400" dirty="0" err="1" smtClean="0"/>
              <a:t>coinfection</a:t>
            </a:r>
            <a:r>
              <a:rPr lang="fr-FR" sz="2400" dirty="0" smtClean="0"/>
              <a:t> virale est très fréquente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 smtClean="0"/>
              <a:t>Les examens complémentaires sont systématiques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 smtClean="0"/>
              <a:t>La prévention repose seulement sur la vaccination 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 smtClean="0"/>
              <a:t>Le tableau clinique habituel comporte deux phases </a:t>
            </a:r>
            <a:endParaRPr lang="fr-FR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714362"/>
            <a:ext cx="8229600" cy="388026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b="1" dirty="0" smtClean="0"/>
              <a:t>Question n°2: 	</a:t>
            </a:r>
          </a:p>
          <a:p>
            <a:pPr>
              <a:buNone/>
            </a:pPr>
            <a:r>
              <a:rPr lang="fr-FR" sz="2800" dirty="0" smtClean="0"/>
              <a:t>Dans  la bronchiolite aigue du nourrisson </a:t>
            </a:r>
            <a:r>
              <a:rPr lang="fr-FR" sz="2800" dirty="0" smtClean="0"/>
              <a:t>:</a:t>
            </a:r>
            <a:endParaRPr lang="fr-FR" sz="2200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 smtClean="0"/>
              <a:t>Le rhinovirus est le principal agent pathogène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 smtClean="0"/>
              <a:t>La </a:t>
            </a:r>
            <a:r>
              <a:rPr lang="fr-FR" sz="2400" dirty="0" err="1" smtClean="0"/>
              <a:t>coinfection</a:t>
            </a:r>
            <a:r>
              <a:rPr lang="fr-FR" sz="2400" dirty="0" smtClean="0"/>
              <a:t> virale est très fréquente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 smtClean="0"/>
              <a:t>Les examens complémentaires sont systématiques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 smtClean="0"/>
              <a:t>La prévention repose seulement sur la vaccination 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b="1" dirty="0" smtClean="0"/>
              <a:t>Le tableau clinique habituel comporte deux phases </a:t>
            </a:r>
            <a:endParaRPr lang="fr-FR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714362"/>
            <a:ext cx="8229600" cy="3880261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fr-FR" b="1" dirty="0" smtClean="0"/>
              <a:t>Question n°3: 	</a:t>
            </a:r>
          </a:p>
          <a:p>
            <a:pPr>
              <a:buNone/>
            </a:pPr>
            <a:endParaRPr lang="fr-FR" dirty="0" smtClean="0"/>
          </a:p>
          <a:p>
            <a:pPr>
              <a:buNone/>
            </a:pPr>
            <a:r>
              <a:rPr lang="fr-FR" sz="3000" dirty="0" smtClean="0"/>
              <a:t>Les virus qui peuvent être responsables de bronchiolite aigue sont :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Le </a:t>
            </a:r>
            <a:r>
              <a:rPr lang="fr-FR" dirty="0" err="1" smtClean="0"/>
              <a:t>bocavirus</a:t>
            </a:r>
            <a:endParaRPr lang="fr-FR" sz="2400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La</a:t>
            </a:r>
            <a:r>
              <a:rPr lang="fr-FR" i="1" dirty="0" smtClean="0"/>
              <a:t> </a:t>
            </a:r>
            <a:r>
              <a:rPr lang="fr-FR" i="1" dirty="0" err="1" smtClean="0"/>
              <a:t>Bordetella</a:t>
            </a:r>
            <a:r>
              <a:rPr lang="fr-FR" i="1" dirty="0" smtClean="0"/>
              <a:t> </a:t>
            </a:r>
            <a:r>
              <a:rPr lang="fr-FR" i="1" dirty="0" err="1" smtClean="0"/>
              <a:t>pertussis</a:t>
            </a:r>
            <a:endParaRPr lang="fr-FR" sz="2400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Le virus respiratoire </a:t>
            </a:r>
            <a:r>
              <a:rPr lang="fr-FR" dirty="0" err="1" smtClean="0"/>
              <a:t>syncytial</a:t>
            </a:r>
            <a:r>
              <a:rPr lang="fr-FR" dirty="0" smtClean="0"/>
              <a:t> </a:t>
            </a:r>
            <a:endParaRPr lang="fr-FR" sz="2400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Le métapneumovirus</a:t>
            </a:r>
            <a:endParaRPr lang="fr-FR" sz="2400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Le r</a:t>
            </a:r>
            <a:r>
              <a:rPr lang="fr-FR" i="1" dirty="0" smtClean="0"/>
              <a:t>hinovirus</a:t>
            </a:r>
            <a:endParaRPr lang="fr-FR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714362"/>
            <a:ext cx="8229600" cy="3880261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fr-FR" b="1" dirty="0" smtClean="0"/>
              <a:t>Question n°3: 	</a:t>
            </a:r>
          </a:p>
          <a:p>
            <a:pPr>
              <a:buNone/>
            </a:pPr>
            <a:endParaRPr lang="fr-FR" dirty="0" smtClean="0"/>
          </a:p>
          <a:p>
            <a:pPr>
              <a:buNone/>
            </a:pPr>
            <a:r>
              <a:rPr lang="fr-FR" sz="3000" dirty="0" smtClean="0"/>
              <a:t>Les virus qui peuvent être responsables de bronchiolite aigue sont :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b="1" dirty="0" smtClean="0"/>
              <a:t>Le </a:t>
            </a:r>
            <a:r>
              <a:rPr lang="fr-FR" b="1" dirty="0" err="1" smtClean="0"/>
              <a:t>bocavirus</a:t>
            </a:r>
            <a:endParaRPr lang="fr-FR" sz="2400" b="1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La</a:t>
            </a:r>
            <a:r>
              <a:rPr lang="fr-FR" i="1" dirty="0" smtClean="0"/>
              <a:t> </a:t>
            </a:r>
            <a:r>
              <a:rPr lang="fr-FR" i="1" dirty="0" err="1" smtClean="0"/>
              <a:t>Bordetella</a:t>
            </a:r>
            <a:r>
              <a:rPr lang="fr-FR" i="1" dirty="0" smtClean="0"/>
              <a:t> </a:t>
            </a:r>
            <a:r>
              <a:rPr lang="fr-FR" i="1" dirty="0" err="1" smtClean="0"/>
              <a:t>pertussis</a:t>
            </a:r>
            <a:endParaRPr lang="fr-FR" sz="2400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b="1" dirty="0" smtClean="0"/>
              <a:t>Le virus respiratoire </a:t>
            </a:r>
            <a:r>
              <a:rPr lang="fr-FR" b="1" dirty="0" err="1" smtClean="0"/>
              <a:t>syncytial</a:t>
            </a:r>
            <a:r>
              <a:rPr lang="fr-FR" b="1" dirty="0" smtClean="0"/>
              <a:t> </a:t>
            </a:r>
            <a:endParaRPr lang="fr-FR" sz="2400" b="1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b="1" dirty="0" smtClean="0"/>
              <a:t>Le métapneumovirus</a:t>
            </a:r>
            <a:endParaRPr lang="fr-FR" sz="2400" b="1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b="1" dirty="0" smtClean="0"/>
              <a:t>Le r</a:t>
            </a:r>
            <a:r>
              <a:rPr lang="fr-FR" b="1" i="1" dirty="0" smtClean="0"/>
              <a:t>hinovirus</a:t>
            </a:r>
            <a:endParaRPr lang="fr-FR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714362"/>
            <a:ext cx="8686800" cy="388026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b="1" dirty="0" smtClean="0"/>
              <a:t>Question n°4: 	</a:t>
            </a:r>
          </a:p>
          <a:p>
            <a:pPr>
              <a:buNone/>
            </a:pPr>
            <a:r>
              <a:rPr lang="fr-FR" dirty="0" smtClean="0"/>
              <a:t>Dans le tableau clinique dans la bronchiolite aigue :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 smtClean="0"/>
              <a:t>La dyspnée est souvent  précédée par une rhinite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 smtClean="0"/>
              <a:t>La dyspnée est d’installation brutale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 smtClean="0"/>
              <a:t>La fièvre est souvent </a:t>
            </a:r>
            <a:r>
              <a:rPr lang="fr-FR" sz="2400" dirty="0" err="1" smtClean="0"/>
              <a:t>maltolérée</a:t>
            </a:r>
            <a:endParaRPr lang="fr-FR" sz="2400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 smtClean="0"/>
              <a:t>Les signes de luttes sont présents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 smtClean="0"/>
              <a:t>La présence de râles </a:t>
            </a:r>
            <a:r>
              <a:rPr lang="fr-FR" sz="2400" dirty="0" err="1" smtClean="0"/>
              <a:t>crépitants</a:t>
            </a:r>
            <a:r>
              <a:rPr lang="fr-FR" sz="2400" dirty="0" smtClean="0"/>
              <a:t> est un signe de sévérité</a:t>
            </a:r>
          </a:p>
          <a:p>
            <a:pPr>
              <a:buNone/>
            </a:pPr>
            <a:endParaRPr lang="fr-F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714362"/>
            <a:ext cx="8686800" cy="388026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b="1" dirty="0" smtClean="0"/>
              <a:t>Question n°4: 	</a:t>
            </a:r>
          </a:p>
          <a:p>
            <a:pPr>
              <a:buNone/>
            </a:pPr>
            <a:r>
              <a:rPr lang="fr-FR" dirty="0" smtClean="0"/>
              <a:t>Dans le tableau clinique dans la bronchiolite aigue :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b="1" dirty="0" smtClean="0"/>
              <a:t>La dyspnée est souvent  précédée par une rhinite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 smtClean="0"/>
              <a:t>La dyspnée est d’installation brutale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 smtClean="0"/>
              <a:t>La fièvre est souvent </a:t>
            </a:r>
            <a:r>
              <a:rPr lang="fr-FR" sz="2400" dirty="0" err="1" smtClean="0"/>
              <a:t>maltolérée</a:t>
            </a:r>
            <a:endParaRPr lang="fr-FR" sz="2400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sz="2400" b="1" dirty="0" smtClean="0"/>
              <a:t>Les signes de luttes sont présents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 smtClean="0"/>
              <a:t>La présence de râles </a:t>
            </a:r>
            <a:r>
              <a:rPr lang="fr-FR" sz="2400" dirty="0" err="1" smtClean="0"/>
              <a:t>crépitants</a:t>
            </a:r>
            <a:r>
              <a:rPr lang="fr-FR" sz="2400" dirty="0" smtClean="0"/>
              <a:t> est un signe de sévérité</a:t>
            </a:r>
          </a:p>
          <a:p>
            <a:pPr>
              <a:buNone/>
            </a:pPr>
            <a:endParaRPr lang="fr-F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Diagnostic positif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675476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fr-FR" b="1" dirty="0" smtClean="0"/>
              <a:t>Clinique +++</a:t>
            </a:r>
          </a:p>
          <a:p>
            <a:r>
              <a:rPr lang="fr-FR" dirty="0" smtClean="0"/>
              <a:t>Anamnèse ++</a:t>
            </a:r>
          </a:p>
          <a:p>
            <a:r>
              <a:rPr lang="fr-FR" dirty="0" smtClean="0"/>
              <a:t>Age &lt; 12 mois</a:t>
            </a:r>
          </a:p>
          <a:p>
            <a:r>
              <a:rPr lang="fr-FR" dirty="0" smtClean="0"/>
              <a:t>Premier épisode</a:t>
            </a:r>
          </a:p>
          <a:p>
            <a:r>
              <a:rPr lang="fr-FR" b="1" dirty="0" smtClean="0"/>
              <a:t>Prodromes (1-3js) : </a:t>
            </a:r>
            <a:r>
              <a:rPr lang="fr-FR" b="1" dirty="0" err="1" smtClean="0"/>
              <a:t>rhinorrhée</a:t>
            </a:r>
            <a:r>
              <a:rPr lang="fr-FR" b="1" dirty="0" smtClean="0"/>
              <a:t>, toux, fébricule</a:t>
            </a:r>
          </a:p>
          <a:p>
            <a:pPr>
              <a:buNone/>
            </a:pPr>
            <a:endParaRPr lang="fr-FR" dirty="0" smtClean="0"/>
          </a:p>
          <a:p>
            <a:r>
              <a:rPr lang="fr-FR" dirty="0" smtClean="0"/>
              <a:t>Puis : Détresse respiratoire plus ou moins importante avec une polypnée</a:t>
            </a:r>
            <a:r>
              <a:rPr lang="fr-FR" b="1" dirty="0" smtClean="0"/>
              <a:t>, signes de lutte </a:t>
            </a:r>
            <a:r>
              <a:rPr lang="fr-FR" dirty="0" smtClean="0"/>
              <a:t>dans un contexte subfébrile. </a:t>
            </a:r>
          </a:p>
          <a:p>
            <a:r>
              <a:rPr lang="fr-FR" dirty="0" smtClean="0">
                <a:solidFill>
                  <a:srgbClr val="FF0000"/>
                </a:solidFill>
              </a:rPr>
              <a:t>Un retentissement alimentaire </a:t>
            </a:r>
            <a:r>
              <a:rPr lang="fr-FR" dirty="0" smtClean="0"/>
              <a:t>peut se voir avec des prises diminuée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714362"/>
            <a:ext cx="8472518" cy="388026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b="1" dirty="0" smtClean="0"/>
              <a:t>Question n°5: 	</a:t>
            </a:r>
            <a:endParaRPr lang="fr-FR" dirty="0" smtClean="0"/>
          </a:p>
          <a:p>
            <a:pPr>
              <a:buNone/>
            </a:pPr>
            <a:r>
              <a:rPr lang="fr-FR" sz="2800" dirty="0" smtClean="0"/>
              <a:t>	Les </a:t>
            </a:r>
            <a:r>
              <a:rPr lang="fr-FR" sz="2800" dirty="0" smtClean="0"/>
              <a:t>indications de la radiographie du thorax chez un nourrisson ayant une bronchiolite aigue sont :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 smtClean="0"/>
              <a:t>Devant un deuxième épisode de bronchiolite légère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 smtClean="0"/>
              <a:t>Systématique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 smtClean="0"/>
              <a:t>Devant des signes de sévérité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 smtClean="0"/>
              <a:t>Devant la suspicion d’une insuffisance cardiaque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 smtClean="0"/>
              <a:t>En cas de persistance des signes  plus que 7jours</a:t>
            </a:r>
            <a:endParaRPr lang="fr-FR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714362"/>
            <a:ext cx="8472518" cy="388026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b="1" dirty="0" smtClean="0"/>
              <a:t>Question n°5: 	</a:t>
            </a:r>
            <a:endParaRPr lang="fr-FR" dirty="0" smtClean="0"/>
          </a:p>
          <a:p>
            <a:pPr>
              <a:buNone/>
            </a:pPr>
            <a:r>
              <a:rPr lang="fr-FR" sz="2800" dirty="0" smtClean="0"/>
              <a:t>	Les </a:t>
            </a:r>
            <a:r>
              <a:rPr lang="fr-FR" sz="2800" dirty="0" smtClean="0"/>
              <a:t>indications de la radiographie du thorax chez un nourrisson ayant une bronchiolite aigue sont :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 smtClean="0"/>
              <a:t>Devant un deuxième épisode de bronchiolite légère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 smtClean="0"/>
              <a:t>Systématique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b="1" dirty="0" smtClean="0"/>
              <a:t>Devant des signes de sévérité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b="1" dirty="0" smtClean="0"/>
              <a:t>Devant la suspicion d’une insuffisance cardiaque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b="1" dirty="0" smtClean="0"/>
              <a:t>En cas de persistance des signes  plus que 7jours</a:t>
            </a:r>
            <a:endParaRPr lang="fr-FR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14362"/>
            <a:ext cx="8643998" cy="4071966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fr-FR" b="1" dirty="0" smtClean="0"/>
              <a:t>Question n°6: 	</a:t>
            </a:r>
            <a:endParaRPr lang="fr-FR" dirty="0" smtClean="0"/>
          </a:p>
          <a:p>
            <a:pPr>
              <a:buNone/>
            </a:pPr>
            <a:r>
              <a:rPr lang="fr-FR" sz="2800" dirty="0" smtClean="0"/>
              <a:t>	</a:t>
            </a:r>
            <a:r>
              <a:rPr lang="fr-FR" sz="2400" dirty="0" smtClean="0"/>
              <a:t>Les </a:t>
            </a:r>
            <a:r>
              <a:rPr lang="fr-FR" sz="2400" dirty="0" smtClean="0"/>
              <a:t>examens complémentaires à demander devant une bronchiolite sévère avec fièvre à 38,7°C chez un nourrisson âgé de 4mois sont</a:t>
            </a:r>
            <a:r>
              <a:rPr lang="fr-FR" sz="2800" dirty="0" smtClean="0"/>
              <a:t> </a:t>
            </a:r>
            <a:r>
              <a:rPr lang="fr-FR" sz="2800" dirty="0" smtClean="0"/>
              <a:t>:</a:t>
            </a:r>
          </a:p>
          <a:p>
            <a:pPr>
              <a:buNone/>
            </a:pPr>
            <a:endParaRPr lang="fr-FR" sz="2800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 smtClean="0"/>
              <a:t>Une recherche virale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 smtClean="0"/>
              <a:t>Des hémocultures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 smtClean="0"/>
              <a:t>Une Radiographie de thorax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 smtClean="0"/>
              <a:t>Une échographie cardiaque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 smtClean="0"/>
              <a:t>Des Gaz du sang</a:t>
            </a:r>
            <a:endParaRPr lang="fr-FR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14362"/>
            <a:ext cx="8643998" cy="4071966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fr-FR" b="1" dirty="0" smtClean="0"/>
              <a:t>Question n°6: 	</a:t>
            </a:r>
            <a:endParaRPr lang="fr-FR" dirty="0" smtClean="0"/>
          </a:p>
          <a:p>
            <a:pPr>
              <a:buNone/>
            </a:pPr>
            <a:r>
              <a:rPr lang="fr-FR" sz="2800" dirty="0" smtClean="0"/>
              <a:t>	</a:t>
            </a:r>
            <a:r>
              <a:rPr lang="fr-FR" sz="2400" dirty="0" smtClean="0"/>
              <a:t>Les </a:t>
            </a:r>
            <a:r>
              <a:rPr lang="fr-FR" sz="2400" dirty="0" smtClean="0"/>
              <a:t>examens complémentaires à demander devant une bronchiolite sévère avec fièvre à 38,7°C chez un nourrisson âgé de 4mois sont</a:t>
            </a:r>
            <a:r>
              <a:rPr lang="fr-FR" sz="2800" dirty="0" smtClean="0"/>
              <a:t> </a:t>
            </a:r>
            <a:r>
              <a:rPr lang="fr-FR" sz="2800" dirty="0" smtClean="0"/>
              <a:t>:</a:t>
            </a:r>
          </a:p>
          <a:p>
            <a:pPr>
              <a:buNone/>
            </a:pPr>
            <a:endParaRPr lang="fr-FR" sz="2800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 smtClean="0"/>
              <a:t>Une recherche virale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 smtClean="0"/>
              <a:t>Des hémocultures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b="1" dirty="0" smtClean="0"/>
              <a:t>Une Radiographie de thorax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 smtClean="0"/>
              <a:t>Une échographie cardiaque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b="1" dirty="0" smtClean="0"/>
              <a:t>Des Gaz du sang</a:t>
            </a:r>
            <a:endParaRPr lang="fr-FR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71604" y="205979"/>
            <a:ext cx="7115196" cy="651259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Examens complémentaires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1428742"/>
            <a:ext cx="8358246" cy="3714758"/>
          </a:xfrm>
        </p:spPr>
        <p:txBody>
          <a:bodyPr>
            <a:noAutofit/>
          </a:bodyPr>
          <a:lstStyle/>
          <a:p>
            <a:pPr lvl="0"/>
            <a:r>
              <a:rPr lang="fr-FR" sz="2000" dirty="0"/>
              <a:t>La radiographie </a:t>
            </a:r>
            <a:r>
              <a:rPr lang="fr-FR" sz="2000" dirty="0" smtClean="0"/>
              <a:t>du </a:t>
            </a:r>
            <a:r>
              <a:rPr lang="fr-FR" sz="2000" dirty="0"/>
              <a:t>thorax et le bilan infectieux biologique ne devront pas être demandés </a:t>
            </a:r>
            <a:r>
              <a:rPr lang="fr-FR" sz="2000" dirty="0" smtClean="0"/>
              <a:t>systématiquement</a:t>
            </a:r>
          </a:p>
          <a:p>
            <a:pPr lvl="0">
              <a:buNone/>
            </a:pPr>
            <a:endParaRPr lang="fr-FR" sz="2000" dirty="0"/>
          </a:p>
          <a:p>
            <a:pPr lvl="0"/>
            <a:r>
              <a:rPr lang="fr-FR" sz="2000" dirty="0"/>
              <a:t>La </a:t>
            </a:r>
            <a:r>
              <a:rPr lang="fr-FR" sz="2000" dirty="0" err="1"/>
              <a:t>Rx</a:t>
            </a:r>
            <a:r>
              <a:rPr lang="fr-FR" sz="2000" dirty="0"/>
              <a:t> thorax est réservée aux cas </a:t>
            </a:r>
            <a:r>
              <a:rPr lang="fr-FR" sz="2000" b="1" dirty="0"/>
              <a:t>douteux</a:t>
            </a:r>
            <a:r>
              <a:rPr lang="fr-FR" sz="2000" dirty="0"/>
              <a:t> et aux </a:t>
            </a:r>
            <a:r>
              <a:rPr lang="fr-FR" sz="2000" b="1" dirty="0"/>
              <a:t>formes </a:t>
            </a:r>
            <a:r>
              <a:rPr lang="fr-FR" sz="2000" b="1" dirty="0" smtClean="0"/>
              <a:t>sévères, compliqués </a:t>
            </a:r>
            <a:r>
              <a:rPr lang="fr-FR" sz="2000" dirty="0" smtClean="0"/>
              <a:t>ou </a:t>
            </a:r>
            <a:r>
              <a:rPr lang="fr-FR" sz="2000" b="1" dirty="0" smtClean="0"/>
              <a:t>persistance des symptômes :</a:t>
            </a:r>
            <a:r>
              <a:rPr lang="fr-FR" sz="2000" b="1" dirty="0" smtClean="0"/>
              <a:t>5-7jours</a:t>
            </a:r>
            <a:endParaRPr lang="fr-FR" sz="2000" dirty="0"/>
          </a:p>
          <a:p>
            <a:pPr lvl="0"/>
            <a:r>
              <a:rPr lang="fr-FR" sz="2000" dirty="0"/>
              <a:t>Le bilan infectieux </a:t>
            </a:r>
            <a:r>
              <a:rPr lang="fr-FR" sz="2000" dirty="0" smtClean="0"/>
              <a:t>(NFS, CRP, </a:t>
            </a:r>
            <a:r>
              <a:rPr lang="fr-FR" sz="2000" dirty="0" smtClean="0"/>
              <a:t>HC</a:t>
            </a:r>
            <a:r>
              <a:rPr lang="fr-FR" sz="2000" dirty="0" smtClean="0"/>
              <a:t>) : indiqué chez les nourrissons </a:t>
            </a:r>
            <a:r>
              <a:rPr lang="fr-FR" sz="2000" dirty="0" err="1" smtClean="0"/>
              <a:t>agés</a:t>
            </a:r>
            <a:r>
              <a:rPr lang="fr-FR" sz="2000" dirty="0" smtClean="0"/>
              <a:t> de moins de 3mois et en cas de fièvre mal tolérée</a:t>
            </a:r>
            <a:endParaRPr lang="fr-FR" sz="2000" dirty="0"/>
          </a:p>
          <a:p>
            <a:r>
              <a:rPr lang="fr-FR" sz="2000" dirty="0" smtClean="0"/>
              <a:t>Les GDS: si </a:t>
            </a:r>
            <a:r>
              <a:rPr lang="fr-FR" sz="2000" b="1" dirty="0" smtClean="0"/>
              <a:t>signes de </a:t>
            </a:r>
            <a:r>
              <a:rPr lang="fr-FR" sz="2000" b="1" dirty="0" smtClean="0"/>
              <a:t>gravités</a:t>
            </a:r>
          </a:p>
          <a:p>
            <a:r>
              <a:rPr lang="fr-FR" sz="2000" b="1" dirty="0" err="1" smtClean="0"/>
              <a:t>Iono</a:t>
            </a:r>
            <a:r>
              <a:rPr lang="fr-FR" sz="2000" b="1" dirty="0" smtClean="0"/>
              <a:t> </a:t>
            </a:r>
            <a:r>
              <a:rPr lang="fr-FR" sz="2000" b="1" dirty="0" err="1" smtClean="0"/>
              <a:t>sg</a:t>
            </a:r>
            <a:r>
              <a:rPr lang="fr-FR" sz="2000" b="1" dirty="0" smtClean="0"/>
              <a:t>: </a:t>
            </a:r>
            <a:r>
              <a:rPr lang="fr-FR" sz="2000" dirty="0" smtClean="0"/>
              <a:t>si signes évoquant une SIADH (trouble de conscience) et en cas de déshydratation </a:t>
            </a:r>
            <a:endParaRPr lang="fr-FR" sz="20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 l="25140" t="56045" r="24580" b="15932"/>
          <a:stretch>
            <a:fillRect/>
          </a:stretch>
        </p:blipFill>
        <p:spPr bwMode="auto">
          <a:xfrm>
            <a:off x="-1" y="1"/>
            <a:ext cx="1523987" cy="114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3857620" y="857238"/>
            <a:ext cx="26189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b="1" dirty="0" smtClean="0">
                <a:solidFill>
                  <a:srgbClr val="FF0000"/>
                </a:solidFill>
              </a:rPr>
              <a:t>Non systématiques</a:t>
            </a:r>
            <a:endParaRPr lang="fr-FR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Radiographie de thorax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14348" y="1200150"/>
            <a:ext cx="7972452" cy="3586177"/>
          </a:xfrm>
        </p:spPr>
        <p:txBody>
          <a:bodyPr>
            <a:normAutofit fontScale="85000" lnSpcReduction="10000"/>
          </a:bodyPr>
          <a:lstStyle/>
          <a:p>
            <a:pPr>
              <a:buFont typeface="Courier New" pitchFamily="49" charset="0"/>
              <a:buChar char="o"/>
            </a:pPr>
            <a:r>
              <a:rPr lang="fr-FR" dirty="0"/>
              <a:t>Normale</a:t>
            </a:r>
          </a:p>
          <a:p>
            <a:pPr>
              <a:buFont typeface="Courier New" pitchFamily="49" charset="0"/>
              <a:buChar char="o"/>
            </a:pPr>
            <a:r>
              <a:rPr lang="fr-FR" dirty="0" smtClean="0"/>
              <a:t>Distension pulmonaire</a:t>
            </a:r>
            <a:endParaRPr lang="fr-FR" dirty="0"/>
          </a:p>
          <a:p>
            <a:pPr>
              <a:buFont typeface="Courier New" pitchFamily="49" charset="0"/>
              <a:buChar char="o"/>
            </a:pPr>
            <a:r>
              <a:rPr lang="fr-FR" dirty="0" smtClean="0"/>
              <a:t>Atélectasie, emphysème, troubles de la ventilation, </a:t>
            </a:r>
          </a:p>
          <a:p>
            <a:pPr>
              <a:buFont typeface="Courier New" pitchFamily="49" charset="0"/>
              <a:buChar char="o"/>
            </a:pPr>
            <a:r>
              <a:rPr lang="fr-FR" dirty="0" smtClean="0"/>
              <a:t> Foyer de surinfection pulmonaire. </a:t>
            </a:r>
          </a:p>
          <a:p>
            <a:pPr>
              <a:buFont typeface="Courier New" pitchFamily="49" charset="0"/>
              <a:buChar char="o"/>
            </a:pPr>
            <a:r>
              <a:rPr lang="fr-FR" dirty="0" smtClean="0"/>
              <a:t> Éléments  sémiologiques  orientant vers  un diagnostic différentiel </a:t>
            </a:r>
          </a:p>
          <a:p>
            <a:pPr>
              <a:buFont typeface="Courier New" pitchFamily="49" charset="0"/>
              <a:buChar char="o"/>
            </a:pPr>
            <a:r>
              <a:rPr lang="fr-FR" b="1" dirty="0" smtClean="0"/>
              <a:t>Complication</a:t>
            </a:r>
            <a:r>
              <a:rPr lang="fr-FR" b="1" dirty="0"/>
              <a:t>: </a:t>
            </a:r>
            <a:r>
              <a:rPr lang="fr-FR" dirty="0"/>
              <a:t>pneumothorax, </a:t>
            </a:r>
            <a:r>
              <a:rPr lang="fr-FR" dirty="0" smtClean="0"/>
              <a:t>pneumo-médiastin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/>
          <p:cNvPicPr>
            <a:picLocks noGrp="1"/>
          </p:cNvPicPr>
          <p:nvPr>
            <p:ph idx="1"/>
          </p:nvPr>
        </p:nvPicPr>
        <p:blipFill>
          <a:blip r:embed="rId2" cstate="print">
            <a:lum bright="10000"/>
          </a:blip>
          <a:stretch>
            <a:fillRect/>
          </a:stretch>
        </p:blipFill>
        <p:spPr>
          <a:xfrm>
            <a:off x="1643042" y="0"/>
            <a:ext cx="6097310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63344" t="17461" r="4476" b="40501"/>
          <a:stretch>
            <a:fillRect/>
          </a:stretch>
        </p:blipFill>
        <p:spPr bwMode="auto">
          <a:xfrm>
            <a:off x="467544" y="303498"/>
            <a:ext cx="8352928" cy="48400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space réservé du contenu 3"/>
          <p:cNvPicPr>
            <a:picLocks noChangeAspect="1"/>
          </p:cNvPicPr>
          <p:nvPr/>
        </p:nvPicPr>
        <p:blipFill rotWithShape="1">
          <a:blip r:embed="rId2"/>
          <a:srcRect l="49291" t="37104" r="8630"/>
          <a:stretch/>
        </p:blipFill>
        <p:spPr>
          <a:xfrm>
            <a:off x="4429126" y="857238"/>
            <a:ext cx="4029739" cy="4071966"/>
          </a:xfrm>
          <a:prstGeom prst="rect">
            <a:avLst/>
          </a:prstGeom>
        </p:spPr>
      </p:pic>
      <p:sp>
        <p:nvSpPr>
          <p:cNvPr id="3" name="Titre 1"/>
          <p:cNvSpPr txBox="1">
            <a:spLocks/>
          </p:cNvSpPr>
          <p:nvPr/>
        </p:nvSpPr>
        <p:spPr>
          <a:xfrm>
            <a:off x="571472" y="285735"/>
            <a:ext cx="3286148" cy="1325563"/>
          </a:xfrm>
          <a:prstGeom prst="rect">
            <a:avLst/>
          </a:prstGeom>
        </p:spPr>
        <p:txBody>
          <a:bodyPr>
            <a:normAutofit fontScale="850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Piège diagnostique !! </a:t>
            </a:r>
            <a:endParaRPr kumimoji="0" lang="fr-FR" sz="4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714362"/>
            <a:ext cx="8401080" cy="3880261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fr-FR" b="1" dirty="0" smtClean="0"/>
              <a:t>Question n°7: 	</a:t>
            </a:r>
            <a:endParaRPr lang="fr-FR" dirty="0" smtClean="0"/>
          </a:p>
          <a:p>
            <a:pPr>
              <a:buNone/>
            </a:pPr>
            <a:r>
              <a:rPr lang="fr-FR" dirty="0" smtClean="0"/>
              <a:t>	Les </a:t>
            </a:r>
            <a:r>
              <a:rPr lang="fr-FR" dirty="0" smtClean="0"/>
              <a:t>signes radiologiques à rechercher dans une bronchiolite sévère sans fièvre sont :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Un cœur de petit volume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Des opacités pulmonaires bilatérales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Une distension thoracique bilatérale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Une </a:t>
            </a:r>
            <a:r>
              <a:rPr lang="fr-FR" dirty="0" err="1" smtClean="0"/>
              <a:t>atéléctasie</a:t>
            </a:r>
            <a:endParaRPr lang="fr-FR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Un </a:t>
            </a:r>
            <a:r>
              <a:rPr lang="fr-FR" dirty="0" err="1" smtClean="0"/>
              <a:t>élargissemt</a:t>
            </a:r>
            <a:r>
              <a:rPr lang="fr-FR" dirty="0" smtClean="0"/>
              <a:t> </a:t>
            </a:r>
            <a:r>
              <a:rPr lang="fr-FR" dirty="0" err="1" smtClean="0"/>
              <a:t>médiastinal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714362"/>
            <a:ext cx="8401080" cy="3880261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fr-FR" b="1" dirty="0" smtClean="0"/>
              <a:t>Question n°7: 	</a:t>
            </a:r>
            <a:endParaRPr lang="fr-FR" dirty="0" smtClean="0"/>
          </a:p>
          <a:p>
            <a:pPr>
              <a:buNone/>
            </a:pPr>
            <a:r>
              <a:rPr lang="fr-FR" dirty="0" smtClean="0"/>
              <a:t>	Les </a:t>
            </a:r>
            <a:r>
              <a:rPr lang="fr-FR" dirty="0" smtClean="0"/>
              <a:t>signes radiologiques à rechercher dans une bronchiolite sévère sans fièvre sont :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b="1" dirty="0" smtClean="0"/>
              <a:t>Un cœur de petit volume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Des opacités pulmonaires bilatérales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b="1" dirty="0" smtClean="0"/>
              <a:t>Une distension thoracique bilatérale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b="1" dirty="0" smtClean="0"/>
              <a:t>Une </a:t>
            </a:r>
            <a:r>
              <a:rPr lang="fr-FR" b="1" dirty="0" err="1" smtClean="0"/>
              <a:t>atéléctasie</a:t>
            </a:r>
            <a:endParaRPr lang="fr-FR" b="1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Un </a:t>
            </a:r>
            <a:r>
              <a:rPr lang="fr-FR" dirty="0" err="1" smtClean="0"/>
              <a:t>élargissemt</a:t>
            </a:r>
            <a:r>
              <a:rPr lang="fr-FR" dirty="0" smtClean="0"/>
              <a:t> </a:t>
            </a:r>
            <a:r>
              <a:rPr lang="fr-FR" dirty="0" err="1" smtClean="0"/>
              <a:t>médiastinal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714362"/>
            <a:ext cx="8472518" cy="3880261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fr-FR" b="1" dirty="0" smtClean="0"/>
              <a:t>Question n°8: 	</a:t>
            </a:r>
          </a:p>
          <a:p>
            <a:pPr>
              <a:buNone/>
            </a:pPr>
            <a:r>
              <a:rPr lang="fr-FR" dirty="0" smtClean="0"/>
              <a:t>Le  tableau clinique d’une bronchiolite sévère chez un nourrisson âgé de 1mois comporte :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Une SatO2 à l’air ambiant  90%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Une Fréquence respiratoire à 57C/mn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Une prise des tétés &gt; 50% des apports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Une déshydratation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Des râles sibilants diffus aux deux champs pulmonaires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714362"/>
            <a:ext cx="8472518" cy="3880261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fr-FR" b="1" dirty="0" smtClean="0"/>
              <a:t>Question n°8: 	</a:t>
            </a:r>
          </a:p>
          <a:p>
            <a:pPr>
              <a:buNone/>
            </a:pPr>
            <a:r>
              <a:rPr lang="fr-FR" dirty="0" smtClean="0"/>
              <a:t>Le  tableau clinique d’une bronchiolite sévère chez un nourrisson âgé de 1mois comporte :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b="1" dirty="0" smtClean="0"/>
              <a:t>Une SatO2 à l’air ambiant  90%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Une Fréquence respiratoire à 57C/mn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Une prise des tétés &gt; 50% des apports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b="1" dirty="0" smtClean="0"/>
              <a:t>Une déshydratation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Des râles sibilants diffus aux deux champs pulmonaires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722697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Diagnostic de gravité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71472" y="1214410"/>
            <a:ext cx="8229600" cy="392909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fr-FR" sz="2800" dirty="0" smtClean="0"/>
              <a:t>Clinique après DRP+++</a:t>
            </a:r>
          </a:p>
          <a:p>
            <a:r>
              <a:rPr lang="fr-FR" sz="2800" b="1" dirty="0" smtClean="0"/>
              <a:t>Terrain: </a:t>
            </a:r>
          </a:p>
          <a:p>
            <a:pPr lvl="1">
              <a:buFont typeface="Arial" pitchFamily="34" charset="0"/>
              <a:buChar char="•"/>
            </a:pPr>
            <a:r>
              <a:rPr lang="fr-FR" sz="2400" dirty="0"/>
              <a:t>Jeune </a:t>
            </a:r>
            <a:r>
              <a:rPr lang="fr-FR" sz="2400" dirty="0" smtClean="0"/>
              <a:t>âge </a:t>
            </a:r>
            <a:r>
              <a:rPr lang="fr-FR" sz="2400" dirty="0" smtClean="0"/>
              <a:t>(&lt;3mois</a:t>
            </a:r>
            <a:r>
              <a:rPr lang="fr-FR" sz="2400" dirty="0" smtClean="0"/>
              <a:t>)</a:t>
            </a:r>
            <a:endParaRPr lang="fr-FR" sz="2400" dirty="0"/>
          </a:p>
          <a:p>
            <a:pPr lvl="1">
              <a:buFont typeface="Arial" pitchFamily="34" charset="0"/>
              <a:buChar char="•"/>
            </a:pPr>
            <a:r>
              <a:rPr lang="fr-FR" sz="2400" dirty="0" smtClean="0"/>
              <a:t>Antécédents </a:t>
            </a:r>
            <a:r>
              <a:rPr lang="fr-FR" sz="2400" dirty="0" smtClean="0"/>
              <a:t>se ventilation néonatale</a:t>
            </a:r>
          </a:p>
          <a:p>
            <a:pPr lvl="1">
              <a:buFont typeface="Arial" pitchFamily="34" charset="0"/>
              <a:buChar char="•"/>
            </a:pPr>
            <a:r>
              <a:rPr lang="fr-FR" sz="2400" b="1" dirty="0" smtClean="0"/>
              <a:t>Pathologie </a:t>
            </a:r>
            <a:r>
              <a:rPr lang="fr-FR" sz="2400" b="1" dirty="0"/>
              <a:t>sous jacente: </a:t>
            </a:r>
            <a:r>
              <a:rPr lang="fr-FR" sz="2400" dirty="0" smtClean="0"/>
              <a:t>dysplasie broncho-pulmonaire</a:t>
            </a:r>
            <a:r>
              <a:rPr lang="fr-FR" sz="2400" dirty="0"/>
              <a:t>, cardiopathie </a:t>
            </a:r>
            <a:r>
              <a:rPr lang="fr-FR" sz="2400" dirty="0" smtClean="0"/>
              <a:t>congénitale, </a:t>
            </a:r>
            <a:r>
              <a:rPr lang="pt-BR" sz="2400" dirty="0" smtClean="0"/>
              <a:t>déficit immunitaire, pathologie </a:t>
            </a:r>
            <a:r>
              <a:rPr lang="fr-FR" sz="2400" dirty="0" smtClean="0"/>
              <a:t>neuromusculaire</a:t>
            </a:r>
          </a:p>
          <a:p>
            <a:r>
              <a:rPr lang="fr-FR" sz="2800" b="1" dirty="0" smtClean="0"/>
              <a:t>Sévérité Clinique ++</a:t>
            </a:r>
          </a:p>
          <a:p>
            <a:r>
              <a:rPr lang="fr-FR" sz="2800" b="1" dirty="0" smtClean="0"/>
              <a:t>Capacité de surveillance de l’entourage</a:t>
            </a:r>
          </a:p>
          <a:p>
            <a:pPr lvl="1">
              <a:buFont typeface="Arial" pitchFamily="34" charset="0"/>
              <a:buChar char="•"/>
            </a:pPr>
            <a:endParaRPr lang="fr-FR" sz="2400" dirty="0" smtClean="0"/>
          </a:p>
          <a:p>
            <a:pPr lvl="1">
              <a:buNone/>
            </a:pPr>
            <a:endParaRPr lang="fr-FR" sz="2400" dirty="0" smtClean="0"/>
          </a:p>
          <a:p>
            <a:pPr>
              <a:buNone/>
            </a:pPr>
            <a:endParaRPr lang="fr-F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/>
          <a:srcRect l="25140" t="56045" r="24580" b="15932"/>
          <a:stretch>
            <a:fillRect/>
          </a:stretch>
        </p:blipFill>
        <p:spPr bwMode="auto">
          <a:xfrm>
            <a:off x="-1" y="1"/>
            <a:ext cx="1523987" cy="114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 descr="RÃ©sultat de recherche d'images pour &quot;dyspnÃ©e bebe&quot;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183086" y="1142990"/>
            <a:ext cx="2960914" cy="171451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</p:nvPr>
        </p:nvGraphicFramePr>
        <p:xfrm>
          <a:off x="285720" y="167160"/>
          <a:ext cx="8572561" cy="5025870"/>
        </p:xfrm>
        <a:graphic>
          <a:graphicData uri="http://schemas.openxmlformats.org/drawingml/2006/table">
            <a:tbl>
              <a:tblPr/>
              <a:tblGrid>
                <a:gridCol w="2262202"/>
                <a:gridCol w="2103453"/>
                <a:gridCol w="2103453"/>
                <a:gridCol w="2103453"/>
              </a:tblGrid>
              <a:tr h="37841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800" b="1" dirty="0">
                          <a:solidFill>
                            <a:schemeClr val="accent1"/>
                          </a:solidFill>
                          <a:latin typeface="Calibri"/>
                          <a:ea typeface="Calibri"/>
                          <a:cs typeface="Times New Roman"/>
                        </a:rPr>
                        <a:t>Formes cliniques</a:t>
                      </a:r>
                    </a:p>
                  </a:txBody>
                  <a:tcPr marL="35685" marR="356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800" b="1" dirty="0">
                          <a:solidFill>
                            <a:schemeClr val="accent3"/>
                          </a:solidFill>
                          <a:latin typeface="Calibri"/>
                          <a:ea typeface="Calibri"/>
                          <a:cs typeface="Times New Roman"/>
                        </a:rPr>
                        <a:t>légère</a:t>
                      </a:r>
                    </a:p>
                  </a:txBody>
                  <a:tcPr marL="35685" marR="356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800" b="1" dirty="0">
                          <a:solidFill>
                            <a:schemeClr val="accent6"/>
                          </a:solidFill>
                          <a:latin typeface="Calibri"/>
                          <a:ea typeface="Calibri"/>
                          <a:cs typeface="Times New Roman"/>
                        </a:rPr>
                        <a:t>Modérée</a:t>
                      </a:r>
                    </a:p>
                  </a:txBody>
                  <a:tcPr marL="35685" marR="356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8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Grave</a:t>
                      </a:r>
                    </a:p>
                  </a:txBody>
                  <a:tcPr marL="35685" marR="356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882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b="1" dirty="0">
                          <a:latin typeface="Calibri"/>
                          <a:ea typeface="Calibri"/>
                          <a:cs typeface="Times New Roman"/>
                        </a:rPr>
                        <a:t>Etat général ou comportement altéré</a:t>
                      </a:r>
                    </a:p>
                  </a:txBody>
                  <a:tcPr marL="35685" marR="356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b="1" dirty="0">
                          <a:latin typeface="Calibri"/>
                          <a:ea typeface="Calibri"/>
                          <a:cs typeface="Times New Roman"/>
                        </a:rPr>
                        <a:t>Non</a:t>
                      </a:r>
                    </a:p>
                  </a:txBody>
                  <a:tcPr marL="35685" marR="356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b="1" dirty="0">
                          <a:latin typeface="Calibri"/>
                          <a:ea typeface="Calibri"/>
                          <a:cs typeface="Times New Roman"/>
                        </a:rPr>
                        <a:t>Non</a:t>
                      </a:r>
                    </a:p>
                  </a:txBody>
                  <a:tcPr marL="35685" marR="356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Oui</a:t>
                      </a:r>
                    </a:p>
                  </a:txBody>
                  <a:tcPr marL="35685" marR="356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031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b="1" dirty="0">
                          <a:latin typeface="Calibri"/>
                          <a:ea typeface="Calibri"/>
                          <a:cs typeface="Times New Roman"/>
                        </a:rPr>
                        <a:t>Fréquence respiratoire (FR)</a:t>
                      </a:r>
                    </a:p>
                  </a:txBody>
                  <a:tcPr marL="35685" marR="356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b="1" dirty="0">
                          <a:solidFill>
                            <a:schemeClr val="accent5"/>
                          </a:solidFill>
                          <a:latin typeface="Calibri"/>
                          <a:ea typeface="Calibri"/>
                          <a:cs typeface="Times New Roman"/>
                        </a:rPr>
                        <a:t>&lt;60C/mn</a:t>
                      </a:r>
                    </a:p>
                  </a:txBody>
                  <a:tcPr marL="35685" marR="356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b="1">
                          <a:latin typeface="Calibri"/>
                          <a:ea typeface="Calibri"/>
                          <a:cs typeface="Times New Roman"/>
                        </a:rPr>
                        <a:t>60-69C/mn</a:t>
                      </a:r>
                    </a:p>
                  </a:txBody>
                  <a:tcPr marL="35685" marR="356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&lt;30C/mn ou </a:t>
                      </a:r>
                      <a:r>
                        <a:rPr lang="fr-FR" sz="1600" b="1" dirty="0">
                          <a:solidFill>
                            <a:srgbClr val="FF0000"/>
                          </a:solidFill>
                          <a:latin typeface="Century Schoolbook"/>
                          <a:ea typeface="Calibri"/>
                          <a:cs typeface="Times New Roman"/>
                        </a:rPr>
                        <a:t>≥</a:t>
                      </a:r>
                      <a:r>
                        <a:rPr lang="fr-FR" sz="16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70C/mn ou </a:t>
                      </a:r>
                      <a:r>
                        <a:rPr lang="fr-FR" sz="1600" b="1" dirty="0" err="1" smtClean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resp</a:t>
                      </a:r>
                      <a:r>
                        <a:rPr lang="fr-FR" sz="1600" b="1" baseline="0" dirty="0" smtClean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fr-FR" sz="1600" b="1" dirty="0" smtClean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superficielle</a:t>
                      </a:r>
                      <a:endParaRPr lang="fr-FR" sz="1600" b="1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5685" marR="356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589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b="1">
                          <a:latin typeface="Calibri"/>
                          <a:ea typeface="Calibri"/>
                          <a:cs typeface="Times New Roman"/>
                        </a:rPr>
                        <a:t>Apnée </a:t>
                      </a:r>
                    </a:p>
                  </a:txBody>
                  <a:tcPr marL="35685" marR="356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b="1">
                          <a:latin typeface="Calibri"/>
                          <a:ea typeface="Calibri"/>
                          <a:cs typeface="Times New Roman"/>
                        </a:rPr>
                        <a:t>Non</a:t>
                      </a:r>
                    </a:p>
                  </a:txBody>
                  <a:tcPr marL="35685" marR="356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b="1">
                          <a:latin typeface="Calibri"/>
                          <a:ea typeface="Calibri"/>
                          <a:cs typeface="Times New Roman"/>
                        </a:rPr>
                        <a:t>Non</a:t>
                      </a:r>
                    </a:p>
                  </a:txBody>
                  <a:tcPr marL="35685" marR="356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Oui</a:t>
                      </a:r>
                    </a:p>
                  </a:txBody>
                  <a:tcPr marL="35685" marR="356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50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b="1">
                          <a:latin typeface="Calibri"/>
                          <a:ea typeface="Calibri"/>
                          <a:cs typeface="Times New Roman"/>
                        </a:rPr>
                        <a:t>Signes de luttes respiratoires</a:t>
                      </a:r>
                    </a:p>
                  </a:txBody>
                  <a:tcPr marL="35685" marR="356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b="1" dirty="0">
                          <a:latin typeface="Calibri"/>
                          <a:ea typeface="Calibri"/>
                          <a:cs typeface="Times New Roman"/>
                        </a:rPr>
                        <a:t>Absente </a:t>
                      </a:r>
                      <a:r>
                        <a:rPr lang="fr-FR" sz="1600" b="1" dirty="0">
                          <a:solidFill>
                            <a:schemeClr val="accent5"/>
                          </a:solidFill>
                          <a:latin typeface="Calibri"/>
                          <a:ea typeface="Calibri"/>
                          <a:cs typeface="Times New Roman"/>
                        </a:rPr>
                        <a:t>ou légère</a:t>
                      </a:r>
                    </a:p>
                  </a:txBody>
                  <a:tcPr marL="35685" marR="356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b="1">
                          <a:latin typeface="Calibri"/>
                          <a:ea typeface="Calibri"/>
                          <a:cs typeface="Times New Roman"/>
                        </a:rPr>
                        <a:t>Modérée</a:t>
                      </a:r>
                    </a:p>
                  </a:txBody>
                  <a:tcPr marL="35685" marR="356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Intense</a:t>
                      </a:r>
                    </a:p>
                  </a:txBody>
                  <a:tcPr marL="35685" marR="356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980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b="1">
                          <a:latin typeface="Calibri"/>
                          <a:ea typeface="Calibri"/>
                          <a:cs typeface="Times New Roman"/>
                        </a:rPr>
                        <a:t>Fréquence cardiaque (FC&gt; 180batt/mn ou &lt;80batt/mn)</a:t>
                      </a:r>
                    </a:p>
                  </a:txBody>
                  <a:tcPr marL="35685" marR="356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b="1" dirty="0">
                          <a:latin typeface="Calibri"/>
                          <a:ea typeface="Calibri"/>
                          <a:cs typeface="Times New Roman"/>
                        </a:rPr>
                        <a:t>Non</a:t>
                      </a:r>
                    </a:p>
                  </a:txBody>
                  <a:tcPr marL="35685" marR="356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b="1" dirty="0">
                          <a:latin typeface="Calibri"/>
                          <a:ea typeface="Calibri"/>
                          <a:cs typeface="Times New Roman"/>
                        </a:rPr>
                        <a:t>Non</a:t>
                      </a:r>
                    </a:p>
                  </a:txBody>
                  <a:tcPr marL="35685" marR="356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Oui</a:t>
                      </a:r>
                    </a:p>
                  </a:txBody>
                  <a:tcPr marL="35685" marR="356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394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b="1" dirty="0">
                          <a:latin typeface="Calibri"/>
                          <a:ea typeface="Calibri"/>
                          <a:cs typeface="Times New Roman"/>
                        </a:rPr>
                        <a:t>Alimentation 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b="1" dirty="0" smtClean="0">
                          <a:latin typeface="Calibri"/>
                          <a:ea typeface="Calibri"/>
                          <a:cs typeface="Times New Roman"/>
                        </a:rPr>
                        <a:t>(% aux </a:t>
                      </a:r>
                      <a:r>
                        <a:rPr lang="fr-FR" sz="1600" b="1" dirty="0">
                          <a:latin typeface="Calibri"/>
                          <a:ea typeface="Calibri"/>
                          <a:cs typeface="Times New Roman"/>
                        </a:rPr>
                        <a:t>apports habituels)</a:t>
                      </a:r>
                    </a:p>
                  </a:txBody>
                  <a:tcPr marL="35685" marR="356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b="1" dirty="0">
                          <a:solidFill>
                            <a:schemeClr val="accent5"/>
                          </a:solidFill>
                          <a:latin typeface="Calibri"/>
                          <a:ea typeface="Calibri"/>
                          <a:cs typeface="Times New Roman"/>
                        </a:rPr>
                        <a:t>&gt;50%</a:t>
                      </a:r>
                    </a:p>
                  </a:txBody>
                  <a:tcPr marL="35685" marR="356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b="1">
                          <a:latin typeface="Calibri"/>
                          <a:ea typeface="Calibri"/>
                          <a:cs typeface="Times New Roman"/>
                        </a:rPr>
                        <a:t>&lt;50%</a:t>
                      </a:r>
                    </a:p>
                  </a:txBody>
                  <a:tcPr marL="35685" marR="356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Réduction importante ou refus alimentaire</a:t>
                      </a:r>
                    </a:p>
                  </a:txBody>
                  <a:tcPr marL="35685" marR="356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589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b="1">
                          <a:latin typeface="Calibri"/>
                          <a:ea typeface="Calibri"/>
                          <a:cs typeface="Times New Roman"/>
                        </a:rPr>
                        <a:t>Déshydratation </a:t>
                      </a:r>
                    </a:p>
                  </a:txBody>
                  <a:tcPr marL="35685" marR="356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b="1">
                          <a:latin typeface="Calibri"/>
                          <a:ea typeface="Calibri"/>
                          <a:cs typeface="Times New Roman"/>
                        </a:rPr>
                        <a:t>Non</a:t>
                      </a:r>
                    </a:p>
                  </a:txBody>
                  <a:tcPr marL="35685" marR="356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b="1">
                          <a:latin typeface="Calibri"/>
                          <a:ea typeface="Calibri"/>
                          <a:cs typeface="Times New Roman"/>
                        </a:rPr>
                        <a:t>Non</a:t>
                      </a:r>
                    </a:p>
                  </a:txBody>
                  <a:tcPr marL="35685" marR="356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Oui</a:t>
                      </a:r>
                    </a:p>
                  </a:txBody>
                  <a:tcPr marL="35685" marR="356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50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Calibri"/>
                          <a:ea typeface="Calibri"/>
                          <a:cs typeface="Times New Roman"/>
                        </a:rPr>
                        <a:t>Saturation O2 </a:t>
                      </a:r>
                      <a:r>
                        <a:rPr lang="en-US" sz="1600" b="1" dirty="0" smtClean="0">
                          <a:latin typeface="Calibri"/>
                          <a:ea typeface="Calibri"/>
                          <a:cs typeface="Times New Roman"/>
                        </a:rPr>
                        <a:t>en AA</a:t>
                      </a:r>
                      <a:endParaRPr lang="fr-FR" sz="16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5685" marR="356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accent5"/>
                          </a:solidFill>
                          <a:latin typeface="Calibri"/>
                          <a:ea typeface="Calibri"/>
                          <a:cs typeface="Times New Roman"/>
                        </a:rPr>
                        <a:t>&gt;92%</a:t>
                      </a:r>
                      <a:endParaRPr lang="fr-FR" sz="1600" b="1" dirty="0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5685" marR="356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Calibri"/>
                          <a:ea typeface="Calibri"/>
                          <a:cs typeface="Times New Roman"/>
                        </a:rPr>
                        <a:t>90%&lt;SatO2</a:t>
                      </a:r>
                      <a:r>
                        <a:rPr lang="en-US" sz="1600" b="1" dirty="0">
                          <a:latin typeface="Calibri"/>
                          <a:ea typeface="Calibri"/>
                          <a:cs typeface="Calibri"/>
                        </a:rPr>
                        <a:t>≤</a:t>
                      </a:r>
                      <a:r>
                        <a:rPr lang="en-US" sz="1600" b="1" dirty="0">
                          <a:latin typeface="Calibri"/>
                          <a:ea typeface="Calibri"/>
                          <a:cs typeface="Times New Roman"/>
                        </a:rPr>
                        <a:t>92%</a:t>
                      </a:r>
                      <a:endParaRPr lang="fr-FR" sz="16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5685" marR="356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</a:rPr>
                        <a:t>≤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90% 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ou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cyanose</a:t>
                      </a:r>
                      <a:endParaRPr lang="fr-FR" sz="1600" b="1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5685" marR="3568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714362"/>
            <a:ext cx="8229600" cy="407196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b="1" dirty="0" smtClean="0"/>
              <a:t>Question n°9: 	</a:t>
            </a:r>
          </a:p>
          <a:p>
            <a:pPr>
              <a:buNone/>
            </a:pPr>
            <a:r>
              <a:rPr lang="fr-FR" sz="2800" dirty="0" smtClean="0"/>
              <a:t> La gravité d’une bronchiolite est liée à : 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dirty="0" smtClean="0"/>
              <a:t>L’âge de moins de 3mois </a:t>
            </a:r>
            <a:endParaRPr lang="fr-FR" sz="2000" dirty="0" smtClean="0"/>
          </a:p>
          <a:p>
            <a:pPr marL="1314450" lvl="2" indent="-514350">
              <a:buFont typeface="+mj-lt"/>
              <a:buAutoNum type="alphaUcPeriod"/>
            </a:pPr>
            <a:r>
              <a:rPr lang="fr-FR" dirty="0" smtClean="0"/>
              <a:t>Les antécédents de ventilation néonatale </a:t>
            </a:r>
            <a:endParaRPr lang="fr-FR" sz="2000" dirty="0" smtClean="0"/>
          </a:p>
          <a:p>
            <a:pPr marL="1314450" lvl="2" indent="-514350">
              <a:buFont typeface="+mj-lt"/>
              <a:buAutoNum type="alphaUcPeriod"/>
            </a:pPr>
            <a:r>
              <a:rPr lang="fr-FR" dirty="0" smtClean="0"/>
              <a:t>La récidive de la bronchiolite </a:t>
            </a:r>
            <a:endParaRPr lang="fr-FR" sz="2000" dirty="0" smtClean="0"/>
          </a:p>
          <a:p>
            <a:pPr marL="1314450" lvl="2" indent="-514350">
              <a:buFont typeface="+mj-lt"/>
              <a:buAutoNum type="alphaUcPeriod"/>
            </a:pPr>
            <a:r>
              <a:rPr lang="fr-FR" dirty="0" smtClean="0"/>
              <a:t>La présence d’un contage virale</a:t>
            </a:r>
            <a:endParaRPr lang="fr-FR" sz="2000" dirty="0" smtClean="0"/>
          </a:p>
          <a:p>
            <a:pPr marL="1314450" lvl="2" indent="-514350">
              <a:buFont typeface="+mj-lt"/>
              <a:buAutoNum type="alphaUcPeriod"/>
            </a:pPr>
            <a:r>
              <a:rPr lang="fr-FR" dirty="0" smtClean="0"/>
              <a:t>L’incapacité des parents de surveiller leur enfant</a:t>
            </a:r>
            <a:endParaRPr lang="fr-FR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714362"/>
            <a:ext cx="8229600" cy="407196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b="1" dirty="0" smtClean="0"/>
              <a:t>Question n°9: 	</a:t>
            </a:r>
          </a:p>
          <a:p>
            <a:pPr>
              <a:buNone/>
            </a:pPr>
            <a:r>
              <a:rPr lang="fr-FR" sz="2800" dirty="0" smtClean="0"/>
              <a:t> La gravité d’une bronchiolite est liée à : 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b="1" dirty="0" smtClean="0"/>
              <a:t>L’âge de moins de 3mois </a:t>
            </a:r>
            <a:endParaRPr lang="fr-FR" sz="2000" b="1" dirty="0" smtClean="0"/>
          </a:p>
          <a:p>
            <a:pPr marL="1314450" lvl="2" indent="-514350">
              <a:buFont typeface="+mj-lt"/>
              <a:buAutoNum type="alphaUcPeriod"/>
            </a:pPr>
            <a:r>
              <a:rPr lang="fr-FR" b="1" dirty="0" smtClean="0"/>
              <a:t>Les antécédents de ventilation néonatale </a:t>
            </a:r>
            <a:endParaRPr lang="fr-FR" sz="2000" b="1" dirty="0" smtClean="0"/>
          </a:p>
          <a:p>
            <a:pPr marL="1314450" lvl="2" indent="-514350">
              <a:buFont typeface="+mj-lt"/>
              <a:buAutoNum type="alphaUcPeriod"/>
            </a:pPr>
            <a:r>
              <a:rPr lang="fr-FR" dirty="0" smtClean="0"/>
              <a:t>La récidive de la bronchiolite </a:t>
            </a:r>
            <a:endParaRPr lang="fr-FR" sz="2000" dirty="0" smtClean="0"/>
          </a:p>
          <a:p>
            <a:pPr marL="1314450" lvl="2" indent="-514350">
              <a:buFont typeface="+mj-lt"/>
              <a:buAutoNum type="alphaUcPeriod"/>
            </a:pPr>
            <a:r>
              <a:rPr lang="fr-FR" dirty="0" smtClean="0"/>
              <a:t>La présence d’un contage virale</a:t>
            </a:r>
            <a:endParaRPr lang="fr-FR" sz="2000" dirty="0" smtClean="0"/>
          </a:p>
          <a:p>
            <a:pPr marL="1314450" lvl="2" indent="-514350">
              <a:buFont typeface="+mj-lt"/>
              <a:buAutoNum type="alphaUcPeriod"/>
            </a:pPr>
            <a:r>
              <a:rPr lang="fr-FR" b="1" dirty="0" smtClean="0"/>
              <a:t>L’incapacité des parents de surveiller leur enfant</a:t>
            </a:r>
            <a:endParaRPr lang="fr-FR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714362"/>
            <a:ext cx="8229600" cy="407196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b="1" dirty="0" smtClean="0"/>
              <a:t>Question n°10: 	</a:t>
            </a:r>
          </a:p>
          <a:p>
            <a:pPr>
              <a:buNone/>
            </a:pPr>
            <a:r>
              <a:rPr lang="fr-FR" sz="2800" dirty="0" smtClean="0"/>
              <a:t>	Le </a:t>
            </a:r>
            <a:r>
              <a:rPr lang="fr-FR" sz="2800" dirty="0" smtClean="0"/>
              <a:t>tableau clinique d’une bronchiolite aigue légère comporte :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 smtClean="0"/>
              <a:t>Une Fréquence respiratoire à 60c/mn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 smtClean="0"/>
              <a:t>Des signes de luttes respiratoires modérés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 smtClean="0"/>
              <a:t>Un refus alimentaire avec détresse respiratoire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 smtClean="0"/>
              <a:t>Une Saturation d’oxygène à 93%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 smtClean="0"/>
              <a:t>Des pauses respiratoires </a:t>
            </a:r>
          </a:p>
          <a:p>
            <a:pPr marL="914400" lvl="1" indent="-514350">
              <a:buNone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714362"/>
            <a:ext cx="8229600" cy="407196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b="1" dirty="0" smtClean="0"/>
              <a:t>Question n°10: 	</a:t>
            </a:r>
          </a:p>
          <a:p>
            <a:pPr>
              <a:buNone/>
            </a:pPr>
            <a:r>
              <a:rPr lang="fr-FR" sz="2800" dirty="0" smtClean="0"/>
              <a:t>	Le </a:t>
            </a:r>
            <a:r>
              <a:rPr lang="fr-FR" sz="2800" dirty="0" smtClean="0"/>
              <a:t>tableau clinique d’une bronchiolite aigue légère comporte :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 smtClean="0"/>
              <a:t>Une Fréquence respiratoire à 60c/mn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 smtClean="0"/>
              <a:t>Des signes de luttes respiratoires modérés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 smtClean="0"/>
              <a:t>Un refus alimentaire avec détresse respiratoire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b="1" dirty="0" smtClean="0"/>
              <a:t>Une Saturation d’oxygène à 93%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 smtClean="0"/>
              <a:t>Des pauses respiratoires </a:t>
            </a:r>
          </a:p>
          <a:p>
            <a:pPr marL="914400" lvl="1" indent="-514350">
              <a:buNone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500048"/>
            <a:ext cx="8229600" cy="4094575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fr-FR" b="1" dirty="0" smtClean="0"/>
              <a:t>Question n°11:</a:t>
            </a:r>
          </a:p>
          <a:p>
            <a:pPr>
              <a:buNone/>
            </a:pPr>
            <a:r>
              <a:rPr lang="fr-FR" dirty="0" smtClean="0"/>
              <a:t>	Les </a:t>
            </a:r>
            <a:r>
              <a:rPr lang="fr-FR" dirty="0" smtClean="0"/>
              <a:t>indications d’une hospitalisation d’une bronchiolite aigue du nourrisson sont :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La saturation d’O2 à 92% à l’AA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La présence d’atélectasie à la radiographie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L’âge à 5 semaines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La fréquence respiratoire à 58C/mn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La présence d’un déficit immunitaire</a:t>
            </a:r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500048"/>
            <a:ext cx="8229600" cy="4094575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fr-FR" b="1" dirty="0" smtClean="0"/>
              <a:t>Question n°11:</a:t>
            </a:r>
          </a:p>
          <a:p>
            <a:pPr>
              <a:buNone/>
            </a:pPr>
            <a:r>
              <a:rPr lang="fr-FR" dirty="0" smtClean="0"/>
              <a:t>	Les </a:t>
            </a:r>
            <a:r>
              <a:rPr lang="fr-FR" dirty="0" smtClean="0"/>
              <a:t>indications d’une hospitalisation d’une bronchiolite aigue du nourrisson sont :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b="1" dirty="0" smtClean="0"/>
              <a:t>La saturation d’O2 à 92% à l’AA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b="1" dirty="0" smtClean="0"/>
              <a:t>La présence d’atélectasie à la radiographie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b="1" dirty="0" smtClean="0"/>
              <a:t>L’âge à 5 semaines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La fréquence respiratoire à 58C/mn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b="1" dirty="0" smtClean="0"/>
              <a:t>La présence d’un déficit immunitaire</a:t>
            </a:r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05982"/>
            <a:ext cx="8229600" cy="651259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FF0000"/>
                </a:solidFill>
              </a:rPr>
              <a:t>Indications d’hospitalisation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071552"/>
            <a:ext cx="8229600" cy="4071948"/>
          </a:xfrm>
        </p:spPr>
        <p:txBody>
          <a:bodyPr>
            <a:normAutofit fontScale="70000" lnSpcReduction="20000"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fr-FR" b="1" dirty="0"/>
              <a:t>Troubles digestifs </a:t>
            </a:r>
            <a:r>
              <a:rPr lang="fr-FR" dirty="0" smtClean="0"/>
              <a:t>(</a:t>
            </a:r>
            <a:r>
              <a:rPr lang="fr-FR" dirty="0"/>
              <a:t>difficulté de prendre la tétée ou le biberon, ne termine pas la moitié de son biberon, vomissements après chaque tétée, fausse route) ou </a:t>
            </a:r>
            <a:r>
              <a:rPr lang="fr-FR" b="1" dirty="0" smtClean="0"/>
              <a:t>déshydratation</a:t>
            </a:r>
          </a:p>
          <a:p>
            <a:pPr marL="514350" lvl="0" indent="-514350">
              <a:buFont typeface="+mj-lt"/>
              <a:buAutoNum type="arabicPeriod"/>
            </a:pPr>
            <a:endParaRPr lang="fr-FR" b="1" dirty="0" smtClean="0"/>
          </a:p>
          <a:p>
            <a:pPr marL="514350" lvl="0" indent="-514350">
              <a:buFont typeface="+mj-lt"/>
              <a:buAutoNum type="arabicPeriod"/>
            </a:pPr>
            <a:r>
              <a:rPr lang="fr-FR" b="1" dirty="0" smtClean="0"/>
              <a:t>FR &gt; </a:t>
            </a:r>
            <a:r>
              <a:rPr lang="fr-FR" b="1" dirty="0"/>
              <a:t>60 cycles/min en dehors de la période néonatale</a:t>
            </a:r>
            <a:r>
              <a:rPr lang="fr-FR" b="1" dirty="0" smtClean="0"/>
              <a:t>. </a:t>
            </a:r>
            <a:r>
              <a:rPr lang="fr-FR" dirty="0" smtClean="0"/>
              <a:t>(&gt;70Cycles/mn pour les nouveaux nés).</a:t>
            </a:r>
          </a:p>
          <a:p>
            <a:pPr marL="514350" indent="-514350">
              <a:buFont typeface="+mj-lt"/>
              <a:buAutoNum type="arabicPeriod"/>
            </a:pPr>
            <a:r>
              <a:rPr lang="fr-FR" b="1" dirty="0" smtClean="0"/>
              <a:t>Apnée, signes de luttes marqués</a:t>
            </a:r>
            <a:endParaRPr lang="fr-FR" dirty="0" smtClean="0"/>
          </a:p>
          <a:p>
            <a:pPr marL="514350" lvl="0" indent="-514350">
              <a:buFont typeface="+mj-lt"/>
              <a:buAutoNum type="arabicPeriod"/>
            </a:pPr>
            <a:r>
              <a:rPr lang="fr-FR" b="1" dirty="0" smtClean="0"/>
              <a:t>AEG</a:t>
            </a:r>
            <a:endParaRPr lang="fr-FR" b="1" dirty="0" smtClean="0"/>
          </a:p>
          <a:p>
            <a:pPr marL="514350" lvl="0" indent="-514350">
              <a:buFont typeface="+mj-lt"/>
              <a:buAutoNum type="arabicPeriod"/>
            </a:pPr>
            <a:r>
              <a:rPr lang="fr-FR" b="1" dirty="0" smtClean="0"/>
              <a:t>Saturation </a:t>
            </a:r>
            <a:r>
              <a:rPr lang="fr-FR" b="1" dirty="0"/>
              <a:t>en oxygène </a:t>
            </a:r>
            <a:r>
              <a:rPr lang="fr-FR" b="1" dirty="0" smtClean="0"/>
              <a:t>≤92</a:t>
            </a:r>
            <a:r>
              <a:rPr lang="fr-FR" b="1" dirty="0"/>
              <a:t>%</a:t>
            </a:r>
            <a:r>
              <a:rPr lang="fr-FR" dirty="0"/>
              <a:t> </a:t>
            </a:r>
            <a:r>
              <a:rPr lang="fr-FR" dirty="0" smtClean="0"/>
              <a:t>à l’air ambiant</a:t>
            </a:r>
            <a:endParaRPr lang="fr-FR" dirty="0" smtClean="0"/>
          </a:p>
          <a:p>
            <a:pPr marL="514350" lvl="0" indent="-514350">
              <a:buFont typeface="+mj-lt"/>
              <a:buAutoNum type="arabicPeriod"/>
            </a:pPr>
            <a:r>
              <a:rPr lang="fr-FR" b="1" dirty="0" smtClean="0"/>
              <a:t>Signes cliniques d’hypoxémie ou d’hypercapnie</a:t>
            </a:r>
            <a:endParaRPr lang="fr-FR" b="1" dirty="0"/>
          </a:p>
          <a:p>
            <a:pPr marL="514350" lvl="0" indent="-514350">
              <a:buFont typeface="+mj-lt"/>
              <a:buAutoNum type="arabicPeriod"/>
            </a:pPr>
            <a:r>
              <a:rPr lang="ar-SA" b="1" dirty="0"/>
              <a:t>Terrain particulier : </a:t>
            </a:r>
            <a:r>
              <a:rPr lang="ar-SA" dirty="0"/>
              <a:t>Cardiopathie </a:t>
            </a:r>
            <a:r>
              <a:rPr lang="ar-SA" dirty="0" smtClean="0"/>
              <a:t>sous-jacente</a:t>
            </a:r>
            <a:r>
              <a:rPr lang="fr-FR" dirty="0"/>
              <a:t>dysplasie broncho-pulmonaire, mucoviscidose, déficit immunitaire</a:t>
            </a:r>
            <a:r>
              <a:rPr lang="fr-FR" dirty="0" smtClean="0"/>
              <a:t>…</a:t>
            </a:r>
          </a:p>
          <a:p>
            <a:pPr marL="514350" lvl="0" indent="-514350">
              <a:buFont typeface="+mj-lt"/>
              <a:buAutoNum type="arabicPeriod"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FF0000"/>
                </a:solidFill>
              </a:rPr>
              <a:t>Indications d’hospitalisation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200152"/>
            <a:ext cx="8229600" cy="3657615"/>
          </a:xfrm>
        </p:spPr>
        <p:txBody>
          <a:bodyPr>
            <a:normAutofit fontScale="77500" lnSpcReduction="20000"/>
          </a:bodyPr>
          <a:lstStyle/>
          <a:p>
            <a:pPr marL="514350" lvl="0" indent="-514350">
              <a:buNone/>
            </a:pPr>
            <a:r>
              <a:rPr lang="fr-FR" b="1" dirty="0" smtClean="0"/>
              <a:t>8</a:t>
            </a:r>
            <a:r>
              <a:rPr lang="fr-FR" b="1" dirty="0" smtClean="0"/>
              <a:t>. </a:t>
            </a:r>
            <a:r>
              <a:rPr lang="fr-FR" b="1" dirty="0" smtClean="0"/>
              <a:t>Nourrisson &lt;6 semaines  (risque </a:t>
            </a:r>
            <a:r>
              <a:rPr lang="fr-FR" b="1" dirty="0" smtClean="0"/>
              <a:t>d’apnée)</a:t>
            </a:r>
          </a:p>
          <a:p>
            <a:pPr marL="514350" lvl="0" indent="-514350">
              <a:buNone/>
            </a:pPr>
            <a:endParaRPr lang="fr-FR" dirty="0" smtClean="0"/>
          </a:p>
          <a:p>
            <a:pPr marL="514350" lvl="0" indent="-514350">
              <a:buNone/>
            </a:pPr>
            <a:r>
              <a:rPr lang="fr-FR" b="1" dirty="0" smtClean="0"/>
              <a:t>9</a:t>
            </a:r>
            <a:r>
              <a:rPr lang="fr-FR" b="1" dirty="0" smtClean="0"/>
              <a:t>. </a:t>
            </a:r>
            <a:r>
              <a:rPr lang="ar-SA" b="1" dirty="0" smtClean="0"/>
              <a:t>Ancien Prématuré &lt;34 SA </a:t>
            </a:r>
            <a:r>
              <a:rPr lang="ar-SA" dirty="0" smtClean="0"/>
              <a:t>avec un </a:t>
            </a:r>
            <a:r>
              <a:rPr lang="ar-SA" b="1" dirty="0" smtClean="0"/>
              <a:t>âge </a:t>
            </a:r>
            <a:r>
              <a:rPr lang="ar-SA" b="1" dirty="0" smtClean="0"/>
              <a:t>corrigé&lt;3 mois</a:t>
            </a:r>
            <a:endParaRPr lang="fr-FR" b="1" dirty="0" smtClean="0"/>
          </a:p>
          <a:p>
            <a:pPr marL="514350" lvl="0" indent="-514350">
              <a:buNone/>
            </a:pPr>
            <a:endParaRPr lang="fr-FR" dirty="0" smtClean="0"/>
          </a:p>
          <a:p>
            <a:pPr marL="514350" lvl="0" indent="-514350">
              <a:buNone/>
            </a:pPr>
            <a:r>
              <a:rPr lang="fr-FR" dirty="0" smtClean="0"/>
              <a:t>10. Atélectasie ou opacité sur la radiographie ou échographie pulmonaire</a:t>
            </a:r>
          </a:p>
          <a:p>
            <a:pPr marL="514350" lvl="0" indent="-514350">
              <a:buNone/>
            </a:pPr>
            <a:endParaRPr lang="fr-FR" dirty="0" smtClean="0"/>
          </a:p>
          <a:p>
            <a:pPr marL="514350" indent="-514350">
              <a:buNone/>
            </a:pPr>
            <a:r>
              <a:rPr lang="fr-FR" dirty="0" smtClean="0"/>
              <a:t>10</a:t>
            </a:r>
            <a:r>
              <a:rPr lang="fr-FR" dirty="0" smtClean="0"/>
              <a:t>. </a:t>
            </a:r>
            <a:r>
              <a:rPr lang="fr-FR" dirty="0" smtClean="0"/>
              <a:t>Mauvaises conditions socio-économiques, incapacité de la famille en terme de prise en charge, de surveillance, de compréhension et d’accès aux soins.</a:t>
            </a:r>
          </a:p>
          <a:p>
            <a:pPr marL="514350" indent="-514350">
              <a:buNone/>
            </a:pPr>
            <a:endParaRPr lang="fr-FR" dirty="0" smtClean="0"/>
          </a:p>
          <a:p>
            <a:pPr marL="514350" lvl="0" indent="-514350">
              <a:buNone/>
            </a:pPr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714362"/>
            <a:ext cx="8229600" cy="4071966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fr-FR" b="1" dirty="0" smtClean="0"/>
              <a:t>Question </a:t>
            </a:r>
            <a:r>
              <a:rPr lang="fr-FR" b="1" dirty="0" smtClean="0"/>
              <a:t>n°12: </a:t>
            </a:r>
            <a:r>
              <a:rPr lang="fr-FR" b="1" dirty="0" smtClean="0"/>
              <a:t>	</a:t>
            </a:r>
          </a:p>
          <a:p>
            <a:pPr>
              <a:buNone/>
            </a:pPr>
            <a:r>
              <a:rPr lang="fr-FR" sz="2800" dirty="0" smtClean="0"/>
              <a:t> Les diagnostics différentiels d’une bronchiolite sont :</a:t>
            </a:r>
          </a:p>
          <a:p>
            <a:pPr>
              <a:buNone/>
            </a:pPr>
            <a:endParaRPr lang="fr-FR" sz="2800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La mucoviscidose</a:t>
            </a:r>
            <a:endParaRPr lang="fr-FR" sz="2400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La coqueluche</a:t>
            </a:r>
            <a:endParaRPr lang="fr-FR" sz="2400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L’asthme</a:t>
            </a:r>
            <a:endParaRPr lang="fr-FR" sz="2400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La </a:t>
            </a:r>
            <a:r>
              <a:rPr lang="fr-FR" dirty="0" smtClean="0"/>
              <a:t>myocardite aigue virale</a:t>
            </a:r>
            <a:endParaRPr lang="fr-FR" sz="2400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Le corps étranger intra-bronchique</a:t>
            </a:r>
            <a:endParaRPr lang="fr-FR" sz="2400" dirty="0" smtClean="0"/>
          </a:p>
          <a:p>
            <a:pPr marL="914400" lvl="1" indent="-514350">
              <a:buFont typeface="+mj-lt"/>
              <a:buAutoNum type="alphaUcPeriod"/>
            </a:pPr>
            <a:endParaRPr lang="fr-FR" sz="2400" dirty="0" smtClean="0"/>
          </a:p>
          <a:p>
            <a:pPr marL="914400" lvl="1" indent="-514350">
              <a:buFont typeface="+mj-lt"/>
              <a:buAutoNum type="alphaUcPeriod"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714362"/>
            <a:ext cx="8229600" cy="4071966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fr-FR" b="1" dirty="0" smtClean="0"/>
              <a:t>Question </a:t>
            </a:r>
            <a:r>
              <a:rPr lang="fr-FR" b="1" dirty="0" smtClean="0"/>
              <a:t>n°12: </a:t>
            </a:r>
            <a:r>
              <a:rPr lang="fr-FR" b="1" dirty="0" smtClean="0"/>
              <a:t>	</a:t>
            </a:r>
          </a:p>
          <a:p>
            <a:pPr>
              <a:buNone/>
            </a:pPr>
            <a:r>
              <a:rPr lang="fr-FR" sz="2800" dirty="0" smtClean="0"/>
              <a:t> Les diagnostics différentiels d’une bronchiolite sont :</a:t>
            </a:r>
          </a:p>
          <a:p>
            <a:pPr>
              <a:buNone/>
            </a:pPr>
            <a:endParaRPr lang="fr-FR" sz="2800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La mucoviscidose</a:t>
            </a:r>
            <a:endParaRPr lang="fr-FR" sz="2400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b="1" dirty="0" smtClean="0"/>
              <a:t>La coqueluche</a:t>
            </a:r>
            <a:endParaRPr lang="fr-FR" sz="2400" b="1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L’asthme</a:t>
            </a:r>
            <a:endParaRPr lang="fr-FR" sz="2400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b="1" dirty="0" smtClean="0"/>
              <a:t>La </a:t>
            </a:r>
            <a:r>
              <a:rPr lang="fr-FR" b="1" dirty="0" smtClean="0"/>
              <a:t>myocardite aigue virale</a:t>
            </a:r>
            <a:endParaRPr lang="fr-FR" sz="2400" b="1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b="1" dirty="0" smtClean="0"/>
              <a:t>Le corps étranger intra-bronchique</a:t>
            </a:r>
            <a:endParaRPr lang="fr-FR" sz="2400" b="1" dirty="0" smtClean="0"/>
          </a:p>
          <a:p>
            <a:pPr marL="914400" lvl="1" indent="-514350">
              <a:buFont typeface="+mj-lt"/>
              <a:buAutoNum type="alphaUcPeriod"/>
            </a:pPr>
            <a:endParaRPr lang="fr-FR" sz="2400" dirty="0" smtClean="0"/>
          </a:p>
          <a:p>
            <a:pPr marL="914400" lvl="1" indent="-514350">
              <a:buFont typeface="+mj-lt"/>
              <a:buAutoNum type="alphaUcPeriod"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Diagnostics différentiels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729053"/>
          </a:xfrm>
        </p:spPr>
        <p:txBody>
          <a:bodyPr>
            <a:normAutofit fontScale="850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fr-FR" b="1" dirty="0" smtClean="0"/>
              <a:t>La coqueluche </a:t>
            </a:r>
            <a:r>
              <a:rPr lang="fr-FR" dirty="0" smtClean="0"/>
              <a:t>: </a:t>
            </a:r>
          </a:p>
          <a:p>
            <a:pPr marL="514350" indent="-514350">
              <a:buNone/>
            </a:pPr>
            <a:r>
              <a:rPr lang="fr-FR" dirty="0" smtClean="0"/>
              <a:t>	-Toux quinteuse avec cyanose ou faciès </a:t>
            </a:r>
            <a:r>
              <a:rPr lang="fr-FR" dirty="0" err="1" smtClean="0"/>
              <a:t>érythrosique</a:t>
            </a:r>
            <a:r>
              <a:rPr lang="fr-FR" dirty="0" smtClean="0"/>
              <a:t>,</a:t>
            </a:r>
          </a:p>
          <a:p>
            <a:pPr marL="514350" indent="-514350">
              <a:buNone/>
            </a:pPr>
            <a:r>
              <a:rPr lang="fr-FR" dirty="0" smtClean="0"/>
              <a:t>	- Auscultation pulmonaire </a:t>
            </a:r>
            <a:r>
              <a:rPr lang="fr-FR" dirty="0" smtClean="0"/>
              <a:t>: </a:t>
            </a:r>
            <a:r>
              <a:rPr lang="fr-FR" b="1" dirty="0" smtClean="0"/>
              <a:t>normale </a:t>
            </a:r>
            <a:r>
              <a:rPr lang="fr-FR" dirty="0" smtClean="0"/>
              <a:t>entre les accès de toux. </a:t>
            </a:r>
          </a:p>
          <a:p>
            <a:pPr marL="514350" indent="-514350">
              <a:buNone/>
            </a:pPr>
            <a:r>
              <a:rPr lang="fr-FR" dirty="0" smtClean="0"/>
              <a:t>	- </a:t>
            </a:r>
            <a:r>
              <a:rPr lang="fr-FR" dirty="0" smtClean="0"/>
              <a:t>NFS</a:t>
            </a:r>
            <a:r>
              <a:rPr lang="fr-FR" dirty="0" smtClean="0"/>
              <a:t>= </a:t>
            </a:r>
            <a:r>
              <a:rPr lang="fr-FR" dirty="0" err="1" smtClean="0"/>
              <a:t>hyperlymphocytose</a:t>
            </a:r>
            <a:r>
              <a:rPr lang="fr-FR" dirty="0" smtClean="0"/>
              <a:t> et/ou </a:t>
            </a:r>
            <a:r>
              <a:rPr lang="fr-FR" dirty="0" err="1" smtClean="0"/>
              <a:t>hyperplaquettose</a:t>
            </a:r>
            <a:endParaRPr lang="fr-FR" dirty="0" smtClean="0"/>
          </a:p>
          <a:p>
            <a:pPr marL="514350" indent="-514350">
              <a:buNone/>
            </a:pPr>
            <a:r>
              <a:rPr lang="fr-FR" dirty="0" smtClean="0"/>
              <a:t>	</a:t>
            </a:r>
            <a:r>
              <a:rPr lang="fr-FR" dirty="0" smtClean="0"/>
              <a:t>- </a:t>
            </a:r>
            <a:r>
              <a:rPr lang="fr-FR" dirty="0" smtClean="0"/>
              <a:t>La </a:t>
            </a:r>
            <a:r>
              <a:rPr lang="fr-FR" dirty="0" smtClean="0"/>
              <a:t>PCR confirme le </a:t>
            </a:r>
            <a:r>
              <a:rPr lang="fr-FR" dirty="0" smtClean="0"/>
              <a:t>diagnostic</a:t>
            </a:r>
            <a:endParaRPr lang="fr-FR" dirty="0" smtClean="0"/>
          </a:p>
          <a:p>
            <a:pPr marL="514350" indent="-514350">
              <a:buNone/>
            </a:pPr>
            <a:r>
              <a:rPr lang="fr-FR" dirty="0" smtClean="0"/>
              <a:t>	-  </a:t>
            </a:r>
            <a:r>
              <a:rPr lang="fr-FR" i="1" dirty="0" smtClean="0"/>
              <a:t>N.B: </a:t>
            </a:r>
            <a:r>
              <a:rPr lang="fr-FR" i="1" dirty="0" smtClean="0"/>
              <a:t>coqueluche </a:t>
            </a:r>
            <a:r>
              <a:rPr lang="fr-FR" i="1" dirty="0" smtClean="0"/>
              <a:t>et bronchiolite aiguë peuvent survenir de façon </a:t>
            </a:r>
            <a:r>
              <a:rPr lang="fr-FR" i="1" dirty="0" smtClean="0"/>
              <a:t>concomitante</a:t>
            </a:r>
            <a:endParaRPr lang="fr-FR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Diagnostics différentiels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729053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fr-FR" b="1" dirty="0" smtClean="0"/>
              <a:t>Cardiopathies congénitales avec shunt gauche-droit </a:t>
            </a:r>
            <a:r>
              <a:rPr lang="fr-FR" dirty="0" smtClean="0"/>
              <a:t>: </a:t>
            </a:r>
          </a:p>
          <a:p>
            <a:pPr lvl="1"/>
            <a:r>
              <a:rPr lang="fr-FR" dirty="0" smtClean="0"/>
              <a:t>Communication </a:t>
            </a:r>
            <a:r>
              <a:rPr lang="fr-FR" dirty="0" err="1" smtClean="0"/>
              <a:t>interventriculaire</a:t>
            </a:r>
            <a:r>
              <a:rPr lang="fr-FR" dirty="0" smtClean="0"/>
              <a:t> (CIV), </a:t>
            </a:r>
          </a:p>
          <a:p>
            <a:pPr lvl="1"/>
            <a:r>
              <a:rPr lang="fr-FR" dirty="0" smtClean="0"/>
              <a:t>Canal </a:t>
            </a:r>
            <a:r>
              <a:rPr lang="fr-FR" dirty="0" err="1" smtClean="0"/>
              <a:t>atrioventriculaire</a:t>
            </a:r>
            <a:r>
              <a:rPr lang="fr-FR" dirty="0" smtClean="0"/>
              <a:t> (CAV), </a:t>
            </a:r>
          </a:p>
          <a:p>
            <a:pPr lvl="1"/>
            <a:r>
              <a:rPr lang="fr-FR" dirty="0" smtClean="0"/>
              <a:t>Persistance du canal artériel (PCA), </a:t>
            </a:r>
          </a:p>
          <a:p>
            <a:pPr marL="514350" indent="-514350">
              <a:buAutoNum type="arabicPeriod" startAt="3"/>
            </a:pPr>
            <a:r>
              <a:rPr lang="fr-FR" b="1" dirty="0" smtClean="0"/>
              <a:t>Les myocardites infectieuses, </a:t>
            </a:r>
          </a:p>
          <a:p>
            <a:pPr marL="514350" indent="-514350">
              <a:buAutoNum type="arabicPeriod" startAt="3"/>
            </a:pPr>
            <a:r>
              <a:rPr lang="fr-FR" b="1" dirty="0" smtClean="0"/>
              <a:t>les troubles du rythme cardiaque </a:t>
            </a:r>
            <a:r>
              <a:rPr lang="fr-FR" dirty="0" smtClean="0"/>
              <a:t>(notamment les tachycardies </a:t>
            </a:r>
            <a:r>
              <a:rPr lang="fr-FR" dirty="0" err="1" smtClean="0"/>
              <a:t>supraventriculaires</a:t>
            </a:r>
            <a:r>
              <a:rPr lang="fr-FR" dirty="0" smtClean="0"/>
              <a:t>).  </a:t>
            </a:r>
            <a:endParaRPr lang="fr-FR" dirty="0" smtClean="0"/>
          </a:p>
          <a:p>
            <a:pPr marL="514350" indent="-514350">
              <a:buAutoNum type="arabicPeriod" startAt="3"/>
            </a:pPr>
            <a:r>
              <a:rPr lang="fr-FR" b="1" dirty="0" smtClean="0"/>
              <a:t>Le Corps étranger intra-bronchique</a:t>
            </a:r>
            <a:r>
              <a:rPr lang="fr-FR" dirty="0" smtClean="0"/>
              <a:t>: </a:t>
            </a:r>
            <a:r>
              <a:rPr lang="fr-FR" dirty="0" smtClean="0"/>
              <a:t>évoqué à partir de l’âge de la préhension. Il faut l’évoquer devant l’apparition </a:t>
            </a:r>
            <a:r>
              <a:rPr lang="fr-FR" dirty="0" smtClean="0"/>
              <a:t>brutale de la dyspnée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714362"/>
            <a:ext cx="8229600" cy="4071966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fr-FR" b="1" dirty="0" smtClean="0"/>
              <a:t>Question n°13: 	</a:t>
            </a:r>
          </a:p>
          <a:p>
            <a:pPr>
              <a:buNone/>
            </a:pPr>
            <a:r>
              <a:rPr lang="fr-FR" sz="2800" dirty="0" smtClean="0"/>
              <a:t>	 La prise en charge d’une bronchiolite aigue légère repose sur :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Le couchage proclive à 30°</a:t>
            </a:r>
            <a:endParaRPr lang="fr-FR" sz="2400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Une oxygénothérapie si satO2&lt;92%</a:t>
            </a:r>
            <a:endParaRPr lang="fr-FR" sz="2400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La désobstruction rhino-pharyngée</a:t>
            </a:r>
            <a:endParaRPr lang="fr-FR" sz="2400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Une corticothérapie orale</a:t>
            </a:r>
            <a:endParaRPr lang="fr-FR" sz="2400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Un antipyrétique si température à 38°C </a:t>
            </a:r>
            <a:endParaRPr lang="fr-FR" sz="2400" dirty="0" smtClean="0"/>
          </a:p>
          <a:p>
            <a:pPr marL="914400" lvl="1" indent="-514350">
              <a:buFont typeface="+mj-lt"/>
              <a:buAutoNum type="alphaUcPeriod"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714362"/>
            <a:ext cx="8229600" cy="4071966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fr-FR" b="1" dirty="0" smtClean="0"/>
              <a:t>Question n°13: 	</a:t>
            </a:r>
          </a:p>
          <a:p>
            <a:pPr>
              <a:buNone/>
            </a:pPr>
            <a:r>
              <a:rPr lang="fr-FR" sz="2800" dirty="0" smtClean="0"/>
              <a:t>	 La prise en charge d’une bronchiolite aigue légère repose sur :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b="1" dirty="0" smtClean="0"/>
              <a:t>Le couchage proclive à 30°</a:t>
            </a:r>
            <a:endParaRPr lang="fr-FR" sz="2400" b="1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b="1" dirty="0" smtClean="0"/>
              <a:t>Une oxygénothérapie si satO2&lt;92%</a:t>
            </a:r>
            <a:endParaRPr lang="fr-FR" sz="2400" b="1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b="1" dirty="0" smtClean="0"/>
              <a:t>La désobstruction rhino-pharyngée</a:t>
            </a:r>
            <a:endParaRPr lang="fr-FR" sz="2400" b="1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Une corticothérapie orale</a:t>
            </a:r>
            <a:endParaRPr lang="fr-FR" sz="2400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Un antipyrétique si température à 38°C </a:t>
            </a:r>
            <a:endParaRPr lang="fr-FR" sz="2400" dirty="0" smtClean="0"/>
          </a:p>
          <a:p>
            <a:pPr marL="914400" lvl="1" indent="-514350">
              <a:buFont typeface="+mj-lt"/>
              <a:buAutoNum type="alphaUcPeriod"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14348" y="1214428"/>
            <a:ext cx="7772400" cy="1021556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Prise en charge de la bronchiolite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 b="1" dirty="0" smtClean="0"/>
              <a:t>Traitements symptomatiques</a:t>
            </a:r>
            <a:endParaRPr lang="fr-FR" sz="4000" b="1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spcBef>
                <a:spcPct val="50000"/>
              </a:spcBef>
              <a:buNone/>
              <a:defRPr/>
            </a:pPr>
            <a:r>
              <a:rPr lang="fr-FR" sz="4000" b="1" dirty="0" smtClean="0">
                <a:solidFill>
                  <a:srgbClr val="C00000"/>
                </a:solidFill>
              </a:rPr>
              <a:t>DRP: est essentielle</a:t>
            </a:r>
          </a:p>
          <a:p>
            <a:pPr>
              <a:spcBef>
                <a:spcPct val="50000"/>
              </a:spcBef>
              <a:buNone/>
              <a:defRPr/>
            </a:pPr>
            <a:r>
              <a:rPr lang="fr-FR" sz="4000" b="1" dirty="0" smtClean="0">
                <a:solidFill>
                  <a:srgbClr val="C00000"/>
                </a:solidFill>
              </a:rPr>
              <a:t>Hydratation</a:t>
            </a:r>
            <a:r>
              <a:rPr lang="fr-FR" sz="4000" b="1" dirty="0" smtClean="0">
                <a:solidFill>
                  <a:srgbClr val="C00000"/>
                </a:solidFill>
              </a:rPr>
              <a:t>:</a:t>
            </a:r>
          </a:p>
          <a:p>
            <a:pPr>
              <a:spcBef>
                <a:spcPct val="50000"/>
              </a:spcBef>
              <a:buNone/>
              <a:defRPr/>
            </a:pPr>
            <a:r>
              <a:rPr lang="fr-FR" sz="4000" dirty="0" smtClean="0">
                <a:sym typeface="Wingdings" pitchFamily="2" charset="2"/>
              </a:rPr>
              <a:t>Bronchiolite aiguë = </a:t>
            </a:r>
            <a:r>
              <a:rPr lang="fr-FR" sz="4000" b="1" dirty="0" smtClean="0">
                <a:sym typeface="Wingdings" pitchFamily="2" charset="2"/>
              </a:rPr>
              <a:t>hydratation correcte.</a:t>
            </a:r>
          </a:p>
          <a:p>
            <a:pPr>
              <a:defRPr/>
            </a:pPr>
            <a:r>
              <a:rPr lang="fr-FR" sz="4000" dirty="0" smtClean="0"/>
              <a:t>Apport hydrique:  </a:t>
            </a:r>
            <a:r>
              <a:rPr lang="fr-FR" sz="4000" dirty="0"/>
              <a:t>9</a:t>
            </a:r>
            <a:r>
              <a:rPr lang="fr-FR" sz="4000" dirty="0" smtClean="0"/>
              <a:t>0 – 120 ml/kg/j	</a:t>
            </a:r>
          </a:p>
          <a:p>
            <a:endParaRPr lang="fr-FR" dirty="0" smtClean="0"/>
          </a:p>
          <a:p>
            <a:endParaRPr lang="fr-F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 l="25140" t="56045" r="24580" b="15932"/>
          <a:stretch>
            <a:fillRect/>
          </a:stretch>
        </p:blipFill>
        <p:spPr bwMode="auto">
          <a:xfrm>
            <a:off x="-1" y="1"/>
            <a:ext cx="1523987" cy="114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5"/>
          <p:cNvSpPr>
            <a:spLocks noChangeArrowheads="1"/>
          </p:cNvSpPr>
          <p:nvPr/>
        </p:nvSpPr>
        <p:spPr bwMode="auto">
          <a:xfrm>
            <a:off x="285720" y="214296"/>
            <a:ext cx="8572560" cy="49292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FF66FF"/>
              </a:buClr>
              <a:buSzPct val="80000"/>
              <a:buFont typeface="Wingdings" pitchFamily="2" charset="2"/>
              <a:buChar char="Ø"/>
            </a:pPr>
            <a:endParaRPr lang="fr-FR" sz="2800" b="1" dirty="0">
              <a:latin typeface="Times New Roman" pitchFamily="18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FF66FF"/>
              </a:buClr>
              <a:buSzPct val="80000"/>
            </a:pPr>
            <a:r>
              <a:rPr lang="fr-FR" sz="3600" dirty="0" smtClean="0">
                <a:solidFill>
                  <a:srgbClr val="C00000"/>
                </a:solidFill>
              </a:rPr>
              <a:t>Autres mesures</a:t>
            </a:r>
            <a:r>
              <a:rPr lang="fr-FR" sz="3600" dirty="0"/>
              <a:t>		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FF99"/>
              </a:buClr>
              <a:buSzPct val="80000"/>
              <a:buFont typeface="Wingdings" pitchFamily="2" charset="2"/>
              <a:buBlip>
                <a:blip r:embed="rId2"/>
              </a:buBlip>
            </a:pPr>
            <a:r>
              <a:rPr lang="fr-FR" sz="2800" dirty="0" smtClean="0"/>
              <a:t>Antipyrétiques si Température &gt;38,5°C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FF99"/>
              </a:buClr>
              <a:buSzPct val="80000"/>
              <a:buFont typeface="Wingdings" pitchFamily="2" charset="2"/>
              <a:buBlip>
                <a:blip r:embed="rId2"/>
              </a:buBlip>
            </a:pPr>
            <a:r>
              <a:rPr lang="fr-FR" sz="2800" dirty="0" smtClean="0"/>
              <a:t>Encourager AM, fractionnement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FF99"/>
              </a:buClr>
              <a:buSzPct val="80000"/>
              <a:buFont typeface="Wingdings" pitchFamily="2" charset="2"/>
              <a:buBlip>
                <a:blip r:embed="rId2"/>
              </a:buBlip>
            </a:pPr>
            <a:r>
              <a:rPr lang="fr-FR" sz="2800" dirty="0" smtClean="0"/>
              <a:t>Couchage : proclive dorsal à 30°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FF99"/>
              </a:buClr>
              <a:buSzPct val="80000"/>
              <a:buFont typeface="Wingdings" pitchFamily="2" charset="2"/>
              <a:buBlip>
                <a:blip r:embed="rId2"/>
              </a:buBlip>
            </a:pPr>
            <a:r>
              <a:rPr lang="fr-FR" sz="2800" u="sng" dirty="0" smtClean="0"/>
              <a:t>Environnement :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FF99"/>
              </a:buClr>
              <a:buSzPct val="80000"/>
              <a:buFont typeface="Wingdings" pitchFamily="2" charset="2"/>
              <a:buChar char="§"/>
            </a:pPr>
            <a:r>
              <a:rPr lang="fr-FR" sz="2800" dirty="0" smtClean="0"/>
              <a:t>Aération correcte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FF99"/>
              </a:buClr>
              <a:buSzPct val="80000"/>
              <a:buFont typeface="Wingdings" pitchFamily="2" charset="2"/>
              <a:buChar char="§"/>
            </a:pPr>
            <a:r>
              <a:rPr lang="fr-FR" sz="2800" dirty="0" smtClean="0"/>
              <a:t>Température </a:t>
            </a:r>
            <a:r>
              <a:rPr lang="fr-FR" sz="2800" dirty="0" smtClean="0">
                <a:sym typeface="Symbol" pitchFamily="18" charset="2"/>
              </a:rPr>
              <a:t>19°_20°</a:t>
            </a:r>
            <a:endParaRPr lang="fr-FR" sz="2800" dirty="0" smtClean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FF99"/>
              </a:buClr>
              <a:buSzPct val="80000"/>
              <a:buFont typeface="Wingdings" pitchFamily="2" charset="2"/>
              <a:buChar char="§"/>
            </a:pPr>
            <a:r>
              <a:rPr lang="fr-FR" sz="2800" b="1" u="sng" dirty="0" smtClean="0">
                <a:solidFill>
                  <a:srgbClr val="FF0000"/>
                </a:solidFill>
              </a:rPr>
              <a:t>Proscrire Le Tabac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FF99"/>
              </a:buClr>
              <a:buSzPct val="80000"/>
              <a:buFont typeface="Wingdings" pitchFamily="2" charset="2"/>
              <a:buChar char="§"/>
            </a:pPr>
            <a:r>
              <a:rPr lang="fr-FR" sz="2800" b="1" u="sng" dirty="0" smtClean="0">
                <a:solidFill>
                  <a:srgbClr val="FF0000"/>
                </a:solidFill>
              </a:rPr>
              <a:t>Pas de Baisers en </a:t>
            </a:r>
            <a:r>
              <a:rPr lang="fr-FR" sz="2800" b="1" u="sng" dirty="0" err="1" smtClean="0">
                <a:solidFill>
                  <a:srgbClr val="FF0000"/>
                </a:solidFill>
              </a:rPr>
              <a:t>periode</a:t>
            </a:r>
            <a:r>
              <a:rPr lang="fr-FR" sz="2800" b="1" u="sng" dirty="0" smtClean="0">
                <a:solidFill>
                  <a:srgbClr val="FF0000"/>
                </a:solidFill>
              </a:rPr>
              <a:t> d’épidémie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FF66FF"/>
              </a:buClr>
              <a:buSzPct val="80000"/>
              <a:buFont typeface="Wingdings" pitchFamily="2" charset="2"/>
              <a:buNone/>
            </a:pPr>
            <a:r>
              <a:rPr lang="fr-FR" sz="3200" b="1" dirty="0" smtClean="0">
                <a:latin typeface="Times New Roman" pitchFamily="18" charset="0"/>
              </a:rPr>
              <a:t>	</a:t>
            </a:r>
            <a:endParaRPr lang="fr-FR" sz="3200" dirty="0">
              <a:latin typeface="Times New Roman" pitchFamily="18" charset="0"/>
            </a:endParaRP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81776" y="2678908"/>
            <a:ext cx="2562225" cy="10787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/>
          <a:srcRect l="25140" t="56045" r="24580" b="15932"/>
          <a:stretch>
            <a:fillRect/>
          </a:stretch>
        </p:blipFill>
        <p:spPr bwMode="auto">
          <a:xfrm>
            <a:off x="7620019" y="1"/>
            <a:ext cx="1523987" cy="114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/>
              <a:t>Oxygénothérapie 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1071552"/>
            <a:ext cx="8229600" cy="3394472"/>
          </a:xfrm>
        </p:spPr>
        <p:txBody>
          <a:bodyPr>
            <a:noAutofit/>
          </a:bodyPr>
          <a:lstStyle/>
          <a:p>
            <a:pPr>
              <a:spcBef>
                <a:spcPct val="50000"/>
              </a:spcBef>
              <a:defRPr/>
            </a:pPr>
            <a:r>
              <a:rPr lang="fr-FR" sz="2800" dirty="0"/>
              <a:t>O2 réchauffé et </a:t>
            </a:r>
            <a:r>
              <a:rPr lang="fr-FR" sz="2800" dirty="0" smtClean="0"/>
              <a:t>humidifié +++</a:t>
            </a:r>
            <a:endParaRPr lang="fr-FR" sz="2800" dirty="0"/>
          </a:p>
          <a:p>
            <a:r>
              <a:rPr lang="fr-FR" sz="2800" dirty="0" smtClean="0"/>
              <a:t>Indications: si </a:t>
            </a:r>
            <a:r>
              <a:rPr lang="fr-FR" sz="2800" dirty="0"/>
              <a:t>la </a:t>
            </a:r>
            <a:r>
              <a:rPr lang="fr-FR" sz="2800" dirty="0" smtClean="0"/>
              <a:t>saturation </a:t>
            </a:r>
            <a:r>
              <a:rPr lang="fr-FR" sz="2800" b="1" dirty="0" smtClean="0"/>
              <a:t>est </a:t>
            </a:r>
            <a:r>
              <a:rPr lang="fr-FR" sz="2800" b="1" dirty="0" smtClean="0"/>
              <a:t>≤92</a:t>
            </a:r>
            <a:r>
              <a:rPr lang="fr-FR" sz="2800" b="1" dirty="0" smtClean="0"/>
              <a:t>%</a:t>
            </a:r>
          </a:p>
          <a:p>
            <a:pPr>
              <a:lnSpc>
                <a:spcPct val="85000"/>
              </a:lnSpc>
              <a:spcBef>
                <a:spcPct val="50000"/>
              </a:spcBef>
              <a:buClr>
                <a:srgbClr val="00FF99"/>
              </a:buClr>
              <a:buFont typeface="Wingdings" pitchFamily="2" charset="2"/>
              <a:buBlip>
                <a:blip r:embed="rId2"/>
              </a:buBlip>
              <a:defRPr/>
            </a:pPr>
            <a:r>
              <a:rPr lang="fr-FR" sz="2800" dirty="0" smtClean="0"/>
              <a:t>Moyens </a:t>
            </a:r>
            <a:r>
              <a:rPr lang="fr-FR" sz="2800" dirty="0"/>
              <a:t>:</a:t>
            </a:r>
          </a:p>
          <a:p>
            <a:pPr lvl="1">
              <a:lnSpc>
                <a:spcPct val="85000"/>
              </a:lnSpc>
              <a:spcBef>
                <a:spcPct val="50000"/>
              </a:spcBef>
              <a:buClr>
                <a:srgbClr val="00FF99"/>
              </a:buClr>
              <a:defRPr/>
            </a:pPr>
            <a:r>
              <a:rPr lang="fr-FR" dirty="0"/>
              <a:t>Lunettes +++</a:t>
            </a:r>
          </a:p>
          <a:p>
            <a:pPr lvl="1">
              <a:lnSpc>
                <a:spcPct val="85000"/>
              </a:lnSpc>
              <a:spcBef>
                <a:spcPct val="50000"/>
              </a:spcBef>
              <a:buClr>
                <a:srgbClr val="00FF99"/>
              </a:buClr>
              <a:defRPr/>
            </a:pPr>
            <a:r>
              <a:rPr lang="fr-FR" dirty="0" smtClean="0"/>
              <a:t>Masque facial</a:t>
            </a:r>
          </a:p>
          <a:p>
            <a:pPr lvl="1">
              <a:lnSpc>
                <a:spcPct val="85000"/>
              </a:lnSpc>
              <a:spcBef>
                <a:spcPct val="50000"/>
              </a:spcBef>
              <a:buClr>
                <a:srgbClr val="00FF99"/>
              </a:buClr>
              <a:defRPr/>
            </a:pPr>
            <a:r>
              <a:rPr lang="fr-FR" dirty="0" smtClean="0"/>
              <a:t>LNHD</a:t>
            </a:r>
            <a:endParaRPr lang="fr-FR" dirty="0" smtClean="0"/>
          </a:p>
          <a:p>
            <a:pPr>
              <a:spcBef>
                <a:spcPct val="50000"/>
              </a:spcBef>
              <a:buClr>
                <a:srgbClr val="00FF99"/>
              </a:buClr>
              <a:buFont typeface="Wingdings" pitchFamily="2" charset="2"/>
              <a:buBlip>
                <a:blip r:embed="rId2"/>
              </a:buBlip>
              <a:defRPr/>
            </a:pPr>
            <a:r>
              <a:rPr lang="fr-FR" sz="2800" dirty="0" smtClean="0">
                <a:sym typeface="Symbol" pitchFamily="18" charset="2"/>
              </a:rPr>
              <a:t>But </a:t>
            </a:r>
            <a:r>
              <a:rPr lang="fr-FR" sz="2800" dirty="0">
                <a:sym typeface="Symbol" pitchFamily="18" charset="2"/>
              </a:rPr>
              <a:t>: SatO2 &gt; </a:t>
            </a:r>
            <a:r>
              <a:rPr lang="fr-FR" sz="2800" dirty="0" smtClean="0">
                <a:sym typeface="Symbol" pitchFamily="18" charset="2"/>
              </a:rPr>
              <a:t>94%</a:t>
            </a:r>
            <a:endParaRPr lang="fr-FR" sz="2800" dirty="0">
              <a:sym typeface="Symbol" pitchFamily="18" charset="2"/>
            </a:endParaRPr>
          </a:p>
          <a:p>
            <a:endParaRPr lang="fr-FR" dirty="0"/>
          </a:p>
        </p:txBody>
      </p:sp>
      <p:pic>
        <p:nvPicPr>
          <p:cNvPr id="108546" name="Picture 2" descr="Résultat de recherche d'images pour &quot;image bronchiolite&quot;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68839" y="2857503"/>
            <a:ext cx="3775162" cy="228599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26732" t="19724" r="26732" b="18227"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 smtClean="0"/>
              <a:t>Oxygénothérapie à haut débit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1" dirty="0" smtClean="0"/>
              <a:t>Avantages: </a:t>
            </a:r>
          </a:p>
          <a:p>
            <a:pPr>
              <a:buNone/>
            </a:pPr>
            <a:r>
              <a:rPr lang="fr-FR" dirty="0" smtClean="0"/>
              <a:t>- confort </a:t>
            </a:r>
          </a:p>
          <a:p>
            <a:pPr>
              <a:buNone/>
            </a:pPr>
            <a:r>
              <a:rPr lang="fr-FR" dirty="0" smtClean="0"/>
              <a:t>- Fi02 précise </a:t>
            </a:r>
          </a:p>
          <a:p>
            <a:pPr>
              <a:buNone/>
            </a:pPr>
            <a:r>
              <a:rPr lang="fr-FR" dirty="0" smtClean="0"/>
              <a:t>- effet PEEP (mais non mesurable au quotidien!) </a:t>
            </a:r>
          </a:p>
          <a:p>
            <a:pPr>
              <a:buFontTx/>
              <a:buChar char="-"/>
            </a:pPr>
            <a:r>
              <a:rPr lang="fr-FR" dirty="0" smtClean="0"/>
              <a:t>Facilite les manœuvres de désencombrement</a:t>
            </a:r>
          </a:p>
          <a:p>
            <a:pPr>
              <a:buNone/>
            </a:pPr>
            <a:endParaRPr lang="fr-FR" dirty="0" smtClean="0"/>
          </a:p>
          <a:p>
            <a:r>
              <a:rPr lang="fr-FR" dirty="0" smtClean="0"/>
              <a:t>Surveillance clinique ++ (FR, </a:t>
            </a:r>
            <a:r>
              <a:rPr lang="fr-FR" dirty="0" err="1" smtClean="0"/>
              <a:t>Fc</a:t>
            </a:r>
            <a:r>
              <a:rPr lang="fr-FR" dirty="0" smtClean="0"/>
              <a:t>, SaO2, travail respiratoire, tolérance)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714362"/>
            <a:ext cx="8229600" cy="407196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b="1" dirty="0" smtClean="0"/>
              <a:t>Question n°14: 	</a:t>
            </a:r>
          </a:p>
          <a:p>
            <a:pPr>
              <a:buNone/>
            </a:pPr>
            <a:r>
              <a:rPr lang="fr-FR" sz="2800" dirty="0" smtClean="0"/>
              <a:t>La prise en charge d’une bronchiolite aigue peut nécessiter :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 smtClean="0"/>
              <a:t>Une oxygénothérapie avec des lunettes à haut débit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 smtClean="0"/>
              <a:t>Une antibiothérapie si otite moyenne associée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 smtClean="0"/>
              <a:t>Une Kinésithérapie respiratoire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 smtClean="0"/>
              <a:t>Des corticoïdes par voie IV systématiques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 smtClean="0"/>
              <a:t>Un fractionnement des tétés </a:t>
            </a:r>
          </a:p>
          <a:p>
            <a:pPr marL="914400" lvl="1" indent="-514350">
              <a:buFont typeface="+mj-lt"/>
              <a:buAutoNum type="alphaUcPeriod"/>
            </a:pPr>
            <a:endParaRPr lang="fr-FR" sz="2400" dirty="0" smtClean="0"/>
          </a:p>
          <a:p>
            <a:pPr marL="914400" lvl="1" indent="-514350">
              <a:buFont typeface="+mj-lt"/>
              <a:buAutoNum type="alphaUcPeriod"/>
            </a:pPr>
            <a:endParaRPr lang="fr-FR" dirty="0" smtClean="0"/>
          </a:p>
          <a:p>
            <a:pPr marL="914400" lvl="1" indent="-514350">
              <a:buFont typeface="+mj-lt"/>
              <a:buAutoNum type="alphaUcPeriod"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714362"/>
            <a:ext cx="8229600" cy="407196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b="1" dirty="0" smtClean="0"/>
              <a:t>Question n°14: 	</a:t>
            </a:r>
          </a:p>
          <a:p>
            <a:pPr>
              <a:buNone/>
            </a:pPr>
            <a:r>
              <a:rPr lang="fr-FR" sz="2800" dirty="0" smtClean="0"/>
              <a:t>La prise en charge d’une bronchiolite aigue peut nécessiter :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b="1" dirty="0" smtClean="0"/>
              <a:t>Une oxygénothérapie avec des lunettes à haut débit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b="1" dirty="0" smtClean="0"/>
              <a:t>Une antibiothérapie si otite moyenne associée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b="1" dirty="0" smtClean="0"/>
              <a:t>Une Kinésithérapie respiratoire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 smtClean="0"/>
              <a:t>Des corticoïdes par voie IV systématiques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b="1" dirty="0" smtClean="0"/>
              <a:t>Un fractionnement des tétés </a:t>
            </a:r>
          </a:p>
          <a:p>
            <a:pPr marL="914400" lvl="1" indent="-514350">
              <a:buFont typeface="+mj-lt"/>
              <a:buAutoNum type="alphaUcPeriod"/>
            </a:pPr>
            <a:endParaRPr lang="fr-FR" sz="2400" dirty="0" smtClean="0"/>
          </a:p>
          <a:p>
            <a:pPr marL="914400" lvl="1" indent="-514350">
              <a:buFont typeface="+mj-lt"/>
              <a:buAutoNum type="alphaUcPeriod"/>
            </a:pPr>
            <a:endParaRPr lang="fr-FR" dirty="0" smtClean="0"/>
          </a:p>
          <a:p>
            <a:pPr marL="914400" lvl="1" indent="-514350">
              <a:buFont typeface="+mj-lt"/>
              <a:buAutoNum type="alphaUcPeriod"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/>
              <a:t>Antibiothérapie et bronchiolite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657615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fr-FR" b="1" dirty="0" smtClean="0">
                <a:solidFill>
                  <a:srgbClr val="FF0000"/>
                </a:solidFill>
              </a:rPr>
              <a:t>Sauf si surinfection bactérienne documentée </a:t>
            </a:r>
            <a:r>
              <a:rPr lang="fr-FR" b="1" dirty="0" smtClean="0">
                <a:solidFill>
                  <a:srgbClr val="FF0000"/>
                </a:solidFill>
              </a:rPr>
              <a:t>ou fortement suspectée</a:t>
            </a:r>
            <a:endParaRPr lang="fr-FR" b="1" dirty="0" smtClean="0">
              <a:solidFill>
                <a:srgbClr val="FF0000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lang="fr-FR" dirty="0" smtClean="0"/>
              <a:t> fièvre ≥ 38,5°C persistante, surtout si mal tolérée, d'apparition secondaire et associée a un foyer radiologique</a:t>
            </a:r>
          </a:p>
          <a:p>
            <a:pPr lvl="1">
              <a:buFont typeface="Wingdings" pitchFamily="2" charset="2"/>
              <a:buChar char="Ø"/>
            </a:pPr>
            <a:r>
              <a:rPr lang="fr-FR" dirty="0" smtClean="0"/>
              <a:t>Otite moyenne aigue purulente associée.</a:t>
            </a:r>
          </a:p>
          <a:p>
            <a:pPr>
              <a:buNone/>
            </a:pPr>
            <a:endParaRPr lang="fr-FR" dirty="0" smtClean="0"/>
          </a:p>
          <a:p>
            <a:pPr>
              <a:buNone/>
            </a:pPr>
            <a:r>
              <a:rPr lang="fr-FR" b="1" dirty="0" smtClean="0"/>
              <a:t>Les bactéries de surinfection </a:t>
            </a:r>
            <a:r>
              <a:rPr lang="fr-FR" dirty="0" smtClean="0"/>
              <a:t>les plus fréquemment en cause : </a:t>
            </a:r>
            <a:r>
              <a:rPr lang="fr-FR" i="1" dirty="0" err="1" smtClean="0"/>
              <a:t>Haemophilus</a:t>
            </a:r>
            <a:r>
              <a:rPr lang="fr-FR" i="1" dirty="0" smtClean="0"/>
              <a:t> </a:t>
            </a:r>
            <a:r>
              <a:rPr lang="fr-FR" i="1" dirty="0" err="1" smtClean="0"/>
              <a:t>influenzae</a:t>
            </a:r>
            <a:r>
              <a:rPr lang="fr-FR" i="1" dirty="0" smtClean="0"/>
              <a:t> non b, </a:t>
            </a:r>
            <a:r>
              <a:rPr lang="fr-FR" i="1" dirty="0" err="1" smtClean="0"/>
              <a:t>Streptococcus</a:t>
            </a:r>
            <a:r>
              <a:rPr lang="fr-FR" i="1" dirty="0" smtClean="0"/>
              <a:t> </a:t>
            </a:r>
            <a:r>
              <a:rPr lang="fr-FR" i="1" dirty="0" err="1" smtClean="0"/>
              <a:t>pneumoniae</a:t>
            </a:r>
            <a:r>
              <a:rPr lang="fr-FR" i="1" dirty="0" smtClean="0"/>
              <a:t> et plus rarement </a:t>
            </a:r>
            <a:r>
              <a:rPr lang="fr-FR" i="1" dirty="0" err="1" smtClean="0"/>
              <a:t>Moraxella</a:t>
            </a:r>
            <a:r>
              <a:rPr lang="fr-FR" i="1" dirty="0" smtClean="0"/>
              <a:t> </a:t>
            </a:r>
            <a:r>
              <a:rPr lang="fr-FR" i="1" dirty="0" err="1" smtClean="0"/>
              <a:t>catarrhalis</a:t>
            </a:r>
            <a:r>
              <a:rPr lang="fr-FR" i="1" dirty="0" smtClean="0"/>
              <a:t>.</a:t>
            </a:r>
          </a:p>
          <a:p>
            <a:pPr>
              <a:buNone/>
            </a:pPr>
            <a:endParaRPr lang="fr-FR" dirty="0" smtClean="0"/>
          </a:p>
          <a:p>
            <a:pPr>
              <a:buNone/>
            </a:pPr>
            <a:r>
              <a:rPr lang="fr-FR" b="1" dirty="0" smtClean="0"/>
              <a:t>Les antibiotiques </a:t>
            </a:r>
            <a:r>
              <a:rPr lang="fr-FR" dirty="0" smtClean="0"/>
              <a:t>de recours en fonction de l’</a:t>
            </a:r>
            <a:r>
              <a:rPr lang="fr-FR" dirty="0" err="1" smtClean="0"/>
              <a:t>age</a:t>
            </a:r>
            <a:r>
              <a:rPr lang="fr-FR" dirty="0" smtClean="0"/>
              <a:t> sont l’</a:t>
            </a:r>
            <a:r>
              <a:rPr lang="fr-FR" dirty="0" err="1" smtClean="0"/>
              <a:t>amoxicilline</a:t>
            </a:r>
            <a:r>
              <a:rPr lang="fr-FR" dirty="0" smtClean="0"/>
              <a:t> ou </a:t>
            </a:r>
            <a:r>
              <a:rPr lang="fr-FR" dirty="0" err="1" smtClean="0"/>
              <a:t>amoxicilline</a:t>
            </a:r>
            <a:r>
              <a:rPr lang="fr-FR" dirty="0" smtClean="0"/>
              <a:t> + acide </a:t>
            </a:r>
            <a:r>
              <a:rPr lang="fr-FR" dirty="0" err="1" smtClean="0"/>
              <a:t>clavulanique</a:t>
            </a:r>
            <a:r>
              <a:rPr lang="fr-FR" dirty="0" smtClean="0"/>
              <a:t>.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714362"/>
            <a:ext cx="8472518" cy="407196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b="1" dirty="0" smtClean="0"/>
              <a:t>Question n°15: 	</a:t>
            </a:r>
          </a:p>
          <a:p>
            <a:pPr>
              <a:buNone/>
            </a:pPr>
            <a:r>
              <a:rPr lang="fr-FR" sz="2400" dirty="0" smtClean="0"/>
              <a:t>Les mesures symptomatiques dans la prise en charge de la bronchiolite  sont :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 smtClean="0"/>
              <a:t>La désobstruction rhino-pharyngée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 smtClean="0"/>
              <a:t>L’information des parents des signes d’aggravation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 smtClean="0"/>
              <a:t>La kinésithérapie respiratoire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 smtClean="0"/>
              <a:t>L’aération de la chambre avec température ambiante à 20°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 smtClean="0"/>
              <a:t>L’interdiction du tabagisme passif</a:t>
            </a:r>
          </a:p>
          <a:p>
            <a:pPr marL="857250" lvl="1" indent="-457200">
              <a:buNone/>
            </a:pPr>
            <a:endParaRPr lang="fr-FR" sz="2400" dirty="0" smtClean="0"/>
          </a:p>
          <a:p>
            <a:pPr marL="914400" lvl="1" indent="-514350">
              <a:buFont typeface="+mj-lt"/>
              <a:buAutoNum type="alphaUcPeriod"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714362"/>
            <a:ext cx="8472518" cy="407196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b="1" dirty="0" smtClean="0"/>
              <a:t>Question n°15: 	</a:t>
            </a:r>
          </a:p>
          <a:p>
            <a:pPr>
              <a:buNone/>
            </a:pPr>
            <a:r>
              <a:rPr lang="fr-FR" sz="2400" dirty="0" smtClean="0"/>
              <a:t>Les mesures symptomatiques dans la prise en charge de la bronchiolite  sont :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b="1" dirty="0" smtClean="0"/>
              <a:t>La désobstruction rhino-pharyngée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 smtClean="0"/>
              <a:t>L’information des parents des signes d’aggravation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 smtClean="0"/>
              <a:t>La kinésithérapie respiratoire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b="1" dirty="0" smtClean="0"/>
              <a:t>L’aération de la chambre avec température ambiante à 20°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b="1" dirty="0" smtClean="0"/>
              <a:t>L’interdiction du tabagisme passif</a:t>
            </a:r>
          </a:p>
          <a:p>
            <a:pPr marL="857250" lvl="1" indent="-457200">
              <a:buNone/>
            </a:pPr>
            <a:endParaRPr lang="fr-FR" sz="2400" dirty="0" smtClean="0"/>
          </a:p>
          <a:p>
            <a:pPr marL="914400" lvl="1" indent="-514350">
              <a:buFont typeface="+mj-lt"/>
              <a:buAutoNum type="alphaUcPeriod"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714362"/>
            <a:ext cx="8472518" cy="407196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b="1" dirty="0" smtClean="0"/>
              <a:t>Question n°16: 	</a:t>
            </a:r>
          </a:p>
          <a:p>
            <a:pPr>
              <a:buNone/>
            </a:pPr>
            <a:r>
              <a:rPr lang="fr-FR" sz="2400" dirty="0" smtClean="0"/>
              <a:t>Dans la bronchiolite aigue, les parents doivent </a:t>
            </a:r>
            <a:r>
              <a:rPr lang="fr-FR" sz="2400" dirty="0" err="1" smtClean="0"/>
              <a:t>reconsulter</a:t>
            </a:r>
            <a:r>
              <a:rPr lang="fr-FR" sz="2400" dirty="0" smtClean="0"/>
              <a:t> si leur bébé présente :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 smtClean="0"/>
              <a:t>Une obstruction nasale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 smtClean="0"/>
              <a:t>Une diarrhée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 smtClean="0"/>
              <a:t>Une température à 38°C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 smtClean="0"/>
              <a:t>Un léger tirage sous costal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 smtClean="0"/>
              <a:t>Une difficulté de prise de tétées</a:t>
            </a:r>
          </a:p>
          <a:p>
            <a:pPr marL="914400" lvl="1" indent="-514350">
              <a:buFont typeface="+mj-lt"/>
              <a:buAutoNum type="alphaUcPeriod"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714362"/>
            <a:ext cx="8472518" cy="407196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b="1" dirty="0" smtClean="0"/>
              <a:t>Question n°16: 	</a:t>
            </a:r>
          </a:p>
          <a:p>
            <a:pPr>
              <a:buNone/>
            </a:pPr>
            <a:r>
              <a:rPr lang="fr-FR" sz="2400" dirty="0" smtClean="0"/>
              <a:t>Dans la bronchiolite aigue, les parents doivent </a:t>
            </a:r>
            <a:r>
              <a:rPr lang="fr-FR" sz="2400" dirty="0" err="1" smtClean="0"/>
              <a:t>reconsulter</a:t>
            </a:r>
            <a:r>
              <a:rPr lang="fr-FR" sz="2400" dirty="0" smtClean="0"/>
              <a:t> si leur bébé présente :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 smtClean="0"/>
              <a:t>Une obstruction nasale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b="1" dirty="0" smtClean="0"/>
              <a:t>Une diarrhée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 smtClean="0"/>
              <a:t>Une température à 38°C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dirty="0" smtClean="0"/>
              <a:t>Un léger tirage sous costal</a:t>
            </a:r>
          </a:p>
          <a:p>
            <a:pPr marL="457200" lvl="0" indent="-457200">
              <a:buFont typeface="+mj-lt"/>
              <a:buAutoNum type="alphaUcPeriod"/>
            </a:pPr>
            <a:r>
              <a:rPr lang="fr-FR" sz="2400" b="1" dirty="0" smtClean="0"/>
              <a:t>Une difficulté de prise de tétées</a:t>
            </a:r>
          </a:p>
          <a:p>
            <a:pPr marL="914400" lvl="1" indent="-514350">
              <a:buFont typeface="+mj-lt"/>
              <a:buAutoNum type="alphaUcPeriod"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/>
              <a:t>Informations aux parents 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200152"/>
            <a:ext cx="8929718" cy="3657614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fr-FR" dirty="0" smtClean="0"/>
              <a:t>	</a:t>
            </a:r>
            <a:r>
              <a:rPr lang="fr-FR" sz="4000" dirty="0" smtClean="0"/>
              <a:t>Le médecin dispense aux parents une information précise et s’assure de la bonne compréhension des signes d’aggravation tels que :</a:t>
            </a:r>
          </a:p>
          <a:p>
            <a:pPr>
              <a:buNone/>
            </a:pPr>
            <a:endParaRPr lang="fr-FR" sz="4000" dirty="0" smtClean="0"/>
          </a:p>
          <a:p>
            <a:pPr marL="1200150" lvl="1" indent="-742950">
              <a:buFont typeface="+mj-lt"/>
              <a:buAutoNum type="arabicPeriod"/>
            </a:pPr>
            <a:r>
              <a:rPr lang="fr-FR" sz="4000" b="1" dirty="0" smtClean="0"/>
              <a:t>Refus d’alimentation </a:t>
            </a:r>
            <a:r>
              <a:rPr lang="fr-FR" sz="4000" b="1" dirty="0" smtClean="0"/>
              <a:t>ou Difficulté de prendre </a:t>
            </a:r>
            <a:r>
              <a:rPr lang="fr-FR" sz="4000" b="1" dirty="0" smtClean="0"/>
              <a:t>les tétées</a:t>
            </a:r>
            <a:endParaRPr lang="fr-FR" sz="4000" b="1" dirty="0" smtClean="0"/>
          </a:p>
          <a:p>
            <a:pPr marL="1200150" lvl="1" indent="-742950">
              <a:buFont typeface="+mj-lt"/>
              <a:buAutoNum type="arabicPeriod"/>
            </a:pPr>
            <a:r>
              <a:rPr lang="fr-FR" sz="4000" b="1" dirty="0" smtClean="0"/>
              <a:t>Troubles </a:t>
            </a:r>
            <a:r>
              <a:rPr lang="fr-FR" sz="4000" b="1" dirty="0" smtClean="0"/>
              <a:t>digestifs</a:t>
            </a:r>
          </a:p>
          <a:p>
            <a:pPr marL="1200150" lvl="1" indent="-742950">
              <a:buFont typeface="+mj-lt"/>
              <a:buAutoNum type="arabicPeriod"/>
            </a:pPr>
            <a:r>
              <a:rPr lang="fr-FR" sz="4000" b="1" dirty="0" smtClean="0"/>
              <a:t> </a:t>
            </a:r>
            <a:r>
              <a:rPr lang="fr-FR" sz="4000" b="1" dirty="0" smtClean="0"/>
              <a:t>C</a:t>
            </a:r>
            <a:r>
              <a:rPr lang="fr-FR" sz="4000" b="1" dirty="0" smtClean="0"/>
              <a:t>hangement </a:t>
            </a:r>
            <a:r>
              <a:rPr lang="fr-FR" sz="4000" b="1" dirty="0" smtClean="0"/>
              <a:t>de </a:t>
            </a:r>
            <a:r>
              <a:rPr lang="fr-FR" sz="4000" b="1" dirty="0" smtClean="0"/>
              <a:t>comportement</a:t>
            </a:r>
          </a:p>
          <a:p>
            <a:pPr marL="1200150" lvl="1" indent="-742950">
              <a:buFont typeface="+mj-lt"/>
              <a:buAutoNum type="arabicPeriod"/>
            </a:pPr>
            <a:r>
              <a:rPr lang="fr-FR" sz="4000" b="1" dirty="0" smtClean="0"/>
              <a:t>Cyanose et pauses respiratoires</a:t>
            </a:r>
            <a:endParaRPr lang="fr-FR" sz="4000" b="1" dirty="0" smtClean="0"/>
          </a:p>
          <a:p>
            <a:pPr marL="1200150" lvl="1" indent="-742950">
              <a:buFont typeface="+mj-lt"/>
              <a:buAutoNum type="arabicPeriod"/>
            </a:pPr>
            <a:r>
              <a:rPr lang="fr-FR" sz="4000" b="1" dirty="0" smtClean="0"/>
              <a:t> </a:t>
            </a:r>
            <a:r>
              <a:rPr lang="fr-FR" sz="4000" b="1" dirty="0" smtClean="0"/>
              <a:t>Détérioration de l’état </a:t>
            </a:r>
            <a:r>
              <a:rPr lang="fr-FR" sz="4000" b="1" dirty="0" smtClean="0"/>
              <a:t>respiratoire: aggravation des signes de lutte</a:t>
            </a:r>
            <a:endParaRPr lang="fr-FR" sz="4000" b="1" dirty="0" smtClean="0"/>
          </a:p>
          <a:p>
            <a:pPr marL="1200150" lvl="1" indent="-742950">
              <a:buFont typeface="+mj-lt"/>
              <a:buAutoNum type="arabicPeriod"/>
            </a:pPr>
            <a:r>
              <a:rPr lang="fr-FR" sz="4000" b="1" dirty="0" smtClean="0"/>
              <a:t> </a:t>
            </a:r>
            <a:r>
              <a:rPr lang="fr-FR" sz="4000" b="1" dirty="0" smtClean="0"/>
              <a:t>Élévation thermique (Température&gt;38,5°C)</a:t>
            </a:r>
          </a:p>
          <a:p>
            <a:endParaRPr lang="fr-F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 l="25140" t="56045" r="24580" b="15932"/>
          <a:stretch>
            <a:fillRect/>
          </a:stretch>
        </p:blipFill>
        <p:spPr bwMode="auto">
          <a:xfrm>
            <a:off x="-1" y="3"/>
            <a:ext cx="1214415" cy="910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714362"/>
            <a:ext cx="8229600" cy="407196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b="1" dirty="0" smtClean="0"/>
              <a:t>Question n°17: 	</a:t>
            </a:r>
          </a:p>
          <a:p>
            <a:pPr>
              <a:buNone/>
            </a:pPr>
            <a:r>
              <a:rPr lang="fr-FR" sz="2800" dirty="0" smtClean="0"/>
              <a:t>Les complications aigue d’une bronchiolite sont: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dirty="0" smtClean="0"/>
              <a:t>Une insuffisance respiratoire aigue</a:t>
            </a:r>
            <a:endParaRPr lang="fr-FR" sz="2000" dirty="0" smtClean="0"/>
          </a:p>
          <a:p>
            <a:pPr marL="1314450" lvl="2" indent="-514350">
              <a:buFont typeface="+mj-lt"/>
              <a:buAutoNum type="alphaUcPeriod"/>
            </a:pPr>
            <a:r>
              <a:rPr lang="fr-FR" dirty="0" smtClean="0"/>
              <a:t>Une </a:t>
            </a:r>
            <a:r>
              <a:rPr lang="fr-FR" dirty="0" err="1" smtClean="0"/>
              <a:t>déshydration</a:t>
            </a:r>
            <a:r>
              <a:rPr lang="fr-FR" dirty="0" smtClean="0"/>
              <a:t> aigue</a:t>
            </a:r>
            <a:endParaRPr lang="fr-FR" sz="2000" dirty="0" smtClean="0"/>
          </a:p>
          <a:p>
            <a:pPr marL="1314450" lvl="2" indent="-514350">
              <a:buFont typeface="+mj-lt"/>
              <a:buAutoNum type="alphaUcPeriod"/>
            </a:pPr>
            <a:r>
              <a:rPr lang="fr-FR" dirty="0" smtClean="0"/>
              <a:t>Un </a:t>
            </a:r>
            <a:r>
              <a:rPr lang="fr-FR" dirty="0" err="1" smtClean="0"/>
              <a:t>pneumomédiastin</a:t>
            </a:r>
            <a:endParaRPr lang="fr-FR" sz="2000" dirty="0" smtClean="0"/>
          </a:p>
          <a:p>
            <a:pPr marL="1314450" lvl="2" indent="-514350">
              <a:buFont typeface="+mj-lt"/>
              <a:buAutoNum type="alphaUcPeriod"/>
            </a:pPr>
            <a:r>
              <a:rPr lang="fr-FR" dirty="0" smtClean="0"/>
              <a:t>Un asthme </a:t>
            </a:r>
            <a:r>
              <a:rPr lang="fr-FR" dirty="0" err="1" smtClean="0"/>
              <a:t>viro</a:t>
            </a:r>
            <a:r>
              <a:rPr lang="fr-FR" dirty="0" smtClean="0"/>
              <a:t>-induit</a:t>
            </a:r>
            <a:endParaRPr lang="fr-FR" sz="2000" dirty="0" smtClean="0"/>
          </a:p>
          <a:p>
            <a:pPr marL="1314450" lvl="2" indent="-514350">
              <a:buFont typeface="+mj-lt"/>
              <a:buAutoNum type="alphaUcPeriod"/>
            </a:pPr>
            <a:r>
              <a:rPr lang="fr-FR" dirty="0" smtClean="0"/>
              <a:t>Une surinfection bactérienne</a:t>
            </a:r>
            <a:endParaRPr lang="fr-FR" sz="2000" dirty="0" smtClean="0"/>
          </a:p>
          <a:p>
            <a:pPr marL="914400" lvl="1" indent="-514350">
              <a:buFont typeface="+mj-lt"/>
              <a:buAutoNum type="alphaUcPeriod"/>
            </a:pPr>
            <a:endParaRPr lang="fr-FR" sz="2400" dirty="0" smtClean="0"/>
          </a:p>
          <a:p>
            <a:pPr marL="914400" lvl="1" indent="-514350">
              <a:buFont typeface="+mj-lt"/>
              <a:buAutoNum type="alphaUcPeriod"/>
            </a:pPr>
            <a:endParaRPr lang="fr-FR" sz="2400" dirty="0" smtClean="0"/>
          </a:p>
          <a:p>
            <a:pPr marL="914400" lvl="1" indent="-514350">
              <a:buFont typeface="+mj-lt"/>
              <a:buAutoNum type="alphaUcPeriod"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714362"/>
            <a:ext cx="8229600" cy="407196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b="1" dirty="0" smtClean="0"/>
              <a:t>Question n°17: 	</a:t>
            </a:r>
          </a:p>
          <a:p>
            <a:pPr>
              <a:buNone/>
            </a:pPr>
            <a:r>
              <a:rPr lang="fr-FR" sz="2800" dirty="0" smtClean="0"/>
              <a:t>Les complications </a:t>
            </a:r>
            <a:r>
              <a:rPr lang="fr-FR" sz="2800" dirty="0" smtClean="0"/>
              <a:t>chroniques</a:t>
            </a:r>
            <a:r>
              <a:rPr lang="fr-FR" sz="2800" dirty="0" smtClean="0"/>
              <a:t> </a:t>
            </a:r>
            <a:r>
              <a:rPr lang="fr-FR" sz="2800" dirty="0" smtClean="0"/>
              <a:t>d’une bronchiolite sont: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dirty="0" smtClean="0"/>
              <a:t>Une insuffisance respiratoire aigue</a:t>
            </a:r>
            <a:endParaRPr lang="fr-FR" sz="2000" dirty="0" smtClean="0"/>
          </a:p>
          <a:p>
            <a:pPr marL="1314450" lvl="2" indent="-514350">
              <a:buFont typeface="+mj-lt"/>
              <a:buAutoNum type="alphaUcPeriod"/>
            </a:pPr>
            <a:r>
              <a:rPr lang="fr-FR" dirty="0" smtClean="0"/>
              <a:t>Une </a:t>
            </a:r>
            <a:r>
              <a:rPr lang="fr-FR" dirty="0" err="1" smtClean="0"/>
              <a:t>déshydration</a:t>
            </a:r>
            <a:r>
              <a:rPr lang="fr-FR" dirty="0" smtClean="0"/>
              <a:t> aigue</a:t>
            </a:r>
            <a:endParaRPr lang="fr-FR" sz="2000" dirty="0" smtClean="0"/>
          </a:p>
          <a:p>
            <a:pPr marL="1314450" lvl="2" indent="-514350">
              <a:buFont typeface="+mj-lt"/>
              <a:buAutoNum type="alphaUcPeriod"/>
            </a:pPr>
            <a:r>
              <a:rPr lang="fr-FR" dirty="0" smtClean="0"/>
              <a:t>Un </a:t>
            </a:r>
            <a:r>
              <a:rPr lang="fr-FR" dirty="0" err="1" smtClean="0"/>
              <a:t>pneumomédiastin</a:t>
            </a:r>
            <a:endParaRPr lang="fr-FR" sz="2000" dirty="0" smtClean="0"/>
          </a:p>
          <a:p>
            <a:pPr marL="1314450" lvl="2" indent="-514350">
              <a:buFont typeface="+mj-lt"/>
              <a:buAutoNum type="alphaUcPeriod"/>
            </a:pPr>
            <a:r>
              <a:rPr lang="fr-FR" b="1" dirty="0" smtClean="0"/>
              <a:t>Un asthme </a:t>
            </a:r>
            <a:r>
              <a:rPr lang="fr-FR" b="1" dirty="0" err="1" smtClean="0"/>
              <a:t>viro</a:t>
            </a:r>
            <a:r>
              <a:rPr lang="fr-FR" b="1" dirty="0" smtClean="0"/>
              <a:t>-induit</a:t>
            </a:r>
            <a:endParaRPr lang="fr-FR" sz="2000" b="1" dirty="0" smtClean="0"/>
          </a:p>
          <a:p>
            <a:pPr marL="1314450" lvl="2" indent="-514350">
              <a:buFont typeface="+mj-lt"/>
              <a:buAutoNum type="alphaUcPeriod"/>
            </a:pPr>
            <a:r>
              <a:rPr lang="fr-FR" dirty="0" smtClean="0"/>
              <a:t>Une surinfection bactérienne</a:t>
            </a:r>
            <a:endParaRPr lang="fr-FR" sz="2000" dirty="0" smtClean="0"/>
          </a:p>
          <a:p>
            <a:pPr marL="914400" lvl="1" indent="-514350">
              <a:buFont typeface="+mj-lt"/>
              <a:buAutoNum type="alphaUcPeriod"/>
            </a:pPr>
            <a:endParaRPr lang="fr-FR" sz="2400" dirty="0" smtClean="0"/>
          </a:p>
          <a:p>
            <a:pPr marL="914400" lvl="1" indent="-514350">
              <a:buFont typeface="+mj-lt"/>
              <a:buAutoNum type="alphaUcPeriod"/>
            </a:pPr>
            <a:endParaRPr lang="fr-FR" sz="2400" dirty="0" smtClean="0"/>
          </a:p>
          <a:p>
            <a:pPr marL="914400" lvl="1" indent="-514350">
              <a:buFont typeface="+mj-lt"/>
              <a:buAutoNum type="alphaUcPeriod"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Complications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943350"/>
          </a:xfrm>
        </p:spPr>
        <p:txBody>
          <a:bodyPr>
            <a:normAutofit fontScale="62500" lnSpcReduction="20000"/>
          </a:bodyPr>
          <a:lstStyle/>
          <a:p>
            <a:pPr lvl="0">
              <a:buNone/>
            </a:pPr>
            <a:r>
              <a:rPr lang="fr-FR" b="1" u="sng" dirty="0" smtClean="0"/>
              <a:t>Les complications aigues: </a:t>
            </a:r>
          </a:p>
          <a:p>
            <a:pPr lvl="0"/>
            <a:r>
              <a:rPr lang="fr-FR" dirty="0" smtClean="0"/>
              <a:t>Les </a:t>
            </a:r>
            <a:r>
              <a:rPr lang="fr-FR" dirty="0"/>
              <a:t>apnées</a:t>
            </a:r>
          </a:p>
          <a:p>
            <a:pPr lvl="0"/>
            <a:r>
              <a:rPr lang="fr-FR" dirty="0" smtClean="0"/>
              <a:t>L’insuffisance </a:t>
            </a:r>
            <a:r>
              <a:rPr lang="fr-FR" dirty="0"/>
              <a:t>respiratoire </a:t>
            </a:r>
            <a:r>
              <a:rPr lang="fr-FR" dirty="0" smtClean="0"/>
              <a:t>aigue</a:t>
            </a:r>
            <a:endParaRPr lang="fr-FR" dirty="0"/>
          </a:p>
          <a:p>
            <a:pPr lvl="0"/>
            <a:r>
              <a:rPr lang="fr-FR" dirty="0"/>
              <a:t>Les surinfections bactériennes</a:t>
            </a:r>
          </a:p>
          <a:p>
            <a:pPr lvl="0"/>
            <a:r>
              <a:rPr lang="fr-FR" dirty="0" smtClean="0"/>
              <a:t>L’atélectasie</a:t>
            </a:r>
            <a:endParaRPr lang="fr-FR" dirty="0"/>
          </a:p>
          <a:p>
            <a:pPr lvl="0"/>
            <a:r>
              <a:rPr lang="fr-FR" dirty="0" smtClean="0"/>
              <a:t>Déshydratation</a:t>
            </a:r>
            <a:endParaRPr lang="fr-FR" dirty="0"/>
          </a:p>
          <a:p>
            <a:pPr lvl="0"/>
            <a:r>
              <a:rPr lang="fr-FR" dirty="0"/>
              <a:t>Pneumothorax, </a:t>
            </a:r>
            <a:r>
              <a:rPr lang="fr-FR" dirty="0" err="1" smtClean="0"/>
              <a:t>Pneumomédiastin</a:t>
            </a:r>
            <a:endParaRPr lang="fr-FR" dirty="0" smtClean="0"/>
          </a:p>
          <a:p>
            <a:pPr lvl="0"/>
            <a:r>
              <a:rPr lang="fr-FR" dirty="0" smtClean="0"/>
              <a:t>SIADH</a:t>
            </a:r>
            <a:endParaRPr lang="fr-FR" dirty="0" smtClean="0"/>
          </a:p>
          <a:p>
            <a:pPr lvl="0">
              <a:buNone/>
            </a:pPr>
            <a:endParaRPr lang="fr-FR" dirty="0"/>
          </a:p>
          <a:p>
            <a:pPr>
              <a:buNone/>
            </a:pPr>
            <a:r>
              <a:rPr lang="fr-FR" b="1" u="sng" dirty="0"/>
              <a:t>Les complications à long </a:t>
            </a:r>
            <a:r>
              <a:rPr lang="fr-FR" b="1" u="sng" dirty="0" smtClean="0"/>
              <a:t>terme:</a:t>
            </a:r>
            <a:endParaRPr lang="fr-FR" b="1" u="sng" dirty="0"/>
          </a:p>
          <a:p>
            <a:pPr lvl="0"/>
            <a:r>
              <a:rPr lang="fr-FR" dirty="0"/>
              <a:t>Asthme </a:t>
            </a:r>
            <a:r>
              <a:rPr lang="fr-FR" dirty="0" err="1"/>
              <a:t>viro</a:t>
            </a:r>
            <a:r>
              <a:rPr lang="fr-FR" dirty="0"/>
              <a:t>-induit :</a:t>
            </a:r>
          </a:p>
          <a:p>
            <a:pPr lvl="0"/>
            <a:r>
              <a:rPr lang="fr-FR" dirty="0" smtClean="0"/>
              <a:t>Bronchiolite </a:t>
            </a:r>
            <a:r>
              <a:rPr lang="fr-FR" dirty="0" err="1"/>
              <a:t>oblitérante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714362"/>
            <a:ext cx="8229600" cy="4071966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fr-FR" b="1" dirty="0" smtClean="0"/>
              <a:t>Question n°18: 	</a:t>
            </a:r>
          </a:p>
          <a:p>
            <a:pPr>
              <a:buNone/>
            </a:pPr>
            <a:r>
              <a:rPr lang="fr-FR" sz="2800" dirty="0" smtClean="0"/>
              <a:t>Les moyens de prévention de la bronchiolite aigue sont :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De prolonger  l’allaitement maternel</a:t>
            </a:r>
            <a:endParaRPr lang="fr-FR" sz="2400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De proscrire le tabagisme passif</a:t>
            </a:r>
            <a:endParaRPr lang="fr-FR" sz="2400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La mise en collectivité précoce</a:t>
            </a:r>
            <a:endParaRPr lang="fr-FR" sz="2400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Le port de masque pour les personnes contact</a:t>
            </a:r>
            <a:endParaRPr lang="fr-FR" sz="2400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La vaccination de la femme enceinte par </a:t>
            </a:r>
            <a:r>
              <a:rPr lang="fr-FR" dirty="0" err="1" smtClean="0"/>
              <a:t>VRSpreF</a:t>
            </a:r>
            <a:r>
              <a:rPr lang="fr-FR" dirty="0" smtClean="0"/>
              <a:t> </a:t>
            </a:r>
            <a:endParaRPr lang="fr-FR" sz="2400" dirty="0" smtClean="0"/>
          </a:p>
          <a:p>
            <a:pPr marL="914400" lvl="1" indent="-514350">
              <a:buFont typeface="+mj-lt"/>
              <a:buAutoNum type="alphaUcPeriod"/>
            </a:pPr>
            <a:endParaRPr lang="fr-FR" sz="2400" dirty="0" smtClean="0"/>
          </a:p>
          <a:p>
            <a:pPr marL="914400" lvl="1" indent="-514350">
              <a:buFont typeface="+mj-lt"/>
              <a:buAutoNum type="alphaUcPeriod"/>
            </a:pPr>
            <a:endParaRPr lang="fr-FR" sz="2400" dirty="0" smtClean="0"/>
          </a:p>
          <a:p>
            <a:pPr marL="914400" lvl="1" indent="-514350">
              <a:buNone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714362"/>
            <a:ext cx="8229600" cy="4071966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fr-FR" b="1" dirty="0" smtClean="0"/>
              <a:t>Question n°18: 	</a:t>
            </a:r>
          </a:p>
          <a:p>
            <a:pPr>
              <a:buNone/>
            </a:pPr>
            <a:r>
              <a:rPr lang="fr-FR" sz="2800" dirty="0" smtClean="0"/>
              <a:t>Les moyens de prévention de la bronchiolite aigue sont :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b="1" dirty="0" smtClean="0"/>
              <a:t>De prolonger  l’allaitement maternel</a:t>
            </a:r>
            <a:endParaRPr lang="fr-FR" sz="2400" b="1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b="1" dirty="0" smtClean="0"/>
              <a:t>De proscrire le tabagisme passif</a:t>
            </a:r>
            <a:endParaRPr lang="fr-FR" sz="2400" b="1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La mise en collectivité précoce</a:t>
            </a:r>
            <a:endParaRPr lang="fr-FR" sz="2400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b="1" dirty="0" smtClean="0"/>
              <a:t>Le port de masque pour les personnes contact</a:t>
            </a:r>
            <a:endParaRPr lang="fr-FR" sz="2400" b="1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b="1" dirty="0" smtClean="0"/>
              <a:t>La vaccination de la femme enceinte par </a:t>
            </a:r>
            <a:r>
              <a:rPr lang="fr-FR" b="1" dirty="0" err="1" smtClean="0"/>
              <a:t>VRSpreF</a:t>
            </a:r>
            <a:r>
              <a:rPr lang="fr-FR" b="1" dirty="0" smtClean="0"/>
              <a:t> </a:t>
            </a:r>
            <a:endParaRPr lang="fr-FR" sz="2400" b="1" dirty="0" smtClean="0"/>
          </a:p>
          <a:p>
            <a:pPr marL="914400" lvl="1" indent="-514350">
              <a:buFont typeface="+mj-lt"/>
              <a:buAutoNum type="alphaUcPeriod"/>
            </a:pPr>
            <a:endParaRPr lang="fr-FR" sz="2400" dirty="0" smtClean="0"/>
          </a:p>
          <a:p>
            <a:pPr marL="914400" lvl="1" indent="-514350">
              <a:buFont typeface="+mj-lt"/>
              <a:buAutoNum type="alphaUcPeriod"/>
            </a:pPr>
            <a:endParaRPr lang="fr-FR" sz="2400" dirty="0" smtClean="0"/>
          </a:p>
          <a:p>
            <a:pPr marL="914400" lvl="1" indent="-514350">
              <a:buNone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05982"/>
            <a:ext cx="8229600" cy="651259"/>
          </a:xfrm>
        </p:spPr>
        <p:txBody>
          <a:bodyPr>
            <a:normAutofit fontScale="90000"/>
          </a:bodyPr>
          <a:lstStyle/>
          <a:p>
            <a:r>
              <a:rPr lang="fr-FR" b="1" dirty="0" smtClean="0"/>
              <a:t>Prévention</a:t>
            </a:r>
            <a:r>
              <a:rPr lang="fr-FR" dirty="0" smtClean="0"/>
              <a:t>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142990"/>
            <a:ext cx="8401080" cy="4000510"/>
          </a:xfrm>
        </p:spPr>
        <p:txBody>
          <a:bodyPr>
            <a:normAutofit fontScale="32500" lnSpcReduction="20000"/>
          </a:bodyPr>
          <a:lstStyle/>
          <a:p>
            <a:pPr lvl="0"/>
            <a:r>
              <a:rPr lang="fr-FR" sz="7400" b="1" dirty="0"/>
              <a:t>Décontamination des mains </a:t>
            </a:r>
            <a:r>
              <a:rPr lang="fr-FR" sz="7400" dirty="0"/>
              <a:t>par les antiseptiques hydro-alcooliques et à défaut lavage des mains par l’eau et le savon. </a:t>
            </a:r>
          </a:p>
          <a:p>
            <a:pPr lvl="0"/>
            <a:r>
              <a:rPr lang="fr-FR" sz="7400" b="1" dirty="0"/>
              <a:t>la désinfection des objets et des surfaces </a:t>
            </a:r>
            <a:r>
              <a:rPr lang="fr-FR" sz="7400" dirty="0"/>
              <a:t>dans les collectivités, les structures ambulatoires et hospitalières. </a:t>
            </a:r>
          </a:p>
          <a:p>
            <a:pPr lvl="0"/>
            <a:r>
              <a:rPr lang="fr-FR" sz="7400" b="1" dirty="0"/>
              <a:t>Le port d’un masque </a:t>
            </a:r>
            <a:r>
              <a:rPr lang="fr-FR" sz="7400" dirty="0"/>
              <a:t>par les </a:t>
            </a:r>
            <a:r>
              <a:rPr lang="fr-FR" sz="7400" b="1" dirty="0"/>
              <a:t>parents malades et le personnel </a:t>
            </a:r>
            <a:r>
              <a:rPr lang="fr-FR" sz="7400" dirty="0"/>
              <a:t>soignant en période d’épidémie pour éviter la transmission du virus au </a:t>
            </a:r>
            <a:r>
              <a:rPr lang="fr-FR" sz="7400" dirty="0" smtClean="0"/>
              <a:t>nourrisson</a:t>
            </a:r>
            <a:endParaRPr lang="fr-FR" sz="7400" dirty="0"/>
          </a:p>
          <a:p>
            <a:pPr lvl="0"/>
            <a:r>
              <a:rPr lang="fr-FR" sz="7400" b="1" dirty="0"/>
              <a:t>L’éviction des collectivités</a:t>
            </a:r>
            <a:r>
              <a:rPr lang="fr-FR" sz="7400" dirty="0"/>
              <a:t> (crèches jardins d’enfants) des nourrissons </a:t>
            </a:r>
            <a:r>
              <a:rPr lang="fr-FR" sz="7400" dirty="0" smtClean="0"/>
              <a:t>malades</a:t>
            </a:r>
            <a:endParaRPr lang="fr-FR" sz="7400" dirty="0"/>
          </a:p>
          <a:p>
            <a:pPr lvl="0"/>
            <a:r>
              <a:rPr lang="fr-FR" sz="7400" b="1" dirty="0"/>
              <a:t>Proscrire le tabagisme </a:t>
            </a:r>
            <a:r>
              <a:rPr lang="fr-FR" sz="7400" b="1" dirty="0" smtClean="0"/>
              <a:t>passif</a:t>
            </a:r>
            <a:endParaRPr lang="fr-FR" sz="7400" dirty="0"/>
          </a:p>
          <a:p>
            <a:pPr lvl="0"/>
            <a:r>
              <a:rPr lang="fr-FR" sz="7400" b="1" dirty="0"/>
              <a:t>Encourager l’allaitement maternel et sa prolongation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11560" y="87474"/>
            <a:ext cx="7886700" cy="636972"/>
          </a:xfrm>
        </p:spPr>
        <p:txBody>
          <a:bodyPr>
            <a:normAutofit fontScale="90000"/>
          </a:bodyPr>
          <a:lstStyle/>
          <a:p>
            <a:pPr algn="ctr"/>
            <a:r>
              <a:rPr lang="fr-FR" sz="44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Prévention</a:t>
            </a:r>
            <a:r>
              <a:rPr lang="fr-FR" dirty="0" smtClean="0"/>
              <a:t>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3828" y="855994"/>
            <a:ext cx="8284435" cy="4092021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Clr>
                <a:srgbClr val="0070C0"/>
              </a:buClr>
              <a:buFont typeface="Wingdings" pitchFamily="2" charset="2"/>
              <a:buChar char="§"/>
              <a:defRPr/>
            </a:pPr>
            <a:r>
              <a:rPr lang="fr-FR" sz="2400" b="1" dirty="0" smtClean="0">
                <a:latin typeface="Arial" panose="020B0604020202020204" pitchFamily="34" charset="0"/>
                <a:cs typeface="Arial" pitchFamily="34" charset="0"/>
              </a:rPr>
              <a:t>Règles d’hygiène: </a:t>
            </a:r>
            <a:r>
              <a:rPr lang="fr-FR" sz="2400" dirty="0" smtClean="0">
                <a:latin typeface="Arial" pitchFamily="34" charset="0"/>
                <a:cs typeface="Arial" pitchFamily="34" charset="0"/>
              </a:rPr>
              <a:t>lavage des mains, </a:t>
            </a:r>
          </a:p>
          <a:p>
            <a:pPr>
              <a:lnSpc>
                <a:spcPct val="200000"/>
              </a:lnSpc>
              <a:buClr>
                <a:srgbClr val="0070C0"/>
              </a:buClr>
              <a:buFont typeface="Wingdings" pitchFamily="2" charset="2"/>
              <a:buChar char="§"/>
              <a:defRPr/>
            </a:pPr>
            <a:r>
              <a:rPr lang="fr-FR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Port de masque</a:t>
            </a:r>
          </a:p>
          <a:p>
            <a:pPr>
              <a:lnSpc>
                <a:spcPct val="200000"/>
              </a:lnSpc>
              <a:buClr>
                <a:srgbClr val="0070C0"/>
              </a:buClr>
              <a:buFont typeface="Wingdings" pitchFamily="2" charset="2"/>
              <a:buChar char="§"/>
              <a:defRPr/>
            </a:pPr>
            <a:r>
              <a:rPr lang="fr-FR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Éviter d’embrasser le bébé sur le visage</a:t>
            </a:r>
          </a:p>
          <a:p>
            <a:pPr>
              <a:lnSpc>
                <a:spcPct val="200000"/>
              </a:lnSpc>
              <a:buClr>
                <a:srgbClr val="0070C0"/>
              </a:buClr>
              <a:buFont typeface="Wingdings" pitchFamily="2" charset="2"/>
              <a:buChar char="§"/>
              <a:defRPr/>
            </a:pPr>
            <a:endParaRPr lang="fr-FR" sz="24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  <a:buClr>
                <a:srgbClr val="0070C0"/>
              </a:buClr>
              <a:buFont typeface="Wingdings" pitchFamily="2" charset="2"/>
              <a:buChar char="§"/>
              <a:defRPr/>
            </a:pPr>
            <a:r>
              <a:rPr lang="fr-FR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Éviter l’exposition au tabagisme 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6644" y="2714626"/>
            <a:ext cx="1416838" cy="897899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3306" y="1571618"/>
            <a:ext cx="1206434" cy="865334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8082" y="3857634"/>
            <a:ext cx="1486805" cy="1057148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2243" y="799390"/>
            <a:ext cx="1178243" cy="943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87001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11560" y="87474"/>
            <a:ext cx="7886700" cy="636972"/>
          </a:xfrm>
        </p:spPr>
        <p:txBody>
          <a:bodyPr>
            <a:normAutofit fontScale="90000"/>
          </a:bodyPr>
          <a:lstStyle/>
          <a:p>
            <a:pPr algn="ctr"/>
            <a:r>
              <a:rPr lang="fr-FR" sz="44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Prévention</a:t>
            </a:r>
            <a:r>
              <a:rPr lang="fr-FR" dirty="0" smtClean="0"/>
              <a:t> </a:t>
            </a:r>
            <a:r>
              <a:rPr lang="fr-FR" dirty="0" smtClean="0"/>
              <a:t>pharmacologique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3826" y="990601"/>
            <a:ext cx="8682168" cy="4152899"/>
          </a:xfrm>
        </p:spPr>
        <p:txBody>
          <a:bodyPr>
            <a:normAutofit/>
          </a:bodyPr>
          <a:lstStyle/>
          <a:p>
            <a:r>
              <a:rPr lang="fr-FR" sz="2000" b="1" dirty="0" smtClean="0">
                <a:solidFill>
                  <a:srgbClr val="FF0000"/>
                </a:solidFill>
              </a:rPr>
              <a:t>Le </a:t>
            </a:r>
            <a:r>
              <a:rPr lang="fr-FR" sz="2000" b="1" dirty="0" err="1" smtClean="0">
                <a:solidFill>
                  <a:srgbClr val="FF0000"/>
                </a:solidFill>
              </a:rPr>
              <a:t>Nirsevimab</a:t>
            </a:r>
            <a:r>
              <a:rPr lang="fr-FR" sz="2000" b="1" dirty="0" smtClean="0">
                <a:solidFill>
                  <a:srgbClr val="FF0000"/>
                </a:solidFill>
              </a:rPr>
              <a:t> </a:t>
            </a:r>
            <a:r>
              <a:rPr lang="fr-FR" sz="2000" dirty="0" smtClean="0"/>
              <a:t>est un anticorps monoclonal à demi vie prolongé indiqué chez :</a:t>
            </a:r>
          </a:p>
          <a:p>
            <a:pPr lvl="0">
              <a:buFont typeface="Wingdings" pitchFamily="2" charset="2"/>
              <a:buChar char="Ø"/>
            </a:pPr>
            <a:r>
              <a:rPr lang="fr-FR" sz="2000" dirty="0" smtClean="0"/>
              <a:t>Les  </a:t>
            </a:r>
            <a:r>
              <a:rPr lang="fr-FR" sz="2000" dirty="0" smtClean="0"/>
              <a:t>NN, </a:t>
            </a:r>
            <a:r>
              <a:rPr lang="fr-FR" sz="2000" dirty="0" smtClean="0"/>
              <a:t>nés entre début octobre et fin mars </a:t>
            </a:r>
            <a:r>
              <a:rPr lang="fr-FR" sz="2000" dirty="0" smtClean="0"/>
              <a:t>: une </a:t>
            </a:r>
            <a:r>
              <a:rPr lang="fr-FR" sz="2000" dirty="0" smtClean="0"/>
              <a:t>dose dans la </a:t>
            </a:r>
            <a:r>
              <a:rPr lang="fr-FR" sz="2000" dirty="0" smtClean="0"/>
              <a:t>1ere </a:t>
            </a:r>
            <a:r>
              <a:rPr lang="fr-FR" sz="2000" dirty="0" smtClean="0"/>
              <a:t>semaine </a:t>
            </a:r>
            <a:r>
              <a:rPr lang="fr-FR" sz="2000" dirty="0" smtClean="0"/>
              <a:t>de vie</a:t>
            </a:r>
            <a:endParaRPr lang="fr-FR" sz="2000" dirty="0" smtClean="0"/>
          </a:p>
          <a:p>
            <a:pPr lvl="0">
              <a:buFont typeface="Wingdings" pitchFamily="2" charset="2"/>
              <a:buChar char="Ø"/>
            </a:pPr>
            <a:r>
              <a:rPr lang="fr-FR" sz="2000" dirty="0" smtClean="0"/>
              <a:t>Les nourrissons âgés de ≤ 6 mois au début de la saison de circulation du VRS : administration d’une dose en  octobre ou le plus tôt possible par la suite.</a:t>
            </a:r>
          </a:p>
          <a:p>
            <a:r>
              <a:rPr lang="fr-FR" sz="2000" dirty="0" smtClean="0"/>
              <a:t>Il est administré en </a:t>
            </a:r>
            <a:r>
              <a:rPr lang="fr-FR" sz="2000" b="1" dirty="0" smtClean="0"/>
              <a:t>une seule dose par voie intramusculaire. </a:t>
            </a:r>
          </a:p>
          <a:p>
            <a:r>
              <a:rPr lang="fr-FR" sz="2000" b="1" dirty="0" smtClean="0"/>
              <a:t>Une deuxième dose</a:t>
            </a:r>
            <a:r>
              <a:rPr lang="fr-FR" sz="2000" dirty="0" smtClean="0"/>
              <a:t> est aussi recommandée pendant le 2ème hiver aux enfants présentant </a:t>
            </a:r>
            <a:r>
              <a:rPr lang="fr-FR" sz="2000" b="1" dirty="0" smtClean="0"/>
              <a:t>des facteurs de risque de complications </a:t>
            </a:r>
            <a:r>
              <a:rPr lang="fr-FR" sz="2000" dirty="0" smtClean="0"/>
              <a:t>(Cardiopathies, Maladies pulmonaires chroniques, Maladies neuromusculaires, Déficit immunitaire </a:t>
            </a:r>
            <a:r>
              <a:rPr lang="fr-FR" sz="2000" dirty="0" smtClean="0"/>
              <a:t>…)</a:t>
            </a:r>
          </a:p>
          <a:p>
            <a:r>
              <a:rPr lang="fr-FR" sz="2000" b="1" dirty="0" smtClean="0">
                <a:solidFill>
                  <a:srgbClr val="FF0000"/>
                </a:solidFill>
              </a:rPr>
              <a:t>Le vaccin </a:t>
            </a:r>
            <a:r>
              <a:rPr lang="fr-FR" sz="2000" b="1" dirty="0" err="1" smtClean="0">
                <a:solidFill>
                  <a:srgbClr val="FF0000"/>
                </a:solidFill>
              </a:rPr>
              <a:t>VRSpreF</a:t>
            </a:r>
            <a:r>
              <a:rPr lang="fr-FR" sz="2000" b="1" dirty="0" smtClean="0">
                <a:solidFill>
                  <a:srgbClr val="FF0000"/>
                </a:solidFill>
              </a:rPr>
              <a:t> (</a:t>
            </a:r>
            <a:r>
              <a:rPr lang="fr-FR" sz="2000" b="1" dirty="0" err="1" smtClean="0">
                <a:solidFill>
                  <a:srgbClr val="FF0000"/>
                </a:solidFill>
              </a:rPr>
              <a:t>Abrysvo</a:t>
            </a:r>
            <a:r>
              <a:rPr lang="fr-FR" sz="2000" b="1" dirty="0" smtClean="0">
                <a:solidFill>
                  <a:srgbClr val="FF0000"/>
                </a:solidFill>
              </a:rPr>
              <a:t>) </a:t>
            </a:r>
            <a:r>
              <a:rPr lang="fr-FR" sz="2000" dirty="0" smtClean="0">
                <a:solidFill>
                  <a:srgbClr val="FF0000"/>
                </a:solidFill>
              </a:rPr>
              <a:t> </a:t>
            </a:r>
            <a:r>
              <a:rPr lang="fr-FR" sz="2000" dirty="0" smtClean="0"/>
              <a:t>de la femme enceinte est administré en une seule dose entre </a:t>
            </a:r>
            <a:r>
              <a:rPr lang="fr-FR" sz="2000" b="1" dirty="0" smtClean="0"/>
              <a:t>la 32 </a:t>
            </a:r>
            <a:r>
              <a:rPr lang="fr-FR" sz="2000" b="1" baseline="30000" dirty="0" err="1" smtClean="0"/>
              <a:t>ème</a:t>
            </a:r>
            <a:r>
              <a:rPr lang="fr-FR" sz="2000" b="1" dirty="0" smtClean="0"/>
              <a:t> et la 36 </a:t>
            </a:r>
            <a:r>
              <a:rPr lang="fr-FR" sz="2000" b="1" baseline="30000" dirty="0" err="1" smtClean="0"/>
              <a:t>ème</a:t>
            </a:r>
            <a:r>
              <a:rPr lang="fr-FR" sz="2000" b="1" dirty="0" smtClean="0"/>
              <a:t> semaine de gestation</a:t>
            </a:r>
          </a:p>
          <a:p>
            <a:pPr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§"/>
            </a:pPr>
            <a:endParaRPr lang="fr-FR" sz="2800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714362"/>
            <a:ext cx="8229600" cy="407196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b="1" dirty="0" smtClean="0"/>
              <a:t>Question </a:t>
            </a:r>
            <a:r>
              <a:rPr lang="fr-FR" b="1" dirty="0" smtClean="0"/>
              <a:t>n°19: </a:t>
            </a:r>
            <a:r>
              <a:rPr lang="fr-FR" b="1" dirty="0" smtClean="0"/>
              <a:t>	</a:t>
            </a:r>
          </a:p>
          <a:p>
            <a:pPr>
              <a:buNone/>
            </a:pPr>
            <a:r>
              <a:rPr lang="fr-FR" sz="2800" dirty="0" smtClean="0"/>
              <a:t>Le </a:t>
            </a:r>
            <a:r>
              <a:rPr lang="fr-FR" sz="2800" dirty="0" err="1" smtClean="0"/>
              <a:t>Nirsevimab</a:t>
            </a:r>
            <a:r>
              <a:rPr lang="fr-FR" sz="2800" dirty="0" smtClean="0"/>
              <a:t> est :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 smtClean="0"/>
              <a:t>Un anticorps monoclonal à demi-vie prolongée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 smtClean="0"/>
              <a:t>Administré tous les mois à partir de la naissance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 smtClean="0"/>
              <a:t>Indiqué chez les nouveaux nés, nés en saison de circulation de VRS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 smtClean="0"/>
              <a:t>Indiqué chez la femme enceinte entre le 32eme et 36eme SG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 smtClean="0"/>
              <a:t>Administré par voie IM</a:t>
            </a:r>
          </a:p>
          <a:p>
            <a:pPr marL="914400" lvl="1" indent="-514350">
              <a:buFont typeface="+mj-lt"/>
              <a:buAutoNum type="alphaUcPeriod"/>
            </a:pPr>
            <a:endParaRPr lang="fr-FR" sz="2400" dirty="0" smtClean="0"/>
          </a:p>
          <a:p>
            <a:pPr marL="914400" lvl="1" indent="-514350">
              <a:buFont typeface="+mj-lt"/>
              <a:buAutoNum type="alphaUcPeriod"/>
            </a:pPr>
            <a:endParaRPr lang="fr-FR" sz="2400" dirty="0" smtClean="0"/>
          </a:p>
          <a:p>
            <a:pPr marL="914400" lvl="1" indent="-514350">
              <a:buNone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14362"/>
            <a:ext cx="8572560" cy="407196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b="1" dirty="0" smtClean="0"/>
              <a:t>Question </a:t>
            </a:r>
            <a:r>
              <a:rPr lang="fr-FR" b="1" dirty="0" smtClean="0"/>
              <a:t>n°19: </a:t>
            </a:r>
            <a:r>
              <a:rPr lang="fr-FR" b="1" dirty="0" smtClean="0"/>
              <a:t>	</a:t>
            </a:r>
          </a:p>
          <a:p>
            <a:pPr>
              <a:buNone/>
            </a:pPr>
            <a:r>
              <a:rPr lang="fr-FR" sz="2800" dirty="0" smtClean="0"/>
              <a:t>Le </a:t>
            </a:r>
            <a:r>
              <a:rPr lang="fr-FR" sz="2800" dirty="0" err="1" smtClean="0"/>
              <a:t>Nirsevimab</a:t>
            </a:r>
            <a:r>
              <a:rPr lang="fr-FR" sz="2800" dirty="0" smtClean="0"/>
              <a:t> est :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b="1" dirty="0" smtClean="0"/>
              <a:t>Un anticorps monoclonal à demi-vie prolongée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 smtClean="0"/>
              <a:t>Administré tous les mois à partir de la naissance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b="1" dirty="0" smtClean="0"/>
              <a:t>Indiqué chez les nouveaux nés, nés en saison de circulation de VRS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dirty="0" smtClean="0"/>
              <a:t>Indiqué chez la femme enceinte entre le 32eme et 36eme SG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sz="2400" b="1" dirty="0" smtClean="0"/>
              <a:t>Administré par voie IM</a:t>
            </a:r>
          </a:p>
          <a:p>
            <a:pPr marL="914400" lvl="1" indent="-514350">
              <a:buFont typeface="+mj-lt"/>
              <a:buAutoNum type="alphaUcPeriod"/>
            </a:pPr>
            <a:endParaRPr lang="fr-FR" sz="2400" dirty="0" smtClean="0"/>
          </a:p>
          <a:p>
            <a:pPr marL="914400" lvl="1" indent="-514350">
              <a:buFont typeface="+mj-lt"/>
              <a:buAutoNum type="alphaUcPeriod"/>
            </a:pPr>
            <a:endParaRPr lang="fr-FR" sz="2400" dirty="0" smtClean="0"/>
          </a:p>
          <a:p>
            <a:pPr marL="914400" lvl="1" indent="-514350">
              <a:buNone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57290" y="1821652"/>
            <a:ext cx="7129458" cy="1021556"/>
          </a:xfrm>
        </p:spPr>
        <p:txBody>
          <a:bodyPr>
            <a:normAutofit/>
          </a:bodyPr>
          <a:lstStyle/>
          <a:p>
            <a:r>
              <a:rPr lang="fr-FR" sz="6000" dirty="0" smtClean="0"/>
              <a:t>Cas Clinique </a:t>
            </a:r>
            <a:endParaRPr lang="fr-FR" sz="6000" dirty="0"/>
          </a:p>
        </p:txBody>
      </p:sp>
      <p:pic>
        <p:nvPicPr>
          <p:cNvPr id="4" name="Picture 2" descr="Résultat de recherche d'images pour &quot;infant asthma&quot;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89564" y="3696899"/>
            <a:ext cx="3354437" cy="144660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794135"/>
          </a:xfrm>
        </p:spPr>
        <p:txBody>
          <a:bodyPr/>
          <a:lstStyle/>
          <a:p>
            <a:r>
              <a:rPr lang="fr-FR" b="1" dirty="0" smtClean="0"/>
              <a:t>Cas clinique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571618"/>
            <a:ext cx="8472518" cy="3571882"/>
          </a:xfrm>
        </p:spPr>
        <p:txBody>
          <a:bodyPr>
            <a:normAutofit fontScale="85000" lnSpcReduction="10000"/>
          </a:bodyPr>
          <a:lstStyle/>
          <a:p>
            <a:r>
              <a:rPr lang="fr-FR" dirty="0" smtClean="0"/>
              <a:t>Nourrisson..âgé de 2mois 10js, consulte le 03 octobre pour premier épisode de dyspnée évoluant depuis 24h. </a:t>
            </a:r>
            <a:endParaRPr lang="fr-FR" dirty="0" smtClean="0"/>
          </a:p>
          <a:p>
            <a:r>
              <a:rPr lang="fr-FR" dirty="0" smtClean="0"/>
              <a:t>Il </a:t>
            </a:r>
            <a:r>
              <a:rPr lang="fr-FR" dirty="0" smtClean="0"/>
              <a:t>est née prématuré à 34SA avec PN= 2kg100. </a:t>
            </a:r>
            <a:endParaRPr lang="fr-FR" dirty="0" smtClean="0"/>
          </a:p>
          <a:p>
            <a:r>
              <a:rPr lang="fr-FR" dirty="0" smtClean="0"/>
              <a:t>Il </a:t>
            </a:r>
            <a:r>
              <a:rPr lang="fr-FR" dirty="0" smtClean="0"/>
              <a:t>a été hospitalisé en néonatologie pendant 1semaine. </a:t>
            </a:r>
            <a:endParaRPr lang="fr-FR" dirty="0" smtClean="0"/>
          </a:p>
          <a:p>
            <a:r>
              <a:rPr lang="fr-FR" dirty="0" smtClean="0"/>
              <a:t>Actuellement</a:t>
            </a:r>
            <a:r>
              <a:rPr lang="fr-FR" dirty="0" smtClean="0"/>
              <a:t>, il est gardé par sa grand-mère avec ses cousins </a:t>
            </a:r>
          </a:p>
          <a:p>
            <a:r>
              <a:rPr lang="fr-FR" dirty="0" smtClean="0"/>
              <a:t> </a:t>
            </a:r>
            <a:r>
              <a:rPr lang="fr-FR" dirty="0" smtClean="0"/>
              <a:t>il est sous allaitement mixte avec prise alimentaire&gt;50%.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794135"/>
          </a:xfrm>
        </p:spPr>
        <p:txBody>
          <a:bodyPr/>
          <a:lstStyle/>
          <a:p>
            <a:r>
              <a:rPr lang="fr-FR" b="1" dirty="0" smtClean="0"/>
              <a:t>Cas clinique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285866"/>
            <a:ext cx="8229600" cy="35719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fr-FR" b="1" dirty="0"/>
              <a:t>A l’examen : </a:t>
            </a:r>
            <a:endParaRPr lang="fr-FR" b="1" dirty="0" smtClean="0"/>
          </a:p>
          <a:p>
            <a:r>
              <a:rPr lang="fr-FR" dirty="0" smtClean="0"/>
              <a:t>Poids= 4,2kg, </a:t>
            </a:r>
            <a:endParaRPr lang="fr-FR" dirty="0" smtClean="0"/>
          </a:p>
          <a:p>
            <a:r>
              <a:rPr lang="fr-FR" dirty="0" smtClean="0"/>
              <a:t>température </a:t>
            </a:r>
            <a:r>
              <a:rPr lang="fr-FR" dirty="0" smtClean="0"/>
              <a:t>à 38,4°C, </a:t>
            </a:r>
            <a:endParaRPr lang="fr-FR" dirty="0" smtClean="0"/>
          </a:p>
          <a:p>
            <a:r>
              <a:rPr lang="fr-FR" dirty="0" smtClean="0"/>
              <a:t>FR=65C/mn</a:t>
            </a:r>
            <a:r>
              <a:rPr lang="fr-FR" dirty="0" smtClean="0"/>
              <a:t>,  FC=100batt/mn, présence de signes de luttes respiratoire (tirage sous-costal) avec des râles sibilants aux deux champs </a:t>
            </a:r>
            <a:r>
              <a:rPr lang="fr-FR" dirty="0" smtClean="0"/>
              <a:t>pulmonaires.</a:t>
            </a:r>
          </a:p>
          <a:p>
            <a:r>
              <a:rPr lang="fr-FR" dirty="0" smtClean="0"/>
              <a:t>Saturation </a:t>
            </a:r>
            <a:r>
              <a:rPr lang="fr-FR" dirty="0" smtClean="0"/>
              <a:t>d’O2 à 92% à l’air ambiant.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Question 1: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dirty="0" smtClean="0"/>
              <a:t>	</a:t>
            </a:r>
            <a:r>
              <a:rPr lang="fr-FR" sz="3000" dirty="0" smtClean="0"/>
              <a:t>Quels sont les éléments cliniques en faveur du diagnostic positif de bronchiolite du nourrisson ? 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dirty="0" smtClean="0"/>
              <a:t>L’âge du nourrisson </a:t>
            </a:r>
            <a:endParaRPr lang="fr-FR" sz="2000" dirty="0" smtClean="0"/>
          </a:p>
          <a:p>
            <a:pPr marL="1314450" lvl="2" indent="-514350">
              <a:buFont typeface="+mj-lt"/>
              <a:buAutoNum type="alphaUcPeriod"/>
            </a:pPr>
            <a:r>
              <a:rPr lang="fr-FR" dirty="0" smtClean="0"/>
              <a:t>Les antécédents néonataux</a:t>
            </a:r>
            <a:endParaRPr lang="fr-FR" sz="2000" dirty="0" smtClean="0"/>
          </a:p>
          <a:p>
            <a:pPr marL="1314450" lvl="2" indent="-514350">
              <a:buFont typeface="+mj-lt"/>
              <a:buAutoNum type="alphaUcPeriod"/>
            </a:pPr>
            <a:r>
              <a:rPr lang="fr-FR" dirty="0" smtClean="0"/>
              <a:t>Le premier épisode de dyspnée sifflante </a:t>
            </a:r>
            <a:endParaRPr lang="fr-FR" sz="2000" dirty="0" smtClean="0"/>
          </a:p>
          <a:p>
            <a:pPr marL="1314450" lvl="2" indent="-514350">
              <a:buFont typeface="+mj-lt"/>
              <a:buAutoNum type="alphaUcPeriod"/>
            </a:pPr>
            <a:r>
              <a:rPr lang="fr-FR" dirty="0" smtClean="0"/>
              <a:t>Les signes de luttes respiratoires</a:t>
            </a:r>
            <a:endParaRPr lang="fr-FR" sz="2000" dirty="0" smtClean="0"/>
          </a:p>
          <a:p>
            <a:pPr marL="1314450" lvl="2" indent="-514350">
              <a:buFont typeface="+mj-lt"/>
              <a:buAutoNum type="alphaUcPeriod"/>
            </a:pPr>
            <a:r>
              <a:rPr lang="fr-FR" dirty="0" smtClean="0"/>
              <a:t>La saturation d’oxygène à 92%</a:t>
            </a:r>
            <a:endParaRPr lang="fr-FR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Question 1: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dirty="0" smtClean="0"/>
              <a:t>	</a:t>
            </a:r>
            <a:r>
              <a:rPr lang="fr-FR" sz="3000" dirty="0" smtClean="0"/>
              <a:t>Quels sont les éléments cliniques en faveur du diagnostic positif de bronchiolite du nourrisson ? </a:t>
            </a:r>
          </a:p>
          <a:p>
            <a:pPr marL="1314450" lvl="2" indent="-514350">
              <a:buFont typeface="+mj-lt"/>
              <a:buAutoNum type="alphaUcPeriod"/>
            </a:pPr>
            <a:r>
              <a:rPr lang="fr-FR" b="1" dirty="0" smtClean="0"/>
              <a:t>L’âge du nourrisson </a:t>
            </a:r>
            <a:endParaRPr lang="fr-FR" sz="2000" b="1" dirty="0" smtClean="0"/>
          </a:p>
          <a:p>
            <a:pPr marL="1314450" lvl="2" indent="-514350">
              <a:buFont typeface="+mj-lt"/>
              <a:buAutoNum type="alphaUcPeriod"/>
            </a:pPr>
            <a:r>
              <a:rPr lang="fr-FR" dirty="0" smtClean="0"/>
              <a:t>Les antécédents néonataux</a:t>
            </a:r>
            <a:endParaRPr lang="fr-FR" sz="2000" dirty="0" smtClean="0"/>
          </a:p>
          <a:p>
            <a:pPr marL="1314450" lvl="2" indent="-514350">
              <a:buFont typeface="+mj-lt"/>
              <a:buAutoNum type="alphaUcPeriod"/>
            </a:pPr>
            <a:r>
              <a:rPr lang="fr-FR" b="1" dirty="0" smtClean="0"/>
              <a:t>Le premier épisode de dyspnée sifflante </a:t>
            </a:r>
            <a:endParaRPr lang="fr-FR" sz="2000" b="1" dirty="0" smtClean="0"/>
          </a:p>
          <a:p>
            <a:pPr marL="1314450" lvl="2" indent="-514350">
              <a:buFont typeface="+mj-lt"/>
              <a:buAutoNum type="alphaUcPeriod"/>
            </a:pPr>
            <a:r>
              <a:rPr lang="fr-FR" b="1" dirty="0" smtClean="0"/>
              <a:t>Les signes de luttes respiratoires</a:t>
            </a:r>
            <a:endParaRPr lang="fr-FR" sz="2000" b="1" dirty="0" smtClean="0"/>
          </a:p>
          <a:p>
            <a:pPr marL="1314450" lvl="2" indent="-514350">
              <a:buFont typeface="+mj-lt"/>
              <a:buAutoNum type="alphaUcPeriod"/>
            </a:pPr>
            <a:r>
              <a:rPr lang="fr-FR" dirty="0" smtClean="0"/>
              <a:t>La saturation d’oxygène à 92%</a:t>
            </a:r>
            <a:endParaRPr lang="fr-FR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Question 2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200151"/>
            <a:ext cx="8401080" cy="339447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800" dirty="0" smtClean="0"/>
              <a:t>La bronchiolite chez notre patient est modérée devant :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La FR à </a:t>
            </a:r>
            <a:r>
              <a:rPr lang="fr-FR" dirty="0" smtClean="0"/>
              <a:t>65C/mn </a:t>
            </a:r>
            <a:endParaRPr lang="fr-FR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La fièvre à </a:t>
            </a:r>
            <a:r>
              <a:rPr lang="fr-FR" dirty="0" smtClean="0"/>
              <a:t>38,4°C</a:t>
            </a:r>
            <a:endParaRPr lang="fr-FR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La SatO2 à </a:t>
            </a:r>
            <a:r>
              <a:rPr lang="fr-FR" dirty="0" smtClean="0"/>
              <a:t>92%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Les </a:t>
            </a:r>
            <a:r>
              <a:rPr lang="fr-FR" dirty="0" smtClean="0"/>
              <a:t>Râles sibilants </a:t>
            </a:r>
            <a:endParaRPr lang="fr-FR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La </a:t>
            </a:r>
            <a:r>
              <a:rPr lang="fr-FR" dirty="0" smtClean="0"/>
              <a:t>prise alimentaire &gt;50% des apports</a:t>
            </a:r>
            <a:endParaRPr lang="fr-FR" sz="2800" dirty="0" smtClean="0"/>
          </a:p>
          <a:p>
            <a:pPr marL="914400" lvl="1" indent="-514350">
              <a:buFont typeface="+mj-lt"/>
              <a:buAutoNum type="alphaUcPeriod"/>
            </a:pP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Question 2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200151"/>
            <a:ext cx="8401080" cy="339447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800" dirty="0" smtClean="0"/>
              <a:t>La bronchiolite chez notre patient est modérée devant :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b="1" dirty="0" smtClean="0"/>
              <a:t>La FR à </a:t>
            </a:r>
            <a:r>
              <a:rPr lang="fr-FR" b="1" dirty="0" smtClean="0"/>
              <a:t>65C/mn </a:t>
            </a:r>
            <a:endParaRPr lang="fr-FR" b="1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La fièvre à </a:t>
            </a:r>
            <a:r>
              <a:rPr lang="fr-FR" dirty="0" smtClean="0"/>
              <a:t>38,4°C</a:t>
            </a:r>
            <a:endParaRPr lang="fr-FR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b="1" dirty="0" smtClean="0"/>
              <a:t>La SatO2 à </a:t>
            </a:r>
            <a:r>
              <a:rPr lang="fr-FR" b="1" dirty="0" smtClean="0"/>
              <a:t>92%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Les </a:t>
            </a:r>
            <a:r>
              <a:rPr lang="fr-FR" dirty="0" smtClean="0"/>
              <a:t>Râles sibilants </a:t>
            </a:r>
            <a:endParaRPr lang="fr-FR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La </a:t>
            </a:r>
            <a:r>
              <a:rPr lang="fr-FR" dirty="0" smtClean="0"/>
              <a:t>prise alimentaire &gt;50% des apports</a:t>
            </a:r>
            <a:endParaRPr lang="fr-FR" sz="2800" dirty="0" smtClean="0"/>
          </a:p>
          <a:p>
            <a:pPr marL="914400" lvl="1" indent="-514350">
              <a:buFont typeface="+mj-lt"/>
              <a:buAutoNum type="alphaUcPeriod"/>
            </a:pPr>
            <a:endParaRPr lang="fr-FR" dirty="0" smtClean="0"/>
          </a:p>
          <a:p>
            <a:pPr marL="514350" lvl="0" indent="-514350">
              <a:buFont typeface="+mj-lt"/>
              <a:buAutoNum type="alphaUcPeriod"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Question 3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586177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fr-FR" dirty="0" smtClean="0"/>
              <a:t>Vous avez indiqué l’hospitalisation du nourrisson devant :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L’âge du nourrisson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La fréquence respiratoire à </a:t>
            </a:r>
            <a:r>
              <a:rPr lang="fr-FR" dirty="0" smtClean="0"/>
              <a:t>65C/mn</a:t>
            </a:r>
            <a:endParaRPr lang="fr-FR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Les râles sibilants </a:t>
            </a:r>
            <a:r>
              <a:rPr lang="fr-FR" dirty="0" smtClean="0"/>
              <a:t>diffus</a:t>
            </a:r>
            <a:endParaRPr lang="fr-FR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La </a:t>
            </a:r>
            <a:r>
              <a:rPr lang="fr-FR" dirty="0" smtClean="0"/>
              <a:t>SatO2 à </a:t>
            </a:r>
            <a:r>
              <a:rPr lang="fr-FR" dirty="0" smtClean="0"/>
              <a:t>92%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La </a:t>
            </a:r>
            <a:r>
              <a:rPr lang="fr-FR" dirty="0" smtClean="0"/>
              <a:t>prématurité à 34SA</a:t>
            </a:r>
            <a:endParaRPr lang="fr-FR" sz="2800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Question 3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586177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fr-FR" dirty="0" smtClean="0"/>
              <a:t>Vous avez indiqué l’hospitalisation du nourrisson devant :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L’âge du nourrisson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b="1" dirty="0" smtClean="0"/>
              <a:t>La fréquence respiratoire à </a:t>
            </a:r>
            <a:r>
              <a:rPr lang="fr-FR" b="1" dirty="0" smtClean="0"/>
              <a:t>65C/mn</a:t>
            </a:r>
            <a:endParaRPr lang="fr-FR" b="1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Les râles sibilants </a:t>
            </a:r>
            <a:r>
              <a:rPr lang="fr-FR" dirty="0" smtClean="0"/>
              <a:t>diffus</a:t>
            </a:r>
            <a:endParaRPr lang="fr-FR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b="1" dirty="0" smtClean="0"/>
              <a:t>La </a:t>
            </a:r>
            <a:r>
              <a:rPr lang="fr-FR" b="1" dirty="0" smtClean="0"/>
              <a:t>SatO2 à </a:t>
            </a:r>
            <a:r>
              <a:rPr lang="fr-FR" b="1" dirty="0" smtClean="0"/>
              <a:t>92%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La </a:t>
            </a:r>
            <a:r>
              <a:rPr lang="fr-FR" dirty="0" smtClean="0"/>
              <a:t>prématurité à 34SA</a:t>
            </a:r>
            <a:endParaRPr lang="fr-FR" sz="2800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Question 4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200151"/>
            <a:ext cx="8686800" cy="339447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fr-FR" dirty="0" smtClean="0"/>
              <a:t>La </a:t>
            </a:r>
            <a:r>
              <a:rPr lang="fr-FR" dirty="0" smtClean="0"/>
              <a:t>prise en charge thérapeutique chez notre patiente est :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Des nébulisations de sérum hypertonique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Désobstruction rhinopharyngée (DRP)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Une antibiothérapie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Fractionnement des tétées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Une oxygénothérapie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Question 4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200151"/>
            <a:ext cx="8686800" cy="339447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fr-FR" dirty="0" smtClean="0"/>
              <a:t>La </a:t>
            </a:r>
            <a:r>
              <a:rPr lang="fr-FR" dirty="0" smtClean="0"/>
              <a:t>prise en charge thérapeutique chez notre patiente est :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Des nébulisations de sérum hypertonique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b="1" dirty="0" smtClean="0"/>
              <a:t>Désobstruction rhinopharyngée (DRP)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Une antibiothérapie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b="1" dirty="0" smtClean="0"/>
              <a:t>Fractionnement des tétées </a:t>
            </a:r>
          </a:p>
          <a:p>
            <a:pPr marL="914400" lvl="1" indent="-514350">
              <a:buFont typeface="+mj-lt"/>
              <a:buAutoNum type="alphaUcPeriod"/>
            </a:pPr>
            <a:r>
              <a:rPr lang="fr-FR" b="1" dirty="0" smtClean="0"/>
              <a:t>Une oxygénothérapie</a:t>
            </a:r>
            <a:endParaRPr lang="fr-FR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FF0000"/>
                </a:solidFill>
              </a:rPr>
              <a:t>Prise en charge de la bronchiolite hospitalisée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500179"/>
            <a:ext cx="8229600" cy="3094443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fr-FR" b="1" dirty="0" smtClean="0"/>
              <a:t>En plus de mesures générales</a:t>
            </a:r>
          </a:p>
          <a:p>
            <a:pPr lvl="0">
              <a:buNone/>
            </a:pPr>
            <a:endParaRPr lang="fr-FR" b="1" dirty="0" smtClean="0"/>
          </a:p>
          <a:p>
            <a:pPr lvl="0"/>
            <a:r>
              <a:rPr lang="fr-FR" b="1" dirty="0" smtClean="0"/>
              <a:t>Oxygénothérapie (lunette nasales, sonde nasale) :</a:t>
            </a:r>
            <a:r>
              <a:rPr lang="fr-FR" dirty="0" smtClean="0"/>
              <a:t> oxygène réchauffé et humidifié avec objectif une </a:t>
            </a:r>
            <a:r>
              <a:rPr lang="fr-FR" b="1" dirty="0" smtClean="0"/>
              <a:t>satO2&gt;94%</a:t>
            </a:r>
            <a:r>
              <a:rPr lang="fr-FR" dirty="0" smtClean="0"/>
              <a:t> ( </a:t>
            </a:r>
            <a:r>
              <a:rPr lang="fr-FR" b="1" dirty="0" smtClean="0">
                <a:solidFill>
                  <a:srgbClr val="FF0000"/>
                </a:solidFill>
              </a:rPr>
              <a:t>indication : </a:t>
            </a:r>
            <a:r>
              <a:rPr lang="fr-FR" dirty="0" smtClean="0"/>
              <a:t>cyanose, satO2≤92%)</a:t>
            </a:r>
          </a:p>
          <a:p>
            <a:pPr lvl="0">
              <a:buNone/>
            </a:pPr>
            <a:endParaRPr lang="fr-FR" dirty="0" smtClean="0"/>
          </a:p>
          <a:p>
            <a:pPr lvl="0"/>
            <a:r>
              <a:rPr lang="fr-FR" b="1" dirty="0" smtClean="0"/>
              <a:t>Pas de perfusion intraveineuse systématique </a:t>
            </a:r>
            <a:r>
              <a:rPr lang="fr-FR" dirty="0" smtClean="0"/>
              <a:t>et sera indiquée en cas d’échec du gavage gastrique.</a:t>
            </a:r>
          </a:p>
          <a:p>
            <a:pPr lvl="0"/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FF0000"/>
                </a:solidFill>
              </a:rPr>
              <a:t>Prise en charge de la bronchiolite hospitalisée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500179"/>
            <a:ext cx="8229600" cy="3094443"/>
          </a:xfrm>
        </p:spPr>
        <p:txBody>
          <a:bodyPr/>
          <a:lstStyle/>
          <a:p>
            <a:pPr lvl="0"/>
            <a:r>
              <a:rPr lang="fr-FR" b="1" dirty="0" smtClean="0"/>
              <a:t>Oxygénothérapie avec des lunettes à haut débit : </a:t>
            </a:r>
            <a:r>
              <a:rPr lang="fr-FR" dirty="0" smtClean="0"/>
              <a:t>est proposée de première intention dans les services de pédiatrie générales en cas de bronchiolite </a:t>
            </a:r>
            <a:r>
              <a:rPr lang="fr-FR" dirty="0" smtClean="0">
                <a:solidFill>
                  <a:srgbClr val="FF0000"/>
                </a:solidFill>
              </a:rPr>
              <a:t>modérée à sévère </a:t>
            </a:r>
            <a:r>
              <a:rPr lang="fr-FR" b="1" dirty="0" smtClean="0"/>
              <a:t>non améliorée ou aggravée sous oxygénothérapie standard.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FF0000"/>
                </a:solidFill>
              </a:rPr>
              <a:t>Prise en charge de la bronchiolite hospitalisée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500179"/>
            <a:ext cx="8229600" cy="3094443"/>
          </a:xfrm>
        </p:spPr>
        <p:txBody>
          <a:bodyPr>
            <a:normAutofit fontScale="85000" lnSpcReduction="10000"/>
          </a:bodyPr>
          <a:lstStyle/>
          <a:p>
            <a:pPr lvl="0"/>
            <a:r>
              <a:rPr lang="fr-FR" b="1" dirty="0" smtClean="0"/>
              <a:t>Pas de nébulisations </a:t>
            </a:r>
            <a:r>
              <a:rPr lang="fr-FR" dirty="0" smtClean="0"/>
              <a:t>(beta2mimétiques, </a:t>
            </a:r>
            <a:r>
              <a:rPr lang="fr-FR" dirty="0" err="1" smtClean="0"/>
              <a:t>corticoides</a:t>
            </a:r>
            <a:r>
              <a:rPr lang="fr-FR" dirty="0" smtClean="0"/>
              <a:t>, </a:t>
            </a:r>
            <a:r>
              <a:rPr lang="fr-FR" dirty="0" err="1" smtClean="0"/>
              <a:t>épinephrine</a:t>
            </a:r>
            <a:r>
              <a:rPr lang="fr-FR" dirty="0" smtClean="0"/>
              <a:t>, </a:t>
            </a:r>
            <a:r>
              <a:rPr lang="fr-FR" dirty="0" err="1" smtClean="0"/>
              <a:t>bromide</a:t>
            </a:r>
            <a:r>
              <a:rPr lang="fr-FR" dirty="0" smtClean="0"/>
              <a:t> d’</a:t>
            </a:r>
            <a:r>
              <a:rPr lang="fr-FR" dirty="0" err="1" smtClean="0"/>
              <a:t>ipratropium</a:t>
            </a:r>
            <a:r>
              <a:rPr lang="fr-FR" dirty="0" smtClean="0"/>
              <a:t>, sérum hypertonique)</a:t>
            </a:r>
          </a:p>
          <a:p>
            <a:pPr lvl="0"/>
            <a:r>
              <a:rPr lang="fr-FR" b="1" dirty="0" smtClean="0"/>
              <a:t>Pas de </a:t>
            </a:r>
            <a:r>
              <a:rPr lang="fr-FR" b="1" dirty="0" err="1" smtClean="0"/>
              <a:t>corticoides</a:t>
            </a:r>
            <a:r>
              <a:rPr lang="fr-FR" b="1" dirty="0" smtClean="0"/>
              <a:t> par voie systémique</a:t>
            </a:r>
            <a:r>
              <a:rPr lang="fr-FR" dirty="0" smtClean="0"/>
              <a:t> (orale, IV, IM)</a:t>
            </a:r>
          </a:p>
          <a:p>
            <a:pPr lvl="0"/>
            <a:r>
              <a:rPr lang="fr-FR" b="1" dirty="0" smtClean="0"/>
              <a:t>Pas de </a:t>
            </a:r>
            <a:r>
              <a:rPr lang="fr-FR" b="1" dirty="0" err="1" smtClean="0"/>
              <a:t>mucolytiques</a:t>
            </a:r>
            <a:r>
              <a:rPr lang="fr-FR" b="1" dirty="0" smtClean="0"/>
              <a:t> ni d’antitussifs</a:t>
            </a:r>
            <a:endParaRPr lang="fr-FR" dirty="0" smtClean="0"/>
          </a:p>
          <a:p>
            <a:pPr lvl="0"/>
            <a:r>
              <a:rPr lang="fr-FR" b="1" dirty="0" smtClean="0"/>
              <a:t>Pas d’antibiothérapie sauf si </a:t>
            </a:r>
            <a:r>
              <a:rPr lang="fr-FR" b="1" dirty="0" err="1" smtClean="0"/>
              <a:t>co-infection</a:t>
            </a:r>
            <a:r>
              <a:rPr lang="fr-FR" b="1" dirty="0" smtClean="0"/>
              <a:t> bactérienne documentée</a:t>
            </a:r>
            <a:r>
              <a:rPr lang="fr-FR" dirty="0" smtClean="0"/>
              <a:t>.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Question 5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fr-FR" b="1" i="1" dirty="0" smtClean="0"/>
              <a:t>Le</a:t>
            </a:r>
            <a:r>
              <a:rPr lang="fr-FR" dirty="0" smtClean="0"/>
              <a:t> patient était en contact avec un cousin âgé de 1mois. Vous avez conseillé pour le cousin:  </a:t>
            </a:r>
            <a:endParaRPr lang="fr-FR" sz="2800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De lui administrer le </a:t>
            </a:r>
            <a:r>
              <a:rPr lang="fr-FR" dirty="0" err="1" smtClean="0"/>
              <a:t>Nirsevimab</a:t>
            </a:r>
            <a:endParaRPr lang="fr-FR" sz="2400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D’encourager l’allaitement maternel</a:t>
            </a:r>
            <a:endParaRPr lang="fr-FR" sz="2400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D’éviter le contact avec notre patient en période d’épidémie</a:t>
            </a:r>
            <a:endParaRPr lang="fr-FR" sz="2400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Le port de masque par les personnes en contact</a:t>
            </a:r>
            <a:endParaRPr lang="fr-FR" sz="2400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De l’hospitaliser pour surveillance</a:t>
            </a:r>
            <a:endParaRPr lang="fr-FR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Question 5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fr-FR" b="1" i="1" dirty="0" smtClean="0"/>
              <a:t>Le</a:t>
            </a:r>
            <a:r>
              <a:rPr lang="fr-FR" dirty="0" smtClean="0"/>
              <a:t> patient était en contact avec un cousin âgé de 1mois. Vous avez conseillé pour le cousin:  </a:t>
            </a:r>
            <a:endParaRPr lang="fr-FR" sz="2800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b="1" dirty="0" smtClean="0"/>
              <a:t>De lui administrer le </a:t>
            </a:r>
            <a:r>
              <a:rPr lang="fr-FR" b="1" dirty="0" err="1" smtClean="0"/>
              <a:t>Nirsevimab</a:t>
            </a:r>
            <a:endParaRPr lang="fr-FR" sz="2400" b="1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b="1" dirty="0" smtClean="0"/>
              <a:t>D’encourager l’allaitement maternel</a:t>
            </a:r>
            <a:endParaRPr lang="fr-FR" sz="2400" b="1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b="1" dirty="0" smtClean="0"/>
              <a:t>D’éviter le contact avec notre patient en période d’épidémie</a:t>
            </a:r>
            <a:endParaRPr lang="fr-FR" sz="2400" b="1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b="1" dirty="0" smtClean="0"/>
              <a:t>Le port de masque par les personnes en contact</a:t>
            </a:r>
            <a:endParaRPr lang="fr-FR" sz="2400" b="1" dirty="0" smtClean="0"/>
          </a:p>
          <a:p>
            <a:pPr marL="914400" lvl="1" indent="-514350">
              <a:buFont typeface="+mj-lt"/>
              <a:buAutoNum type="alphaUcPeriod"/>
            </a:pPr>
            <a:r>
              <a:rPr lang="fr-FR" dirty="0" smtClean="0"/>
              <a:t>De l’hospitaliser pour surveillance</a:t>
            </a:r>
            <a:endParaRPr lang="fr-FR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AutoShape 2" descr="Résultat de recherche d'images pour &quot;image merci professionnel&quot;"/>
          <p:cNvSpPr>
            <a:spLocks noChangeAspect="1" noChangeArrowheads="1"/>
          </p:cNvSpPr>
          <p:nvPr/>
        </p:nvSpPr>
        <p:spPr bwMode="auto">
          <a:xfrm>
            <a:off x="155575" y="-108346"/>
            <a:ext cx="304800" cy="2286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66564" name="AutoShape 4" descr="Résultat de recherche d'images pour &quot;image merci professionnel&quot;"/>
          <p:cNvSpPr>
            <a:spLocks noChangeAspect="1" noChangeArrowheads="1"/>
          </p:cNvSpPr>
          <p:nvPr/>
        </p:nvSpPr>
        <p:spPr bwMode="auto">
          <a:xfrm>
            <a:off x="155575" y="-108346"/>
            <a:ext cx="304800" cy="2286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5" name="Picture 7" descr="http://2.bp.blogspot.com/-wQgGgDe62aA/VYuSU_uJzeI/AAAAAAAAAkM/UeMvRy3Qc08/s1600/questions%2Br%25C3%25A9ponsesjpeg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5" y="399007"/>
            <a:ext cx="7765061" cy="47444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1840</TotalTime>
  <Words>1414</Words>
  <Application>Microsoft Office PowerPoint</Application>
  <PresentationFormat>Affichage à l'écran (16:9)</PresentationFormat>
  <Paragraphs>618</Paragraphs>
  <Slides>84</Slides>
  <Notes>5</Notes>
  <HiddenSlides>0</HiddenSlides>
  <MMClips>0</MMClips>
  <ScaleCrop>false</ScaleCrop>
  <HeadingPairs>
    <vt:vector size="6" baseType="variant">
      <vt:variant>
        <vt:lpstr>Thème</vt:lpstr>
      </vt:variant>
      <vt:variant>
        <vt:i4>1</vt:i4>
      </vt:variant>
      <vt:variant>
        <vt:lpstr>Serveurs OLE incorporés</vt:lpstr>
      </vt:variant>
      <vt:variant>
        <vt:i4>0</vt:i4>
      </vt:variant>
      <vt:variant>
        <vt:lpstr>Titres des diapositives</vt:lpstr>
      </vt:variant>
      <vt:variant>
        <vt:i4>84</vt:i4>
      </vt:variant>
    </vt:vector>
  </HeadingPairs>
  <TitlesOfParts>
    <vt:vector size="85" baseType="lpstr">
      <vt:lpstr>Thème Office</vt:lpstr>
      <vt:lpstr>Diapositive 1</vt:lpstr>
      <vt:lpstr>Introduction </vt:lpstr>
      <vt:lpstr>Epidémiologie</vt:lpstr>
      <vt:lpstr>Epidémiologie</vt:lpstr>
      <vt:lpstr>Diapositive 5</vt:lpstr>
      <vt:lpstr>Diapositive 6</vt:lpstr>
      <vt:lpstr>Définition:  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Diagnostic positif</vt:lpstr>
      <vt:lpstr>Diapositive 15</vt:lpstr>
      <vt:lpstr>Diapositive 16</vt:lpstr>
      <vt:lpstr>Diapositive 17</vt:lpstr>
      <vt:lpstr>Diapositive 18</vt:lpstr>
      <vt:lpstr>Examens complémentaires</vt:lpstr>
      <vt:lpstr>Radiographie de thorax 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Diagnostic de gravité </vt:lpstr>
      <vt:lpstr>Diapositive 29</vt:lpstr>
      <vt:lpstr>Diapositive 30</vt:lpstr>
      <vt:lpstr>Diapositive 31</vt:lpstr>
      <vt:lpstr>Diapositive 32</vt:lpstr>
      <vt:lpstr>Diapositive 33</vt:lpstr>
      <vt:lpstr>Diapositive 34</vt:lpstr>
      <vt:lpstr>Diapositive 35</vt:lpstr>
      <vt:lpstr>Indications d’hospitalisation</vt:lpstr>
      <vt:lpstr>Indications d’hospitalisation</vt:lpstr>
      <vt:lpstr>Diapositive 38</vt:lpstr>
      <vt:lpstr>Diapositive 39</vt:lpstr>
      <vt:lpstr>Diagnostics différentiels</vt:lpstr>
      <vt:lpstr>Diagnostics différentiels</vt:lpstr>
      <vt:lpstr>Diapositive 42</vt:lpstr>
      <vt:lpstr>Diapositive 43</vt:lpstr>
      <vt:lpstr>Prise en charge de la bronchiolite</vt:lpstr>
      <vt:lpstr>Traitements symptomatiques</vt:lpstr>
      <vt:lpstr>Diapositive 46</vt:lpstr>
      <vt:lpstr>Oxygénothérapie </vt:lpstr>
      <vt:lpstr>Diapositive 48</vt:lpstr>
      <vt:lpstr>Oxygénothérapie à haut débit</vt:lpstr>
      <vt:lpstr>Diapositive 50</vt:lpstr>
      <vt:lpstr>Diapositive 51</vt:lpstr>
      <vt:lpstr>Antibiothérapie et bronchiolite</vt:lpstr>
      <vt:lpstr>Diapositive 53</vt:lpstr>
      <vt:lpstr>Diapositive 54</vt:lpstr>
      <vt:lpstr>Diapositive 55</vt:lpstr>
      <vt:lpstr>Diapositive 56</vt:lpstr>
      <vt:lpstr>Informations aux parents </vt:lpstr>
      <vt:lpstr>Diapositive 58</vt:lpstr>
      <vt:lpstr>Diapositive 59</vt:lpstr>
      <vt:lpstr>Complications</vt:lpstr>
      <vt:lpstr>Diapositive 61</vt:lpstr>
      <vt:lpstr>Diapositive 62</vt:lpstr>
      <vt:lpstr>Prévention </vt:lpstr>
      <vt:lpstr>Prévention </vt:lpstr>
      <vt:lpstr>Prévention pharmacologique</vt:lpstr>
      <vt:lpstr>Diapositive 66</vt:lpstr>
      <vt:lpstr>Diapositive 67</vt:lpstr>
      <vt:lpstr>Cas Clinique </vt:lpstr>
      <vt:lpstr>Cas clinique</vt:lpstr>
      <vt:lpstr>Cas clinique</vt:lpstr>
      <vt:lpstr>Question 1:</vt:lpstr>
      <vt:lpstr>Question 1:</vt:lpstr>
      <vt:lpstr>Question 2</vt:lpstr>
      <vt:lpstr>Question 2</vt:lpstr>
      <vt:lpstr>Question 3</vt:lpstr>
      <vt:lpstr>Question 3</vt:lpstr>
      <vt:lpstr>Question 4</vt:lpstr>
      <vt:lpstr>Question 4</vt:lpstr>
      <vt:lpstr>Prise en charge de la bronchiolite hospitalisée</vt:lpstr>
      <vt:lpstr>Prise en charge de la bronchiolite hospitalisée</vt:lpstr>
      <vt:lpstr>Prise en charge de la bronchiolite hospitalisée</vt:lpstr>
      <vt:lpstr>Question 5</vt:lpstr>
      <vt:lpstr>Question 5</vt:lpstr>
      <vt:lpstr>Diapositive 84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Jihen</dc:creator>
  <cp:lastModifiedBy>Jihen</cp:lastModifiedBy>
  <cp:revision>55</cp:revision>
  <dcterms:created xsi:type="dcterms:W3CDTF">2020-10-01T21:32:16Z</dcterms:created>
  <dcterms:modified xsi:type="dcterms:W3CDTF">2025-07-07T22:40:03Z</dcterms:modified>
</cp:coreProperties>
</file>
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1" r:id="rId2"/>
    <p:sldId id="312" r:id="rId3"/>
    <p:sldId id="256" r:id="rId4"/>
    <p:sldId id="260" r:id="rId5"/>
    <p:sldId id="257" r:id="rId6"/>
    <p:sldId id="261" r:id="rId7"/>
    <p:sldId id="258" r:id="rId8"/>
    <p:sldId id="262" r:id="rId9"/>
    <p:sldId id="259" r:id="rId10"/>
    <p:sldId id="263" r:id="rId11"/>
    <p:sldId id="264" r:id="rId12"/>
    <p:sldId id="265" r:id="rId13"/>
    <p:sldId id="266" r:id="rId14"/>
    <p:sldId id="269" r:id="rId15"/>
    <p:sldId id="267" r:id="rId16"/>
    <p:sldId id="270" r:id="rId17"/>
    <p:sldId id="268" r:id="rId18"/>
    <p:sldId id="273" r:id="rId19"/>
    <p:sldId id="271" r:id="rId20"/>
    <p:sldId id="274" r:id="rId21"/>
    <p:sldId id="272" r:id="rId22"/>
    <p:sldId id="277" r:id="rId23"/>
    <p:sldId id="275" r:id="rId24"/>
    <p:sldId id="278" r:id="rId25"/>
    <p:sldId id="276" r:id="rId26"/>
    <p:sldId id="279" r:id="rId27"/>
    <p:sldId id="280" r:id="rId28"/>
    <p:sldId id="284" r:id="rId29"/>
    <p:sldId id="281" r:id="rId30"/>
    <p:sldId id="285" r:id="rId31"/>
    <p:sldId id="282" r:id="rId32"/>
    <p:sldId id="286" r:id="rId33"/>
    <p:sldId id="283" r:id="rId34"/>
    <p:sldId id="287" r:id="rId35"/>
    <p:sldId id="288" r:id="rId36"/>
    <p:sldId id="290" r:id="rId37"/>
    <p:sldId id="289" r:id="rId38"/>
    <p:sldId id="291" r:id="rId39"/>
    <p:sldId id="292" r:id="rId40"/>
    <p:sldId id="294" r:id="rId41"/>
    <p:sldId id="293" r:id="rId42"/>
    <p:sldId id="295" r:id="rId43"/>
    <p:sldId id="296" r:id="rId44"/>
    <p:sldId id="298" r:id="rId45"/>
    <p:sldId id="297" r:id="rId46"/>
    <p:sldId id="301" r:id="rId47"/>
    <p:sldId id="299" r:id="rId48"/>
    <p:sldId id="302" r:id="rId49"/>
    <p:sldId id="300" r:id="rId50"/>
    <p:sldId id="304" r:id="rId51"/>
    <p:sldId id="303" r:id="rId52"/>
    <p:sldId id="305" r:id="rId53"/>
    <p:sldId id="306" r:id="rId54"/>
    <p:sldId id="308" r:id="rId55"/>
    <p:sldId id="307" r:id="rId56"/>
    <p:sldId id="309" r:id="rId57"/>
    <p:sldId id="345" r:id="rId5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E5F644-DF6F-44CE-8D15-C2C9D9B8B5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EA1C5C4-F23F-45D5-B5AC-3DB96D0D14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6910374-CB1D-4C3C-B756-4DFC10A2F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9BAC1-9395-4293-810A-FA51378B6D4A}" type="datetimeFigureOut">
              <a:rPr lang="fr-FR" smtClean="0"/>
              <a:t>09/09/2025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F5190F3-A77C-4108-83EE-4243F8188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C071304-485B-41C8-B99B-AE8B1FA83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CE0F9-F254-4CAC-A763-6B54DB9BFC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5040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6EE2CB-85FA-40CA-BB2D-0A6073F88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100EFEB-D5DA-486D-9C81-6BD7E0734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0DD9A1A-07A4-4AAA-98D4-71FC43201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9BAC1-9395-4293-810A-FA51378B6D4A}" type="datetimeFigureOut">
              <a:rPr lang="fr-FR" smtClean="0"/>
              <a:t>09/09/2025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7A753A1-FCA8-4EA1-A642-7D7089D85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5B88EDF-5D43-4118-B79C-E71E0BB8E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CE0F9-F254-4CAC-A763-6B54DB9BFC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3843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4BE720-137A-4381-BAEE-872780D69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7FC3C24-4E02-4306-A3A8-019961B951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ECD4BBA-6C40-4D2B-9F7F-072393BAA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9BAC1-9395-4293-810A-FA51378B6D4A}" type="datetimeFigureOut">
              <a:rPr lang="fr-FR" smtClean="0"/>
              <a:t>09/09/2025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CBD9B76-1C2F-49E4-988D-40D9E7177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7613C23-9428-4ADA-9343-9FE483C14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CE0F9-F254-4CAC-A763-6B54DB9BFC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1308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B42E9F-080E-4081-A54D-1FAD484D0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BFF967-101A-4237-91BD-E9B316B9E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C8C0DF4-6A33-47CA-BB15-34236FC4EF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C0F74EC-2FB5-47B0-9621-0DA871121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9BAC1-9395-4293-810A-FA51378B6D4A}" type="datetimeFigureOut">
              <a:rPr lang="fr-FR" smtClean="0"/>
              <a:t>09/09/2025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75084E3-339E-4D1F-AF2D-BDC0667C0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DC32523-412C-4B06-812C-AE779DF6C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CE0F9-F254-4CAC-A763-6B54DB9BFC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9882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450663-B2C7-48ED-9E9F-ECB00E90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9B8C32E-A8EE-44F5-A1C9-7F590052D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DD94058-5196-45ED-A33B-6266B0A556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BEAC085-8761-4B79-BB41-390C2B1786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AAE5B04-CF89-430C-B471-046DFE482C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EDA426C-9BAB-42F1-B56D-82FD930BA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9BAC1-9395-4293-810A-FA51378B6D4A}" type="datetimeFigureOut">
              <a:rPr lang="fr-FR" smtClean="0"/>
              <a:t>09/09/2025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1CE0692-A3E9-4443-891A-EB6FC380D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06B75CD-8CBB-4343-A5BA-C10CB827E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CE0F9-F254-4CAC-A763-6B54DB9BFC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8206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15718A-7072-404D-B58F-DBA19F1FC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3C2A2D5-3575-4CF7-BBBE-E4FEB260A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9BAC1-9395-4293-810A-FA51378B6D4A}" type="datetimeFigureOut">
              <a:rPr lang="fr-FR" smtClean="0"/>
              <a:t>09/09/2025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321A946-F908-46EE-B849-0DEE3CE03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D418B2C-5422-4FD0-9938-9D59569CE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CE0F9-F254-4CAC-A763-6B54DB9BFC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3193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D87A889-2F50-4E3F-9D05-9BE35EA00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9BAC1-9395-4293-810A-FA51378B6D4A}" type="datetimeFigureOut">
              <a:rPr lang="fr-FR" smtClean="0"/>
              <a:t>09/09/2025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F12A39-8E64-41E7-84AF-B38DB0300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101C2C-5AA8-40E1-B67B-EF1FAD6ED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CE0F9-F254-4CAC-A763-6B54DB9BFC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7335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3C917D-2BEB-462D-8AE8-58373A537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0E05A8F-1DF5-41D7-A275-B442DA78C4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5B99830-273A-4A27-8F61-D678F71D5C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C9F65F1-924A-4A14-BC7E-4F9C267A7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9BAC1-9395-4293-810A-FA51378B6D4A}" type="datetimeFigureOut">
              <a:rPr lang="fr-FR" smtClean="0"/>
              <a:t>09/09/2025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BA9F3F5-1F65-49A6-96D7-57E88C0A1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E4E5F41-1E61-4167-91DD-7C421C275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CE0F9-F254-4CAC-A763-6B54DB9BFC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4156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48CBF0-3AC7-42E7-BCEC-6887AD29D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E98005E-B614-4A5D-9E8C-901F19CA6F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8184EA0-CF67-4FA0-A50B-3CD9031889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DE6AD26-4D8B-4E01-9450-F2218A482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9BAC1-9395-4293-810A-FA51378B6D4A}" type="datetimeFigureOut">
              <a:rPr lang="fr-FR" smtClean="0"/>
              <a:t>09/09/2025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434846B-48E3-48B2-9AFB-3E7D839D5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6DB2840-033C-4FE7-AB1C-7FE39D515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CE0F9-F254-4CAC-A763-6B54DB9BFC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0873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E347B7-B300-472E-82DF-F44B5C941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39B8367-4B41-4D73-A3A8-251ED3152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83F3AD3-0027-43A7-8B0B-B0906A31E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9BAC1-9395-4293-810A-FA51378B6D4A}" type="datetimeFigureOut">
              <a:rPr lang="fr-FR" smtClean="0"/>
              <a:t>09/09/2025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8647DBC-A0B7-4FCF-BF82-189FFF695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C3B23A6-6205-45F3-AEB3-EB42A4AC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CE0F9-F254-4CAC-A763-6B54DB9BFC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8487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442A13B-7D68-4392-8469-A01C5D0229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84B55A3-F665-4E70-B130-11032CDCAA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1131BA-17A1-41D7-ADFA-DAF93D50C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9BAC1-9395-4293-810A-FA51378B6D4A}" type="datetimeFigureOut">
              <a:rPr lang="fr-FR" smtClean="0"/>
              <a:t>09/09/2025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A1D59F3-837D-40D4-B742-A4013BF81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CFD102-7C8B-42E5-90F3-9926C8990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CE0F9-F254-4CAC-A763-6B54DB9BFC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9362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E521157-3345-475F-AF93-86F3DCCFB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5B840D7-4D0F-4C72-B981-69620C882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33DD256-5472-4B65-A7D2-F6849A5A5E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39BAC1-9395-4293-810A-FA51378B6D4A}" type="datetimeFigureOut">
              <a:rPr lang="fr-FR" smtClean="0"/>
              <a:t>09/09/2025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F351396-DFB9-4231-B54B-F85E80E981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8BDF37C-B5C8-4B57-A2F4-A0958297EC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8CE0F9-F254-4CAC-A763-6B54DB9BFC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3537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re 1">
            <a:extLst>
              <a:ext uri="{FF2B5EF4-FFF2-40B4-BE49-F238E27FC236}">
                <a16:creationId xmlns:a16="http://schemas.microsoft.com/office/drawing/2014/main" id="{E7CCD769-BF19-4E82-A13E-547639491B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9800" y="3816351"/>
            <a:ext cx="7772400" cy="147002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fr-FR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Brûlures Cutanées Récentes</a:t>
            </a:r>
            <a:endParaRPr lang="fr-FR" sz="36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51" name="Sous-titre 2">
            <a:extLst>
              <a:ext uri="{FF2B5EF4-FFF2-40B4-BE49-F238E27FC236}">
                <a16:creationId xmlns:a16="http://schemas.microsoft.com/office/drawing/2014/main" id="{8023DF47-88B8-405F-AFA4-4396CE2A99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95600" y="5419725"/>
            <a:ext cx="6400800" cy="100965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de-DE" alt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 </a:t>
            </a:r>
            <a:r>
              <a:rPr lang="de-DE" altLang="fr-F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Nidhal</a:t>
            </a:r>
            <a:r>
              <a:rPr lang="de-DE" alt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altLang="fr-F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Mahdhi</a:t>
            </a:r>
            <a:r>
              <a:rPr lang="de-DE" alt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 Mohamed </a:t>
            </a:r>
            <a:r>
              <a:rPr lang="de-DE" altLang="fr-F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Kahloul</a:t>
            </a:r>
            <a:endParaRPr lang="fr-FR" alt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2" name="Image 3">
            <a:extLst>
              <a:ext uri="{FF2B5EF4-FFF2-40B4-BE49-F238E27FC236}">
                <a16:creationId xmlns:a16="http://schemas.microsoft.com/office/drawing/2014/main" id="{5619E222-1A74-411F-BFBB-738F85E92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3388" y="285751"/>
            <a:ext cx="6337300" cy="335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B162DE6-DEC1-41D2-AE4D-5D59D8EEF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935CD09-F86D-42EB-9F37-9C247D796906}" type="slidenum">
              <a:rPr lang="fr-FR" altLang="fr-FR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</a:t>
            </a:fld>
            <a:endParaRPr lang="fr-FR" altLang="fr-FR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A8C8BC03-6095-44EA-8C30-2270268A9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4100" y="1825624"/>
            <a:ext cx="7248525" cy="1755776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>
            <a:normAutofit/>
          </a:bodyPr>
          <a:lstStyle/>
          <a:p>
            <a:pPr algn="ctr">
              <a:buFont typeface="Arial" panose="020B0604020202020204" pitchFamily="34" charset="0"/>
              <a:buNone/>
            </a:pPr>
            <a:r>
              <a:rPr lang="fr-FR" altLang="fr-FR" sz="5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Évaluation </a:t>
            </a:r>
          </a:p>
          <a:p>
            <a:pPr algn="ctr">
              <a:buFont typeface="Arial" panose="020B0604020202020204" pitchFamily="34" charset="0"/>
              <a:buNone/>
            </a:pPr>
            <a:r>
              <a:rPr lang="fr-FR" altLang="fr-FR" sz="5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2384215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62FF8C81-9CC2-43A1-B5D3-32CE19329A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200" y="1487487"/>
            <a:ext cx="9144000" cy="4351337"/>
          </a:xfrm>
        </p:spPr>
        <p:txBody>
          <a:bodyPr>
            <a:normAutofit fontScale="25000" lnSpcReduction="20000"/>
          </a:bodyPr>
          <a:lstStyle/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r>
              <a:rPr lang="fr-FR" sz="80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Quels éléments définissent une brûlure grave dès la phase initiale ?</a:t>
            </a:r>
            <a:r>
              <a:rPr lang="fr-FR" sz="8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fr-FR" sz="8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22860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r>
              <a:rPr lang="fr-FR" sz="8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A) Une superficie cutanée brulée supérieure à 20 % de la surface corporelle chez l'adulte.</a:t>
            </a:r>
            <a:endParaRPr lang="fr-FR" sz="8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22860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r>
              <a:rPr lang="fr-FR" sz="8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B) La présence de phlyctènes, quel que soit leur nombre.</a:t>
            </a:r>
            <a:endParaRPr lang="fr-FR" sz="8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22860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r>
              <a:rPr lang="fr-FR" sz="8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C) Une localisation au visage, aux mains, aux plis de flexion ou au périnée.</a:t>
            </a:r>
            <a:endParaRPr lang="fr-FR" sz="8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22860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r>
              <a:rPr lang="fr-FR" sz="8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D) Une brûlure circonférentielle d'un membre.</a:t>
            </a:r>
            <a:endParaRPr lang="fr-FR" sz="8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22860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r>
              <a:rPr lang="fr-FR" sz="8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E) Une brûlure du 1er degré étendue.</a:t>
            </a:r>
            <a:endParaRPr lang="fr-FR" sz="8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23D433AE-9A1C-491A-836D-FF286392AC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379413"/>
            <a:ext cx="9791700" cy="554037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fr-FR" altLang="fr-FR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1 </a:t>
            </a:r>
          </a:p>
        </p:txBody>
      </p:sp>
    </p:spTree>
    <p:extLst>
      <p:ext uri="{BB962C8B-B14F-4D97-AF65-F5344CB8AC3E}">
        <p14:creationId xmlns:p14="http://schemas.microsoft.com/office/powerpoint/2010/main" val="449294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62FF8C81-9CC2-43A1-B5D3-32CE19329A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200" y="1487487"/>
            <a:ext cx="9144000" cy="4351337"/>
          </a:xfrm>
        </p:spPr>
        <p:txBody>
          <a:bodyPr>
            <a:normAutofit fontScale="25000" lnSpcReduction="20000"/>
          </a:bodyPr>
          <a:lstStyle/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r>
              <a:rPr lang="fr-FR" sz="80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Quels éléments définissent une brûlure grave dès la phase initiale ?</a:t>
            </a:r>
            <a:r>
              <a:rPr lang="fr-FR" sz="8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fr-FR" sz="8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22860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r>
              <a:rPr lang="fr-FR" sz="8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A) Une superficie cutanée brulée supérieure à 20 % de la surface corporelle chez l'adulte.</a:t>
            </a:r>
            <a:endParaRPr lang="fr-FR" sz="8000" kern="100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22860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r>
              <a:rPr lang="fr-FR" sz="8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B) La présence de phlyctènes, quel que soit leur nombre.</a:t>
            </a:r>
            <a:endParaRPr lang="fr-FR" sz="8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22860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r>
              <a:rPr lang="fr-FR" sz="8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C) Une localisation au visage, aux mains, aux plis de flexion ou au périnée.</a:t>
            </a:r>
            <a:endParaRPr lang="fr-FR" sz="8000" kern="100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22860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r>
              <a:rPr lang="fr-FR" sz="8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D) Une brûlure circonférentielle d'un membre.</a:t>
            </a:r>
            <a:endParaRPr lang="fr-FR" sz="8000" kern="100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22860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r>
              <a:rPr lang="fr-FR" sz="8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E) Une brûlure du 1er degré étendue.</a:t>
            </a:r>
            <a:endParaRPr lang="fr-FR" sz="8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23D433AE-9A1C-491A-836D-FF286392AC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379413"/>
            <a:ext cx="9791700" cy="554037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fr-FR" altLang="fr-FR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QCM 1 </a:t>
            </a:r>
          </a:p>
        </p:txBody>
      </p:sp>
    </p:spTree>
    <p:extLst>
      <p:ext uri="{BB962C8B-B14F-4D97-AF65-F5344CB8AC3E}">
        <p14:creationId xmlns:p14="http://schemas.microsoft.com/office/powerpoint/2010/main" val="419422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79F696-2F36-46A8-B264-71A9BCB3A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6550"/>
            <a:ext cx="10515600" cy="4351338"/>
          </a:xfrm>
        </p:spPr>
        <p:txBody>
          <a:bodyPr/>
          <a:lstStyle/>
          <a:p>
            <a:pPr marL="0" lvl="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Quels sont les signes cliniques caractéristiques d'une brûlure du 3ème degré ? 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A) Douleur très intense à la palpation.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B) Peau insensible au toucher.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C) Aspect blanc nacré ou cartonné de la peau.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D) Présence de phlyctènes remplies de liquide clair.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E) Rougeur  qui disparaît à la vitropression.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BCB9DDFC-2686-43C3-BB93-2EA298457A29}"/>
              </a:ext>
            </a:extLst>
          </p:cNvPr>
          <p:cNvSpPr txBox="1">
            <a:spLocks/>
          </p:cNvSpPr>
          <p:nvPr/>
        </p:nvSpPr>
        <p:spPr>
          <a:xfrm>
            <a:off x="762000" y="379413"/>
            <a:ext cx="9791700" cy="554037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QCM 2</a:t>
            </a:r>
          </a:p>
        </p:txBody>
      </p:sp>
    </p:spTree>
    <p:extLst>
      <p:ext uri="{BB962C8B-B14F-4D97-AF65-F5344CB8AC3E}">
        <p14:creationId xmlns:p14="http://schemas.microsoft.com/office/powerpoint/2010/main" val="3895226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79F696-2F36-46A8-B264-71A9BCB3A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511300"/>
            <a:ext cx="10515600" cy="4351338"/>
          </a:xfrm>
        </p:spPr>
        <p:txBody>
          <a:bodyPr/>
          <a:lstStyle/>
          <a:p>
            <a:pPr marL="0" lvl="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Quels sont les signes cliniques caractéristiques d'une brûlure du 3ème degré ? 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A) Douleur très intense à la palpation.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B) Peau insensible au toucher.</a:t>
            </a:r>
            <a:endParaRPr lang="fr-FR" sz="2000" kern="100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C) Aspect blanc nacré ou cartonné de la peau.</a:t>
            </a:r>
            <a:endParaRPr lang="fr-FR" sz="2000" kern="100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D) Présence de phlyctènes remplies de liquide clair.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E) Rougeur  qui disparaît à la vitropression.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BCB9DDFC-2686-43C3-BB93-2EA298457A29}"/>
              </a:ext>
            </a:extLst>
          </p:cNvPr>
          <p:cNvSpPr txBox="1">
            <a:spLocks/>
          </p:cNvSpPr>
          <p:nvPr/>
        </p:nvSpPr>
        <p:spPr>
          <a:xfrm>
            <a:off x="762000" y="379413"/>
            <a:ext cx="9791700" cy="554037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QCM 2</a:t>
            </a:r>
          </a:p>
        </p:txBody>
      </p:sp>
    </p:spTree>
    <p:extLst>
      <p:ext uri="{BB962C8B-B14F-4D97-AF65-F5344CB8AC3E}">
        <p14:creationId xmlns:p14="http://schemas.microsoft.com/office/powerpoint/2010/main" val="3558221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1C5521F-FF7C-457D-8D40-1CF3EBF1E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Quels sont les risques vitaux immédiats qui peuvent se voir lors de la prise en charge d'un grand brûlé ? 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A) État de choc hypovolémique.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B) Infection nosocomiale.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C) Œdème laryngé en cas d'inhalation de fumées.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D) Intoxication au monoxyde de carbone (CO).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E) Tétanos</a:t>
            </a:r>
            <a:endParaRPr lang="fr-FR" sz="3200" dirty="0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F21946BB-2398-44C8-B403-88DDDE514763}"/>
              </a:ext>
            </a:extLst>
          </p:cNvPr>
          <p:cNvSpPr txBox="1">
            <a:spLocks/>
          </p:cNvSpPr>
          <p:nvPr/>
        </p:nvSpPr>
        <p:spPr>
          <a:xfrm>
            <a:off x="762000" y="379413"/>
            <a:ext cx="9791700" cy="554037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QCM 3</a:t>
            </a:r>
          </a:p>
        </p:txBody>
      </p:sp>
    </p:spTree>
    <p:extLst>
      <p:ext uri="{BB962C8B-B14F-4D97-AF65-F5344CB8AC3E}">
        <p14:creationId xmlns:p14="http://schemas.microsoft.com/office/powerpoint/2010/main" val="2906128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1C5521F-FF7C-457D-8D40-1CF3EBF1E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Quels sont les risques vitaux immédiats qui peuvent se voir lors de la prise en charge d'un grand brûlé ? 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A) État de choc hypovolémique.</a:t>
            </a:r>
            <a:endParaRPr lang="fr-FR" sz="2000" kern="1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B) Infection nosocomiale.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C) Œdème laryngé en cas d'inhalation de fumées.</a:t>
            </a:r>
            <a:endParaRPr lang="fr-FR" sz="2000" kern="1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D) Intoxication au monoxyde de carbone (CO).</a:t>
            </a:r>
            <a:endParaRPr lang="fr-FR" sz="2000" kern="1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E) Tétanos</a:t>
            </a:r>
            <a:endParaRPr lang="fr-FR" sz="3200" dirty="0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F21946BB-2398-44C8-B403-88DDDE514763}"/>
              </a:ext>
            </a:extLst>
          </p:cNvPr>
          <p:cNvSpPr txBox="1">
            <a:spLocks/>
          </p:cNvSpPr>
          <p:nvPr/>
        </p:nvSpPr>
        <p:spPr>
          <a:xfrm>
            <a:off x="762000" y="379413"/>
            <a:ext cx="9791700" cy="554037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QCM 3</a:t>
            </a:r>
          </a:p>
        </p:txBody>
      </p:sp>
    </p:spTree>
    <p:extLst>
      <p:ext uri="{BB962C8B-B14F-4D97-AF65-F5344CB8AC3E}">
        <p14:creationId xmlns:p14="http://schemas.microsoft.com/office/powerpoint/2010/main" val="4083039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573F7E1-C3A0-45C6-8028-A79A4560D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lvl="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Quels éléments du contexte doivent faire suspecter précocement une brûlure des voies aériennes ? 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A) Brûlures péri-orales et présence de suie dans les narines.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B) Voix rauque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C) Tachycardie isolée.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D) Exposition à des fumées d'incendie en lieu clos.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E) Cyanose des extrémités.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2B1C6896-5FDA-4A12-8682-7882C42B8F0A}"/>
              </a:ext>
            </a:extLst>
          </p:cNvPr>
          <p:cNvSpPr txBox="1">
            <a:spLocks/>
          </p:cNvSpPr>
          <p:nvPr/>
        </p:nvSpPr>
        <p:spPr>
          <a:xfrm>
            <a:off x="762000" y="379413"/>
            <a:ext cx="9791700" cy="554037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QCM 4</a:t>
            </a:r>
          </a:p>
        </p:txBody>
      </p:sp>
    </p:spTree>
    <p:extLst>
      <p:ext uri="{BB962C8B-B14F-4D97-AF65-F5344CB8AC3E}">
        <p14:creationId xmlns:p14="http://schemas.microsoft.com/office/powerpoint/2010/main" val="3036253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573F7E1-C3A0-45C6-8028-A79A4560D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2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Quels éléments du contexte doivent faire suspecter précocement une brûlure des voies aériennes ? </a:t>
            </a:r>
            <a:endParaRPr lang="fr-FR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2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A) Brûlures péri-orales et présence de suie dans les narines.</a:t>
            </a:r>
            <a:endParaRPr lang="fr-FR" sz="2200" kern="1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2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B) Voix rauque</a:t>
            </a:r>
            <a:endParaRPr lang="fr-FR" sz="2200" kern="1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2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C) Tachycardie isolée.</a:t>
            </a:r>
            <a:endParaRPr lang="fr-FR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2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D) Exposition à des fumées d'incendie en lieu clos.</a:t>
            </a:r>
            <a:endParaRPr lang="fr-FR" sz="2200" kern="1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2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E) Cyanose des extrémités.</a:t>
            </a:r>
            <a:endParaRPr lang="fr-FR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2B1C6896-5FDA-4A12-8682-7882C42B8F0A}"/>
              </a:ext>
            </a:extLst>
          </p:cNvPr>
          <p:cNvSpPr txBox="1">
            <a:spLocks/>
          </p:cNvSpPr>
          <p:nvPr/>
        </p:nvSpPr>
        <p:spPr>
          <a:xfrm>
            <a:off x="762000" y="379413"/>
            <a:ext cx="9791700" cy="554037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QCM 4</a:t>
            </a:r>
          </a:p>
        </p:txBody>
      </p:sp>
    </p:spTree>
    <p:extLst>
      <p:ext uri="{BB962C8B-B14F-4D97-AF65-F5344CB8AC3E}">
        <p14:creationId xmlns:p14="http://schemas.microsoft.com/office/powerpoint/2010/main" val="2892180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7C6B52-5BB5-4C42-B86D-C94CC684B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La réanimation liquidienne selon la formule de </a:t>
            </a:r>
            <a:r>
              <a:rPr lang="fr-FR" sz="2000" b="1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Parkland</a:t>
            </a:r>
            <a:r>
              <a:rPr lang="fr-FR" sz="20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utilise préférentiellement :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A) Du sérum salé hypertonique.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B) Du sérum glucosé 5%.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C) du </a:t>
            </a:r>
            <a:r>
              <a:rPr lang="fr-FR" sz="20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Ringer</a:t>
            </a: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Lactate.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D) Des colloïdes synthétiques en première intention.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E) Du plasma frais congelé</a:t>
            </a:r>
            <a:r>
              <a:rPr lang="fr-FR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fr-F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EDC4DF75-42F3-49D5-A254-6C6808A3ECFD}"/>
              </a:ext>
            </a:extLst>
          </p:cNvPr>
          <p:cNvSpPr txBox="1">
            <a:spLocks/>
          </p:cNvSpPr>
          <p:nvPr/>
        </p:nvSpPr>
        <p:spPr>
          <a:xfrm>
            <a:off x="762000" y="379413"/>
            <a:ext cx="9791700" cy="554037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QCM 5</a:t>
            </a:r>
          </a:p>
        </p:txBody>
      </p:sp>
    </p:spTree>
    <p:extLst>
      <p:ext uri="{BB962C8B-B14F-4D97-AF65-F5344CB8AC3E}">
        <p14:creationId xmlns:p14="http://schemas.microsoft.com/office/powerpoint/2010/main" val="1745489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7C6B52-5BB5-4C42-B86D-C94CC684B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La réanimation liquidienne selon la formule de </a:t>
            </a:r>
            <a:r>
              <a:rPr lang="fr-FR" sz="2000" b="1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Parkland</a:t>
            </a:r>
            <a:r>
              <a:rPr lang="fr-FR" sz="20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utilise préférentiellement :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A) Du sérum salé hypertonique.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B) Du sérum glucosé 5%.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C) du </a:t>
            </a:r>
            <a:r>
              <a:rPr lang="fr-FR" sz="2000" kern="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Ringer</a:t>
            </a: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Lactate.</a:t>
            </a:r>
            <a:endParaRPr lang="fr-FR" sz="2000" kern="1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D) Des colloïdes synthétiques en première intention.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E) Du plasma frais congelé</a:t>
            </a:r>
            <a:r>
              <a:rPr lang="fr-FR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fr-F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EDC4DF75-42F3-49D5-A254-6C6808A3ECFD}"/>
              </a:ext>
            </a:extLst>
          </p:cNvPr>
          <p:cNvSpPr txBox="1">
            <a:spLocks/>
          </p:cNvSpPr>
          <p:nvPr/>
        </p:nvSpPr>
        <p:spPr>
          <a:xfrm>
            <a:off x="762000" y="379413"/>
            <a:ext cx="9791700" cy="554037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QCM 5</a:t>
            </a:r>
          </a:p>
        </p:txBody>
      </p:sp>
    </p:spTree>
    <p:extLst>
      <p:ext uri="{BB962C8B-B14F-4D97-AF65-F5344CB8AC3E}">
        <p14:creationId xmlns:p14="http://schemas.microsoft.com/office/powerpoint/2010/main" val="3561874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514452-B237-4AB2-B9E5-B32B20C02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18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fr-FR" sz="20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L'évaluation de la profondeur d'une brûlure :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A) Se fait par la règle de </a:t>
            </a:r>
            <a:r>
              <a:rPr lang="fr-FR" sz="20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Walace</a:t>
            </a: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B) Nécessite des prélèvements biopsiques.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C) Peut être faussée par l'œdème et l'ischémie.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D) Sous-estime toujours la gravité pour les brûlures électriques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E) Est plus fiable après 48-72 heures.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52306000-063E-4F1B-A26A-BA76B8694C54}"/>
              </a:ext>
            </a:extLst>
          </p:cNvPr>
          <p:cNvSpPr txBox="1">
            <a:spLocks/>
          </p:cNvSpPr>
          <p:nvPr/>
        </p:nvSpPr>
        <p:spPr>
          <a:xfrm>
            <a:off x="762000" y="379413"/>
            <a:ext cx="9791700" cy="554037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QCM 6</a:t>
            </a:r>
          </a:p>
        </p:txBody>
      </p:sp>
    </p:spTree>
    <p:extLst>
      <p:ext uri="{BB962C8B-B14F-4D97-AF65-F5344CB8AC3E}">
        <p14:creationId xmlns:p14="http://schemas.microsoft.com/office/powerpoint/2010/main" val="14929832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514452-B237-4AB2-B9E5-B32B20C02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18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fr-FR" sz="20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L'évaluation de la profondeur d'une brûlure :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A) Se fait par la règle de </a:t>
            </a:r>
            <a:r>
              <a:rPr lang="fr-FR" sz="20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Walace</a:t>
            </a: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B) Nécessite des prélèvements biopsiques.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C) Peut être faussée par l'œdème et l'ischémie.</a:t>
            </a:r>
            <a:endParaRPr lang="fr-FR" sz="2000" kern="1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D) Sous-estime toujours la gravité pour les brûlures électriques</a:t>
            </a:r>
            <a:endParaRPr lang="fr-FR" sz="2000" kern="1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E) Est plus fiable après 48-72 heures.</a:t>
            </a:r>
            <a:endParaRPr lang="fr-FR" sz="2000" kern="1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52306000-063E-4F1B-A26A-BA76B8694C54}"/>
              </a:ext>
            </a:extLst>
          </p:cNvPr>
          <p:cNvSpPr txBox="1">
            <a:spLocks/>
          </p:cNvSpPr>
          <p:nvPr/>
        </p:nvSpPr>
        <p:spPr>
          <a:xfrm>
            <a:off x="762000" y="379413"/>
            <a:ext cx="9791700" cy="554037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QCM 6</a:t>
            </a:r>
          </a:p>
        </p:txBody>
      </p:sp>
    </p:spTree>
    <p:extLst>
      <p:ext uri="{BB962C8B-B14F-4D97-AF65-F5344CB8AC3E}">
        <p14:creationId xmlns:p14="http://schemas.microsoft.com/office/powerpoint/2010/main" val="21656483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5795C2-140A-4989-8781-9F4FC5584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2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Quelles sont les actions prioritaires lors de la prise en charge préhospitalière d'un grand brûlé ? </a:t>
            </a:r>
            <a:endParaRPr lang="fr-FR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2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A) Refroidir les brûlures avec de l'eau glacée pendant 30 minutes.</a:t>
            </a:r>
            <a:endParaRPr lang="fr-FR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2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B) Arrêter le processus de brûlure en rinçant abondamment (si chimique).</a:t>
            </a:r>
            <a:endParaRPr lang="fr-FR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2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C) Ôter les vêtements non adhérents et les bijoux.</a:t>
            </a:r>
            <a:endParaRPr lang="fr-FR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2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D) Couvrir le patient avec un drap stérile ou propre pour lutter contre l'hypothermie.</a:t>
            </a:r>
            <a:endParaRPr lang="fr-FR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2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E) Percer les grandes phlyctènes pour soulager la douleur.</a:t>
            </a:r>
            <a:endParaRPr lang="fr-FR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82D58EF1-F7E8-4708-9594-EDA80F0D66F8}"/>
              </a:ext>
            </a:extLst>
          </p:cNvPr>
          <p:cNvSpPr txBox="1">
            <a:spLocks/>
          </p:cNvSpPr>
          <p:nvPr/>
        </p:nvSpPr>
        <p:spPr>
          <a:xfrm>
            <a:off x="762000" y="379413"/>
            <a:ext cx="9791700" cy="554037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QCM 7</a:t>
            </a:r>
          </a:p>
        </p:txBody>
      </p:sp>
    </p:spTree>
    <p:extLst>
      <p:ext uri="{BB962C8B-B14F-4D97-AF65-F5344CB8AC3E}">
        <p14:creationId xmlns:p14="http://schemas.microsoft.com/office/powerpoint/2010/main" val="22320364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5795C2-140A-4989-8781-9F4FC5584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2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Quelles sont les actions prioritaires lors de la prise en charge préhospitalière d'un grand brûlé ? </a:t>
            </a:r>
            <a:endParaRPr lang="fr-FR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2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A) Refroidir les brûlures avec de l'eau glacée pendant 30 minutes.</a:t>
            </a:r>
            <a:endParaRPr lang="fr-FR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2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B) Arrêter le processus de brûlure en rinçant abondamment (si chimique).</a:t>
            </a:r>
            <a:endParaRPr lang="fr-FR" sz="2200" kern="1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2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C) Ôter les vêtements non adhérents et les bijoux.</a:t>
            </a:r>
            <a:endParaRPr lang="fr-FR" sz="2200" kern="1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2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D) Couvrir le patient avec un drap stérile ou propre pour lutter contre l'hypothermie.</a:t>
            </a:r>
            <a:endParaRPr lang="fr-FR" sz="2200" kern="1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2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E) Percer les grandes phlyctènes pour soulager la douleur.</a:t>
            </a:r>
            <a:endParaRPr lang="fr-FR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82D58EF1-F7E8-4708-9594-EDA80F0D66F8}"/>
              </a:ext>
            </a:extLst>
          </p:cNvPr>
          <p:cNvSpPr txBox="1">
            <a:spLocks/>
          </p:cNvSpPr>
          <p:nvPr/>
        </p:nvSpPr>
        <p:spPr>
          <a:xfrm>
            <a:off x="762000" y="379413"/>
            <a:ext cx="9791700" cy="554037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QCM 7</a:t>
            </a:r>
          </a:p>
        </p:txBody>
      </p:sp>
    </p:spTree>
    <p:extLst>
      <p:ext uri="{BB962C8B-B14F-4D97-AF65-F5344CB8AC3E}">
        <p14:creationId xmlns:p14="http://schemas.microsoft.com/office/powerpoint/2010/main" val="12251092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C050452-E97B-4A0B-B3B8-C67103CA9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Quelles propositions sont des complications précoces spécifiques des brûlures électriques ? 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A) Troubles du rythme cardiaque immédiats.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B) Rhabdomyolyse et insuffisance rénale aiguë par </a:t>
            </a:r>
            <a:r>
              <a:rPr lang="fr-FR" sz="20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myoglobinurie</a:t>
            </a: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C) Lésions internes bien plus étendues que la lésion cutanée.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D) Infection fongique à Candida </a:t>
            </a:r>
            <a:r>
              <a:rPr lang="fr-FR" sz="20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Albicans</a:t>
            </a: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E) Syndrome de détresse respiratoire aiguë (</a:t>
            </a:r>
            <a:r>
              <a:rPr lang="fr-FR" sz="20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SDRA</a:t>
            </a: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) lésionnel</a:t>
            </a:r>
            <a:r>
              <a:rPr lang="fr-FR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fr-F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8F1B6C9E-AA3F-4BC9-BED0-D771DA63E8F5}"/>
              </a:ext>
            </a:extLst>
          </p:cNvPr>
          <p:cNvSpPr txBox="1">
            <a:spLocks/>
          </p:cNvSpPr>
          <p:nvPr/>
        </p:nvSpPr>
        <p:spPr>
          <a:xfrm>
            <a:off x="762000" y="379413"/>
            <a:ext cx="9791700" cy="554037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QCM 8</a:t>
            </a:r>
          </a:p>
        </p:txBody>
      </p:sp>
    </p:spTree>
    <p:extLst>
      <p:ext uri="{BB962C8B-B14F-4D97-AF65-F5344CB8AC3E}">
        <p14:creationId xmlns:p14="http://schemas.microsoft.com/office/powerpoint/2010/main" val="1357930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C050452-E97B-4A0B-B3B8-C67103CA9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Quelles propositions sont des complications précoces spécifiques des brûlures électriques ? 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A) Troubles du rythme cardiaque immédiats.</a:t>
            </a:r>
            <a:endParaRPr lang="fr-FR" sz="2000" kern="1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B) Rhabdomyolyse et insuffisance rénale aiguë par </a:t>
            </a:r>
            <a:r>
              <a:rPr lang="fr-FR" sz="2000" kern="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myoglobinurie</a:t>
            </a: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fr-FR" sz="2000" kern="1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C) Lésions internes bien plus étendues que la lésion cutanée.</a:t>
            </a:r>
            <a:endParaRPr lang="fr-FR" sz="2000" kern="1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D) Infection fongique à Candida </a:t>
            </a:r>
            <a:r>
              <a:rPr lang="fr-FR" sz="20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Albicans</a:t>
            </a: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E) Syndrome de détresse respiratoire aiguë (</a:t>
            </a:r>
            <a:r>
              <a:rPr lang="fr-FR" sz="20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SDRA</a:t>
            </a: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) lésionnel</a:t>
            </a:r>
            <a:r>
              <a:rPr lang="fr-FR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fr-F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8F1B6C9E-AA3F-4BC9-BED0-D771DA63E8F5}"/>
              </a:ext>
            </a:extLst>
          </p:cNvPr>
          <p:cNvSpPr txBox="1">
            <a:spLocks/>
          </p:cNvSpPr>
          <p:nvPr/>
        </p:nvSpPr>
        <p:spPr>
          <a:xfrm>
            <a:off x="762000" y="379413"/>
            <a:ext cx="9791700" cy="554037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QCM 8</a:t>
            </a:r>
          </a:p>
        </p:txBody>
      </p:sp>
    </p:spTree>
    <p:extLst>
      <p:ext uri="{BB962C8B-B14F-4D97-AF65-F5344CB8AC3E}">
        <p14:creationId xmlns:p14="http://schemas.microsoft.com/office/powerpoint/2010/main" val="26389695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F89862-0379-4001-B283-8A079D00C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Concernant l'analgésie du grand brûlé : 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A) Elle n'est nécessaire qu'en présence d'une brûlure du 3ème degré.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B) Les morphiniques sont les antalgiques de référence.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C) Elle doit être mise en œuvre très précocement.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D) L'administration doit être titrée.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E) La voie intramusculaire est à privilégier pour une action rapide.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CB96C8A8-C014-47D3-8426-25633047D3B7}"/>
              </a:ext>
            </a:extLst>
          </p:cNvPr>
          <p:cNvSpPr txBox="1">
            <a:spLocks/>
          </p:cNvSpPr>
          <p:nvPr/>
        </p:nvSpPr>
        <p:spPr>
          <a:xfrm>
            <a:off x="762000" y="379413"/>
            <a:ext cx="9791700" cy="554037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QCM 9</a:t>
            </a:r>
          </a:p>
        </p:txBody>
      </p:sp>
    </p:spTree>
    <p:extLst>
      <p:ext uri="{BB962C8B-B14F-4D97-AF65-F5344CB8AC3E}">
        <p14:creationId xmlns:p14="http://schemas.microsoft.com/office/powerpoint/2010/main" val="12114387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F89862-0379-4001-B283-8A079D00C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Concernant l'analgésie du grand brûlé : 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A) Elle n'est nécessaire qu'en présence d'une brûlure du 3ème degré.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B) Les morphiniques sont les antalgiques de référence.</a:t>
            </a:r>
            <a:endParaRPr lang="fr-FR" sz="2000" kern="1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C) Elle doit être mise en œuvre très précocement.</a:t>
            </a:r>
            <a:endParaRPr lang="fr-FR" sz="2000" kern="1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D) L'administration doit être titrée.</a:t>
            </a:r>
            <a:endParaRPr lang="fr-FR" sz="2000" kern="1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E) La voie intramusculaire est à privilégier pour une action rapide.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CB96C8A8-C014-47D3-8426-25633047D3B7}"/>
              </a:ext>
            </a:extLst>
          </p:cNvPr>
          <p:cNvSpPr txBox="1">
            <a:spLocks/>
          </p:cNvSpPr>
          <p:nvPr/>
        </p:nvSpPr>
        <p:spPr>
          <a:xfrm>
            <a:off x="762000" y="379413"/>
            <a:ext cx="9791700" cy="554037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QCM 9</a:t>
            </a:r>
          </a:p>
        </p:txBody>
      </p:sp>
    </p:spTree>
    <p:extLst>
      <p:ext uri="{BB962C8B-B14F-4D97-AF65-F5344CB8AC3E}">
        <p14:creationId xmlns:p14="http://schemas.microsoft.com/office/powerpoint/2010/main" val="41556175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5A534AE-4D6B-4433-A3AB-66BCE5F63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18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Quelles sont les indications d'une intubation </a:t>
            </a:r>
            <a:r>
              <a:rPr lang="fr-FR" sz="1800" b="1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oro-trachéale</a:t>
            </a:r>
            <a:r>
              <a:rPr lang="fr-FR" sz="18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précoce chez un brûlé ? </a:t>
            </a:r>
            <a:endParaRPr lang="fr-F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A) Brûlure faciale étendue.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B) Suspicion forte d'inhalation de fumées (voix rauque, suie...).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C) Agitation.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D) Brûlure circulaire du thorax gênant la mécanique ventilatoire.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E) une tachycardie à 120 battements/min.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F7514D73-3ABE-4503-8A33-C0DCDE9D6969}"/>
              </a:ext>
            </a:extLst>
          </p:cNvPr>
          <p:cNvSpPr txBox="1">
            <a:spLocks/>
          </p:cNvSpPr>
          <p:nvPr/>
        </p:nvSpPr>
        <p:spPr>
          <a:xfrm>
            <a:off x="762000" y="379413"/>
            <a:ext cx="9791700" cy="554037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QCM 10</a:t>
            </a:r>
          </a:p>
        </p:txBody>
      </p:sp>
    </p:spTree>
    <p:extLst>
      <p:ext uri="{BB962C8B-B14F-4D97-AF65-F5344CB8AC3E}">
        <p14:creationId xmlns:p14="http://schemas.microsoft.com/office/powerpoint/2010/main" val="30794945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5A534AE-4D6B-4433-A3AB-66BCE5F63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18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Quelles sont les indications d'une intubation </a:t>
            </a:r>
            <a:r>
              <a:rPr lang="fr-FR" sz="1800" b="1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oro-trachéale</a:t>
            </a:r>
            <a:r>
              <a:rPr lang="fr-FR" sz="18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précoce chez un brûlé ? </a:t>
            </a:r>
            <a:endParaRPr lang="fr-F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A) Brûlure faciale étendue.</a:t>
            </a:r>
            <a:endParaRPr lang="fr-FR" sz="2000" kern="1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B) Suspicion forte d'inhalation de fumées (voix rauque, suie...).</a:t>
            </a:r>
            <a:endParaRPr lang="fr-FR" sz="2000" kern="1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C) Agitation.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D) Brûlure circulaire du thorax gênant la mécanique ventilatoire.</a:t>
            </a:r>
            <a:endParaRPr lang="fr-FR" sz="2000" kern="1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E) une tachycardie à 120 battements/min.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F7514D73-3ABE-4503-8A33-C0DCDE9D6969}"/>
              </a:ext>
            </a:extLst>
          </p:cNvPr>
          <p:cNvSpPr txBox="1">
            <a:spLocks/>
          </p:cNvSpPr>
          <p:nvPr/>
        </p:nvSpPr>
        <p:spPr>
          <a:xfrm>
            <a:off x="762000" y="379413"/>
            <a:ext cx="9791700" cy="554037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QCM 10</a:t>
            </a:r>
          </a:p>
        </p:txBody>
      </p:sp>
    </p:spTree>
    <p:extLst>
      <p:ext uri="{BB962C8B-B14F-4D97-AF65-F5344CB8AC3E}">
        <p14:creationId xmlns:p14="http://schemas.microsoft.com/office/powerpoint/2010/main" val="28736813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B6E000-672E-422B-A31D-C9FE402F4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Chez un brulé grave, Les signes évocateurs d'une inhalation de fumées sont :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A) Une brûlure des sourcils et des poils du nez.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B) Une dysphonie, une toux, des expectorations noires.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C) Une cyanose systématiquement présente.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D) Des brûlures situées uniquement au niveau du visage.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E) Un stridor 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9D67C0FC-D93E-4068-B574-4A9AE37DD1CB}"/>
              </a:ext>
            </a:extLst>
          </p:cNvPr>
          <p:cNvSpPr txBox="1">
            <a:spLocks/>
          </p:cNvSpPr>
          <p:nvPr/>
        </p:nvSpPr>
        <p:spPr>
          <a:xfrm>
            <a:off x="762000" y="379413"/>
            <a:ext cx="9791700" cy="554037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QCM 11</a:t>
            </a:r>
          </a:p>
        </p:txBody>
      </p:sp>
    </p:spTree>
    <p:extLst>
      <p:ext uri="{BB962C8B-B14F-4D97-AF65-F5344CB8AC3E}">
        <p14:creationId xmlns:p14="http://schemas.microsoft.com/office/powerpoint/2010/main" val="12647972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B6E000-672E-422B-A31D-C9FE402F4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Chez un brulé grave, Les signes évocateurs d'une inhalation de fumées sont :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A) Une brûlure des sourcils et des poils du nez.</a:t>
            </a:r>
            <a:endParaRPr lang="fr-FR" sz="2000" kern="1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B) Une dysphonie, une toux, des expectorations noires.</a:t>
            </a:r>
            <a:endParaRPr lang="fr-FR" sz="2000" kern="1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C) Une cyanose systématiquement présente.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D) Des brûlures situées uniquement au niveau du visage.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E) Un stridor </a:t>
            </a:r>
            <a:endParaRPr lang="fr-FR" sz="2000" kern="1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9D67C0FC-D93E-4068-B574-4A9AE37DD1CB}"/>
              </a:ext>
            </a:extLst>
          </p:cNvPr>
          <p:cNvSpPr txBox="1">
            <a:spLocks/>
          </p:cNvSpPr>
          <p:nvPr/>
        </p:nvSpPr>
        <p:spPr>
          <a:xfrm>
            <a:off x="762000" y="379413"/>
            <a:ext cx="9791700" cy="554037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QCM 11</a:t>
            </a:r>
          </a:p>
        </p:txBody>
      </p:sp>
    </p:spTree>
    <p:extLst>
      <p:ext uri="{BB962C8B-B14F-4D97-AF65-F5344CB8AC3E}">
        <p14:creationId xmlns:p14="http://schemas.microsoft.com/office/powerpoint/2010/main" val="24846483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743CCF2-CB21-49FF-9622-757093AC1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Chez un brulé grave, le syndrome d'inhalation de fumées peut entraîner :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A) Un œdème lésionnel des voies aériennes avec risque d'obstruction retardée.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B) Une intoxication au cyanure.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C) Une insuffisance rénale aiguë.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D) Une atélectasie.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E) Une intoxication au monoxyde de carbone.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0F6888BB-3B0C-45C1-AB6B-B355B05065F7}"/>
              </a:ext>
            </a:extLst>
          </p:cNvPr>
          <p:cNvSpPr txBox="1">
            <a:spLocks/>
          </p:cNvSpPr>
          <p:nvPr/>
        </p:nvSpPr>
        <p:spPr>
          <a:xfrm>
            <a:off x="762000" y="379413"/>
            <a:ext cx="9791700" cy="554037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QCM 12</a:t>
            </a:r>
          </a:p>
        </p:txBody>
      </p:sp>
    </p:spTree>
    <p:extLst>
      <p:ext uri="{BB962C8B-B14F-4D97-AF65-F5344CB8AC3E}">
        <p14:creationId xmlns:p14="http://schemas.microsoft.com/office/powerpoint/2010/main" val="17398827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743CCF2-CB21-49FF-9622-757093AC1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Chez un brulé grave, le syndrome d'inhalation de fumées peut entraîner :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A) Un œdème lésionnel des voies aériennes avec risque d'obstruction retardée.</a:t>
            </a:r>
            <a:endParaRPr lang="fr-FR" sz="2000" kern="1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B) Une intoxication au cyanure.</a:t>
            </a:r>
            <a:endParaRPr lang="fr-FR" sz="2000" kern="1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C) Une insuffisance rénale aiguë.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D) Une atélectasie.</a:t>
            </a:r>
            <a:endParaRPr lang="fr-FR" sz="2000" kern="1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E) Une intoxication au monoxyde de carbone.</a:t>
            </a:r>
            <a:endParaRPr lang="fr-FR" sz="2000" kern="1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0F6888BB-3B0C-45C1-AB6B-B355B05065F7}"/>
              </a:ext>
            </a:extLst>
          </p:cNvPr>
          <p:cNvSpPr txBox="1">
            <a:spLocks/>
          </p:cNvSpPr>
          <p:nvPr/>
        </p:nvSpPr>
        <p:spPr>
          <a:xfrm>
            <a:off x="762000" y="379413"/>
            <a:ext cx="9791700" cy="554037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QCM 12</a:t>
            </a:r>
          </a:p>
        </p:txBody>
      </p:sp>
    </p:spTree>
    <p:extLst>
      <p:ext uri="{BB962C8B-B14F-4D97-AF65-F5344CB8AC3E}">
        <p14:creationId xmlns:p14="http://schemas.microsoft.com/office/powerpoint/2010/main" val="6312268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48A7380-52AD-4599-A2E2-403097FA7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Le traitement de l'intoxication au monoxyde de carbone (CO) repose initialement sur :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A) L'administration d'oxygène normobare à haut débit (15 L/min).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B) L'oxygénothérapie hyperbare systématique.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C) L’administration de l’</a:t>
            </a:r>
            <a:r>
              <a:rPr lang="fr-FR" sz="20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hydroxocobalamine</a:t>
            </a: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D) L'administration de bleu de méthylène.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E) La ventilation mécanique avec une </a:t>
            </a:r>
            <a:r>
              <a:rPr lang="fr-FR" sz="20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FIO2</a:t>
            </a: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à 100%.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FF1F0160-1275-46E0-AEA0-10E484104E89}"/>
              </a:ext>
            </a:extLst>
          </p:cNvPr>
          <p:cNvSpPr txBox="1">
            <a:spLocks/>
          </p:cNvSpPr>
          <p:nvPr/>
        </p:nvSpPr>
        <p:spPr>
          <a:xfrm>
            <a:off x="762000" y="379413"/>
            <a:ext cx="9791700" cy="554037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QCM 13</a:t>
            </a:r>
          </a:p>
        </p:txBody>
      </p:sp>
    </p:spTree>
    <p:extLst>
      <p:ext uri="{BB962C8B-B14F-4D97-AF65-F5344CB8AC3E}">
        <p14:creationId xmlns:p14="http://schemas.microsoft.com/office/powerpoint/2010/main" val="35011789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48A7380-52AD-4599-A2E2-403097FA7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Le traitement de l'intoxication au monoxyde de carbone (CO) repose initialement sur :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A) L'administration d'oxygène normobare à haut débit (15 L/min).</a:t>
            </a:r>
            <a:endParaRPr lang="fr-FR" sz="2000" kern="1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B) L'oxygénothérapie hyperbare systématique.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C) L’administration de l’</a:t>
            </a:r>
            <a:r>
              <a:rPr lang="fr-FR" sz="20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hydroxocobalamine</a:t>
            </a: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D) L'administration de bleu de méthylène.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E) La ventilation mécanique avec une </a:t>
            </a:r>
            <a:r>
              <a:rPr lang="fr-FR" sz="20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FIO2</a:t>
            </a: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à 100%.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FF1F0160-1275-46E0-AEA0-10E484104E89}"/>
              </a:ext>
            </a:extLst>
          </p:cNvPr>
          <p:cNvSpPr txBox="1">
            <a:spLocks/>
          </p:cNvSpPr>
          <p:nvPr/>
        </p:nvSpPr>
        <p:spPr>
          <a:xfrm>
            <a:off x="762000" y="379413"/>
            <a:ext cx="9791700" cy="554037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QCM 13</a:t>
            </a:r>
          </a:p>
        </p:txBody>
      </p:sp>
    </p:spTree>
    <p:extLst>
      <p:ext uri="{BB962C8B-B14F-4D97-AF65-F5344CB8AC3E}">
        <p14:creationId xmlns:p14="http://schemas.microsoft.com/office/powerpoint/2010/main" val="39988710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0EC6FB0-2A6B-475B-90E4-1A4139148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Chez un brulé grave, quels sont les principaux objectifs thérapeutiques à la  phase initiale ? 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A) Chirurgie de recouvrement cutané.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B) Maintien de la perfusion des organes vitaux.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C) Prévention de  l'infection par une antibiothérapie probabiliste.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D) Contrôle de la douleur par  une analgésie efficace.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E) Rééducation fonctionnelle active.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00E86F3D-3C7A-4892-B449-EA5309DDDE8B}"/>
              </a:ext>
            </a:extLst>
          </p:cNvPr>
          <p:cNvSpPr txBox="1">
            <a:spLocks/>
          </p:cNvSpPr>
          <p:nvPr/>
        </p:nvSpPr>
        <p:spPr>
          <a:xfrm>
            <a:off x="762000" y="379413"/>
            <a:ext cx="9791700" cy="554037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QCM 14</a:t>
            </a:r>
          </a:p>
        </p:txBody>
      </p:sp>
    </p:spTree>
    <p:extLst>
      <p:ext uri="{BB962C8B-B14F-4D97-AF65-F5344CB8AC3E}">
        <p14:creationId xmlns:p14="http://schemas.microsoft.com/office/powerpoint/2010/main" val="26351801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0EC6FB0-2A6B-475B-90E4-1A4139148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Chez un brulé grave, quels sont les principaux objectifs thérapeutiques à la  phase initiale ? 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A) Chirurgie de recouvrement cutané.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B) Maintien de la perfusion des organes vitaux.</a:t>
            </a:r>
            <a:endParaRPr lang="fr-FR" sz="2000" kern="1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C) Prévention de  l'infection par une antibiothérapie probabiliste.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D) Contrôle de la douleur par  une analgésie efficace.</a:t>
            </a:r>
            <a:endParaRPr lang="fr-FR" sz="2000" kern="1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E) Rééducation fonctionnelle active.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00E86F3D-3C7A-4892-B449-EA5309DDDE8B}"/>
              </a:ext>
            </a:extLst>
          </p:cNvPr>
          <p:cNvSpPr txBox="1">
            <a:spLocks/>
          </p:cNvSpPr>
          <p:nvPr/>
        </p:nvSpPr>
        <p:spPr>
          <a:xfrm>
            <a:off x="762000" y="379413"/>
            <a:ext cx="9791700" cy="554037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QCM 14</a:t>
            </a:r>
          </a:p>
        </p:txBody>
      </p:sp>
    </p:spTree>
    <p:extLst>
      <p:ext uri="{BB962C8B-B14F-4D97-AF65-F5344CB8AC3E}">
        <p14:creationId xmlns:p14="http://schemas.microsoft.com/office/powerpoint/2010/main" val="17321452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5951D2-4058-4EC0-813D-66FE9185FB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Chez un brulé grave, L’intubation trachéale précoce est indiquée en cas de :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a) Brûlure faciale étendue.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b) Signes patents d'inhalation de fumées avec détresse respiratoire.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c) Brûlure supérieure à 20% de </a:t>
            </a:r>
            <a:r>
              <a:rPr lang="fr-FR" sz="20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SCB</a:t>
            </a: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d) Altération profonde de l’état de conscience.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e) Brûlure circonférentielle du cou.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FFCF7732-51FC-4DD3-BD57-84E98ABC722F}"/>
              </a:ext>
            </a:extLst>
          </p:cNvPr>
          <p:cNvSpPr txBox="1">
            <a:spLocks/>
          </p:cNvSpPr>
          <p:nvPr/>
        </p:nvSpPr>
        <p:spPr>
          <a:xfrm>
            <a:off x="762000" y="379413"/>
            <a:ext cx="9791700" cy="554037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QCM 15</a:t>
            </a:r>
          </a:p>
        </p:txBody>
      </p:sp>
    </p:spTree>
    <p:extLst>
      <p:ext uri="{BB962C8B-B14F-4D97-AF65-F5344CB8AC3E}">
        <p14:creationId xmlns:p14="http://schemas.microsoft.com/office/powerpoint/2010/main" val="26380009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5951D2-4058-4EC0-813D-66FE9185FB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Chez un brulé grave, L’intubation trachéale précoce est indiquée en cas de :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a) Brûlure faciale étendue.</a:t>
            </a:r>
            <a:endParaRPr lang="fr-FR" sz="2000" kern="100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b) Signes patents d'inhalation de fumées avec détresse respiratoire</a:t>
            </a: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c) Brûlure supérieure à 20% de </a:t>
            </a:r>
            <a:r>
              <a:rPr lang="fr-FR" sz="20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SCB</a:t>
            </a: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d) Altération profonde de l’état de conscience.</a:t>
            </a:r>
            <a:endParaRPr lang="fr-FR" sz="2000" kern="100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e) Brûlure circonférentielle du cou.</a:t>
            </a:r>
            <a:endParaRPr lang="fr-FR" sz="2000" kern="100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FFCF7732-51FC-4DD3-BD57-84E98ABC722F}"/>
              </a:ext>
            </a:extLst>
          </p:cNvPr>
          <p:cNvSpPr txBox="1">
            <a:spLocks/>
          </p:cNvSpPr>
          <p:nvPr/>
        </p:nvSpPr>
        <p:spPr>
          <a:xfrm>
            <a:off x="762000" y="379413"/>
            <a:ext cx="9791700" cy="554037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QCM 15</a:t>
            </a:r>
          </a:p>
        </p:txBody>
      </p:sp>
    </p:spTree>
    <p:extLst>
      <p:ext uri="{BB962C8B-B14F-4D97-AF65-F5344CB8AC3E}">
        <p14:creationId xmlns:p14="http://schemas.microsoft.com/office/powerpoint/2010/main" val="39697357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AD8673-BABF-490B-813A-53E609F8F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refroidissement d'une brûlure thermique à la phase initiale :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1000"/>
              </a:spcAft>
              <a:buFont typeface="+mj-lt"/>
              <a:buAutoNum type="alphaUcPeriod"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Doit durer au moins 30 minutes.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1000"/>
              </a:spcAft>
              <a:buFont typeface="+mj-lt"/>
              <a:buAutoNum type="alphaUcPeriod"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 fait exclusivement avec de l'eau glacée pour mieux calmer la douleur.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1000"/>
              </a:spcAft>
              <a:buFont typeface="+mj-lt"/>
              <a:buAutoNum type="alphaUcPeriod"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 contre-indiqué si la brûlure dépasse 20% de la surface corporelle chez l'adulte.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1000"/>
              </a:spcAft>
              <a:buFont typeface="+mj-lt"/>
              <a:buAutoNum type="alphaUcPeriod"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Doit être réalisé quelque soit le délai de prise en charge.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1000"/>
              </a:spcAft>
              <a:buFont typeface="+mj-lt"/>
              <a:buAutoNum type="alphaUcPeriod"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N'est utile que pour les brûlures du 1er degré.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9D1BA97C-3D90-484E-80C5-F772535F7D35}"/>
              </a:ext>
            </a:extLst>
          </p:cNvPr>
          <p:cNvSpPr txBox="1">
            <a:spLocks/>
          </p:cNvSpPr>
          <p:nvPr/>
        </p:nvSpPr>
        <p:spPr>
          <a:xfrm>
            <a:off x="762000" y="379413"/>
            <a:ext cx="9791700" cy="554037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QCM 16</a:t>
            </a:r>
          </a:p>
        </p:txBody>
      </p:sp>
    </p:spTree>
    <p:extLst>
      <p:ext uri="{BB962C8B-B14F-4D97-AF65-F5344CB8AC3E}">
        <p14:creationId xmlns:p14="http://schemas.microsoft.com/office/powerpoint/2010/main" val="3053939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AD8673-BABF-490B-813A-53E609F8F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refroidissement d'une brûlure thermique à la phase initiale :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1000"/>
              </a:spcAft>
              <a:buFont typeface="+mj-lt"/>
              <a:buAutoNum type="alphaUcPeriod"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Doit durer au moins 30 minutes.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1000"/>
              </a:spcAft>
              <a:buFont typeface="+mj-lt"/>
              <a:buAutoNum type="alphaUcPeriod"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 fait exclusivement avec de l'eau glacée pour mieux calmer la douleur.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1000"/>
              </a:spcAft>
              <a:buFont typeface="+mj-lt"/>
              <a:buAutoNum type="alphaUcPeriod"/>
              <a:tabLst>
                <a:tab pos="457200" algn="l"/>
              </a:tabLst>
            </a:pP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 contre-indiqué si la brûlure dépasse 20% de la surface corporelle chez l'adulte.</a:t>
            </a:r>
            <a:endParaRPr lang="fr-FR" sz="2000" kern="100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1000"/>
              </a:spcAft>
              <a:buFont typeface="+mj-lt"/>
              <a:buAutoNum type="alphaUcPeriod"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Doit être réalisé quelque soit le délai de prise en charge.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1000"/>
              </a:spcAft>
              <a:buFont typeface="+mj-lt"/>
              <a:buAutoNum type="alphaUcPeriod"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N'est utile que pour les brûlures du 1er degré.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9D1BA97C-3D90-484E-80C5-F772535F7D35}"/>
              </a:ext>
            </a:extLst>
          </p:cNvPr>
          <p:cNvSpPr txBox="1">
            <a:spLocks/>
          </p:cNvSpPr>
          <p:nvPr/>
        </p:nvSpPr>
        <p:spPr>
          <a:xfrm>
            <a:off x="762000" y="379413"/>
            <a:ext cx="9791700" cy="554037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QCM 16</a:t>
            </a:r>
          </a:p>
        </p:txBody>
      </p:sp>
    </p:spTree>
    <p:extLst>
      <p:ext uri="{BB962C8B-B14F-4D97-AF65-F5344CB8AC3E}">
        <p14:creationId xmlns:p14="http://schemas.microsoft.com/office/powerpoint/2010/main" val="17888809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6FAD69-D66C-4716-9C71-26AE7733F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brûlure circonférentielle profonde d'un membre :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1000"/>
              </a:spcAft>
              <a:buFont typeface="+mj-lt"/>
              <a:buAutoNum type="alphaUcPeriod"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Nécessite une surveillance clinique stricte.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1000"/>
              </a:spcAft>
              <a:buFont typeface="+mj-lt"/>
              <a:buAutoNum type="alphaUcPeriod"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Peut conduire à un syndrome de loge.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1000"/>
              </a:spcAft>
              <a:buFont typeface="+mj-lt"/>
              <a:buAutoNum type="alphaUcPeriod"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Est une indication formelle à une </a:t>
            </a:r>
            <a:r>
              <a:rPr lang="fr-FR" sz="20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escarrotomie</a:t>
            </a: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en urgence en cas de signes de compression.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1000"/>
              </a:spcAft>
              <a:buFont typeface="+mj-lt"/>
              <a:buAutoNum type="alphaUcPeriod"/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Doit doubler les besoins hydriques.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1000"/>
              </a:spcAft>
              <a:buFont typeface="+mj-lt"/>
              <a:buAutoNum type="alphaUcPeriod"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Se reconnaît à l'absence de douleur.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558A581-D960-4EAF-A6FB-70FA41AD7151}"/>
              </a:ext>
            </a:extLst>
          </p:cNvPr>
          <p:cNvSpPr txBox="1">
            <a:spLocks/>
          </p:cNvSpPr>
          <p:nvPr/>
        </p:nvSpPr>
        <p:spPr>
          <a:xfrm>
            <a:off x="762000" y="379413"/>
            <a:ext cx="9791700" cy="554037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QCM 17</a:t>
            </a:r>
          </a:p>
        </p:txBody>
      </p:sp>
    </p:spTree>
    <p:extLst>
      <p:ext uri="{BB962C8B-B14F-4D97-AF65-F5344CB8AC3E}">
        <p14:creationId xmlns:p14="http://schemas.microsoft.com/office/powerpoint/2010/main" val="16992157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6FAD69-D66C-4716-9C71-26AE7733F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brûlure circonférentielle profonde d'un membre :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1000"/>
              </a:spcAft>
              <a:buFont typeface="+mj-lt"/>
              <a:buAutoNum type="alphaUcPeriod"/>
              <a:tabLst>
                <a:tab pos="457200" algn="l"/>
              </a:tabLst>
            </a:pP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Nécessite une surveillance clinique stricte.</a:t>
            </a:r>
            <a:endParaRPr lang="fr-FR" sz="2000" kern="1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1000"/>
              </a:spcAft>
              <a:buFont typeface="+mj-lt"/>
              <a:buAutoNum type="alphaUcPeriod"/>
              <a:tabLst>
                <a:tab pos="457200" algn="l"/>
              </a:tabLst>
            </a:pP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Peut conduire à un syndrome de loge.</a:t>
            </a:r>
            <a:endParaRPr lang="fr-FR" sz="2000" kern="1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1000"/>
              </a:spcAft>
              <a:buFont typeface="+mj-lt"/>
              <a:buAutoNum type="alphaUcPeriod"/>
              <a:tabLst>
                <a:tab pos="457200" algn="l"/>
              </a:tabLst>
            </a:pP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Est une indication formelle à une </a:t>
            </a:r>
            <a:r>
              <a:rPr lang="fr-FR" sz="2000" kern="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escarrotomie</a:t>
            </a: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en urgence en cas de signes de compression.</a:t>
            </a:r>
            <a:endParaRPr lang="fr-FR" sz="2000" kern="1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1000"/>
              </a:spcAft>
              <a:buFont typeface="+mj-lt"/>
              <a:buAutoNum type="alphaUcPeriod"/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Doit doubler les besoins hydriques.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1000"/>
              </a:spcAft>
              <a:buFont typeface="+mj-lt"/>
              <a:buAutoNum type="alphaUcPeriod"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Se reconnaît à l'absence de douleur.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558A581-D960-4EAF-A6FB-70FA41AD7151}"/>
              </a:ext>
            </a:extLst>
          </p:cNvPr>
          <p:cNvSpPr txBox="1">
            <a:spLocks/>
          </p:cNvSpPr>
          <p:nvPr/>
        </p:nvSpPr>
        <p:spPr>
          <a:xfrm>
            <a:off x="762000" y="379413"/>
            <a:ext cx="9791700" cy="554037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QCM 17</a:t>
            </a:r>
          </a:p>
        </p:txBody>
      </p:sp>
    </p:spTree>
    <p:extLst>
      <p:ext uri="{BB962C8B-B14F-4D97-AF65-F5344CB8AC3E}">
        <p14:creationId xmlns:p14="http://schemas.microsoft.com/office/powerpoint/2010/main" val="27626737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9FD1A8B-DFF9-4CCC-95F4-544348568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Une brûlure électrique :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4958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A) Est souvent plus grave en profondeur qu'en étendue.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4958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B) Ne provoque jamais de complications cardiaques si l'ECG initial est normal.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4958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C) Peut entraîner une nécrose musculaire massive avec risque d'hyperkaliémie.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4958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D) Nécessite une surveillance cardiaque de</a:t>
            </a:r>
            <a:r>
              <a:rPr lang="fr-FR" sz="2000" kern="0" dirty="0"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</a:t>
            </a: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24 heures.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4958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E) Expose à un risque important de lésions rénales aiguës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8C925DE3-5D70-4CFC-A5DB-A4A2FDA34033}"/>
              </a:ext>
            </a:extLst>
          </p:cNvPr>
          <p:cNvSpPr txBox="1">
            <a:spLocks/>
          </p:cNvSpPr>
          <p:nvPr/>
        </p:nvSpPr>
        <p:spPr>
          <a:xfrm>
            <a:off x="762000" y="379413"/>
            <a:ext cx="9791700" cy="554037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QCM 18</a:t>
            </a:r>
          </a:p>
        </p:txBody>
      </p:sp>
    </p:spTree>
    <p:extLst>
      <p:ext uri="{BB962C8B-B14F-4D97-AF65-F5344CB8AC3E}">
        <p14:creationId xmlns:p14="http://schemas.microsoft.com/office/powerpoint/2010/main" val="25502755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9FD1A8B-DFF9-4CCC-95F4-544348568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Une brûlure électrique :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4958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A) Est souvent plus grave en profondeur qu'en étendue</a:t>
            </a: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4958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B) Ne provoque jamais de complications cardiaques si l'ECG initial est normal.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4958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C) Peut entraîner une nécrose musculaire massive avec risque d'hyperkaliémie.</a:t>
            </a:r>
            <a:endParaRPr lang="fr-FR" sz="2000" kern="100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4958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D) Nécessite une surveillance cardiaque de</a:t>
            </a: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</a:t>
            </a: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24 heures.</a:t>
            </a:r>
            <a:endParaRPr lang="fr-FR" sz="2000" kern="100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4958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E) Expose à un risque important de lésions rénales aiguës</a:t>
            </a:r>
            <a:endParaRPr lang="fr-FR" sz="2000" kern="100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8C925DE3-5D70-4CFC-A5DB-A4A2FDA34033}"/>
              </a:ext>
            </a:extLst>
          </p:cNvPr>
          <p:cNvSpPr txBox="1">
            <a:spLocks/>
          </p:cNvSpPr>
          <p:nvPr/>
        </p:nvSpPr>
        <p:spPr>
          <a:xfrm>
            <a:off x="762000" y="379413"/>
            <a:ext cx="9791700" cy="554037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QCM 18</a:t>
            </a:r>
          </a:p>
        </p:txBody>
      </p:sp>
    </p:spTree>
    <p:extLst>
      <p:ext uri="{BB962C8B-B14F-4D97-AF65-F5344CB8AC3E}">
        <p14:creationId xmlns:p14="http://schemas.microsoft.com/office/powerpoint/2010/main" val="4275722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7854008-6CEA-4112-A15F-D0674307C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18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La surveillance de l'efficacité de la réanimation liquidienne se fait principalement par :</a:t>
            </a:r>
            <a:endParaRPr lang="fr-F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A) La pression artérielle moyenne.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B) La fréquence cardiaque.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C) La diurèse horaire.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D) La pression veineuse centrale.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E) La saturation pulsée en oxygène.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18B6F427-3F0B-44E9-BD50-A29ADF18A3DC}"/>
              </a:ext>
            </a:extLst>
          </p:cNvPr>
          <p:cNvSpPr txBox="1">
            <a:spLocks/>
          </p:cNvSpPr>
          <p:nvPr/>
        </p:nvSpPr>
        <p:spPr>
          <a:xfrm>
            <a:off x="762000" y="379413"/>
            <a:ext cx="9791700" cy="554037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QCM 19</a:t>
            </a:r>
          </a:p>
        </p:txBody>
      </p:sp>
    </p:spTree>
    <p:extLst>
      <p:ext uri="{BB962C8B-B14F-4D97-AF65-F5344CB8AC3E}">
        <p14:creationId xmlns:p14="http://schemas.microsoft.com/office/powerpoint/2010/main" val="2543752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7854008-6CEA-4112-A15F-D0674307C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18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La surveillance de l'efficacité de la réanimation liquidienne se fait principalement par :</a:t>
            </a:r>
            <a:endParaRPr lang="fr-F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A) La pression artérielle moyenne.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B) La fréquence cardiaque.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C) La diurèse horaire.</a:t>
            </a:r>
            <a:endParaRPr lang="fr-FR" sz="2000" kern="1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D) La pression veineuse centrale.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E) La saturation pulsée en oxygène.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18B6F427-3F0B-44E9-BD50-A29ADF18A3DC}"/>
              </a:ext>
            </a:extLst>
          </p:cNvPr>
          <p:cNvSpPr txBox="1">
            <a:spLocks/>
          </p:cNvSpPr>
          <p:nvPr/>
        </p:nvSpPr>
        <p:spPr>
          <a:xfrm>
            <a:off x="762000" y="379413"/>
            <a:ext cx="9791700" cy="554037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QCM 19</a:t>
            </a:r>
            <a:endParaRPr lang="fr-FR" altLang="fr-FR" sz="3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33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7E9CCC2-C2BD-4A35-864A-0F0165B0E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brûlure chimique :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1000"/>
              </a:spcAft>
              <a:buFont typeface="+mj-lt"/>
              <a:buAutoNum type="alphaUcPeriod"/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Nécessite toujours un lavage abondant à l'eau pendant au moins 15-20 minutes.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1000"/>
              </a:spcAft>
              <a:buFont typeface="+mj-lt"/>
              <a:buAutoNum type="alphaUcPeriod"/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Peut être neutralisée avec son antidote spécifique.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1000"/>
              </a:spcAft>
              <a:buFont typeface="+mj-lt"/>
              <a:buAutoNum type="alphaUcPeriod"/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Peut engendrer des perturbations métaboliques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1000"/>
              </a:spcAft>
              <a:buFont typeface="+mj-lt"/>
              <a:buAutoNum type="alphaUcPeriod"/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Peut s’aggraver par les réactions exothermiques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1000"/>
              </a:spcAft>
              <a:buFont typeface="+mj-lt"/>
              <a:buAutoNum type="alphaUcPeriod"/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Est plus fréquente dans le contexte professionnel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18E4C70-6696-4135-A9A2-84984B296A5A}"/>
              </a:ext>
            </a:extLst>
          </p:cNvPr>
          <p:cNvSpPr txBox="1">
            <a:spLocks/>
          </p:cNvSpPr>
          <p:nvPr/>
        </p:nvSpPr>
        <p:spPr>
          <a:xfrm>
            <a:off x="762000" y="379413"/>
            <a:ext cx="9791700" cy="554037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QCM 20</a:t>
            </a:r>
          </a:p>
        </p:txBody>
      </p:sp>
    </p:spTree>
    <p:extLst>
      <p:ext uri="{BB962C8B-B14F-4D97-AF65-F5344CB8AC3E}">
        <p14:creationId xmlns:p14="http://schemas.microsoft.com/office/powerpoint/2010/main" val="14584035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7E9CCC2-C2BD-4A35-864A-0F0165B0E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Une brûlure chimique :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1000"/>
              </a:spcAft>
              <a:buFont typeface="+mj-lt"/>
              <a:buAutoNum type="alphaUcPeriod"/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Nécessite toujours un lavage abondant à l'eau pendant au moins 15-20 minutes.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1000"/>
              </a:spcAft>
              <a:buFont typeface="+mj-lt"/>
              <a:buAutoNum type="alphaUcPeriod"/>
            </a:pP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Peut être neutralisée avec son antidote spécifique.</a:t>
            </a:r>
            <a:endParaRPr lang="fr-FR" sz="2000" kern="100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1000"/>
              </a:spcAft>
              <a:buFont typeface="+mj-lt"/>
              <a:buAutoNum type="alphaUcPeriod"/>
            </a:pP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Peut engendrer des perturbations métaboliques</a:t>
            </a:r>
            <a:endParaRPr lang="fr-FR" sz="2000" kern="100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1000"/>
              </a:spcAft>
              <a:buFont typeface="+mj-lt"/>
              <a:buAutoNum type="alphaUcPeriod"/>
            </a:pP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Peut s’aggraver par les réactions exothermiques</a:t>
            </a:r>
            <a:endParaRPr lang="fr-FR" sz="2000" kern="100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1000"/>
              </a:spcAft>
              <a:buFont typeface="+mj-lt"/>
              <a:buAutoNum type="alphaUcPeriod"/>
            </a:pP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 plus fréquente dans le contexte professionnel</a:t>
            </a:r>
            <a:endParaRPr lang="fr-FR" sz="2000" kern="100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18E4C70-6696-4135-A9A2-84984B296A5A}"/>
              </a:ext>
            </a:extLst>
          </p:cNvPr>
          <p:cNvSpPr txBox="1">
            <a:spLocks/>
          </p:cNvSpPr>
          <p:nvPr/>
        </p:nvSpPr>
        <p:spPr>
          <a:xfrm>
            <a:off x="762000" y="379413"/>
            <a:ext cx="9791700" cy="554037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QCM 20</a:t>
            </a:r>
          </a:p>
        </p:txBody>
      </p:sp>
    </p:spTree>
    <p:extLst>
      <p:ext uri="{BB962C8B-B14F-4D97-AF65-F5344CB8AC3E}">
        <p14:creationId xmlns:p14="http://schemas.microsoft.com/office/powerpoint/2010/main" val="5466507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F60C0A7-11B7-44D3-892C-F85235DCF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Concernant l’antibiothérapie chez le brulé grave :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1000"/>
              </a:spcAft>
              <a:buFont typeface="+mj-lt"/>
              <a:buAutoNum type="alphaUcPeriod"/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Elle doit être débutée à l'admission pour toute brûlure &gt;20%.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1000"/>
              </a:spcAft>
              <a:buFont typeface="+mj-lt"/>
              <a:buAutoNum type="alphaUcPeriod"/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Elle doit cibler prioritairement le Pseudomonas </a:t>
            </a:r>
            <a:r>
              <a:rPr lang="fr-FR" sz="20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aeruginosa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1000"/>
              </a:spcAft>
              <a:buFont typeface="+mj-lt"/>
              <a:buAutoNum type="alphaUcPeriod"/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Elle doit être administrée par voie locale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1000"/>
              </a:spcAft>
              <a:buFont typeface="+mj-lt"/>
              <a:buAutoNum type="alphaUcPeriod"/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Elle doit être prolongée jusqu’à la cicatrisation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1000"/>
              </a:spcAft>
              <a:buFont typeface="+mj-lt"/>
              <a:buAutoNum type="alphaUcPeriod"/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Elle ne se justifie qu’en présence d’une infection.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232EFA95-E96C-461C-B877-9722931CEA9D}"/>
              </a:ext>
            </a:extLst>
          </p:cNvPr>
          <p:cNvSpPr txBox="1">
            <a:spLocks/>
          </p:cNvSpPr>
          <p:nvPr/>
        </p:nvSpPr>
        <p:spPr>
          <a:xfrm>
            <a:off x="762000" y="379413"/>
            <a:ext cx="9791700" cy="554037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QCM 21</a:t>
            </a:r>
          </a:p>
        </p:txBody>
      </p:sp>
    </p:spTree>
    <p:extLst>
      <p:ext uri="{BB962C8B-B14F-4D97-AF65-F5344CB8AC3E}">
        <p14:creationId xmlns:p14="http://schemas.microsoft.com/office/powerpoint/2010/main" val="26992762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F60C0A7-11B7-44D3-892C-F85235DCF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Concernant l’antibiothérapie chez le brulé grave :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1000"/>
              </a:spcAft>
              <a:buFont typeface="+mj-lt"/>
              <a:buAutoNum type="alphaUcPeriod"/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Elle doit être débutée à l'admission pour toute brûlure &gt;20%.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1000"/>
              </a:spcAft>
              <a:buFont typeface="+mj-lt"/>
              <a:buAutoNum type="alphaUcPeriod"/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Elle doit cibler prioritairement le Pseudomonas </a:t>
            </a:r>
            <a:r>
              <a:rPr lang="fr-FR" sz="20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aeruginosa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1000"/>
              </a:spcAft>
              <a:buFont typeface="+mj-lt"/>
              <a:buAutoNum type="alphaUcPeriod"/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Elle doit être administrée par voie locale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1000"/>
              </a:spcAft>
              <a:buFont typeface="+mj-lt"/>
              <a:buAutoNum type="alphaUcPeriod"/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Elle doit être prolongée jusqu’à la cicatrisation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1000"/>
              </a:spcAft>
              <a:buFont typeface="+mj-lt"/>
              <a:buAutoNum type="alphaUcPeriod"/>
            </a:pP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Elle ne se justifie qu’en présence d’une infection.</a:t>
            </a:r>
            <a:endParaRPr lang="fr-FR" sz="2000" kern="100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232EFA95-E96C-461C-B877-9722931CEA9D}"/>
              </a:ext>
            </a:extLst>
          </p:cNvPr>
          <p:cNvSpPr txBox="1">
            <a:spLocks/>
          </p:cNvSpPr>
          <p:nvPr/>
        </p:nvSpPr>
        <p:spPr>
          <a:xfrm>
            <a:off x="762000" y="379413"/>
            <a:ext cx="9791700" cy="554037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QCM 21</a:t>
            </a:r>
          </a:p>
        </p:txBody>
      </p:sp>
    </p:spTree>
    <p:extLst>
      <p:ext uri="{BB962C8B-B14F-4D97-AF65-F5344CB8AC3E}">
        <p14:creationId xmlns:p14="http://schemas.microsoft.com/office/powerpoint/2010/main" val="207684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8CD6D1-FA27-4F07-BCEF-CED710DA4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18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Chez l'enfant, la prise en charge des brûlures :</a:t>
            </a:r>
            <a:endParaRPr lang="fr-F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a) Utilise la même règle des 9 que l'adulte.</a:t>
            </a:r>
            <a:endParaRPr lang="fr-F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b) Nécessite une attention particulière au risque d'hypothermie.</a:t>
            </a:r>
            <a:endParaRPr lang="fr-F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c) Utilise la formule de </a:t>
            </a:r>
            <a:r>
              <a:rPr lang="fr-FR" sz="1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Carvajal</a:t>
            </a:r>
            <a:r>
              <a:rPr lang="fr-FR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pour la réanimation liquidienne.</a:t>
            </a:r>
            <a:endParaRPr lang="fr-F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d) Fait appel d’emblée à l’albumine.</a:t>
            </a:r>
            <a:endParaRPr lang="fr-F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e) Considère dans l’évaluation de la gravité des seuils plus bas que l'adulte </a:t>
            </a:r>
            <a:endParaRPr lang="fr-F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61F68CFC-CEEB-4F79-80D9-5C97DCA82B3B}"/>
              </a:ext>
            </a:extLst>
          </p:cNvPr>
          <p:cNvSpPr txBox="1">
            <a:spLocks/>
          </p:cNvSpPr>
          <p:nvPr/>
        </p:nvSpPr>
        <p:spPr>
          <a:xfrm>
            <a:off x="762000" y="379413"/>
            <a:ext cx="9791700" cy="554037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QCM 22</a:t>
            </a:r>
          </a:p>
        </p:txBody>
      </p:sp>
    </p:spTree>
    <p:extLst>
      <p:ext uri="{BB962C8B-B14F-4D97-AF65-F5344CB8AC3E}">
        <p14:creationId xmlns:p14="http://schemas.microsoft.com/office/powerpoint/2010/main" val="2133574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8CD6D1-FA27-4F07-BCEF-CED710DA4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18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Chez l'enfant, la prise en charge des brûlures :</a:t>
            </a:r>
            <a:endParaRPr lang="fr-F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a) Utilise la même règle des 9 que l'adulte.</a:t>
            </a:r>
            <a:endParaRPr lang="fr-F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18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b) Nécessite une attention particulière au risque d'hypothermie.</a:t>
            </a:r>
            <a:endParaRPr lang="fr-FR" sz="1800" kern="1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18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c) Utilise la formule de </a:t>
            </a:r>
            <a:r>
              <a:rPr lang="fr-FR" sz="1800" kern="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Carvajal</a:t>
            </a:r>
            <a:r>
              <a:rPr lang="fr-FR" sz="18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pour la réanimation liquidienne.</a:t>
            </a:r>
            <a:endParaRPr lang="fr-FR" sz="1800" kern="1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d) Fait appel d’emblée à l’albumine.</a:t>
            </a:r>
            <a:endParaRPr lang="fr-F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18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e) Considère dans l’évaluation de la gravité des seuils plus bas que l'adulte </a:t>
            </a:r>
            <a:endParaRPr lang="fr-FR" sz="1800" kern="1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61F68CFC-CEEB-4F79-80D9-5C97DCA82B3B}"/>
              </a:ext>
            </a:extLst>
          </p:cNvPr>
          <p:cNvSpPr txBox="1">
            <a:spLocks/>
          </p:cNvSpPr>
          <p:nvPr/>
        </p:nvSpPr>
        <p:spPr>
          <a:xfrm>
            <a:off x="762000" y="379413"/>
            <a:ext cx="9791700" cy="554037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QCM 22</a:t>
            </a:r>
          </a:p>
        </p:txBody>
      </p:sp>
    </p:spTree>
    <p:extLst>
      <p:ext uri="{BB962C8B-B14F-4D97-AF65-F5344CB8AC3E}">
        <p14:creationId xmlns:p14="http://schemas.microsoft.com/office/powerpoint/2010/main" val="26164316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A34BB9-F07A-43A8-A077-BBDD83BC0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survenue d'une acidose métabolique lactique importante et précoce chez un brûlé grave doit faire évoquer :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A) Une réanimation liquidienne insuffisante.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B) Une intoxication au cyanure.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C) Un état de choc cardiogénique.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D) Une rhabdomyolyse sévère.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E) Une inhalation de fumées massive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AF82631-C8B3-4342-9329-95EB1D27EF27}"/>
              </a:ext>
            </a:extLst>
          </p:cNvPr>
          <p:cNvSpPr txBox="1">
            <a:spLocks/>
          </p:cNvSpPr>
          <p:nvPr/>
        </p:nvSpPr>
        <p:spPr>
          <a:xfrm>
            <a:off x="762000" y="379413"/>
            <a:ext cx="9791700" cy="554037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QCM 23</a:t>
            </a:r>
          </a:p>
        </p:txBody>
      </p:sp>
    </p:spTree>
    <p:extLst>
      <p:ext uri="{BB962C8B-B14F-4D97-AF65-F5344CB8AC3E}">
        <p14:creationId xmlns:p14="http://schemas.microsoft.com/office/powerpoint/2010/main" val="9873524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A34BB9-F07A-43A8-A077-BBDD83BC0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survenue d'une acidose métabolique lactique importante et précoce chez un brûlé grave doit faire évoquer :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A) Une réanimation liquidienne insuffisante</a:t>
            </a: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B) Une intoxication au cyanure.</a:t>
            </a:r>
            <a:endParaRPr lang="fr-FR" sz="2000" kern="100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C) Un état de choc cardiogénique.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D) Une rhabdomyolyse sévère.</a:t>
            </a:r>
            <a:endParaRPr lang="fr-FR" sz="2000" kern="100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E) Une inhalation de fumées massive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AF82631-C8B3-4342-9329-95EB1D27EF27}"/>
              </a:ext>
            </a:extLst>
          </p:cNvPr>
          <p:cNvSpPr txBox="1">
            <a:spLocks/>
          </p:cNvSpPr>
          <p:nvPr/>
        </p:nvSpPr>
        <p:spPr>
          <a:xfrm>
            <a:off x="762000" y="379413"/>
            <a:ext cx="9791700" cy="554037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QCM 23</a:t>
            </a:r>
          </a:p>
        </p:txBody>
      </p:sp>
    </p:spTree>
    <p:extLst>
      <p:ext uri="{BB962C8B-B14F-4D97-AF65-F5344CB8AC3E}">
        <p14:creationId xmlns:p14="http://schemas.microsoft.com/office/powerpoint/2010/main" val="39559170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302A6D9-D11E-483B-B4C7-9ACB77E12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Les objectifs de la réanimation initiale (premières 24h) sont :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A) Restaurer et maintenir une volémie efficace.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B) Assurer une oxygénation tissulaire correcte.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C) Prévenir l'infection des lésions par une antibiothérapie probabiliste.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D) Contrôler la douleur.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E) Assurer un recouvrement cutané.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03AE59E7-F969-4D82-AE08-58A77427F952}"/>
              </a:ext>
            </a:extLst>
          </p:cNvPr>
          <p:cNvSpPr txBox="1">
            <a:spLocks/>
          </p:cNvSpPr>
          <p:nvPr/>
        </p:nvSpPr>
        <p:spPr>
          <a:xfrm>
            <a:off x="762000" y="379413"/>
            <a:ext cx="9791700" cy="554037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QCM 24</a:t>
            </a:r>
          </a:p>
        </p:txBody>
      </p:sp>
    </p:spTree>
    <p:extLst>
      <p:ext uri="{BB962C8B-B14F-4D97-AF65-F5344CB8AC3E}">
        <p14:creationId xmlns:p14="http://schemas.microsoft.com/office/powerpoint/2010/main" val="264987843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302A6D9-D11E-483B-B4C7-9ACB77E12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Les objectifs de la réanimation initiale (premières 24h) sont :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A) Restaurer et maintenir une volémie efficace.</a:t>
            </a:r>
            <a:endParaRPr lang="fr-FR" sz="2000" kern="1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B) Assurer une oxygénation tissulaire correcte.</a:t>
            </a:r>
            <a:endParaRPr lang="fr-FR" sz="2000" kern="1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C) Prévenir l'infection des lésions par une antibiothérapie probabiliste.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D) Contrôler la douleur.</a:t>
            </a:r>
            <a:endParaRPr lang="fr-FR" sz="2000" kern="1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E) Assurer un recouvrement cutané.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03AE59E7-F969-4D82-AE08-58A77427F952}"/>
              </a:ext>
            </a:extLst>
          </p:cNvPr>
          <p:cNvSpPr txBox="1">
            <a:spLocks/>
          </p:cNvSpPr>
          <p:nvPr/>
        </p:nvSpPr>
        <p:spPr>
          <a:xfrm>
            <a:off x="762000" y="379413"/>
            <a:ext cx="9791700" cy="554037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QCM 24</a:t>
            </a:r>
          </a:p>
        </p:txBody>
      </p:sp>
    </p:spTree>
    <p:extLst>
      <p:ext uri="{BB962C8B-B14F-4D97-AF65-F5344CB8AC3E}">
        <p14:creationId xmlns:p14="http://schemas.microsoft.com/office/powerpoint/2010/main" val="6903211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436ACDF-AA7D-4ED0-9E31-0A06A4988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2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 patient avec 40% de </a:t>
            </a:r>
            <a:r>
              <a:rPr lang="fr-FR" sz="2200" b="1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SCB</a:t>
            </a:r>
            <a:r>
              <a:rPr lang="fr-FR" sz="22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brûlée au 2ème degré profond pèse 80 kg. Selon </a:t>
            </a:r>
            <a:r>
              <a:rPr lang="fr-FR" sz="2200" b="1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Parkland</a:t>
            </a:r>
            <a:r>
              <a:rPr lang="fr-FR" sz="22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le volume total de cristalloïdes à perfuser sur 24h est :</a:t>
            </a:r>
            <a:endParaRPr lang="fr-FR" sz="2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en-US" sz="22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a) 3200 ml</a:t>
            </a:r>
            <a:endParaRPr lang="fr-FR" sz="2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en-US" sz="22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b) 6400 ml</a:t>
            </a:r>
            <a:endParaRPr lang="fr-FR" sz="2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en-US" sz="22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c) 12800 ml</a:t>
            </a:r>
            <a:endParaRPr lang="fr-FR" sz="2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en-US" sz="22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d) 9600 ml</a:t>
            </a:r>
            <a:endParaRPr lang="fr-FR" sz="2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2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e) 4800 ml</a:t>
            </a:r>
            <a:endParaRPr lang="fr-FR" sz="2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20BD3AE7-14DF-4F2F-B0DD-A59EF82B02C9}"/>
              </a:ext>
            </a:extLst>
          </p:cNvPr>
          <p:cNvSpPr txBox="1">
            <a:spLocks/>
          </p:cNvSpPr>
          <p:nvPr/>
        </p:nvSpPr>
        <p:spPr>
          <a:xfrm>
            <a:off x="762000" y="379413"/>
            <a:ext cx="9791700" cy="554037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QCM 25</a:t>
            </a:r>
          </a:p>
        </p:txBody>
      </p:sp>
    </p:spTree>
    <p:extLst>
      <p:ext uri="{BB962C8B-B14F-4D97-AF65-F5344CB8AC3E}">
        <p14:creationId xmlns:p14="http://schemas.microsoft.com/office/powerpoint/2010/main" val="356099186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436ACDF-AA7D-4ED0-9E31-0A06A4988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2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 patient avec 40% de </a:t>
            </a:r>
            <a:r>
              <a:rPr lang="fr-FR" sz="2200" b="1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SCB</a:t>
            </a:r>
            <a:r>
              <a:rPr lang="fr-FR" sz="22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brûlée au 2ème degré profond pèse 80 kg. Selon </a:t>
            </a:r>
            <a:r>
              <a:rPr lang="fr-FR" sz="2200" b="1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Parkland</a:t>
            </a:r>
            <a:r>
              <a:rPr lang="fr-FR" sz="22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le volume total de cristalloïdes à perfuser sur 24h est :</a:t>
            </a:r>
            <a:endParaRPr lang="fr-FR" sz="2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en-US" sz="22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a) 3200 ml</a:t>
            </a:r>
            <a:endParaRPr lang="fr-FR" sz="2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en-US" sz="22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b) 6400 ml</a:t>
            </a:r>
            <a:endParaRPr lang="fr-FR" sz="2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en-US" sz="22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c) 12800 ml</a:t>
            </a:r>
            <a:endParaRPr lang="fr-FR" sz="2200" kern="100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en-US" sz="22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d) 9600 ml</a:t>
            </a:r>
            <a:endParaRPr lang="fr-FR" sz="2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2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e) 4800 ml</a:t>
            </a:r>
            <a:endParaRPr lang="fr-FR" sz="2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20BD3AE7-14DF-4F2F-B0DD-A59EF82B02C9}"/>
              </a:ext>
            </a:extLst>
          </p:cNvPr>
          <p:cNvSpPr txBox="1">
            <a:spLocks/>
          </p:cNvSpPr>
          <p:nvPr/>
        </p:nvSpPr>
        <p:spPr>
          <a:xfrm>
            <a:off x="762000" y="379413"/>
            <a:ext cx="9791700" cy="554037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QCM 25</a:t>
            </a:r>
          </a:p>
        </p:txBody>
      </p:sp>
    </p:spTree>
    <p:extLst>
      <p:ext uri="{BB962C8B-B14F-4D97-AF65-F5344CB8AC3E}">
        <p14:creationId xmlns:p14="http://schemas.microsoft.com/office/powerpoint/2010/main" val="164047365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7C3765-6879-4F05-AD02-4A0D0242A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2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 patient avec 40% de </a:t>
            </a:r>
            <a:r>
              <a:rPr lang="fr-FR" sz="2200" b="1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SCB</a:t>
            </a:r>
            <a:r>
              <a:rPr lang="fr-FR" sz="22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brûlée au 2ème degré profond pèse 80 kg. Selon </a:t>
            </a:r>
            <a:r>
              <a:rPr lang="fr-FR" sz="2200" b="1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Parkland</a:t>
            </a:r>
            <a:r>
              <a:rPr lang="fr-FR" sz="22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le débit de perfusion pour les 8 premières heures doit être de :</a:t>
            </a:r>
            <a:endParaRPr lang="fr-FR" sz="2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en-US" sz="22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A) 400 ml/h</a:t>
            </a:r>
            <a:endParaRPr lang="fr-FR" sz="2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en-US" sz="22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B) 800 ml/h</a:t>
            </a:r>
            <a:endParaRPr lang="fr-FR" sz="2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en-US" sz="22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C) 200 ml/h</a:t>
            </a:r>
            <a:endParaRPr lang="fr-FR" sz="2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2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D) 1600 ml/h</a:t>
            </a:r>
            <a:endParaRPr lang="fr-FR" sz="2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2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E) 600 ml/h</a:t>
            </a:r>
            <a:endParaRPr lang="fr-FR" sz="2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832CED45-304A-4027-A0A4-D2607C3353BB}"/>
              </a:ext>
            </a:extLst>
          </p:cNvPr>
          <p:cNvSpPr txBox="1">
            <a:spLocks/>
          </p:cNvSpPr>
          <p:nvPr/>
        </p:nvSpPr>
        <p:spPr>
          <a:xfrm>
            <a:off x="762000" y="379413"/>
            <a:ext cx="9791700" cy="554037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QCM 26</a:t>
            </a:r>
          </a:p>
        </p:txBody>
      </p:sp>
    </p:spTree>
    <p:extLst>
      <p:ext uri="{BB962C8B-B14F-4D97-AF65-F5344CB8AC3E}">
        <p14:creationId xmlns:p14="http://schemas.microsoft.com/office/powerpoint/2010/main" val="375423847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7C3765-6879-4F05-AD02-4A0D0242A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2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 patient avec 40% de </a:t>
            </a:r>
            <a:r>
              <a:rPr lang="fr-FR" sz="2200" b="1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SCB</a:t>
            </a:r>
            <a:r>
              <a:rPr lang="fr-FR" sz="22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brûlée au 2ème degré profond pèse 80 kg. Selon </a:t>
            </a:r>
            <a:r>
              <a:rPr lang="fr-FR" sz="2200" b="1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Parkland</a:t>
            </a:r>
            <a:r>
              <a:rPr lang="fr-FR" sz="22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le débit de perfusion pour les 8 premières heures doit être de :</a:t>
            </a:r>
            <a:endParaRPr lang="fr-FR" sz="2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en-US" sz="22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A) 400 ml/h</a:t>
            </a:r>
            <a:endParaRPr lang="fr-FR" sz="2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en-US" sz="22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B) 800 ml/h</a:t>
            </a:r>
            <a:endParaRPr lang="fr-FR" sz="2200" kern="100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en-US" sz="22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C) 200 ml/h</a:t>
            </a:r>
            <a:endParaRPr lang="fr-FR" sz="2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2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D) 1600 ml/h</a:t>
            </a:r>
            <a:endParaRPr lang="fr-FR" sz="2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2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E) 600 ml/h</a:t>
            </a:r>
            <a:endParaRPr lang="fr-FR" sz="2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832CED45-304A-4027-A0A4-D2607C3353BB}"/>
              </a:ext>
            </a:extLst>
          </p:cNvPr>
          <p:cNvSpPr txBox="1">
            <a:spLocks/>
          </p:cNvSpPr>
          <p:nvPr/>
        </p:nvSpPr>
        <p:spPr>
          <a:xfrm>
            <a:off x="762000" y="379413"/>
            <a:ext cx="9791700" cy="554037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QCM 26</a:t>
            </a:r>
          </a:p>
        </p:txBody>
      </p:sp>
    </p:spTree>
    <p:extLst>
      <p:ext uri="{BB962C8B-B14F-4D97-AF65-F5344CB8AC3E}">
        <p14:creationId xmlns:p14="http://schemas.microsoft.com/office/powerpoint/2010/main" val="1768241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CC59F11-F093-429C-9A58-7A25DE96B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principale cause de décès précoce (premières </a:t>
            </a:r>
            <a:r>
              <a:rPr lang="fr-FR" sz="2000" b="1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48h</a:t>
            </a:r>
            <a:r>
              <a:rPr lang="fr-FR" sz="20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chez le brûlé grave est :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A) L'infection.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B) L'insuffisance rénale aiguë.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C) Le choc hypovolémique.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D) Les troubles du rythme.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E) Le syndrome de détresse respiratoire aiguë (</a:t>
            </a:r>
            <a:r>
              <a:rPr lang="fr-FR" sz="20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SDRA</a:t>
            </a: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DD518F22-5625-45CA-8CAC-947C0CF274D5}"/>
              </a:ext>
            </a:extLst>
          </p:cNvPr>
          <p:cNvSpPr txBox="1">
            <a:spLocks/>
          </p:cNvSpPr>
          <p:nvPr/>
        </p:nvSpPr>
        <p:spPr>
          <a:xfrm>
            <a:off x="762000" y="379413"/>
            <a:ext cx="9791700" cy="554037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QCM 27</a:t>
            </a:r>
          </a:p>
        </p:txBody>
      </p:sp>
    </p:spTree>
    <p:extLst>
      <p:ext uri="{BB962C8B-B14F-4D97-AF65-F5344CB8AC3E}">
        <p14:creationId xmlns:p14="http://schemas.microsoft.com/office/powerpoint/2010/main" val="395550201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CC59F11-F093-429C-9A58-7A25DE96B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principale cause de décès précoce (premières </a:t>
            </a:r>
            <a:r>
              <a:rPr lang="fr-FR" sz="2000" b="1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48h</a:t>
            </a:r>
            <a:r>
              <a:rPr lang="fr-FR" sz="20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chez le brûlé grave est :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A) L'infection.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B) L'insuffisance rénale aiguë.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C) Le choc hypovolémique.</a:t>
            </a:r>
            <a:endParaRPr lang="fr-FR" sz="2000" kern="100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D) Les troubles du rythme.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E) Le syndrome de détresse respiratoire aiguë (</a:t>
            </a:r>
            <a:r>
              <a:rPr lang="fr-FR" sz="20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SDRA</a:t>
            </a:r>
            <a:r>
              <a:rPr lang="fr-FR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lang="fr-FR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9840A45B-D673-42E1-B2A7-983945B39F6D}"/>
              </a:ext>
            </a:extLst>
          </p:cNvPr>
          <p:cNvSpPr txBox="1">
            <a:spLocks/>
          </p:cNvSpPr>
          <p:nvPr/>
        </p:nvSpPr>
        <p:spPr>
          <a:xfrm>
            <a:off x="762000" y="379413"/>
            <a:ext cx="9791700" cy="554037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QCM 27</a:t>
            </a:r>
          </a:p>
        </p:txBody>
      </p:sp>
    </p:spTree>
    <p:extLst>
      <p:ext uri="{BB962C8B-B14F-4D97-AF65-F5344CB8AC3E}">
        <p14:creationId xmlns:p14="http://schemas.microsoft.com/office/powerpoint/2010/main" val="41125660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Espace réservé du contenu 2">
            <a:extLst>
              <a:ext uri="{FF2B5EF4-FFF2-40B4-BE49-F238E27FC236}">
                <a16:creationId xmlns:a16="http://schemas.microsoft.com/office/drawing/2014/main" id="{22A96194-740E-4DFB-B2EA-5D78035B16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8513" y="2314575"/>
            <a:ext cx="6686550" cy="3328988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fr-FR" altLang="fr-FR" sz="7200" b="1">
                <a:solidFill>
                  <a:srgbClr val="C00000"/>
                </a:solidFill>
                <a:latin typeface="Brush Script MT" panose="03060802040406070304" pitchFamily="66" charset="0"/>
                <a:cs typeface="Times New Roman" panose="02020603050405020304" pitchFamily="18" charset="0"/>
              </a:rPr>
              <a:t>Bon courage !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78CE6BF-73E9-4886-9EF1-D949651FC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59A0E83-7C35-441C-BEA2-5EB017A349AD}" type="slidenum">
              <a:rPr lang="fr-FR" altLang="fr-FR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57</a:t>
            </a:fld>
            <a:endParaRPr lang="fr-FR" altLang="fr-FR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3248</Words>
  <Application>Microsoft Office PowerPoint</Application>
  <PresentationFormat>Grand écran</PresentationFormat>
  <Paragraphs>385</Paragraphs>
  <Slides>57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57</vt:i4>
      </vt:variant>
    </vt:vector>
  </HeadingPairs>
  <TitlesOfParts>
    <vt:vector size="64" baseType="lpstr">
      <vt:lpstr>MS Gothic</vt:lpstr>
      <vt:lpstr>Arial</vt:lpstr>
      <vt:lpstr>Brush Script MT</vt:lpstr>
      <vt:lpstr>Calibri</vt:lpstr>
      <vt:lpstr>Calibri Light</vt:lpstr>
      <vt:lpstr>Times New Roman</vt:lpstr>
      <vt:lpstr>Thème Office</vt:lpstr>
      <vt:lpstr>Brûlures Cutanées Récentes</vt:lpstr>
      <vt:lpstr>Présentation PowerPoint</vt:lpstr>
      <vt:lpstr>QCM 1 </vt:lpstr>
      <vt:lpstr>QCM 1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QCM 1</dc:title>
  <dc:creator>Mohamed Ajmi</dc:creator>
  <cp:lastModifiedBy>DELL</cp:lastModifiedBy>
  <cp:revision>11</cp:revision>
  <dcterms:created xsi:type="dcterms:W3CDTF">2025-09-08T21:44:50Z</dcterms:created>
  <dcterms:modified xsi:type="dcterms:W3CDTF">2025-09-09T11:08:38Z</dcterms:modified>
</cp:coreProperties>
</file>
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1" r:id="rId2"/>
    <p:sldId id="256" r:id="rId3"/>
    <p:sldId id="258" r:id="rId4"/>
    <p:sldId id="272" r:id="rId5"/>
    <p:sldId id="274" r:id="rId6"/>
    <p:sldId id="278" r:id="rId7"/>
    <p:sldId id="280" r:id="rId8"/>
    <p:sldId id="282" r:id="rId9"/>
    <p:sldId id="287" r:id="rId10"/>
    <p:sldId id="289" r:id="rId11"/>
    <p:sldId id="291" r:id="rId12"/>
    <p:sldId id="293" r:id="rId13"/>
    <p:sldId id="296" r:id="rId14"/>
    <p:sldId id="298" r:id="rId15"/>
    <p:sldId id="300" r:id="rId16"/>
    <p:sldId id="302" r:id="rId17"/>
    <p:sldId id="304" r:id="rId18"/>
    <p:sldId id="306" r:id="rId19"/>
    <p:sldId id="308" r:id="rId20"/>
    <p:sldId id="310" r:id="rId21"/>
    <p:sldId id="312" r:id="rId22"/>
    <p:sldId id="314" r:id="rId23"/>
    <p:sldId id="323" r:id="rId24"/>
    <p:sldId id="325" r:id="rId25"/>
    <p:sldId id="328" r:id="rId26"/>
    <p:sldId id="335" r:id="rId27"/>
    <p:sldId id="337" r:id="rId28"/>
    <p:sldId id="339" r:id="rId2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3" y="6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descendente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 </a:t>
            </a:r>
            <a:r>
              <a:rPr lang="fr-FR" b="1" i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tectum</a:t>
            </a:r>
            <a:r>
              <a:rPr lang="fr-FR" b="0" i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(latin : toit) est une région du cerveau, plus spécifiquement la partie dorsale (supérieure) du mésencéphale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dirty="0"/>
              <a:t>intoxication atropinique : mydriase</a:t>
            </a:r>
          </a:p>
          <a:p>
            <a:r>
              <a:rPr lang="fr-FR" dirty="0"/>
              <a:t>Opiacée : opium, morphine, codéine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Signe de Charles Bell</a:t>
            </a:r>
            <a:r>
              <a:rPr lang="fr-FR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</a:t>
            </a:r>
            <a:r>
              <a:rPr lang="fr-FR" b="0" i="0" dirty="0">
                <a:solidFill>
                  <a:srgbClr val="040C28"/>
                </a:solidFill>
                <a:effectLst/>
                <a:latin typeface="Google Sans"/>
              </a:rPr>
              <a:t>fermeture incomplète de l'œil et à la bascule du globe oculaire vers le haut : </a:t>
            </a:r>
            <a:r>
              <a:rPr lang="fr-FR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et caractérisant l'atteinte du nerf facial : paralysie faciale périphérique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fr-FR" sz="1600" b="1" dirty="0"/>
              <a:t>C  (</a:t>
            </a:r>
            <a:r>
              <a:rPr lang="fr-FR" sz="1200" b="1" dirty="0">
                <a:solidFill>
                  <a:srgbClr val="00B050"/>
                </a:solidFill>
              </a:rPr>
              <a:t>La sédation (benzodiazépines, morphiniques notamment) doit être interrompue depuis au moins 48 heures).</a:t>
            </a:r>
          </a:p>
          <a:p>
            <a:pPr marL="0" indent="0">
              <a:buFont typeface="+mj-lt"/>
              <a:buNone/>
            </a:pPr>
            <a:r>
              <a:rPr lang="fr-FR" sz="1600" b="1" dirty="0"/>
              <a:t>D: intoxication aux barbituriques !!!! Hypothermie profonde !!!!!</a:t>
            </a:r>
          </a:p>
          <a:p>
            <a:pPr marL="0" indent="0">
              <a:buFont typeface="+mj-lt"/>
              <a:buNone/>
            </a:pPr>
            <a:r>
              <a:rPr lang="fr-FR" sz="1600" b="1" dirty="0"/>
              <a:t>E La disparition des réflexes du tronc cérébral à une température en dessous de 28°c </a:t>
            </a:r>
            <a:r>
              <a:rPr lang="fr-FR" sz="1200" b="1" dirty="0">
                <a:solidFill>
                  <a:srgbClr val="00B050"/>
                </a:solidFill>
              </a:rPr>
              <a:t>(une disparition des réflexes du tronc cérébral étant décrite en dessous de 28°C, le réflexe </a:t>
            </a:r>
            <a:r>
              <a:rPr lang="fr-FR" sz="1200" b="1" dirty="0" err="1">
                <a:solidFill>
                  <a:srgbClr val="00B050"/>
                </a:solidFill>
              </a:rPr>
              <a:t>photo-moteur</a:t>
            </a:r>
            <a:r>
              <a:rPr lang="fr-FR" sz="1200" b="1" dirty="0">
                <a:solidFill>
                  <a:srgbClr val="00B050"/>
                </a:solidFill>
              </a:rPr>
              <a:t> pouvant disparaitre dès 32°)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  <a:sym typeface="+mn-ea"/>
              </a:rPr>
              <a:t>Coma :</a:t>
            </a:r>
            <a:br>
              <a:rPr lang="fr-FR" b="1" dirty="0">
                <a:solidFill>
                  <a:srgbClr val="0070C0"/>
                </a:solidFill>
                <a:sym typeface="+mn-ea"/>
              </a:rPr>
            </a:br>
            <a:r>
              <a:rPr lang="fr-FR" b="1" dirty="0">
                <a:solidFill>
                  <a:srgbClr val="0070C0"/>
                </a:solidFill>
                <a:sym typeface="+mn-ea"/>
              </a:rPr>
              <a:t>Orientations diagnostiques</a:t>
            </a:r>
            <a:endParaRPr lang="fr-FR" altLang="en-US" b="1" dirty="0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143058"/>
            <a:ext cx="9144000" cy="1655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/>
          <a:lstStyle/>
          <a:p>
            <a:r>
              <a:rPr lang="fr-FR" altLang="en-US" b="1">
                <a:solidFill>
                  <a:schemeClr val="tx1"/>
                </a:solidFill>
              </a:rPr>
              <a:t>Dr Nouira Hajer</a:t>
            </a:r>
          </a:p>
          <a:p>
            <a:r>
              <a:rPr lang="fr-FR" altLang="en-US" b="1">
                <a:solidFill>
                  <a:schemeClr val="tx1"/>
                </a:solidFill>
              </a:rPr>
              <a:t>Service réanimation médicale </a:t>
            </a:r>
          </a:p>
          <a:p>
            <a:r>
              <a:rPr lang="fr-FR" altLang="en-US" b="1">
                <a:solidFill>
                  <a:schemeClr val="tx1"/>
                </a:solidFill>
              </a:rPr>
              <a:t>EPS Taher Sfar Mahdia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49480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Concernant le coma, quelles sont les propositions exactes?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Est secondaire à un dysfonctionnement de la formation réticulaire activatrice descendante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– L’ouverture des yeux peut-être conservé (même en cas de stimulation douloureuse)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- Est défini par une altération profonde et durable de la conscience et de la vigilance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Cliniquement le coma est défini par un score de Glasgow &lt; 8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l’état de conscience minimale est l’une des présentations du coma</a:t>
            </a: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just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L'état végétatif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Il est synonyme de mort cérébrale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Les réflexes cornéens et photomoteurs sont généralement conservés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Il existe une réaction appropriée aux stimulations douloureuses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Les grandes fonctions végétatives sont conservées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- C'est un des aspects évolutifs des comas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patient dans le coma présente une hyperventilation neurogène centrale à 25 c/minute, un signe de Babinski bilatéral, un réflexe photomoteur aboli avec des pupilles en position intermédiaires non réactives, une paralysie de la verticalité du regard. A quel niveau se situe la lésion?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Cortex frontal bilatéral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Mésencéphale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Protubérance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Bulbe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Cervelet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l’examen d’un patient en coma :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Le reflexe oculo-cardiaque se manifeste par une hypotension artérielle après compression des globes oculaires.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 L’abolition unilatérale des réflexes ostéotendineux est un signe de localisation.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Une réponse de décortication se manifeste par une flexion et adduction des membres supérieurs et une extension des membres inférieurs.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 Le reflexe oculo-cardiaque est le dernier à disparaitre avant la mort cérébrale.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 Le réflexe photomoteur se manifeste par une contraction pupillaire par la stimulation lumineuse.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les r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flexes du tronc cérébral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Le réflexe oculo-cardiaque est un réflexe bulbaire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Le réflexe oculo-cardiaque est le premier à disparaitre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Le reflexe fronto-orbiculaire est le dernier à disparaitre.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L’absence des réflexes du tronc témoigne de la gravité du traumatisme crânien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- Le reflexe photo-moteur est un réflexe mésencéphalique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L’abolition du reflexe photo-moteur doit faire évoquer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atteinte cérébelleuse 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une atteinte diencéphalique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atteinte mésencéphalique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une atteinte de la protubérance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atteinte du Tectum </a:t>
            </a:r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myosis punctiforme est observé lors d’une :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Atteinte bilatérale du III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Atteinte diencéphalique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atteinte cérébelleuse 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atteinte mésencéphalique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lésion protubérantielle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Lors de l'examen clinique d'un patient comateux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La résistance à l'ouverture des yeux est en faveur d'une aréactivité psychogène.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mutisme akinétique réalise une altération de la vigilance.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La persistance des réflexes du tronc cérébral élimine une mort encéphalique.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D-Lors du Locked-in syndrome, les mouvements horizontaux des yeux sont conservés.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L’évaluation du score du Glasgow n’est pas toujours nécessaire.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Quelle(s) est (sont) la(les) proposition(s) exacte(s) concernant le diagnostic du coma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 La persistance de signes traduisant un contrôle cortical , discordants avec la profondeur apparente du coma est en faveur d’une aréactivité psychogène.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coma secondaire à une intoxication aux barbituriques se caractérise par une tendance à l'agitation avec une hypertonie spontanée.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La présence d'un d'asterixis est évocatrice d'un coma métabolique.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 Un myosis serré bilatéral peut être d'origine toxique.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 coma avec des signes de localisation est la seule indication à l'imagerie cérébrale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Quel sont les diagnostics différentiels qu’ils  faut toujours éliminer?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 état de mal convulsif larvé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 loocked in syndrome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aréactivité psychogène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Une hypersomnie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Mutisme akinétique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 cours du Locked-in-syndrome on peut observer: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Une tétraplégie 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Une diplégie faciale 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paralysie labio-glossopharyngo-laryngée 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Une paralysie de la verticalité des yeux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e) Des atteintes hémisphériques profondes ou médianes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 de texte 1"/>
          <p:cNvSpPr txBox="1"/>
          <p:nvPr/>
        </p:nvSpPr>
        <p:spPr>
          <a:xfrm>
            <a:off x="1835150" y="1004570"/>
            <a:ext cx="8079105" cy="525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Quels sont les gestes à effectuer en urgence devant un coma?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 scanner cérébral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Une ponction lombaire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protection des voies aériennes</a:t>
            </a: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Corriger un état de choc</a:t>
            </a: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Traiter une crise convulsive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coma avec myosis bilatéral doit faire évoquer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Une intoxication atropinique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Une intoxication opiacée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Une hémorragie hémisphérique gauche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Une intoxication aux organophosphorés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Une intoxication aux barbituriques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mydriase bilatérale aréflective peut se voir dans les situations suivantes :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Mort cérébrale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Encéphalopathie post-anoxique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Intoxication aux organophosphorés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Intoxication aux opiacés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E.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Atteinte de la région tectale du tronc cérébral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faits suivants lequel ou lesquels est (sont) en faveur de l'étiologie métabolique d'un coma de l'adulte ?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	Début brutal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	Asymétrie pupillaire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	Myoclonies diffuses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	Paralysie faciale unilatérale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	Flapping Tremor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la survenue d'un coma non traumatique, sans cause évidente, quel(s) examen(s) de première intention peut-on réaliser ?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électro-encéphalogramme,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TDM cérébrale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- Glycémie au doigt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IRM cérébrale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Ponction lombaire systématique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coma d’installation brutale chez un patient de 40 ans sans notion de traumatisme avec hyperdensité spontanée intraparenchymateuse dans le territoire pariétal droit au scanner cérébrale doit faire évoquer: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hémorragie par rupture de vaisseau,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anévrysme rompu,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tumeur ayant saigné,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infarctus artériel,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syndrome lacunaire.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bilan d'un coma non traumatique, le scanner cérébral s'avère normal. Ceci n'élimine pas :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hématome intraparenchymateux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étiologie toxique,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- accident vasculaire ischémique au début,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méningite,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- processus lésionnel du tronc cérébral.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un coma fébrile d’installation progressive sans signes de localisation et sans traumatisme crânien, vous évoquer :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 processus expansif intracrânien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 Une méningite bactérienne comateuse, 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Une méningo-encéphalite virale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 coma myxœdémateux.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Encéphalopathie hépatique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évidence d’une hémiplégie récente chez un sujet en coma est basée sur 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La déviation conjuguée de la tête et des yeux avec asymétrie faciale spontanée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L’asymétrie de la réponse motrice aux stimuli douloureux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L’asymétrie des réflexes ostéotendineux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L’amyotrophie de l’hémicorps concerné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Le signe de Charles Bell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Quels troubles métaboliques peuvent être à l'origine d'un coma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Hypoglycémie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Hyperglycémie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Hyponatrémie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Hypokaliémie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Hypercalcémie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022350"/>
            <a:ext cx="10515600" cy="5154930"/>
          </a:xfrm>
        </p:spPr>
        <p:txBody>
          <a:bodyPr>
            <a:normAutofit fontScale="97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score de Glasgow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Permet d’apprécier la profondeur du coma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Permet à lui seul de prédire le pronostic en cas d’intoxication aux barbituriques et les hypothermies profondes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Permet de guider le moment opportun pour débuter une ventilation artificielle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Réalisable chez les patients ventilés et sous sédation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Lorsqu'il existe une asymétrie de la réponse motrice, on choisit toujours la cotation la plus basse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troubles respiratoires d’origine centrale devant un état de coma profond se traduisent par  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rythme de Cheynes-Stokes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L’hyperventilation neurogène centrale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de Kusmaul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apneustique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ataxique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affirmations suivantes concernant les complications non spécifiques d'un coma toxique, laquelle(lesquelles) est(sont) exacte(s) 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L'inhalation est responsable d'une pneumonie bactérienne appelée syndrome de Mendelson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escarre aux points d'appui est possible pour un coma de quelques heures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 ulcère de cornée peut être observé après un coma aux benzodiazépines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rhabdomyolyse peut être à l'origine d'un syndrome de loge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Une hypothermie profonde ne s’observe pas en cas de sepsis associé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mort cérébrale :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Est suspecté devant l’absence de respiration spontanée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Est suspecté devant la persistance du reflexe cornéen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La présence des réflexes ostéotendineux et du signe de Babinski positif sont incompatibles avec la mort cérébrale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Le test d’apnée doit montrer l’absence de mouvements respiratoires en présence d’une hypercapnie.</a:t>
            </a: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EEG est indispensable au diagnostic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L’EEG chez un patient comateux 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permet d’objectiver des anomalies caractéristiques  qui peuvent se voir dans  l’encéphalite herpétique.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a un grand  d’intérêt dans l’évaluation de  la profondeur du coma.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- peut révéler un tracé caractéristique de certains types d'intoxications.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peut avoir  un intérêt dans la détermination du pronostic du coma.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est un examen à demander en première intention devant un état de coma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432560"/>
            <a:ext cx="10515600" cy="4744720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positif d’un état de mort encéphalique est posé devant 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angiographie cérébrale montrant l’absence de circulation cérébrale des 4 axes vasculaires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L’absence d’activité électrique sur l’électroencéphalogramme pendant 20 mn chez un patient non sédaté  stable sur le plan hémodynamique normo tendu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L’absence de ventilation spontanée sous benzodiazépine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affirmée sur un seul examen clinique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disparition des réflexes du tronc cérébral à une température en dessous de 28°c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1671</Words>
  <Application>Microsoft Office PowerPoint</Application>
  <PresentationFormat>Grand écran</PresentationFormat>
  <Paragraphs>181</Paragraphs>
  <Slides>28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6" baseType="lpstr">
      <vt:lpstr>微软雅黑</vt:lpstr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Coma : Orientations diagnostiques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zied.kammoun</cp:lastModifiedBy>
  <cp:revision>8</cp:revision>
  <dcterms:created xsi:type="dcterms:W3CDTF">2025-09-08T08:21:12Z</dcterms:created>
  <dcterms:modified xsi:type="dcterms:W3CDTF">2025-10-22T16:39:54Z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1036-12.2.0.21931</vt:lpwstr>
  </property>
  <property fmtid="{D5CDD505-2E9C-101B-9397-08002B2CF9AE}" pid="3" name="ICV">
    <vt:lpwstr>A0A3308795E944D48832CD911C1A1C3A_12</vt:lpwstr>
  </property>
</Properties>
</file>
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5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7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2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1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4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0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8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6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5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4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71771-308C-4A9D-A7FA-F946732E0B64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D35B6-53A2-4866-ADBB-6516AFFA491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5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000" b="1" dirty="0" smtClean="0"/>
              <a:t>Les intoxications</a:t>
            </a:r>
            <a:br>
              <a:rPr lang="fr-FR" sz="4000" b="1" dirty="0" smtClean="0"/>
            </a:br>
            <a:r>
              <a:rPr lang="fr-FR" sz="4000" b="1" dirty="0" smtClean="0"/>
              <a:t>Organophosphorés</a:t>
            </a:r>
            <a:br>
              <a:rPr lang="fr-FR" sz="4000" b="1" dirty="0" smtClean="0"/>
            </a:br>
            <a:r>
              <a:rPr lang="fr-FR" sz="4000" b="1" dirty="0" smtClean="0"/>
              <a:t>Monoxyde de carbone</a:t>
            </a:r>
            <a:br>
              <a:rPr lang="fr-FR" sz="4000" b="1" dirty="0" smtClean="0"/>
            </a:br>
            <a:r>
              <a:rPr lang="fr-FR" sz="4000" b="1" dirty="0" smtClean="0"/>
              <a:t>Psychotropes</a:t>
            </a:r>
            <a:endParaRPr lang="en-US" sz="40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/>
              <a:t>Mohamed </a:t>
            </a:r>
            <a:r>
              <a:rPr lang="fr-FR" b="1" dirty="0" err="1"/>
              <a:t>Boussarsar</a:t>
            </a:r>
            <a:r>
              <a:rPr lang="fr-FR" b="1"/>
              <a:t>, MD, Professor, MICU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5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fr-FR" b="1" dirty="0" smtClean="0"/>
              <a:t>21.	Concernant </a:t>
            </a:r>
            <a:r>
              <a:rPr lang="fr-FR" b="1" dirty="0"/>
              <a:t>le pouvoir </a:t>
            </a:r>
            <a:r>
              <a:rPr lang="fr-FR" b="1" dirty="0" err="1"/>
              <a:t>oxyphorique</a:t>
            </a:r>
            <a:r>
              <a:rPr lang="fr-FR" b="1" dirty="0"/>
              <a:t> du sang 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C’est la capacité du sang à transporter de l’oxygène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est considérablement augmenté par la présence de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est réversible et stable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est la conséquence de l’affinité d’une protéine ligand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Ce pouvoir ne lui confère à l’hémoglobine que de se lier qu’à l’oxygène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4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fr-FR" b="1" dirty="0" smtClean="0"/>
              <a:t>21.	Concernant </a:t>
            </a:r>
            <a:r>
              <a:rPr lang="fr-FR" b="1" dirty="0"/>
              <a:t>le pouvoir </a:t>
            </a:r>
            <a:r>
              <a:rPr lang="fr-FR" b="1" dirty="0" err="1"/>
              <a:t>oxyphorique</a:t>
            </a:r>
            <a:r>
              <a:rPr lang="fr-FR" b="1" dirty="0"/>
              <a:t> du sang 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/>
              <a:t>C’est la capacité du sang à transporter de l’oxygène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/>
              <a:t>Il est considérablement augmenté par la présence de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est réversible et stable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/>
              <a:t>Il est la conséquence de l’affinité d’une protéine ligand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Ce pouvoir ne lui confère à l’hémoglobine que de se lier qu’à l’oxygène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2"/>
            </a:pPr>
            <a:r>
              <a:rPr lang="fr-FR" b="1" dirty="0" smtClean="0"/>
              <a:t>  La fonction transport de l’hémoglobine lui confère :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fixation réversible et stable d’un ligand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possibilité de fixer exclusivement l’oxygène et le CO2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Pourrait fixer d’autres ligands tels que le H+, ATP ou le 2-3 DPG.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fixation de certains ligands ne peut altérer l’affinité de l’hémoglobine à d’autres ligands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Malgré les intoxications complexes, successives et coopératives, entre l’oxygène et les 4 sites vecteurs, il confère à l’hémoglobine une cinétique de dissociation linéaire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2"/>
            </a:pPr>
            <a:r>
              <a:rPr lang="fr-FR" b="1" dirty="0" smtClean="0"/>
              <a:t>  La fonction transport de l’hémoglobine lui confère :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fixation réversible et stable d’un ligand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possibilité de fixer exclusivement l’oxygène et le CO2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Pourrait fixer d’autres ligands tels que le H+, ATP ou le 2-3 DPG.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fixation de certains ligands ne peut altérer l’affinité de l’hémoglobine à d’autres ligands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Malgré les intoxications complexes, successives et coopératives, entre l’oxygène et les 4 sites vecteurs, il confère à l’hémoglobine une cinétique de dissociation linéaire</a:t>
            </a:r>
          </a:p>
          <a:p>
            <a:pPr>
              <a:buNone/>
            </a:pPr>
            <a:endParaRPr lang="fr-FR" dirty="0" smtClean="0"/>
          </a:p>
          <a:p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1725" y="1833863"/>
            <a:ext cx="10515600" cy="4351338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fr-FR" sz="3000" b="1" dirty="0" smtClean="0"/>
              <a:t>23. Concernant la courbe de dissociation de l’hémoglobine : </a:t>
            </a:r>
          </a:p>
          <a:p>
            <a:pPr lvl="0"/>
            <a:r>
              <a:rPr lang="fr-FR" dirty="0" smtClean="0"/>
              <a:t>Sa forme sigmoïde est très avantageuse sur le plan physiologique</a:t>
            </a:r>
          </a:p>
          <a:p>
            <a:pPr lvl="0"/>
            <a:r>
              <a:rPr lang="fr-FR" dirty="0" smtClean="0"/>
              <a:t>Ces deux phases ascendantes et de plateau sont séparées par un point qui correspond à une PaO2 égale à 90mmHg</a:t>
            </a:r>
          </a:p>
          <a:p>
            <a:pPr lvl="0"/>
            <a:r>
              <a:rPr lang="fr-FR" dirty="0" smtClean="0"/>
              <a:t>Le plateau de la courbe se nomme parfois la partie artérielle ou « pulmonaire » ou encore effet Bohr </a:t>
            </a:r>
          </a:p>
          <a:p>
            <a:pPr lvl="0"/>
            <a:r>
              <a:rPr lang="fr-FR" dirty="0" smtClean="0"/>
              <a:t>L’effet Bohr est le fait que lorsque la PaCO2 augmente l’affinité de l’hémoglobine pour l’oxygène augmente</a:t>
            </a:r>
          </a:p>
          <a:p>
            <a:pPr lvl="0"/>
            <a:r>
              <a:rPr lang="fr-FR" dirty="0" smtClean="0"/>
              <a:t>Cette courbe de dissociation reste sensiblement valable sous différentes variations par exemple du pH et de la température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1725" y="1833863"/>
            <a:ext cx="10515600" cy="4351338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fr-FR" sz="3000" b="1" dirty="0" smtClean="0"/>
              <a:t>23. Concernant la courbe de dissociation de l’hémoglobine :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Sa forme sigmoïde est très avantageuse sur le plan physiologique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Ces deux phases ascendantes et de plateau sont séparées par un point qui correspond à une PaO2 égale à 90mmHg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fr-FR" dirty="0" smtClean="0"/>
              <a:t>Le plateau de la courbe se nomme parfois la partie artérielle ou « pulmonaire » ou encore effet Bohr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L’effet Bohr est le fait que lorsque la PaCO2 augmente l’affinité de l’hémoglobine pour l’oxygène augmente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Cette courbe de dissociation reste sensiblement valable sous différentes variations par exemple du pH et de la température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24. Un déplacement, de la courbe de dissociation de l’oxyhémoglobine vers la gauche, est </a:t>
            </a:r>
            <a:endParaRPr lang="fr-FR" dirty="0" smtClean="0"/>
          </a:p>
          <a:p>
            <a:r>
              <a:rPr lang="fr-FR" b="1" dirty="0" smtClean="0"/>
              <a:t>influencé par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L’hyperthermie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alcalose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hypercapnie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concentration intra-</a:t>
            </a:r>
            <a:r>
              <a:rPr lang="fr-FR" dirty="0" err="1" smtClean="0"/>
              <a:t>erythrocytaire</a:t>
            </a:r>
            <a:r>
              <a:rPr lang="fr-FR" dirty="0" smtClean="0"/>
              <a:t> de 2-3 DPG abaissée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Baisse de la PCO2 capillaire pulmonaire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24. Un déplacement, de la courbe de dissociation de l’oxyhémoglobine vers la gauche, est </a:t>
            </a:r>
            <a:endParaRPr lang="fr-FR" dirty="0" smtClean="0"/>
          </a:p>
          <a:p>
            <a:r>
              <a:rPr lang="fr-FR" b="1" dirty="0" smtClean="0"/>
              <a:t>influencé par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L’hyperthermie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Une alcalose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hypercapnie</a:t>
            </a:r>
          </a:p>
          <a:p>
            <a:pPr marL="514350" indent="-514350">
              <a:buFont typeface="+mj-lt"/>
              <a:buAutoNum type="alphaUcPeriod"/>
            </a:pPr>
            <a:r>
              <a:rPr lang="fr-FR" b="1" dirty="0" smtClean="0"/>
              <a:t>Une concentration intra-</a:t>
            </a:r>
            <a:r>
              <a:rPr lang="fr-FR" b="1" dirty="0" err="1" smtClean="0"/>
              <a:t>erythrocytaire</a:t>
            </a:r>
            <a:r>
              <a:rPr lang="fr-FR" b="1" dirty="0" smtClean="0"/>
              <a:t> de 2-3 DPG abaissée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Baisse de la PCO2 capillaire pulmonaire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25. Un déplacement de la courbe de la dissociation de l’oxyhémoglobine vers la droite se</a:t>
            </a:r>
            <a:endParaRPr lang="fr-FR" dirty="0" smtClean="0"/>
          </a:p>
          <a:p>
            <a:r>
              <a:rPr lang="fr-FR" b="1" dirty="0" smtClean="0"/>
              <a:t>rencontre dans les circonstances suivantes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hyperthermie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acidose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hypocapnie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activité métabolique accrue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concentration intra-</a:t>
            </a:r>
            <a:r>
              <a:rPr lang="fr-FR" dirty="0" err="1" smtClean="0"/>
              <a:t>erythrocytaire</a:t>
            </a:r>
            <a:r>
              <a:rPr lang="fr-FR" dirty="0" smtClean="0"/>
              <a:t> de 2-3 DPG abaissée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25. Un déplacement de la courbe de la dissociation de l’oxyhémoglobine vers la droite se</a:t>
            </a:r>
            <a:endParaRPr lang="fr-FR" dirty="0" smtClean="0"/>
          </a:p>
          <a:p>
            <a:r>
              <a:rPr lang="fr-FR" b="1" dirty="0" smtClean="0"/>
              <a:t>rencontre dans les circonstances suivantes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Une hyperthermie</a:t>
            </a:r>
          </a:p>
          <a:p>
            <a:pPr marL="514350" indent="-514350">
              <a:buFont typeface="+mj-lt"/>
              <a:buAutoNum type="alphaUcPeriod"/>
            </a:pPr>
            <a:r>
              <a:rPr lang="fr-FR" b="1" dirty="0" smtClean="0"/>
              <a:t>Une acidose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hypocapnie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Une activité métabolique accrue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concentration intra-</a:t>
            </a:r>
            <a:r>
              <a:rPr lang="fr-FR" dirty="0" err="1" smtClean="0"/>
              <a:t>erythrocytaire</a:t>
            </a:r>
            <a:r>
              <a:rPr lang="fr-FR" dirty="0" smtClean="0"/>
              <a:t> de 2-3 DPG abaissée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None/>
            </a:pPr>
            <a:r>
              <a:rPr lang="fr-FR" b="1" dirty="0" smtClean="0"/>
              <a:t>26. Concernant la formation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 se produit par la combustion incomplète d’une matière carbonée en atmosphère pauvre en oxygène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se produire par les moyens de chauffages, les véhicules de transport voire la simple cigarette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se produire par les chauffages électriques à inertie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Contamine naturellement l’atmosphère que nous respirons avec des niveaux fluctuant entre 50-100ppm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 en résulte un taux normal de carboxyhémoglobine jusqu’à 15% chez les fumeurs.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fr-FR" b="1" dirty="0" smtClean="0"/>
              <a:t>26. Concernant la formation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Il se produit par la combustion incomplète d’une matière carbonée en atmosphère pauvre en oxygène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fr-FR" b="1" dirty="0" smtClean="0"/>
              <a:t>Peut se produire par les moyens de chauffages, les véhicules de transport voire la simple cigarette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se produire par les chauffages électriques à inertie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lphaUcPeriod"/>
            </a:pPr>
            <a:r>
              <a:rPr lang="fr-FR" b="1" dirty="0" smtClean="0"/>
              <a:t>Contamine naturellement l’atmosphère que nous respirons avec des niveaux fluctuant entre 50-100ppm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UcPeriod"/>
            </a:pPr>
            <a:r>
              <a:rPr lang="fr-FR" b="1" dirty="0" smtClean="0"/>
              <a:t>Il en résulte un taux normal de carboxyhémoglobine jusqu’à 15% chez les fumeurs.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27. Mr MB secouru à domicile pour coma d’installation brutale rattachée à une intoxication au monoxyde de carbone. Lesquels des facteurs suivants seraient des circonstances favorables 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lieu de l’accident correspond à une salle de bain exiguë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chauffe-eau est à l’intérieur de la salle de bain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tirage d’aération est bloqué par un nid d’oiseau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L’ambiance est sèche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salle de bain est ouverte et bien aérée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27. Mr MB secouru à domicile pour coma d’installation brutale rattachée à une intoxication au monoxyde de carbone. Lesquels des facteurs suivants seraient des circonstances favorables 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 lieu de l’accident correspond à une salle de bain exiguë </a:t>
            </a:r>
          </a:p>
          <a:p>
            <a:pPr marL="514350" indent="-514350">
              <a:buFont typeface="+mj-lt"/>
              <a:buAutoNum type="alphaUcPeriod"/>
            </a:pPr>
            <a:r>
              <a:rPr lang="fr-FR" b="1" dirty="0" smtClean="0"/>
              <a:t>Le chauffe-eau est à l’intérieur de la salle de bain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 tirage d’aération est bloqué par un nid d’oiseau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L’ambiance est sèche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salle de bain est ouverte et bien aérée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28. Mr AB secouru à domicile pour coma d’installation brutale rattachée à une intoxication au monoxyde de carbone. Lesquels des facteurs suivants seraient des circonstances favorables 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lieu de l’accident correspond à une salle de bain exiguë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L’ambiance est très humide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victime serait la troisième à prendre son bain pendant la même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salle de bain est hermétiquement fermée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Aucune odeur d’hydrocarbure n’est ressentie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28. Mr AB secouru à domicile pour coma d’installation brutale rattachée à une intoxication au monoxyde de carbone. Lesquels des facteurs suivants seraient des circonstances favorables 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 lieu de l’accident correspond à une salle de bain exiguë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L’ambiance est très humide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victime serait la troisième à prendre son bain pendant la même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salle de bain est hermétiquement fermée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Aucune odeur d’hydrocarbure n’est ressentie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29. Concernant la liaison </a:t>
            </a:r>
            <a:r>
              <a:rPr lang="fr-FR" b="1" dirty="0" err="1" smtClean="0"/>
              <a:t>carboxy-hémoglobine</a:t>
            </a:r>
            <a:r>
              <a:rPr lang="fr-FR" b="1" dirty="0" smtClean="0"/>
              <a:t>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est toujours irréversible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peut s’oxyder à l’air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CO se lie très rapidement à l’hémoglobine mais ne peut déplacer l’oxygène déjà lié à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 pression élevée, l’oxygène pourrait déplacer le CO de sa combinaison avec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CO ne pourrait se fixer sur d’autres protéines contenant un hème comme la myoglobine et les cytochromes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b="1" dirty="0" smtClean="0"/>
              <a:t>29. Concernant la liaison </a:t>
            </a:r>
            <a:r>
              <a:rPr lang="fr-FR" b="1" dirty="0" err="1" smtClean="0"/>
              <a:t>carboxy-hémoglobine</a:t>
            </a:r>
            <a:r>
              <a:rPr lang="fr-FR" b="1" dirty="0" smtClean="0"/>
              <a:t>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est toujours irréversible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peut s’oxyder à l’air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CO se lie très rapidement à l’hémoglobine mais ne peut déplacer l’oxygène déjà lié à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A pression élevée, l’oxygène pourrait déplacer le CO de sa combinaison avec l’hémoglobine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CO ne pourrait se fixer sur d’autres protéines contenant un hème comme la myoglobine et les cytochromes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None/>
            </a:pPr>
            <a:r>
              <a:rPr lang="fr-FR" b="1" dirty="0" smtClean="0"/>
              <a:t>30. Concernant les effets physiopathologiques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 pourrait induire rapidement une anoxie tissulaire diffuse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degré d’anoxie est corrélé à la concentration ambiante de CO mais pas à la durée d’exposition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défaut de transport par l’hémoglobine est le mécanisme essentiel de l’hypoxémie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liaison du CO à l’hémoglobine est stable mais réversible à mesure que l’atmosphère est enrichi en oxygène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défaut de libération et d’utilisation de l’oxygène lié à l’hémoglobine est le facteur principal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None/>
            </a:pPr>
            <a:r>
              <a:rPr lang="fr-FR" b="1" dirty="0" smtClean="0"/>
              <a:t>30. Concernant les effets physiopathologiques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Il pourrait induire rapidement une anoxie tissulaire diffuse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degré d’anoxie est corrélé à la concentration ambiante de CO mais pas à la durée d’exposition</a:t>
            </a:r>
          </a:p>
          <a:p>
            <a:pPr marL="514350" indent="-514350">
              <a:buFont typeface="+mj-lt"/>
              <a:buAutoNum type="alphaUcPeriod"/>
            </a:pPr>
            <a:r>
              <a:rPr lang="fr-FR" b="1" dirty="0" smtClean="0"/>
              <a:t>Le défaut de transport par l’hémoglobine est le mécanisme essentiel de l’hypoxémie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liaison du CO à l’hémoglobine est stable mais réversible à mesure que l’atmosphère est enrichi en oxygène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défaut de libération et d’utilisation de l’oxygène lié à l’hémoglobine est le facteur principal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None/>
            </a:pPr>
            <a:r>
              <a:rPr lang="fr-FR" b="1" dirty="0" smtClean="0"/>
              <a:t>31. Concernant les effets physiopathologiques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 pourrait induire rapidement une anoxie tissulaire diffuse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toxicité tissulaire locale par la liaison du CO à la myoglobine et aux cytochromes constitue le mécanisme principal de l’intoxication.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degré d’anoxie est corrélé à la concentration ambiante de CO mais pas à la durée d’exposition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défaut de transport par l’hémoglobine est le mécanisme essentiel de l’hypoxémie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liaison à l’hémoglobine fœtale est retardée, plus intense et plus prolongée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None/>
            </a:pPr>
            <a:r>
              <a:rPr lang="fr-FR" b="1" dirty="0" smtClean="0"/>
              <a:t>31. Concernant les effets physiopathologiques du Monoxyde de Carbone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Il pourrait induire rapidement une anoxie tissulaire diffuse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toxicité tissulaire locale par la liaison du CO à la myoglobine et aux cytochromes constitue le mécanisme principal de l’intoxication.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degré d’anoxie est corrélé à la concentration ambiante de CO mais pas à la durée d’exposition</a:t>
            </a:r>
          </a:p>
          <a:p>
            <a:pPr marL="514350" indent="-514350">
              <a:buFont typeface="+mj-lt"/>
              <a:buAutoNum type="alphaUcPeriod"/>
            </a:pPr>
            <a:r>
              <a:rPr lang="fr-FR" b="1" dirty="0" smtClean="0"/>
              <a:t>Le défaut de transport par l’hémoglobine est le mécanisme essentiel de l’hypoxémie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liaison à l’hémoglobine fœtale est retardée, plus intense et plus prolongée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32. Les effets d’une intoxication au CO varient selon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quantité de CO dans l’air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durée de l’exposition au CO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sensibilité de la personne aux effets de ce gaz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L’état de santé antérieur de la personne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d’une intoxication tabagique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32. Les effets d’une intoxication au CO varient selon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quantité de CO dans l’air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durée de l’exposition au CO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sensibilité de la personne aux effets de ce gaz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L’état de santé antérieur de la personne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d’une intoxication tabagique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33. Les terrains suivants sont des terrains à risque pour l’intoxication CO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femme enceinte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enfants de moins de 2 ans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personnes âgées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fumeurs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L’insuffisance rénale chronique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33. Les terrains suivants sont des terrains à risque pour l’intoxication CO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La femme enceinte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Les enfants de moins de 2 ans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Les personnes âgées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fumeurs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L’insuffisance rénale chronique 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34. Le diagnostic d’intoxication au monoxyde de carbone est suspecté surtout devant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caractère brutal d’une sémiologie neurosensorielle peu spécifique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circonstances toxiques très favorables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caractère collectif de l’intoxication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lieu, une journée ou un moment, suggestifs de l’intoxication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Nausées et vomissements en jet.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34. Le diagnostic d’intoxication au monoxyde de carbone est suspecté surtout devant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 caractère brutal d’une sémiologie neurosensorielle peu spécifique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Des circonstances toxiques très favorables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Le caractère collectif de l’intoxication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 lieu, une journée ou un moment, suggestifs de l’intoxication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Nausées et vomissements en jet.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35. Une intoxication oxycarbonée grave peut donner : </a:t>
            </a:r>
            <a:endParaRPr lang="fr-FR" dirty="0" smtClean="0"/>
          </a:p>
          <a:p>
            <a:r>
              <a:rPr lang="fr-FR" dirty="0" smtClean="0"/>
              <a:t>A.	Un coma d’allure lésionnelle</a:t>
            </a:r>
          </a:p>
          <a:p>
            <a:r>
              <a:rPr lang="fr-FR" dirty="0" smtClean="0"/>
              <a:t>B.	Une sémiologie compatible avec un AVC</a:t>
            </a:r>
          </a:p>
          <a:p>
            <a:r>
              <a:rPr lang="fr-FR" dirty="0" smtClean="0"/>
              <a:t>C.	Des convulsions</a:t>
            </a:r>
          </a:p>
          <a:p>
            <a:r>
              <a:rPr lang="fr-FR" dirty="0" smtClean="0"/>
              <a:t>D.	Une hypertonie diffuse</a:t>
            </a:r>
          </a:p>
          <a:p>
            <a:r>
              <a:rPr lang="fr-FR" dirty="0" smtClean="0"/>
              <a:t>E.	Une cécité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35. Une intoxication oxycarbonée grave peut donner : </a:t>
            </a:r>
            <a:endParaRPr lang="fr-FR" dirty="0" smtClean="0"/>
          </a:p>
          <a:p>
            <a:r>
              <a:rPr lang="fr-FR" dirty="0" smtClean="0"/>
              <a:t>A.	</a:t>
            </a:r>
            <a:r>
              <a:rPr lang="fr-FR" b="1" dirty="0" smtClean="0"/>
              <a:t>Un coma d’allure lésionnelle</a:t>
            </a:r>
          </a:p>
          <a:p>
            <a:r>
              <a:rPr lang="fr-FR" b="1" dirty="0" smtClean="0"/>
              <a:t>B.	Une sémiologie compatible avec un AVC</a:t>
            </a:r>
          </a:p>
          <a:p>
            <a:r>
              <a:rPr lang="fr-FR" b="1" dirty="0" smtClean="0"/>
              <a:t>C.	Des convulsions</a:t>
            </a:r>
          </a:p>
          <a:p>
            <a:r>
              <a:rPr lang="fr-FR" b="1" dirty="0" smtClean="0"/>
              <a:t>D.	Une hypertonie diffuse</a:t>
            </a:r>
          </a:p>
          <a:p>
            <a:r>
              <a:rPr lang="fr-FR" dirty="0" smtClean="0"/>
              <a:t>E.	Une cécité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36. Une intoxication oxycarbonée grave peut donner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syndrome coronaire aigu fonctionnel à coronaire saines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troubles du rythme et des troubles </a:t>
            </a:r>
            <a:r>
              <a:rPr lang="fr-FR" dirty="0" err="1" smtClean="0"/>
              <a:t>conductifs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choc cardiogénique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insuffisance rénale par </a:t>
            </a:r>
            <a:r>
              <a:rPr lang="fr-FR" dirty="0" err="1" smtClean="0"/>
              <a:t>rhabdomyolyse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hépatite fulminante toxique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36. Une intoxication oxycarbonée grave peut donner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 syndrome coronaire aigu fonctionnel à coronaire saines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Des troubles du rythme et des troubles </a:t>
            </a:r>
            <a:r>
              <a:rPr lang="fr-FR" b="1" dirty="0" err="1" smtClean="0"/>
              <a:t>conductifs</a:t>
            </a:r>
            <a:endParaRPr lang="fr-FR" b="1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 choc cardiogénique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Une insuffisance rénale par </a:t>
            </a:r>
            <a:r>
              <a:rPr lang="fr-FR" b="1" dirty="0" err="1" smtClean="0"/>
              <a:t>rhabdomyolyse</a:t>
            </a:r>
            <a:endParaRPr lang="fr-FR" b="1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hépatite fulminante toxique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37. Une intoxication oxycarbonée grave peut donner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œdème hémodynamique cardiogénique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troubles du rythme et des troubles </a:t>
            </a:r>
            <a:r>
              <a:rPr lang="fr-FR" dirty="0" err="1" smtClean="0"/>
              <a:t>conductifs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pancréatite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nausées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Céphalées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37. Une intoxication oxycarbonée grave peut donner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 œdème hémodynamique cardiogénique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Des troubles du rythme et des troubles </a:t>
            </a:r>
            <a:r>
              <a:rPr lang="fr-FR" b="1" dirty="0" err="1" smtClean="0"/>
              <a:t>conductifs</a:t>
            </a:r>
            <a:endParaRPr lang="fr-FR" b="1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/>
              <a:t>Une pancréatite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nausées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Céphalées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38. Concernant le dosage de la </a:t>
            </a:r>
            <a:r>
              <a:rPr lang="fr-FR" b="1" dirty="0" err="1" smtClean="0"/>
              <a:t>HbCO</a:t>
            </a:r>
            <a:r>
              <a:rPr lang="fr-FR" b="1" dirty="0" smtClean="0"/>
              <a:t> : </a:t>
            </a:r>
            <a:endParaRPr lang="fr-FR" dirty="0" smtClean="0"/>
          </a:p>
          <a:p>
            <a:r>
              <a:rPr lang="fr-FR" dirty="0" smtClean="0"/>
              <a:t>A.	Est un examen incontournable du diagnostic de l’intoxication oxycarbonée</a:t>
            </a:r>
          </a:p>
          <a:p>
            <a:r>
              <a:rPr lang="fr-FR" dirty="0" smtClean="0"/>
              <a:t>B.	Il signe l’intoxication à partir du 15% de </a:t>
            </a:r>
            <a:r>
              <a:rPr lang="fr-FR" dirty="0" err="1" smtClean="0"/>
              <a:t>HbCO</a:t>
            </a:r>
            <a:endParaRPr lang="fr-FR" dirty="0" smtClean="0"/>
          </a:p>
          <a:p>
            <a:r>
              <a:rPr lang="fr-FR" dirty="0" smtClean="0"/>
              <a:t>C.	Il perd sa sensibilité quand il et prélevé à distance de la soustraction à l‘ambiance toxique</a:t>
            </a:r>
          </a:p>
          <a:p>
            <a:r>
              <a:rPr lang="fr-FR" dirty="0" smtClean="0"/>
              <a:t>D.	Peut se normaliser en moins d’une heure sous oxygène </a:t>
            </a:r>
          </a:p>
          <a:p>
            <a:r>
              <a:rPr lang="fr-FR" dirty="0" smtClean="0"/>
              <a:t>E.	Est un bon facteur pronostique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b="1" dirty="0" smtClean="0"/>
              <a:t>38. Concernant le dosage de la </a:t>
            </a:r>
            <a:r>
              <a:rPr lang="fr-FR" b="1" dirty="0" err="1" smtClean="0"/>
              <a:t>HbCO</a:t>
            </a:r>
            <a:r>
              <a:rPr lang="fr-FR" b="1" dirty="0" smtClean="0"/>
              <a:t> : </a:t>
            </a:r>
            <a:endParaRPr lang="fr-FR" dirty="0" smtClean="0"/>
          </a:p>
          <a:p>
            <a:r>
              <a:rPr lang="fr-FR" dirty="0" smtClean="0"/>
              <a:t>A.	Est un examen incontournable du diagnostic de l’intoxication oxycarbonée</a:t>
            </a:r>
          </a:p>
          <a:p>
            <a:r>
              <a:rPr lang="fr-FR" b="1" dirty="0" smtClean="0"/>
              <a:t>B.	Il signe l’intoxication à partir du 15% de </a:t>
            </a:r>
            <a:r>
              <a:rPr lang="fr-FR" b="1" dirty="0" err="1" smtClean="0"/>
              <a:t>HbCO</a:t>
            </a:r>
            <a:endParaRPr lang="fr-FR" b="1" dirty="0" smtClean="0"/>
          </a:p>
          <a:p>
            <a:r>
              <a:rPr lang="fr-FR" b="1" dirty="0" smtClean="0"/>
              <a:t>C.	Il perd sa sensibilité quand il et prélevé à distance de la soustraction à l‘ambiance toxique</a:t>
            </a:r>
          </a:p>
          <a:p>
            <a:r>
              <a:rPr lang="fr-FR" b="1" dirty="0" smtClean="0"/>
              <a:t>D.	Peut se normaliser en moins d’une heure sous oxygène </a:t>
            </a:r>
          </a:p>
          <a:p>
            <a:r>
              <a:rPr lang="fr-FR" dirty="0" smtClean="0"/>
              <a:t>E.	Est un bon facteur pronostique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39. Concernant la saturation en oxygène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Une SaO2 normalisée lors d’une intoxication hydrocarbonée est largement rassurante</a:t>
            </a:r>
          </a:p>
          <a:p>
            <a:pPr>
              <a:buNone/>
            </a:pPr>
            <a:r>
              <a:rPr lang="fr-FR" dirty="0" smtClean="0"/>
              <a:t>B. La présence de </a:t>
            </a:r>
            <a:r>
              <a:rPr lang="fr-FR" dirty="0" err="1" smtClean="0"/>
              <a:t>HbCO</a:t>
            </a:r>
            <a:r>
              <a:rPr lang="fr-FR" dirty="0" smtClean="0"/>
              <a:t> dans le sang invalide la détermination de la SaO2</a:t>
            </a:r>
          </a:p>
          <a:p>
            <a:pPr>
              <a:buNone/>
            </a:pPr>
            <a:r>
              <a:rPr lang="fr-FR" dirty="0" smtClean="0"/>
              <a:t>C. La PaO2 est plus fiable que la SaO2</a:t>
            </a:r>
          </a:p>
          <a:p>
            <a:pPr>
              <a:buNone/>
            </a:pPr>
            <a:r>
              <a:rPr lang="fr-FR" dirty="0" smtClean="0"/>
              <a:t>D. La saturation pulsée transcutanée de l’oxygène est plus fiable que la SaO2</a:t>
            </a:r>
          </a:p>
          <a:p>
            <a:pPr>
              <a:buNone/>
            </a:pPr>
            <a:r>
              <a:rPr lang="fr-FR" dirty="0" smtClean="0"/>
              <a:t>E. la SaO2 ne doit pas guider les modalités d’oxygénothérapie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39. Concernant la saturation en oxygène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Une SaO2 normalisée lors d’une intoxication hydrocarbonée est largement rassurante</a:t>
            </a:r>
          </a:p>
          <a:p>
            <a:pPr>
              <a:buNone/>
            </a:pPr>
            <a:r>
              <a:rPr lang="fr-FR" b="1" dirty="0" smtClean="0"/>
              <a:t>B. La présence de </a:t>
            </a:r>
            <a:r>
              <a:rPr lang="fr-FR" b="1" dirty="0" err="1" smtClean="0"/>
              <a:t>HbCO</a:t>
            </a:r>
            <a:r>
              <a:rPr lang="fr-FR" b="1" dirty="0" smtClean="0"/>
              <a:t> dans le sang invalide la détermination de la SaO2</a:t>
            </a:r>
          </a:p>
          <a:p>
            <a:pPr>
              <a:buNone/>
            </a:pPr>
            <a:r>
              <a:rPr lang="fr-FR" dirty="0" smtClean="0"/>
              <a:t>C. La PaO2 est plus fiable que la SaO2</a:t>
            </a:r>
          </a:p>
          <a:p>
            <a:pPr>
              <a:buNone/>
            </a:pPr>
            <a:r>
              <a:rPr lang="fr-FR" dirty="0" smtClean="0"/>
              <a:t>D. La saturation pulsée transcutanée de l’oxygène est plus fiable que la SaO2</a:t>
            </a:r>
          </a:p>
          <a:p>
            <a:pPr>
              <a:buNone/>
            </a:pPr>
            <a:r>
              <a:rPr lang="fr-FR" b="1" dirty="0" smtClean="0"/>
              <a:t>E. la SaO2 ne doit pas guider les modalités d’oxygénothérapie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40. Les principes du traitement de l’intoxication oxycarbonée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Soustraction première, de la victime de l’atmosphère toxique</a:t>
            </a:r>
          </a:p>
          <a:p>
            <a:pPr>
              <a:buNone/>
            </a:pPr>
            <a:r>
              <a:rPr lang="fr-FR" dirty="0" smtClean="0"/>
              <a:t>B. Eviction du sur-accident notamment par la protection du sauveteur </a:t>
            </a:r>
          </a:p>
          <a:p>
            <a:pPr>
              <a:buNone/>
            </a:pPr>
            <a:r>
              <a:rPr lang="fr-FR" dirty="0" smtClean="0"/>
              <a:t>C. Oxygénothérapie première adaptée, pour augmenter les chances que l’anoxie ne soit ni trop intense ni prolongée avant même de l’extraction de l’ambiance toxique.</a:t>
            </a:r>
          </a:p>
          <a:p>
            <a:pPr>
              <a:buNone/>
            </a:pPr>
            <a:r>
              <a:rPr lang="fr-FR" dirty="0" smtClean="0"/>
              <a:t>D. Restauration et maintien des fonctions vitales défaillantes </a:t>
            </a:r>
          </a:p>
          <a:p>
            <a:pPr>
              <a:buNone/>
            </a:pPr>
            <a:r>
              <a:rPr lang="fr-FR" dirty="0" smtClean="0"/>
              <a:t>E. Favoriser la dissociation de la carboxyhémoglobine par une assistance </a:t>
            </a:r>
            <a:r>
              <a:rPr lang="fr-FR" dirty="0" err="1" smtClean="0"/>
              <a:t>ventilatoire</a:t>
            </a:r>
            <a:r>
              <a:rPr lang="fr-FR" dirty="0" smtClean="0"/>
              <a:t> adaptée à la sévérité de l’intoxication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40. Les principes du traitement de l’intoxication oxycarbonée : 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A. Soustraction première, de la victime de l’atmosphère toxique</a:t>
            </a:r>
          </a:p>
          <a:p>
            <a:pPr>
              <a:buNone/>
            </a:pPr>
            <a:r>
              <a:rPr lang="fr-FR" b="1" dirty="0" smtClean="0"/>
              <a:t>B. Eviction du sur-accident notamment par la protection du sauveteur </a:t>
            </a:r>
          </a:p>
          <a:p>
            <a:pPr>
              <a:buNone/>
            </a:pPr>
            <a:r>
              <a:rPr lang="fr-FR" dirty="0" smtClean="0"/>
              <a:t>C. Oxygénothérapie première adaptée, pour augmenter les chances que l’anoxie ne soit ni trop intense ni prolongée avant même de l’extraction de l’ambiance toxique.</a:t>
            </a:r>
          </a:p>
          <a:p>
            <a:pPr>
              <a:buNone/>
            </a:pPr>
            <a:r>
              <a:rPr lang="fr-FR" b="1" dirty="0" smtClean="0"/>
              <a:t>D. Restauration et maintien des fonctions vitales défaillantes </a:t>
            </a:r>
          </a:p>
          <a:p>
            <a:pPr>
              <a:buNone/>
            </a:pPr>
            <a:r>
              <a:rPr lang="fr-FR" b="1" dirty="0" smtClean="0"/>
              <a:t>E. Favoriser la dissociation de la carboxyhémoglobine par une assistance </a:t>
            </a:r>
            <a:r>
              <a:rPr lang="fr-FR" b="1" dirty="0" err="1" smtClean="0"/>
              <a:t>ventilatoire</a:t>
            </a:r>
            <a:r>
              <a:rPr lang="fr-FR" b="1" dirty="0" smtClean="0"/>
              <a:t> adaptée à la sévérité de l’intoxication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41. L’oxygénothérapie hyperbare est recommandée dans les situations suivantes :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perte de connaissance brève</a:t>
            </a:r>
          </a:p>
          <a:p>
            <a:pPr>
              <a:buNone/>
            </a:pPr>
            <a:r>
              <a:rPr lang="fr-FR" dirty="0" smtClean="0"/>
              <a:t>B. intoxication oxycarbonée non grave chez une femme enceinte</a:t>
            </a:r>
          </a:p>
          <a:p>
            <a:pPr>
              <a:buNone/>
            </a:pPr>
            <a:r>
              <a:rPr lang="fr-FR" dirty="0" smtClean="0"/>
              <a:t>C. Troubles de la </a:t>
            </a:r>
            <a:r>
              <a:rPr lang="fr-FR" dirty="0" err="1" smtClean="0"/>
              <a:t>repolarisation</a:t>
            </a:r>
            <a:r>
              <a:rPr lang="fr-FR" dirty="0" smtClean="0"/>
              <a:t> à l’ECG</a:t>
            </a:r>
          </a:p>
          <a:p>
            <a:pPr>
              <a:buNone/>
            </a:pPr>
            <a:r>
              <a:rPr lang="fr-FR" dirty="0" smtClean="0"/>
              <a:t>D. Intoxication oxycarbonée chez un insuffisant respiratoire chronique </a:t>
            </a:r>
          </a:p>
          <a:p>
            <a:pPr>
              <a:buNone/>
            </a:pPr>
            <a:r>
              <a:rPr lang="fr-FR" dirty="0" smtClean="0"/>
              <a:t>E. Intoxication oxycarbonée chez un enfant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41. L’oxygénothérapie hyperbare est recommandée dans les situations suivantes :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A. perte de connaissance brève</a:t>
            </a:r>
          </a:p>
          <a:p>
            <a:pPr>
              <a:buNone/>
            </a:pPr>
            <a:r>
              <a:rPr lang="fr-FR" dirty="0" smtClean="0"/>
              <a:t>B. </a:t>
            </a:r>
            <a:r>
              <a:rPr lang="fr-FR" b="1" dirty="0" smtClean="0"/>
              <a:t>intoxication oxycarbonée non grave chez une femme enceinte</a:t>
            </a:r>
          </a:p>
          <a:p>
            <a:pPr>
              <a:buNone/>
            </a:pPr>
            <a:r>
              <a:rPr lang="fr-FR" b="1" dirty="0" smtClean="0"/>
              <a:t>C. Troubles de la </a:t>
            </a:r>
            <a:r>
              <a:rPr lang="fr-FR" b="1" dirty="0" err="1" smtClean="0"/>
              <a:t>repolarisation</a:t>
            </a:r>
            <a:r>
              <a:rPr lang="fr-FR" b="1" dirty="0" smtClean="0"/>
              <a:t> à l’ECG</a:t>
            </a:r>
          </a:p>
          <a:p>
            <a:pPr>
              <a:buNone/>
            </a:pPr>
            <a:r>
              <a:rPr lang="fr-FR" b="1" dirty="0" smtClean="0"/>
              <a:t>D. Intoxication oxycarbonée chez un insuffisant respiratoire chronique </a:t>
            </a:r>
          </a:p>
          <a:p>
            <a:pPr>
              <a:buNone/>
            </a:pPr>
            <a:r>
              <a:rPr lang="fr-FR" b="1" dirty="0" smtClean="0"/>
              <a:t>E. Intoxication oxycarbonée chez un enfant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42.Concernant le syndrome post-intervallaire compliquant une intoxication oxycarbonée, les symptômes suivants peuvent être observés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Troubles de la mémoire</a:t>
            </a:r>
          </a:p>
          <a:p>
            <a:pPr>
              <a:buNone/>
            </a:pPr>
            <a:r>
              <a:rPr lang="fr-FR" dirty="0" smtClean="0"/>
              <a:t>B. Céphalées chroniques</a:t>
            </a:r>
          </a:p>
          <a:p>
            <a:pPr>
              <a:buNone/>
            </a:pPr>
            <a:r>
              <a:rPr lang="fr-FR" dirty="0" smtClean="0"/>
              <a:t>C. Syndrome parkinsonien</a:t>
            </a:r>
          </a:p>
          <a:p>
            <a:pPr>
              <a:buNone/>
            </a:pPr>
            <a:r>
              <a:rPr lang="fr-FR" dirty="0" smtClean="0"/>
              <a:t>D. OAP </a:t>
            </a:r>
            <a:r>
              <a:rPr lang="fr-FR" dirty="0" err="1" smtClean="0"/>
              <a:t>neurogénique</a:t>
            </a:r>
            <a:r>
              <a:rPr lang="fr-FR" dirty="0" smtClean="0"/>
              <a:t> retardé</a:t>
            </a:r>
          </a:p>
          <a:p>
            <a:pPr>
              <a:buNone/>
            </a:pPr>
            <a:r>
              <a:rPr lang="fr-FR" dirty="0" smtClean="0"/>
              <a:t>E. Malaises </a:t>
            </a:r>
            <a:r>
              <a:rPr lang="fr-FR" dirty="0" err="1" smtClean="0"/>
              <a:t>vaso</a:t>
            </a:r>
            <a:r>
              <a:rPr lang="fr-FR" dirty="0" smtClean="0"/>
              <a:t>-vagaux.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42.Concernant le syndrome post-intervallaire compliquant une intoxication oxycarbonée, les symptômes suivants peuvent être observés : 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A. Troubles de la mémoire</a:t>
            </a:r>
          </a:p>
          <a:p>
            <a:pPr>
              <a:buNone/>
            </a:pPr>
            <a:r>
              <a:rPr lang="fr-FR" b="1" dirty="0" smtClean="0"/>
              <a:t>B. Céphalées chroniques</a:t>
            </a:r>
          </a:p>
          <a:p>
            <a:pPr>
              <a:buNone/>
            </a:pPr>
            <a:r>
              <a:rPr lang="fr-FR" b="1" dirty="0" smtClean="0"/>
              <a:t>C. Syndrome parkinsonien</a:t>
            </a:r>
          </a:p>
          <a:p>
            <a:pPr>
              <a:buNone/>
            </a:pPr>
            <a:r>
              <a:rPr lang="fr-FR" dirty="0" smtClean="0"/>
              <a:t>D. OAP </a:t>
            </a:r>
            <a:r>
              <a:rPr lang="fr-FR" dirty="0" err="1" smtClean="0"/>
              <a:t>neurogénique</a:t>
            </a:r>
            <a:r>
              <a:rPr lang="fr-FR" dirty="0" smtClean="0"/>
              <a:t> retardé</a:t>
            </a:r>
          </a:p>
          <a:p>
            <a:pPr>
              <a:buNone/>
            </a:pPr>
            <a:r>
              <a:rPr lang="fr-FR" dirty="0" smtClean="0"/>
              <a:t>E. Malaises </a:t>
            </a:r>
            <a:r>
              <a:rPr lang="fr-FR" dirty="0" err="1" smtClean="0"/>
              <a:t>vaso</a:t>
            </a:r>
            <a:r>
              <a:rPr lang="fr-FR" dirty="0" smtClean="0"/>
              <a:t>-vagaux.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b="1" dirty="0" smtClean="0"/>
              <a:t>43. Concernant les </a:t>
            </a:r>
            <a:r>
              <a:rPr lang="fr-FR" b="1" dirty="0" err="1" smtClean="0"/>
              <a:t>organo-phosphorés</a:t>
            </a:r>
            <a:r>
              <a:rPr lang="fr-FR" b="1" dirty="0" smtClean="0"/>
              <a:t>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Ils sont </a:t>
            </a:r>
            <a:r>
              <a:rPr lang="fr-FR" dirty="0" err="1" smtClean="0"/>
              <a:t>lipophyiles</a:t>
            </a:r>
            <a:r>
              <a:rPr lang="fr-FR" dirty="0" smtClean="0"/>
              <a:t> et franchissent aisément toutes les barrières</a:t>
            </a:r>
          </a:p>
          <a:p>
            <a:pPr>
              <a:buNone/>
            </a:pPr>
            <a:r>
              <a:rPr lang="fr-FR" dirty="0" smtClean="0"/>
              <a:t>B. Se fixent aux cholinestérases de la jonction synaptique des fibres du système nerveux central</a:t>
            </a:r>
          </a:p>
          <a:p>
            <a:pPr>
              <a:buNone/>
            </a:pPr>
            <a:r>
              <a:rPr lang="fr-FR" dirty="0" smtClean="0"/>
              <a:t>C. Ne se fixent pas aux  cholinestérases érythrocytaires</a:t>
            </a:r>
          </a:p>
          <a:p>
            <a:pPr>
              <a:buNone/>
            </a:pPr>
            <a:r>
              <a:rPr lang="fr-FR" dirty="0" smtClean="0"/>
              <a:t> D. Se fixent aux pseudo-</a:t>
            </a:r>
            <a:r>
              <a:rPr lang="fr-FR" dirty="0" err="1" smtClean="0"/>
              <a:t>choninestérases</a:t>
            </a:r>
            <a:r>
              <a:rPr lang="fr-FR" dirty="0" smtClean="0"/>
              <a:t> ou « </a:t>
            </a:r>
            <a:r>
              <a:rPr lang="fr-FR" dirty="0" err="1" smtClean="0"/>
              <a:t>butyryl</a:t>
            </a:r>
            <a:r>
              <a:rPr lang="fr-FR" dirty="0" smtClean="0"/>
              <a:t>-cholinestérase du foie et du plasma</a:t>
            </a:r>
          </a:p>
          <a:p>
            <a:pPr>
              <a:buNone/>
            </a:pPr>
            <a:r>
              <a:rPr lang="fr-FR" dirty="0" smtClean="0"/>
              <a:t>E. Les cholinestérases plasmatiques sont à la fois sensibles et spécifiques d’une exposition aux Organophosphorés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b="1" dirty="0" smtClean="0"/>
              <a:t>43. Concernant les </a:t>
            </a:r>
            <a:r>
              <a:rPr lang="fr-FR" b="1" dirty="0" err="1" smtClean="0"/>
              <a:t>organo-phosphorés</a:t>
            </a:r>
            <a:r>
              <a:rPr lang="fr-FR" b="1" dirty="0" smtClean="0"/>
              <a:t> : 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A. Ils sont </a:t>
            </a:r>
            <a:r>
              <a:rPr lang="fr-FR" b="1" dirty="0" err="1" smtClean="0"/>
              <a:t>lipophyiles</a:t>
            </a:r>
            <a:r>
              <a:rPr lang="fr-FR" b="1" dirty="0" smtClean="0"/>
              <a:t> et franchissent aisément toutes les barrières</a:t>
            </a:r>
          </a:p>
          <a:p>
            <a:pPr>
              <a:buNone/>
            </a:pPr>
            <a:r>
              <a:rPr lang="fr-FR" b="1" dirty="0" smtClean="0"/>
              <a:t>B. Se fixent aux cholinestérases de la jonction synaptique des fibres du système nerveux central</a:t>
            </a:r>
          </a:p>
          <a:p>
            <a:pPr>
              <a:buNone/>
            </a:pPr>
            <a:r>
              <a:rPr lang="fr-FR" b="1" dirty="0" smtClean="0"/>
              <a:t>C. </a:t>
            </a:r>
            <a:r>
              <a:rPr lang="fr-FR" dirty="0" smtClean="0"/>
              <a:t>Ne se fixent pas aux  cholinestérases érythrocytaires</a:t>
            </a:r>
          </a:p>
          <a:p>
            <a:pPr>
              <a:buNone/>
            </a:pPr>
            <a:r>
              <a:rPr lang="fr-FR" dirty="0" smtClean="0"/>
              <a:t> D. </a:t>
            </a:r>
            <a:r>
              <a:rPr lang="fr-FR" b="1" dirty="0" smtClean="0"/>
              <a:t>Se fixent aux pseudo-</a:t>
            </a:r>
            <a:r>
              <a:rPr lang="fr-FR" b="1" dirty="0" err="1" smtClean="0"/>
              <a:t>choninestérases</a:t>
            </a:r>
            <a:r>
              <a:rPr lang="fr-FR" b="1" dirty="0" smtClean="0"/>
              <a:t> ou « </a:t>
            </a:r>
            <a:r>
              <a:rPr lang="fr-FR" b="1" dirty="0" err="1" smtClean="0"/>
              <a:t>butyryl</a:t>
            </a:r>
            <a:r>
              <a:rPr lang="fr-FR" b="1" dirty="0" smtClean="0"/>
              <a:t>-cholinestérase du foie et du plasma</a:t>
            </a:r>
          </a:p>
          <a:p>
            <a:pPr>
              <a:buNone/>
            </a:pPr>
            <a:r>
              <a:rPr lang="fr-FR" dirty="0" smtClean="0"/>
              <a:t>E. Les cholinestérases plasmatiques sont à la fois sensibles et spécifiques d’une exposition aux Organophosphorés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600" b="1" dirty="0" smtClean="0"/>
              <a:t>44. La déphosphorylation de la cholinestérase inhibée par les organophosphorés est très lente. Dans un second temps la </a:t>
            </a:r>
            <a:r>
              <a:rPr lang="fr-FR" sz="2600" b="1" dirty="0" err="1" smtClean="0"/>
              <a:t>phosphyration</a:t>
            </a:r>
            <a:r>
              <a:rPr lang="fr-FR" sz="2600" b="1" dirty="0" smtClean="0"/>
              <a:t> devient irréversible par </a:t>
            </a:r>
            <a:r>
              <a:rPr lang="fr-FR" sz="2600" b="1" dirty="0" err="1" smtClean="0"/>
              <a:t>déalkylation</a:t>
            </a:r>
            <a:r>
              <a:rPr lang="fr-FR" sz="2600" b="1" dirty="0" smtClean="0"/>
              <a:t> : Ce phénomène d’«</a:t>
            </a:r>
            <a:r>
              <a:rPr lang="fr-FR" sz="2600" b="1" dirty="0" err="1" smtClean="0"/>
              <a:t>aging</a:t>
            </a:r>
            <a:r>
              <a:rPr lang="fr-FR" sz="2600" b="1" dirty="0" smtClean="0"/>
              <a:t>» ou vieillissement de la </a:t>
            </a:r>
            <a:r>
              <a:rPr lang="fr-FR" sz="2600" b="1" dirty="0" err="1" smtClean="0"/>
              <a:t>Cholinesthérase</a:t>
            </a:r>
            <a:r>
              <a:rPr lang="fr-FR" sz="2600" b="1" dirty="0" smtClean="0"/>
              <a:t>  explique : </a:t>
            </a:r>
            <a:endParaRPr lang="fr-FR" sz="2600" dirty="0" smtClean="0"/>
          </a:p>
          <a:p>
            <a:pPr>
              <a:buNone/>
            </a:pPr>
            <a:r>
              <a:rPr lang="fr-FR" sz="2600" dirty="0" smtClean="0"/>
              <a:t>A. La gravité du tableau d’une intoxication aux organophosphorés </a:t>
            </a:r>
          </a:p>
          <a:p>
            <a:pPr>
              <a:buNone/>
            </a:pPr>
            <a:r>
              <a:rPr lang="fr-FR" sz="2600" dirty="0" smtClean="0"/>
              <a:t>B. L’inefficacité de l’atropine</a:t>
            </a:r>
          </a:p>
          <a:p>
            <a:pPr>
              <a:buNone/>
            </a:pPr>
            <a:r>
              <a:rPr lang="fr-FR" sz="2600" dirty="0" smtClean="0"/>
              <a:t>C. L’inefficacité de la </a:t>
            </a:r>
            <a:r>
              <a:rPr lang="fr-FR" sz="2600" dirty="0" err="1" smtClean="0"/>
              <a:t>pralidoxime</a:t>
            </a:r>
            <a:endParaRPr lang="fr-FR" sz="2600" dirty="0" smtClean="0"/>
          </a:p>
          <a:p>
            <a:pPr>
              <a:buNone/>
            </a:pPr>
            <a:r>
              <a:rPr lang="fr-FR" sz="2600" dirty="0" smtClean="0"/>
              <a:t>D. L’atteinte centrale </a:t>
            </a:r>
          </a:p>
          <a:p>
            <a:pPr>
              <a:buNone/>
            </a:pPr>
            <a:r>
              <a:rPr lang="fr-FR" sz="2600" dirty="0" smtClean="0"/>
              <a:t>E. Empêche la synthèse de nouvelles cholinestérases qui permettront le retour à une activité fonctionnelle normale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600" b="1" dirty="0" smtClean="0"/>
              <a:t>44. La déphosphorylation de la cholinestérase inhibée par les organophosphorés est très lente. Dans un second temps la </a:t>
            </a:r>
            <a:r>
              <a:rPr lang="fr-FR" sz="2600" b="1" dirty="0" err="1" smtClean="0"/>
              <a:t>phosphyration</a:t>
            </a:r>
            <a:r>
              <a:rPr lang="fr-FR" sz="2600" b="1" dirty="0" smtClean="0"/>
              <a:t> devient irréversible par </a:t>
            </a:r>
            <a:r>
              <a:rPr lang="fr-FR" sz="2600" b="1" dirty="0" err="1" smtClean="0"/>
              <a:t>déalkylation</a:t>
            </a:r>
            <a:r>
              <a:rPr lang="fr-FR" sz="2600" b="1" dirty="0" smtClean="0"/>
              <a:t> : Ce phénomène d’«</a:t>
            </a:r>
            <a:r>
              <a:rPr lang="fr-FR" sz="2600" b="1" dirty="0" err="1" smtClean="0"/>
              <a:t>aging</a:t>
            </a:r>
            <a:r>
              <a:rPr lang="fr-FR" sz="2600" b="1" dirty="0" smtClean="0"/>
              <a:t>» ou vieillissement de la </a:t>
            </a:r>
            <a:r>
              <a:rPr lang="fr-FR" sz="2600" b="1" dirty="0" err="1" smtClean="0"/>
              <a:t>Cholinesthérase</a:t>
            </a:r>
            <a:r>
              <a:rPr lang="fr-FR" sz="2600" b="1" dirty="0" smtClean="0"/>
              <a:t>  explique : </a:t>
            </a:r>
            <a:endParaRPr lang="fr-FR" sz="2600" dirty="0" smtClean="0"/>
          </a:p>
          <a:p>
            <a:pPr>
              <a:buNone/>
            </a:pPr>
            <a:r>
              <a:rPr lang="fr-FR" sz="2600" b="1" dirty="0" smtClean="0"/>
              <a:t>A. La gravité du tableau d’une intoxication aux organophosphorés </a:t>
            </a:r>
          </a:p>
          <a:p>
            <a:pPr>
              <a:buNone/>
            </a:pPr>
            <a:r>
              <a:rPr lang="fr-FR" sz="2600" b="1" dirty="0" smtClean="0"/>
              <a:t>B. </a:t>
            </a:r>
            <a:r>
              <a:rPr lang="fr-FR" sz="2600" dirty="0" smtClean="0"/>
              <a:t>L’inefficacité de l’atropine</a:t>
            </a:r>
          </a:p>
          <a:p>
            <a:pPr>
              <a:buNone/>
            </a:pPr>
            <a:r>
              <a:rPr lang="fr-FR" sz="2600" b="1" dirty="0" smtClean="0"/>
              <a:t>C. L’inefficacité de la </a:t>
            </a:r>
            <a:r>
              <a:rPr lang="fr-FR" sz="2600" b="1" dirty="0" err="1" smtClean="0"/>
              <a:t>pralidoxime</a:t>
            </a:r>
            <a:endParaRPr lang="fr-FR" sz="2600" b="1" dirty="0" smtClean="0"/>
          </a:p>
          <a:p>
            <a:pPr>
              <a:buNone/>
            </a:pPr>
            <a:r>
              <a:rPr lang="fr-FR" sz="2600" dirty="0" smtClean="0"/>
              <a:t>D. L’atteinte centrale </a:t>
            </a:r>
          </a:p>
          <a:p>
            <a:pPr>
              <a:buNone/>
            </a:pPr>
            <a:r>
              <a:rPr lang="fr-FR" sz="2600" dirty="0" smtClean="0"/>
              <a:t>E. Empêche la synthèse de nouvelles cholinestérases qui permettront le retour à une activité fonctionnelle normale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45. Le diagnostic d’une intoxication aigue aux organophosphorés se base sur : 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A. Terrain favorable à l’intoxication </a:t>
            </a:r>
          </a:p>
          <a:p>
            <a:pPr>
              <a:buNone/>
            </a:pPr>
            <a:r>
              <a:rPr lang="fr-FR" dirty="0" smtClean="0"/>
              <a:t>B. Circonstances de découvertes suggestives</a:t>
            </a:r>
          </a:p>
          <a:p>
            <a:pPr>
              <a:buNone/>
            </a:pPr>
            <a:r>
              <a:rPr lang="fr-FR" dirty="0" smtClean="0"/>
              <a:t>C. Brutalité du tableau</a:t>
            </a:r>
          </a:p>
          <a:p>
            <a:pPr>
              <a:buNone/>
            </a:pPr>
            <a:r>
              <a:rPr lang="fr-FR" dirty="0" smtClean="0"/>
              <a:t>D. </a:t>
            </a:r>
            <a:r>
              <a:rPr lang="fr-FR" dirty="0" err="1" smtClean="0"/>
              <a:t>Toxidrome</a:t>
            </a:r>
            <a:r>
              <a:rPr lang="fr-FR" dirty="0" smtClean="0"/>
              <a:t> clinique suggestif</a:t>
            </a:r>
          </a:p>
          <a:p>
            <a:pPr>
              <a:buNone/>
            </a:pPr>
            <a:r>
              <a:rPr lang="fr-FR" dirty="0" smtClean="0"/>
              <a:t>E. Activité </a:t>
            </a:r>
            <a:r>
              <a:rPr lang="fr-FR" dirty="0" err="1" smtClean="0"/>
              <a:t>cholinestérasique</a:t>
            </a:r>
            <a:r>
              <a:rPr lang="fr-FR" dirty="0" smtClean="0"/>
              <a:t> </a:t>
            </a:r>
            <a:r>
              <a:rPr lang="fr-FR" dirty="0" smtClean="0"/>
              <a:t>significativement élevée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45. Le diagnostic d’une intoxication aigue aux organophosphorés se base sur : 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A. Terrain favorable à l’intoxication </a:t>
            </a:r>
          </a:p>
          <a:p>
            <a:pPr>
              <a:buNone/>
            </a:pPr>
            <a:r>
              <a:rPr lang="fr-FR" b="1" dirty="0" smtClean="0"/>
              <a:t>B. Circonstances de découvertes suggestives</a:t>
            </a:r>
          </a:p>
          <a:p>
            <a:pPr>
              <a:buNone/>
            </a:pPr>
            <a:r>
              <a:rPr lang="fr-FR" b="1" dirty="0" smtClean="0"/>
              <a:t>C. Brutalité du tableau</a:t>
            </a:r>
          </a:p>
          <a:p>
            <a:pPr>
              <a:buNone/>
            </a:pPr>
            <a:r>
              <a:rPr lang="fr-FR" b="1" dirty="0" smtClean="0"/>
              <a:t>D. </a:t>
            </a:r>
            <a:r>
              <a:rPr lang="fr-FR" b="1" dirty="0" err="1" smtClean="0"/>
              <a:t>Toxidrome</a:t>
            </a:r>
            <a:r>
              <a:rPr lang="fr-FR" b="1" dirty="0" smtClean="0"/>
              <a:t> clinique suggestif</a:t>
            </a:r>
          </a:p>
          <a:p>
            <a:pPr>
              <a:buNone/>
            </a:pPr>
            <a:r>
              <a:rPr lang="fr-FR" dirty="0" smtClean="0"/>
              <a:t>E. Activité </a:t>
            </a:r>
            <a:r>
              <a:rPr lang="fr-FR" dirty="0" err="1" smtClean="0"/>
              <a:t>cholinestérasique</a:t>
            </a:r>
            <a:r>
              <a:rPr lang="fr-FR" dirty="0" smtClean="0"/>
              <a:t> </a:t>
            </a:r>
            <a:r>
              <a:rPr lang="fr-FR" dirty="0" smtClean="0"/>
              <a:t>significativement élevée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46.	La gravité du tableau clinique d’une intoxication aigue aux organophosphorés dépend : </a:t>
            </a:r>
            <a:endParaRPr lang="fr-FR" dirty="0" smtClean="0"/>
          </a:p>
          <a:p>
            <a:r>
              <a:rPr lang="fr-FR" dirty="0" smtClean="0"/>
              <a:t>A.	Du terrain</a:t>
            </a:r>
          </a:p>
          <a:p>
            <a:r>
              <a:rPr lang="fr-FR" dirty="0" smtClean="0"/>
              <a:t>B.	De la brutalité du </a:t>
            </a:r>
            <a:r>
              <a:rPr lang="fr-FR" dirty="0" smtClean="0"/>
              <a:t>tableau</a:t>
            </a:r>
            <a:endParaRPr lang="fr-FR" dirty="0" smtClean="0"/>
          </a:p>
          <a:p>
            <a:r>
              <a:rPr lang="fr-FR" dirty="0" smtClean="0"/>
              <a:t>C.	De la dose ingérée</a:t>
            </a:r>
          </a:p>
          <a:p>
            <a:r>
              <a:rPr lang="fr-FR" dirty="0" smtClean="0"/>
              <a:t>D.	Du délai et de la qualité de la prise en charge</a:t>
            </a:r>
          </a:p>
          <a:p>
            <a:r>
              <a:rPr lang="fr-FR" dirty="0" smtClean="0"/>
              <a:t>E.	De la voie d’exposition </a:t>
            </a:r>
          </a:p>
          <a:p>
            <a:pPr>
              <a:buNone/>
            </a:pPr>
            <a:r>
              <a:rPr lang="fr-FR" dirty="0" smtClean="0"/>
              <a:t>	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46.	La gravité du tableau clinique d’une intoxication aigue aux organophosphorés dépend : </a:t>
            </a:r>
            <a:endParaRPr lang="fr-FR" dirty="0" smtClean="0"/>
          </a:p>
          <a:p>
            <a:r>
              <a:rPr lang="fr-FR" b="1" dirty="0" smtClean="0"/>
              <a:t>A.	Du terrain</a:t>
            </a:r>
          </a:p>
          <a:p>
            <a:r>
              <a:rPr lang="fr-FR" b="1" dirty="0" smtClean="0"/>
              <a:t>B.	De la brutalité du </a:t>
            </a:r>
            <a:r>
              <a:rPr lang="fr-FR" b="1" dirty="0" smtClean="0"/>
              <a:t>tableau</a:t>
            </a:r>
            <a:r>
              <a:rPr lang="fr-FR" b="1" dirty="0" smtClean="0"/>
              <a:t> </a:t>
            </a:r>
            <a:endParaRPr lang="fr-FR" b="1" dirty="0" smtClean="0"/>
          </a:p>
          <a:p>
            <a:r>
              <a:rPr lang="fr-FR" b="1" dirty="0" smtClean="0"/>
              <a:t>C.	De la dose ingérée</a:t>
            </a:r>
          </a:p>
          <a:p>
            <a:r>
              <a:rPr lang="fr-FR" b="1" dirty="0" smtClean="0"/>
              <a:t>D.	Du délai et de la qualité de la prise en charge</a:t>
            </a:r>
          </a:p>
          <a:p>
            <a:r>
              <a:rPr lang="fr-FR" dirty="0" smtClean="0"/>
              <a:t>E.	De la voie d’exposition </a:t>
            </a:r>
          </a:p>
          <a:p>
            <a:pPr>
              <a:buNone/>
            </a:pPr>
            <a:r>
              <a:rPr lang="fr-FR" dirty="0" smtClean="0"/>
              <a:t>	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47.	Les principes de la prise en charge des intoxications aigues aux organophosphorés sont :</a:t>
            </a:r>
            <a:endParaRPr lang="fr-FR" dirty="0" smtClean="0"/>
          </a:p>
          <a:p>
            <a:r>
              <a:rPr lang="fr-FR" dirty="0" smtClean="0"/>
              <a:t>A. 	Stabilisation des défaillances d’organe</a:t>
            </a:r>
          </a:p>
          <a:p>
            <a:r>
              <a:rPr lang="fr-FR" dirty="0" smtClean="0"/>
              <a:t>B.	Décontamination toxique</a:t>
            </a:r>
          </a:p>
          <a:p>
            <a:r>
              <a:rPr lang="fr-FR" dirty="0" smtClean="0"/>
              <a:t>C.	Traitement antidotique</a:t>
            </a:r>
          </a:p>
          <a:p>
            <a:r>
              <a:rPr lang="fr-FR" dirty="0" smtClean="0"/>
              <a:t>D.	Normalisation de l’activité </a:t>
            </a:r>
            <a:r>
              <a:rPr lang="fr-FR" dirty="0" err="1" smtClean="0"/>
              <a:t>cholinestérasique</a:t>
            </a:r>
            <a:r>
              <a:rPr lang="fr-FR" dirty="0" smtClean="0"/>
              <a:t> </a:t>
            </a:r>
          </a:p>
          <a:p>
            <a:r>
              <a:rPr lang="fr-FR" dirty="0" smtClean="0"/>
              <a:t>E.	Prévention secondaire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47.	Les principes de la prise en charge des intoxications aigues aux organophosphorés sont :</a:t>
            </a:r>
            <a:endParaRPr lang="fr-FR" dirty="0" smtClean="0"/>
          </a:p>
          <a:p>
            <a:r>
              <a:rPr lang="fr-FR" b="1" dirty="0" smtClean="0"/>
              <a:t>A. 	Stabilisation des défaillances d’organe</a:t>
            </a:r>
          </a:p>
          <a:p>
            <a:r>
              <a:rPr lang="fr-FR" b="1" dirty="0" smtClean="0"/>
              <a:t>B.	Décontamination toxique</a:t>
            </a:r>
          </a:p>
          <a:p>
            <a:r>
              <a:rPr lang="fr-FR" b="1" dirty="0" smtClean="0"/>
              <a:t>C.	Traitement antidotique</a:t>
            </a:r>
          </a:p>
          <a:p>
            <a:r>
              <a:rPr lang="fr-FR" dirty="0" smtClean="0"/>
              <a:t>D.	Normalisation de l’activité </a:t>
            </a:r>
            <a:r>
              <a:rPr lang="fr-FR" dirty="0" err="1" smtClean="0"/>
              <a:t>cholinestérasique</a:t>
            </a:r>
            <a:r>
              <a:rPr lang="fr-FR" dirty="0" smtClean="0"/>
              <a:t> </a:t>
            </a:r>
          </a:p>
          <a:p>
            <a:r>
              <a:rPr lang="fr-FR" b="1" dirty="0" smtClean="0"/>
              <a:t>E.	Prévention secondaire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48.	L’intoxication organophosphorée peut se compliquer immédiatement de : </a:t>
            </a:r>
            <a:endParaRPr lang="fr-FR" dirty="0" smtClean="0"/>
          </a:p>
          <a:p>
            <a:r>
              <a:rPr lang="fr-FR" dirty="0" smtClean="0"/>
              <a:t>A.	Troubles du rythme et de la conduction </a:t>
            </a:r>
          </a:p>
          <a:p>
            <a:r>
              <a:rPr lang="fr-FR" dirty="0" smtClean="0"/>
              <a:t>B.	Choc mixte par myocardite toxique, et </a:t>
            </a:r>
            <a:r>
              <a:rPr lang="fr-FR" dirty="0" err="1" smtClean="0"/>
              <a:t>vasoplégique</a:t>
            </a:r>
            <a:endParaRPr lang="fr-FR" dirty="0" smtClean="0"/>
          </a:p>
          <a:p>
            <a:r>
              <a:rPr lang="fr-FR" dirty="0" smtClean="0"/>
              <a:t>C.	Hépatite toxique fulminante</a:t>
            </a:r>
          </a:p>
          <a:p>
            <a:r>
              <a:rPr lang="fr-FR" dirty="0" smtClean="0"/>
              <a:t>D.	OAP hémodynamique cardiogénique</a:t>
            </a:r>
          </a:p>
          <a:p>
            <a:r>
              <a:rPr lang="fr-FR" dirty="0" smtClean="0"/>
              <a:t>E.	Pancréatite aiguë.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48.	L’intoxication organophosphorée peut se compliquer immédiatement de : </a:t>
            </a:r>
            <a:endParaRPr lang="fr-FR" dirty="0" smtClean="0"/>
          </a:p>
          <a:p>
            <a:r>
              <a:rPr lang="fr-FR" b="1" dirty="0" smtClean="0"/>
              <a:t>A.	Troubles du rythme et de la conduction </a:t>
            </a:r>
          </a:p>
          <a:p>
            <a:r>
              <a:rPr lang="fr-FR" b="1" dirty="0" smtClean="0"/>
              <a:t>B.	Choc mixte par myocardite toxique, et </a:t>
            </a:r>
            <a:r>
              <a:rPr lang="fr-FR" b="1" dirty="0" err="1" smtClean="0"/>
              <a:t>vasoplégique</a:t>
            </a:r>
            <a:endParaRPr lang="fr-FR" b="1" dirty="0" smtClean="0"/>
          </a:p>
          <a:p>
            <a:r>
              <a:rPr lang="fr-FR" dirty="0" smtClean="0"/>
              <a:t>C.	Hépatite toxique fulminante</a:t>
            </a:r>
          </a:p>
          <a:p>
            <a:r>
              <a:rPr lang="fr-FR" b="1" dirty="0" smtClean="0"/>
              <a:t>D.	OAP hémodynamique cardiogénique</a:t>
            </a:r>
          </a:p>
          <a:p>
            <a:r>
              <a:rPr lang="fr-FR" b="1" dirty="0" smtClean="0"/>
              <a:t>E.	Pancréatite aiguë.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49.	Parmi les symptômes suivants, quels sont ceux fortement suggestifs d’une intoxication aux benzodiazépines</a:t>
            </a:r>
            <a:endParaRPr lang="fr-FR" dirty="0" smtClean="0"/>
          </a:p>
          <a:p>
            <a:r>
              <a:rPr lang="fr-FR" dirty="0" smtClean="0"/>
              <a:t>A.	Coma agité</a:t>
            </a:r>
          </a:p>
          <a:p>
            <a:r>
              <a:rPr lang="fr-FR" dirty="0" smtClean="0"/>
              <a:t>B.	Pneumopathie d’inhalation </a:t>
            </a:r>
          </a:p>
          <a:p>
            <a:r>
              <a:rPr lang="fr-FR" dirty="0" smtClean="0"/>
              <a:t>C.	Collapsus cardiovasculaire</a:t>
            </a:r>
          </a:p>
          <a:p>
            <a:r>
              <a:rPr lang="fr-FR" dirty="0" smtClean="0"/>
              <a:t>D.	Somnolence</a:t>
            </a:r>
          </a:p>
          <a:p>
            <a:r>
              <a:rPr lang="fr-FR" dirty="0" smtClean="0"/>
              <a:t>E.	Myosis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49.	Parmi les symptômes suivants, quels sont ceux fortement suggestifs d’une intoxication aux benzodiazépines</a:t>
            </a:r>
            <a:endParaRPr lang="fr-FR" dirty="0" smtClean="0"/>
          </a:p>
          <a:p>
            <a:r>
              <a:rPr lang="fr-FR" dirty="0" smtClean="0"/>
              <a:t>A.	Coma agité</a:t>
            </a:r>
          </a:p>
          <a:p>
            <a:r>
              <a:rPr lang="fr-FR" dirty="0" smtClean="0"/>
              <a:t>B.	Pneumopathie d’inhalation </a:t>
            </a:r>
          </a:p>
          <a:p>
            <a:r>
              <a:rPr lang="fr-FR" b="1" dirty="0" smtClean="0"/>
              <a:t>C.	Collapsus cardiovasculaire</a:t>
            </a:r>
          </a:p>
          <a:p>
            <a:r>
              <a:rPr lang="fr-FR" b="1" dirty="0" smtClean="0"/>
              <a:t>D.	Somnolence</a:t>
            </a:r>
          </a:p>
          <a:p>
            <a:r>
              <a:rPr lang="fr-FR" dirty="0" smtClean="0"/>
              <a:t>E.	Myosis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50.	Parmi les symptômes suivants, quels sont ceux suggestifs d’une intoxication aux neuroleptiques, indépendamment de la molécule </a:t>
            </a:r>
            <a:endParaRPr lang="fr-FR" dirty="0" smtClean="0"/>
          </a:p>
          <a:p>
            <a:r>
              <a:rPr lang="fr-FR" dirty="0" smtClean="0"/>
              <a:t>A.	Un syndrome </a:t>
            </a:r>
            <a:r>
              <a:rPr lang="fr-FR" dirty="0" err="1" smtClean="0"/>
              <a:t>anticholinergique</a:t>
            </a:r>
            <a:endParaRPr lang="fr-FR" dirty="0" smtClean="0"/>
          </a:p>
          <a:p>
            <a:r>
              <a:rPr lang="fr-FR" dirty="0" smtClean="0"/>
              <a:t>B.	Un coma</a:t>
            </a:r>
          </a:p>
          <a:p>
            <a:r>
              <a:rPr lang="fr-FR" dirty="0" smtClean="0"/>
              <a:t>C.	Une hypotension</a:t>
            </a:r>
          </a:p>
          <a:p>
            <a:r>
              <a:rPr lang="fr-FR" dirty="0" smtClean="0"/>
              <a:t>D.	Des troubles de la conduction</a:t>
            </a:r>
          </a:p>
          <a:p>
            <a:r>
              <a:rPr lang="fr-FR" dirty="0" smtClean="0"/>
              <a:t>E.	Une hyperthermie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50.	Parmi les symptômes suivants, quels sont ceux suggestifs d’une intoxication aux neuroleptiques, indépendamment de la molécule </a:t>
            </a:r>
            <a:endParaRPr lang="fr-FR" dirty="0" smtClean="0"/>
          </a:p>
          <a:p>
            <a:r>
              <a:rPr lang="fr-FR" b="1" dirty="0" smtClean="0"/>
              <a:t>A.	Un syndrome </a:t>
            </a:r>
            <a:r>
              <a:rPr lang="fr-FR" b="1" dirty="0" err="1" smtClean="0"/>
              <a:t>anticholinergique</a:t>
            </a:r>
            <a:endParaRPr lang="fr-FR" b="1" dirty="0" smtClean="0"/>
          </a:p>
          <a:p>
            <a:r>
              <a:rPr lang="fr-FR" b="1" dirty="0" smtClean="0"/>
              <a:t>B.	Un coma</a:t>
            </a:r>
          </a:p>
          <a:p>
            <a:r>
              <a:rPr lang="fr-FR" b="1" dirty="0" smtClean="0"/>
              <a:t>C.	Une hypotension</a:t>
            </a:r>
          </a:p>
          <a:p>
            <a:r>
              <a:rPr lang="fr-FR" b="1" dirty="0" smtClean="0"/>
              <a:t>D.	Des troubles de la conduction</a:t>
            </a:r>
          </a:p>
          <a:p>
            <a:r>
              <a:rPr lang="fr-FR" dirty="0" smtClean="0"/>
              <a:t>E.	Une hyperthermie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51.	Parmi les symptômes suivants, quels sont ceux suggestifs d’une intoxication aux inhibiteurs de la recapture de la Sérotonine : </a:t>
            </a:r>
            <a:endParaRPr lang="fr-FR" dirty="0" smtClean="0"/>
          </a:p>
          <a:p>
            <a:r>
              <a:rPr lang="fr-FR" dirty="0" smtClean="0"/>
              <a:t>A.	Confusion et agitation</a:t>
            </a:r>
          </a:p>
          <a:p>
            <a:r>
              <a:rPr lang="fr-FR" dirty="0" smtClean="0"/>
              <a:t>B.	</a:t>
            </a:r>
            <a:r>
              <a:rPr lang="fr-FR" dirty="0" err="1" smtClean="0"/>
              <a:t>Myoclonies</a:t>
            </a:r>
            <a:r>
              <a:rPr lang="fr-FR" dirty="0" smtClean="0"/>
              <a:t> et convulsions</a:t>
            </a:r>
          </a:p>
          <a:p>
            <a:r>
              <a:rPr lang="en-US" dirty="0" smtClean="0"/>
              <a:t>C.	</a:t>
            </a:r>
            <a:r>
              <a:rPr lang="en-US" dirty="0" err="1" smtClean="0"/>
              <a:t>Hyperthermie</a:t>
            </a:r>
            <a:endParaRPr lang="fr-FR" dirty="0" smtClean="0"/>
          </a:p>
          <a:p>
            <a:r>
              <a:rPr lang="en-US" dirty="0" smtClean="0"/>
              <a:t>D.	Choc</a:t>
            </a:r>
            <a:endParaRPr lang="fr-FR" dirty="0" smtClean="0"/>
          </a:p>
          <a:p>
            <a:r>
              <a:rPr lang="en-US" dirty="0" smtClean="0"/>
              <a:t>E. 	</a:t>
            </a:r>
            <a:r>
              <a:rPr lang="fr-FR" dirty="0" smtClean="0"/>
              <a:t>Sueurs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51.	Parmi les symptômes suivants, quels sont ceux suggestifs d’une intoxication aux inhibiteurs de la recapture de la Sérotonine : </a:t>
            </a:r>
            <a:endParaRPr lang="fr-FR" dirty="0" smtClean="0"/>
          </a:p>
          <a:p>
            <a:r>
              <a:rPr lang="fr-FR" b="1" dirty="0" smtClean="0"/>
              <a:t>A.	Confusion et agitation</a:t>
            </a:r>
          </a:p>
          <a:p>
            <a:r>
              <a:rPr lang="fr-FR" b="1" dirty="0" smtClean="0"/>
              <a:t>B.	</a:t>
            </a:r>
            <a:r>
              <a:rPr lang="fr-FR" b="1" dirty="0" err="1" smtClean="0"/>
              <a:t>Myoclonies</a:t>
            </a:r>
            <a:r>
              <a:rPr lang="fr-FR" b="1" dirty="0" smtClean="0"/>
              <a:t> et convulsions</a:t>
            </a:r>
          </a:p>
          <a:p>
            <a:r>
              <a:rPr lang="en-US" b="1" dirty="0" smtClean="0"/>
              <a:t>C.	</a:t>
            </a:r>
            <a:r>
              <a:rPr lang="en-US" b="1" dirty="0" err="1" smtClean="0"/>
              <a:t>Hyperthermie</a:t>
            </a:r>
            <a:endParaRPr lang="fr-FR" b="1" dirty="0" smtClean="0"/>
          </a:p>
          <a:p>
            <a:r>
              <a:rPr lang="en-US" dirty="0" smtClean="0"/>
              <a:t>D.	Choc</a:t>
            </a:r>
            <a:endParaRPr lang="fr-FR" dirty="0" smtClean="0"/>
          </a:p>
          <a:p>
            <a:r>
              <a:rPr lang="en-US" b="1" dirty="0" smtClean="0"/>
              <a:t>E. 	</a:t>
            </a:r>
            <a:r>
              <a:rPr lang="fr-FR" b="1" dirty="0" smtClean="0"/>
              <a:t>Sueurs </a:t>
            </a:r>
            <a:r>
              <a:rPr lang="fr-FR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52.	La prise en charge thérapeutique des intoxications par les antidépresseurs tricycliques comporte : </a:t>
            </a:r>
            <a:endParaRPr lang="fr-FR" dirty="0" smtClean="0"/>
          </a:p>
          <a:p>
            <a:r>
              <a:rPr lang="fr-FR" dirty="0" smtClean="0"/>
              <a:t>A.	Lavage gastrique précoce et prudent</a:t>
            </a:r>
          </a:p>
          <a:p>
            <a:r>
              <a:rPr lang="fr-FR" dirty="0" smtClean="0"/>
              <a:t>B.	absorption répétée par du Charbon activé</a:t>
            </a:r>
          </a:p>
          <a:p>
            <a:r>
              <a:rPr lang="fr-FR" dirty="0" smtClean="0"/>
              <a:t>C.	Accélération de l’élimination par le </a:t>
            </a:r>
            <a:r>
              <a:rPr lang="fr-FR" dirty="0" err="1" smtClean="0"/>
              <a:t>Flumazénil</a:t>
            </a:r>
            <a:endParaRPr lang="fr-FR" dirty="0" smtClean="0"/>
          </a:p>
          <a:p>
            <a:r>
              <a:rPr lang="fr-FR" dirty="0" smtClean="0"/>
              <a:t>D.	Traitement antidotique par du bicarbonate molaire</a:t>
            </a:r>
          </a:p>
          <a:p>
            <a:r>
              <a:rPr lang="fr-FR" dirty="0" smtClean="0"/>
              <a:t>E. 	Hémodialyse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52.	La prise en charge thérapeutique des intoxications par les antidépresseurs tricycliques comporte : </a:t>
            </a:r>
            <a:endParaRPr lang="fr-FR" dirty="0" smtClean="0"/>
          </a:p>
          <a:p>
            <a:r>
              <a:rPr lang="fr-FR" b="1" dirty="0" smtClean="0"/>
              <a:t>A.	Lavage gastrique précoce et prudent</a:t>
            </a:r>
          </a:p>
          <a:p>
            <a:r>
              <a:rPr lang="fr-FR" b="1" dirty="0" smtClean="0"/>
              <a:t>B.	absorption répétée par du Charbon activé</a:t>
            </a:r>
          </a:p>
          <a:p>
            <a:r>
              <a:rPr lang="fr-FR" dirty="0" smtClean="0"/>
              <a:t>C.	Accélération de l’élimination par le </a:t>
            </a:r>
            <a:r>
              <a:rPr lang="fr-FR" dirty="0" err="1" smtClean="0"/>
              <a:t>Flumazénil</a:t>
            </a:r>
            <a:endParaRPr lang="fr-FR" dirty="0" smtClean="0"/>
          </a:p>
          <a:p>
            <a:r>
              <a:rPr lang="fr-FR" b="1" dirty="0" smtClean="0"/>
              <a:t>D.	Traitement antidotique par du bicarbonate molaire</a:t>
            </a:r>
          </a:p>
          <a:p>
            <a:r>
              <a:rPr lang="fr-FR" dirty="0" smtClean="0"/>
              <a:t>E. 	Hémodialyse</a:t>
            </a:r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808</Words>
  <Application>Microsoft Office PowerPoint</Application>
  <PresentationFormat>Grand écran</PresentationFormat>
  <Paragraphs>394</Paragraphs>
  <Slides>65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69" baseType="lpstr">
      <vt:lpstr>Arial</vt:lpstr>
      <vt:lpstr>Calibri</vt:lpstr>
      <vt:lpstr>Calibri Light</vt:lpstr>
      <vt:lpstr>Thème Office</vt:lpstr>
      <vt:lpstr>Les intoxications Organophosphorés Monoxyde de carbone Psychotropes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Pc</cp:lastModifiedBy>
  <cp:revision>54</cp:revision>
  <dcterms:created xsi:type="dcterms:W3CDTF">2022-07-14T11:19:33Z</dcterms:created>
  <dcterms:modified xsi:type="dcterms:W3CDTF">2025-09-11T13:42:31Z</dcterms:modified>
</cp:coreProperties>
</file>
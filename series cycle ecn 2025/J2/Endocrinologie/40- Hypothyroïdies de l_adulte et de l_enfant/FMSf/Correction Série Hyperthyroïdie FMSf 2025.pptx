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2"/>
  </p:notesMasterIdLst>
  <p:sldIdLst>
    <p:sldId id="1167" r:id="rId2"/>
    <p:sldId id="1201" r:id="rId3"/>
    <p:sldId id="1202" r:id="rId4"/>
    <p:sldId id="1203" r:id="rId5"/>
    <p:sldId id="1240" r:id="rId6"/>
    <p:sldId id="1158" r:id="rId7"/>
    <p:sldId id="1195" r:id="rId8"/>
    <p:sldId id="257" r:id="rId9"/>
    <p:sldId id="258" r:id="rId10"/>
    <p:sldId id="260" r:id="rId11"/>
    <p:sldId id="1157" r:id="rId12"/>
    <p:sldId id="259" r:id="rId13"/>
    <p:sldId id="261" r:id="rId14"/>
    <p:sldId id="262" r:id="rId15"/>
    <p:sldId id="1196" r:id="rId16"/>
    <p:sldId id="1320" r:id="rId17"/>
    <p:sldId id="1204" r:id="rId18"/>
    <p:sldId id="264" r:id="rId19"/>
    <p:sldId id="265" r:id="rId20"/>
    <p:sldId id="267" r:id="rId21"/>
    <p:sldId id="266" r:id="rId22"/>
    <p:sldId id="268" r:id="rId23"/>
    <p:sldId id="1197" r:id="rId24"/>
    <p:sldId id="1198" r:id="rId25"/>
    <p:sldId id="269" r:id="rId26"/>
    <p:sldId id="270" r:id="rId27"/>
    <p:sldId id="272" r:id="rId28"/>
    <p:sldId id="273" r:id="rId29"/>
    <p:sldId id="271" r:id="rId30"/>
    <p:sldId id="274" r:id="rId31"/>
    <p:sldId id="534" r:id="rId32"/>
    <p:sldId id="1156" r:id="rId33"/>
    <p:sldId id="532" r:id="rId34"/>
    <p:sldId id="533" r:id="rId35"/>
    <p:sldId id="553" r:id="rId36"/>
    <p:sldId id="1199" r:id="rId37"/>
    <p:sldId id="538" r:id="rId38"/>
    <p:sldId id="1200" r:id="rId39"/>
    <p:sldId id="278" r:id="rId40"/>
    <p:sldId id="1250" r:id="rId41"/>
    <p:sldId id="281" r:id="rId42"/>
    <p:sldId id="541" r:id="rId43"/>
    <p:sldId id="1170" r:id="rId44"/>
    <p:sldId id="1171" r:id="rId45"/>
    <p:sldId id="1241" r:id="rId46"/>
    <p:sldId id="547" r:id="rId47"/>
    <p:sldId id="557" r:id="rId48"/>
    <p:sldId id="550" r:id="rId49"/>
    <p:sldId id="558" r:id="rId50"/>
    <p:sldId id="1206" r:id="rId51"/>
    <p:sldId id="1208" r:id="rId52"/>
    <p:sldId id="1207" r:id="rId53"/>
    <p:sldId id="275" r:id="rId54"/>
    <p:sldId id="276" r:id="rId55"/>
    <p:sldId id="283" r:id="rId56"/>
    <p:sldId id="1209" r:id="rId57"/>
    <p:sldId id="1210" r:id="rId58"/>
    <p:sldId id="1211" r:id="rId59"/>
    <p:sldId id="284" r:id="rId60"/>
    <p:sldId id="285" r:id="rId61"/>
    <p:sldId id="288" r:id="rId62"/>
    <p:sldId id="289" r:id="rId63"/>
    <p:sldId id="293" r:id="rId64"/>
    <p:sldId id="294" r:id="rId65"/>
    <p:sldId id="292" r:id="rId66"/>
    <p:sldId id="295" r:id="rId67"/>
    <p:sldId id="1242" r:id="rId68"/>
    <p:sldId id="1318" r:id="rId69"/>
    <p:sldId id="299" r:id="rId70"/>
    <p:sldId id="300" r:id="rId71"/>
    <p:sldId id="561" r:id="rId72"/>
    <p:sldId id="562" r:id="rId73"/>
    <p:sldId id="1212" r:id="rId74"/>
    <p:sldId id="1213" r:id="rId75"/>
    <p:sldId id="563" r:id="rId76"/>
    <p:sldId id="1106" r:id="rId77"/>
    <p:sldId id="1173" r:id="rId78"/>
    <p:sldId id="1214" r:id="rId79"/>
    <p:sldId id="1215" r:id="rId80"/>
    <p:sldId id="1108" r:id="rId81"/>
    <p:sldId id="1216" r:id="rId82"/>
    <p:sldId id="1218" r:id="rId83"/>
    <p:sldId id="1220" r:id="rId84"/>
    <p:sldId id="1221" r:id="rId85"/>
    <p:sldId id="1222" r:id="rId86"/>
    <p:sldId id="1223" r:id="rId87"/>
    <p:sldId id="1109" r:id="rId88"/>
    <p:sldId id="1217" r:id="rId89"/>
    <p:sldId id="1224" r:id="rId90"/>
    <p:sldId id="1225" r:id="rId91"/>
    <p:sldId id="1119" r:id="rId92"/>
    <p:sldId id="1226" r:id="rId93"/>
    <p:sldId id="1121" r:id="rId94"/>
    <p:sldId id="1227" r:id="rId95"/>
    <p:sldId id="1243" r:id="rId96"/>
    <p:sldId id="1125" r:id="rId97"/>
    <p:sldId id="1126" r:id="rId98"/>
    <p:sldId id="1127" r:id="rId99"/>
    <p:sldId id="1122" r:id="rId100"/>
    <p:sldId id="1113" r:id="rId101"/>
    <p:sldId id="1114" r:id="rId102"/>
    <p:sldId id="1228" r:id="rId103"/>
    <p:sldId id="1230" r:id="rId104"/>
    <p:sldId id="1116" r:id="rId105"/>
    <p:sldId id="1231" r:id="rId106"/>
    <p:sldId id="1115" r:id="rId107"/>
    <p:sldId id="1118" r:id="rId108"/>
    <p:sldId id="291" r:id="rId109"/>
    <p:sldId id="1244" r:id="rId110"/>
    <p:sldId id="1321" r:id="rId111"/>
    <p:sldId id="1232" r:id="rId112"/>
    <p:sldId id="1233" r:id="rId113"/>
    <p:sldId id="1234" r:id="rId114"/>
    <p:sldId id="1235" r:id="rId115"/>
    <p:sldId id="1236" r:id="rId116"/>
    <p:sldId id="1133" r:id="rId117"/>
    <p:sldId id="1134" r:id="rId118"/>
    <p:sldId id="1237" r:id="rId119"/>
    <p:sldId id="1238" r:id="rId120"/>
    <p:sldId id="1140" r:id="rId121"/>
    <p:sldId id="1141" r:id="rId122"/>
    <p:sldId id="1143" r:id="rId123"/>
    <p:sldId id="1142" r:id="rId124"/>
    <p:sldId id="1149" r:id="rId125"/>
    <p:sldId id="1150" r:id="rId126"/>
    <p:sldId id="1245" r:id="rId127"/>
    <p:sldId id="1246" r:id="rId128"/>
    <p:sldId id="1160" r:id="rId129"/>
    <p:sldId id="1174" r:id="rId130"/>
    <p:sldId id="1161" r:id="rId131"/>
    <p:sldId id="1175" r:id="rId132"/>
    <p:sldId id="1176" r:id="rId133"/>
    <p:sldId id="1247" r:id="rId134"/>
    <p:sldId id="1182" r:id="rId135"/>
    <p:sldId id="1183" r:id="rId136"/>
    <p:sldId id="1179" r:id="rId137"/>
    <p:sldId id="1188" r:id="rId138"/>
    <p:sldId id="1180" r:id="rId139"/>
    <p:sldId id="1189" r:id="rId140"/>
    <p:sldId id="1190" r:id="rId141"/>
    <p:sldId id="1248" r:id="rId142"/>
    <p:sldId id="1191" r:id="rId143"/>
    <p:sldId id="1249" r:id="rId144"/>
    <p:sldId id="1185" r:id="rId145"/>
    <p:sldId id="1192" r:id="rId146"/>
    <p:sldId id="1186" r:id="rId147"/>
    <p:sldId id="1193" r:id="rId148"/>
    <p:sldId id="1187" r:id="rId149"/>
    <p:sldId id="1194" r:id="rId150"/>
    <p:sldId id="1348" r:id="rId151"/>
  </p:sldIdLst>
  <p:sldSz cx="9144000" cy="6858000" type="screen4x3"/>
  <p:notesSz cx="6858000" cy="9144000"/>
  <p:custDataLst>
    <p:tags r:id="rId153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918" autoAdjust="0"/>
  </p:normalViewPr>
  <p:slideViewPr>
    <p:cSldViewPr>
      <p:cViewPr varScale="1">
        <p:scale>
          <a:sx n="61" d="100"/>
          <a:sy n="61" d="100"/>
        </p:scale>
        <p:origin x="200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gs" Target="tags/tag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68648-15E0-4727-B28F-F46F877EDB4C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E21EC-B33E-4705-9304-D2D38D4EC88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Exces d’apport d’iode dans l’alimentation, notamment lors de la prophylaxie de la carence en iode (une meilleure iodation de la thyroglobuline la rendrait plus</a:t>
            </a:r>
          </a:p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immunogene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dirty="0"/>
              <a:t>Radiations ionisantes : chez les populations exposées aux catastrophes nucléaires (Tchernobyl, </a:t>
            </a:r>
            <a:r>
              <a:rPr lang="fr-FR" dirty="0" err="1"/>
              <a:t>Fushikama</a:t>
            </a:r>
            <a:r>
              <a:rPr lang="fr-FR" dirty="0"/>
              <a:t>) ou les survivants des explosions atomiques </a:t>
            </a:r>
            <a:r>
              <a:rPr lang="fr-FR" dirty="0" err="1"/>
              <a:t>dHiroshima</a:t>
            </a:r>
            <a:r>
              <a:rPr lang="fr-FR" dirty="0"/>
              <a:t> et Nagasaki au Japon.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6114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2FB9-72A4-B4A3-CEE8-5383C934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6B5148-9CB1-8DA8-689C-712ABD00C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A81C9C-E7EF-11A6-3AE0-4BFD0FE4A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Exces d’apport d’iode dans l’alimentation, notamment lors de la prophylaxie de la carence en iode (une meilleure iodation de la thyroglobuline la rendrait plus</a:t>
            </a:r>
          </a:p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immunogene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fr-FR" dirty="0"/>
              <a:t>Radiations ionisantes : chez les populations exposées aux catastrophes nucléaires (Tchernobyl, </a:t>
            </a:r>
            <a:r>
              <a:rPr lang="fr-FR" dirty="0" err="1"/>
              <a:t>Fushikama</a:t>
            </a:r>
            <a:r>
              <a:rPr lang="fr-FR" dirty="0"/>
              <a:t>) ou les survivants des explosions atomiques </a:t>
            </a:r>
            <a:r>
              <a:rPr lang="fr-FR" dirty="0" err="1"/>
              <a:t>dHiroshima</a:t>
            </a:r>
            <a:r>
              <a:rPr lang="fr-FR" dirty="0"/>
              <a:t> et Nagasaki au Japon.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D78D2-B8A2-FC77-DA41-ABDEAE3C8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109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214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L’apport massif en iode entraîne un blocage de l’</a:t>
            </a:r>
            <a:r>
              <a:rPr lang="fr-FR" dirty="0" err="1"/>
              <a:t>organification</a:t>
            </a:r>
            <a:r>
              <a:rPr lang="fr-FR" dirty="0"/>
              <a:t> de l’iode (par blocage de la </a:t>
            </a:r>
            <a:r>
              <a:rPr lang="fr-FR" dirty="0" err="1"/>
              <a:t>thyroperoxydase</a:t>
            </a:r>
            <a:r>
              <a:rPr lang="fr-FR" dirty="0"/>
              <a:t>). C’est l’effet de Wolff-</a:t>
            </a:r>
            <a:r>
              <a:rPr lang="fr-FR" dirty="0" err="1"/>
              <a:t>Chaikoff</a:t>
            </a:r>
            <a:r>
              <a:rPr lang="fr-FR" baseline="0" dirty="0"/>
              <a:t> à l’origine d’</a:t>
            </a:r>
            <a:r>
              <a:rPr lang="fr-FR" dirty="0"/>
              <a:t>une diminution de la production des</a:t>
            </a:r>
            <a:r>
              <a:rPr lang="fr-FR" baseline="0" dirty="0"/>
              <a:t> H thyroïdiennes. </a:t>
            </a:r>
          </a:p>
          <a:p>
            <a:r>
              <a:rPr lang="fr-FR" baseline="0" dirty="0"/>
              <a:t>Il existe physiologiquement un échappement à ce phénomène. En l’absence d’échappement </a:t>
            </a:r>
            <a:r>
              <a:rPr lang="fr-FR" b="1" baseline="0" dirty="0"/>
              <a:t>physiologique </a:t>
            </a:r>
            <a:r>
              <a:rPr lang="fr-FR" baseline="0" dirty="0"/>
              <a:t>à ce phénomène, l’hypothyroïdie s’installe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569823-F9A3-4FC4-ABE1-4EFEB724FD19}" type="slidenum">
              <a:rPr lang="fr-FR" smtClean="0">
                <a:solidFill>
                  <a:prstClr val="black"/>
                </a:solidFill>
              </a:rPr>
              <a:pPr/>
              <a:t>10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40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L’apport massif d’</a:t>
            </a:r>
            <a:r>
              <a:rPr lang="fr-F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iode peut bloquer l’</a:t>
            </a:r>
            <a:r>
              <a:rPr lang="fr-FR" sz="1200" b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organification</a:t>
            </a:r>
            <a:r>
              <a:rPr lang="fr-F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l’iode. La </a:t>
            </a:r>
            <a:r>
              <a:rPr lang="fr-FR" sz="1200" b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thyroide</a:t>
            </a:r>
            <a:r>
              <a:rPr lang="fr-F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</a:t>
            </a:r>
            <a:r>
              <a:rPr lang="fr-FR" sz="1200" b="1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protege</a:t>
            </a:r>
            <a:r>
              <a:rPr lang="fr-FR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contre un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exces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aigu en iode en inhibant la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metabolisation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l’iode : c’est l’effet de</a:t>
            </a:r>
          </a:p>
          <a:p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Wolff-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Chaikoff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qui entraine une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reduction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intrinseque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immediate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la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synthese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 hormones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thyroidiennes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Cet effet est habituellement transitoire et ne dure que quelques jours. L’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echappement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l’effet de Wolff-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Chaikoff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 fait par une diminution de la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synthese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du NIS amenant ainsi a une diminution du contenu intracellulaire d’iode et a la diminution du taux de substances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iodees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freinatrices</a:t>
            </a:r>
            <a:r>
              <a:rPr lang="fr-FR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DE67-9E7D-451B-8EA0-D12A0F17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E90BC5-C690-1F9E-C152-B9B5FA38D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D7402E-5C8A-2BB3-150C-D5687945B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Ø Chez l’enfant d’âge pubertaire, un retard pubertaire est habituel au cours d’une hypothyroïdie ancienne non traitée. Outre le déficit gonadotrope fonctionnel secondaire à l’hyperprolactinémie, une expression accrue d’une hormone hypothalamique inhibitrice de la gonadotrophine (</a:t>
            </a:r>
            <a:r>
              <a:rPr lang="fr-FR" dirty="0" err="1"/>
              <a:t>GnIH</a:t>
            </a:r>
            <a:r>
              <a:rPr lang="fr-FR" dirty="0"/>
              <a:t>) a été incriminée dans la survenue du retard pubertaire. Une puberté précoce </a:t>
            </a:r>
            <a:r>
              <a:rPr lang="fr-FR" dirty="0" err="1"/>
              <a:t>isosexuelle</a:t>
            </a:r>
            <a:r>
              <a:rPr lang="fr-FR" dirty="0"/>
              <a:t>, de mécanisme physiopathologique mal élucidé, est beaucoup plus rare. Elle ne s’accompagne pas d’accélération de la croissance ni de la maturation osseuse à la différence des pubertés précoces centrales, car il n’y a pas de maturation précoce de l’axe gonadotrope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976C52-4C78-B546-6CCE-BAB7DF259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549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Ø Chez l’enfant d’âge pubertaire, un retard pubertaire est habituel au cours d’une hypothyroïdie ancienne non traitée. Outre le déficit gonadotrope fonctionnel secondaire à l’hyperprolactinémie, une expression accrue d’une hormone hypothalamique inhibitrice de la gonadotrophine (</a:t>
            </a:r>
            <a:r>
              <a:rPr lang="fr-FR" dirty="0" err="1"/>
              <a:t>GnIH</a:t>
            </a:r>
            <a:r>
              <a:rPr lang="fr-FR" dirty="0"/>
              <a:t>) a été incriminée dans la survenue du retard pubertaire. Une puberté précoce </a:t>
            </a:r>
            <a:r>
              <a:rPr lang="fr-FR" dirty="0" err="1"/>
              <a:t>isosexuelle</a:t>
            </a:r>
            <a:r>
              <a:rPr lang="fr-FR" dirty="0"/>
              <a:t>, de mécanisme physiopathologique mal élucidé, est beaucoup plus rare. Elle ne s’accompagne pas d’accélération de la croissance ni de la maturation osseuse à la différence des pubertés précoces centrales, car il n’y a pas de maturation précoce de l’axe gonadotrope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404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dirty="0"/>
              <a:t>Prédominance proximale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dirty="0"/>
              <a:t>Signe du tabouret: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difficulté à se relever de la position accroupie (le malade prend appui avec ses mains sur les genoux et « grimpe » le long de ses cuisses) ou de la position assise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D6431-D016-4141-8A59-EAE4FBFF3194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565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Ø augmentation du volume plasmatique par sécrétion inappropriée d’ADH, à l’origine d’une hyponatrémie de dilution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981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antithyroïdiens de synthèse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324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fr-FR" sz="1200" dirty="0"/>
              <a:t>La carence en iode reste une cause importante d’</a:t>
            </a:r>
            <a:r>
              <a:rPr lang="fr-FR" sz="1200" dirty="0" err="1"/>
              <a:t>hypothyroidie</a:t>
            </a:r>
            <a:r>
              <a:rPr lang="fr-FR" sz="1200" dirty="0"/>
              <a:t> </a:t>
            </a:r>
            <a:r>
              <a:rPr lang="fr-FR" sz="1200" dirty="0" err="1"/>
              <a:t>severe</a:t>
            </a:r>
            <a:r>
              <a:rPr lang="fr-FR" sz="1200" dirty="0"/>
              <a:t> transitoire chez le </a:t>
            </a:r>
            <a:r>
              <a:rPr lang="fr-FR" sz="1200" dirty="0" err="1"/>
              <a:t>nouveau-ne</a:t>
            </a:r>
            <a:r>
              <a:rPr lang="fr-FR" sz="1200" dirty="0"/>
              <a:t>, pouvant </a:t>
            </a:r>
            <a:r>
              <a:rPr lang="fr-FR" sz="1200" dirty="0" err="1"/>
              <a:t>etre</a:t>
            </a:r>
            <a:r>
              <a:rPr lang="fr-FR" sz="1200" dirty="0"/>
              <a:t> </a:t>
            </a:r>
            <a:r>
              <a:rPr lang="fr-FR" sz="1200" dirty="0" err="1"/>
              <a:t>associee</a:t>
            </a:r>
            <a:r>
              <a:rPr lang="fr-FR" sz="1200" dirty="0"/>
              <a:t> a un goitre.</a:t>
            </a:r>
          </a:p>
          <a:p>
            <a:r>
              <a:rPr lang="fr-FR" sz="1200" dirty="0"/>
              <a:t>Ø Une surcharge </a:t>
            </a:r>
            <a:r>
              <a:rPr lang="fr-FR" sz="1200" dirty="0" err="1"/>
              <a:t>iodee</a:t>
            </a:r>
            <a:r>
              <a:rPr lang="fr-FR" sz="1200" dirty="0"/>
              <a:t> </a:t>
            </a:r>
            <a:r>
              <a:rPr lang="fr-FR" sz="1200" dirty="0" err="1"/>
              <a:t>liee</a:t>
            </a:r>
            <a:r>
              <a:rPr lang="fr-FR" sz="1200" dirty="0"/>
              <a:t> a des agents antiseptiques iodes, appliques au </a:t>
            </a:r>
            <a:r>
              <a:rPr lang="fr-FR" sz="1200" dirty="0" err="1"/>
              <a:t>nouveau-ne</a:t>
            </a:r>
            <a:r>
              <a:rPr lang="fr-FR" sz="1200" dirty="0"/>
              <a:t> ou a la femme enceinte ou allaitante, peut entrainer une </a:t>
            </a:r>
            <a:r>
              <a:rPr lang="fr-FR" sz="1200" dirty="0" err="1"/>
              <a:t>hypothyroidie</a:t>
            </a:r>
            <a:r>
              <a:rPr lang="fr-FR" sz="1200" dirty="0"/>
              <a:t> transitoire</a:t>
            </a:r>
          </a:p>
          <a:p>
            <a:r>
              <a:rPr lang="fr-FR" sz="1200" dirty="0"/>
              <a:t>chez le </a:t>
            </a:r>
            <a:r>
              <a:rPr lang="fr-FR" sz="1200" dirty="0" err="1"/>
              <a:t>nouveau-ne</a:t>
            </a:r>
            <a:r>
              <a:rPr lang="fr-FR" sz="1200" dirty="0"/>
              <a:t>, surtout </a:t>
            </a:r>
            <a:r>
              <a:rPr lang="fr-FR" sz="1200" dirty="0" err="1"/>
              <a:t>premature</a:t>
            </a:r>
            <a:r>
              <a:rPr lang="fr-FR" sz="1200" dirty="0"/>
              <a:t>.</a:t>
            </a:r>
          </a:p>
          <a:p>
            <a:r>
              <a:rPr lang="fr-FR" sz="1200" dirty="0"/>
              <a:t>Ø Le traitement maternel par les </a:t>
            </a:r>
            <a:r>
              <a:rPr lang="fr-FR" sz="1200" dirty="0" err="1"/>
              <a:t>antithyroidiens</a:t>
            </a:r>
            <a:r>
              <a:rPr lang="fr-FR" sz="1200" dirty="0"/>
              <a:t> de </a:t>
            </a:r>
            <a:r>
              <a:rPr lang="fr-FR" sz="1200" dirty="0" err="1"/>
              <a:t>synthese</a:t>
            </a:r>
            <a:r>
              <a:rPr lang="fr-FR" sz="1200" dirty="0"/>
              <a:t> qui traversent la </a:t>
            </a:r>
            <a:r>
              <a:rPr lang="fr-FR" sz="1200" dirty="0" err="1"/>
              <a:t>barriere</a:t>
            </a:r>
            <a:r>
              <a:rPr lang="fr-FR" sz="1200" dirty="0"/>
              <a:t> placentaire, peut entrainer un blocage de la </a:t>
            </a:r>
            <a:r>
              <a:rPr lang="fr-FR" sz="1200" dirty="0" err="1"/>
              <a:t>synthese</a:t>
            </a:r>
            <a:r>
              <a:rPr lang="fr-FR" sz="1200" dirty="0"/>
              <a:t> hormonale et provoquer la formation d'un goitre et le </a:t>
            </a:r>
            <a:r>
              <a:rPr lang="fr-FR" sz="1200" dirty="0" err="1"/>
              <a:t>developpement</a:t>
            </a:r>
            <a:r>
              <a:rPr lang="fr-FR" sz="1200" dirty="0"/>
              <a:t> d'une </a:t>
            </a:r>
            <a:r>
              <a:rPr lang="fr-FR" sz="1200" dirty="0" err="1"/>
              <a:t>hypothyroidie</a:t>
            </a:r>
            <a:r>
              <a:rPr lang="fr-FR" sz="1200" dirty="0"/>
              <a:t> chez le </a:t>
            </a:r>
            <a:r>
              <a:rPr lang="fr-FR" sz="1200" dirty="0" err="1"/>
              <a:t>foetus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33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fr-FR" dirty="0"/>
              <a:t>Le passage transplacentaire d’anticorps maternels bloquant les </a:t>
            </a:r>
            <a:r>
              <a:rPr lang="fr-FR" dirty="0" err="1"/>
              <a:t>recepteurs</a:t>
            </a:r>
            <a:r>
              <a:rPr lang="fr-FR" dirty="0"/>
              <a:t> de la TSH, du fait d’une </a:t>
            </a:r>
            <a:r>
              <a:rPr lang="fr-FR" dirty="0" err="1"/>
              <a:t>thyroidite</a:t>
            </a:r>
            <a:r>
              <a:rPr lang="fr-FR" dirty="0"/>
              <a:t> auto-immune maternelle est rare (&lt; 2% des </a:t>
            </a:r>
            <a:r>
              <a:rPr lang="fr-FR" dirty="0" err="1"/>
              <a:t>hypothyroidies</a:t>
            </a:r>
            <a:r>
              <a:rPr lang="fr-FR" dirty="0"/>
              <a:t> </a:t>
            </a:r>
            <a:r>
              <a:rPr lang="fr-FR" dirty="0" err="1"/>
              <a:t>congenitales</a:t>
            </a:r>
            <a:r>
              <a:rPr lang="fr-FR" dirty="0"/>
              <a:t>) et induit une </a:t>
            </a:r>
            <a:r>
              <a:rPr lang="fr-FR" dirty="0" err="1"/>
              <a:t>hypothyroidie</a:t>
            </a:r>
            <a:r>
              <a:rPr lang="fr-FR" dirty="0"/>
              <a:t> </a:t>
            </a:r>
            <a:r>
              <a:rPr lang="fr-FR" dirty="0" err="1"/>
              <a:t>neonatale</a:t>
            </a:r>
            <a:r>
              <a:rPr lang="fr-FR" dirty="0"/>
              <a:t> transitoire. Ø L’exposition d’une femme enceinte a l’iode radioactif peut </a:t>
            </a:r>
            <a:r>
              <a:rPr lang="fr-FR" dirty="0" err="1"/>
              <a:t>leser</a:t>
            </a:r>
            <a:r>
              <a:rPr lang="fr-FR" dirty="0"/>
              <a:t> la </a:t>
            </a:r>
            <a:r>
              <a:rPr lang="fr-FR" dirty="0" err="1"/>
              <a:t>thyroide</a:t>
            </a:r>
            <a:r>
              <a:rPr lang="fr-FR" dirty="0"/>
              <a:t> </a:t>
            </a:r>
            <a:r>
              <a:rPr lang="fr-FR" dirty="0" err="1"/>
              <a:t>foetale</a:t>
            </a:r>
            <a:r>
              <a:rPr lang="fr-FR" dirty="0"/>
              <a:t>. Ø L’</a:t>
            </a:r>
            <a:r>
              <a:rPr lang="fr-FR" dirty="0" err="1"/>
              <a:t>immaturite</a:t>
            </a:r>
            <a:r>
              <a:rPr lang="fr-FR" dirty="0"/>
              <a:t> de l’axe </a:t>
            </a:r>
            <a:r>
              <a:rPr lang="fr-FR" dirty="0" err="1"/>
              <a:t>thyreotrope</a:t>
            </a:r>
            <a:r>
              <a:rPr lang="fr-FR" dirty="0"/>
              <a:t> chez le </a:t>
            </a:r>
            <a:r>
              <a:rPr lang="fr-FR" dirty="0" err="1"/>
              <a:t>premature</a:t>
            </a:r>
            <a:r>
              <a:rPr lang="fr-FR" dirty="0"/>
              <a:t> induit un profil hormonal d’insuffisance </a:t>
            </a:r>
            <a:r>
              <a:rPr lang="fr-FR" dirty="0" err="1"/>
              <a:t>thyreotrope</a:t>
            </a:r>
            <a:r>
              <a:rPr lang="fr-FR" dirty="0"/>
              <a:t>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34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4026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5C3F-9438-D9D2-17F2-E5777B48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8372E2-8E9A-B1DD-F727-6E4F2A6CE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1EB22DA-5776-7359-0250-A9CF7EEC0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165B1F-369C-A160-1032-51BB5B7F5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7805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A884-89D7-4F54-9A63-615EB99C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5ADC05-8507-6748-ABC9-425DC4D7F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FF224FD-B51E-7A0E-E153-D76252C22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070808-66A5-F4D5-11E1-E7311F591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968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42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452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563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2498-B83F-2CD4-4708-BBE20C4A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D08E10-732E-3722-E165-78675F4E1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F0301F9-8DA7-7337-DB11-61007C514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B0CBB3-367A-374C-3C2D-C76F394B0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6729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46</a:t>
            </a:fld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8840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48</a:t>
            </a:fld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altLang="fr-FR" sz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(durée supérieure a 8 jours).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72582E-3F6D-4639-8F93-9B1278951A5A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7394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07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EA75-DDD1-CA62-06C2-459EE9AF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FA8435-B72B-11FB-DFA1-1C93E1151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D2D3A0-01EE-D3C5-CFBC-9C5C8262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7C604B-B00D-9E36-AF92-5B1DDADCD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2382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96</a:t>
            </a:fld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117</a:t>
            </a:fld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E21EC-B33E-4705-9304-D2D38D4EC884}" type="slidenum">
              <a:rPr lang="fr-FR" smtClean="0"/>
              <a:pPr/>
              <a:t>121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32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F8B0A-FE6F-4328-BE99-E284140AEB16}" type="datetimeFigureOut">
              <a:rPr lang="fr-FR" smtClean="0"/>
              <a:pPr/>
              <a:t>09/09/2025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AC05C-C619-4C0C-8144-023C5C2DE58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sz="4950" b="1" dirty="0"/>
              <a:t>Évaluation objectif 40:</a:t>
            </a:r>
            <a:br>
              <a:rPr lang="fr-FR" sz="4950" b="1" dirty="0"/>
            </a:br>
            <a:r>
              <a:rPr lang="fr-FR" sz="4950" b="1" dirty="0"/>
              <a:t>HYPOTHYROIDIE </a:t>
            </a:r>
            <a:endParaRPr lang="fr-FR" sz="495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60041" y="3886200"/>
            <a:ext cx="7772399" cy="1752600"/>
          </a:xfrm>
        </p:spPr>
        <p:txBody>
          <a:bodyPr/>
          <a:lstStyle/>
          <a:p>
            <a:r>
              <a:rPr lang="fr-FR" b="1" dirty="0"/>
              <a:t>Pr Fatma MNIF BOUSSARSAR </a:t>
            </a:r>
          </a:p>
          <a:p>
            <a:r>
              <a:rPr lang="fr-FR" b="1" dirty="0"/>
              <a:t>	Pr Ag Dhoha BEN SALAH KAMMOUN 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9893" y="789715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fr-FR" sz="2700" b="1" dirty="0"/>
              <a:t>Faculté de Médecine de Sfax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7435" y="1360566"/>
            <a:ext cx="644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Préparation de concours de passage au 3</a:t>
            </a:r>
            <a:r>
              <a:rPr lang="fr-FR" sz="2400" b="1" baseline="30000" dirty="0">
                <a:solidFill>
                  <a:srgbClr val="FF0000"/>
                </a:solidFill>
              </a:rPr>
              <a:t>ème</a:t>
            </a:r>
            <a:r>
              <a:rPr lang="fr-FR" sz="2400" b="1" dirty="0">
                <a:solidFill>
                  <a:srgbClr val="FF0000"/>
                </a:solidFill>
              </a:rPr>
              <a:t> cycle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236296" y="62280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09/09/2025</a:t>
            </a:r>
          </a:p>
        </p:txBody>
      </p:sp>
    </p:spTree>
    <p:extLst>
      <p:ext uri="{BB962C8B-B14F-4D97-AF65-F5344CB8AC3E}">
        <p14:creationId xmlns:p14="http://schemas.microsoft.com/office/powerpoint/2010/main" val="148650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51DEC-C374-2CDD-7435-4DD2B929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CCE00E-373D-EB1E-FAC8-2A903436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la thyroïdite de Hashimoto: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plus fréquente chez la femme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secondaire à des anti récepteurs de la TSH de type bloquant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Favorisée par une alimentation pauvre en iode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Favorisée par les radiations ionisantes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Aggravée par le tabac 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/>
          </a:p>
          <a:p>
            <a:pPr marL="457200" lvl="1" indent="0" algn="r">
              <a:buNone/>
            </a:pPr>
            <a:r>
              <a:rPr lang="fr-FR" b="1" dirty="0">
                <a:solidFill>
                  <a:schemeClr val="bg1"/>
                </a:solidFill>
              </a:rPr>
              <a:t>ADE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/>
          </a:p>
          <a:p>
            <a:pPr marL="971550" lvl="1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116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D1D84-C084-4B0F-DEE6-56ACDBD7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36293-E4D7-AB84-DBA5-F721911FB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0B5443-D1C9-9833-4CBB-647D4EBE0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la thyroïdite de Hashimoto: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Est plus fréquente chez la femme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Est secondaire à des anti récepteurs de la TSH de type bloquant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Favorisée par une alimentation pauvre en iode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Favorisée par les radiations ionisantes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Aggravée par le tabac </a:t>
            </a:r>
          </a:p>
          <a:p>
            <a:pPr marL="971550" lvl="1" indent="-514350">
              <a:buFont typeface="+mj-lt"/>
              <a:buAutoNum type="alphaUcPeriod"/>
            </a:pPr>
            <a:endParaRPr lang="fr-FR"/>
          </a:p>
          <a:p>
            <a:pPr marL="457200" lvl="1" indent="0" algn="r">
              <a:buNone/>
            </a:pPr>
            <a:r>
              <a:rPr lang="fr-FR" b="1">
                <a:solidFill>
                  <a:srgbClr val="FF0000"/>
                </a:solidFill>
              </a:rPr>
              <a:t>ADE</a:t>
            </a:r>
          </a:p>
          <a:p>
            <a:pPr marL="971550" lvl="1" indent="-514350">
              <a:buFont typeface="+mj-lt"/>
              <a:buAutoNum type="alphaUcPeriod"/>
            </a:pPr>
            <a:endParaRPr lang="fr-FR"/>
          </a:p>
          <a:p>
            <a:pPr marL="971550" lvl="1" indent="-514350">
              <a:buFont typeface="+mj-lt"/>
              <a:buAutoNum type="alphaUcPeriod"/>
            </a:pPr>
            <a:endParaRPr lang="fr-FR"/>
          </a:p>
          <a:p>
            <a:endParaRPr lang="fr-FR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2172AE-5FB2-B1FA-22C2-B0633E7257AE}"/>
              </a:ext>
            </a:extLst>
          </p:cNvPr>
          <p:cNvSpPr txBox="1"/>
          <p:nvPr/>
        </p:nvSpPr>
        <p:spPr>
          <a:xfrm>
            <a:off x="107504" y="5241900"/>
            <a:ext cx="7787208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sz="1800" b="1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C-Exces d’apport d’iode dans l’alimentation, notamment lors de la prophylaxie de la carence en iode (une meilleure iodation de la thyroglobuline la rendrait plus immunogène)</a:t>
            </a:r>
          </a:p>
        </p:txBody>
      </p:sp>
    </p:spTree>
    <p:extLst>
      <p:ext uri="{BB962C8B-B14F-4D97-AF65-F5344CB8AC3E}">
        <p14:creationId xmlns:p14="http://schemas.microsoft.com/office/powerpoint/2010/main" val="186750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D7E27-76AB-EA41-4556-70D8ADEB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1028B3-C47B-C108-E910-44895E425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thyroïdite subaiguë de De Quervain est caractérisée par: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 de la glande d’origine bactérienne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Cytotoxicité des anticorps anti- TPO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 thyrotoxicose transitoire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Régénération d’une architecture normale de la glande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avec le groupe HLA-Dw35 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800100" lvl="2" indent="0" algn="r">
              <a:buNone/>
            </a:pPr>
            <a:r>
              <a:rPr lang="fr-FR" dirty="0">
                <a:solidFill>
                  <a:schemeClr val="bg1"/>
                </a:solidFill>
              </a:rPr>
              <a:t>CDE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6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3BEF-103D-250D-5C70-1EF424B0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88228-E6F2-F3CE-5326-8DB47A1F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A6D78-9BA8-1F8E-0F63-3F18DED3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thyroïdite subaiguë de De Quervain est caractérisée par: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Inflammation de la glande d’origine bactérienne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Cytotoxicité des anticorps anti- TPO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 thyrotoxicose transitoire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Régénération d’une architecture normale de la glande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avec le groupe HLA-Dw35 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800100" lvl="2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CDE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821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fr-FR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signes cliniques d’une hypothyroïdie sont :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Palpitations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Amaigrissement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troubles de la mémoire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Constipation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Frilosité</a:t>
            </a:r>
          </a:p>
          <a:p>
            <a:pPr marL="800100" lvl="2" indent="0" algn="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EBE51-1B77-5D44-04CA-8CD7F871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2C316-F4A0-C9B3-30DA-42C769CD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D8C158-9D7E-8421-8C60-3B42FFE97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fr-FR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signes cliniques d’une hypothyroïdie sont :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Palpitations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Amaigrissement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troubles de la mémoire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Constipation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Frilosité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  <a:p>
            <a:pPr marL="0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CDE</a:t>
            </a:r>
          </a:p>
        </p:txBody>
      </p:sp>
    </p:spTree>
    <p:extLst>
      <p:ext uri="{BB962C8B-B14F-4D97-AF65-F5344CB8AC3E}">
        <p14:creationId xmlns:p14="http://schemas.microsoft.com/office/powerpoint/2010/main" val="2779593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secondaire 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carence iodée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radiothérapie cervicale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bloqueur du système Rénine Angiotensine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apport massif d’iode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prise factice d’hormones thyroïdiennes</a:t>
            </a:r>
          </a:p>
          <a:p>
            <a:pPr marL="914400" lvl="1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secondaire 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carence iodée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radiothérapie cervicale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bloqueur du système Rénine Angiotensine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apport massif d’iode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prise factice d’hormones thyroïdiennes</a:t>
            </a:r>
          </a:p>
          <a:p>
            <a:pPr marL="914400" lvl="1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Concernant les hypothyroïdies par surcharge iodée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solidFill>
                  <a:srgbClr val="00B0F0"/>
                </a:solidFill>
              </a:rPr>
              <a:t>Remarque: </a:t>
            </a:r>
            <a:r>
              <a:rPr lang="fr-FR" dirty="0"/>
              <a:t>La surcharge iodée peut être responsable d’une </a:t>
            </a:r>
            <a:r>
              <a:rPr lang="fr-FR" b="1" dirty="0"/>
              <a:t>hypothyroïdie</a:t>
            </a:r>
            <a:r>
              <a:rPr lang="fr-FR" dirty="0"/>
              <a:t> par défaut d’échappement au phénomène de Wolff-</a:t>
            </a:r>
            <a:r>
              <a:rPr lang="fr-FR" dirty="0" err="1"/>
              <a:t>Chaikoff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86190"/>
            <a:ext cx="8136904" cy="273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880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650" y="271395"/>
            <a:ext cx="9064350" cy="5515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Étoile à 5 branches 4"/>
          <p:cNvSpPr/>
          <p:nvPr/>
        </p:nvSpPr>
        <p:spPr>
          <a:xfrm>
            <a:off x="1214414" y="2357430"/>
            <a:ext cx="914400" cy="91440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Étoile à 5 branches 5"/>
          <p:cNvSpPr/>
          <p:nvPr/>
        </p:nvSpPr>
        <p:spPr>
          <a:xfrm>
            <a:off x="7643834" y="2500306"/>
            <a:ext cx="914400" cy="91440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42844" y="6000768"/>
            <a:ext cx="878684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/>
              <a:t>L’ incapacité de la thyroïde a s’adapter a l’effet de Wolff-</a:t>
            </a:r>
            <a:r>
              <a:rPr lang="fr-FR" dirty="0" err="1"/>
              <a:t>Chaikoff</a:t>
            </a:r>
            <a:r>
              <a:rPr lang="fr-FR" dirty="0"/>
              <a:t>, amène a une suppression persistante de la synthèse hormonale et aboutit a une hypothyroïdie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29642" cy="4757758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responsable de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diminution du catabolisme lipidique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hypotonie vésiculaire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diminution de l’absorption du fer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 filtration glomérulaire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augmentation des résistances périphériques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r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29642" cy="4757758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responsable de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diminution du catabolisme lipidique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hypotonie vésiculaire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diminution de l’absorption du fer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 filtration glomérulaire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augmentation des résistances périphériques 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757758"/>
          </a:xfrm>
        </p:spPr>
        <p:txBody>
          <a:bodyPr>
            <a:normAutofit/>
          </a:bodyPr>
          <a:lstStyle/>
          <a:p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L’hypothyroïdie peut avoir comme conséquences :</a:t>
            </a:r>
            <a:endParaRPr lang="fr-FR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Augmentation de la pression artérielle diastolique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Gynécomastie chez l’homme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baisse de l’adhésivité plaquettaire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Aménorrhée secondaire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Stimulation de la protéolyse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</a:p>
          <a:p>
            <a:pPr marL="914400" lvl="1" indent="-514350">
              <a:buFont typeface="+mj-lt"/>
              <a:buAutoNum type="alphaUcPeriod"/>
            </a:pPr>
            <a:endParaRPr lang="fr-FR" b="1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CC8E-D27D-18D8-EA69-F0C1C62D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9CF26-D2D7-D2C9-F55A-E21BE854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05ACC2-EADE-BB4B-15D6-12081DAA4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757758"/>
          </a:xfrm>
        </p:spPr>
        <p:txBody>
          <a:bodyPr>
            <a:normAutofit/>
          </a:bodyPr>
          <a:lstStyle/>
          <a:p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L’hypothyroïdie peut avoir comme conséquences :</a:t>
            </a:r>
            <a:endParaRPr lang="fr-FR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Augmentation de la pression artérielle diastolique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Gynécomastie chez l’homme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baisse de l’adhésivité plaquettaire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Aménorrhée secondaire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Stimulation de la protéolyse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</a:p>
          <a:p>
            <a:pPr marL="914400" lvl="1" indent="-514350">
              <a:buFont typeface="+mj-lt"/>
              <a:buAutoNum type="alphaUcPeriod"/>
            </a:pPr>
            <a:endParaRPr lang="fr-FR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283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E362-67AF-34A3-6C8E-2FEEBDC4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80C4B-AE87-2B45-CE30-7ECF4657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EF6848-D860-A9D4-848B-A9AB18C7C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lnSpcReduction="10000"/>
          </a:bodyPr>
          <a:lstStyle/>
          <a:p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primaire ancienne non traitée chez un garçon d’âge pubertaire peut se manifester par</a:t>
            </a:r>
            <a:r>
              <a:rPr lang="fr-FR" dirty="0"/>
              <a:t>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Retard pubertaire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Accélération de la croissance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Avance de la maturation osseuse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Puberté précoce iso sexuelle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Hyperprolactinémie </a:t>
            </a:r>
          </a:p>
          <a:p>
            <a:pPr marL="400050" lvl="1" indent="0" algn="r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8517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D58DE-C82B-16F8-CAE8-E333BC22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9CF1A-F3EC-2F0B-5689-97E40173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lnSpcReduction="10000"/>
          </a:bodyPr>
          <a:lstStyle/>
          <a:p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primaire ancienne non traitée chez un garçon d’âge pubertaire peut se manifester par</a:t>
            </a:r>
            <a:r>
              <a:rPr lang="fr-FR" dirty="0"/>
              <a:t>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Retard pubertaire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Accélération de la croissance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Avance de la maturation osseuse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Puberté précoce iso sexuelle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Hyperprolactinémie </a:t>
            </a:r>
          </a:p>
          <a:p>
            <a:pPr marL="400050" lvl="1" indent="0" algn="r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4E2F5E-C21B-EA28-2BB1-565B93ED29BC}"/>
              </a:ext>
            </a:extLst>
          </p:cNvPr>
          <p:cNvSpPr txBox="1"/>
          <p:nvPr/>
        </p:nvSpPr>
        <p:spPr>
          <a:xfrm>
            <a:off x="323528" y="5416103"/>
            <a:ext cx="756084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D- Une puberté précoce </a:t>
            </a:r>
            <a:r>
              <a:rPr lang="fr-FR" dirty="0" err="1">
                <a:solidFill>
                  <a:srgbClr val="FF0000"/>
                </a:solidFill>
              </a:rPr>
              <a:t>isosexuelle</a:t>
            </a:r>
            <a:r>
              <a:rPr lang="fr-FR" dirty="0">
                <a:solidFill>
                  <a:srgbClr val="FF0000"/>
                </a:solidFill>
              </a:rPr>
              <a:t>, de mécanisme physiopathologique mal élucidé, est beaucoup plus rare. Elle ne s’accompagne pas d’accélération de la croissance ni de la maturation osseuse</a:t>
            </a:r>
          </a:p>
        </p:txBody>
      </p:sp>
    </p:spTree>
    <p:extLst>
      <p:ext uri="{BB962C8B-B14F-4D97-AF65-F5344CB8AC3E}">
        <p14:creationId xmlns:p14="http://schemas.microsoft.com/office/powerpoint/2010/main" val="3440006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Parmi les manifestations cliniques d’une hypothyroïdie primaire: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Prise de poids contrastant avec une anorexie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Élargissement de la pression artérielle différentielle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 du tabouret positif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Paresthésies des extrémités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Galactorrhée chez la femme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ACDE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Parmi les manifestations cliniques d’une hypothyroïdie primaire: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Prise de poids contrastant avec une anorexie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Élargissement de la pression artérielle différentielle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 du tabouret positif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Paresthésies des extrémités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Galactorrhée chez la femme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ACDE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Signes musculaires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452869" y="1529408"/>
            <a:ext cx="6333709" cy="48285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2400" dirty="0"/>
              <a:t>Crampes musculaires et myalgies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2400" dirty="0"/>
              <a:t>Baisse de la force musculaire prédominant au niveau des ceintures scapulaire et pelvienne (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signe du tabouret positif).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fr-FR" sz="2400" dirty="0"/>
              <a:t>Parfois, on peut observer une pseudo-hypertrophie musculaire, du fait de l’infiltration des masses musculaires.</a:t>
            </a: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pic>
        <p:nvPicPr>
          <p:cNvPr id="8" name="Picture 2" descr="http://www.travail.gc.ca/fra/sante_securite/pubs_ss/images/squatt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061" y="3071810"/>
            <a:ext cx="2390939" cy="261010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6" name="ZoneTexte 5"/>
          <p:cNvSpPr txBox="1"/>
          <p:nvPr/>
        </p:nvSpPr>
        <p:spPr>
          <a:xfrm>
            <a:off x="7143768" y="2357430"/>
            <a:ext cx="15268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u="sng" dirty="0"/>
              <a:t>Signe du tabouret</a:t>
            </a:r>
          </a:p>
        </p:txBody>
      </p:sp>
    </p:spTree>
    <p:extLst>
      <p:ext uri="{BB962C8B-B14F-4D97-AF65-F5344CB8AC3E}">
        <p14:creationId xmlns:p14="http://schemas.microsoft.com/office/powerpoint/2010/main" val="304471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bilan biologique au cours d’une hypothyroïdie peut montrer: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anémie macrocytaire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élévation des enzymes hépatiques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hypercalcémie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hypernatrémie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hypertriglycéridémie</a:t>
            </a:r>
          </a:p>
          <a:p>
            <a:endParaRPr lang="fr-FR" dirty="0"/>
          </a:p>
          <a:p>
            <a:pPr algn="r">
              <a:buNone/>
            </a:pPr>
            <a:r>
              <a:rPr lang="fr-FR" dirty="0">
                <a:solidFill>
                  <a:schemeClr val="bg1"/>
                </a:solidFill>
              </a:rPr>
              <a:t>ABDE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bilan biologique au cours d’une hypothyroïdie peut montrer: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anémie macrocytaire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élévation des enzymes hépatiques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hypercalcémie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hypernatrémie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hypertriglycéridémie</a:t>
            </a:r>
          </a:p>
          <a:p>
            <a:endParaRPr lang="fr-FR" dirty="0"/>
          </a:p>
          <a:p>
            <a:pPr algn="r">
              <a:buNone/>
            </a:pPr>
            <a:r>
              <a:rPr lang="fr-FR" b="1" dirty="0">
                <a:solidFill>
                  <a:srgbClr val="FF0000"/>
                </a:solidFill>
              </a:rPr>
              <a:t>ABE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D9D789-3421-0175-A878-1E39C0C8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85B7A9-5BAB-0533-9EF8-6BA32FAB7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perturbations non spécifiques pouvant révéler une hypothyroïdie</a:t>
            </a:r>
            <a:r>
              <a:rPr lang="fr-FR" sz="3600" b="1" i="1" dirty="0"/>
              <a:t>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anémie normochrome normocytaire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hyponatrémie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hypocalcémie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élévation des enzymes musculaires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leuco-neutropénie</a:t>
            </a:r>
          </a:p>
          <a:p>
            <a:pPr marL="0" indent="0" algn="r">
              <a:buNone/>
            </a:pPr>
            <a:r>
              <a:rPr lang="fr-FR" dirty="0">
                <a:solidFill>
                  <a:schemeClr val="bg1"/>
                </a:solidFill>
              </a:rPr>
              <a:t>ABD</a:t>
            </a:r>
          </a:p>
        </p:txBody>
      </p:sp>
    </p:spTree>
    <p:extLst>
      <p:ext uri="{BB962C8B-B14F-4D97-AF65-F5344CB8AC3E}">
        <p14:creationId xmlns:p14="http://schemas.microsoft.com/office/powerpoint/2010/main" val="186675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5372-92D9-0F32-5DFE-0E974D4E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0634C2-8C6F-05F0-6C5A-A9E1C00E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1459F4-461B-D9F0-BE53-B5B8D272A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perturbations non spécifiques pouvant révéler une hypothyroïdie</a:t>
            </a:r>
            <a:r>
              <a:rPr lang="fr-FR" sz="3600" b="1" i="1" dirty="0"/>
              <a:t>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anémie normochrome normocytaire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hyponatrémie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SIADH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hypocalcémie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élévation des enzymes musculaires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leuco-neutropénie</a:t>
            </a:r>
          </a:p>
          <a:p>
            <a:pPr marL="0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ABD</a:t>
            </a:r>
          </a:p>
        </p:txBody>
      </p:sp>
    </p:spTree>
    <p:extLst>
      <p:ext uri="{BB962C8B-B14F-4D97-AF65-F5344CB8AC3E}">
        <p14:creationId xmlns:p14="http://schemas.microsoft.com/office/powerpoint/2010/main" val="3072453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Parmi les manifestations cliniques d’une hypothyroïdie en dehors des complications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Diminution de la sudation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Troubles de la conduction a type de BAV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Syndrome d’apnées du sommeil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Accès paranoïaque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Baisse de la libido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Parmi les manifestations cliniques d’une hypothyroïdie en dehors des complications 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Diminution de la sudation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Troubles de la conduction a type de BAV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Syndrome d’apnées du sommeil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Accès paranoïaque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Baisse de la libido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bilan demandé de première intention devant une suspicion d’une hypothyroïdie est: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FT4-TSH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FT3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Thyroglobuline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 algn="r">
              <a:buNone/>
            </a:pPr>
            <a:r>
              <a:rPr lang="fr-FR" dirty="0">
                <a:solidFill>
                  <a:schemeClr val="bg1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bilan demandé de première intention devant une suspicion d’une hypothyroïdie est: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FT4-TSH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FT3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Thyroglobuline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 algn="r">
              <a:buNone/>
            </a:pPr>
            <a:r>
              <a:rPr lang="fr-FR" sz="3600" b="1" dirty="0">
                <a:solidFill>
                  <a:srgbClr val="FF0000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positif de l’ hypothyroïdie repose sur le dosage de: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FT4-TSH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FT3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Thyroglobuline</a:t>
            </a:r>
          </a:p>
          <a:p>
            <a:pPr marL="914400" lvl="1" indent="-514350">
              <a:buFont typeface="+mj-lt"/>
              <a:buAutoNum type="alphaUcPeriod"/>
            </a:pPr>
            <a:endParaRPr lang="fr-FR" sz="3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positif de l’ hypothyroïdie repose sur le dosage de: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FT4-TSH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FT3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Thyroglobuline</a:t>
            </a:r>
          </a:p>
          <a:p>
            <a:pPr marL="914400" lvl="1" indent="-514350">
              <a:buFont typeface="+mj-lt"/>
              <a:buAutoNum type="alphaUcPeriod"/>
            </a:pPr>
            <a:endParaRPr lang="fr-FR" sz="3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836712"/>
            <a:ext cx="7840643" cy="6255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l’hypothyroïdie congénitale transitoire peut être secondaire à:</a:t>
            </a:r>
          </a:p>
          <a:p>
            <a:endParaRPr lang="fr-FR" altLang="fr-FR" sz="24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fr-FR" altLang="fr-FR" sz="2000" b="1" dirty="0">
                <a:solidFill>
                  <a:srgbClr val="002060"/>
                </a:solidFill>
              </a:rPr>
              <a:t>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–Traitement maternel par les hormones thyroïdiennes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B- Exposition d’une femme enceinte a l’iode radioactif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C- Trouble de l’ hormonosynthèse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D- Immaturité de l’axe thyréotrope chez le prématuré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E- Dysgénésies thyroïdiennes</a:t>
            </a:r>
          </a:p>
          <a:p>
            <a:pPr lvl="2" algn="r">
              <a:lnSpc>
                <a:spcPct val="150000"/>
              </a:lnSpc>
              <a:defRPr/>
            </a:pP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836712"/>
            <a:ext cx="7840643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l’hypothyroïdie congénitale transitoire peut être secondaire à:</a:t>
            </a:r>
          </a:p>
          <a:p>
            <a:endParaRPr lang="fr-FR" altLang="fr-FR" sz="24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fr-FR" altLang="fr-FR" sz="2000" b="1" dirty="0">
                <a:solidFill>
                  <a:srgbClr val="002060"/>
                </a:solidFill>
              </a:rPr>
              <a:t>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–Traitement maternel par les hormones thyroïdiennes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B- Exposition d’une femme enceinte a l’iode radioactif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C- Trouble de l’ hormonosynthèse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D- Immaturité de l’axe thyréotrope chez le prématuré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E- Dysgénésies thyroïdiennes</a:t>
            </a: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BD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546" y="785794"/>
            <a:ext cx="84752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L’ hypothyroïdie transitoire est le plus souvent secondaire a une origine environnementale ou iatrogénique: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 carence en iode 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Une surcharge iodée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liée a des agents antiseptiques iodés, appliqués au nouveau-né ou a la femme enceinte ou allaitante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traitement maternel par les </a:t>
            </a: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antithyroïdiens de synthèse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428604"/>
            <a:ext cx="8413845" cy="5898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 </a:t>
            </a: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passage transplacentaire d’anticorps maternels bloquant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les récepteurs de la TSH, du fait d’une thyroïdite auto-immune maternelle est rare (&lt; 2% des hypothyroïdies congénitales) et induit une hypothyroïdie néonatale transitoire.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L’exposition d’une </a:t>
            </a: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femme enceinte a l’iode radioactif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peut léser la thyroïde fœtale.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altLang="fr-FR" sz="2400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’ immaturité de l’axe thyréotrope </a:t>
            </a: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chez le prématuré induit un profil hormonal d’insuffisance thyréotrope.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911372"/>
            <a:ext cx="8014299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hypothyroïdie congénitale est évoquée devant: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–hyperactivité 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Ictère néonatal prolongé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Élimination tardive du premier méconium  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Une macroglossie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Hernie ombilicale</a:t>
            </a:r>
          </a:p>
          <a:p>
            <a:pPr lvl="1">
              <a:lnSpc>
                <a:spcPct val="150000"/>
              </a:lnSpc>
              <a:defRPr/>
            </a:pPr>
            <a:endParaRPr lang="fr-FR" altLang="fr-FR" sz="2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2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BCDE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676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2D0B-F606-A039-CE0F-D02CC440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8BC3E-0CF8-7BC0-04A7-1DB8735743A1}"/>
              </a:ext>
            </a:extLst>
          </p:cNvPr>
          <p:cNvSpPr/>
          <p:nvPr/>
        </p:nvSpPr>
        <p:spPr>
          <a:xfrm>
            <a:off x="683568" y="911372"/>
            <a:ext cx="8014299" cy="5824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hypothyroïdie congénitale est évoquée devant: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–hyperactivité 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Ictère néonatal prolongé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Élimination tardive du premier méconium  </a:t>
            </a:r>
          </a:p>
          <a:p>
            <a:pPr lvl="2">
              <a:lnSpc>
                <a:spcPct val="150000"/>
              </a:lnSpc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Une macroglossie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Hernie ombilicale</a:t>
            </a:r>
          </a:p>
          <a:p>
            <a:pPr lvl="1">
              <a:lnSpc>
                <a:spcPct val="150000"/>
              </a:lnSpc>
              <a:defRPr/>
            </a:pPr>
            <a:endParaRPr lang="fr-FR" altLang="fr-FR" sz="2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BCDE</a:t>
            </a: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83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928670"/>
            <a:ext cx="7840643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dépistage de l’ hypothyroïdie chez une femme enceinte est indiqué en cas de  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–Goitre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Antécédent d’ infertilité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Âge 28 ans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IMC 36 Kg/m2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Présence d’un vitiligo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FE28E-D76A-B460-6E01-F47199192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E0FAB8-1DBD-1A89-B9CF-F0B562A7A11D}"/>
              </a:ext>
            </a:extLst>
          </p:cNvPr>
          <p:cNvSpPr/>
          <p:nvPr/>
        </p:nvSpPr>
        <p:spPr>
          <a:xfrm>
            <a:off x="655089" y="928670"/>
            <a:ext cx="784064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dépistage de l’ hypothyroïdie chez une femme enceinte est indiqué en cas de  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–Goitre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Antécédent d’ infertilité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Âge 28 ans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IMC 36 Kg/m2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Présence d’un vitiligo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/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ABE</a:t>
            </a:r>
          </a:p>
        </p:txBody>
      </p:sp>
    </p:spTree>
    <p:extLst>
      <p:ext uri="{BB962C8B-B14F-4D97-AF65-F5344CB8AC3E}">
        <p14:creationId xmlns:p14="http://schemas.microsoft.com/office/powerpoint/2010/main" val="321099133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600200"/>
            <a:ext cx="8795320" cy="4525963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dépistage de l’ hypothyroïdie chez une femme enceinte est indiqué chez les femmes ayant: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diabète de type 2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de thyroïdite de Hashimoto chez la mère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obésité morbide (BMI ≥ 40 kg/m2)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d'avortement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 ATPO positifs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BCDE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4538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D7DD-1D14-9FB5-B0BA-DFA956F7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B2019-7131-49E4-C0D5-4B935D91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FD3F4F-702E-3E10-263D-49D82B57D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600200"/>
            <a:ext cx="8795320" cy="4525963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dépistage de l’ hypothyroïdie chez une femme enceinte est indiqué chez les femmes ayant: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diabète de type 2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de thyroïdite de Hashimoto chez la mère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obésité morbide (BMI ≥ 40 kg/m2)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d'avortement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 ATPO positifs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BCDE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6910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2200" b="1" dirty="0"/>
              <a:t>Le dépistage de l’ hypothyroïdie chez une femme enceinte est indiqué chez les femmes a risque (ATA 2017):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45232" y="1340768"/>
            <a:ext cx="8229600" cy="52425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/>
              <a:t>1. ayant une histoire d'hypo ou d’ hyperthyroïdie ou présentant des signes récents de dysthyroïdie</a:t>
            </a:r>
          </a:p>
          <a:p>
            <a:pPr>
              <a:buNone/>
            </a:pPr>
            <a:r>
              <a:rPr lang="fr-FR" sz="2000" dirty="0"/>
              <a:t>2. porteuses d’un </a:t>
            </a:r>
            <a:r>
              <a:rPr lang="fr-FR" sz="2000" b="1" dirty="0">
                <a:solidFill>
                  <a:srgbClr val="00B050"/>
                </a:solidFill>
              </a:rPr>
              <a:t>goitre</a:t>
            </a:r>
            <a:r>
              <a:rPr lang="fr-FR" sz="2000" dirty="0"/>
              <a:t> ou ayant </a:t>
            </a:r>
            <a:r>
              <a:rPr lang="fr-FR" sz="2000" b="1" dirty="0">
                <a:solidFill>
                  <a:srgbClr val="00B050"/>
                </a:solidFill>
              </a:rPr>
              <a:t>des ATPO positifs</a:t>
            </a:r>
          </a:p>
          <a:p>
            <a:pPr>
              <a:buNone/>
            </a:pPr>
            <a:r>
              <a:rPr lang="fr-FR" sz="2000" dirty="0"/>
              <a:t>3. ayant des antécédents </a:t>
            </a:r>
            <a:r>
              <a:rPr lang="fr-FR" sz="2000" b="1" dirty="0">
                <a:solidFill>
                  <a:srgbClr val="00B050"/>
                </a:solidFill>
              </a:rPr>
              <a:t>d'irradiation cervicale </a:t>
            </a:r>
            <a:r>
              <a:rPr lang="fr-FR" sz="2000" dirty="0"/>
              <a:t>ou de </a:t>
            </a:r>
            <a:r>
              <a:rPr lang="fr-FR" sz="2000" b="1" dirty="0">
                <a:solidFill>
                  <a:srgbClr val="00B050"/>
                </a:solidFill>
              </a:rPr>
              <a:t>chirurgie thyroïdienne</a:t>
            </a:r>
          </a:p>
          <a:p>
            <a:pPr>
              <a:buNone/>
            </a:pPr>
            <a:r>
              <a:rPr lang="fr-FR" sz="2000" b="1" dirty="0">
                <a:solidFill>
                  <a:srgbClr val="00B050"/>
                </a:solidFill>
              </a:rPr>
              <a:t>4. âge &gt; 30 ans</a:t>
            </a:r>
          </a:p>
          <a:p>
            <a:pPr>
              <a:buNone/>
            </a:pPr>
            <a:r>
              <a:rPr lang="fr-FR" sz="2000" dirty="0"/>
              <a:t>5. ayant </a:t>
            </a:r>
            <a:r>
              <a:rPr lang="fr-FR" sz="2000" b="1" dirty="0">
                <a:solidFill>
                  <a:srgbClr val="00B050"/>
                </a:solidFill>
              </a:rPr>
              <a:t>un diabète de type 1 </a:t>
            </a:r>
            <a:r>
              <a:rPr lang="fr-FR" sz="2000" dirty="0"/>
              <a:t>ou une </a:t>
            </a:r>
            <a:r>
              <a:rPr lang="fr-FR" sz="2000" b="1" dirty="0">
                <a:solidFill>
                  <a:srgbClr val="00B050"/>
                </a:solidFill>
              </a:rPr>
              <a:t>autre maladie auto-immune</a:t>
            </a:r>
          </a:p>
          <a:p>
            <a:pPr>
              <a:buNone/>
            </a:pPr>
            <a:r>
              <a:rPr lang="fr-FR" sz="2000" dirty="0"/>
              <a:t>6. ayant un </a:t>
            </a:r>
            <a:r>
              <a:rPr lang="fr-FR" sz="2000" b="1" dirty="0">
                <a:solidFill>
                  <a:srgbClr val="00B050"/>
                </a:solidFill>
              </a:rPr>
              <a:t>antécédent d'avortement</a:t>
            </a:r>
            <a:r>
              <a:rPr lang="fr-FR" sz="2000" dirty="0"/>
              <a:t>, de </a:t>
            </a:r>
            <a:r>
              <a:rPr lang="fr-FR" sz="2000" b="1" dirty="0">
                <a:solidFill>
                  <a:srgbClr val="00B050"/>
                </a:solidFill>
              </a:rPr>
              <a:t>prématurité</a:t>
            </a:r>
            <a:r>
              <a:rPr lang="fr-FR" sz="2000" dirty="0"/>
              <a:t> ou </a:t>
            </a:r>
            <a:r>
              <a:rPr lang="fr-FR" sz="2000" b="1" dirty="0">
                <a:solidFill>
                  <a:srgbClr val="00B050"/>
                </a:solidFill>
              </a:rPr>
              <a:t>d‘ infertilité</a:t>
            </a:r>
          </a:p>
          <a:p>
            <a:pPr>
              <a:buNone/>
            </a:pPr>
            <a:r>
              <a:rPr lang="fr-FR" sz="2000" dirty="0"/>
              <a:t>7. </a:t>
            </a:r>
            <a:r>
              <a:rPr lang="fr-FR" sz="2000" b="1" dirty="0">
                <a:solidFill>
                  <a:srgbClr val="00B050"/>
                </a:solidFill>
              </a:rPr>
              <a:t>multipares (&gt;2)</a:t>
            </a:r>
          </a:p>
          <a:p>
            <a:pPr>
              <a:buNone/>
            </a:pPr>
            <a:r>
              <a:rPr lang="fr-FR" sz="2000" dirty="0"/>
              <a:t>8. ayant </a:t>
            </a:r>
            <a:r>
              <a:rPr lang="fr-FR" sz="2000" b="1" dirty="0"/>
              <a:t>une histoire familiale de </a:t>
            </a:r>
            <a:r>
              <a:rPr lang="fr-FR" sz="2000" b="1" dirty="0">
                <a:solidFill>
                  <a:srgbClr val="00B050"/>
                </a:solidFill>
              </a:rPr>
              <a:t>dysthyroïdie auto-immune</a:t>
            </a:r>
          </a:p>
          <a:p>
            <a:pPr>
              <a:buNone/>
            </a:pPr>
            <a:r>
              <a:rPr lang="fr-FR" sz="2000" dirty="0"/>
              <a:t>9. ayant une </a:t>
            </a:r>
            <a:r>
              <a:rPr lang="fr-FR" sz="2000" b="1" dirty="0">
                <a:solidFill>
                  <a:srgbClr val="00B050"/>
                </a:solidFill>
              </a:rPr>
              <a:t>obésité morbide (BMI ≥ 40 kg/m2)</a:t>
            </a:r>
          </a:p>
          <a:p>
            <a:pPr>
              <a:buNone/>
            </a:pPr>
            <a:r>
              <a:rPr lang="fr-FR" sz="2000" dirty="0"/>
              <a:t>10. traitées par </a:t>
            </a:r>
            <a:r>
              <a:rPr lang="fr-FR" sz="2000" dirty="0">
                <a:solidFill>
                  <a:srgbClr val="00B050"/>
                </a:solidFill>
              </a:rPr>
              <a:t>l’ </a:t>
            </a:r>
            <a:r>
              <a:rPr lang="fr-FR" sz="2000" b="1" dirty="0">
                <a:solidFill>
                  <a:srgbClr val="00B050"/>
                </a:solidFill>
              </a:rPr>
              <a:t>amiodarone</a:t>
            </a:r>
            <a:r>
              <a:rPr lang="fr-FR" sz="2000" dirty="0">
                <a:solidFill>
                  <a:srgbClr val="00B050"/>
                </a:solidFill>
              </a:rPr>
              <a:t>, </a:t>
            </a:r>
            <a:r>
              <a:rPr lang="fr-FR" sz="2000" b="1" dirty="0">
                <a:solidFill>
                  <a:srgbClr val="00B050"/>
                </a:solidFill>
              </a:rPr>
              <a:t>le lithium </a:t>
            </a:r>
            <a:r>
              <a:rPr lang="fr-FR" sz="2000" dirty="0"/>
              <a:t>ou ayant récemment reçu </a:t>
            </a:r>
            <a:r>
              <a:rPr lang="fr-FR" sz="2000" b="1" dirty="0">
                <a:solidFill>
                  <a:srgbClr val="00B050"/>
                </a:solidFill>
              </a:rPr>
              <a:t>un produit de contraste iode</a:t>
            </a:r>
          </a:p>
          <a:p>
            <a:pPr>
              <a:buNone/>
            </a:pPr>
            <a:r>
              <a:rPr lang="fr-FR" sz="2000" dirty="0"/>
              <a:t>11. vivant dans une </a:t>
            </a:r>
            <a:r>
              <a:rPr lang="fr-FR" sz="2000" b="1" dirty="0">
                <a:solidFill>
                  <a:srgbClr val="00B050"/>
                </a:solidFill>
              </a:rPr>
              <a:t>région de carence modérée a sévère en iode</a:t>
            </a:r>
          </a:p>
        </p:txBody>
      </p:sp>
    </p:spTree>
    <p:extLst>
      <p:ext uri="{BB962C8B-B14F-4D97-AF65-F5344CB8AC3E}">
        <p14:creationId xmlns:p14="http://schemas.microsoft.com/office/powerpoint/2010/main" val="438246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548680"/>
            <a:ext cx="8158885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 l’absence de traitement, l’ hypothyroïdie peut exposer a la survenue de complications:</a:t>
            </a:r>
          </a:p>
          <a:p>
            <a:endParaRPr lang="fr-FR" altLang="fr-FR" sz="28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–Troubles de la conduction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Bradycardie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Syndrome d’apnées du sommeil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Hallucinations auditives et visuelles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HTA systolique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/>
            <a:r>
              <a:rPr lang="fr-FR" altLang="fr-FR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ACD</a:t>
            </a:r>
            <a:endParaRPr lang="fr-FR" altLang="fr-FR" sz="21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548680"/>
            <a:ext cx="8158885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En l’absence de traitement, l’ hypothyroïdie peut exposer a la survenue de complications:</a:t>
            </a:r>
          </a:p>
          <a:p>
            <a:endParaRPr lang="fr-FR" altLang="fr-FR" sz="28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–Troubles de la conduction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Bradycardie 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Syndrome d’apnées du sommeil</a:t>
            </a:r>
          </a:p>
          <a:p>
            <a:pPr lvl="2">
              <a:lnSpc>
                <a:spcPct val="150000"/>
              </a:lnSpc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Hallucinations auditives et visuelles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HTA systolique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/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ACD</a:t>
            </a:r>
            <a:endParaRPr lang="fr-FR" altLang="fr-FR" sz="21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813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5" y="476672"/>
            <a:ext cx="8424936" cy="5974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32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L’hospitalisation est nécessaire pour le traitement de l’hypothyroïdie chez :</a:t>
            </a:r>
          </a:p>
          <a:p>
            <a:endParaRPr lang="fr-FR" altLang="fr-FR" sz="24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A- Les patients ayant une insuffisance rénale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Les patients avec une TSH&gt; 100mU/l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Les sujets âgés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Les patients ayant une insuffisance coronarienne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La femme enceinte </a:t>
            </a:r>
            <a:endParaRPr lang="fr-FR" altLang="fr-FR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210163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26CB-5920-7559-4B31-B41242DC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7061C-A154-7328-7070-1786ACB0278F}"/>
              </a:ext>
            </a:extLst>
          </p:cNvPr>
          <p:cNvSpPr/>
          <p:nvPr/>
        </p:nvSpPr>
        <p:spPr>
          <a:xfrm>
            <a:off x="467545" y="476672"/>
            <a:ext cx="8424936" cy="5974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32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L’hospitalisation est nécessaire pour le traitement de l’hypothyroïdie chez :</a:t>
            </a:r>
          </a:p>
          <a:p>
            <a:endParaRPr lang="fr-FR" altLang="fr-FR" sz="24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A- Les patients ayant une insuffisance rénale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B- Les patients avec une TSH&gt; 100mU/l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C- Les sujets âgés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D- Les patients ayant une insuffisance coronarienne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E- La femme enceinte </a:t>
            </a:r>
            <a:endParaRPr lang="fr-FR" altLang="fr-FR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32698690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2218624"/>
            <a:ext cx="7840643" cy="407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de : 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 –Hyperthyroïdie centrale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B. Hypothyroïdie périphérique fruste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C. Hypothyroïdie centrale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D. Hypothyroïdie périphérique franche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E. Toutes les réponses sont fausses</a:t>
            </a:r>
          </a:p>
          <a:p>
            <a:pPr lvl="2">
              <a:lnSpc>
                <a:spcPct val="150000"/>
              </a:lnSpc>
              <a:defRPr/>
            </a:pPr>
            <a:endParaRPr lang="fr-FR" altLang="fr-FR" sz="2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325" y="1025351"/>
            <a:ext cx="777581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de 29 ans vous consulte pour perturbation du bilan thyroïdien TSH= 6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 0,2- 4,2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/l], FT4= 14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[VN=12- 22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2218624"/>
            <a:ext cx="7840643" cy="4073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Il s’agit de : 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 –Hyperthyroïdie centrale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B. Hypothyroïdie périphérique fruste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C. Hypothyroïdie centrale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D. Hypothyroïdie périphérique franche </a:t>
            </a:r>
          </a:p>
          <a:p>
            <a:pPr lvl="2">
              <a:lnSpc>
                <a:spcPct val="150000"/>
              </a:lnSpc>
              <a:defRPr/>
            </a:pPr>
            <a:r>
              <a:rPr lang="fr-FR" altLang="fr-FR" sz="21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E. Toutes les réponses sont fausses</a:t>
            </a:r>
          </a:p>
          <a:p>
            <a:pPr lvl="2">
              <a:lnSpc>
                <a:spcPct val="150000"/>
              </a:lnSpc>
              <a:defRPr/>
            </a:pPr>
            <a:endParaRPr lang="fr-FR" altLang="fr-FR" sz="2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2" algn="r">
              <a:lnSpc>
                <a:spcPct val="150000"/>
              </a:lnSpc>
              <a:defRPr/>
            </a:pPr>
            <a:r>
              <a:rPr lang="fr-FR" altLang="fr-FR" sz="2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325" y="1025351"/>
            <a:ext cx="777581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de 29 ans vous consulte pour perturbation du bilan thyroïdien TSH= 6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 0,2- 4,2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/l], FT4= 14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[VN=12- 22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/l]. </a:t>
            </a:r>
          </a:p>
        </p:txBody>
      </p:sp>
    </p:spTree>
    <p:extLst>
      <p:ext uri="{BB962C8B-B14F-4D97-AF65-F5344CB8AC3E}">
        <p14:creationId xmlns:p14="http://schemas.microsoft.com/office/powerpoint/2010/main" val="6625091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2218624"/>
            <a:ext cx="784064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Votre conduite à tenir devant cette patiente est de : 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Refaire le bilan thyroïdien dans 1an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Refaire le bilan thyroïdien dans 2 à 3 mois 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Commencer la substitution hormonale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Dosage des anticorps anti-TPO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Faire le dosage de la BHCG</a:t>
            </a:r>
          </a:p>
          <a:p>
            <a:pPr lvl="2">
              <a:lnSpc>
                <a:spcPct val="150000"/>
              </a:lnSpc>
              <a:defRPr/>
            </a:pPr>
            <a:endParaRPr lang="fr-FR" dirty="0"/>
          </a:p>
          <a:p>
            <a:pPr lvl="2">
              <a:lnSpc>
                <a:spcPct val="150000"/>
              </a:lnSpc>
              <a:defRPr/>
            </a:pP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607325" y="1025351"/>
            <a:ext cx="777581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de 29 ans vous consulte pour perturbation du bilan thyroïdien TSH= 6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 0,2- 4,2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/l], FT4= 14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[VN=12- 22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89" y="2218624"/>
            <a:ext cx="784064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Votre conduite à tenir devant cette patiente est de : </a:t>
            </a:r>
          </a:p>
          <a:p>
            <a:endParaRPr lang="fr-FR" altLang="fr-FR" sz="21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.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Refaire le bilan thyroïdien dans 1an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Refaire le bilan thyroïdien dans 2 à 3 mois 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Commencer la substitution hormonale 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Dosage des anticorps anti-TPO</a:t>
            </a:r>
          </a:p>
          <a:p>
            <a:pPr lvl="2">
              <a:lnSpc>
                <a:spcPct val="150000"/>
              </a:lnSpc>
              <a:defRPr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Faire le dosage de la BHCG</a:t>
            </a:r>
          </a:p>
          <a:p>
            <a:pPr lvl="2" algn="r">
              <a:lnSpc>
                <a:spcPct val="150000"/>
              </a:lnSpc>
              <a:defRPr/>
            </a:pPr>
            <a:r>
              <a:rPr lang="fr-FR" sz="2400" b="1" dirty="0">
                <a:solidFill>
                  <a:srgbClr val="FF0000"/>
                </a:solidFill>
              </a:rPr>
              <a:t>BDE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325" y="1025351"/>
            <a:ext cx="777581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patiente de 29 ans vous consulte pour perturbation du bilan thyroïdien TSH= 6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 0,2- 4,2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/l], FT4= 14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[VN=12- 22 </a:t>
            </a:r>
            <a:r>
              <a:rPr lang="fr-FR" altLang="fr-FR" sz="2100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pmol</a:t>
            </a:r>
            <a:r>
              <a:rPr lang="fr-FR" altLang="fr-FR" sz="21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/l]. </a:t>
            </a:r>
          </a:p>
        </p:txBody>
      </p:sp>
    </p:spTree>
    <p:extLst>
      <p:ext uri="{BB962C8B-B14F-4D97-AF65-F5344CB8AC3E}">
        <p14:creationId xmlns:p14="http://schemas.microsoft.com/office/powerpoint/2010/main" val="178264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7FB9-B002-AEB7-1B51-91E21BFC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8D128-DE88-00D6-180A-471DE7B9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C75F9C-D557-894B-1200-B880004C0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dosage de la TSH est indiqué en cas de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Sujet âgé de plus de 70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Patients originaires de zones d’endémie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Multiparité 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Traitement par amiodarone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Antécédents de thyroïdectomie subtotale </a:t>
            </a:r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  <a:p>
            <a:pPr marL="457200" lvl="1" indent="0" algn="r">
              <a:buNone/>
            </a:pPr>
            <a:r>
              <a:rPr lang="fr-FR" sz="3200" b="1" dirty="0">
                <a:solidFill>
                  <a:schemeClr val="bg1"/>
                </a:solidFill>
              </a:rPr>
              <a:t>BDE</a:t>
            </a:r>
          </a:p>
        </p:txBody>
      </p:sp>
    </p:spTree>
    <p:extLst>
      <p:ext uri="{BB962C8B-B14F-4D97-AF65-F5344CB8AC3E}">
        <p14:creationId xmlns:p14="http://schemas.microsoft.com/office/powerpoint/2010/main" val="31135935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CF56-527F-4D6B-9FAD-C9DEF7C1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1C399-69A8-4CDC-E718-F5A9EAA2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3037A5-F5FF-DB54-9E04-1434F2C1F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dosage de la TSH est indiqué en cas de 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Sujet âgé de plus de 70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Patients originaires de zones d’endémie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Multiparité 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Traitement par amiodarone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Antécédents de thyroïdectomie subtotale </a:t>
            </a:r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  <a:p>
            <a:pPr marL="457200" lvl="1" indent="0" algn="r">
              <a:buNone/>
            </a:pPr>
            <a:r>
              <a:rPr lang="fr-FR" sz="3200" b="1" dirty="0">
                <a:solidFill>
                  <a:srgbClr val="FF0000"/>
                </a:solidFill>
              </a:rPr>
              <a:t>BDE</a:t>
            </a:r>
          </a:p>
        </p:txBody>
      </p:sp>
    </p:spTree>
    <p:extLst>
      <p:ext uri="{BB962C8B-B14F-4D97-AF65-F5344CB8AC3E}">
        <p14:creationId xmlns:p14="http://schemas.microsoft.com/office/powerpoint/2010/main" val="2856760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E49DF1-38E4-6A8F-D2E3-EDA72A97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0648"/>
            <a:ext cx="8568952" cy="6480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3600" dirty="0">
                <a:solidFill>
                  <a:schemeClr val="accent1">
                    <a:lumMod val="75000"/>
                  </a:schemeClr>
                </a:solidFill>
              </a:rPr>
              <a:t>Les </a:t>
            </a:r>
            <a:r>
              <a:rPr lang="fr-FR" sz="3600" b="1" dirty="0">
                <a:solidFill>
                  <a:schemeClr val="accent1">
                    <a:lumMod val="75000"/>
                  </a:schemeClr>
                </a:solidFill>
              </a:rPr>
              <a:t>recommandations pour le dépistage </a:t>
            </a:r>
            <a:r>
              <a:rPr lang="fr-FR" sz="3600" dirty="0">
                <a:solidFill>
                  <a:schemeClr val="accent1">
                    <a:lumMod val="75000"/>
                  </a:schemeClr>
                </a:solidFill>
              </a:rPr>
              <a:t>de l’ hypothyroïdie fruste</a:t>
            </a:r>
            <a:endParaRPr lang="fr-FR" sz="36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Il n’y a pas lieu de réaliser un dépistage systématique de l’ hypothyroïdie fruste</a:t>
            </a:r>
          </a:p>
          <a:p>
            <a:pPr marL="400050" lvl="1" indent="0">
              <a:buNone/>
            </a:pPr>
            <a:r>
              <a:rPr lang="fr-FR" dirty="0"/>
              <a:t>- </a:t>
            </a:r>
            <a:r>
              <a:rPr lang="fr-FR" b="1" dirty="0">
                <a:solidFill>
                  <a:srgbClr val="00B050"/>
                </a:solidFill>
              </a:rPr>
              <a:t>Un dépistage cible est indique dans les situations a risque :</a:t>
            </a:r>
          </a:p>
          <a:p>
            <a:pPr marL="400050" lvl="1" indent="0">
              <a:buNone/>
            </a:pPr>
            <a:r>
              <a:rPr lang="fr-FR" dirty="0"/>
              <a:t>• Femme âgée de plus de 60 ans, ayant des antécédents de maladie thyroïdienne</a:t>
            </a:r>
          </a:p>
          <a:p>
            <a:pPr marL="400050" lvl="1" indent="0">
              <a:buNone/>
            </a:pPr>
            <a:r>
              <a:rPr lang="fr-FR" dirty="0"/>
              <a:t>• Patients originaires de zones d’ endémie</a:t>
            </a:r>
          </a:p>
          <a:p>
            <a:pPr marL="400050" lvl="1" indent="0">
              <a:buNone/>
            </a:pPr>
            <a:r>
              <a:rPr lang="fr-FR" dirty="0"/>
              <a:t>• Présence d’anticorps antithyroïdiens</a:t>
            </a:r>
          </a:p>
          <a:p>
            <a:pPr marL="400050" lvl="1" indent="0">
              <a:buNone/>
            </a:pPr>
            <a:r>
              <a:rPr lang="fr-FR" dirty="0"/>
              <a:t>• Antécédents de chirurgie ou d’irradiation thyroïdienne ou cervicale </a:t>
            </a:r>
          </a:p>
          <a:p>
            <a:pPr marL="400050" lvl="1" indent="0">
              <a:buNone/>
            </a:pPr>
            <a:r>
              <a:rPr lang="fr-FR" dirty="0"/>
              <a:t>• traitement a risque thyroïdien (amiodarone, lithium, interféron ou autres cytokines)</a:t>
            </a:r>
          </a:p>
        </p:txBody>
      </p:sp>
    </p:spTree>
    <p:extLst>
      <p:ext uri="{BB962C8B-B14F-4D97-AF65-F5344CB8AC3E}">
        <p14:creationId xmlns:p14="http://schemas.microsoft.com/office/powerpoint/2010/main" val="3566937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 hypothyroïdie fruste doit être dépistée dans les situations suivantes: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Femme âgée de plus de 40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 personnel de maladie de basedow traitée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Présence d’anticorps antithyroïdiens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Grossesse chez une femme ayant un vitiligo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Antécédents d’irradiation cervicale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r">
              <a:buNone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BCE</a:t>
            </a:r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L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 hypothyroïdie fruste doit être dépistée dans les situations suivantes: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Femme âgée de plus de 40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 personnel de maladie de basedow traitée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Présence d’anticorps antithyroïdiens</a:t>
            </a:r>
          </a:p>
          <a:p>
            <a:pPr marL="97155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Grossesse chez une femme ayant un vitiligo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Antécédents d’irradiation cervicale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r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BCDE</a:t>
            </a:r>
          </a:p>
          <a:p>
            <a:pPr marL="971550" lvl="1" indent="-514350">
              <a:buFont typeface="+mj-lt"/>
              <a:buAutoNum type="alphaUcPeriod"/>
            </a:pPr>
            <a:endParaRPr lang="fr-FR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Ces facteurs sont prédictifs d’ évolution vers une hypothyroïdie avérée en cas d’ hypothyroïdie fruste 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Positivité des anticorps anti-TPO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Présence d’un goitre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 à 4,2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mUI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/l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Grossesse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de radiothérapie pour cancer du cavum </a:t>
            </a: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r">
              <a:buNone/>
            </a:pPr>
            <a:r>
              <a:rPr lang="fr-FR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ABE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7EA7-A8B0-3298-3F46-CDD4E70B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07A3E-82D8-0409-962C-75877280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ED463C-EE96-6E3E-A9C7-0B1EE54B1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Ces facteurs sont prédictifs d’ évolution vers une hypothyroïdie avérée en cas d’ hypothyroïdie fruste 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Positivité des anticorps anti-TPO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Présence d’un goitre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TSH à 4,2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mUI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/l 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Grossesse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antécédent de radiothérapie pour cancer du cavum </a:t>
            </a: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r">
              <a:buNone/>
            </a:pP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B42DBE-261F-A349-5F15-3707C92908DF}"/>
              </a:ext>
            </a:extLst>
          </p:cNvPr>
          <p:cNvSpPr txBox="1"/>
          <p:nvPr/>
        </p:nvSpPr>
        <p:spPr>
          <a:xfrm>
            <a:off x="683568" y="4996190"/>
            <a:ext cx="72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TSH à 4,2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mUI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/l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oui, si TSH &gt; 10ui/l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6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E23AC-C2CA-736A-EA1D-C39598C3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556AA-BFD1-3EA5-3B21-86F8183F3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faveur d’une hypothyroïdie primaire par trouble de l’hormonogenèse: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autosomique dominante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Apparition à partir de l’âge pubertaire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Négativité des anticorps antithyroïdiens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avec une surdité de transmission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0" indent="0" algn="r">
              <a:buNone/>
            </a:pPr>
            <a:r>
              <a:rPr lang="fr-FR" dirty="0">
                <a:solidFill>
                  <a:schemeClr val="bg1"/>
                </a:solidFill>
              </a:rPr>
              <a:t>CDE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8986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71D2-B3B5-BAD2-8E6A-E2287299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40DDE0-11B3-D407-7729-4A1A4AB8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B7647-71D3-257D-4596-B6D049603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faveur d’une hypothyroïdie primaire par trouble de l’hormonogenèse: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autosomique dominante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Apparition à partir de l’âge pubertaire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Négativité des anticorps antithyroïdiens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avec une surdité de transmission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0" indent="0" algn="r">
              <a:buNone/>
            </a:pPr>
            <a:r>
              <a:rPr lang="fr-FR" dirty="0">
                <a:solidFill>
                  <a:srgbClr val="FF0000"/>
                </a:solidFill>
              </a:rPr>
              <a:t>CDE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3574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accent1">
                    <a:lumMod val="75000"/>
                  </a:schemeClr>
                </a:solidFill>
              </a:rPr>
              <a:t>Le myxœdème est-il réversible sous traitement 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/>
              <a:t>Lorsque le traitement de l’ hypothyroïdie est bien conduit, il permet une amélioration spectaculaire avec la régression progressive des signes cliniques et biologiques,  </a:t>
            </a:r>
          </a:p>
          <a:p>
            <a:pPr>
              <a:lnSpc>
                <a:spcPct val="150000"/>
              </a:lnSpc>
              <a:buNone/>
            </a:pPr>
            <a:r>
              <a:rPr lang="fr-FR" dirty="0"/>
              <a:t>l’ amélioration de la qualité de vie ainsi que la prévention des complications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29642" cy="4525963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responsable de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Bourdonnements d’oreilles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Myalgies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Ostéoporose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Lithiase vésiculaire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Prurit</a:t>
            </a:r>
          </a:p>
          <a:p>
            <a:pPr marL="914400" lvl="1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29642" cy="4525963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hypothyroïdie peut être responsable de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Bourdonnements d’oreilles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Myalgies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Ostéoporose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Lithiase vésiculaire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Prurit</a:t>
            </a:r>
          </a:p>
          <a:p>
            <a:pPr marL="914400" lvl="1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C'est quoi le mécanisme physiopathologique de la lithiase vésiculaire au cours de l'hypothyroïdie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Formation d’une lithiase vésiculaire: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La bile soit sursaturée en cholestérol</a:t>
            </a:r>
          </a:p>
          <a:p>
            <a:pPr lvl="1">
              <a:lnSpc>
                <a:spcPct val="150000"/>
              </a:lnSpc>
            </a:pPr>
            <a:r>
              <a:rPr lang="fr-FR" dirty="0">
                <a:solidFill>
                  <a:srgbClr val="FF0000"/>
                </a:solidFill>
              </a:rPr>
              <a:t>Hypotonie vésiculaire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l’absence de traitement, l’ hypothyroïdie peut exposer a la survenue de complications: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insuffisance cardiaque avec débit cardiaque élevé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Insuffisance coronaire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Paralysie périodique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thyrotoxique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hypokaliémique</a:t>
            </a: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Ostéoporose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Accès paranoïaque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l’absence de traitement, l’ hypothyroïdie peut exposer a la survenue de complications: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insuffisance cardiaque avec débit cardiaque élevé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Insuffisance coronaire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Paralysie périodique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thyrotoxique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hypokaliémique</a:t>
            </a: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Ostéoporose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Accès paranoïaque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 algn="r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2800" dirty="0">
                <a:solidFill>
                  <a:schemeClr val="accent1">
                    <a:lumMod val="75000"/>
                  </a:schemeClr>
                </a:solidFill>
              </a:rPr>
              <a:t>C'est quoi le mécanisme physiopathologique de l'insuffisance coronaire au cours de l'hypothyroïdie 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Diminution du catabolisme lipidique avec une diminution de l’ activité de la lipoprotéine lipase et du turn-over des LDL a l’origine d’une </a:t>
            </a:r>
            <a:r>
              <a:rPr lang="fr-FR" dirty="0">
                <a:solidFill>
                  <a:srgbClr val="FF0000"/>
                </a:solidFill>
              </a:rPr>
              <a:t>hyperlipidémie </a:t>
            </a:r>
            <a:r>
              <a:rPr lang="fr-FR" dirty="0" err="1">
                <a:solidFill>
                  <a:srgbClr val="FF0000"/>
                </a:solidFill>
              </a:rPr>
              <a:t>athérogene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Accumulation des lipides au niveau de la paroi vasculaire </a:t>
            </a:r>
            <a:r>
              <a:rPr lang="fr-FR" dirty="0">
                <a:sym typeface="Wingdings" pitchFamily="2" charset="2"/>
              </a:rPr>
              <a:t> formation de plaque d’athérome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500034" y="5143512"/>
            <a:ext cx="8001056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000" dirty="0"/>
              <a:t>Elle est souvent </a:t>
            </a:r>
            <a:r>
              <a:rPr lang="fr-FR" sz="2000" dirty="0">
                <a:solidFill>
                  <a:srgbClr val="FF0000"/>
                </a:solidFill>
              </a:rPr>
              <a:t>asymptomatique</a:t>
            </a:r>
            <a:r>
              <a:rPr lang="fr-FR" sz="2000" dirty="0"/>
              <a:t>, masquée par la </a:t>
            </a:r>
            <a:r>
              <a:rPr lang="fr-FR" sz="2000" dirty="0">
                <a:solidFill>
                  <a:srgbClr val="FF0000"/>
                </a:solidFill>
              </a:rPr>
              <a:t>bradycardie</a:t>
            </a:r>
            <a:r>
              <a:rPr lang="fr-FR" sz="2000" dirty="0"/>
              <a:t>, mais elle risque de </a:t>
            </a:r>
            <a:r>
              <a:rPr lang="fr-FR" sz="2000" dirty="0">
                <a:solidFill>
                  <a:srgbClr val="FF0000"/>
                </a:solidFill>
              </a:rPr>
              <a:t>se démasquer </a:t>
            </a:r>
            <a:r>
              <a:rPr lang="fr-FR" sz="2000" dirty="0"/>
              <a:t>lors de l’instauration du traitement substitutif. </a:t>
            </a:r>
          </a:p>
          <a:p>
            <a:r>
              <a:rPr lang="fr-FR" sz="2000" dirty="0"/>
              <a:t>Elle est principalement a craindre chez le sujet âgé.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2800" dirty="0">
                <a:solidFill>
                  <a:schemeClr val="tx2">
                    <a:lumMod val="75000"/>
                  </a:schemeClr>
                </a:solidFill>
              </a:rPr>
              <a:t>C'est quoi la différence entre une </a:t>
            </a:r>
            <a:r>
              <a:rPr lang="fr-FR" sz="2800" dirty="0" err="1">
                <a:solidFill>
                  <a:schemeClr val="tx2">
                    <a:lumMod val="75000"/>
                  </a:schemeClr>
                </a:solidFill>
              </a:rPr>
              <a:t>polyendocrinopathie</a:t>
            </a:r>
            <a:r>
              <a:rPr lang="fr-FR" sz="2800" dirty="0">
                <a:solidFill>
                  <a:schemeClr val="tx2">
                    <a:lumMod val="75000"/>
                  </a:schemeClr>
                </a:solidFill>
              </a:rPr>
              <a:t> de type 1 et une </a:t>
            </a:r>
            <a:r>
              <a:rPr lang="fr-FR" sz="2800" dirty="0" err="1">
                <a:solidFill>
                  <a:schemeClr val="tx2">
                    <a:lumMod val="75000"/>
                  </a:schemeClr>
                </a:solidFill>
              </a:rPr>
              <a:t>polyendocrinopathie</a:t>
            </a:r>
            <a:r>
              <a:rPr lang="fr-FR" sz="2800" dirty="0">
                <a:solidFill>
                  <a:schemeClr val="tx2">
                    <a:lumMod val="75000"/>
                  </a:schemeClr>
                </a:solidFill>
              </a:rPr>
              <a:t> de type 2?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00174"/>
            <a:ext cx="8501123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143108" y="2357430"/>
            <a:ext cx="2857520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786050" y="1928802"/>
            <a:ext cx="4714908" cy="357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428728" y="4071942"/>
            <a:ext cx="6143668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F3BBE-6D1A-6A12-6043-92C78C14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63DE0-C52C-29DD-3C24-154621D4F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tx2"/>
                </a:solidFill>
              </a:rPr>
              <a:t>C'est quoi l'intérêt de remplacer temporairement la LT4 par LT3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4D48B3-FEF3-89A3-FB00-7E84E795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56792"/>
            <a:ext cx="8686800" cy="4968552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l’ hypothyroïdie par – l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triodothyronine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(LT3) indiqué dans la surveillance du cancer papillaire de la thyroïde se caractérise par 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demi vie courte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arrêt de un mois avant une scintigraphie corps entier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indication chez les patients à très haut risque cardiovasculaire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amélioration de la qualité de vie pendant le sevrage du traitement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prise au milieu des repas </a:t>
            </a: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</a:pPr>
            <a:r>
              <a:rPr lang="fr-FR" dirty="0">
                <a:solidFill>
                  <a:schemeClr val="bg1"/>
                </a:solidFill>
              </a:rPr>
              <a:t>ACD</a:t>
            </a:r>
          </a:p>
        </p:txBody>
      </p:sp>
    </p:spTree>
    <p:extLst>
      <p:ext uri="{BB962C8B-B14F-4D97-AF65-F5344CB8AC3E}">
        <p14:creationId xmlns:p14="http://schemas.microsoft.com/office/powerpoint/2010/main" val="20455567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6435F-F15C-C69E-164D-A392E440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7F35E-94BA-F54D-0452-6003983F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3600" dirty="0">
                <a:solidFill>
                  <a:schemeClr val="tx2"/>
                </a:solidFill>
              </a:rPr>
              <a:t>C'est quoi l'intérêt de remplacer temporairement la LT4 par LT3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5A6C1E-4673-5129-D349-0E30CF8C3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56792"/>
            <a:ext cx="8686800" cy="4968552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l’ hypothyroïdie par – l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triodothyronine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(LT3) indiqué dans la surveillance du cancer papillaire de la thyroïde se caractérise par 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demi vie courte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arrêt de un mois avant une scintigraphie corps entier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indication chez les patients à très haut risque cardiovasculaire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amélioration de la qualité de vie pendant le sevrage du traitement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prise au milieu des repas </a:t>
            </a: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UcPeriod"/>
            </a:pP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</a:pPr>
            <a:r>
              <a:rPr lang="fr-FR" dirty="0">
                <a:solidFill>
                  <a:srgbClr val="FF0000"/>
                </a:solidFill>
              </a:rPr>
              <a:t>ACD</a:t>
            </a:r>
          </a:p>
        </p:txBody>
      </p:sp>
    </p:spTree>
    <p:extLst>
      <p:ext uri="{BB962C8B-B14F-4D97-AF65-F5344CB8AC3E}">
        <p14:creationId xmlns:p14="http://schemas.microsoft.com/office/powerpoint/2010/main" val="24933956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fr-FR" sz="3600" dirty="0">
                <a:solidFill>
                  <a:schemeClr val="tx2"/>
                </a:solidFill>
              </a:rPr>
              <a:t>C'est quoi l'intérêt de remplacer temporairement la LT4 par LT3 ? </a:t>
            </a:r>
            <a:endParaRPr lang="fr-FR" sz="36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sz="2000" b="1" i="1" dirty="0"/>
              <a:t> </a:t>
            </a:r>
            <a:r>
              <a:rPr lang="fr-FR" sz="2000" b="1" i="1" dirty="0">
                <a:solidFill>
                  <a:srgbClr val="C00000"/>
                </a:solidFill>
              </a:rPr>
              <a:t>Stimulation des </a:t>
            </a:r>
            <a:r>
              <a:rPr lang="fr-FR" sz="2000" b="1" i="1" dirty="0" err="1">
                <a:solidFill>
                  <a:srgbClr val="C00000"/>
                </a:solidFill>
              </a:rPr>
              <a:t>thyréocytes</a:t>
            </a:r>
            <a:r>
              <a:rPr lang="fr-FR" sz="2000" b="1" i="1" dirty="0">
                <a:solidFill>
                  <a:srgbClr val="C00000"/>
                </a:solidFill>
              </a:rPr>
              <a:t> par sevrage : </a:t>
            </a:r>
          </a:p>
          <a:p>
            <a:pPr algn="just"/>
            <a:r>
              <a:rPr lang="fr-FR" sz="2000" dirty="0"/>
              <a:t>- La préparation par sevrage (TSH &gt; 30 </a:t>
            </a:r>
            <a:r>
              <a:rPr lang="fr-FR" sz="2000" dirty="0" err="1"/>
              <a:t>mU</a:t>
            </a:r>
            <a:r>
              <a:rPr lang="fr-FR" sz="2000" dirty="0"/>
              <a:t> /l) </a:t>
            </a:r>
            <a:r>
              <a:rPr lang="fr-FR" sz="2000" dirty="0">
                <a:sym typeface="Wingdings" pitchFamily="2" charset="2"/>
              </a:rPr>
              <a:t> </a:t>
            </a:r>
            <a:r>
              <a:rPr lang="fr-FR" sz="2000" dirty="0"/>
              <a:t>arrêt de la T4 pendant au moins 4 semaines</a:t>
            </a:r>
          </a:p>
          <a:p>
            <a:pPr algn="just"/>
            <a:r>
              <a:rPr lang="fr-FR" sz="2000" dirty="0"/>
              <a:t>Possibilité de relais par la T3 et arrêt de la T3 pendant 2 semaines</a:t>
            </a:r>
          </a:p>
          <a:p>
            <a:pPr algn="just"/>
            <a:r>
              <a:rPr lang="fr-FR" sz="2000" dirty="0"/>
              <a:t>Reprise du traitement dans les 2 à 4 jours qui suivent la prise de l'iode. </a:t>
            </a:r>
          </a:p>
          <a:p>
            <a:pPr algn="just"/>
            <a:endParaRPr lang="fr-FR" sz="2000" dirty="0"/>
          </a:p>
        </p:txBody>
      </p:sp>
      <p:grpSp>
        <p:nvGrpSpPr>
          <p:cNvPr id="3" name="Groupe 19"/>
          <p:cNvGrpSpPr/>
          <p:nvPr/>
        </p:nvGrpSpPr>
        <p:grpSpPr>
          <a:xfrm>
            <a:off x="1791233" y="3501008"/>
            <a:ext cx="5836517" cy="2356884"/>
            <a:chOff x="1721032" y="3919166"/>
            <a:chExt cx="7782023" cy="2376904"/>
          </a:xfrm>
        </p:grpSpPr>
        <p:sp>
          <p:nvSpPr>
            <p:cNvPr id="21" name="Text Box 80"/>
            <p:cNvSpPr txBox="1">
              <a:spLocks noChangeArrowheads="1"/>
            </p:cNvSpPr>
            <p:nvPr/>
          </p:nvSpPr>
          <p:spPr bwMode="auto">
            <a:xfrm>
              <a:off x="2462395" y="4565278"/>
              <a:ext cx="1361911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660033"/>
                  </a:solidFill>
                  <a:effectLst/>
                  <a:uLnTx/>
                  <a:uFillTx/>
                </a:rPr>
                <a:t>Cynomel</a:t>
              </a:r>
            </a:p>
          </p:txBody>
        </p:sp>
        <p:sp>
          <p:nvSpPr>
            <p:cNvPr id="22" name="Text Box 81"/>
            <p:cNvSpPr txBox="1">
              <a:spLocks noChangeArrowheads="1"/>
            </p:cNvSpPr>
            <p:nvPr/>
          </p:nvSpPr>
          <p:spPr bwMode="auto">
            <a:xfrm>
              <a:off x="1721032" y="4374778"/>
              <a:ext cx="1808616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Arrêt de LT4</a:t>
              </a:r>
            </a:p>
          </p:txBody>
        </p:sp>
        <p:sp>
          <p:nvSpPr>
            <p:cNvPr id="23" name="Line 82"/>
            <p:cNvSpPr>
              <a:spLocks noChangeShapeType="1"/>
            </p:cNvSpPr>
            <p:nvPr/>
          </p:nvSpPr>
          <p:spPr bwMode="auto">
            <a:xfrm>
              <a:off x="2370320" y="4782766"/>
              <a:ext cx="0" cy="10795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Line 83"/>
            <p:cNvSpPr>
              <a:spLocks noChangeShapeType="1"/>
            </p:cNvSpPr>
            <p:nvPr/>
          </p:nvSpPr>
          <p:spPr bwMode="auto">
            <a:xfrm>
              <a:off x="2365560" y="5090741"/>
              <a:ext cx="2597148" cy="4762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Line 84"/>
            <p:cNvSpPr>
              <a:spLocks noChangeShapeType="1"/>
            </p:cNvSpPr>
            <p:nvPr/>
          </p:nvSpPr>
          <p:spPr bwMode="auto">
            <a:xfrm flipH="1">
              <a:off x="5908857" y="4444628"/>
              <a:ext cx="0" cy="144145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Text Box 85"/>
            <p:cNvSpPr txBox="1">
              <a:spLocks noChangeArrowheads="1"/>
            </p:cNvSpPr>
            <p:nvPr/>
          </p:nvSpPr>
          <p:spPr bwMode="auto">
            <a:xfrm>
              <a:off x="3881620" y="3919166"/>
              <a:ext cx="3571917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Administration d’iode 131</a:t>
              </a:r>
            </a:p>
          </p:txBody>
        </p:sp>
        <p:sp>
          <p:nvSpPr>
            <p:cNvPr id="27" name="Text Box 86"/>
            <p:cNvSpPr txBox="1">
              <a:spLocks noChangeArrowheads="1"/>
            </p:cNvSpPr>
            <p:nvPr/>
          </p:nvSpPr>
          <p:spPr bwMode="auto">
            <a:xfrm>
              <a:off x="3881620" y="4132730"/>
              <a:ext cx="3112391" cy="3724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</a:rPr>
                <a:t>Prélèvement pour TSH</a:t>
              </a:r>
            </a:p>
          </p:txBody>
        </p:sp>
        <p:sp>
          <p:nvSpPr>
            <p:cNvPr id="28" name="Line 87"/>
            <p:cNvSpPr>
              <a:spLocks noChangeShapeType="1"/>
            </p:cNvSpPr>
            <p:nvPr/>
          </p:nvSpPr>
          <p:spPr bwMode="auto">
            <a:xfrm>
              <a:off x="2370320" y="5862266"/>
              <a:ext cx="5616575" cy="254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Text Box 89"/>
            <p:cNvSpPr txBox="1">
              <a:spLocks noChangeArrowheads="1"/>
            </p:cNvSpPr>
            <p:nvPr/>
          </p:nvSpPr>
          <p:spPr bwMode="auto">
            <a:xfrm>
              <a:off x="2227445" y="5957516"/>
              <a:ext cx="385149" cy="33855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0</a:t>
              </a:r>
            </a:p>
          </p:txBody>
        </p:sp>
        <p:sp>
          <p:nvSpPr>
            <p:cNvPr id="30" name="Text Box 90"/>
            <p:cNvSpPr txBox="1">
              <a:spLocks noChangeArrowheads="1"/>
            </p:cNvSpPr>
            <p:nvPr/>
          </p:nvSpPr>
          <p:spPr bwMode="auto">
            <a:xfrm>
              <a:off x="5714474" y="5857892"/>
              <a:ext cx="1646177" cy="3724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kern="0" dirty="0">
                  <a:solidFill>
                    <a:sysClr val="windowText" lastClr="000000"/>
                  </a:solidFill>
                </a:rPr>
                <a:t>4</a:t>
              </a:r>
              <a:r>
                <a: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semaines</a:t>
              </a:r>
            </a:p>
          </p:txBody>
        </p:sp>
        <p:sp>
          <p:nvSpPr>
            <p:cNvPr id="31" name="Line 92"/>
            <p:cNvSpPr>
              <a:spLocks noChangeShapeType="1"/>
            </p:cNvSpPr>
            <p:nvPr/>
          </p:nvSpPr>
          <p:spPr bwMode="auto">
            <a:xfrm>
              <a:off x="5892982" y="5357441"/>
              <a:ext cx="12969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Text Box 93"/>
            <p:cNvSpPr txBox="1">
              <a:spLocks noChangeArrowheads="1"/>
            </p:cNvSpPr>
            <p:nvPr/>
          </p:nvSpPr>
          <p:spPr bwMode="auto">
            <a:xfrm>
              <a:off x="7621770" y="4782766"/>
              <a:ext cx="1881285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</a:rPr>
                <a:t>scintigraphie</a:t>
              </a:r>
            </a:p>
          </p:txBody>
        </p:sp>
        <p:sp>
          <p:nvSpPr>
            <p:cNvPr id="33" name="Line 94"/>
            <p:cNvSpPr>
              <a:spLocks noChangeShapeType="1"/>
            </p:cNvSpPr>
            <p:nvPr/>
          </p:nvSpPr>
          <p:spPr bwMode="auto">
            <a:xfrm>
              <a:off x="7189970" y="4422403"/>
              <a:ext cx="0" cy="1439863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Line 95"/>
            <p:cNvSpPr>
              <a:spLocks noChangeShapeType="1"/>
            </p:cNvSpPr>
            <p:nvPr/>
          </p:nvSpPr>
          <p:spPr bwMode="auto">
            <a:xfrm>
              <a:off x="4962706" y="5095503"/>
              <a:ext cx="87312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Text Box 96"/>
            <p:cNvSpPr txBox="1">
              <a:spLocks noChangeArrowheads="1"/>
            </p:cNvSpPr>
            <p:nvPr/>
          </p:nvSpPr>
          <p:spPr bwMode="auto">
            <a:xfrm>
              <a:off x="4602345" y="4565278"/>
              <a:ext cx="1250769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0" cap="none" spc="0" normalizeH="0" baseline="0" noProof="0">
                  <a:ln>
                    <a:noFill/>
                  </a:ln>
                  <a:solidFill>
                    <a:srgbClr val="660033"/>
                  </a:solidFill>
                  <a:effectLst/>
                  <a:uLnTx/>
                  <a:uFillTx/>
                </a:rPr>
                <a:t>Sevrage</a:t>
              </a:r>
            </a:p>
          </p:txBody>
        </p:sp>
        <p:sp>
          <p:nvSpPr>
            <p:cNvPr id="36" name="Line 102"/>
            <p:cNvSpPr>
              <a:spLocks noChangeShapeType="1"/>
            </p:cNvSpPr>
            <p:nvPr/>
          </p:nvSpPr>
          <p:spPr bwMode="auto">
            <a:xfrm>
              <a:off x="5897745" y="5384428"/>
              <a:ext cx="129698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>
              <a:off x="5897745" y="5384428"/>
              <a:ext cx="129698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 Box 105"/>
            <p:cNvSpPr txBox="1">
              <a:spLocks noChangeArrowheads="1"/>
            </p:cNvSpPr>
            <p:nvPr/>
          </p:nvSpPr>
          <p:spPr bwMode="auto">
            <a:xfrm>
              <a:off x="6042207" y="4854203"/>
              <a:ext cx="1096881" cy="36933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5 jours</a:t>
              </a:r>
            </a:p>
          </p:txBody>
        </p:sp>
        <p:sp>
          <p:nvSpPr>
            <p:cNvPr id="39" name="Line 84"/>
            <p:cNvSpPr>
              <a:spLocks noChangeShapeType="1"/>
            </p:cNvSpPr>
            <p:nvPr/>
          </p:nvSpPr>
          <p:spPr bwMode="auto">
            <a:xfrm flipH="1">
              <a:off x="4945156" y="5132108"/>
              <a:ext cx="90" cy="74500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Text Box 90"/>
            <p:cNvSpPr txBox="1">
              <a:spLocks noChangeArrowheads="1"/>
            </p:cNvSpPr>
            <p:nvPr/>
          </p:nvSpPr>
          <p:spPr bwMode="auto">
            <a:xfrm>
              <a:off x="4193239" y="5853302"/>
              <a:ext cx="1646177" cy="3724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kern="0" dirty="0">
                  <a:solidFill>
                    <a:sysClr val="windowText" lastClr="000000"/>
                  </a:solidFill>
                </a:rPr>
                <a:t>2</a:t>
              </a:r>
              <a:r>
                <a:rPr kumimoji="0" lang="fr-FR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semaines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138336" y="5771148"/>
            <a:ext cx="8867328" cy="861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dirty="0"/>
              <a:t>Améliorer la qualité de vie pendant le sevrage</a:t>
            </a:r>
          </a:p>
          <a:p>
            <a:r>
              <a:rPr lang="fr-FR" sz="3200" dirty="0"/>
              <a:t>En cas de très haut risque cardiovasculaire </a:t>
            </a:r>
          </a:p>
        </p:txBody>
      </p:sp>
    </p:spTree>
    <p:extLst>
      <p:ext uri="{BB962C8B-B14F-4D97-AF65-F5344CB8AC3E}">
        <p14:creationId xmlns:p14="http://schemas.microsoft.com/office/powerpoint/2010/main" val="340773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fr-FR" sz="2000" b="1" dirty="0">
                <a:solidFill>
                  <a:schemeClr val="tx2"/>
                </a:solidFill>
              </a:rPr>
              <a:t>Est-ce que le but de réaliser une scintigraphie corps entier, sous stimulation par la TSH chez les sujets ayant subi une thyroïdectomie totale pour cancer thyroïdien est de chercher des métastases 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Rechercher une maladie persistante locorégionale </a:t>
            </a:r>
          </a:p>
          <a:p>
            <a:r>
              <a:rPr lang="fr-FR" dirty="0"/>
              <a:t>Ou bien des métastases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34996-52CB-F9B2-7D42-26398C574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79339"/>
            <a:ext cx="8572500" cy="556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éléments suivants, ceux qui sont en faveur </a:t>
            </a:r>
          </a:p>
          <a:p>
            <a:pPr>
              <a:lnSpc>
                <a:spcPct val="150000"/>
              </a:lnSpc>
              <a:defRPr/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thyroïdite de Hashimoto sont : </a:t>
            </a:r>
          </a:p>
          <a:p>
            <a:pPr>
              <a:lnSpc>
                <a:spcPct val="150000"/>
              </a:lnSpc>
              <a:defRPr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A-Goitre hypoéchogène hétérogène à l’échographie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B-Taux élevés de TSH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C-Anticorps anti-peroxydase fortement positifs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D-La</a:t>
            </a: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Scintigraphie est nécessaire au diagnostic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E-Anticorps anti-récepteur de TSH fortement positifs</a:t>
            </a:r>
          </a:p>
          <a:p>
            <a:pPr lvl="1">
              <a:lnSpc>
                <a:spcPct val="150000"/>
              </a:lnSpc>
              <a:defRPr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r">
              <a:lnSpc>
                <a:spcPct val="150000"/>
              </a:lnSpc>
              <a:defRPr/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 </a:t>
            </a:r>
          </a:p>
        </p:txBody>
      </p:sp>
    </p:spTree>
    <p:extLst>
      <p:ext uri="{BB962C8B-B14F-4D97-AF65-F5344CB8AC3E}">
        <p14:creationId xmlns:p14="http://schemas.microsoft.com/office/powerpoint/2010/main" val="10172702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934996-52CB-F9B2-7D42-26398C574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476672"/>
            <a:ext cx="8572500" cy="556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éléments suivants, ceux qui sont en faveur </a:t>
            </a:r>
          </a:p>
          <a:p>
            <a:pPr>
              <a:lnSpc>
                <a:spcPct val="150000"/>
              </a:lnSpc>
              <a:defRPr/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thyroïdite de Hashimoto sont : </a:t>
            </a:r>
          </a:p>
          <a:p>
            <a:pPr>
              <a:lnSpc>
                <a:spcPct val="150000"/>
              </a:lnSpc>
              <a:defRPr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A-Goitre hypoéchogène hétérogène à l’échographie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B-Taux élevés de TSH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C-Anticorps anti-peroxydase fortement positifs 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alt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D-La</a:t>
            </a: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Scintigraphie est nécessaire au diagnostic</a:t>
            </a:r>
          </a:p>
          <a:p>
            <a:pPr lvl="1">
              <a:lnSpc>
                <a:spcPct val="150000"/>
              </a:lnSpc>
              <a:defRPr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E-Anticorps anti-récepteur de TSH fortement positifs</a:t>
            </a:r>
          </a:p>
          <a:p>
            <a:pPr lvl="1">
              <a:lnSpc>
                <a:spcPct val="150000"/>
              </a:lnSpc>
              <a:defRPr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r">
              <a:lnSpc>
                <a:spcPct val="150000"/>
              </a:lnSpc>
              <a:defRPr/>
            </a:pPr>
            <a:r>
              <a:rPr lang="fr-FR" alt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</a:t>
            </a:r>
          </a:p>
        </p:txBody>
      </p:sp>
    </p:spTree>
    <p:extLst>
      <p:ext uri="{BB962C8B-B14F-4D97-AF65-F5344CB8AC3E}">
        <p14:creationId xmlns:p14="http://schemas.microsoft.com/office/powerpoint/2010/main" val="3501782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1A5390-EDBC-E40D-CDDA-37F89396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AC146E-72EB-6761-182E-F702CF1C0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goitre au cours de la thyroïdite de Hashimoto est 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Douloureux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 nodulaire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Élastique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Compressif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Hétérogène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/>
          </a:p>
          <a:p>
            <a:pPr marL="800100" lvl="2" indent="0" algn="r">
              <a:buNone/>
            </a:pPr>
            <a:r>
              <a:rPr lang="fr-FR" sz="3200" b="1" dirty="0">
                <a:solidFill>
                  <a:schemeClr val="bg1"/>
                </a:solidFill>
              </a:rPr>
              <a:t>BE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80338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55A8-EBCF-90C7-8BA8-9B4FAABF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61397-B4F8-8187-02C8-89EFEDFF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20C954-CBC1-805D-1E70-53C74A9C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goitre au cours de la thyroïdite de Hashimoto est 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Douloureux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 nodulaire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Élastique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Compressif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Hétérogène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/>
          </a:p>
          <a:p>
            <a:pPr marL="800100" lvl="2" indent="0" algn="r">
              <a:buNone/>
            </a:pPr>
            <a:r>
              <a:rPr lang="fr-FR" sz="3200" b="1" dirty="0">
                <a:solidFill>
                  <a:srgbClr val="FF0000"/>
                </a:solidFill>
              </a:rPr>
              <a:t>BE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9693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F1AFE5-5086-C867-4102-8AF56C3B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thyroïdite de Hashimoto est caractérisée par l'atrophie thyroïdienne ou la présence d'un goitre ?</a:t>
            </a:r>
            <a:endParaRPr lang="fr-FR" sz="5400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E1B075-3865-DD01-0D63-78D10A69E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lnSpc>
                <a:spcPct val="150000"/>
              </a:lnSpc>
            </a:pPr>
            <a:r>
              <a:rPr lang="fr-FR" sz="2400" dirty="0">
                <a:latin typeface="TimesNewRomanPSMT"/>
              </a:rPr>
              <a:t>Il existe deux formes :</a:t>
            </a:r>
          </a:p>
          <a:p>
            <a:pPr lvl="1">
              <a:lnSpc>
                <a:spcPct val="150000"/>
              </a:lnSpc>
            </a:pPr>
            <a:r>
              <a:rPr lang="fr-FR" sz="2000" dirty="0">
                <a:latin typeface="TimesNewRomanPSMT"/>
              </a:rPr>
              <a:t>Thyroïdite lymphocytaire chronique atrophique ou </a:t>
            </a:r>
            <a:r>
              <a:rPr lang="fr-FR" sz="2000" dirty="0" err="1">
                <a:latin typeface="TimesNewRomanPSMT"/>
              </a:rPr>
              <a:t>myxoedème</a:t>
            </a:r>
            <a:r>
              <a:rPr lang="fr-FR" sz="2000" dirty="0">
                <a:latin typeface="TimesNewRomanPSMT"/>
              </a:rPr>
              <a:t> primitif: Thyroïdite de Hashimoto dans sa forme atrophique .</a:t>
            </a:r>
          </a:p>
          <a:p>
            <a:pPr lvl="1">
              <a:lnSpc>
                <a:spcPct val="150000"/>
              </a:lnSpc>
            </a:pPr>
            <a:r>
              <a:rPr lang="fr-FR" sz="2000" dirty="0">
                <a:latin typeface="TimesNewRomanPSMT"/>
              </a:rPr>
              <a:t>Thyroïdite lymphocytaire chronique de Hashimoto dans sa forme avec goitre </a:t>
            </a:r>
            <a:r>
              <a:rPr lang="fr-FR" sz="2000" dirty="0">
                <a:latin typeface="TimesNewRomanPSMT"/>
                <a:sym typeface="Wingdings" panose="05000000000000000000" pitchFamily="2" charset="2"/>
              </a:rPr>
              <a:t></a:t>
            </a:r>
            <a:r>
              <a:rPr lang="fr-FR" sz="2000" dirty="0">
                <a:latin typeface="TimesNewRomanPSMT"/>
              </a:rPr>
              <a:t> C’est la pathologie thyroïdienne la plus fréquente</a:t>
            </a:r>
          </a:p>
          <a:p>
            <a:pPr lvl="1">
              <a:lnSpc>
                <a:spcPct val="150000"/>
              </a:lnSpc>
            </a:pPr>
            <a:endParaRPr lang="fr-FR" sz="1000" dirty="0">
              <a:latin typeface="TimesNewRomanPSMT"/>
            </a:endParaRPr>
          </a:p>
          <a:p>
            <a:pPr algn="l">
              <a:lnSpc>
                <a:spcPct val="150000"/>
              </a:lnSpc>
            </a:pPr>
            <a:r>
              <a:rPr lang="fr-FR" sz="2400" b="0" i="0" u="none" strike="noStrike" baseline="0" dirty="0">
                <a:latin typeface="TimesNewRomanPSMT"/>
              </a:rPr>
              <a:t>Elle est évoquée en présence d’un </a:t>
            </a:r>
            <a:r>
              <a:rPr lang="fr-FR" sz="2400" b="1" i="0" u="none" strike="noStrike" baseline="0" dirty="0">
                <a:solidFill>
                  <a:schemeClr val="accent6">
                    <a:lumMod val="50000"/>
                  </a:schemeClr>
                </a:solidFill>
                <a:latin typeface="TimesNewRomanPSMT"/>
              </a:rPr>
              <a:t>petit goitre constant, diffus, parfois asymétrique, indolore, de volume modéré, de consistance ferme, non compressif, hétérogène, parfois pseudo nodulaire</a:t>
            </a:r>
            <a:endParaRPr lang="fr-F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0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D214EEF-CD3C-8A96-41D4-B2F48DA9F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795338"/>
            <a:ext cx="7200801" cy="556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avec goitre se voit en cas de:</a:t>
            </a:r>
          </a:p>
          <a:p>
            <a:pPr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A- Carence iodée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B- Thyroïdite de Hashimoto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C- Hypothyroïdie centrale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D- Thyroïdite du post partum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E- Après radiothérapie cervicale</a:t>
            </a:r>
          </a:p>
          <a:p>
            <a:pPr lvl="1"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r">
              <a:lnSpc>
                <a:spcPct val="150000"/>
              </a:lnSpc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D214EEF-CD3C-8A96-41D4-B2F48DA9F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795338"/>
            <a:ext cx="7200801" cy="5728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avec goitre se voit en cas de:</a:t>
            </a:r>
          </a:p>
          <a:p>
            <a:pPr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A- Carence iodée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B- Thyroïdite de Hashimoto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C- Hypothyroïdie centrale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D- Thyroïdite du post partum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E- Après radiothérapie cervicale</a:t>
            </a:r>
          </a:p>
          <a:p>
            <a:pPr lvl="1"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r">
              <a:lnSpc>
                <a:spcPct val="150000"/>
              </a:lnSpc>
            </a:pPr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  <a:endParaRPr lang="fr-FR" alt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728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C7B21-1323-FB4C-487B-B9E0B109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20B43D-0448-FE34-D23E-923688AE8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3200" b="1" i="0" u="none" strike="noStrike" baseline="0" dirty="0">
                <a:latin typeface="TimesNewRomanPSMT"/>
              </a:rPr>
              <a:t>La prévalence de la thyroïdite du post-partum (TPP) est plus élevée chez les femmes: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Multipares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Diabétiques de type 1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Porteuses d'anticorps en début de grossesse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Fumeuses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Agée de plus de 25 ans</a:t>
            </a:r>
          </a:p>
          <a:p>
            <a:pPr marL="800100" lvl="2" indent="0" algn="r">
              <a:buNone/>
            </a:pPr>
            <a:r>
              <a:rPr lang="fr-FR" sz="2800" dirty="0"/>
              <a:t> </a:t>
            </a:r>
          </a:p>
          <a:p>
            <a:pPr marL="800100" lvl="2" indent="0" algn="r">
              <a:buNone/>
            </a:pPr>
            <a:r>
              <a:rPr lang="fr-FR" sz="2800" dirty="0">
                <a:solidFill>
                  <a:schemeClr val="bg1"/>
                </a:solidFill>
              </a:rPr>
              <a:t>BCD</a:t>
            </a:r>
          </a:p>
        </p:txBody>
      </p:sp>
    </p:spTree>
    <p:extLst>
      <p:ext uri="{BB962C8B-B14F-4D97-AF65-F5344CB8AC3E}">
        <p14:creationId xmlns:p14="http://schemas.microsoft.com/office/powerpoint/2010/main" val="12036460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7468-6F86-A727-9DEB-BDCBDEE4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329F2-4278-638F-E8BD-B0A0C7A3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C2D8CD-2918-51AA-9C33-1273D1BC6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3200" b="1" i="0" u="none" strike="noStrike" baseline="0" dirty="0">
                <a:latin typeface="TimesNewRomanPSMT"/>
              </a:rPr>
              <a:t>La prévalence de la thyroïdite du post-partum (TPP) est plus élevée chez les femmes: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Multipares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Diabétiques de type 1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Porteuses d'anticorps en début de grossesse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Fumeuses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/>
              <a:t>Agée de plus de 25 ans</a:t>
            </a:r>
          </a:p>
          <a:p>
            <a:pPr marL="800100" lvl="2" indent="0" algn="r">
              <a:buNone/>
            </a:pPr>
            <a:r>
              <a:rPr lang="fr-FR" sz="2800" dirty="0"/>
              <a:t> </a:t>
            </a:r>
          </a:p>
          <a:p>
            <a:pPr marL="800100" lvl="2" indent="0" algn="r">
              <a:buNone/>
            </a:pPr>
            <a:r>
              <a:rPr lang="fr-FR" sz="2800" dirty="0">
                <a:solidFill>
                  <a:srgbClr val="FF0000"/>
                </a:solidFill>
              </a:rPr>
              <a:t>BCD</a:t>
            </a:r>
          </a:p>
        </p:txBody>
      </p:sp>
    </p:spTree>
    <p:extLst>
      <p:ext uri="{BB962C8B-B14F-4D97-AF65-F5344CB8AC3E}">
        <p14:creationId xmlns:p14="http://schemas.microsoft.com/office/powerpoint/2010/main" val="2741398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C1485A2-2D48-7A64-6866-3EFB5FF7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80BCC86-5C62-5B39-EFFC-3E8A1D61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thyroïdite de De Quervain est évoquée devant: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 douloureux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Survenue après un épisode d'une affection virale des voies respiratoires supérieures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Positivité des anticorps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anti-TPO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phase d'hypothyroïdie qui succède une phase de thyrotoxicose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supérieur à 40 ans 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r">
              <a:buNone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/>
          </a:p>
          <a:p>
            <a:pPr marL="971550" lvl="1" indent="-514350">
              <a:buFont typeface="+mj-lt"/>
              <a:buAutoNum type="alphaUcPeriod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90240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F2DF-150F-0DFA-1988-C80C1AB1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F6BB7A5-BB6A-4D41-1A66-FE695D82D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1F7102D-1DD7-33DA-75DA-70F946038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thyroïdite de De Quervain est évoquée devant: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 douloureux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Survenue après un épisode d'une affection virale des voies respiratoires supérieures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Positivité des anticorps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anti-TPO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phase d'hypothyroïdie qui succède une phase de thyrotoxicose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supérieur à 40 ans 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r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</a:p>
          <a:p>
            <a:pPr marL="971550" lvl="1" indent="-514350">
              <a:buFont typeface="+mj-lt"/>
              <a:buAutoNum type="alphaUcPeriod"/>
            </a:pPr>
            <a:endParaRPr lang="fr-FR" sz="2400" dirty="0"/>
          </a:p>
          <a:p>
            <a:pPr marL="971550" lvl="1" indent="-514350">
              <a:buFont typeface="+mj-lt"/>
              <a:buAutoNum type="alphaUcPeriod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275892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C0DE-2FA6-D0F3-9986-8B146AFC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21459CF4-A55A-8C5C-0D7B-67C341CE0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04664"/>
            <a:ext cx="8280919" cy="5728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étiologies de l’ hypothyroïdie, quelles sont celles qui peuvent se compliquer d’une infiltration myxœdémateuse en l’absence de traitement:</a:t>
            </a: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A- Post thyroïdectomie totale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B- Thyroïdite de Hashimoto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C- Après radiothérapie hypophysaire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D- Panhypopituitarisme secondaire à un macroadénome hypophysaire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E- Après radiothérapie cervicale</a:t>
            </a:r>
          </a:p>
          <a:p>
            <a:pPr lvl="1" algn="r">
              <a:lnSpc>
                <a:spcPct val="150000"/>
              </a:lnSpc>
            </a:pPr>
            <a:r>
              <a:rPr lang="fr-FR" alt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</a:t>
            </a:r>
            <a:endParaRPr lang="fr-FR" alt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4E1EC-896F-4ED1-1737-6D621316532B}"/>
              </a:ext>
            </a:extLst>
          </p:cNvPr>
          <p:cNvSpPr/>
          <p:nvPr/>
        </p:nvSpPr>
        <p:spPr>
          <a:xfrm>
            <a:off x="10188624" y="2564904"/>
            <a:ext cx="2376264" cy="1440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96572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E5CB-0446-8FE3-74B8-57A69B97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826BBD7C-3459-3363-F793-7500AA2E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04664"/>
            <a:ext cx="8280919" cy="5728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étiologies de l’ hypothyroïdie, quelles sont celles qui peuvent se compliquer d’une infiltration myxœdémateuse en l’absence de traitement:</a:t>
            </a: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A- Post thyroïdectomie totale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B- Thyroïdite de Hashimoto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C- Après radiothérapie hypophysaire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D- Panhypopituitarisme secondaire à un macroadénome hypophysaire </a:t>
            </a:r>
          </a:p>
          <a:p>
            <a:pPr lvl="1"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E- Après radiothérapie cervicale</a:t>
            </a:r>
          </a:p>
          <a:p>
            <a:pPr lvl="1" algn="r">
              <a:lnSpc>
                <a:spcPct val="150000"/>
              </a:lnSpc>
            </a:pPr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</a:t>
            </a:r>
            <a:endParaRPr lang="fr-FR" alt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A58742-2CE9-30B9-9848-CEEEBAB90C4D}"/>
              </a:ext>
            </a:extLst>
          </p:cNvPr>
          <p:cNvSpPr/>
          <p:nvPr/>
        </p:nvSpPr>
        <p:spPr>
          <a:xfrm>
            <a:off x="10188624" y="2564904"/>
            <a:ext cx="2376264" cy="1440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9530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42B76-0A4A-1CE7-F19E-A12ED39F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Hypothyroïdies centrales : insuffisance thyréotrope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9A9945-2034-E402-36CB-AB9321BCD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400" dirty="0"/>
              <a:t>L'infiltration myxoedémateuse et le goitre sont absents</a:t>
            </a:r>
          </a:p>
        </p:txBody>
      </p:sp>
    </p:spTree>
    <p:extLst>
      <p:ext uri="{BB962C8B-B14F-4D97-AF65-F5344CB8AC3E}">
        <p14:creationId xmlns:p14="http://schemas.microsoft.com/office/powerpoint/2010/main" val="16900495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498DEA-5651-819C-F6E0-45D534EB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cas d’une hypothyroïdie centrale Le diagnostic positif repose sur 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normale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basse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normale et TSH basse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normale et TSH élevée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modérément élevée</a:t>
            </a:r>
          </a:p>
          <a:p>
            <a:pPr marL="1314450" lvl="2" indent="-514350">
              <a:buFont typeface="+mj-lt"/>
              <a:buAutoNum type="alphaUcPeriod"/>
            </a:pPr>
            <a:endParaRPr lang="fr-FR" sz="2800" dirty="0"/>
          </a:p>
          <a:p>
            <a:pPr marL="1314450" lvl="2" indent="-514350">
              <a:buFont typeface="+mj-lt"/>
              <a:buAutoNum type="alphaUcPeriod"/>
            </a:pPr>
            <a:endParaRPr lang="fr-FR" sz="2800" dirty="0"/>
          </a:p>
          <a:p>
            <a:pPr marL="800100" lvl="2" indent="0" algn="r">
              <a:buNone/>
            </a:pPr>
            <a:r>
              <a:rPr lang="fr-FR" sz="3200" b="1" dirty="0">
                <a:solidFill>
                  <a:schemeClr val="bg1"/>
                </a:solidFill>
              </a:rPr>
              <a:t>ABE</a:t>
            </a:r>
          </a:p>
        </p:txBody>
      </p:sp>
    </p:spTree>
    <p:extLst>
      <p:ext uri="{BB962C8B-B14F-4D97-AF65-F5344CB8AC3E}">
        <p14:creationId xmlns:p14="http://schemas.microsoft.com/office/powerpoint/2010/main" val="1663401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207F-3E08-D41B-4398-46D07353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97DEF-B428-9A5C-94F9-20C1E713C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cas d’une hypothyroïdie centrale Le diagnostic positif repose sur 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normale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basse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normale et TSH basse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normale et TSH élevée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FT4 basse et TSH modérément élevée</a:t>
            </a:r>
          </a:p>
          <a:p>
            <a:pPr marL="1314450" lvl="2" indent="-514350">
              <a:buFont typeface="+mj-lt"/>
              <a:buAutoNum type="alphaUcPeriod"/>
            </a:pPr>
            <a:endParaRPr lang="fr-FR" sz="2800" dirty="0"/>
          </a:p>
          <a:p>
            <a:pPr marL="1314450" lvl="2" indent="-514350">
              <a:buFont typeface="+mj-lt"/>
              <a:buAutoNum type="alphaUcPeriod"/>
            </a:pPr>
            <a:endParaRPr lang="fr-FR" sz="2800" dirty="0"/>
          </a:p>
          <a:p>
            <a:pPr marL="800100" lvl="2" indent="0" algn="r">
              <a:buNone/>
            </a:pPr>
            <a:r>
              <a:rPr lang="fr-FR" sz="3200" b="1" dirty="0">
                <a:solidFill>
                  <a:srgbClr val="FF0000"/>
                </a:solidFill>
              </a:rPr>
              <a:t>ABE</a:t>
            </a:r>
          </a:p>
        </p:txBody>
      </p:sp>
    </p:spTree>
    <p:extLst>
      <p:ext uri="{BB962C8B-B14F-4D97-AF65-F5344CB8AC3E}">
        <p14:creationId xmlns:p14="http://schemas.microsoft.com/office/powerpoint/2010/main" val="22349118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405EB5-5472-443E-6E0E-8E5D43452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08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a été diagnostiquée chez une patiente âgée de 50, compliquée de rhabdomyolyse et une hypercholestérolémie. La CAT est :</a:t>
            </a:r>
          </a:p>
          <a:p>
            <a:pPr marL="0" indent="0"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L-thyroxine avec les statines en même temps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L-thyroxine en premier lieu puis les statines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statine en premier lieu puis L-thyroxine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Traiter l’ hypercholestérolémie par fibrates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Traiter l’ hypercholestérolémie si elle persiste après l’obtention de l’ euthyroïdie </a:t>
            </a:r>
          </a:p>
          <a:p>
            <a:pPr marL="85725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r">
              <a:buNone/>
            </a:pP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</a:p>
        </p:txBody>
      </p:sp>
    </p:spTree>
    <p:extLst>
      <p:ext uri="{BB962C8B-B14F-4D97-AF65-F5344CB8AC3E}">
        <p14:creationId xmlns:p14="http://schemas.microsoft.com/office/powerpoint/2010/main" val="28232752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8FE6-34E4-5FDF-67CE-F20EBAEA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CAB957-3EC4-5169-FD1B-7D1399FA0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72608"/>
          </a:xfrm>
        </p:spPr>
        <p:txBody>
          <a:bodyPr>
            <a:norm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a été diagnostiquée chez une patiente âgée de 50, compliquée de rhabdomyolyse et une hypercholestérolémie. La CAT est :</a:t>
            </a:r>
          </a:p>
          <a:p>
            <a:pPr marL="0" indent="0"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L-thyroxine avec les statines en même temps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L-thyroxine en premier lieu puis les statines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Initier le traitement par statine en premier lieu puis L-thyroxine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Traiter l’ hypercholestérolémie par fibrates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Traiter l’ hypercholestérolémie si elle persiste après l’obtention de l’ euthyroïdie </a:t>
            </a:r>
          </a:p>
          <a:p>
            <a:pPr marL="85725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050BCC-CCCE-26E0-7674-4DFBB312D8B3}"/>
              </a:ext>
            </a:extLst>
          </p:cNvPr>
          <p:cNvSpPr txBox="1"/>
          <p:nvPr/>
        </p:nvSpPr>
        <p:spPr>
          <a:xfrm>
            <a:off x="457200" y="5085184"/>
            <a:ext cx="70671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La rhabdomyolyse est une CI au traitement par statine</a:t>
            </a:r>
          </a:p>
          <a:p>
            <a:r>
              <a:rPr lang="fr-FR" sz="2400" dirty="0">
                <a:solidFill>
                  <a:srgbClr val="FF0000"/>
                </a:solidFill>
              </a:rPr>
              <a:t>CPK&gt; 4X </a:t>
            </a:r>
            <a:r>
              <a:rPr lang="fr-FR" sz="2400" dirty="0" err="1">
                <a:solidFill>
                  <a:srgbClr val="FF0000"/>
                </a:solidFill>
              </a:rPr>
              <a:t>nl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39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C85BA4-2A55-B21A-8F91-461930DA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d’ hypothyroïdie périphérique, ces complications peuvent régresser sous opothérapie: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 auditives et visuelles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Encéphalopathie de Hashimoto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coronarienne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artérielle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Syndrome d’ apnée de sommeil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84455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5507-1909-38E6-A1C5-18B4A07E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0AF38-E5E4-EA9F-65BC-9BA5914F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d’ hypothyroïdie périphérique, ces complications peuvent régresser sous opothérapie: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 auditives et visuelles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Encéphalopathie de Hashimoto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coronarienne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artérielle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Syndrome d’ apnée de sommeil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/>
          </a:p>
          <a:p>
            <a:pPr marL="914400" lvl="2" indent="0" algn="r">
              <a:buNone/>
            </a:pPr>
            <a:r>
              <a:rPr lang="fr-FR" sz="3200" b="1" dirty="0">
                <a:solidFill>
                  <a:srgbClr val="FF0000"/>
                </a:solidFill>
              </a:rPr>
              <a:t>ADE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155036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2FEEE-4203-8644-1812-E73980691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976664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595"/>
              </a:spcAft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Chez une femme de 71 ans qui présente une hypothyroïdie, on évoque chez 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elle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coma myxœdémateux devant :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déshydratation 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hypercapnie 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hypoxie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agitation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hypothermie </a:t>
            </a:r>
          </a:p>
          <a:p>
            <a:pPr marL="514350" indent="-514350" algn="just">
              <a:spcAft>
                <a:spcPts val="595"/>
              </a:spcAft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spcAft>
                <a:spcPts val="595"/>
              </a:spcAft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05519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55DD-B6E2-4BDD-B4AA-03B22951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C9EC03-2ED6-F4F8-9502-6490EC753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976664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595"/>
              </a:spcAft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Chez une femme de 71 ans qui présente une hypothyroïdie, on évoque chez 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elle</a:t>
            </a: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 coma myxœdémateux devant :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déshydratation 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hypercapnie 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hypoxie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agitation</a:t>
            </a:r>
          </a:p>
          <a:p>
            <a:pPr marL="1314450" lvl="2" indent="-514350" algn="just">
              <a:spcAft>
                <a:spcPts val="595"/>
              </a:spcAft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hypothermie </a:t>
            </a:r>
          </a:p>
          <a:p>
            <a:pPr marL="514350" indent="-514350" algn="just">
              <a:spcAft>
                <a:spcPts val="595"/>
              </a:spcAft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spcAft>
                <a:spcPts val="595"/>
              </a:spcAft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02581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7045E9-DC49-C143-8788-D9348E05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b="1" i="0" u="none" strike="noStrike" baseline="0" dirty="0">
                <a:latin typeface="TimesNewRomanPS-BoldMT"/>
              </a:rPr>
              <a:t>Coma myxœdémateux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EB280F-9978-99A1-36F8-695F3C38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Il est évoqué devant l’installation d’un coma calme avec: </a:t>
            </a:r>
          </a:p>
          <a:p>
            <a:pPr lvl="1"/>
            <a:r>
              <a:rPr lang="fr-FR" dirty="0"/>
              <a:t>une hypothermie centrale sévère et une défaillance cardio-pulmonaire avec les signes classiques d'hypothyroïdie sont présents.</a:t>
            </a:r>
          </a:p>
          <a:p>
            <a:pPr lvl="1"/>
            <a:r>
              <a:rPr lang="fr-FR" dirty="0"/>
              <a:t>Une hyponatrémie sévère (&lt; 120 </a:t>
            </a:r>
            <a:r>
              <a:rPr lang="fr-FR" dirty="0" err="1"/>
              <a:t>mmol</a:t>
            </a:r>
            <a:r>
              <a:rPr lang="fr-FR" dirty="0"/>
              <a:t>/l), une hypoxie, </a:t>
            </a:r>
            <a:r>
              <a:rPr lang="fr-FR" dirty="0">
                <a:solidFill>
                  <a:srgbClr val="FF0000"/>
                </a:solidFill>
              </a:rPr>
              <a:t>une hypercapnie</a:t>
            </a:r>
            <a:r>
              <a:rPr lang="fr-FR" dirty="0"/>
              <a:t>, une augmentation des enzymes musculaires (CPK et LDH), une hypoglycémie et une anémie.</a:t>
            </a:r>
          </a:p>
          <a:p>
            <a:r>
              <a:rPr lang="fr-FR" dirty="0"/>
              <a:t>La prise en charge doit se faire en urgence, en unité de soins intensifs. </a:t>
            </a:r>
          </a:p>
        </p:txBody>
      </p:sp>
    </p:spTree>
    <p:extLst>
      <p:ext uri="{BB962C8B-B14F-4D97-AF65-F5344CB8AC3E}">
        <p14:creationId xmlns:p14="http://schemas.microsoft.com/office/powerpoint/2010/main" val="14753192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A969-5786-2424-D020-99C72B92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AB339-6AB6-2367-9D39-BFE8D598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8DFEAA-58AD-B241-715D-87EA2776E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500"/>
              </a:spcBef>
              <a:buNone/>
            </a:pP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coma myxœdémateux peut être favorisé par :</a:t>
            </a: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A. Anesthésie générale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B. Prise d’ amiodarone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C. Tabac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D. Arrêt intempestif du traitement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E. Corticothérapie</a:t>
            </a:r>
            <a:endParaRPr lang="fr-FR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r">
              <a:lnSpc>
                <a:spcPct val="115000"/>
              </a:lnSpc>
              <a:buNone/>
            </a:pPr>
            <a:r>
              <a:rPr lang="fr-FR" sz="3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</a:t>
            </a:r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8978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0095-D3F6-8AEF-2B64-ACB98DD0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AA281-6770-B440-F394-834E4C8A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C12050-E378-2DBB-4B9E-94AED186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spcBef>
                <a:spcPts val="500"/>
              </a:spcBef>
              <a:buNone/>
            </a:pP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coma myxœdémateux peut être favorisé par :</a:t>
            </a:r>
            <a:endParaRPr lang="fr-FR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A. Anesthésie générale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B. Prise d’ amiodarone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C. Tabac 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D. Arrêt intempestif du traitement</a:t>
            </a:r>
            <a:endParaRPr lang="fr-FR" sz="2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just">
              <a:lnSpc>
                <a:spcPct val="115000"/>
              </a:lnSpc>
              <a:buNone/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E. Corticothérapie</a:t>
            </a:r>
            <a:endParaRPr lang="fr-FR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 algn="r">
              <a:lnSpc>
                <a:spcPct val="115000"/>
              </a:lnSpc>
              <a:buNone/>
            </a:pPr>
            <a:r>
              <a:rPr lang="fr-FR" sz="33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ABD</a:t>
            </a:r>
            <a:endParaRPr lang="fr-FR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431197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2EC7C-BD83-D4AB-0653-1B555685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NewRomanPSMT"/>
              </a:rPr>
              <a:t>Le coma myxœdémateux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D15704-C0AA-1956-17F2-8344AA19E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fr-FR" sz="2400" b="0" i="0" u="none" strike="noStrike" baseline="0" dirty="0">
                <a:latin typeface="TimesNewRomanPSMT"/>
              </a:rPr>
              <a:t>Urgence thérapeutique</a:t>
            </a:r>
            <a:r>
              <a:rPr lang="fr-FR" sz="2400" dirty="0">
                <a:latin typeface="TimesNewRomanPSMT"/>
              </a:rPr>
              <a:t> / M</a:t>
            </a:r>
            <a:r>
              <a:rPr lang="fr-FR" sz="2400" b="0" i="0" u="none" strike="noStrike" baseline="0" dirty="0">
                <a:latin typeface="TimesNewRomanPSMT"/>
              </a:rPr>
              <a:t>ortalité 20 a 30%.</a:t>
            </a:r>
          </a:p>
          <a:p>
            <a:pPr algn="l">
              <a:lnSpc>
                <a:spcPct val="150000"/>
              </a:lnSpc>
            </a:pPr>
            <a:r>
              <a:rPr lang="fr-FR" sz="2400" b="0" i="0" u="none" strike="noStrike" baseline="0" dirty="0">
                <a:latin typeface="TimesNewRomanPSMT"/>
              </a:rPr>
              <a:t>Un</a:t>
            </a:r>
            <a:r>
              <a:rPr lang="fr-FR" sz="2400" dirty="0">
                <a:latin typeface="TimesNewRomanPSMT"/>
              </a:rPr>
              <a:t>e</a:t>
            </a:r>
            <a:r>
              <a:rPr lang="fr-FR" sz="2400" b="0" i="0" u="none" strike="noStrike" baseline="0" dirty="0">
                <a:latin typeface="TimesNewRomanPSMT"/>
              </a:rPr>
              <a:t> personne âgée, le plus souvent de sexe féminin, ayant une hypothyroïdie non traitée ou après l‘ arrêt intempestif du traitement. </a:t>
            </a:r>
          </a:p>
          <a:p>
            <a:pPr algn="l">
              <a:lnSpc>
                <a:spcPct val="150000"/>
              </a:lnSpc>
            </a:pPr>
            <a:r>
              <a:rPr lang="fr-FR" sz="2400" b="0" i="0" u="none" strike="noStrike" baseline="0" dirty="0">
                <a:latin typeface="TimesNewRomanPSMT"/>
              </a:rPr>
              <a:t>Favorisé par </a:t>
            </a:r>
            <a:r>
              <a:rPr lang="fr-FR" sz="2400" b="1" i="0" u="none" strike="noStrike" baseline="0" dirty="0">
                <a:latin typeface="TimesNewRomanPSMT"/>
              </a:rPr>
              <a:t>le froid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1" i="0" u="none" strike="noStrike" baseline="0" dirty="0">
                <a:latin typeface="TimesNewRomanPSMT"/>
              </a:rPr>
              <a:t>une infection</a:t>
            </a:r>
            <a:r>
              <a:rPr lang="fr-FR" sz="2400" b="0" i="0" u="none" strike="noStrike" baseline="0" dirty="0">
                <a:latin typeface="TimesNewRomanPSMT"/>
              </a:rPr>
              <a:t>, une </a:t>
            </a:r>
            <a:r>
              <a:rPr lang="fr-FR" sz="2400" b="1" i="0" u="none" strike="noStrike" baseline="0" dirty="0">
                <a:latin typeface="TimesNewRomanPSMT"/>
              </a:rPr>
              <a:t>pathologie intercurrente (accident vasculaire cérébral, infarctus du myocarde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1" i="0" u="none" strike="noStrike" baseline="0" dirty="0">
                <a:latin typeface="TimesNewRomanPSMT"/>
              </a:rPr>
              <a:t>insuffisance cardiaque ou respiratoir</a:t>
            </a:r>
            <a:r>
              <a:rPr lang="fr-FR" sz="2400" b="0" i="0" u="none" strike="noStrike" baseline="0" dirty="0">
                <a:latin typeface="TimesNewRomanPSMT"/>
              </a:rPr>
              <a:t>e, etc.) ou la prise de certains </a:t>
            </a:r>
            <a:r>
              <a:rPr lang="fr-FR" sz="2400" b="1" i="0" u="none" strike="noStrike" baseline="0" dirty="0">
                <a:latin typeface="TimesNewRomanPSMT"/>
              </a:rPr>
              <a:t>médicaments</a:t>
            </a:r>
            <a:r>
              <a:rPr lang="fr-FR" sz="2400" b="0" i="0" u="none" strike="noStrike" baseline="0" dirty="0">
                <a:latin typeface="TimesNewRomanPSMT"/>
              </a:rPr>
              <a:t> (</a:t>
            </a:r>
            <a:r>
              <a:rPr lang="fr-FR" sz="2400" b="0" i="0" u="none" strike="noStrike" baseline="0" dirty="0">
                <a:solidFill>
                  <a:schemeClr val="accent2"/>
                </a:solidFill>
                <a:latin typeface="TimesNewRomanPSMT"/>
              </a:rPr>
              <a:t>amiodarone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0" i="0" u="none" strike="noStrike" baseline="0" dirty="0">
                <a:solidFill>
                  <a:schemeClr val="accent2"/>
                </a:solidFill>
                <a:latin typeface="TimesNewRomanPSMT"/>
              </a:rPr>
              <a:t>anesthésiques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0" i="0" u="none" strike="noStrike" baseline="0" dirty="0">
                <a:solidFill>
                  <a:schemeClr val="accent2"/>
                </a:solidFill>
                <a:latin typeface="TimesNewRomanPSMT"/>
              </a:rPr>
              <a:t>bétabloquants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0" i="0" u="none" strike="noStrike" baseline="0" dirty="0">
                <a:solidFill>
                  <a:schemeClr val="accent2"/>
                </a:solidFill>
                <a:latin typeface="TimesNewRomanPSMT"/>
              </a:rPr>
              <a:t>diurétiques</a:t>
            </a:r>
            <a:r>
              <a:rPr lang="fr-FR" sz="2400" b="0" i="0" u="none" strike="noStrike" baseline="0" dirty="0">
                <a:latin typeface="TimesNewRomanPSMT"/>
              </a:rPr>
              <a:t>, </a:t>
            </a:r>
            <a:r>
              <a:rPr lang="fr-FR" sz="2400" b="0" i="0" u="none" strike="noStrike" baseline="0" dirty="0">
                <a:solidFill>
                  <a:schemeClr val="accent2"/>
                </a:solidFill>
                <a:latin typeface="TimesNewRomanPSMT"/>
              </a:rPr>
              <a:t>tranquillisants</a:t>
            </a:r>
            <a:r>
              <a:rPr lang="fr-FR" sz="2400" b="0" i="0" u="none" strike="noStrike" baseline="0" dirty="0">
                <a:latin typeface="TimesNewRomanPSMT"/>
              </a:rPr>
              <a:t>...).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214569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D3BDD-BDEA-745F-DFBC-F75ADD0DE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cs typeface="Arial" panose="020B0604020202020204" pitchFamily="34" charset="0"/>
              </a:rPr>
              <a:t>Concernant la prise en charge du coma myxœdémateux: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traitement par Hydrocortisone est préconisé d'emblée avant l'institution du traitement par hormones thyroïdiennes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 remplissage massif par du sérum physiologique  en cas d’hyponatrémie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L'opothérapie substitutive peut être instaurée en bolus IV de 300-500 μg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On peut commencer par une faible dose de L-thyroxine (25 μg/j) à augmenter progressivement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traitement est urgent en unité de soins intensifs</a:t>
            </a:r>
          </a:p>
          <a:p>
            <a:pPr marL="914400" lvl="1" indent="-514350">
              <a:buFont typeface="+mj-lt"/>
              <a:buAutoNum type="alphaUcPeriod"/>
            </a:pPr>
            <a:endParaRPr lang="fr-FR" sz="2200" dirty="0"/>
          </a:p>
          <a:p>
            <a:pPr marL="400050" lvl="1" indent="0" algn="r">
              <a:buNone/>
            </a:pPr>
            <a:r>
              <a:rPr lang="fr-FR" dirty="0">
                <a:solidFill>
                  <a:schemeClr val="bg1"/>
                </a:solidFill>
              </a:rPr>
              <a:t>ACDE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82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4D3BDD-BDEA-745F-DFBC-F75ADD0DE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lnSpcReduction="10000"/>
          </a:bodyPr>
          <a:lstStyle/>
          <a:p>
            <a:r>
              <a:rPr lang="fr-FR" sz="3000" b="1" dirty="0">
                <a:latin typeface="Times New Roman" panose="02020603050405020304" pitchFamily="18" charset="0"/>
                <a:cs typeface="Arial" panose="020B0604020202020204" pitchFamily="34" charset="0"/>
              </a:rPr>
              <a:t>Concernant la prise en charge du coma myxœdémateux: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traitement par Hydrocortisone est préconisé d'emblée avant l'institution du traitement par hormones thyroïdiennes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 remplissage massif par du sérum physiologique  en cas d’hyponatrémie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L'opothérapie substitutive peut être instaurée en bolus IV de 300-500 μg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On peut commencer par une faible dose de L-thyroxine (25 μg/j) à augmenter progressivement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Le traitement est urgent en unité de soins intensifs</a:t>
            </a:r>
          </a:p>
          <a:p>
            <a:pPr marL="914400" lvl="1" indent="-514350">
              <a:buFont typeface="+mj-lt"/>
              <a:buAutoNum type="alphaUcPeriod"/>
            </a:pPr>
            <a:endParaRPr lang="fr-FR" sz="2200" dirty="0"/>
          </a:p>
          <a:p>
            <a:pPr marL="400050" lvl="1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ACDE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121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E3853-C12E-A403-35DD-DF19D8D3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2311096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Dans le cas d'un coma myxœdémateux associé à une insuffisance surrénalienne par quel traitement on commence l'hydrocortisone ou L-thyroxine ? et quel est le délai entre les 2 en cas d'association ?</a:t>
            </a:r>
            <a:endParaRPr lang="fr-FR" sz="54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175D00-40D8-5520-6010-2E6FFF54A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636912"/>
            <a:ext cx="8640960" cy="3054353"/>
          </a:xfrm>
        </p:spPr>
        <p:txBody>
          <a:bodyPr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Urgence absolue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par Hydrocortisone est préconisé d'emblée en IV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 à 100 mg/ 8 heures pendant 24 à 48 heures, puis dégression)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juste avant l'institution du traitement par hormones thyroïdiennes</a:t>
            </a:r>
          </a:p>
        </p:txBody>
      </p:sp>
    </p:spTree>
    <p:extLst>
      <p:ext uri="{BB962C8B-B14F-4D97-AF65-F5344CB8AC3E}">
        <p14:creationId xmlns:p14="http://schemas.microsoft.com/office/powerpoint/2010/main" val="7608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388F62-EA37-048D-F943-D1931D3C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85813"/>
            <a:ext cx="8786813" cy="556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substitutif dans l’hypothyroïdie périphérique par thyroïdite de Hashimoto:</a:t>
            </a: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A-Doit être débuté progressivement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B- Peut décompenser une insuffisance surrénalienne  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méconnue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C-Peut décompenser une insuffisance coronarienne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alt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D-Est</a:t>
            </a: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transitoire 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E-Est surveillé par la TSH</a:t>
            </a:r>
          </a:p>
          <a:p>
            <a:pPr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fr-FR" alt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</p:txBody>
      </p:sp>
    </p:spTree>
    <p:extLst>
      <p:ext uri="{BB962C8B-B14F-4D97-AF65-F5344CB8AC3E}">
        <p14:creationId xmlns:p14="http://schemas.microsoft.com/office/powerpoint/2010/main" val="38375014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388F62-EA37-048D-F943-D1931D3C3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85813"/>
            <a:ext cx="8786813" cy="556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fr-FR" alt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substitutif dans l’hypothyroïdie périphérique par thyroïdite de Hashimoto:</a:t>
            </a: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A-Doit être débuté progressivement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B- Peut décompenser une insuffisance surrénalienne  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méconnue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C-Peut décompenser une insuffisance coronarienne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alt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D-Est</a:t>
            </a: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transitoire </a:t>
            </a:r>
          </a:p>
          <a:p>
            <a:pPr>
              <a:lnSpc>
                <a:spcPct val="150000"/>
              </a:lnSpc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E-Est surveillé par la TSH</a:t>
            </a:r>
          </a:p>
          <a:p>
            <a:pPr>
              <a:lnSpc>
                <a:spcPct val="150000"/>
              </a:lnSpc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fr-FR" alt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</p:txBody>
      </p:sp>
    </p:spTree>
    <p:extLst>
      <p:ext uri="{BB962C8B-B14F-4D97-AF65-F5344CB8AC3E}">
        <p14:creationId xmlns:p14="http://schemas.microsoft.com/office/powerpoint/2010/main" val="327711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CC4179-30D4-AC52-C87B-EC5DC6F84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DD413-4562-250D-910B-47879E7A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8" y="1484784"/>
            <a:ext cx="8892480" cy="4853136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de traitement par l thyroxine, le patient doit être éduqué sur les éléments suivants: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est unique le matin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régime doit être normosodé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jeune est contre indiqué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pris au moins 30min avant le petit-déjeuner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de laxatifs est à éviter 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/>
          </a:p>
          <a:p>
            <a:pPr marL="0" indent="0" algn="r">
              <a:buNone/>
            </a:pPr>
            <a:r>
              <a:rPr lang="fr-FR" b="1" dirty="0">
                <a:solidFill>
                  <a:schemeClr val="bg1"/>
                </a:solidFill>
              </a:rPr>
              <a:t>AD</a:t>
            </a:r>
          </a:p>
        </p:txBody>
      </p:sp>
    </p:spTree>
    <p:extLst>
      <p:ext uri="{BB962C8B-B14F-4D97-AF65-F5344CB8AC3E}">
        <p14:creationId xmlns:p14="http://schemas.microsoft.com/office/powerpoint/2010/main" val="16384638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EAB7-1C07-1BB8-BE6A-A338EB15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E7811-B3D8-9A55-99AC-CF149082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DA850-6F5A-F0C7-0318-885F1F788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8" y="1484784"/>
            <a:ext cx="8892480" cy="4853136"/>
          </a:xfrm>
        </p:spPr>
        <p:txBody>
          <a:bodyPr>
            <a:norm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de traitement par l thyroxine, le patient doit être éduqué sur les éléments suivants: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est unique le matin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régime doit être normosodé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jeune est contre indiqué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pris au moins 30min avant le petit-déjeuner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de laxatifs est à éviter </a:t>
            </a:r>
          </a:p>
          <a:p>
            <a:pPr marL="971550" lvl="1" indent="-514350">
              <a:buFont typeface="+mj-lt"/>
              <a:buAutoNum type="alphaUcPeriod"/>
            </a:pPr>
            <a:endParaRPr lang="fr-FR" dirty="0"/>
          </a:p>
          <a:p>
            <a:pPr marL="0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AD</a:t>
            </a:r>
          </a:p>
        </p:txBody>
      </p:sp>
    </p:spTree>
    <p:extLst>
      <p:ext uri="{BB962C8B-B14F-4D97-AF65-F5344CB8AC3E}">
        <p14:creationId xmlns:p14="http://schemas.microsoft.com/office/powerpoint/2010/main" val="159126919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59DF7E-42FF-A9E2-9606-85E8BAAC4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fr-FR" alt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 traitement substitutif en cas d’hypothyroïdie primaire:</a:t>
            </a:r>
          </a:p>
          <a:p>
            <a:endParaRPr lang="fr-FR" alt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dose habituelle chez l’ adulte est de 3,5 à 4 μg/kg/j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précédé par un test au synacthène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peut être transitoire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posologie initiale est de 25 à 50 μg/j chez l’adulte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TSH est contrôlée après 6 mois de traitement </a:t>
            </a:r>
          </a:p>
          <a:p>
            <a:pPr marL="914400" lvl="1" indent="-51435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r">
              <a:buNone/>
            </a:pPr>
            <a:r>
              <a:rPr lang="fr-FR" alt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278024151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9A8A-451D-5E41-6BDF-35E85F01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994FE6-80E2-7996-7963-A04214D7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/>
          </a:bodyPr>
          <a:lstStyle/>
          <a:p>
            <a:r>
              <a:rPr lang="fr-FR" alt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 traitement substitutif en cas d’hypothyroïdie primaire:</a:t>
            </a:r>
          </a:p>
          <a:p>
            <a:endParaRPr lang="fr-FR" alt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dose habituelle chez l’ adulte est de 3,5 à 4 μg/kg/j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précédé par un test au synacthène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peut être transitoire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posologie initiale est de 25 à 50 μg/j chez l’adulte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alt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TSH est contrôlée après 6 mois de traitement</a:t>
            </a:r>
          </a:p>
          <a:p>
            <a:pPr marL="914400" lvl="1" indent="-51435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r">
              <a:buNone/>
            </a:pPr>
            <a:r>
              <a:rPr lang="fr-FR" alt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93910443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3B8BE-1983-C344-2F4F-0090AE63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E04809-7E89-8362-3EDA-0CB3D58E1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3800" b="1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Avant d'initier le traitement de l'insuffisance thyroïdienne, faut-il dépister et traiter l'insuffisance </a:t>
            </a:r>
            <a:r>
              <a:rPr lang="fr-FR" sz="3800" b="1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corticotrope</a:t>
            </a:r>
            <a:r>
              <a:rPr lang="fr-FR" sz="3800" b="1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?</a:t>
            </a:r>
          </a:p>
          <a:p>
            <a:pPr marL="342900" lvl="0" indent="-342900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Dépister et traiter systématiquement en cas d’insuffisance thyréotrope centrale </a:t>
            </a:r>
          </a:p>
          <a:p>
            <a:pPr marL="342900" lvl="0" indent="-342900" rtl="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cas d’ hypothyroïdie périphérique profonde, dépister l’ IS si suspectée et mettre sous couverture par hydrocortisone si hypothyroïdie profonde afin d’éviter une décompensation aigue d’une insuffisance surrénalienne fonctionnelle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786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C1AC5-B700-691B-5EA6-88BB4F88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 rtl="0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Quel est le mécanisme de l'insuffisance corticosurrénale au cours de l'hypothyroïdie et pourquoi elle est dite relative ?</a:t>
            </a:r>
            <a:endParaRPr lang="fr-FR" sz="2400" b="1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C303E7-A2C8-E5E5-35FC-1CB09C309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IS associée : dans le cadre d’une Insuffisance antéhypophysaire ou bien syndrome de Schmidt</a:t>
            </a:r>
          </a:p>
          <a:p>
            <a:r>
              <a:rPr lang="fr-FR" dirty="0"/>
              <a:t>Soit fonctionnelle </a:t>
            </a:r>
          </a:p>
        </p:txBody>
      </p:sp>
    </p:spTree>
    <p:extLst>
      <p:ext uri="{BB962C8B-B14F-4D97-AF65-F5344CB8AC3E}">
        <p14:creationId xmlns:p14="http://schemas.microsoft.com/office/powerpoint/2010/main" val="143958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4071942"/>
            <a:ext cx="8229600" cy="2054221"/>
          </a:xfrm>
        </p:spPr>
        <p:txBody>
          <a:bodyPr>
            <a:normAutofit fontScale="47500" lnSpcReduction="20000"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8400" dirty="0">
                <a:solidFill>
                  <a:srgbClr val="FF0000"/>
                </a:solidFill>
              </a:rPr>
              <a:t>Réponse: ACE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85794"/>
            <a:ext cx="8310601" cy="309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9555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F4831-F44D-FC83-8B65-1208BE99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8B1233-684A-DFFF-C024-93869C2E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fr-FR" dirty="0"/>
              <a:t>Le traitement de l’ hypothyroïdie primaire chez la femme enceinte 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Est justifié à partie d’une TSH &gt; 4 </a:t>
            </a:r>
            <a:r>
              <a:rPr lang="fr-FR" dirty="0" err="1"/>
              <a:t>mui</a:t>
            </a:r>
            <a:r>
              <a:rPr lang="fr-FR" dirty="0"/>
              <a:t>/l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4 </a:t>
            </a:r>
            <a:r>
              <a:rPr lang="fr-FR" dirty="0" err="1"/>
              <a:t>mui</a:t>
            </a:r>
            <a:r>
              <a:rPr lang="fr-FR" dirty="0"/>
              <a:t>/l le premier trimestre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2,5 </a:t>
            </a:r>
            <a:r>
              <a:rPr lang="fr-FR" dirty="0" err="1"/>
              <a:t>mui</a:t>
            </a:r>
            <a:r>
              <a:rPr lang="fr-FR" dirty="0"/>
              <a:t>/l en </a:t>
            </a:r>
            <a:r>
              <a:rPr lang="fr-FR" dirty="0" err="1"/>
              <a:t>préconceptionnel</a:t>
            </a:r>
            <a:endParaRPr lang="fr-FR" dirty="0"/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Les besoins en L-Thyroxine augmentent d’ environ 75%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2,5 </a:t>
            </a:r>
            <a:r>
              <a:rPr lang="fr-FR" dirty="0" err="1"/>
              <a:t>mui</a:t>
            </a:r>
            <a:r>
              <a:rPr lang="fr-FR" dirty="0"/>
              <a:t>/l le troisième trimestre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800100" lvl="2" indent="0" algn="r">
              <a:buNone/>
            </a:pPr>
            <a:r>
              <a:rPr lang="fr-FR" dirty="0">
                <a:solidFill>
                  <a:schemeClr val="bg1"/>
                </a:solidFill>
              </a:rPr>
              <a:t>AC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006245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D96B-E395-AE8C-5BDC-C20C2917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69ED2-B8DF-BA8A-0050-D9DE0728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705BE-3022-D62E-5EC2-70395C4C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fr-FR" dirty="0"/>
              <a:t>Le traitement de l’ hypothyroïdie primaire chez la femme enceinte 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Est justifié à partie d’une TSH &gt; 4 </a:t>
            </a:r>
            <a:r>
              <a:rPr lang="fr-FR" dirty="0" err="1"/>
              <a:t>mui</a:t>
            </a:r>
            <a:r>
              <a:rPr lang="fr-FR" dirty="0"/>
              <a:t>/l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4 </a:t>
            </a:r>
            <a:r>
              <a:rPr lang="fr-FR" dirty="0" err="1"/>
              <a:t>mui</a:t>
            </a:r>
            <a:r>
              <a:rPr lang="fr-FR" dirty="0"/>
              <a:t>/l le premier trimestre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2,5 </a:t>
            </a:r>
            <a:r>
              <a:rPr lang="fr-FR" dirty="0" err="1"/>
              <a:t>mui</a:t>
            </a:r>
            <a:r>
              <a:rPr lang="fr-FR" dirty="0"/>
              <a:t>/l en </a:t>
            </a:r>
            <a:r>
              <a:rPr lang="fr-FR" dirty="0" err="1"/>
              <a:t>préconceptionnel</a:t>
            </a:r>
            <a:endParaRPr lang="fr-FR" dirty="0"/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Les besoins en L-Thyroxine augmentent d’ environ 75%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/>
              <a:t>L’objectif est une TSH &lt; 2,5 </a:t>
            </a:r>
            <a:r>
              <a:rPr lang="fr-FR" dirty="0" err="1"/>
              <a:t>mui</a:t>
            </a:r>
            <a:r>
              <a:rPr lang="fr-FR" dirty="0"/>
              <a:t>/l le troisième trimestre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pPr marL="800100" lvl="2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AC</a:t>
            </a:r>
          </a:p>
          <a:p>
            <a:pPr marL="1314450" lvl="2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181923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F322AF-B6D0-55C2-6C94-D2754A3E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F2DCC0-16AF-47BE-DF43-5EBBDB4B0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transitoire peut être secondaire à: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Thyroïdite subaiguë de De Quervain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par iode radioactif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Thyroïdite du post partum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de l’ hormonosynthèse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Hypothyroïdie à l ’ amiodarone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r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59792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B472-7F88-1C93-5E56-F8890DBF0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FE852-D4BC-C930-2DDD-CF683CBB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A1658-11FE-4D3D-F9FD-BC86CE9A2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transitoire peut être secondaire à: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Thyroïdite subaiguë de De Quervain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par iode radioactif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Thyroïdite du post partum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 de l’ hormonosynthèse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Hypothyroïdie à l ’ amiodarone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r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1652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25A71-80EC-4471-D706-E61A17472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solidFill>
                  <a:srgbClr val="00B050"/>
                </a:solidFill>
              </a:rPr>
              <a:t>Hypothyroïdie après traitement à l'iode radioactif (</a:t>
            </a:r>
            <a:r>
              <a:rPr lang="fr-FR" dirty="0" err="1">
                <a:solidFill>
                  <a:srgbClr val="00B050"/>
                </a:solidFill>
              </a:rPr>
              <a:t>IRA-thérapie</a:t>
            </a:r>
            <a:r>
              <a:rPr lang="fr-FR" dirty="0">
                <a:solidFill>
                  <a:srgbClr val="00B050"/>
                </a:solidFill>
              </a:rPr>
              <a:t>):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89EBBB-F0FF-C1A3-C1D2-8360EEF24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Risque d'hypothyroïdie est fonction de la dose administrée. </a:t>
            </a:r>
          </a:p>
          <a:p>
            <a:r>
              <a:rPr lang="fr-FR" dirty="0"/>
              <a:t>Fréquence à un an 60% si la dose d’131iode &gt; 15 </a:t>
            </a:r>
            <a:r>
              <a:rPr lang="fr-FR" dirty="0" err="1"/>
              <a:t>mCi</a:t>
            </a:r>
            <a:endParaRPr lang="fr-FR" dirty="0"/>
          </a:p>
          <a:p>
            <a:r>
              <a:rPr lang="fr-FR" dirty="0"/>
              <a:t>Peut être :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Transitoire</a:t>
            </a:r>
            <a:r>
              <a:rPr lang="fr-FR" dirty="0"/>
              <a:t> précoce, survenant 2 à 6 mois après une </a:t>
            </a:r>
            <a:r>
              <a:rPr lang="fr-FR" dirty="0" err="1"/>
              <a:t>IRA-thérapie</a:t>
            </a:r>
            <a:r>
              <a:rPr lang="fr-FR" dirty="0"/>
              <a:t>, généralement précédée d’une phase thyrotoxique.</a:t>
            </a:r>
          </a:p>
          <a:p>
            <a:pPr marL="914400" lvl="1" indent="-514350">
              <a:buFont typeface="+mj-lt"/>
              <a:buAutoNum type="arabicPeriod"/>
            </a:pPr>
            <a:r>
              <a:rPr lang="fr-FR" dirty="0"/>
              <a:t>Ou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définitive</a:t>
            </a:r>
            <a:r>
              <a:rPr lang="fr-FR" dirty="0"/>
              <a:t>, dont l’incidence augmente avec le temps.</a:t>
            </a:r>
          </a:p>
        </p:txBody>
      </p:sp>
    </p:spTree>
    <p:extLst>
      <p:ext uri="{BB962C8B-B14F-4D97-AF65-F5344CB8AC3E}">
        <p14:creationId xmlns:p14="http://schemas.microsoft.com/office/powerpoint/2010/main" val="359699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8BD2D-FC17-BBCD-C6DC-4F6451C8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159244-AB85-A724-C342-676BC105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être secondaire à la prise de: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Carbimazole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Lithium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Cordarone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Propranolol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Interféron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algn="r">
              <a:buNone/>
            </a:pPr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349415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BFBF-64DD-19D7-4F60-649C6B06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71178-A193-1944-277F-40059296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A5E7B5-C055-E5EE-2FAE-083995F1B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être secondaire à la prise de: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Carbimazole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Lithium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Cordarone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Propranolol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Interféron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algn="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419408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centrale peut être secondaire à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Traumatisme cérébral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Accouchement hémorragique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adénome hypophysaire non secrétant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Apoplexie pituitaire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 algn="r">
              <a:buNone/>
            </a:pPr>
            <a:r>
              <a:rPr lang="fr-FR" dirty="0">
                <a:solidFill>
                  <a:schemeClr val="bg1"/>
                </a:solidFill>
              </a:rPr>
              <a:t>ABDE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centrale peut être secondaire à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Traumatisme cérébral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Accouchement hémorragique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adénome hypophysaire non secrétant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Apoplexie pituitaire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 algn="r">
              <a:buNone/>
            </a:pPr>
            <a:r>
              <a:rPr lang="fr-FR" b="1" dirty="0">
                <a:solidFill>
                  <a:srgbClr val="FF0000"/>
                </a:solidFill>
              </a:rPr>
              <a:t>ABDE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245771" y="491297"/>
            <a:ext cx="844102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Arial" pitchFamily="34" charset="0"/>
              </a:rPr>
              <a:t>Est-ce que l’antécédent d’accouchement hémorragique est une origine centrale d’hypothyroïdie ?</a:t>
            </a:r>
            <a:endParaRPr kumimoji="0" lang="fr-FR" sz="40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F326C-EF0A-4633-C867-36F0947D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364300-7661-582C-07CD-2FE494A4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une hypothyroïdie, on évoque l’origine centrale devant: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Accouchement hémorragique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 myxœdème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Positivité des anticorps anti TPO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Hyperprolactinémie associée 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algn="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93475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F9C0-E7C3-35F2-C935-8441687D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DAA63E-B38C-0D01-43C9-943F5066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0409BC-8F4E-88D4-2D02-C740246D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une hypothyroïdie, on évoque l’origine centrale devant: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Accouchement hémorragique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 myxœdème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d’un goitre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Positivité des anticorps anti TPO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Hyperprolactinémie associée </a:t>
            </a:r>
          </a:p>
          <a:p>
            <a:pPr marL="1314450" lvl="2" indent="-514350">
              <a:buFont typeface="+mj-lt"/>
              <a:buAutoNum type="alphaUcPeriod"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 algn="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567681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alt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les examens paracliniques a visée étiologique d’une hypothyroïdie primaire: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 iodurie a un intérêt dans les formes liées a une carence iodée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 échographie cervicale est le meilleur examen qui permet de préciser l’emplacement d’une thyroïde ectopique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scintigraphie de la thyroïde est indispensable pour le diagnostic étiologique 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scintigraphie de la thyroïde a pour but de préciser la présence ou l’absence de tissu glandulaire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au perchlorate est utilisé pour rechercher un trouble de l’</a:t>
            </a:r>
            <a:r>
              <a:rPr lang="fr-FR" alt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organification</a:t>
            </a: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l’iode</a:t>
            </a:r>
          </a:p>
          <a:p>
            <a:pPr marL="857250" lvl="1" indent="-457200">
              <a:buFont typeface="+mj-lt"/>
              <a:buAutoNum type="alphaUcPeriod"/>
            </a:pPr>
            <a:endParaRPr lang="fr-FR" alt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 algn="r">
              <a:buNone/>
            </a:pPr>
            <a:r>
              <a:rPr lang="fr-FR" alt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</a:p>
          <a:p>
            <a:pPr marL="857250" lvl="1" indent="-45720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alt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les examens paracliniques a visée étiologique d’une hypothyroïdie primaire: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 iodurie a un intérêt dans les formes liées a une carence iodée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 échographie cervicale est le meilleur examen qui permet de préciser l’emplacement d’une thyroïde ectopique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scintigraphie de la thyroïde est indispensable pour le diagnostic étiologique 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scintigraphie de la thyroïde a pour but de préciser la présence ou l’absence de tissu glandulaire</a:t>
            </a:r>
          </a:p>
          <a:p>
            <a:pPr marL="857250" lvl="1" indent="-457200">
              <a:buFont typeface="+mj-lt"/>
              <a:buAutoNum type="alphaUcPeriod"/>
            </a:pP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au perchlorate est utilisé pour rechercher un trouble de l’</a:t>
            </a:r>
            <a:r>
              <a:rPr lang="fr-FR" alt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organification</a:t>
            </a:r>
            <a:r>
              <a:rPr lang="fr-FR" alt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l’iode</a:t>
            </a:r>
          </a:p>
          <a:p>
            <a:pPr marL="857250" lvl="1" indent="-457200">
              <a:buFont typeface="+mj-lt"/>
              <a:buAutoNum type="alphaUcPeriod"/>
            </a:pPr>
            <a:endParaRPr lang="fr-FR" alt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 algn="r">
              <a:buNone/>
            </a:pPr>
            <a:r>
              <a:rPr lang="fr-FR" alt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</a:t>
            </a:r>
          </a:p>
          <a:p>
            <a:pPr marL="857250" lvl="1" indent="-457200">
              <a:buFont typeface="+mj-lt"/>
              <a:buAutoNum type="alphaUcPeriod"/>
            </a:pPr>
            <a:endParaRPr lang="fr-FR" alt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8" y="1214422"/>
            <a:ext cx="8172399" cy="5016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5720" y="285728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Pourquoi cette proposition est fausse : dans l’ectopie thyroïdienne l’échographie peut montrer la présence du parenchyme thyroïdien en dehors de la loge thyroïdienne"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Autofit/>
          </a:bodyPr>
          <a:lstStyle/>
          <a:p>
            <a:pPr lvl="0"/>
            <a:r>
              <a:rPr lang="fr-FR" sz="2400" b="1" dirty="0">
                <a:solidFill>
                  <a:schemeClr val="tx2">
                    <a:lumMod val="75000"/>
                  </a:schemeClr>
                </a:solidFill>
              </a:rPr>
              <a:t>La scintigraphie est-elle tjrs indiquée dans le diagnostic étiologique ? sinon dans quelles indications est-elle obligatoire ?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Enfant ++++</a:t>
            </a:r>
          </a:p>
          <a:p>
            <a:r>
              <a:rPr lang="fr-FR" dirty="0"/>
              <a:t>La scintigraphie a pour but de préciser:</a:t>
            </a:r>
          </a:p>
          <a:p>
            <a:pPr lvl="1"/>
            <a:r>
              <a:rPr lang="fr-FR" dirty="0"/>
              <a:t>la présence ou l’absence de tissu glandulaire</a:t>
            </a:r>
          </a:p>
          <a:p>
            <a:pPr lvl="1"/>
            <a:r>
              <a:rPr lang="fr-FR" dirty="0"/>
              <a:t>De déterminer son siège : (normal ou ectopique) et son volume (normal, augmente ou diminue hypoplasie). </a:t>
            </a:r>
          </a:p>
          <a:p>
            <a:r>
              <a:rPr lang="fr-FR" dirty="0"/>
              <a:t>Le tissu thyroïdien étant parfois présent mais non fixant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lnSpcReduction="100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Concernant la résistance aux hormones thyroïdiennes: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liée a une mutation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inactivatrice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du récepteur beta de la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triiodothyronine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(TR β)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une étiologie d’ hypothyroïdie congénitale transitoire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Peut induire des signes d’ hypo métabolisme dans certains tissus et des signes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Thyrotoxiques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dans d’autres.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Transmise de façon autosomique récessive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responsable d’une hypothyroïdie centrale</a:t>
            </a: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  <a:endParaRPr lang="fr-FR" sz="2000" b="1" dirty="0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lnSpcReduction="100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Concernant la résistance aux hormones thyroïdiennes: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liée a une mutation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inactivatrice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du récepteur beta de la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triiodothyronine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(TR β)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une étiologie d’ hypothyroïdie congénitale transitoire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Peut induire des signes d’ hypo métabolisme dans certains tissus et des signes </a:t>
            </a:r>
            <a:r>
              <a:rPr lang="fr-FR" sz="2400" dirty="0" err="1">
                <a:latin typeface="Times New Roman" panose="02020603050405020304" pitchFamily="18" charset="0"/>
                <a:cs typeface="Arial" panose="020B0604020202020204" pitchFamily="34" charset="0"/>
              </a:rPr>
              <a:t>Thyrotoxiques</a:t>
            </a: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 dans d’autres.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Transmise de façon autosomique récessive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>
                <a:latin typeface="Times New Roman" panose="02020603050405020304" pitchFamily="18" charset="0"/>
                <a:cs typeface="Arial" panose="020B0604020202020204" pitchFamily="34" charset="0"/>
              </a:rPr>
              <a:t>Est responsable d’une hypothyroïdie centrale</a:t>
            </a: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 algn="r">
              <a:buNone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  <a:endParaRPr lang="fr-FR" sz="2000" b="1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sz="20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457200" y="620688"/>
            <a:ext cx="79296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000" b="1" dirty="0">
                <a:solidFill>
                  <a:schemeClr val="tx2">
                    <a:lumMod val="75000"/>
                  </a:schemeClr>
                </a:solidFill>
              </a:rPr>
              <a:t>Comment la résistance aux hormones thyroïdiennes peut-elle induire des signes </a:t>
            </a:r>
            <a:r>
              <a:rPr lang="fr-FR" sz="2000" b="1" dirty="0" err="1">
                <a:solidFill>
                  <a:schemeClr val="tx2">
                    <a:lumMod val="75000"/>
                  </a:schemeClr>
                </a:solidFill>
              </a:rPr>
              <a:t>thyrotoxiques</a:t>
            </a:r>
            <a:r>
              <a:rPr lang="fr-FR" sz="2000" b="1" dirty="0">
                <a:solidFill>
                  <a:schemeClr val="tx2">
                    <a:lumMod val="75000"/>
                  </a:schemeClr>
                </a:solidFill>
              </a:rPr>
              <a:t> dans certains tissus ? 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A4467-B7AC-9B93-437D-ABE5EFC0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341910-DCF9-7FBB-0DCB-4ADA5DF1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étiologies des hypothyroïdies congénitales primaires permanentes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Résistance aux hormones thyroïdiens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de sécrétion de la TSH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Hypoplasie de la glande thyroïde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Déficit de synthèse de la thyroglobuline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Carence maternelle en iode 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r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552143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C3B6-AE9F-802F-3CF4-4B2C294B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14A283-4D10-98DD-4AF2-795EF47FB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18B4A5-965C-42FD-6B95-E445A09C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étiologies des hypothyroïdies congénitales primaires permanentes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Résistance aux hormones thyroïdiens 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de sécrétion de la TSH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Hypoplasie de la glande thyroïde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Déficit de synthèse de la thyroglobuline</a:t>
            </a:r>
          </a:p>
          <a:p>
            <a:pPr marL="1371600" lvl="2" indent="-457200">
              <a:buFont typeface="+mj-lt"/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Carence maternelle en iode </a:t>
            </a:r>
          </a:p>
          <a:p>
            <a:pPr marL="1371600" lvl="2" indent="-457200">
              <a:buFont typeface="+mj-lt"/>
              <a:buAutoNum type="alphaUcPeriod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r">
              <a:buNone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777214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Arial" panose="020B0604020202020204" pitchFamily="34" charset="0"/>
              </a:rPr>
              <a:t>Les complications de l’ hypothyroïdie non traitée sont :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A. Coma myxœdémateux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B. Arythmie complète par fibrillation auriculaire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Insuffisance coronarienne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Ostéoporose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Hypotension artérielle</a:t>
            </a:r>
          </a:p>
          <a:p>
            <a:pPr marL="85725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57250" lvl="2" indent="0" algn="r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Arial" panose="020B0604020202020204" pitchFamily="34" charset="0"/>
              </a:rPr>
              <a:t>Les complications de l’ hypothyroïdie non traitée sont :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A. Coma myxœdémateux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B. Arythmie complète par fibrillation auriculaire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Insuffisance coronarienne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Ostéoporose</a:t>
            </a:r>
          </a:p>
          <a:p>
            <a:pPr marL="85725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Hypotension artérielle</a:t>
            </a:r>
          </a:p>
          <a:p>
            <a:pPr marL="85725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57250" lvl="2" indent="0" algn="r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</a:p>
        </p:txBody>
      </p:sp>
    </p:spTree>
    <p:extLst>
      <p:ext uri="{BB962C8B-B14F-4D97-AF65-F5344CB8AC3E}">
        <p14:creationId xmlns:p14="http://schemas.microsoft.com/office/powerpoint/2010/main" val="93679478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Arial" panose="020B0604020202020204" pitchFamily="34" charset="0"/>
              </a:rPr>
              <a:t>Le coma myxœdémateux :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A. Touche surtout le sujet âgé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B. Survient surtout en été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Peut-être favorisé par les diurétiques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Peut-être favorisé par les AINS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Est généralement de bon pronostic</a:t>
            </a:r>
          </a:p>
          <a:p>
            <a:pPr marL="80010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 algn="r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Arial" panose="020B0604020202020204" pitchFamily="34" charset="0"/>
              </a:rPr>
              <a:t>Le coma myxœdémateux :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A. Touche surtout le sujet âgé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B. Survient surtout en été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Peut-être favorisé par les diurétiques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Peut-être favorisé par les AINS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Est généralement de bon pronostic</a:t>
            </a:r>
          </a:p>
          <a:p>
            <a:pPr marL="80010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endParaRPr lang="fr-FR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 algn="r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34624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41176" y="1711349"/>
            <a:ext cx="8651304" cy="4525963"/>
          </a:xfrm>
        </p:spPr>
        <p:txBody>
          <a:bodyPr>
            <a:normAutofit fontScale="92500" lnSpcReduction="100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L’hypothyroïdie au cours de la thyroïdite lymphocytaire subaiguë du post-partum:</a:t>
            </a:r>
          </a:p>
          <a:p>
            <a:pPr marL="1314450" lvl="2" indent="-514350"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Est caractérisée par des </a:t>
            </a:r>
            <a:r>
              <a:rPr lang="fr-FR" sz="2800" dirty="0" err="1"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Arial" panose="020B0604020202020204" pitchFamily="34" charset="0"/>
              </a:rPr>
              <a:t>anti-TPO</a:t>
            </a: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 positifs</a:t>
            </a:r>
          </a:p>
          <a:p>
            <a:pPr marL="1314450" lvl="2" indent="-514350"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survient dans la première année suivant un accouchement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Est toujours transitoire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Est généralement profonde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Peut être précédée par une phase d’ hyperthyroïdie</a:t>
            </a:r>
          </a:p>
          <a:p>
            <a:pPr marL="800100" lvl="2" indent="0" algn="r">
              <a:buNone/>
            </a:pP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 algn="r">
              <a:buNone/>
            </a:pPr>
            <a:r>
              <a:rPr lang="fr-FR" sz="3000" b="1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ABE     </a:t>
            </a:r>
          </a:p>
        </p:txBody>
      </p:sp>
    </p:spTree>
    <p:extLst>
      <p:ext uri="{BB962C8B-B14F-4D97-AF65-F5344CB8AC3E}">
        <p14:creationId xmlns:p14="http://schemas.microsoft.com/office/powerpoint/2010/main" val="63817126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D9B5-C592-23D9-2BBC-5B0A31FD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1714B-2CE2-4164-C738-447688A8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AB83BD-B69B-6BC4-039F-6D7E13D4A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76" y="1711349"/>
            <a:ext cx="8651304" cy="4525963"/>
          </a:xfrm>
        </p:spPr>
        <p:txBody>
          <a:bodyPr>
            <a:normAutofit fontScale="92500" lnSpcReduction="10000"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L’hypothyroïdie au cours de la thyroïdite lymphocytaire subaiguë du post-partum:</a:t>
            </a:r>
          </a:p>
          <a:p>
            <a:pPr marL="1314450" lvl="2" indent="-514350"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Est caractérisée par des </a:t>
            </a:r>
            <a:r>
              <a:rPr lang="fr-FR" sz="2800" dirty="0" err="1">
                <a:latin typeface="Times New Roman" panose="02020603050405020304" pitchFamily="18" charset="0"/>
                <a:cs typeface="Arial" panose="020B0604020202020204" pitchFamily="34" charset="0"/>
              </a:rPr>
              <a:t>Ac</a:t>
            </a: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Arial" panose="020B0604020202020204" pitchFamily="34" charset="0"/>
              </a:rPr>
              <a:t>anti-TPO</a:t>
            </a: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 positifs</a:t>
            </a:r>
          </a:p>
          <a:p>
            <a:pPr marL="1314450" lvl="2" indent="-514350"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survient dans la première année suivant un accouchement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C. Est toujours transitoire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D. Est généralement profonde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E. Peut être précédée par une phase d’ hyperthyroïdie</a:t>
            </a:r>
          </a:p>
          <a:p>
            <a:pPr marL="800100" lvl="2" indent="0" algn="r">
              <a:buNone/>
            </a:pP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 algn="r">
              <a:buNone/>
            </a:pP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ABE     </a:t>
            </a:r>
          </a:p>
        </p:txBody>
      </p:sp>
    </p:spTree>
    <p:extLst>
      <p:ext uri="{BB962C8B-B14F-4D97-AF65-F5344CB8AC3E}">
        <p14:creationId xmlns:p14="http://schemas.microsoft.com/office/powerpoint/2010/main" val="113710969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Arial" panose="020B0604020202020204" pitchFamily="34" charset="0"/>
              </a:rPr>
              <a:t>La thyroïdite de Hashimoto est caractérisée par :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A- Des anticorps anti TPO positifs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B- Une hyperfixation du radiotraceur à la scintigraphie thyroïdienne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C- Une survenue plus fréquente chez la femme ménopausée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D- Une atrophie thyroïdienne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E- Une VS élevée</a:t>
            </a:r>
          </a:p>
          <a:p>
            <a:pPr marL="800100" lvl="2" indent="0">
              <a:buNone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endParaRPr lang="fr-FR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93676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latin typeface="Times New Roman" panose="02020603050405020304" pitchFamily="18" charset="0"/>
                <a:cs typeface="Arial" panose="020B0604020202020204" pitchFamily="34" charset="0"/>
              </a:rPr>
              <a:t>La thyroïdite de Hashimoto est caractérisée par :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A- Des anticorps anti TPO positifs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B- Une hyperfixation du radiotraceur à la scintigraphie thyroïdienne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C- Une survenue plus fréquente chez la femme ménopausée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D- Une atrophie thyroïdienne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Arial" panose="020B0604020202020204" pitchFamily="34" charset="0"/>
              </a:rPr>
              <a:t>E- Une VS élevée</a:t>
            </a:r>
          </a:p>
          <a:p>
            <a:endParaRPr lang="fr-FR" dirty="0"/>
          </a:p>
          <a:p>
            <a:pPr marL="0" indent="0" algn="r">
              <a:buNone/>
            </a:pPr>
            <a:r>
              <a:rPr lang="fr-FR" b="1" dirty="0">
                <a:solidFill>
                  <a:srgbClr val="FF0000"/>
                </a:solidFill>
              </a:rPr>
              <a:t>AC</a:t>
            </a:r>
          </a:p>
        </p:txBody>
      </p:sp>
    </p:spTree>
    <p:extLst>
      <p:ext uri="{BB962C8B-B14F-4D97-AF65-F5344CB8AC3E}">
        <p14:creationId xmlns:p14="http://schemas.microsoft.com/office/powerpoint/2010/main" val="36208503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périphérique peut être liée à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radiothérapie cervicale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Une prise d’iode radioactif 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radiothérapie cérébrale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 apport excessif d’iode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carence d’apport iodé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</a:rPr>
              <a:t>b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5259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périphérique peut être liée à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radiothérapie cervicale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Une prise d’iode radioactif 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radiothérapie cérébrale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 apport excessif d’iode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carence d’apport iodé</a:t>
            </a: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/>
              <a:t>                                                         </a:t>
            </a:r>
            <a:r>
              <a:rPr lang="fr-FR" b="1" dirty="0">
                <a:solidFill>
                  <a:srgbClr val="FF0000"/>
                </a:solidFill>
              </a:rPr>
              <a:t>ABDE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405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s’associer à :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hypocholestérolémie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Une hyponatrémie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hypokaliémie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Une hypercalcémie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élévation des enzymes musculaires</a:t>
            </a:r>
          </a:p>
          <a:p>
            <a:pPr marL="0" lv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95602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s’associer à :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hypocholestérolémie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Une hyponatrémie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hypokaliémie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Une hypercalcémie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élévation des enzymes musculaires</a:t>
            </a:r>
          </a:p>
          <a:p>
            <a:pPr marL="0" lv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BE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9278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thyroïdite subaiguë de de Quervain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Le début est insidieux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goitre est indolore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Il existe un syndrome inflammatoire biologique majeur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Les anticorps anti thyroïdiens peuvent être positifs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E-L ’évolution vers l'hypothyroïdie définitive est inéluctable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52320" y="5928707"/>
            <a:ext cx="660758" cy="6254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4192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F62D-C2D8-5947-CFCB-551A06DB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94E15E-D120-7CBD-EDF4-F901F5A0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C51142-2A53-8C02-80AE-387CF15C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thyroïdite subaiguë de de Quervain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Le début est insidieux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goitre est indolore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Il existe un syndrome inflammatoire biologique majeur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Les anticorps anti thyroïdiens peuvent être positifs</a:t>
            </a:r>
          </a:p>
          <a:p>
            <a:pPr marL="800100" lvl="2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E-L ’évolution vers l'hypothyroïdie définitive est inéluctable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13F60-FBC2-3B7A-6E99-3E5603ACC04D}"/>
              </a:ext>
            </a:extLst>
          </p:cNvPr>
          <p:cNvSpPr/>
          <p:nvPr/>
        </p:nvSpPr>
        <p:spPr>
          <a:xfrm>
            <a:off x="7452320" y="5928707"/>
            <a:ext cx="660758" cy="6254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CD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10889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cours de la thyroïdite de Hashimoto le traitement de l’hypothyroïdie est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cause de décompensation d’ une insuffisance coronaire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Débuté par une dose d’attaque 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Arrêté à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euthyroïdie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Diminué au cours de la grossesse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Contrôlé par le dosage de la FT4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                   </a:t>
            </a:r>
            <a:endParaRPr lang="fr-FR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fr-FR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977291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2FF6-D465-5E25-6840-8D0B61F4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8A3B4-A557-CF2E-2338-8CFF1B68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B20701-200B-1D4D-891E-564BD04FD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cours de la thyroïdite de Hashimoto le traitement de l’hypothyroïdie est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Une cause de décompensation d’ une insuffisance coronaire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Débuté par une dose d’attaque 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Arrêté à l’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euthyroïdie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Diminué au cours de la grossesse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Contrôlé par le dosage de la FT4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                   </a:t>
            </a:r>
            <a:endParaRPr lang="fr-FR" dirty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fr-FR" sz="3500" b="1" dirty="0">
                <a:solidFill>
                  <a:srgbClr val="FF0000"/>
                </a:solidFill>
              </a:rPr>
              <a:t>A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92975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complications de l’hypothyroïdie au cours de la grossesse sont: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Avortement spontané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 Hypotension artérielle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Anémie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 Hématome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rétroplacentaire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 Hémorragie de la délivrance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       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753550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complications de l’hypothyroïdie au cours de la grossesse sont: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Avortement spontané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 Hypotension artérielle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Anémie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 Hématome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rétroplacentaire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 Hémorragie de la délivrance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         </a:t>
            </a:r>
            <a:r>
              <a:rPr lang="fr-FR" b="1" dirty="0">
                <a:solidFill>
                  <a:srgbClr val="FF0000"/>
                </a:solidFill>
              </a:rPr>
              <a:t>ACDE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889877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s’associer aux complications cardiovasculaires suivantes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L’aggravation d’une athérosclérose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bloc auriculo-ventriculaire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La fibrillation auriculaire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D-L’ hypertension artérielle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La péricardite</a:t>
            </a:r>
          </a:p>
          <a:p>
            <a:pPr marL="800100" lvl="2" indent="0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09685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hypothyroïdie peut s’associer aux complications cardiovasculaires suivantes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L’aggravation d’une athérosclérose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bloc auriculo-ventriculaire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La fibrillation auriculaire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D-L’ hypertension artérielle</a:t>
            </a:r>
          </a:p>
          <a:p>
            <a:pPr marL="800100" lvl="2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La péricardite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    </a:t>
            </a:r>
            <a:r>
              <a:rPr lang="fr-FR" b="1" dirty="0">
                <a:solidFill>
                  <a:srgbClr val="FF0000"/>
                </a:solidFill>
              </a:rPr>
              <a:t>ABE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564756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quelles circonstances le dosage de la TSH est utile :</a:t>
            </a:r>
            <a:endParaRPr lang="fr-FR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A-Surveillance d’un traitement par Amiodarone </a:t>
            </a:r>
          </a:p>
          <a:p>
            <a:pPr marL="800100" lvl="2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Surveillance d’une insuffisance thyréotrope</a:t>
            </a:r>
          </a:p>
          <a:p>
            <a:pPr marL="800100" lvl="2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Radiothérapie de la région cervicale </a:t>
            </a:r>
          </a:p>
          <a:p>
            <a:pPr marL="800100" lvl="2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Premier trimestre d’une grossesse induite</a:t>
            </a:r>
          </a:p>
          <a:p>
            <a:pPr marL="800100" lvl="2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Surveillance d’un cancer thyroïdien 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           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              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570091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quelles circonstances le dosage de la TSH est utile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A-Surveillance d’un traitement par Amiodarone 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Surveillance d’une insuffisance thyréotrope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Radiothérapie de la région cervicale 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Premier trimestre d’une grossesse induite</a:t>
            </a:r>
          </a:p>
          <a:p>
            <a:pPr marL="800100" lvl="2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Surveillance d’un cancer thyroïdien </a:t>
            </a:r>
          </a:p>
          <a:p>
            <a:pPr marL="0" indent="0">
              <a:buNone/>
            </a:pPr>
            <a:r>
              <a:rPr lang="fr-FR" b="1" dirty="0"/>
              <a:t>                                                                    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                                                                             ACDE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210046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nne chance hi-res stock photography and images - Alamy">
            <a:extLst>
              <a:ext uri="{FF2B5EF4-FFF2-40B4-BE49-F238E27FC236}">
                <a16:creationId xmlns:a16="http://schemas.microsoft.com/office/drawing/2014/main" id="{E6BDE9C7-FA8A-D395-EAC4-07CD2DB2A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20"/>
          <a:stretch>
            <a:fillRect/>
          </a:stretch>
        </p:blipFill>
        <p:spPr bwMode="auto">
          <a:xfrm>
            <a:off x="2330223" y="1988840"/>
            <a:ext cx="4483553" cy="228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92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2db1027-a87f-4be4-8a1f-a151c5f54797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10072</TotalTime>
  <Words>7232</Words>
  <Application>Microsoft Office PowerPoint</Application>
  <PresentationFormat>Affichage à l'écran (4:3)</PresentationFormat>
  <Paragraphs>1242</Paragraphs>
  <Slides>150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150</vt:i4>
      </vt:variant>
    </vt:vector>
  </HeadingPairs>
  <TitlesOfParts>
    <vt:vector size="158" baseType="lpstr">
      <vt:lpstr>Arial</vt:lpstr>
      <vt:lpstr>Calibri</vt:lpstr>
      <vt:lpstr>Symbol</vt:lpstr>
      <vt:lpstr>Times New Roman</vt:lpstr>
      <vt:lpstr>TimesNewRomanPS-BoldMT</vt:lpstr>
      <vt:lpstr>TimesNewRomanPSMT</vt:lpstr>
      <vt:lpstr>Wingdings</vt:lpstr>
      <vt:lpstr>Thème Office</vt:lpstr>
      <vt:lpstr>Évaluation objectif 40: HYPOTHYROIDIE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Concernant les hypothyroïdies par surcharge iodée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Signes musculaires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 dépistage de l’ hypothyroïdie chez une femme enceinte est indiqué chez les femmes a risque (ATA 2017):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 myxœdème est-il réversible sous traitement ?</vt:lpstr>
      <vt:lpstr>Présentation PowerPoint</vt:lpstr>
      <vt:lpstr>Présentation PowerPoint</vt:lpstr>
      <vt:lpstr>C'est quoi le mécanisme physiopathologique de la lithiase vésiculaire au cours de l'hypothyroïdie </vt:lpstr>
      <vt:lpstr>Présentation PowerPoint</vt:lpstr>
      <vt:lpstr>Présentation PowerPoint</vt:lpstr>
      <vt:lpstr>C'est quoi le mécanisme physiopathologique de l'insuffisance coronaire au cours de l'hypothyroïdie ? </vt:lpstr>
      <vt:lpstr>C'est quoi la différence entre une polyendocrinopathie de type 1 et une polyendocrinopathie de type 2?</vt:lpstr>
      <vt:lpstr>C'est quoi l'intérêt de remplacer temporairement la LT4 par LT3 ? </vt:lpstr>
      <vt:lpstr>C'est quoi l'intérêt de remplacer temporairement la LT4 par LT3 ? </vt:lpstr>
      <vt:lpstr>C'est quoi l'intérêt de remplacer temporairement la LT4 par LT3 ? </vt:lpstr>
      <vt:lpstr>Est-ce que le but de réaliser une scintigraphie corps entier, sous stimulation par la TSH chez les sujets ayant subi une thyroïdectomie totale pour cancer thyroïdien est de chercher des métastases ? </vt:lpstr>
      <vt:lpstr>Présentation PowerPoint</vt:lpstr>
      <vt:lpstr>Présentation PowerPoint</vt:lpstr>
      <vt:lpstr>Présentation PowerPoint</vt:lpstr>
      <vt:lpstr>Présentation PowerPoint</vt:lpstr>
      <vt:lpstr>La thyroïdite de Hashimoto est caractérisée par l'atrophie thyroïdienne ou la présence d'un goitre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Hypothyroïdies centrales : insuffisance thyréotrope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Coma myxœdémateux</vt:lpstr>
      <vt:lpstr>Présentation PowerPoint</vt:lpstr>
      <vt:lpstr>Présentation PowerPoint</vt:lpstr>
      <vt:lpstr>Le coma myxœdémateux </vt:lpstr>
      <vt:lpstr>Présentation PowerPoint</vt:lpstr>
      <vt:lpstr>Présentation PowerPoint</vt:lpstr>
      <vt:lpstr>Dans le cas d'un coma myxœdémateux associé à une insuffisance surrénalienne par quel traitement on commence l'hydrocortisone ou L-thyroxine ? et quel est le délai entre les 2 en cas d'association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Quel est le mécanisme de l'insuffisance corticosurrénale au cours de l'hypothyroïdie et pourquoi elle est dite relative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Hypothyroïdie après traitement à l'iode radioactif (IRA-thérapie):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scintigraphie est-elle tjrs indiquée dans le diagnostic étiologique ? sinon dans quelles indications est-elle obligatoire ?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versus</dc:creator>
  <cp:lastModifiedBy>zied.kammoun</cp:lastModifiedBy>
  <cp:revision>56</cp:revision>
  <dcterms:created xsi:type="dcterms:W3CDTF">2023-06-10T09:00:56Z</dcterms:created>
  <dcterms:modified xsi:type="dcterms:W3CDTF">2025-09-09T22:16:26Z</dcterms:modified>
</cp:coreProperties>
</file>
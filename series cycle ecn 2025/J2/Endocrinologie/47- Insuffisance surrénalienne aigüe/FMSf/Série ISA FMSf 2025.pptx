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333" r:id="rId2"/>
    <p:sldId id="1886" r:id="rId3"/>
    <p:sldId id="1890" r:id="rId4"/>
    <p:sldId id="1880" r:id="rId5"/>
    <p:sldId id="1881" r:id="rId6"/>
    <p:sldId id="1891" r:id="rId7"/>
    <p:sldId id="1892" r:id="rId8"/>
    <p:sldId id="1874" r:id="rId9"/>
    <p:sldId id="1876" r:id="rId10"/>
    <p:sldId id="1875" r:id="rId11"/>
    <p:sldId id="1877" r:id="rId12"/>
    <p:sldId id="1754" r:id="rId13"/>
    <p:sldId id="1893" r:id="rId14"/>
    <p:sldId id="1564" r:id="rId15"/>
    <p:sldId id="1883" r:id="rId16"/>
    <p:sldId id="1841" r:id="rId17"/>
    <p:sldId id="1885" r:id="rId18"/>
    <p:sldId id="1650" r:id="rId19"/>
    <p:sldId id="1894" r:id="rId20"/>
    <p:sldId id="1843" r:id="rId21"/>
    <p:sldId id="1900" r:id="rId22"/>
    <p:sldId id="1911" r:id="rId23"/>
    <p:sldId id="1912" r:id="rId24"/>
    <p:sldId id="1783" r:id="rId25"/>
    <p:sldId id="1914" r:id="rId26"/>
    <p:sldId id="1913" r:id="rId27"/>
    <p:sldId id="1915" r:id="rId28"/>
    <p:sldId id="272" r:id="rId29"/>
    <p:sldId id="1743" r:id="rId30"/>
    <p:sldId id="1957" r:id="rId31"/>
    <p:sldId id="1917" r:id="rId32"/>
    <p:sldId id="1918" r:id="rId33"/>
    <p:sldId id="1919" r:id="rId34"/>
    <p:sldId id="1791" r:id="rId35"/>
    <p:sldId id="1920" r:id="rId36"/>
    <p:sldId id="1794" r:id="rId37"/>
    <p:sldId id="1959" r:id="rId38"/>
    <p:sldId id="1958" r:id="rId39"/>
    <p:sldId id="1960" r:id="rId40"/>
    <p:sldId id="1807" r:id="rId41"/>
    <p:sldId id="1833" r:id="rId42"/>
    <p:sldId id="1923" r:id="rId43"/>
    <p:sldId id="279" r:id="rId44"/>
    <p:sldId id="1924" r:id="rId45"/>
    <p:sldId id="1755" r:id="rId46"/>
    <p:sldId id="1925" r:id="rId47"/>
    <p:sldId id="1679" r:id="rId48"/>
    <p:sldId id="1680" r:id="rId49"/>
    <p:sldId id="1901" r:id="rId50"/>
    <p:sldId id="1926" r:id="rId51"/>
    <p:sldId id="1927" r:id="rId52"/>
    <p:sldId id="1902" r:id="rId53"/>
    <p:sldId id="1961" r:id="rId54"/>
    <p:sldId id="1930" r:id="rId55"/>
    <p:sldId id="1931" r:id="rId56"/>
    <p:sldId id="1654" r:id="rId57"/>
    <p:sldId id="1932" r:id="rId58"/>
    <p:sldId id="1933" r:id="rId59"/>
    <p:sldId id="1934" r:id="rId60"/>
    <p:sldId id="1939" r:id="rId61"/>
    <p:sldId id="1935" r:id="rId62"/>
    <p:sldId id="1940" r:id="rId63"/>
    <p:sldId id="1938" r:id="rId64"/>
    <p:sldId id="1941" r:id="rId65"/>
    <p:sldId id="1942" r:id="rId66"/>
    <p:sldId id="1814" r:id="rId67"/>
    <p:sldId id="1943" r:id="rId68"/>
    <p:sldId id="1675" r:id="rId69"/>
    <p:sldId id="1676" r:id="rId70"/>
    <p:sldId id="1677" r:id="rId71"/>
    <p:sldId id="1678" r:id="rId72"/>
    <p:sldId id="1947" r:id="rId73"/>
    <p:sldId id="1948" r:id="rId74"/>
    <p:sldId id="1946" r:id="rId75"/>
    <p:sldId id="1818" r:id="rId76"/>
    <p:sldId id="1949" r:id="rId77"/>
    <p:sldId id="1103" r:id="rId78"/>
    <p:sldId id="1853" r:id="rId79"/>
    <p:sldId id="1950" r:id="rId80"/>
    <p:sldId id="1836" r:id="rId81"/>
    <p:sldId id="1951" r:id="rId82"/>
    <p:sldId id="1952" r:id="rId83"/>
    <p:sldId id="1953" r:id="rId84"/>
    <p:sldId id="1709" r:id="rId85"/>
    <p:sldId id="1854" r:id="rId86"/>
    <p:sldId id="1574" r:id="rId87"/>
    <p:sldId id="1954" r:id="rId88"/>
    <p:sldId id="1848" r:id="rId89"/>
    <p:sldId id="1962" r:id="rId90"/>
    <p:sldId id="1483" r:id="rId91"/>
    <p:sldId id="1855" r:id="rId92"/>
    <p:sldId id="1583" r:id="rId93"/>
    <p:sldId id="1856" r:id="rId94"/>
    <p:sldId id="1955" r:id="rId95"/>
    <p:sldId id="1956" r:id="rId96"/>
    <p:sldId id="1716" r:id="rId97"/>
    <p:sldId id="1858" r:id="rId98"/>
    <p:sldId id="1963" r:id="rId99"/>
  </p:sldIdLst>
  <p:sldSz cx="9144000" cy="6858000" type="screen4x3"/>
  <p:notesSz cx="6858000" cy="9144000"/>
  <p:defaultTextStyle>
    <a:defPPr>
      <a:defRPr lang="fr-FR"/>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26" y="5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5DC7E35-3C6E-7E23-30FF-BB2FA1351D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fr-FR"/>
          </a:p>
        </p:txBody>
      </p:sp>
      <p:sp>
        <p:nvSpPr>
          <p:cNvPr id="3" name="Espace réservé de la date 2">
            <a:extLst>
              <a:ext uri="{FF2B5EF4-FFF2-40B4-BE49-F238E27FC236}">
                <a16:creationId xmlns:a16="http://schemas.microsoft.com/office/drawing/2014/main" id="{43C5E80C-2734-7E3C-4A40-5E8319D50FE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6B341C3A-C4AF-4ED8-AC0B-559E3620B191}" type="datetimeFigureOut">
              <a:rPr lang="fr-FR"/>
              <a:pPr>
                <a:defRPr/>
              </a:pPr>
              <a:t>27/10/2025</a:t>
            </a:fld>
            <a:endParaRPr lang="fr-FR"/>
          </a:p>
        </p:txBody>
      </p:sp>
      <p:sp>
        <p:nvSpPr>
          <p:cNvPr id="4" name="Espace réservé de l'image des diapositives 3">
            <a:extLst>
              <a:ext uri="{FF2B5EF4-FFF2-40B4-BE49-F238E27FC236}">
                <a16:creationId xmlns:a16="http://schemas.microsoft.com/office/drawing/2014/main" id="{69B14E69-F0A9-AFED-8EFE-F23E2E0F90D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a:extLst>
              <a:ext uri="{FF2B5EF4-FFF2-40B4-BE49-F238E27FC236}">
                <a16:creationId xmlns:a16="http://schemas.microsoft.com/office/drawing/2014/main" id="{15572500-CBDB-DAD5-E73D-41FD2C68A90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a:extLst>
              <a:ext uri="{FF2B5EF4-FFF2-40B4-BE49-F238E27FC236}">
                <a16:creationId xmlns:a16="http://schemas.microsoft.com/office/drawing/2014/main" id="{CC4C5BF8-651A-FD1E-5489-55EBC7C917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fr-FR"/>
          </a:p>
        </p:txBody>
      </p:sp>
      <p:sp>
        <p:nvSpPr>
          <p:cNvPr id="7" name="Espace réservé du numéro de diapositive 6">
            <a:extLst>
              <a:ext uri="{FF2B5EF4-FFF2-40B4-BE49-F238E27FC236}">
                <a16:creationId xmlns:a16="http://schemas.microsoft.com/office/drawing/2014/main" id="{2BA2E39B-B7F8-FF5A-36C4-65B688AC5F3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73269DBC-F8A3-44BB-BBD1-A7FA6895721A}" type="slidenum">
              <a:rPr lang="fr-FR" altLang="fr-FR"/>
              <a:pPr>
                <a:defRPr/>
              </a:pPr>
              <a:t>‹N°›</a:t>
            </a:fld>
            <a:endParaRPr lang="fr-FR" alt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a:extLst>
              <a:ext uri="{FF2B5EF4-FFF2-40B4-BE49-F238E27FC236}">
                <a16:creationId xmlns:a16="http://schemas.microsoft.com/office/drawing/2014/main" id="{D4211BB8-62AC-CBB7-7006-EFF16BAC28E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Espace réservé des notes 2">
            <a:extLst>
              <a:ext uri="{FF2B5EF4-FFF2-40B4-BE49-F238E27FC236}">
                <a16:creationId xmlns:a16="http://schemas.microsoft.com/office/drawing/2014/main" id="{DC4101AA-4406-C3F6-C381-FEBDB0C8CD7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a:t>l a également été postulé que des neurones spécialisés dans la détection du glucose dans l'hypothalamus ventromédian (VMH) sont capables de détecter une baisse de la glycémie et de déclencher la libération d'hormones contre-régulatrices pendant l'hypoglycémie</a:t>
            </a:r>
          </a:p>
        </p:txBody>
      </p:sp>
      <p:sp>
        <p:nvSpPr>
          <p:cNvPr id="52228" name="Espace réservé du numéro de diapositive 3">
            <a:extLst>
              <a:ext uri="{FF2B5EF4-FFF2-40B4-BE49-F238E27FC236}">
                <a16:creationId xmlns:a16="http://schemas.microsoft.com/office/drawing/2014/main" id="{41EA8EEB-9C17-59EB-544E-0BB844DD465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A92FE8A-CFF8-4CA0-820E-CD67DD082B04}" type="slidenum">
              <a:rPr lang="fr-FR" altLang="fr-FR" smtClean="0">
                <a:latin typeface="Calibri" panose="020F0502020204030204" pitchFamily="34" charset="0"/>
              </a:rPr>
              <a:pPr/>
              <a:t>48</a:t>
            </a:fld>
            <a:endParaRPr lang="fr-FR" altLang="fr-FR">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endParaRPr lang="fr-BE"/>
          </a:p>
        </p:txBody>
      </p:sp>
      <p:sp>
        <p:nvSpPr>
          <p:cNvPr id="4" name="Espace réservé de la date 3">
            <a:extLst>
              <a:ext uri="{FF2B5EF4-FFF2-40B4-BE49-F238E27FC236}">
                <a16:creationId xmlns:a16="http://schemas.microsoft.com/office/drawing/2014/main" id="{209053A6-2BC2-8710-6BA6-9217EC4EEC2B}"/>
              </a:ext>
            </a:extLst>
          </p:cNvPr>
          <p:cNvSpPr>
            <a:spLocks noGrp="1"/>
          </p:cNvSpPr>
          <p:nvPr>
            <p:ph type="dt" sz="half" idx="10"/>
          </p:nvPr>
        </p:nvSpPr>
        <p:spPr/>
        <p:txBody>
          <a:bodyPr/>
          <a:lstStyle>
            <a:lvl1pPr>
              <a:defRPr/>
            </a:lvl1pPr>
          </a:lstStyle>
          <a:p>
            <a:pPr>
              <a:defRPr/>
            </a:pPr>
            <a:fld id="{3FD481DF-45A7-4E18-989A-65F9F9509C55}" type="datetimeFigureOut">
              <a:rPr lang="fr-FR"/>
              <a:pPr>
                <a:defRPr/>
              </a:pPr>
              <a:t>27/10/2025</a:t>
            </a:fld>
            <a:endParaRPr lang="fr-BE"/>
          </a:p>
        </p:txBody>
      </p:sp>
      <p:sp>
        <p:nvSpPr>
          <p:cNvPr id="5" name="Espace réservé du pied de page 4">
            <a:extLst>
              <a:ext uri="{FF2B5EF4-FFF2-40B4-BE49-F238E27FC236}">
                <a16:creationId xmlns:a16="http://schemas.microsoft.com/office/drawing/2014/main" id="{993CEA7A-3D18-5BDA-AA9D-962248150191}"/>
              </a:ext>
            </a:extLst>
          </p:cNvPr>
          <p:cNvSpPr>
            <a:spLocks noGrp="1"/>
          </p:cNvSpPr>
          <p:nvPr>
            <p:ph type="ftr" sz="quarter" idx="11"/>
          </p:nvPr>
        </p:nvSpPr>
        <p:spPr/>
        <p:txBody>
          <a:bodyPr/>
          <a:lstStyle>
            <a:lvl1pPr>
              <a:defRPr/>
            </a:lvl1pPr>
          </a:lstStyle>
          <a:p>
            <a:pPr>
              <a:defRPr/>
            </a:pPr>
            <a:endParaRPr lang="fr-BE"/>
          </a:p>
        </p:txBody>
      </p:sp>
      <p:sp>
        <p:nvSpPr>
          <p:cNvPr id="6" name="Espace réservé du numéro de diapositive 5">
            <a:extLst>
              <a:ext uri="{FF2B5EF4-FFF2-40B4-BE49-F238E27FC236}">
                <a16:creationId xmlns:a16="http://schemas.microsoft.com/office/drawing/2014/main" id="{2FA88E25-73CD-C3B4-644D-E82E19811C02}"/>
              </a:ext>
            </a:extLst>
          </p:cNvPr>
          <p:cNvSpPr>
            <a:spLocks noGrp="1"/>
          </p:cNvSpPr>
          <p:nvPr>
            <p:ph type="sldNum" sz="quarter" idx="12"/>
          </p:nvPr>
        </p:nvSpPr>
        <p:spPr/>
        <p:txBody>
          <a:bodyPr/>
          <a:lstStyle>
            <a:lvl1pPr>
              <a:defRPr/>
            </a:lvl1pPr>
          </a:lstStyle>
          <a:p>
            <a:pPr>
              <a:defRPr/>
            </a:pPr>
            <a:fld id="{48E06315-E244-4A28-ADE0-0D47806F7A56}" type="slidenum">
              <a:rPr lang="fr-BE" altLang="fr-FR"/>
              <a:pPr>
                <a:defRPr/>
              </a:pPr>
              <a:t>‹N°›</a:t>
            </a:fld>
            <a:endParaRPr lang="fr-BE" altLang="fr-FR"/>
          </a:p>
        </p:txBody>
      </p:sp>
    </p:spTree>
    <p:extLst>
      <p:ext uri="{BB962C8B-B14F-4D97-AF65-F5344CB8AC3E}">
        <p14:creationId xmlns:p14="http://schemas.microsoft.com/office/powerpoint/2010/main" val="426820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536DC87B-453E-364C-0EF1-D403BCEA5AA1}"/>
              </a:ext>
            </a:extLst>
          </p:cNvPr>
          <p:cNvSpPr>
            <a:spLocks noGrp="1"/>
          </p:cNvSpPr>
          <p:nvPr>
            <p:ph type="dt" sz="half" idx="10"/>
          </p:nvPr>
        </p:nvSpPr>
        <p:spPr/>
        <p:txBody>
          <a:bodyPr/>
          <a:lstStyle>
            <a:lvl1pPr>
              <a:defRPr/>
            </a:lvl1pPr>
          </a:lstStyle>
          <a:p>
            <a:pPr>
              <a:defRPr/>
            </a:pPr>
            <a:fld id="{75D85C96-AA9E-48BC-9B3C-044284AD9BE8}" type="datetimeFigureOut">
              <a:rPr lang="fr-FR"/>
              <a:pPr>
                <a:defRPr/>
              </a:pPr>
              <a:t>27/10/2025</a:t>
            </a:fld>
            <a:endParaRPr lang="fr-BE"/>
          </a:p>
        </p:txBody>
      </p:sp>
      <p:sp>
        <p:nvSpPr>
          <p:cNvPr id="5" name="Espace réservé du pied de page 4">
            <a:extLst>
              <a:ext uri="{FF2B5EF4-FFF2-40B4-BE49-F238E27FC236}">
                <a16:creationId xmlns:a16="http://schemas.microsoft.com/office/drawing/2014/main" id="{7FE750DE-6751-0DC2-9EFA-45B31BFF8666}"/>
              </a:ext>
            </a:extLst>
          </p:cNvPr>
          <p:cNvSpPr>
            <a:spLocks noGrp="1"/>
          </p:cNvSpPr>
          <p:nvPr>
            <p:ph type="ftr" sz="quarter" idx="11"/>
          </p:nvPr>
        </p:nvSpPr>
        <p:spPr/>
        <p:txBody>
          <a:bodyPr/>
          <a:lstStyle>
            <a:lvl1pPr>
              <a:defRPr/>
            </a:lvl1pPr>
          </a:lstStyle>
          <a:p>
            <a:pPr>
              <a:defRPr/>
            </a:pPr>
            <a:endParaRPr lang="fr-BE"/>
          </a:p>
        </p:txBody>
      </p:sp>
      <p:sp>
        <p:nvSpPr>
          <p:cNvPr id="6" name="Espace réservé du numéro de diapositive 5">
            <a:extLst>
              <a:ext uri="{FF2B5EF4-FFF2-40B4-BE49-F238E27FC236}">
                <a16:creationId xmlns:a16="http://schemas.microsoft.com/office/drawing/2014/main" id="{F236CAF5-9CFA-BD2D-B3B1-6A9DED26F7C9}"/>
              </a:ext>
            </a:extLst>
          </p:cNvPr>
          <p:cNvSpPr>
            <a:spLocks noGrp="1"/>
          </p:cNvSpPr>
          <p:nvPr>
            <p:ph type="sldNum" sz="quarter" idx="12"/>
          </p:nvPr>
        </p:nvSpPr>
        <p:spPr/>
        <p:txBody>
          <a:bodyPr/>
          <a:lstStyle>
            <a:lvl1pPr>
              <a:defRPr/>
            </a:lvl1pPr>
          </a:lstStyle>
          <a:p>
            <a:pPr>
              <a:defRPr/>
            </a:pPr>
            <a:fld id="{30EA53C9-F6F5-44FC-8E46-C28CD10EDD2C}" type="slidenum">
              <a:rPr lang="fr-BE" altLang="fr-FR"/>
              <a:pPr>
                <a:defRPr/>
              </a:pPr>
              <a:t>‹N°›</a:t>
            </a:fld>
            <a:endParaRPr lang="fr-BE" altLang="fr-FR"/>
          </a:p>
        </p:txBody>
      </p:sp>
    </p:spTree>
    <p:extLst>
      <p:ext uri="{BB962C8B-B14F-4D97-AF65-F5344CB8AC3E}">
        <p14:creationId xmlns:p14="http://schemas.microsoft.com/office/powerpoint/2010/main" val="2506864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E5CEF6C-AED9-DAA2-0648-91CEA8177647}"/>
              </a:ext>
            </a:extLst>
          </p:cNvPr>
          <p:cNvSpPr>
            <a:spLocks noGrp="1"/>
          </p:cNvSpPr>
          <p:nvPr>
            <p:ph type="dt" sz="half" idx="10"/>
          </p:nvPr>
        </p:nvSpPr>
        <p:spPr/>
        <p:txBody>
          <a:bodyPr/>
          <a:lstStyle>
            <a:lvl1pPr>
              <a:defRPr/>
            </a:lvl1pPr>
          </a:lstStyle>
          <a:p>
            <a:pPr>
              <a:defRPr/>
            </a:pPr>
            <a:fld id="{2B896847-E620-47F1-9690-9D7D2A30EDB5}" type="datetimeFigureOut">
              <a:rPr lang="fr-FR"/>
              <a:pPr>
                <a:defRPr/>
              </a:pPr>
              <a:t>27/10/2025</a:t>
            </a:fld>
            <a:endParaRPr lang="fr-BE"/>
          </a:p>
        </p:txBody>
      </p:sp>
      <p:sp>
        <p:nvSpPr>
          <p:cNvPr id="5" name="Espace réservé du pied de page 4">
            <a:extLst>
              <a:ext uri="{FF2B5EF4-FFF2-40B4-BE49-F238E27FC236}">
                <a16:creationId xmlns:a16="http://schemas.microsoft.com/office/drawing/2014/main" id="{D7EF4242-2A10-929B-2112-FD70D2167EB8}"/>
              </a:ext>
            </a:extLst>
          </p:cNvPr>
          <p:cNvSpPr>
            <a:spLocks noGrp="1"/>
          </p:cNvSpPr>
          <p:nvPr>
            <p:ph type="ftr" sz="quarter" idx="11"/>
          </p:nvPr>
        </p:nvSpPr>
        <p:spPr/>
        <p:txBody>
          <a:bodyPr/>
          <a:lstStyle>
            <a:lvl1pPr>
              <a:defRPr/>
            </a:lvl1pPr>
          </a:lstStyle>
          <a:p>
            <a:pPr>
              <a:defRPr/>
            </a:pPr>
            <a:endParaRPr lang="fr-BE"/>
          </a:p>
        </p:txBody>
      </p:sp>
      <p:sp>
        <p:nvSpPr>
          <p:cNvPr id="6" name="Espace réservé du numéro de diapositive 5">
            <a:extLst>
              <a:ext uri="{FF2B5EF4-FFF2-40B4-BE49-F238E27FC236}">
                <a16:creationId xmlns:a16="http://schemas.microsoft.com/office/drawing/2014/main" id="{D288B112-3204-9C39-CE9F-2A81132EAA80}"/>
              </a:ext>
            </a:extLst>
          </p:cNvPr>
          <p:cNvSpPr>
            <a:spLocks noGrp="1"/>
          </p:cNvSpPr>
          <p:nvPr>
            <p:ph type="sldNum" sz="quarter" idx="12"/>
          </p:nvPr>
        </p:nvSpPr>
        <p:spPr/>
        <p:txBody>
          <a:bodyPr/>
          <a:lstStyle>
            <a:lvl1pPr>
              <a:defRPr/>
            </a:lvl1pPr>
          </a:lstStyle>
          <a:p>
            <a:pPr>
              <a:defRPr/>
            </a:pPr>
            <a:fld id="{8C2E6DCF-A85F-41C1-8D91-D1CCC7CF11C8}" type="slidenum">
              <a:rPr lang="fr-BE" altLang="fr-FR"/>
              <a:pPr>
                <a:defRPr/>
              </a:pPr>
              <a:t>‹N°›</a:t>
            </a:fld>
            <a:endParaRPr lang="fr-BE" altLang="fr-FR"/>
          </a:p>
        </p:txBody>
      </p:sp>
    </p:spTree>
    <p:extLst>
      <p:ext uri="{BB962C8B-B14F-4D97-AF65-F5344CB8AC3E}">
        <p14:creationId xmlns:p14="http://schemas.microsoft.com/office/powerpoint/2010/main" val="859760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3">
            <a:extLst>
              <a:ext uri="{FF2B5EF4-FFF2-40B4-BE49-F238E27FC236}">
                <a16:creationId xmlns:a16="http://schemas.microsoft.com/office/drawing/2014/main" id="{A866878D-BAE9-7F73-97E8-BAAF20B6CE8D}"/>
              </a:ext>
            </a:extLst>
          </p:cNvPr>
          <p:cNvSpPr>
            <a:spLocks noGrp="1"/>
          </p:cNvSpPr>
          <p:nvPr>
            <p:ph type="dt" sz="half" idx="10"/>
          </p:nvPr>
        </p:nvSpPr>
        <p:spPr/>
        <p:txBody>
          <a:bodyPr/>
          <a:lstStyle>
            <a:lvl1pPr>
              <a:defRPr/>
            </a:lvl1pPr>
          </a:lstStyle>
          <a:p>
            <a:pPr>
              <a:defRPr/>
            </a:pPr>
            <a:fld id="{48ACF9FA-56AF-42DC-A534-B23B5F5ABC7E}" type="datetimeFigureOut">
              <a:rPr lang="fr-FR"/>
              <a:pPr>
                <a:defRPr/>
              </a:pPr>
              <a:t>27/10/2025</a:t>
            </a:fld>
            <a:endParaRPr lang="fr-BE"/>
          </a:p>
        </p:txBody>
      </p:sp>
      <p:sp>
        <p:nvSpPr>
          <p:cNvPr id="6" name="Espace réservé du pied de page 4">
            <a:extLst>
              <a:ext uri="{FF2B5EF4-FFF2-40B4-BE49-F238E27FC236}">
                <a16:creationId xmlns:a16="http://schemas.microsoft.com/office/drawing/2014/main" id="{6FB1CA19-89BF-9148-E834-640D08E309C1}"/>
              </a:ext>
            </a:extLst>
          </p:cNvPr>
          <p:cNvSpPr>
            <a:spLocks noGrp="1"/>
          </p:cNvSpPr>
          <p:nvPr>
            <p:ph type="ftr" sz="quarter" idx="11"/>
          </p:nvPr>
        </p:nvSpPr>
        <p:spPr/>
        <p:txBody>
          <a:bodyPr/>
          <a:lstStyle>
            <a:lvl1pPr>
              <a:defRPr/>
            </a:lvl1pPr>
          </a:lstStyle>
          <a:p>
            <a:pPr>
              <a:defRPr/>
            </a:pPr>
            <a:endParaRPr lang="fr-BE"/>
          </a:p>
        </p:txBody>
      </p:sp>
      <p:sp>
        <p:nvSpPr>
          <p:cNvPr id="7" name="Espace réservé du numéro de diapositive 5">
            <a:extLst>
              <a:ext uri="{FF2B5EF4-FFF2-40B4-BE49-F238E27FC236}">
                <a16:creationId xmlns:a16="http://schemas.microsoft.com/office/drawing/2014/main" id="{EC336143-E169-D415-E96D-6FFBF23EDF23}"/>
              </a:ext>
            </a:extLst>
          </p:cNvPr>
          <p:cNvSpPr>
            <a:spLocks noGrp="1"/>
          </p:cNvSpPr>
          <p:nvPr>
            <p:ph type="sldNum" sz="quarter" idx="12"/>
          </p:nvPr>
        </p:nvSpPr>
        <p:spPr/>
        <p:txBody>
          <a:bodyPr/>
          <a:lstStyle>
            <a:lvl1pPr>
              <a:defRPr/>
            </a:lvl1pPr>
          </a:lstStyle>
          <a:p>
            <a:pPr>
              <a:defRPr/>
            </a:pPr>
            <a:fld id="{E4C3BC96-3D51-404A-A885-E9243B825807}" type="slidenum">
              <a:rPr lang="fr-BE" altLang="fr-FR"/>
              <a:pPr>
                <a:defRPr/>
              </a:pPr>
              <a:t>‹N°›</a:t>
            </a:fld>
            <a:endParaRPr lang="fr-BE" altLang="fr-FR"/>
          </a:p>
        </p:txBody>
      </p:sp>
    </p:spTree>
    <p:extLst>
      <p:ext uri="{BB962C8B-B14F-4D97-AF65-F5344CB8AC3E}">
        <p14:creationId xmlns:p14="http://schemas.microsoft.com/office/powerpoint/2010/main" val="122062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3">
            <a:extLst>
              <a:ext uri="{FF2B5EF4-FFF2-40B4-BE49-F238E27FC236}">
                <a16:creationId xmlns:a16="http://schemas.microsoft.com/office/drawing/2014/main" id="{D76ADCF3-9D01-4318-1164-69C7A852BE72}"/>
              </a:ext>
            </a:extLst>
          </p:cNvPr>
          <p:cNvSpPr>
            <a:spLocks noGrp="1"/>
          </p:cNvSpPr>
          <p:nvPr>
            <p:ph type="dt" sz="half" idx="10"/>
          </p:nvPr>
        </p:nvSpPr>
        <p:spPr/>
        <p:txBody>
          <a:bodyPr/>
          <a:lstStyle>
            <a:lvl1pPr>
              <a:defRPr/>
            </a:lvl1pPr>
          </a:lstStyle>
          <a:p>
            <a:pPr>
              <a:defRPr/>
            </a:pPr>
            <a:fld id="{AE244B66-362E-42C7-9895-1B9793B29BFF}" type="datetimeFigureOut">
              <a:rPr lang="fr-FR"/>
              <a:pPr>
                <a:defRPr/>
              </a:pPr>
              <a:t>27/10/2025</a:t>
            </a:fld>
            <a:endParaRPr lang="fr-BE"/>
          </a:p>
        </p:txBody>
      </p:sp>
      <p:sp>
        <p:nvSpPr>
          <p:cNvPr id="8" name="Espace réservé du pied de page 4">
            <a:extLst>
              <a:ext uri="{FF2B5EF4-FFF2-40B4-BE49-F238E27FC236}">
                <a16:creationId xmlns:a16="http://schemas.microsoft.com/office/drawing/2014/main" id="{0FFDF626-CB6C-3338-47C4-3CC2BC45209D}"/>
              </a:ext>
            </a:extLst>
          </p:cNvPr>
          <p:cNvSpPr>
            <a:spLocks noGrp="1"/>
          </p:cNvSpPr>
          <p:nvPr>
            <p:ph type="ftr" sz="quarter" idx="11"/>
          </p:nvPr>
        </p:nvSpPr>
        <p:spPr/>
        <p:txBody>
          <a:bodyPr/>
          <a:lstStyle>
            <a:lvl1pPr>
              <a:defRPr/>
            </a:lvl1pPr>
          </a:lstStyle>
          <a:p>
            <a:pPr>
              <a:defRPr/>
            </a:pPr>
            <a:endParaRPr lang="fr-BE"/>
          </a:p>
        </p:txBody>
      </p:sp>
      <p:sp>
        <p:nvSpPr>
          <p:cNvPr id="9" name="Espace réservé du numéro de diapositive 5">
            <a:extLst>
              <a:ext uri="{FF2B5EF4-FFF2-40B4-BE49-F238E27FC236}">
                <a16:creationId xmlns:a16="http://schemas.microsoft.com/office/drawing/2014/main" id="{19C32CFA-FEE5-20DA-BFB4-8D5ED678165F}"/>
              </a:ext>
            </a:extLst>
          </p:cNvPr>
          <p:cNvSpPr>
            <a:spLocks noGrp="1"/>
          </p:cNvSpPr>
          <p:nvPr>
            <p:ph type="sldNum" sz="quarter" idx="12"/>
          </p:nvPr>
        </p:nvSpPr>
        <p:spPr/>
        <p:txBody>
          <a:bodyPr/>
          <a:lstStyle>
            <a:lvl1pPr>
              <a:defRPr/>
            </a:lvl1pPr>
          </a:lstStyle>
          <a:p>
            <a:pPr>
              <a:defRPr/>
            </a:pPr>
            <a:fld id="{FEB31F2B-0878-466C-9590-386AA679E113}" type="slidenum">
              <a:rPr lang="fr-BE" altLang="fr-FR"/>
              <a:pPr>
                <a:defRPr/>
              </a:pPr>
              <a:t>‹N°›</a:t>
            </a:fld>
            <a:endParaRPr lang="fr-BE" altLang="fr-FR"/>
          </a:p>
        </p:txBody>
      </p:sp>
    </p:spTree>
    <p:extLst>
      <p:ext uri="{BB962C8B-B14F-4D97-AF65-F5344CB8AC3E}">
        <p14:creationId xmlns:p14="http://schemas.microsoft.com/office/powerpoint/2010/main" val="411797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e la date 3">
            <a:extLst>
              <a:ext uri="{FF2B5EF4-FFF2-40B4-BE49-F238E27FC236}">
                <a16:creationId xmlns:a16="http://schemas.microsoft.com/office/drawing/2014/main" id="{4AC9A544-EE41-4777-10B9-EFA38B64487F}"/>
              </a:ext>
            </a:extLst>
          </p:cNvPr>
          <p:cNvSpPr>
            <a:spLocks noGrp="1"/>
          </p:cNvSpPr>
          <p:nvPr>
            <p:ph type="dt" sz="half" idx="10"/>
          </p:nvPr>
        </p:nvSpPr>
        <p:spPr/>
        <p:txBody>
          <a:bodyPr/>
          <a:lstStyle>
            <a:lvl1pPr>
              <a:defRPr/>
            </a:lvl1pPr>
          </a:lstStyle>
          <a:p>
            <a:pPr>
              <a:defRPr/>
            </a:pPr>
            <a:fld id="{ADC0FE0A-BDB3-4418-BCA8-5007BEFF1D6C}" type="datetimeFigureOut">
              <a:rPr lang="fr-FR"/>
              <a:pPr>
                <a:defRPr/>
              </a:pPr>
              <a:t>27/10/2025</a:t>
            </a:fld>
            <a:endParaRPr lang="fr-BE"/>
          </a:p>
        </p:txBody>
      </p:sp>
      <p:sp>
        <p:nvSpPr>
          <p:cNvPr id="4" name="Espace réservé du pied de page 4">
            <a:extLst>
              <a:ext uri="{FF2B5EF4-FFF2-40B4-BE49-F238E27FC236}">
                <a16:creationId xmlns:a16="http://schemas.microsoft.com/office/drawing/2014/main" id="{DF177792-A301-6CBA-9D6E-FD952505F305}"/>
              </a:ext>
            </a:extLst>
          </p:cNvPr>
          <p:cNvSpPr>
            <a:spLocks noGrp="1"/>
          </p:cNvSpPr>
          <p:nvPr>
            <p:ph type="ftr" sz="quarter" idx="11"/>
          </p:nvPr>
        </p:nvSpPr>
        <p:spPr/>
        <p:txBody>
          <a:bodyPr/>
          <a:lstStyle>
            <a:lvl1pPr>
              <a:defRPr/>
            </a:lvl1pPr>
          </a:lstStyle>
          <a:p>
            <a:pPr>
              <a:defRPr/>
            </a:pPr>
            <a:endParaRPr lang="fr-BE"/>
          </a:p>
        </p:txBody>
      </p:sp>
      <p:sp>
        <p:nvSpPr>
          <p:cNvPr id="5" name="Espace réservé du numéro de diapositive 5">
            <a:extLst>
              <a:ext uri="{FF2B5EF4-FFF2-40B4-BE49-F238E27FC236}">
                <a16:creationId xmlns:a16="http://schemas.microsoft.com/office/drawing/2014/main" id="{C5053C40-65DE-829D-A9E1-9883E57BAAF2}"/>
              </a:ext>
            </a:extLst>
          </p:cNvPr>
          <p:cNvSpPr>
            <a:spLocks noGrp="1"/>
          </p:cNvSpPr>
          <p:nvPr>
            <p:ph type="sldNum" sz="quarter" idx="12"/>
          </p:nvPr>
        </p:nvSpPr>
        <p:spPr/>
        <p:txBody>
          <a:bodyPr/>
          <a:lstStyle>
            <a:lvl1pPr>
              <a:defRPr/>
            </a:lvl1pPr>
          </a:lstStyle>
          <a:p>
            <a:pPr>
              <a:defRPr/>
            </a:pPr>
            <a:fld id="{EBB9BA52-3602-45A6-9EAE-72E851199049}" type="slidenum">
              <a:rPr lang="fr-BE" altLang="fr-FR"/>
              <a:pPr>
                <a:defRPr/>
              </a:pPr>
              <a:t>‹N°›</a:t>
            </a:fld>
            <a:endParaRPr lang="fr-BE" altLang="fr-FR"/>
          </a:p>
        </p:txBody>
      </p:sp>
    </p:spTree>
    <p:extLst>
      <p:ext uri="{BB962C8B-B14F-4D97-AF65-F5344CB8AC3E}">
        <p14:creationId xmlns:p14="http://schemas.microsoft.com/office/powerpoint/2010/main" val="2679012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a:extLst>
              <a:ext uri="{FF2B5EF4-FFF2-40B4-BE49-F238E27FC236}">
                <a16:creationId xmlns:a16="http://schemas.microsoft.com/office/drawing/2014/main" id="{978B8F81-9FAD-DF3A-EB40-AC1CA2640DAF}"/>
              </a:ext>
            </a:extLst>
          </p:cNvPr>
          <p:cNvSpPr>
            <a:spLocks noGrp="1"/>
          </p:cNvSpPr>
          <p:nvPr>
            <p:ph type="dt" sz="half" idx="10"/>
          </p:nvPr>
        </p:nvSpPr>
        <p:spPr/>
        <p:txBody>
          <a:bodyPr/>
          <a:lstStyle>
            <a:lvl1pPr>
              <a:defRPr/>
            </a:lvl1pPr>
          </a:lstStyle>
          <a:p>
            <a:pPr>
              <a:defRPr/>
            </a:pPr>
            <a:fld id="{5D575867-7F1D-4C99-A1D9-C5A92D00726E}" type="datetimeFigureOut">
              <a:rPr lang="fr-FR"/>
              <a:pPr>
                <a:defRPr/>
              </a:pPr>
              <a:t>27/10/2025</a:t>
            </a:fld>
            <a:endParaRPr lang="fr-BE"/>
          </a:p>
        </p:txBody>
      </p:sp>
      <p:sp>
        <p:nvSpPr>
          <p:cNvPr id="3" name="Espace réservé du pied de page 4">
            <a:extLst>
              <a:ext uri="{FF2B5EF4-FFF2-40B4-BE49-F238E27FC236}">
                <a16:creationId xmlns:a16="http://schemas.microsoft.com/office/drawing/2014/main" id="{AB639810-8187-DA7D-DF25-41FE6E160171}"/>
              </a:ext>
            </a:extLst>
          </p:cNvPr>
          <p:cNvSpPr>
            <a:spLocks noGrp="1"/>
          </p:cNvSpPr>
          <p:nvPr>
            <p:ph type="ftr" sz="quarter" idx="11"/>
          </p:nvPr>
        </p:nvSpPr>
        <p:spPr/>
        <p:txBody>
          <a:bodyPr/>
          <a:lstStyle>
            <a:lvl1pPr>
              <a:defRPr/>
            </a:lvl1pPr>
          </a:lstStyle>
          <a:p>
            <a:pPr>
              <a:defRPr/>
            </a:pPr>
            <a:endParaRPr lang="fr-BE"/>
          </a:p>
        </p:txBody>
      </p:sp>
      <p:sp>
        <p:nvSpPr>
          <p:cNvPr id="4" name="Espace réservé du numéro de diapositive 5">
            <a:extLst>
              <a:ext uri="{FF2B5EF4-FFF2-40B4-BE49-F238E27FC236}">
                <a16:creationId xmlns:a16="http://schemas.microsoft.com/office/drawing/2014/main" id="{715C69BD-6428-C21E-79E5-BB5E17546FBE}"/>
              </a:ext>
            </a:extLst>
          </p:cNvPr>
          <p:cNvSpPr>
            <a:spLocks noGrp="1"/>
          </p:cNvSpPr>
          <p:nvPr>
            <p:ph type="sldNum" sz="quarter" idx="12"/>
          </p:nvPr>
        </p:nvSpPr>
        <p:spPr/>
        <p:txBody>
          <a:bodyPr/>
          <a:lstStyle>
            <a:lvl1pPr>
              <a:defRPr/>
            </a:lvl1pPr>
          </a:lstStyle>
          <a:p>
            <a:pPr>
              <a:defRPr/>
            </a:pPr>
            <a:fld id="{56BBDB9C-07A5-4BFA-9E36-2D779AE57223}" type="slidenum">
              <a:rPr lang="fr-BE" altLang="fr-FR"/>
              <a:pPr>
                <a:defRPr/>
              </a:pPr>
              <a:t>‹N°›</a:t>
            </a:fld>
            <a:endParaRPr lang="fr-BE" altLang="fr-FR"/>
          </a:p>
        </p:txBody>
      </p:sp>
    </p:spTree>
    <p:extLst>
      <p:ext uri="{BB962C8B-B14F-4D97-AF65-F5344CB8AC3E}">
        <p14:creationId xmlns:p14="http://schemas.microsoft.com/office/powerpoint/2010/main" val="1236258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3">
            <a:extLst>
              <a:ext uri="{FF2B5EF4-FFF2-40B4-BE49-F238E27FC236}">
                <a16:creationId xmlns:a16="http://schemas.microsoft.com/office/drawing/2014/main" id="{DD6EB742-525D-6E7E-522B-6216C485E7E7}"/>
              </a:ext>
            </a:extLst>
          </p:cNvPr>
          <p:cNvSpPr>
            <a:spLocks noGrp="1"/>
          </p:cNvSpPr>
          <p:nvPr>
            <p:ph type="dt" sz="half" idx="10"/>
          </p:nvPr>
        </p:nvSpPr>
        <p:spPr/>
        <p:txBody>
          <a:bodyPr/>
          <a:lstStyle>
            <a:lvl1pPr>
              <a:defRPr/>
            </a:lvl1pPr>
          </a:lstStyle>
          <a:p>
            <a:pPr>
              <a:defRPr/>
            </a:pPr>
            <a:fld id="{9CBB5D23-01C6-4C6D-B103-D5B9C28F5B86}" type="datetimeFigureOut">
              <a:rPr lang="fr-FR"/>
              <a:pPr>
                <a:defRPr/>
              </a:pPr>
              <a:t>27/10/2025</a:t>
            </a:fld>
            <a:endParaRPr lang="fr-BE"/>
          </a:p>
        </p:txBody>
      </p:sp>
      <p:sp>
        <p:nvSpPr>
          <p:cNvPr id="6" name="Espace réservé du pied de page 4">
            <a:extLst>
              <a:ext uri="{FF2B5EF4-FFF2-40B4-BE49-F238E27FC236}">
                <a16:creationId xmlns:a16="http://schemas.microsoft.com/office/drawing/2014/main" id="{D15ABA9F-B834-645A-20F4-87CF01924F6A}"/>
              </a:ext>
            </a:extLst>
          </p:cNvPr>
          <p:cNvSpPr>
            <a:spLocks noGrp="1"/>
          </p:cNvSpPr>
          <p:nvPr>
            <p:ph type="ftr" sz="quarter" idx="11"/>
          </p:nvPr>
        </p:nvSpPr>
        <p:spPr/>
        <p:txBody>
          <a:bodyPr/>
          <a:lstStyle>
            <a:lvl1pPr>
              <a:defRPr/>
            </a:lvl1pPr>
          </a:lstStyle>
          <a:p>
            <a:pPr>
              <a:defRPr/>
            </a:pPr>
            <a:endParaRPr lang="fr-BE"/>
          </a:p>
        </p:txBody>
      </p:sp>
      <p:sp>
        <p:nvSpPr>
          <p:cNvPr id="7" name="Espace réservé du numéro de diapositive 5">
            <a:extLst>
              <a:ext uri="{FF2B5EF4-FFF2-40B4-BE49-F238E27FC236}">
                <a16:creationId xmlns:a16="http://schemas.microsoft.com/office/drawing/2014/main" id="{CEB96F34-EF15-ED0B-E559-B240AAADC8B4}"/>
              </a:ext>
            </a:extLst>
          </p:cNvPr>
          <p:cNvSpPr>
            <a:spLocks noGrp="1"/>
          </p:cNvSpPr>
          <p:nvPr>
            <p:ph type="sldNum" sz="quarter" idx="12"/>
          </p:nvPr>
        </p:nvSpPr>
        <p:spPr/>
        <p:txBody>
          <a:bodyPr/>
          <a:lstStyle>
            <a:lvl1pPr>
              <a:defRPr/>
            </a:lvl1pPr>
          </a:lstStyle>
          <a:p>
            <a:pPr>
              <a:defRPr/>
            </a:pPr>
            <a:fld id="{EA7AD934-BD98-46D0-8146-3C72BD3C2702}" type="slidenum">
              <a:rPr lang="fr-BE" altLang="fr-FR"/>
              <a:pPr>
                <a:defRPr/>
              </a:pPr>
              <a:t>‹N°›</a:t>
            </a:fld>
            <a:endParaRPr lang="fr-BE" altLang="fr-FR"/>
          </a:p>
        </p:txBody>
      </p:sp>
    </p:spTree>
    <p:extLst>
      <p:ext uri="{BB962C8B-B14F-4D97-AF65-F5344CB8AC3E}">
        <p14:creationId xmlns:p14="http://schemas.microsoft.com/office/powerpoint/2010/main" val="1652246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BE"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3">
            <a:extLst>
              <a:ext uri="{FF2B5EF4-FFF2-40B4-BE49-F238E27FC236}">
                <a16:creationId xmlns:a16="http://schemas.microsoft.com/office/drawing/2014/main" id="{0CCE9624-D95C-B8AC-5689-B9792C1C9D8C}"/>
              </a:ext>
            </a:extLst>
          </p:cNvPr>
          <p:cNvSpPr>
            <a:spLocks noGrp="1"/>
          </p:cNvSpPr>
          <p:nvPr>
            <p:ph type="dt" sz="half" idx="10"/>
          </p:nvPr>
        </p:nvSpPr>
        <p:spPr/>
        <p:txBody>
          <a:bodyPr/>
          <a:lstStyle>
            <a:lvl1pPr>
              <a:defRPr/>
            </a:lvl1pPr>
          </a:lstStyle>
          <a:p>
            <a:pPr>
              <a:defRPr/>
            </a:pPr>
            <a:fld id="{EEF87D1D-8733-431E-999B-9381894AAAFF}" type="datetimeFigureOut">
              <a:rPr lang="fr-FR"/>
              <a:pPr>
                <a:defRPr/>
              </a:pPr>
              <a:t>27/10/2025</a:t>
            </a:fld>
            <a:endParaRPr lang="fr-BE"/>
          </a:p>
        </p:txBody>
      </p:sp>
      <p:sp>
        <p:nvSpPr>
          <p:cNvPr id="6" name="Espace réservé du pied de page 4">
            <a:extLst>
              <a:ext uri="{FF2B5EF4-FFF2-40B4-BE49-F238E27FC236}">
                <a16:creationId xmlns:a16="http://schemas.microsoft.com/office/drawing/2014/main" id="{9A68CE69-F20C-405D-4966-4A667D288033}"/>
              </a:ext>
            </a:extLst>
          </p:cNvPr>
          <p:cNvSpPr>
            <a:spLocks noGrp="1"/>
          </p:cNvSpPr>
          <p:nvPr>
            <p:ph type="ftr" sz="quarter" idx="11"/>
          </p:nvPr>
        </p:nvSpPr>
        <p:spPr/>
        <p:txBody>
          <a:bodyPr/>
          <a:lstStyle>
            <a:lvl1pPr>
              <a:defRPr/>
            </a:lvl1pPr>
          </a:lstStyle>
          <a:p>
            <a:pPr>
              <a:defRPr/>
            </a:pPr>
            <a:endParaRPr lang="fr-BE"/>
          </a:p>
        </p:txBody>
      </p:sp>
      <p:sp>
        <p:nvSpPr>
          <p:cNvPr id="7" name="Espace réservé du numéro de diapositive 5">
            <a:extLst>
              <a:ext uri="{FF2B5EF4-FFF2-40B4-BE49-F238E27FC236}">
                <a16:creationId xmlns:a16="http://schemas.microsoft.com/office/drawing/2014/main" id="{CFD16B7B-A32F-F551-6AC4-C1119BE50F20}"/>
              </a:ext>
            </a:extLst>
          </p:cNvPr>
          <p:cNvSpPr>
            <a:spLocks noGrp="1"/>
          </p:cNvSpPr>
          <p:nvPr>
            <p:ph type="sldNum" sz="quarter" idx="12"/>
          </p:nvPr>
        </p:nvSpPr>
        <p:spPr/>
        <p:txBody>
          <a:bodyPr/>
          <a:lstStyle>
            <a:lvl1pPr>
              <a:defRPr/>
            </a:lvl1pPr>
          </a:lstStyle>
          <a:p>
            <a:pPr>
              <a:defRPr/>
            </a:pPr>
            <a:fld id="{CF4C7277-5C4F-4C3D-9A88-B52C2FDC20EC}" type="slidenum">
              <a:rPr lang="fr-BE" altLang="fr-FR"/>
              <a:pPr>
                <a:defRPr/>
              </a:pPr>
              <a:t>‹N°›</a:t>
            </a:fld>
            <a:endParaRPr lang="fr-BE" altLang="fr-FR"/>
          </a:p>
        </p:txBody>
      </p:sp>
    </p:spTree>
    <p:extLst>
      <p:ext uri="{BB962C8B-B14F-4D97-AF65-F5344CB8AC3E}">
        <p14:creationId xmlns:p14="http://schemas.microsoft.com/office/powerpoint/2010/main" val="216732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071F56F5-6BE7-DD93-B2BF-F93F15034C6B}"/>
              </a:ext>
            </a:extLst>
          </p:cNvPr>
          <p:cNvSpPr>
            <a:spLocks noGrp="1"/>
          </p:cNvSpPr>
          <p:nvPr>
            <p:ph type="dt" sz="half" idx="10"/>
          </p:nvPr>
        </p:nvSpPr>
        <p:spPr/>
        <p:txBody>
          <a:bodyPr/>
          <a:lstStyle>
            <a:lvl1pPr>
              <a:defRPr/>
            </a:lvl1pPr>
          </a:lstStyle>
          <a:p>
            <a:pPr>
              <a:defRPr/>
            </a:pPr>
            <a:fld id="{B13095E9-5F78-441A-94C0-88E70ACB188F}" type="datetimeFigureOut">
              <a:rPr lang="fr-FR"/>
              <a:pPr>
                <a:defRPr/>
              </a:pPr>
              <a:t>27/10/2025</a:t>
            </a:fld>
            <a:endParaRPr lang="fr-BE"/>
          </a:p>
        </p:txBody>
      </p:sp>
      <p:sp>
        <p:nvSpPr>
          <p:cNvPr id="5" name="Espace réservé du pied de page 4">
            <a:extLst>
              <a:ext uri="{FF2B5EF4-FFF2-40B4-BE49-F238E27FC236}">
                <a16:creationId xmlns:a16="http://schemas.microsoft.com/office/drawing/2014/main" id="{BD63AEFA-3405-CF1E-191D-917D527177E6}"/>
              </a:ext>
            </a:extLst>
          </p:cNvPr>
          <p:cNvSpPr>
            <a:spLocks noGrp="1"/>
          </p:cNvSpPr>
          <p:nvPr>
            <p:ph type="ftr" sz="quarter" idx="11"/>
          </p:nvPr>
        </p:nvSpPr>
        <p:spPr/>
        <p:txBody>
          <a:bodyPr/>
          <a:lstStyle>
            <a:lvl1pPr>
              <a:defRPr/>
            </a:lvl1pPr>
          </a:lstStyle>
          <a:p>
            <a:pPr>
              <a:defRPr/>
            </a:pPr>
            <a:endParaRPr lang="fr-BE"/>
          </a:p>
        </p:txBody>
      </p:sp>
      <p:sp>
        <p:nvSpPr>
          <p:cNvPr id="6" name="Espace réservé du numéro de diapositive 5">
            <a:extLst>
              <a:ext uri="{FF2B5EF4-FFF2-40B4-BE49-F238E27FC236}">
                <a16:creationId xmlns:a16="http://schemas.microsoft.com/office/drawing/2014/main" id="{3766D59C-017F-A52D-4A09-D777871EB6FE}"/>
              </a:ext>
            </a:extLst>
          </p:cNvPr>
          <p:cNvSpPr>
            <a:spLocks noGrp="1"/>
          </p:cNvSpPr>
          <p:nvPr>
            <p:ph type="sldNum" sz="quarter" idx="12"/>
          </p:nvPr>
        </p:nvSpPr>
        <p:spPr/>
        <p:txBody>
          <a:bodyPr/>
          <a:lstStyle>
            <a:lvl1pPr>
              <a:defRPr/>
            </a:lvl1pPr>
          </a:lstStyle>
          <a:p>
            <a:pPr>
              <a:defRPr/>
            </a:pPr>
            <a:fld id="{53EA3F09-1DCB-4BDA-847B-7C288B29B00E}" type="slidenum">
              <a:rPr lang="fr-BE" altLang="fr-FR"/>
              <a:pPr>
                <a:defRPr/>
              </a:pPr>
              <a:t>‹N°›</a:t>
            </a:fld>
            <a:endParaRPr lang="fr-BE" altLang="fr-FR"/>
          </a:p>
        </p:txBody>
      </p:sp>
    </p:spTree>
    <p:extLst>
      <p:ext uri="{BB962C8B-B14F-4D97-AF65-F5344CB8AC3E}">
        <p14:creationId xmlns:p14="http://schemas.microsoft.com/office/powerpoint/2010/main" val="191129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CFAA2DC2-8B98-0623-BE36-9EEC1F506876}"/>
              </a:ext>
            </a:extLst>
          </p:cNvPr>
          <p:cNvSpPr>
            <a:spLocks noGrp="1"/>
          </p:cNvSpPr>
          <p:nvPr>
            <p:ph type="dt" sz="half" idx="10"/>
          </p:nvPr>
        </p:nvSpPr>
        <p:spPr/>
        <p:txBody>
          <a:bodyPr/>
          <a:lstStyle>
            <a:lvl1pPr>
              <a:defRPr/>
            </a:lvl1pPr>
          </a:lstStyle>
          <a:p>
            <a:pPr>
              <a:defRPr/>
            </a:pPr>
            <a:fld id="{310A525E-4CF2-4620-ADCA-2F3473259A5D}" type="datetimeFigureOut">
              <a:rPr lang="fr-FR"/>
              <a:pPr>
                <a:defRPr/>
              </a:pPr>
              <a:t>27/10/2025</a:t>
            </a:fld>
            <a:endParaRPr lang="fr-BE"/>
          </a:p>
        </p:txBody>
      </p:sp>
      <p:sp>
        <p:nvSpPr>
          <p:cNvPr id="5" name="Espace réservé du pied de page 4">
            <a:extLst>
              <a:ext uri="{FF2B5EF4-FFF2-40B4-BE49-F238E27FC236}">
                <a16:creationId xmlns:a16="http://schemas.microsoft.com/office/drawing/2014/main" id="{E62A81CE-743B-4BC9-30CD-8A8ED83A4451}"/>
              </a:ext>
            </a:extLst>
          </p:cNvPr>
          <p:cNvSpPr>
            <a:spLocks noGrp="1"/>
          </p:cNvSpPr>
          <p:nvPr>
            <p:ph type="ftr" sz="quarter" idx="11"/>
          </p:nvPr>
        </p:nvSpPr>
        <p:spPr/>
        <p:txBody>
          <a:bodyPr/>
          <a:lstStyle>
            <a:lvl1pPr>
              <a:defRPr/>
            </a:lvl1pPr>
          </a:lstStyle>
          <a:p>
            <a:pPr>
              <a:defRPr/>
            </a:pPr>
            <a:endParaRPr lang="fr-BE"/>
          </a:p>
        </p:txBody>
      </p:sp>
      <p:sp>
        <p:nvSpPr>
          <p:cNvPr id="6" name="Espace réservé du numéro de diapositive 5">
            <a:extLst>
              <a:ext uri="{FF2B5EF4-FFF2-40B4-BE49-F238E27FC236}">
                <a16:creationId xmlns:a16="http://schemas.microsoft.com/office/drawing/2014/main" id="{2D864D01-319D-B2B0-C7C0-C743BE500E23}"/>
              </a:ext>
            </a:extLst>
          </p:cNvPr>
          <p:cNvSpPr>
            <a:spLocks noGrp="1"/>
          </p:cNvSpPr>
          <p:nvPr>
            <p:ph type="sldNum" sz="quarter" idx="12"/>
          </p:nvPr>
        </p:nvSpPr>
        <p:spPr/>
        <p:txBody>
          <a:bodyPr/>
          <a:lstStyle>
            <a:lvl1pPr>
              <a:defRPr/>
            </a:lvl1pPr>
          </a:lstStyle>
          <a:p>
            <a:pPr>
              <a:defRPr/>
            </a:pPr>
            <a:fld id="{7E86D636-EC9B-450A-9F8D-83C7FBE300CC}" type="slidenum">
              <a:rPr lang="fr-BE" altLang="fr-FR"/>
              <a:pPr>
                <a:defRPr/>
              </a:pPr>
              <a:t>‹N°›</a:t>
            </a:fld>
            <a:endParaRPr lang="fr-BE" altLang="fr-FR"/>
          </a:p>
        </p:txBody>
      </p:sp>
    </p:spTree>
    <p:extLst>
      <p:ext uri="{BB962C8B-B14F-4D97-AF65-F5344CB8AC3E}">
        <p14:creationId xmlns:p14="http://schemas.microsoft.com/office/powerpoint/2010/main" val="194332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Espace réservé du titre 1">
            <a:extLst>
              <a:ext uri="{FF2B5EF4-FFF2-40B4-BE49-F238E27FC236}">
                <a16:creationId xmlns:a16="http://schemas.microsoft.com/office/drawing/2014/main" id="{082BD57C-55E8-915D-5DD9-A8FB17E7F89E}"/>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a:t>
            </a:r>
            <a:endParaRPr lang="fr-BE" altLang="fr-FR"/>
          </a:p>
        </p:txBody>
      </p:sp>
      <p:sp>
        <p:nvSpPr>
          <p:cNvPr id="1027" name="Espace réservé du texte 2">
            <a:extLst>
              <a:ext uri="{FF2B5EF4-FFF2-40B4-BE49-F238E27FC236}">
                <a16:creationId xmlns:a16="http://schemas.microsoft.com/office/drawing/2014/main" id="{F3508CBF-924B-2B22-811A-E38DE1B1E7B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fr-BE" altLang="fr-FR"/>
          </a:p>
        </p:txBody>
      </p:sp>
      <p:sp>
        <p:nvSpPr>
          <p:cNvPr id="4" name="Espace réservé de la date 3">
            <a:extLst>
              <a:ext uri="{FF2B5EF4-FFF2-40B4-BE49-F238E27FC236}">
                <a16:creationId xmlns:a16="http://schemas.microsoft.com/office/drawing/2014/main" id="{7AF5FC99-B973-C7EC-8C2E-99A0C06B684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73655663-5EFE-4B83-8F77-5EA7E0CEDFA1}" type="datetimeFigureOut">
              <a:rPr lang="fr-FR"/>
              <a:pPr>
                <a:defRPr/>
              </a:pPr>
              <a:t>27/10/2025</a:t>
            </a:fld>
            <a:endParaRPr lang="fr-BE"/>
          </a:p>
        </p:txBody>
      </p:sp>
      <p:sp>
        <p:nvSpPr>
          <p:cNvPr id="5" name="Espace réservé du pied de page 4">
            <a:extLst>
              <a:ext uri="{FF2B5EF4-FFF2-40B4-BE49-F238E27FC236}">
                <a16:creationId xmlns:a16="http://schemas.microsoft.com/office/drawing/2014/main" id="{262FD940-E9E1-22D3-E103-FCBB00B4F2B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fr-BE"/>
          </a:p>
        </p:txBody>
      </p:sp>
      <p:sp>
        <p:nvSpPr>
          <p:cNvPr id="6" name="Espace réservé du numéro de diapositive 5">
            <a:extLst>
              <a:ext uri="{FF2B5EF4-FFF2-40B4-BE49-F238E27FC236}">
                <a16:creationId xmlns:a16="http://schemas.microsoft.com/office/drawing/2014/main" id="{32E8D27E-4FBE-4DCC-CB8E-485ED1E086B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F3EC58A7-7364-4410-92D7-6E1DCA5BA2CB}" type="slidenum">
              <a:rPr lang="fr-BE" altLang="fr-FR"/>
              <a:pPr>
                <a:defRPr/>
              </a:pPr>
              <a:t>‹N°›</a:t>
            </a:fld>
            <a:endParaRPr lang="fr-BE" alt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5">
            <a:extLst>
              <a:ext uri="{FF2B5EF4-FFF2-40B4-BE49-F238E27FC236}">
                <a16:creationId xmlns:a16="http://schemas.microsoft.com/office/drawing/2014/main" id="{07DD543C-67F9-8BF6-012D-9C4A8E0C7023}"/>
              </a:ext>
            </a:extLst>
          </p:cNvPr>
          <p:cNvSpPr txBox="1">
            <a:spLocks noChangeArrowheads="1"/>
          </p:cNvSpPr>
          <p:nvPr/>
        </p:nvSpPr>
        <p:spPr bwMode="auto">
          <a:xfrm>
            <a:off x="1214438" y="1827213"/>
            <a:ext cx="6562725" cy="1816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fr-FR" altLang="fr-FR" sz="4000" b="1">
                <a:solidFill>
                  <a:srgbClr val="D60093"/>
                </a:solidFill>
                <a:latin typeface="Verdana" panose="020B0604030504040204" pitchFamily="34" charset="0"/>
              </a:rPr>
              <a:t>Cycle de préparation de résidanat </a:t>
            </a:r>
          </a:p>
          <a:p>
            <a:pPr algn="ctr" eaLnBrk="1" hangingPunct="1">
              <a:spcBef>
                <a:spcPct val="0"/>
              </a:spcBef>
              <a:buFontTx/>
              <a:buNone/>
            </a:pPr>
            <a:r>
              <a:rPr lang="fr-FR" altLang="fr-FR" b="1">
                <a:solidFill>
                  <a:srgbClr val="D60093"/>
                </a:solidFill>
                <a:latin typeface="Verdana" panose="020B0604030504040204" pitchFamily="34" charset="0"/>
              </a:rPr>
              <a:t>Objectif 47 </a:t>
            </a:r>
            <a:endParaRPr lang="fr-FR" altLang="fr-FR" sz="3600">
              <a:solidFill>
                <a:srgbClr val="CC0066"/>
              </a:solidFill>
              <a:latin typeface="Verdana" panose="020B0604030504040204" pitchFamily="34" charset="0"/>
            </a:endParaRPr>
          </a:p>
        </p:txBody>
      </p:sp>
      <p:sp>
        <p:nvSpPr>
          <p:cNvPr id="3075" name="ZoneTexte 3">
            <a:extLst>
              <a:ext uri="{FF2B5EF4-FFF2-40B4-BE49-F238E27FC236}">
                <a16:creationId xmlns:a16="http://schemas.microsoft.com/office/drawing/2014/main" id="{32C5E87B-24F6-54B1-85DC-F3E1E59E2AF6}"/>
              </a:ext>
            </a:extLst>
          </p:cNvPr>
          <p:cNvSpPr txBox="1">
            <a:spLocks noChangeArrowheads="1"/>
          </p:cNvSpPr>
          <p:nvPr/>
        </p:nvSpPr>
        <p:spPr bwMode="auto">
          <a:xfrm>
            <a:off x="1963738" y="4076700"/>
            <a:ext cx="48228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1800" b="1">
                <a:solidFill>
                  <a:srgbClr val="000099"/>
                </a:solidFill>
                <a:latin typeface="Comic Sans MS" panose="030F0702030302020204" pitchFamily="66" charset="0"/>
              </a:rPr>
              <a:t>       </a:t>
            </a:r>
            <a:r>
              <a:rPr lang="fr-FR" altLang="fr-FR" sz="1600" b="1">
                <a:solidFill>
                  <a:srgbClr val="002060"/>
                </a:solidFill>
                <a:latin typeface="Verdana" panose="020B0604030504040204" pitchFamily="34" charset="0"/>
              </a:rPr>
              <a:t>Dr NADIA CHARFI  SELLAMI</a:t>
            </a:r>
          </a:p>
          <a:p>
            <a:pPr eaLnBrk="1" hangingPunct="1">
              <a:lnSpc>
                <a:spcPct val="150000"/>
              </a:lnSpc>
              <a:spcBef>
                <a:spcPct val="0"/>
              </a:spcBef>
              <a:buFontTx/>
              <a:buNone/>
            </a:pPr>
            <a:r>
              <a:rPr lang="fr-FR" altLang="fr-FR" sz="1600" b="1">
                <a:solidFill>
                  <a:srgbClr val="002060"/>
                </a:solidFill>
                <a:latin typeface="Verdana" panose="020B0604030504040204" pitchFamily="34" charset="0"/>
              </a:rPr>
              <a:t>     SERVICE ENDOCRINOLOGIE SFAX</a:t>
            </a:r>
          </a:p>
          <a:p>
            <a:pPr eaLnBrk="1" hangingPunct="1">
              <a:lnSpc>
                <a:spcPct val="150000"/>
              </a:lnSpc>
              <a:spcBef>
                <a:spcPct val="0"/>
              </a:spcBef>
              <a:buFontTx/>
              <a:buNone/>
            </a:pPr>
            <a:r>
              <a:rPr lang="fr-FR" altLang="fr-FR" sz="1600" b="1">
                <a:solidFill>
                  <a:srgbClr val="002060"/>
                </a:solidFill>
                <a:latin typeface="Verdana" panose="020B0604030504040204" pitchFamily="34" charset="0"/>
              </a:rPr>
              <a:t>                      10 OCTOBRE 2025</a:t>
            </a:r>
          </a:p>
          <a:p>
            <a:pPr eaLnBrk="1" hangingPunct="1">
              <a:spcBef>
                <a:spcPct val="0"/>
              </a:spcBef>
              <a:buFontTx/>
              <a:buNone/>
            </a:pPr>
            <a:endParaRPr lang="fr-FR" altLang="fr-FR" sz="1600" b="1"/>
          </a:p>
          <a:p>
            <a:pPr eaLnBrk="1" hangingPunct="1">
              <a:spcBef>
                <a:spcPct val="0"/>
              </a:spcBef>
              <a:buFontTx/>
              <a:buNone/>
            </a:pPr>
            <a:endParaRPr lang="fr-FR" altLang="fr-F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AA9B47FF-A0C3-7822-7F79-979C8282702D}"/>
              </a:ext>
            </a:extLst>
          </p:cNvPr>
          <p:cNvSpPr>
            <a:spLocks noChangeArrowheads="1"/>
          </p:cNvSpPr>
          <p:nvPr/>
        </p:nvSpPr>
        <p:spPr bwMode="auto">
          <a:xfrm>
            <a:off x="576263" y="1031875"/>
            <a:ext cx="7991475" cy="42862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          Au cours de l’ insuffisance surrénale aiguë , il existe </a:t>
            </a:r>
          </a:p>
          <a:p>
            <a:pPr eaLnBrk="1" hangingPunct="1">
              <a:lnSpc>
                <a:spcPct val="150000"/>
              </a:lnSpc>
              <a:defRPr/>
            </a:pPr>
            <a:r>
              <a:rPr lang="fr-FR" altLang="fr-FR" sz="2400" b="1" dirty="0">
                <a:solidFill>
                  <a:srgbClr val="002060"/>
                </a:solidFill>
                <a:latin typeface="+mn-lt"/>
              </a:rPr>
              <a:t>          une diminution de la sécrétion de :</a:t>
            </a:r>
          </a:p>
          <a:p>
            <a:pPr eaLnBrk="1" hangingPunct="1">
              <a:lnSpc>
                <a:spcPct val="150000"/>
              </a:lnSpc>
              <a:defRPr/>
            </a:pPr>
            <a:r>
              <a:rPr lang="fr-FR" altLang="fr-FR" sz="2400" b="1" dirty="0">
                <a:solidFill>
                  <a:srgbClr val="002060"/>
                </a:solidFill>
                <a:latin typeface="+mn-lt"/>
              </a:rPr>
              <a:t>           </a:t>
            </a:r>
          </a:p>
          <a:p>
            <a:pPr eaLnBrk="1" hangingPunct="1">
              <a:lnSpc>
                <a:spcPct val="150000"/>
              </a:lnSpc>
              <a:defRPr/>
            </a:pPr>
            <a:r>
              <a:rPr lang="fr-FR" altLang="fr-FR" sz="2400" dirty="0">
                <a:solidFill>
                  <a:srgbClr val="002060"/>
                </a:solidFill>
                <a:latin typeface="+mj-lt"/>
              </a:rPr>
              <a:t>   A –</a:t>
            </a:r>
            <a:r>
              <a:rPr lang="fr-FR" sz="2200" dirty="0">
                <a:solidFill>
                  <a:srgbClr val="002060"/>
                </a:solidFill>
                <a:latin typeface="+mj-lt"/>
              </a:rPr>
              <a:t>Aldostérone </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B – Rénine </a:t>
            </a:r>
          </a:p>
          <a:p>
            <a:pPr eaLnBrk="1" hangingPunct="1">
              <a:lnSpc>
                <a:spcPct val="150000"/>
              </a:lnSpc>
              <a:defRPr/>
            </a:pPr>
            <a:r>
              <a:rPr lang="fr-FR" altLang="fr-FR" sz="2200" dirty="0">
                <a:solidFill>
                  <a:srgbClr val="002060"/>
                </a:solidFill>
                <a:latin typeface="+mj-lt"/>
              </a:rPr>
              <a:t>   C – Catécholamines </a:t>
            </a:r>
          </a:p>
          <a:p>
            <a:pPr eaLnBrk="1" hangingPunct="1">
              <a:lnSpc>
                <a:spcPct val="150000"/>
              </a:lnSpc>
              <a:defRPr/>
            </a:pPr>
            <a:r>
              <a:rPr lang="fr-FR" altLang="fr-FR" sz="2200" dirty="0">
                <a:solidFill>
                  <a:srgbClr val="002060"/>
                </a:solidFill>
                <a:latin typeface="+mj-lt"/>
              </a:rPr>
              <a:t>   D</a:t>
            </a:r>
            <a:r>
              <a:rPr lang="fr-FR" altLang="fr-FR" sz="2200" dirty="0">
                <a:solidFill>
                  <a:srgbClr val="002060"/>
                </a:solidFill>
                <a:latin typeface="Calibri"/>
              </a:rPr>
              <a:t> –</a:t>
            </a:r>
            <a:r>
              <a:rPr lang="fr-FR" altLang="fr-FR" sz="2200" dirty="0">
                <a:solidFill>
                  <a:srgbClr val="002060"/>
                </a:solidFill>
                <a:latin typeface="+mj-lt"/>
              </a:rPr>
              <a:t> Cortisol </a:t>
            </a:r>
          </a:p>
          <a:p>
            <a:pPr eaLnBrk="1" hangingPunct="1">
              <a:lnSpc>
                <a:spcPct val="150000"/>
              </a:lnSpc>
              <a:defRPr/>
            </a:pPr>
            <a:r>
              <a:rPr lang="fr-FR" altLang="fr-FR" sz="2200" dirty="0">
                <a:solidFill>
                  <a:srgbClr val="002060"/>
                </a:solidFill>
                <a:latin typeface="+mj-lt"/>
              </a:rPr>
              <a:t>   E – PTH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518D40E8-19CF-1CF6-E930-7CFDE0CD7ACE}"/>
              </a:ext>
            </a:extLst>
          </p:cNvPr>
          <p:cNvSpPr>
            <a:spLocks noChangeArrowheads="1"/>
          </p:cNvSpPr>
          <p:nvPr/>
        </p:nvSpPr>
        <p:spPr bwMode="auto">
          <a:xfrm>
            <a:off x="576263" y="1031875"/>
            <a:ext cx="7991475" cy="42862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          Au cours de l’ insuffisance surrénale aiguë , il existe </a:t>
            </a:r>
          </a:p>
          <a:p>
            <a:pPr eaLnBrk="1" hangingPunct="1">
              <a:lnSpc>
                <a:spcPct val="150000"/>
              </a:lnSpc>
              <a:defRPr/>
            </a:pPr>
            <a:r>
              <a:rPr lang="fr-FR" altLang="fr-FR" sz="2400" b="1" dirty="0">
                <a:solidFill>
                  <a:srgbClr val="002060"/>
                </a:solidFill>
                <a:latin typeface="+mn-lt"/>
              </a:rPr>
              <a:t>          une diminution de la sécrétion de :</a:t>
            </a:r>
          </a:p>
          <a:p>
            <a:pPr eaLnBrk="1" hangingPunct="1">
              <a:lnSpc>
                <a:spcPct val="150000"/>
              </a:lnSpc>
              <a:defRPr/>
            </a:pPr>
            <a:r>
              <a:rPr lang="fr-FR" altLang="fr-FR" sz="2400" b="1" dirty="0">
                <a:solidFill>
                  <a:srgbClr val="002060"/>
                </a:solidFill>
                <a:latin typeface="+mn-lt"/>
              </a:rPr>
              <a:t>           </a:t>
            </a:r>
          </a:p>
          <a:p>
            <a:pPr eaLnBrk="1" hangingPunct="1">
              <a:lnSpc>
                <a:spcPct val="150000"/>
              </a:lnSpc>
              <a:defRPr/>
            </a:pPr>
            <a:r>
              <a:rPr lang="fr-FR" altLang="fr-FR" sz="2400" dirty="0">
                <a:solidFill>
                  <a:srgbClr val="002060"/>
                </a:solidFill>
                <a:latin typeface="+mj-lt"/>
              </a:rPr>
              <a:t>   </a:t>
            </a:r>
            <a:r>
              <a:rPr lang="fr-FR" altLang="fr-FR" sz="2400" dirty="0">
                <a:solidFill>
                  <a:srgbClr val="FF0000"/>
                </a:solidFill>
                <a:latin typeface="+mj-lt"/>
              </a:rPr>
              <a:t>A –</a:t>
            </a:r>
            <a:r>
              <a:rPr lang="fr-FR" sz="2200" dirty="0">
                <a:solidFill>
                  <a:srgbClr val="FF0000"/>
                </a:solidFill>
                <a:latin typeface="+mj-lt"/>
              </a:rPr>
              <a:t>Aldostérone </a:t>
            </a:r>
            <a:endParaRPr lang="fr-FR" altLang="fr-FR" sz="2200" dirty="0">
              <a:solidFill>
                <a:srgbClr val="FF0000"/>
              </a:solidFill>
              <a:latin typeface="+mj-lt"/>
            </a:endParaRPr>
          </a:p>
          <a:p>
            <a:pPr eaLnBrk="1" hangingPunct="1">
              <a:lnSpc>
                <a:spcPct val="150000"/>
              </a:lnSpc>
              <a:defRPr/>
            </a:pPr>
            <a:r>
              <a:rPr lang="fr-FR" altLang="fr-FR" sz="2200" dirty="0">
                <a:solidFill>
                  <a:srgbClr val="002060"/>
                </a:solidFill>
                <a:latin typeface="+mj-lt"/>
              </a:rPr>
              <a:t>   B – Rénine </a:t>
            </a:r>
          </a:p>
          <a:p>
            <a:pPr eaLnBrk="1" hangingPunct="1">
              <a:lnSpc>
                <a:spcPct val="150000"/>
              </a:lnSpc>
              <a:defRPr/>
            </a:pPr>
            <a:r>
              <a:rPr lang="fr-FR" altLang="fr-FR" sz="2200" dirty="0">
                <a:solidFill>
                  <a:srgbClr val="002060"/>
                </a:solidFill>
                <a:latin typeface="+mj-lt"/>
              </a:rPr>
              <a:t>   C – Catécholamines </a:t>
            </a:r>
          </a:p>
          <a:p>
            <a:pPr eaLnBrk="1" hangingPunct="1">
              <a:lnSpc>
                <a:spcPct val="150000"/>
              </a:lnSpc>
              <a:defRPr/>
            </a:pPr>
            <a:r>
              <a:rPr lang="fr-FR" altLang="fr-FR" sz="2200" dirty="0">
                <a:solidFill>
                  <a:srgbClr val="002060"/>
                </a:solidFill>
                <a:latin typeface="+mj-lt"/>
              </a:rPr>
              <a:t>   </a:t>
            </a:r>
            <a:r>
              <a:rPr lang="fr-FR" altLang="fr-FR" sz="2200" dirty="0">
                <a:solidFill>
                  <a:srgbClr val="FF0000"/>
                </a:solidFill>
                <a:latin typeface="+mj-lt"/>
              </a:rPr>
              <a:t>D</a:t>
            </a:r>
            <a:r>
              <a:rPr lang="fr-FR" altLang="fr-FR" sz="2200" dirty="0">
                <a:solidFill>
                  <a:srgbClr val="FF0000"/>
                </a:solidFill>
                <a:latin typeface="Calibri"/>
              </a:rPr>
              <a:t> –</a:t>
            </a:r>
            <a:r>
              <a:rPr lang="fr-FR" altLang="fr-FR" sz="2200" dirty="0">
                <a:solidFill>
                  <a:srgbClr val="FF0000"/>
                </a:solidFill>
                <a:latin typeface="+mj-lt"/>
              </a:rPr>
              <a:t> Cortisol </a:t>
            </a:r>
          </a:p>
          <a:p>
            <a:pPr eaLnBrk="1" hangingPunct="1">
              <a:lnSpc>
                <a:spcPct val="150000"/>
              </a:lnSpc>
              <a:defRPr/>
            </a:pPr>
            <a:r>
              <a:rPr lang="fr-FR" altLang="fr-FR" sz="2200" dirty="0">
                <a:solidFill>
                  <a:srgbClr val="002060"/>
                </a:solidFill>
                <a:latin typeface="+mj-lt"/>
              </a:rPr>
              <a:t>   E – PTH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C24BD811-1FAC-FF24-36C8-5D6E579AFD36}"/>
              </a:ext>
            </a:extLst>
          </p:cNvPr>
          <p:cNvSpPr>
            <a:spLocks noChangeArrowheads="1"/>
          </p:cNvSpPr>
          <p:nvPr/>
        </p:nvSpPr>
        <p:spPr bwMode="auto">
          <a:xfrm>
            <a:off x="-107950" y="1125538"/>
            <a:ext cx="9396413" cy="42862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          Parmi les conséquences d’une insuffisance surrénale aiguë </a:t>
            </a:r>
          </a:p>
          <a:p>
            <a:pPr eaLnBrk="1" hangingPunct="1">
              <a:lnSpc>
                <a:spcPct val="150000"/>
              </a:lnSpc>
              <a:defRPr/>
            </a:pPr>
            <a:r>
              <a:rPr lang="fr-FR" altLang="fr-FR" sz="2400" b="1" dirty="0">
                <a:solidFill>
                  <a:srgbClr val="002060"/>
                </a:solidFill>
                <a:latin typeface="+mn-lt"/>
              </a:rPr>
              <a:t>           on trouve:</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   A – </a:t>
            </a:r>
            <a:r>
              <a:rPr lang="fr-FR" sz="2200" dirty="0">
                <a:solidFill>
                  <a:srgbClr val="002060"/>
                </a:solidFill>
                <a:latin typeface="+mj-lt"/>
              </a:rPr>
              <a:t>Diminution de la production du glycogène hépatique </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B –  Augmentation </a:t>
            </a:r>
            <a:r>
              <a:rPr lang="fr-FR" sz="2200" dirty="0">
                <a:solidFill>
                  <a:srgbClr val="002060"/>
                </a:solidFill>
                <a:latin typeface="+mj-lt"/>
              </a:rPr>
              <a:t>de l’excrétion rénale des ions H+</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C – </a:t>
            </a:r>
            <a:r>
              <a:rPr lang="fr-FR" sz="2200" dirty="0">
                <a:solidFill>
                  <a:srgbClr val="002060"/>
                </a:solidFill>
                <a:latin typeface="+mj-lt"/>
              </a:rPr>
              <a:t>Fuite d’eau au niveau des urines</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D –Augmentation</a:t>
            </a:r>
            <a:r>
              <a:rPr lang="fr-FR" sz="2200" dirty="0">
                <a:solidFill>
                  <a:srgbClr val="002060"/>
                </a:solidFill>
                <a:latin typeface="+mj-lt"/>
              </a:rPr>
              <a:t> de l’expression membranaire des récepteurs  adrénergiques</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E – Altérations </a:t>
            </a:r>
            <a:r>
              <a:rPr lang="fr-FR" sz="2200" dirty="0">
                <a:solidFill>
                  <a:srgbClr val="002060"/>
                </a:solidFill>
                <a:latin typeface="+mj-lt"/>
              </a:rPr>
              <a:t>échanges ioniques au niveau des muqueuses digestives</a:t>
            </a:r>
            <a:endParaRPr lang="fr-FR" altLang="fr-FR" sz="2200" dirty="0">
              <a:solidFill>
                <a:srgbClr val="002060"/>
              </a:solidFill>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00CDA8A6-E6C0-393F-A24D-F54E1A12B6AA}"/>
              </a:ext>
            </a:extLst>
          </p:cNvPr>
          <p:cNvSpPr>
            <a:spLocks noChangeArrowheads="1"/>
          </p:cNvSpPr>
          <p:nvPr/>
        </p:nvSpPr>
        <p:spPr bwMode="auto">
          <a:xfrm>
            <a:off x="-107950" y="1125538"/>
            <a:ext cx="9396413" cy="42862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          Parmi les conséquences d’une insuffisance surrénale aiguë </a:t>
            </a:r>
          </a:p>
          <a:p>
            <a:pPr eaLnBrk="1" hangingPunct="1">
              <a:lnSpc>
                <a:spcPct val="150000"/>
              </a:lnSpc>
              <a:defRPr/>
            </a:pPr>
            <a:r>
              <a:rPr lang="fr-FR" altLang="fr-FR" sz="2400" b="1" dirty="0">
                <a:solidFill>
                  <a:srgbClr val="002060"/>
                </a:solidFill>
                <a:latin typeface="+mn-lt"/>
              </a:rPr>
              <a:t>           on trouve:</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   </a:t>
            </a:r>
            <a:r>
              <a:rPr lang="fr-FR" altLang="fr-FR" sz="2400" dirty="0">
                <a:solidFill>
                  <a:srgbClr val="FF0000"/>
                </a:solidFill>
                <a:latin typeface="+mj-lt"/>
              </a:rPr>
              <a:t>A – </a:t>
            </a:r>
            <a:r>
              <a:rPr lang="fr-FR" sz="2200" dirty="0">
                <a:solidFill>
                  <a:srgbClr val="FF0000"/>
                </a:solidFill>
                <a:latin typeface="+mj-lt"/>
              </a:rPr>
              <a:t>Diminution de la production du glycogène hépatique </a:t>
            </a:r>
            <a:endParaRPr lang="fr-FR" altLang="fr-FR" sz="2200" dirty="0">
              <a:solidFill>
                <a:srgbClr val="FF0000"/>
              </a:solidFill>
              <a:latin typeface="+mj-lt"/>
            </a:endParaRPr>
          </a:p>
          <a:p>
            <a:pPr eaLnBrk="1" hangingPunct="1">
              <a:lnSpc>
                <a:spcPct val="150000"/>
              </a:lnSpc>
              <a:defRPr/>
            </a:pPr>
            <a:r>
              <a:rPr lang="fr-FR" altLang="fr-FR" sz="2200" dirty="0">
                <a:solidFill>
                  <a:srgbClr val="002060"/>
                </a:solidFill>
                <a:latin typeface="+mj-lt"/>
              </a:rPr>
              <a:t>   B –  Augmentation </a:t>
            </a:r>
            <a:r>
              <a:rPr lang="fr-FR" sz="2200" dirty="0">
                <a:solidFill>
                  <a:srgbClr val="002060"/>
                </a:solidFill>
                <a:latin typeface="+mj-lt"/>
              </a:rPr>
              <a:t>de l’excrétion rénale des ions H+</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a:t>
            </a:r>
            <a:r>
              <a:rPr lang="fr-FR" altLang="fr-FR" sz="2200" dirty="0">
                <a:solidFill>
                  <a:srgbClr val="FF0000"/>
                </a:solidFill>
                <a:latin typeface="+mj-lt"/>
              </a:rPr>
              <a:t>C – </a:t>
            </a:r>
            <a:r>
              <a:rPr lang="fr-FR" sz="2200" dirty="0">
                <a:solidFill>
                  <a:srgbClr val="FF0000"/>
                </a:solidFill>
                <a:latin typeface="+mj-lt"/>
              </a:rPr>
              <a:t>Fuite d’eau au niveau des urines</a:t>
            </a:r>
            <a:endParaRPr lang="fr-FR" altLang="fr-FR" sz="2200" dirty="0">
              <a:solidFill>
                <a:srgbClr val="FF0000"/>
              </a:solidFill>
              <a:latin typeface="+mj-lt"/>
            </a:endParaRPr>
          </a:p>
          <a:p>
            <a:pPr eaLnBrk="1" hangingPunct="1">
              <a:lnSpc>
                <a:spcPct val="150000"/>
              </a:lnSpc>
              <a:defRPr/>
            </a:pPr>
            <a:r>
              <a:rPr lang="fr-FR" altLang="fr-FR" sz="2200" dirty="0">
                <a:solidFill>
                  <a:srgbClr val="002060"/>
                </a:solidFill>
                <a:latin typeface="+mj-lt"/>
              </a:rPr>
              <a:t>   D –Augmentation</a:t>
            </a:r>
            <a:r>
              <a:rPr lang="fr-FR" sz="2200" dirty="0">
                <a:solidFill>
                  <a:srgbClr val="002060"/>
                </a:solidFill>
                <a:latin typeface="+mj-lt"/>
              </a:rPr>
              <a:t> de l’expression membranaire des récepteurs  adrénergiques</a:t>
            </a:r>
            <a:endParaRPr lang="fr-FR" altLang="fr-FR" sz="2200" dirty="0">
              <a:solidFill>
                <a:srgbClr val="002060"/>
              </a:solidFill>
              <a:latin typeface="+mj-lt"/>
            </a:endParaRPr>
          </a:p>
          <a:p>
            <a:pPr eaLnBrk="1" hangingPunct="1">
              <a:lnSpc>
                <a:spcPct val="150000"/>
              </a:lnSpc>
              <a:defRPr/>
            </a:pPr>
            <a:r>
              <a:rPr lang="fr-FR" altLang="fr-FR" sz="2200" dirty="0">
                <a:solidFill>
                  <a:srgbClr val="002060"/>
                </a:solidFill>
                <a:latin typeface="+mj-lt"/>
              </a:rPr>
              <a:t>   </a:t>
            </a:r>
            <a:r>
              <a:rPr lang="fr-FR" altLang="fr-FR" sz="2200" dirty="0">
                <a:solidFill>
                  <a:srgbClr val="FF0000"/>
                </a:solidFill>
                <a:latin typeface="+mj-lt"/>
              </a:rPr>
              <a:t>E – Altérations </a:t>
            </a:r>
            <a:r>
              <a:rPr lang="fr-FR" sz="2200" dirty="0">
                <a:solidFill>
                  <a:srgbClr val="FF0000"/>
                </a:solidFill>
                <a:latin typeface="+mj-lt"/>
              </a:rPr>
              <a:t>échanges ioniques au niveau des muqueuses digestives</a:t>
            </a:r>
            <a:endParaRPr lang="fr-FR" altLang="fr-FR" sz="2200" dirty="0">
              <a:solidFill>
                <a:srgbClr val="FF0000"/>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2DE2F12F-D6D5-787E-889C-984A40FFED28}"/>
              </a:ext>
            </a:extLst>
          </p:cNvPr>
          <p:cNvSpPr txBox="1">
            <a:spLocks noChangeArrowheads="1"/>
          </p:cNvSpPr>
          <p:nvPr/>
        </p:nvSpPr>
        <p:spPr bwMode="auto">
          <a:xfrm>
            <a:off x="214313" y="1071563"/>
            <a:ext cx="8786812" cy="3878262"/>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     Parmi les causes d’Une insuffisance corticotrope:</a:t>
            </a:r>
          </a:p>
          <a:p>
            <a:pPr eaLnBrk="1" fontAlgn="auto" hangingPunct="1">
              <a:spcBef>
                <a:spcPct val="50000"/>
              </a:spcBef>
              <a:spcAft>
                <a:spcPts val="0"/>
              </a:spcAft>
              <a:defRPr/>
            </a:pPr>
            <a:endParaRPr lang="fr-FR" sz="2800" b="1" dirty="0">
              <a:solidFill>
                <a:srgbClr val="00B050"/>
              </a:solidFill>
              <a:effectLst>
                <a:outerShdw blurRad="38100" dist="38100" dir="2700000" algn="tl">
                  <a:srgbClr val="C0C0C0"/>
                </a:outerShdw>
              </a:effectLst>
              <a:latin typeface="Georgia" pitchFamily="18" charset="0"/>
              <a:cs typeface="+mn-cs"/>
            </a:endParaRPr>
          </a:p>
          <a:p>
            <a:pPr eaLnBrk="1" fontAlgn="auto" hangingPunct="1">
              <a:spcBef>
                <a:spcPct val="50000"/>
              </a:spcBef>
              <a:spcAft>
                <a:spcPts val="0"/>
              </a:spcAft>
              <a:defRPr/>
            </a:pPr>
            <a:r>
              <a:rPr lang="fr-FR" sz="2400" dirty="0">
                <a:sym typeface="Wingdings 2" pitchFamily="18" charset="2"/>
              </a:rPr>
              <a:t>   </a:t>
            </a:r>
            <a:r>
              <a:rPr lang="fr-FR" sz="2400" dirty="0">
                <a:solidFill>
                  <a:srgbClr val="002060"/>
                </a:solidFill>
                <a:latin typeface="+mn-lt"/>
                <a:sym typeface="Wingdings 2" pitchFamily="18" charset="2"/>
              </a:rPr>
              <a:t>A-Déficit protéine STAR </a:t>
            </a:r>
          </a:p>
          <a:p>
            <a:pPr eaLnBrk="1" fontAlgn="auto" hangingPunct="1">
              <a:spcBef>
                <a:spcPct val="50000"/>
              </a:spcBef>
              <a:spcAft>
                <a:spcPts val="0"/>
              </a:spcAft>
              <a:defRPr/>
            </a:pPr>
            <a:r>
              <a:rPr lang="fr-FR" sz="2400" dirty="0">
                <a:solidFill>
                  <a:srgbClr val="002060"/>
                </a:solidFill>
                <a:latin typeface="+mn-lt"/>
                <a:sym typeface="Wingdings 2" pitchFamily="18" charset="2"/>
              </a:rPr>
              <a:t>   B- Sevrage d’une corticothérapie</a:t>
            </a:r>
          </a:p>
          <a:p>
            <a:pPr eaLnBrk="1" fontAlgn="auto" hangingPunct="1">
              <a:spcBef>
                <a:spcPct val="50000"/>
              </a:spcBef>
              <a:spcAft>
                <a:spcPts val="0"/>
              </a:spcAft>
              <a:defRPr/>
            </a:pPr>
            <a:r>
              <a:rPr lang="fr-FR" sz="2400" dirty="0">
                <a:solidFill>
                  <a:srgbClr val="002060"/>
                </a:solidFill>
                <a:latin typeface="+mn-lt"/>
                <a:sym typeface="Wingdings 2" pitchFamily="18" charset="2"/>
              </a:rPr>
              <a:t>   C-</a:t>
            </a:r>
            <a:r>
              <a:rPr lang="fr-FR" sz="2400" dirty="0">
                <a:solidFill>
                  <a:srgbClr val="002060"/>
                </a:solidFill>
              </a:rPr>
              <a:t> </a:t>
            </a:r>
            <a:r>
              <a:rPr lang="fr-FR" sz="2400" dirty="0">
                <a:solidFill>
                  <a:srgbClr val="002060"/>
                </a:solidFill>
                <a:latin typeface="+mn-lt"/>
                <a:sym typeface="Wingdings 2" pitchFamily="18" charset="2"/>
              </a:rPr>
              <a:t>Chirurgie d’un micro adénome corticotrope</a:t>
            </a:r>
          </a:p>
          <a:p>
            <a:pPr eaLnBrk="1" fontAlgn="auto" hangingPunct="1">
              <a:spcBef>
                <a:spcPct val="50000"/>
              </a:spcBef>
              <a:spcAft>
                <a:spcPts val="0"/>
              </a:spcAft>
              <a:defRPr/>
            </a:pPr>
            <a:r>
              <a:rPr lang="fr-FR" sz="2400" dirty="0">
                <a:solidFill>
                  <a:srgbClr val="002060"/>
                </a:solidFill>
                <a:latin typeface="+mn-lt"/>
                <a:sym typeface="Wingdings 2" pitchFamily="18" charset="2"/>
              </a:rPr>
              <a:t>   D-</a:t>
            </a:r>
            <a:r>
              <a:rPr lang="fr-FR" sz="2400" dirty="0">
                <a:solidFill>
                  <a:srgbClr val="002060"/>
                </a:solidFill>
                <a:latin typeface="+mn-lt"/>
              </a:rPr>
              <a:t>Anomalie du gène DAX-1</a:t>
            </a:r>
            <a:r>
              <a:rPr lang="fr-FR" sz="2400" dirty="0">
                <a:solidFill>
                  <a:srgbClr val="002060"/>
                </a:solidFill>
                <a:latin typeface="+mn-lt"/>
                <a:sym typeface="Wingdings 2" pitchFamily="18" charset="2"/>
              </a:rPr>
              <a:t> </a:t>
            </a:r>
          </a:p>
          <a:p>
            <a:pPr eaLnBrk="1" fontAlgn="auto" hangingPunct="1">
              <a:spcBef>
                <a:spcPct val="50000"/>
              </a:spcBef>
              <a:spcAft>
                <a:spcPts val="0"/>
              </a:spcAft>
              <a:defRPr/>
            </a:pPr>
            <a:r>
              <a:rPr lang="fr-FR" sz="2400" dirty="0">
                <a:solidFill>
                  <a:srgbClr val="002060"/>
                </a:solidFill>
                <a:latin typeface="+mn-lt"/>
                <a:sym typeface="Wingdings 2" pitchFamily="18" charset="2"/>
              </a:rPr>
              <a:t>   E- Radiothérapie hypothalamique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DFBFB60F-8829-F413-80A8-22B4A2AFFFE5}"/>
              </a:ext>
            </a:extLst>
          </p:cNvPr>
          <p:cNvSpPr txBox="1">
            <a:spLocks noChangeArrowheads="1"/>
          </p:cNvSpPr>
          <p:nvPr/>
        </p:nvSpPr>
        <p:spPr bwMode="auto">
          <a:xfrm>
            <a:off x="214313" y="1071563"/>
            <a:ext cx="8786812" cy="3878262"/>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     Parmi les causes d’Une insuffisance corticotrope:</a:t>
            </a:r>
          </a:p>
          <a:p>
            <a:pPr eaLnBrk="1" fontAlgn="auto" hangingPunct="1">
              <a:spcBef>
                <a:spcPct val="50000"/>
              </a:spcBef>
              <a:spcAft>
                <a:spcPts val="0"/>
              </a:spcAft>
              <a:defRPr/>
            </a:pPr>
            <a:endParaRPr lang="fr-FR" sz="2800" b="1" dirty="0">
              <a:solidFill>
                <a:srgbClr val="00B050"/>
              </a:solidFill>
              <a:effectLst>
                <a:outerShdw blurRad="38100" dist="38100" dir="2700000" algn="tl">
                  <a:srgbClr val="C0C0C0"/>
                </a:outerShdw>
              </a:effectLst>
              <a:latin typeface="Georgia" pitchFamily="18" charset="0"/>
              <a:cs typeface="+mn-cs"/>
            </a:endParaRPr>
          </a:p>
          <a:p>
            <a:pPr eaLnBrk="1" fontAlgn="auto" hangingPunct="1">
              <a:spcBef>
                <a:spcPct val="50000"/>
              </a:spcBef>
              <a:spcAft>
                <a:spcPts val="0"/>
              </a:spcAft>
              <a:defRPr/>
            </a:pPr>
            <a:r>
              <a:rPr lang="fr-FR" sz="2400" dirty="0">
                <a:sym typeface="Wingdings 2" pitchFamily="18" charset="2"/>
              </a:rPr>
              <a:t>   </a:t>
            </a:r>
            <a:r>
              <a:rPr lang="fr-FR" sz="2400" dirty="0">
                <a:solidFill>
                  <a:srgbClr val="002060"/>
                </a:solidFill>
                <a:latin typeface="+mn-lt"/>
                <a:sym typeface="Wingdings 2" pitchFamily="18" charset="2"/>
              </a:rPr>
              <a:t>A-Déficit protéine STAR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B- Sevrage d’une corticothérapie</a:t>
            </a:r>
          </a:p>
          <a:p>
            <a:pPr eaLnBrk="1" fontAlgn="auto" hangingPunct="1">
              <a:spcBef>
                <a:spcPct val="50000"/>
              </a:spcBef>
              <a:spcAft>
                <a:spcPts val="0"/>
              </a:spcAft>
              <a:defRPr/>
            </a:pPr>
            <a:r>
              <a:rPr lang="fr-FR" sz="2400" dirty="0">
                <a:solidFill>
                  <a:srgbClr val="FF0000"/>
                </a:solidFill>
                <a:latin typeface="+mn-lt"/>
                <a:sym typeface="Wingdings 2" pitchFamily="18" charset="2"/>
              </a:rPr>
              <a:t>   C-</a:t>
            </a:r>
            <a:r>
              <a:rPr lang="fr-FR" sz="2400" dirty="0">
                <a:solidFill>
                  <a:srgbClr val="FF0000"/>
                </a:solidFill>
              </a:rPr>
              <a:t> </a:t>
            </a:r>
            <a:r>
              <a:rPr lang="fr-FR" sz="2400" dirty="0">
                <a:solidFill>
                  <a:srgbClr val="FF0000"/>
                </a:solidFill>
                <a:latin typeface="+mn-lt"/>
                <a:sym typeface="Wingdings 2" pitchFamily="18" charset="2"/>
              </a:rPr>
              <a:t>Chirurgie d’un micro adénome corticotrope</a:t>
            </a:r>
          </a:p>
          <a:p>
            <a:pPr eaLnBrk="1" fontAlgn="auto" hangingPunct="1">
              <a:spcBef>
                <a:spcPct val="50000"/>
              </a:spcBef>
              <a:spcAft>
                <a:spcPts val="0"/>
              </a:spcAft>
              <a:defRPr/>
            </a:pPr>
            <a:r>
              <a:rPr lang="fr-FR" sz="2400" dirty="0">
                <a:solidFill>
                  <a:srgbClr val="002060"/>
                </a:solidFill>
                <a:latin typeface="+mn-lt"/>
                <a:sym typeface="Wingdings 2" pitchFamily="18" charset="2"/>
              </a:rPr>
              <a:t>   D-</a:t>
            </a:r>
            <a:r>
              <a:rPr lang="fr-FR" sz="2400" dirty="0">
                <a:solidFill>
                  <a:srgbClr val="002060"/>
                </a:solidFill>
                <a:latin typeface="+mn-lt"/>
              </a:rPr>
              <a:t>Anomalie du gène DAX-1</a:t>
            </a:r>
            <a:r>
              <a:rPr lang="fr-FR" sz="2400" dirty="0">
                <a:solidFill>
                  <a:srgbClr val="002060"/>
                </a:solidFill>
                <a:latin typeface="+mn-lt"/>
                <a:sym typeface="Wingdings 2" pitchFamily="18" charset="2"/>
              </a:rPr>
              <a:t>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E- Radiothérapie hypothalamique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32BE0604-3075-63CF-D567-697D1C6FF3A2}"/>
              </a:ext>
            </a:extLst>
          </p:cNvPr>
          <p:cNvSpPr>
            <a:spLocks noChangeArrowheads="1"/>
          </p:cNvSpPr>
          <p:nvPr/>
        </p:nvSpPr>
        <p:spPr bwMode="auto">
          <a:xfrm>
            <a:off x="179388" y="1125538"/>
            <a:ext cx="8785225" cy="391318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          Une insuffisance surrénale aiguë peut être secondaire à:</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     A – Arrêt de la dexaméthasone prise pendant 3 jours </a:t>
            </a:r>
          </a:p>
          <a:p>
            <a:pPr eaLnBrk="1" hangingPunct="1">
              <a:lnSpc>
                <a:spcPct val="150000"/>
              </a:lnSpc>
              <a:defRPr/>
            </a:pPr>
            <a:r>
              <a:rPr lang="fr-FR" altLang="fr-FR" sz="2400" dirty="0">
                <a:solidFill>
                  <a:srgbClr val="002060"/>
                </a:solidFill>
                <a:latin typeface="+mj-lt"/>
              </a:rPr>
              <a:t>     B –  Apoplexie d’un macro adénome hypophysaire</a:t>
            </a:r>
          </a:p>
          <a:p>
            <a:pPr eaLnBrk="1" hangingPunct="1">
              <a:lnSpc>
                <a:spcPct val="150000"/>
              </a:lnSpc>
              <a:defRPr/>
            </a:pPr>
            <a:r>
              <a:rPr lang="fr-FR" altLang="fr-FR" sz="2400" dirty="0">
                <a:solidFill>
                  <a:srgbClr val="002060"/>
                </a:solidFill>
                <a:latin typeface="+mj-lt"/>
              </a:rPr>
              <a:t>     C –Thrombose bilatérale des veines surrénaliennes </a:t>
            </a:r>
          </a:p>
          <a:p>
            <a:pPr eaLnBrk="1" hangingPunct="1">
              <a:lnSpc>
                <a:spcPct val="150000"/>
              </a:lnSpc>
              <a:defRPr/>
            </a:pPr>
            <a:r>
              <a:rPr lang="fr-FR" altLang="fr-FR" sz="2400" dirty="0">
                <a:solidFill>
                  <a:srgbClr val="002060"/>
                </a:solidFill>
                <a:latin typeface="+mj-lt"/>
              </a:rPr>
              <a:t>     D –Traitement par </a:t>
            </a:r>
            <a:r>
              <a:rPr lang="fr-FR" altLang="fr-FR" sz="2400" dirty="0" err="1">
                <a:solidFill>
                  <a:srgbClr val="002060"/>
                </a:solidFill>
                <a:latin typeface="+mj-lt"/>
              </a:rPr>
              <a:t>Mitotane</a:t>
            </a:r>
            <a:r>
              <a:rPr lang="fr-FR" altLang="fr-FR" sz="2400" dirty="0">
                <a:solidFill>
                  <a:srgbClr val="002060"/>
                </a:solidFill>
                <a:latin typeface="+mj-lt"/>
              </a:rPr>
              <a:t> </a:t>
            </a:r>
          </a:p>
          <a:p>
            <a:pPr eaLnBrk="1" hangingPunct="1">
              <a:lnSpc>
                <a:spcPct val="150000"/>
              </a:lnSpc>
              <a:defRPr/>
            </a:pPr>
            <a:r>
              <a:rPr lang="fr-FR" altLang="fr-FR" sz="2400" dirty="0">
                <a:solidFill>
                  <a:srgbClr val="002060"/>
                </a:solidFill>
                <a:latin typeface="+mj-lt"/>
              </a:rPr>
              <a:t>      E – Bloc enzymatique en 11 b hydroxylase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5C7CDC81-F006-5D43-EA66-9A59604CCBA9}"/>
              </a:ext>
            </a:extLst>
          </p:cNvPr>
          <p:cNvSpPr>
            <a:spLocks noChangeArrowheads="1"/>
          </p:cNvSpPr>
          <p:nvPr/>
        </p:nvSpPr>
        <p:spPr bwMode="auto">
          <a:xfrm>
            <a:off x="179388" y="1628775"/>
            <a:ext cx="8785225" cy="3913188"/>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          Une insuffisance surrénale aiguë peut être secondaire à:</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     A – Arrêt de la dexaméthasone prise pendant 3 jours </a:t>
            </a:r>
          </a:p>
          <a:p>
            <a:pPr eaLnBrk="1" hangingPunct="1">
              <a:lnSpc>
                <a:spcPct val="150000"/>
              </a:lnSpc>
              <a:defRPr/>
            </a:pPr>
            <a:r>
              <a:rPr lang="fr-FR" altLang="fr-FR" sz="2400" dirty="0">
                <a:solidFill>
                  <a:srgbClr val="002060"/>
                </a:solidFill>
                <a:latin typeface="+mj-lt"/>
              </a:rPr>
              <a:t>     </a:t>
            </a:r>
            <a:r>
              <a:rPr lang="fr-FR" altLang="fr-FR" sz="2400" dirty="0">
                <a:solidFill>
                  <a:srgbClr val="FF0000"/>
                </a:solidFill>
                <a:latin typeface="+mj-lt"/>
              </a:rPr>
              <a:t>B –  Apoplexie d’un macro adénome hypophysaire</a:t>
            </a:r>
          </a:p>
          <a:p>
            <a:pPr eaLnBrk="1" hangingPunct="1">
              <a:lnSpc>
                <a:spcPct val="150000"/>
              </a:lnSpc>
              <a:defRPr/>
            </a:pPr>
            <a:r>
              <a:rPr lang="fr-FR" altLang="fr-FR" sz="2400" dirty="0">
                <a:solidFill>
                  <a:srgbClr val="002060"/>
                </a:solidFill>
                <a:latin typeface="+mj-lt"/>
              </a:rPr>
              <a:t>     </a:t>
            </a:r>
            <a:r>
              <a:rPr lang="fr-FR" altLang="fr-FR" sz="2400" dirty="0">
                <a:solidFill>
                  <a:srgbClr val="FF0000"/>
                </a:solidFill>
                <a:latin typeface="+mj-lt"/>
              </a:rPr>
              <a:t>C –Thrombose bilatérale des veines surrénaliennes </a:t>
            </a:r>
          </a:p>
          <a:p>
            <a:pPr eaLnBrk="1" hangingPunct="1">
              <a:lnSpc>
                <a:spcPct val="150000"/>
              </a:lnSpc>
              <a:defRPr/>
            </a:pPr>
            <a:r>
              <a:rPr lang="fr-FR" altLang="fr-FR" sz="2400" dirty="0">
                <a:solidFill>
                  <a:srgbClr val="FF0000"/>
                </a:solidFill>
                <a:latin typeface="+mj-lt"/>
              </a:rPr>
              <a:t>     D –Traitement par </a:t>
            </a:r>
            <a:r>
              <a:rPr lang="fr-FR" altLang="fr-FR" sz="2400" dirty="0" err="1">
                <a:solidFill>
                  <a:srgbClr val="FF0000"/>
                </a:solidFill>
                <a:latin typeface="+mj-lt"/>
              </a:rPr>
              <a:t>Mitotane</a:t>
            </a:r>
            <a:r>
              <a:rPr lang="fr-FR" altLang="fr-FR" sz="2400" dirty="0">
                <a:solidFill>
                  <a:srgbClr val="FF0000"/>
                </a:solidFill>
                <a:latin typeface="+mj-lt"/>
              </a:rPr>
              <a:t> </a:t>
            </a:r>
          </a:p>
          <a:p>
            <a:pPr eaLnBrk="1" hangingPunct="1">
              <a:lnSpc>
                <a:spcPct val="150000"/>
              </a:lnSpc>
              <a:defRPr/>
            </a:pPr>
            <a:r>
              <a:rPr lang="fr-FR" altLang="fr-FR" sz="2400" dirty="0">
                <a:solidFill>
                  <a:srgbClr val="002060"/>
                </a:solidFill>
                <a:latin typeface="+mj-lt"/>
              </a:rPr>
              <a:t>      E – Bloc enzymatique en 11 b hydroxylase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9FC76F3C-8A6F-8B05-CB62-02CD27090E04}"/>
              </a:ext>
            </a:extLst>
          </p:cNvPr>
          <p:cNvSpPr>
            <a:spLocks noChangeArrowheads="1"/>
          </p:cNvSpPr>
          <p:nvPr/>
        </p:nvSpPr>
        <p:spPr bwMode="auto">
          <a:xfrm>
            <a:off x="228600" y="1341438"/>
            <a:ext cx="8929688" cy="397033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Concernant l’  insuffisance surrénale aiguë :</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     A – Peut révéler une maladie d'Addison </a:t>
            </a:r>
          </a:p>
          <a:p>
            <a:pPr eaLnBrk="1" hangingPunct="1">
              <a:lnSpc>
                <a:spcPct val="150000"/>
              </a:lnSpc>
              <a:defRPr/>
            </a:pPr>
            <a:r>
              <a:rPr lang="fr-FR" altLang="fr-FR" sz="2400" dirty="0">
                <a:solidFill>
                  <a:srgbClr val="002060"/>
                </a:solidFill>
                <a:latin typeface="+mj-lt"/>
              </a:rPr>
              <a:t>     B – Peut Simuler une urgence abdominale </a:t>
            </a:r>
          </a:p>
          <a:p>
            <a:pPr eaLnBrk="1" hangingPunct="1">
              <a:lnSpc>
                <a:spcPct val="150000"/>
              </a:lnSpc>
              <a:defRPr/>
            </a:pPr>
            <a:r>
              <a:rPr lang="fr-FR" altLang="fr-FR" sz="2400" dirty="0">
                <a:solidFill>
                  <a:srgbClr val="002060"/>
                </a:solidFill>
                <a:latin typeface="+mj-lt"/>
              </a:rPr>
              <a:t>     C – Le cortisol libre plasmatique fait le diagnostic</a:t>
            </a:r>
          </a:p>
          <a:p>
            <a:pPr eaLnBrk="1" hangingPunct="1">
              <a:lnSpc>
                <a:spcPct val="150000"/>
              </a:lnSpc>
              <a:defRPr/>
            </a:pPr>
            <a:r>
              <a:rPr lang="fr-FR" altLang="fr-FR" sz="2400" dirty="0">
                <a:solidFill>
                  <a:srgbClr val="002060"/>
                </a:solidFill>
                <a:latin typeface="+mj-lt"/>
              </a:rPr>
              <a:t>     D – Il existe une atteinte de la médullosurrénale </a:t>
            </a:r>
          </a:p>
          <a:p>
            <a:pPr eaLnBrk="1" hangingPunct="1">
              <a:lnSpc>
                <a:spcPct val="150000"/>
              </a:lnSpc>
              <a:defRPr/>
            </a:pPr>
            <a:r>
              <a:rPr lang="fr-FR" altLang="fr-FR" sz="2400" dirty="0">
                <a:solidFill>
                  <a:srgbClr val="002060"/>
                </a:solidFill>
                <a:latin typeface="+mj-lt"/>
              </a:rPr>
              <a:t>      E – Les androgènes surrénaliens  sont diminués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a:extLst>
              <a:ext uri="{FF2B5EF4-FFF2-40B4-BE49-F238E27FC236}">
                <a16:creationId xmlns:a16="http://schemas.microsoft.com/office/drawing/2014/main" id="{D9F0AA4B-52D5-FF3D-79A6-A63379727746}"/>
              </a:ext>
            </a:extLst>
          </p:cNvPr>
          <p:cNvSpPr>
            <a:spLocks noChangeArrowheads="1"/>
          </p:cNvSpPr>
          <p:nvPr/>
        </p:nvSpPr>
        <p:spPr bwMode="auto">
          <a:xfrm>
            <a:off x="228600" y="1341438"/>
            <a:ext cx="8929688" cy="397033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Concernant l’  insuffisance surrénale aiguë :</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FF0000"/>
                </a:solidFill>
                <a:latin typeface="+mj-lt"/>
              </a:rPr>
              <a:t>     A – Peut révéler une maladie d'Addison </a:t>
            </a:r>
          </a:p>
          <a:p>
            <a:pPr eaLnBrk="1" hangingPunct="1">
              <a:lnSpc>
                <a:spcPct val="150000"/>
              </a:lnSpc>
              <a:defRPr/>
            </a:pPr>
            <a:r>
              <a:rPr lang="fr-FR" altLang="fr-FR" sz="2400" dirty="0">
                <a:solidFill>
                  <a:srgbClr val="FF0000"/>
                </a:solidFill>
                <a:latin typeface="+mj-lt"/>
              </a:rPr>
              <a:t>     B – Peut Simuler une urgence abdominale </a:t>
            </a:r>
          </a:p>
          <a:p>
            <a:pPr eaLnBrk="1" hangingPunct="1">
              <a:lnSpc>
                <a:spcPct val="150000"/>
              </a:lnSpc>
              <a:defRPr/>
            </a:pPr>
            <a:r>
              <a:rPr lang="fr-FR" altLang="fr-FR" sz="2400" dirty="0">
                <a:solidFill>
                  <a:srgbClr val="002060"/>
                </a:solidFill>
                <a:latin typeface="+mj-lt"/>
              </a:rPr>
              <a:t>     C – Le cortisol libre plasmatique fait le diagnostic</a:t>
            </a:r>
          </a:p>
          <a:p>
            <a:pPr eaLnBrk="1" hangingPunct="1">
              <a:lnSpc>
                <a:spcPct val="150000"/>
              </a:lnSpc>
              <a:defRPr/>
            </a:pPr>
            <a:r>
              <a:rPr lang="fr-FR" altLang="fr-FR" sz="2400" dirty="0">
                <a:solidFill>
                  <a:srgbClr val="002060"/>
                </a:solidFill>
                <a:latin typeface="+mj-lt"/>
              </a:rPr>
              <a:t>     D – Il existe une atteinte de la médullosurrénale </a:t>
            </a:r>
          </a:p>
          <a:p>
            <a:pPr eaLnBrk="1" hangingPunct="1">
              <a:lnSpc>
                <a:spcPct val="150000"/>
              </a:lnSpc>
              <a:defRPr/>
            </a:pPr>
            <a:r>
              <a:rPr lang="fr-FR" altLang="fr-FR" sz="2400" dirty="0">
                <a:solidFill>
                  <a:srgbClr val="002060"/>
                </a:solidFill>
                <a:latin typeface="+mj-lt"/>
              </a:rPr>
              <a:t>      </a:t>
            </a:r>
            <a:r>
              <a:rPr lang="fr-FR" altLang="fr-FR" sz="2400" dirty="0">
                <a:solidFill>
                  <a:srgbClr val="FF0000"/>
                </a:solidFill>
                <a:latin typeface="+mj-lt"/>
              </a:rPr>
              <a:t>E – Les androgènes surrénaliens  sont diminués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027C4123-734F-2A32-429D-6814B351D4D0}"/>
              </a:ext>
            </a:extLst>
          </p:cNvPr>
          <p:cNvSpPr txBox="1">
            <a:spLocks noChangeArrowheads="1"/>
          </p:cNvSpPr>
          <p:nvPr/>
        </p:nvSpPr>
        <p:spPr bwMode="auto">
          <a:xfrm>
            <a:off x="214313" y="1071563"/>
            <a:ext cx="8786812" cy="3662362"/>
          </a:xfrm>
          <a:prstGeom prst="rect">
            <a:avLst/>
          </a:prstGeom>
          <a:noFill/>
          <a:ln w="9525">
            <a:noFill/>
            <a:miter lim="800000"/>
            <a:headEnd/>
            <a:tailEnd/>
          </a:ln>
          <a:effectLst/>
        </p:spPr>
        <p:txBody>
          <a:bodyPr>
            <a:spAutoFit/>
          </a:bodyPr>
          <a:lstStyle/>
          <a:p>
            <a:pPr fontAlgn="auto">
              <a:spcBef>
                <a:spcPct val="50000"/>
              </a:spcBef>
              <a:spcAft>
                <a:spcPts val="0"/>
              </a:spcAft>
              <a:defRPr/>
            </a:pPr>
            <a:r>
              <a:rPr lang="fr-FR" sz="2400" b="1" dirty="0">
                <a:solidFill>
                  <a:srgbClr val="002060"/>
                </a:solidFill>
                <a:latin typeface="+mn-lt"/>
              </a:rPr>
              <a:t>Au cours de la décompensation d’une maladie d'Addison  , Il existe :</a:t>
            </a:r>
          </a:p>
          <a:p>
            <a:pPr fontAlgn="auto">
              <a:spcBef>
                <a:spcPts val="0"/>
              </a:spcBef>
              <a:spcAft>
                <a:spcPts val="0"/>
              </a:spcAft>
              <a:defRPr/>
            </a:pPr>
            <a:endParaRPr lang="fr-FR" sz="2800" b="1" dirty="0">
              <a:effectLst>
                <a:outerShdw blurRad="38100" dist="38100" dir="2700000" algn="tl">
                  <a:srgbClr val="C0C0C0"/>
                </a:outerShdw>
              </a:effectLst>
              <a:latin typeface="Georgia" pitchFamily="18" charset="0"/>
              <a:cs typeface="+mn-cs"/>
            </a:endParaRPr>
          </a:p>
          <a:p>
            <a:pPr fontAlgn="auto">
              <a:spcBef>
                <a:spcPct val="50000"/>
              </a:spcBef>
              <a:spcAft>
                <a:spcPts val="0"/>
              </a:spcAft>
              <a:defRPr/>
            </a:pPr>
            <a:r>
              <a:rPr lang="fr-FR" sz="2400" dirty="0">
                <a:sym typeface="Wingdings 2" pitchFamily="18" charset="2"/>
              </a:rPr>
              <a:t>   </a:t>
            </a:r>
            <a:r>
              <a:rPr lang="fr-FR" sz="2400" dirty="0">
                <a:solidFill>
                  <a:srgbClr val="002060"/>
                </a:solidFill>
                <a:latin typeface="+mn-lt"/>
                <a:sym typeface="Wingdings 2" pitchFamily="18" charset="2"/>
              </a:rPr>
              <a:t>A-Sécrétion inappropriée d’hormone antidiurétique</a:t>
            </a:r>
          </a:p>
          <a:p>
            <a:pPr fontAlgn="auto">
              <a:spcBef>
                <a:spcPct val="50000"/>
              </a:spcBef>
              <a:spcAft>
                <a:spcPts val="0"/>
              </a:spcAft>
              <a:defRPr/>
            </a:pPr>
            <a:r>
              <a:rPr lang="fr-FR" sz="2400" dirty="0">
                <a:solidFill>
                  <a:srgbClr val="002060"/>
                </a:solidFill>
                <a:latin typeface="+mn-lt"/>
                <a:sym typeface="Wingdings 2" pitchFamily="18" charset="2"/>
              </a:rPr>
              <a:t>   B-Diminution de la natrémie</a:t>
            </a:r>
          </a:p>
          <a:p>
            <a:pPr fontAlgn="auto">
              <a:spcBef>
                <a:spcPct val="50000"/>
              </a:spcBef>
              <a:spcAft>
                <a:spcPts val="0"/>
              </a:spcAft>
              <a:defRPr/>
            </a:pPr>
            <a:r>
              <a:rPr lang="fr-FR" sz="2400" dirty="0">
                <a:solidFill>
                  <a:srgbClr val="002060"/>
                </a:solidFill>
                <a:latin typeface="+mn-lt"/>
                <a:sym typeface="Wingdings 2" pitchFamily="18" charset="2"/>
              </a:rPr>
              <a:t>   C-Fuite urinaire d’ion H+</a:t>
            </a:r>
          </a:p>
          <a:p>
            <a:pPr fontAlgn="auto">
              <a:spcBef>
                <a:spcPct val="50000"/>
              </a:spcBef>
              <a:spcAft>
                <a:spcPts val="0"/>
              </a:spcAft>
              <a:defRPr/>
            </a:pPr>
            <a:r>
              <a:rPr lang="fr-FR" sz="2400" dirty="0">
                <a:solidFill>
                  <a:srgbClr val="00B050"/>
                </a:solidFill>
                <a:latin typeface="+mn-lt"/>
                <a:sym typeface="Wingdings 2" pitchFamily="18" charset="2"/>
              </a:rPr>
              <a:t>   </a:t>
            </a:r>
            <a:r>
              <a:rPr lang="fr-FR" sz="2400" dirty="0">
                <a:solidFill>
                  <a:srgbClr val="002060"/>
                </a:solidFill>
                <a:latin typeface="+mn-lt"/>
                <a:sym typeface="Wingdings 2" pitchFamily="18" charset="2"/>
              </a:rPr>
              <a:t>D-R</a:t>
            </a:r>
            <a:r>
              <a:rPr lang="fr-FR" sz="2400" dirty="0">
                <a:solidFill>
                  <a:srgbClr val="002060"/>
                </a:solidFill>
                <a:latin typeface="+mn-lt"/>
              </a:rPr>
              <a:t>ésistance aux amines vasoconstrictrices </a:t>
            </a:r>
            <a:endParaRPr lang="fr-FR" sz="2400" dirty="0">
              <a:solidFill>
                <a:srgbClr val="002060"/>
              </a:solidFill>
              <a:latin typeface="+mn-lt"/>
              <a:sym typeface="Wingdings 2" pitchFamily="18" charset="2"/>
            </a:endParaRPr>
          </a:p>
          <a:p>
            <a:pPr fontAlgn="auto">
              <a:spcBef>
                <a:spcPct val="50000"/>
              </a:spcBef>
              <a:spcAft>
                <a:spcPts val="0"/>
              </a:spcAft>
              <a:defRPr/>
            </a:pPr>
            <a:r>
              <a:rPr lang="fr-FR" sz="2400" dirty="0">
                <a:solidFill>
                  <a:srgbClr val="002060"/>
                </a:solidFill>
                <a:latin typeface="+mn-lt"/>
                <a:sym typeface="Wingdings 2" pitchFamily="18" charset="2"/>
              </a:rPr>
              <a:t>   E-Diminution de l’excrétion de potassium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370AA83B-C93A-748B-DB56-F37086FDB6EA}"/>
              </a:ext>
            </a:extLst>
          </p:cNvPr>
          <p:cNvSpPr txBox="1">
            <a:spLocks noChangeArrowheads="1"/>
          </p:cNvSpPr>
          <p:nvPr/>
        </p:nvSpPr>
        <p:spPr bwMode="auto">
          <a:xfrm>
            <a:off x="214313" y="1071563"/>
            <a:ext cx="8786812" cy="3662362"/>
          </a:xfrm>
          <a:prstGeom prst="rect">
            <a:avLst/>
          </a:prstGeom>
          <a:noFill/>
          <a:ln w="9525">
            <a:noFill/>
            <a:miter lim="800000"/>
            <a:headEnd/>
            <a:tailEnd/>
          </a:ln>
          <a:effectLst/>
        </p:spPr>
        <p:txBody>
          <a:bodyPr>
            <a:spAutoFit/>
          </a:bodyPr>
          <a:lstStyle/>
          <a:p>
            <a:pPr fontAlgn="auto">
              <a:spcBef>
                <a:spcPct val="50000"/>
              </a:spcBef>
              <a:spcAft>
                <a:spcPts val="0"/>
              </a:spcAft>
              <a:defRPr/>
            </a:pPr>
            <a:r>
              <a:rPr lang="fr-FR" sz="2400" b="1" dirty="0">
                <a:solidFill>
                  <a:srgbClr val="002060"/>
                </a:solidFill>
                <a:latin typeface="+mn-lt"/>
              </a:rPr>
              <a:t>Au cours de la décompensation d’une maladie d'Addison  , Il existe :</a:t>
            </a:r>
          </a:p>
          <a:p>
            <a:pPr fontAlgn="auto">
              <a:spcBef>
                <a:spcPts val="0"/>
              </a:spcBef>
              <a:spcAft>
                <a:spcPts val="0"/>
              </a:spcAft>
              <a:defRPr/>
            </a:pPr>
            <a:endParaRPr lang="fr-FR" sz="2800" b="1" dirty="0">
              <a:effectLst>
                <a:outerShdw blurRad="38100" dist="38100" dir="2700000" algn="tl">
                  <a:srgbClr val="C0C0C0"/>
                </a:outerShdw>
              </a:effectLst>
              <a:latin typeface="Georgia" pitchFamily="18" charset="0"/>
              <a:cs typeface="+mn-cs"/>
            </a:endParaRPr>
          </a:p>
          <a:p>
            <a:pPr fontAlgn="auto">
              <a:spcBef>
                <a:spcPct val="50000"/>
              </a:spcBef>
              <a:spcAft>
                <a:spcPts val="0"/>
              </a:spcAft>
              <a:defRPr/>
            </a:pPr>
            <a:r>
              <a:rPr lang="fr-FR" sz="2400" dirty="0">
                <a:sym typeface="Wingdings 2" pitchFamily="18" charset="2"/>
              </a:rPr>
              <a:t>   </a:t>
            </a:r>
            <a:r>
              <a:rPr lang="fr-FR" sz="2400" dirty="0">
                <a:solidFill>
                  <a:srgbClr val="002060"/>
                </a:solidFill>
                <a:latin typeface="+mn-lt"/>
                <a:sym typeface="Wingdings 2" pitchFamily="18" charset="2"/>
              </a:rPr>
              <a:t>A-Sécrétion inappropriée d’hormone antidiurétique</a:t>
            </a:r>
          </a:p>
          <a:p>
            <a:pPr fontAlgn="auto">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B-Diminution de la natrémie</a:t>
            </a:r>
          </a:p>
          <a:p>
            <a:pPr fontAlgn="auto">
              <a:spcBef>
                <a:spcPct val="50000"/>
              </a:spcBef>
              <a:spcAft>
                <a:spcPts val="0"/>
              </a:spcAft>
              <a:defRPr/>
            </a:pPr>
            <a:r>
              <a:rPr lang="fr-FR" sz="2400" dirty="0">
                <a:solidFill>
                  <a:srgbClr val="002060"/>
                </a:solidFill>
                <a:latin typeface="+mn-lt"/>
                <a:sym typeface="Wingdings 2" pitchFamily="18" charset="2"/>
              </a:rPr>
              <a:t>   C-Fuite urinaire d’ion H+</a:t>
            </a:r>
          </a:p>
          <a:p>
            <a:pPr fontAlgn="auto">
              <a:spcBef>
                <a:spcPct val="50000"/>
              </a:spcBef>
              <a:spcAft>
                <a:spcPts val="0"/>
              </a:spcAft>
              <a:defRPr/>
            </a:pPr>
            <a:r>
              <a:rPr lang="fr-FR" sz="2400" dirty="0">
                <a:solidFill>
                  <a:srgbClr val="00B050"/>
                </a:solidFill>
                <a:latin typeface="+mn-lt"/>
                <a:sym typeface="Wingdings 2" pitchFamily="18" charset="2"/>
              </a:rPr>
              <a:t>   </a:t>
            </a:r>
            <a:r>
              <a:rPr lang="fr-FR" sz="2400" dirty="0">
                <a:solidFill>
                  <a:srgbClr val="FF0000"/>
                </a:solidFill>
                <a:latin typeface="+mn-lt"/>
                <a:sym typeface="Wingdings 2" pitchFamily="18" charset="2"/>
              </a:rPr>
              <a:t>D-R</a:t>
            </a:r>
            <a:r>
              <a:rPr lang="fr-FR" sz="2400" dirty="0">
                <a:solidFill>
                  <a:srgbClr val="FF0000"/>
                </a:solidFill>
                <a:latin typeface="+mn-lt"/>
              </a:rPr>
              <a:t>ésistance aux amines vasoconstrictrices </a:t>
            </a:r>
            <a:endParaRPr lang="fr-FR" sz="2400" dirty="0">
              <a:solidFill>
                <a:srgbClr val="FF0000"/>
              </a:solidFill>
              <a:latin typeface="+mn-lt"/>
              <a:sym typeface="Wingdings 2" pitchFamily="18" charset="2"/>
            </a:endParaRPr>
          </a:p>
          <a:p>
            <a:pPr fontAlgn="auto">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E-Diminution de l’excrétion de potassium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F0401088-6DD3-CD02-E8C8-56C770ED2451}"/>
              </a:ext>
            </a:extLst>
          </p:cNvPr>
          <p:cNvSpPr txBox="1">
            <a:spLocks noChangeArrowheads="1"/>
          </p:cNvSpPr>
          <p:nvPr/>
        </p:nvSpPr>
        <p:spPr bwMode="auto">
          <a:xfrm>
            <a:off x="179388" y="1341438"/>
            <a:ext cx="8785225" cy="39703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Parmi les manifestations d’une insuffisance surrénalienne aigue  , on trouve</a:t>
            </a:r>
            <a:r>
              <a:rPr lang="fr-FR" sz="2800" b="1" dirty="0">
                <a:solidFill>
                  <a:srgbClr val="002060"/>
                </a:solidFill>
                <a:effectLst>
                  <a:outerShdw blurRad="38100" dist="38100" dir="2700000" algn="tl">
                    <a:srgbClr val="C0C0C0"/>
                  </a:outerShdw>
                </a:effectLst>
                <a:latin typeface="+mn-lt"/>
                <a:cs typeface="+mn-cs"/>
              </a:rPr>
              <a:t>: </a:t>
            </a: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A-Polyphagie</a:t>
            </a:r>
          </a:p>
          <a:p>
            <a:pPr eaLnBrk="1" fontAlgn="auto" hangingPunct="1">
              <a:spcBef>
                <a:spcPct val="50000"/>
              </a:spcBef>
              <a:spcAft>
                <a:spcPts val="0"/>
              </a:spcAft>
              <a:defRPr/>
            </a:pPr>
            <a:r>
              <a:rPr lang="fr-FR" sz="2400" dirty="0">
                <a:solidFill>
                  <a:srgbClr val="002060"/>
                </a:solidFill>
                <a:latin typeface="+mn-lt"/>
                <a:sym typeface="Wingdings 2" pitchFamily="18" charset="2"/>
              </a:rPr>
              <a:t>    B-Douleurs abdominales</a:t>
            </a:r>
          </a:p>
          <a:p>
            <a:pPr eaLnBrk="1" fontAlgn="auto" hangingPunct="1">
              <a:spcBef>
                <a:spcPct val="50000"/>
              </a:spcBef>
              <a:spcAft>
                <a:spcPts val="0"/>
              </a:spcAft>
              <a:defRPr/>
            </a:pPr>
            <a:r>
              <a:rPr lang="fr-FR" sz="2400" dirty="0">
                <a:solidFill>
                  <a:srgbClr val="002060"/>
                </a:solidFill>
                <a:latin typeface="+mn-lt"/>
                <a:sym typeface="Wingdings 2" pitchFamily="18" charset="2"/>
              </a:rPr>
              <a:t>    C-Agitation </a:t>
            </a:r>
          </a:p>
          <a:p>
            <a:pPr eaLnBrk="1" fontAlgn="auto" hangingPunct="1">
              <a:spcBef>
                <a:spcPct val="50000"/>
              </a:spcBef>
              <a:spcAft>
                <a:spcPts val="0"/>
              </a:spcAft>
              <a:defRPr/>
            </a:pPr>
            <a:r>
              <a:rPr lang="fr-FR" sz="2400" dirty="0">
                <a:solidFill>
                  <a:srgbClr val="002060"/>
                </a:solidFill>
                <a:latin typeface="+mn-lt"/>
                <a:sym typeface="Wingdings 2" pitchFamily="18" charset="2"/>
              </a:rPr>
              <a:t>    D-Amaigrissement </a:t>
            </a:r>
          </a:p>
          <a:p>
            <a:pPr eaLnBrk="1" fontAlgn="auto" hangingPunct="1">
              <a:spcBef>
                <a:spcPct val="50000"/>
              </a:spcBef>
              <a:spcAft>
                <a:spcPts val="0"/>
              </a:spcAft>
              <a:defRPr/>
            </a:pPr>
            <a:r>
              <a:rPr lang="fr-FR" sz="2400" dirty="0">
                <a:solidFill>
                  <a:srgbClr val="002060"/>
                </a:solidFill>
                <a:latin typeface="+mn-lt"/>
                <a:sym typeface="Wingdings 2" pitchFamily="18" charset="2"/>
              </a:rPr>
              <a:t>    E-Courbatures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8C18EA63-E072-EEAB-ADE5-C1433FF7C980}"/>
              </a:ext>
            </a:extLst>
          </p:cNvPr>
          <p:cNvSpPr txBox="1">
            <a:spLocks noChangeArrowheads="1"/>
          </p:cNvSpPr>
          <p:nvPr/>
        </p:nvSpPr>
        <p:spPr bwMode="auto">
          <a:xfrm>
            <a:off x="179388" y="1341438"/>
            <a:ext cx="8785225" cy="39703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Parmi les manifestations d’une insuffisance surrénalienne aigue  , on trouve</a:t>
            </a:r>
            <a:r>
              <a:rPr lang="fr-FR" sz="2800" b="1" dirty="0">
                <a:solidFill>
                  <a:srgbClr val="002060"/>
                </a:solidFill>
                <a:effectLst>
                  <a:outerShdw blurRad="38100" dist="38100" dir="2700000" algn="tl">
                    <a:srgbClr val="C0C0C0"/>
                  </a:outerShdw>
                </a:effectLst>
                <a:latin typeface="+mn-lt"/>
                <a:cs typeface="+mn-cs"/>
              </a:rPr>
              <a:t>: </a:t>
            </a: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A-Polyphagie</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B-Douleurs abdominales</a:t>
            </a:r>
          </a:p>
          <a:p>
            <a:pPr eaLnBrk="1" fontAlgn="auto" hangingPunct="1">
              <a:spcBef>
                <a:spcPct val="50000"/>
              </a:spcBef>
              <a:spcAft>
                <a:spcPts val="0"/>
              </a:spcAft>
              <a:defRPr/>
            </a:pPr>
            <a:r>
              <a:rPr lang="fr-FR" sz="2400" dirty="0">
                <a:solidFill>
                  <a:srgbClr val="FF0000"/>
                </a:solidFill>
                <a:latin typeface="+mn-lt"/>
                <a:sym typeface="Wingdings 2" pitchFamily="18" charset="2"/>
              </a:rPr>
              <a:t>    C-Agitation </a:t>
            </a:r>
          </a:p>
          <a:p>
            <a:pPr eaLnBrk="1" fontAlgn="auto" hangingPunct="1">
              <a:spcBef>
                <a:spcPct val="50000"/>
              </a:spcBef>
              <a:spcAft>
                <a:spcPts val="0"/>
              </a:spcAft>
              <a:defRPr/>
            </a:pPr>
            <a:r>
              <a:rPr lang="fr-FR" sz="2400" dirty="0">
                <a:solidFill>
                  <a:srgbClr val="002060"/>
                </a:solidFill>
                <a:latin typeface="+mn-lt"/>
                <a:sym typeface="Wingdings 2" pitchFamily="18" charset="2"/>
              </a:rPr>
              <a:t>    D-Amaigrissement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E-Courbatures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2B94806F-5461-53EE-34C5-7F2781D2C37B}"/>
              </a:ext>
            </a:extLst>
          </p:cNvPr>
          <p:cNvSpPr txBox="1">
            <a:spLocks noChangeArrowheads="1"/>
          </p:cNvSpPr>
          <p:nvPr/>
        </p:nvSpPr>
        <p:spPr bwMode="auto">
          <a:xfrm>
            <a:off x="214313" y="1182688"/>
            <a:ext cx="8786812" cy="3600450"/>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Au cours de l’insuffisance surrénalienne aigue , on peut trouver :</a:t>
            </a:r>
            <a:endParaRPr lang="fr-FR" sz="2800" b="1" dirty="0">
              <a:solidFill>
                <a:srgbClr val="002060"/>
              </a:solidFill>
              <a:effectLst>
                <a:outerShdw blurRad="38100" dist="38100" dir="2700000" algn="tl">
                  <a:srgbClr val="C0C0C0"/>
                </a:outerShdw>
              </a:effectLst>
              <a:latin typeface="+mn-lt"/>
              <a:cs typeface="+mn-cs"/>
            </a:endParaRP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A-Manifestations articulaires </a:t>
            </a:r>
          </a:p>
          <a:p>
            <a:pPr eaLnBrk="1" fontAlgn="auto" hangingPunct="1">
              <a:spcBef>
                <a:spcPct val="50000"/>
              </a:spcBef>
              <a:spcAft>
                <a:spcPts val="0"/>
              </a:spcAft>
              <a:defRPr/>
            </a:pPr>
            <a:r>
              <a:rPr lang="fr-FR" sz="2400" dirty="0">
                <a:solidFill>
                  <a:srgbClr val="002060"/>
                </a:solidFill>
                <a:latin typeface="+mn-lt"/>
                <a:sym typeface="Wingdings 2" pitchFamily="18" charset="2"/>
              </a:rPr>
              <a:t>    B-</a:t>
            </a:r>
            <a:r>
              <a:rPr lang="fr-FR" sz="2400" dirty="0" err="1">
                <a:solidFill>
                  <a:srgbClr val="002060"/>
                </a:solidFill>
                <a:latin typeface="+mn-lt"/>
                <a:sym typeface="Wingdings 2" pitchFamily="18" charset="2"/>
              </a:rPr>
              <a:t>Oedeme</a:t>
            </a:r>
            <a:r>
              <a:rPr lang="fr-FR" sz="2400" dirty="0">
                <a:solidFill>
                  <a:srgbClr val="002060"/>
                </a:solidFill>
                <a:latin typeface="+mn-lt"/>
                <a:sym typeface="Wingdings 2" pitchFamily="18" charset="2"/>
              </a:rPr>
              <a:t> des membres inférieures </a:t>
            </a:r>
          </a:p>
          <a:p>
            <a:pPr eaLnBrk="1" fontAlgn="auto" hangingPunct="1">
              <a:spcBef>
                <a:spcPct val="50000"/>
              </a:spcBef>
              <a:spcAft>
                <a:spcPts val="0"/>
              </a:spcAft>
              <a:defRPr/>
            </a:pPr>
            <a:r>
              <a:rPr lang="fr-FR" sz="2400" dirty="0">
                <a:solidFill>
                  <a:srgbClr val="002060"/>
                </a:solidFill>
                <a:latin typeface="+mn-lt"/>
                <a:sym typeface="Wingdings 2" pitchFamily="18" charset="2"/>
              </a:rPr>
              <a:t>    C-Tableau abdominal pseudo chirurgical  </a:t>
            </a:r>
          </a:p>
          <a:p>
            <a:pPr eaLnBrk="1" fontAlgn="auto" hangingPunct="1">
              <a:spcBef>
                <a:spcPct val="50000"/>
              </a:spcBef>
              <a:spcAft>
                <a:spcPts val="0"/>
              </a:spcAft>
              <a:defRPr/>
            </a:pPr>
            <a:r>
              <a:rPr lang="fr-FR" sz="2400" dirty="0">
                <a:solidFill>
                  <a:srgbClr val="002060"/>
                </a:solidFill>
                <a:latin typeface="+mn-lt"/>
                <a:sym typeface="Wingdings 2" pitchFamily="18" charset="2"/>
              </a:rPr>
              <a:t>    D-Alcalose métabolique   </a:t>
            </a:r>
          </a:p>
          <a:p>
            <a:pPr eaLnBrk="1" fontAlgn="auto" hangingPunct="1">
              <a:spcBef>
                <a:spcPct val="50000"/>
              </a:spcBef>
              <a:spcAft>
                <a:spcPts val="0"/>
              </a:spcAft>
              <a:defRPr/>
            </a:pPr>
            <a:r>
              <a:rPr lang="fr-FR" sz="2400" dirty="0">
                <a:solidFill>
                  <a:srgbClr val="002060"/>
                </a:solidFill>
                <a:latin typeface="+mn-lt"/>
                <a:sym typeface="Wingdings 2" pitchFamily="18" charset="2"/>
              </a:rPr>
              <a:t>    E-Insuffisance circulatoire aigue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9557E9A6-A1F4-634A-BAE8-15B09C002EA1}"/>
              </a:ext>
            </a:extLst>
          </p:cNvPr>
          <p:cNvSpPr txBox="1">
            <a:spLocks noChangeArrowheads="1"/>
          </p:cNvSpPr>
          <p:nvPr/>
        </p:nvSpPr>
        <p:spPr bwMode="auto">
          <a:xfrm>
            <a:off x="214313" y="1182688"/>
            <a:ext cx="8786812" cy="3600450"/>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Au cours de l’insuffisance surrénalienne aigue , on peut trouver :</a:t>
            </a:r>
            <a:endParaRPr lang="fr-FR" sz="2800" b="1" dirty="0">
              <a:solidFill>
                <a:srgbClr val="002060"/>
              </a:solidFill>
              <a:effectLst>
                <a:outerShdw blurRad="38100" dist="38100" dir="2700000" algn="tl">
                  <a:srgbClr val="C0C0C0"/>
                </a:outerShdw>
              </a:effectLst>
              <a:latin typeface="+mn-lt"/>
              <a:cs typeface="+mn-cs"/>
            </a:endParaRP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A-Manifestations articulaires </a:t>
            </a:r>
          </a:p>
          <a:p>
            <a:pPr eaLnBrk="1" fontAlgn="auto" hangingPunct="1">
              <a:spcBef>
                <a:spcPct val="50000"/>
              </a:spcBef>
              <a:spcAft>
                <a:spcPts val="0"/>
              </a:spcAft>
              <a:defRPr/>
            </a:pPr>
            <a:r>
              <a:rPr lang="fr-FR" sz="2400" dirty="0">
                <a:solidFill>
                  <a:srgbClr val="002060"/>
                </a:solidFill>
                <a:latin typeface="+mn-lt"/>
                <a:sym typeface="Wingdings 2" pitchFamily="18" charset="2"/>
              </a:rPr>
              <a:t>    B-</a:t>
            </a:r>
            <a:r>
              <a:rPr lang="fr-FR" sz="2400" dirty="0" err="1">
                <a:solidFill>
                  <a:srgbClr val="002060"/>
                </a:solidFill>
                <a:latin typeface="+mn-lt"/>
                <a:sym typeface="Wingdings 2" pitchFamily="18" charset="2"/>
              </a:rPr>
              <a:t>Oedeme</a:t>
            </a:r>
            <a:r>
              <a:rPr lang="fr-FR" sz="2400" dirty="0">
                <a:solidFill>
                  <a:srgbClr val="002060"/>
                </a:solidFill>
                <a:latin typeface="+mn-lt"/>
                <a:sym typeface="Wingdings 2" pitchFamily="18" charset="2"/>
              </a:rPr>
              <a:t> des membres inférieures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C-Tableau abdominal pseudo chirurgical  </a:t>
            </a:r>
          </a:p>
          <a:p>
            <a:pPr eaLnBrk="1" fontAlgn="auto" hangingPunct="1">
              <a:spcBef>
                <a:spcPct val="50000"/>
              </a:spcBef>
              <a:spcAft>
                <a:spcPts val="0"/>
              </a:spcAft>
              <a:defRPr/>
            </a:pPr>
            <a:r>
              <a:rPr lang="fr-FR" sz="2400" dirty="0">
                <a:solidFill>
                  <a:srgbClr val="002060"/>
                </a:solidFill>
                <a:latin typeface="+mn-lt"/>
                <a:sym typeface="Wingdings 2" pitchFamily="18" charset="2"/>
              </a:rPr>
              <a:t>    D-Alcalose métabolique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E-Insuffisance circulatoire aigue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21461CF0-A5A9-9ADC-347B-990BCD112DC1}"/>
              </a:ext>
            </a:extLst>
          </p:cNvPr>
          <p:cNvSpPr txBox="1">
            <a:spLocks noChangeArrowheads="1"/>
          </p:cNvSpPr>
          <p:nvPr/>
        </p:nvSpPr>
        <p:spPr bwMode="auto">
          <a:xfrm>
            <a:off x="214313" y="1182688"/>
            <a:ext cx="8786812" cy="39703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Au cours d’une insuffisance surrénalienne aigue ,la NFS peut montrer </a:t>
            </a:r>
            <a:r>
              <a:rPr lang="fr-FR" sz="2800" b="1" dirty="0">
                <a:solidFill>
                  <a:srgbClr val="002060"/>
                </a:solidFill>
                <a:effectLst>
                  <a:outerShdw blurRad="38100" dist="38100" dir="2700000" algn="tl">
                    <a:srgbClr val="C0C0C0"/>
                  </a:outerShdw>
                </a:effectLst>
                <a:latin typeface="+mn-lt"/>
                <a:cs typeface="+mn-cs"/>
              </a:rPr>
              <a:t>: </a:t>
            </a: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a:t>
            </a:r>
            <a:r>
              <a:rPr lang="fr-FR" sz="2400" dirty="0" err="1">
                <a:solidFill>
                  <a:srgbClr val="002060"/>
                </a:solidFill>
                <a:latin typeface="+mn-lt"/>
                <a:sym typeface="Wingdings 2" pitchFamily="18" charset="2"/>
              </a:rPr>
              <a:t>Ployglobulie</a:t>
            </a:r>
            <a:r>
              <a:rPr lang="fr-FR" sz="2400" dirty="0">
                <a:solidFill>
                  <a:srgbClr val="002060"/>
                </a:solidFill>
                <a:latin typeface="+mn-lt"/>
                <a:sym typeface="Wingdings 2" pitchFamily="18" charset="2"/>
              </a:rPr>
              <a:t> </a:t>
            </a:r>
          </a:p>
          <a:p>
            <a:pPr eaLnBrk="1" fontAlgn="auto" hangingPunct="1">
              <a:spcBef>
                <a:spcPct val="50000"/>
              </a:spcBef>
              <a:spcAft>
                <a:spcPts val="0"/>
              </a:spcAft>
              <a:defRPr/>
            </a:pPr>
            <a:r>
              <a:rPr lang="fr-FR" sz="2400" dirty="0">
                <a:solidFill>
                  <a:srgbClr val="002060"/>
                </a:solidFill>
                <a:latin typeface="+mn-lt"/>
                <a:sym typeface="Wingdings 2" pitchFamily="18" charset="2"/>
              </a:rPr>
              <a:t>        B-</a:t>
            </a:r>
            <a:r>
              <a:rPr lang="fr-FR" sz="2400" dirty="0">
                <a:solidFill>
                  <a:srgbClr val="002060"/>
                </a:solidFill>
                <a:latin typeface="+mn-lt"/>
              </a:rPr>
              <a:t>Augmentation de l'hématocrite</a:t>
            </a:r>
            <a:r>
              <a:rPr lang="fr-FR" sz="2400" dirty="0">
                <a:solidFill>
                  <a:srgbClr val="002060"/>
                </a:solidFill>
                <a:latin typeface="+mn-lt"/>
                <a:sym typeface="Wingdings 2" pitchFamily="18" charset="2"/>
              </a:rPr>
              <a:t> </a:t>
            </a:r>
          </a:p>
          <a:p>
            <a:pPr eaLnBrk="1" fontAlgn="auto" hangingPunct="1">
              <a:spcBef>
                <a:spcPct val="50000"/>
              </a:spcBef>
              <a:spcAft>
                <a:spcPts val="0"/>
              </a:spcAft>
              <a:defRPr/>
            </a:pPr>
            <a:r>
              <a:rPr lang="fr-FR" sz="2400" dirty="0">
                <a:solidFill>
                  <a:srgbClr val="002060"/>
                </a:solidFill>
                <a:latin typeface="+mn-lt"/>
                <a:sym typeface="Wingdings 2" pitchFamily="18" charset="2"/>
              </a:rPr>
              <a:t>        C-</a:t>
            </a:r>
            <a:r>
              <a:rPr lang="fr-FR" sz="2400" dirty="0" err="1">
                <a:solidFill>
                  <a:srgbClr val="002060"/>
                </a:solidFill>
                <a:latin typeface="+mn-lt"/>
              </a:rPr>
              <a:t>Hyperosinophilie</a:t>
            </a:r>
            <a:endParaRPr lang="fr-FR" sz="2400" dirty="0">
              <a:solidFill>
                <a:srgbClr val="002060"/>
              </a:solidFill>
              <a:latin typeface="+mn-lt"/>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D- Thrombocytose </a:t>
            </a:r>
          </a:p>
          <a:p>
            <a:pPr eaLnBrk="1" fontAlgn="auto" hangingPunct="1">
              <a:spcBef>
                <a:spcPct val="50000"/>
              </a:spcBef>
              <a:spcAft>
                <a:spcPts val="0"/>
              </a:spcAft>
              <a:defRPr/>
            </a:pPr>
            <a:r>
              <a:rPr lang="fr-FR" sz="2400" dirty="0">
                <a:solidFill>
                  <a:srgbClr val="002060"/>
                </a:solidFill>
                <a:latin typeface="+mn-lt"/>
                <a:sym typeface="Wingdings 2" pitchFamily="18" charset="2"/>
              </a:rPr>
              <a:t>       E- Lymphocytose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BE1E5DB2-A12A-667E-AFF3-699192D498FF}"/>
              </a:ext>
            </a:extLst>
          </p:cNvPr>
          <p:cNvSpPr txBox="1">
            <a:spLocks noChangeArrowheads="1"/>
          </p:cNvSpPr>
          <p:nvPr/>
        </p:nvSpPr>
        <p:spPr bwMode="auto">
          <a:xfrm>
            <a:off x="214313" y="1182688"/>
            <a:ext cx="8786812" cy="39703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Au cours d’une insuffisance surrénalienne aigue ,la NFS peut montrer </a:t>
            </a:r>
            <a:r>
              <a:rPr lang="fr-FR" sz="2800" b="1" dirty="0">
                <a:solidFill>
                  <a:srgbClr val="002060"/>
                </a:solidFill>
                <a:effectLst>
                  <a:outerShdw blurRad="38100" dist="38100" dir="2700000" algn="tl">
                    <a:srgbClr val="C0C0C0"/>
                  </a:outerShdw>
                </a:effectLst>
                <a:latin typeface="+mn-lt"/>
                <a:cs typeface="+mn-cs"/>
              </a:rPr>
              <a:t>: </a:t>
            </a: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a:t>
            </a:r>
            <a:r>
              <a:rPr lang="fr-FR" sz="2400" dirty="0" err="1">
                <a:solidFill>
                  <a:srgbClr val="002060"/>
                </a:solidFill>
                <a:latin typeface="+mn-lt"/>
                <a:sym typeface="Wingdings 2" pitchFamily="18" charset="2"/>
              </a:rPr>
              <a:t>Ployglobulie</a:t>
            </a:r>
            <a:r>
              <a:rPr lang="fr-FR" sz="2400" dirty="0">
                <a:solidFill>
                  <a:srgbClr val="002060"/>
                </a:solidFill>
                <a:latin typeface="+mn-lt"/>
                <a:sym typeface="Wingdings 2" pitchFamily="18" charset="2"/>
              </a:rPr>
              <a:t>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B-</a:t>
            </a:r>
            <a:r>
              <a:rPr lang="fr-FR" sz="2400" dirty="0">
                <a:solidFill>
                  <a:srgbClr val="FF0000"/>
                </a:solidFill>
                <a:latin typeface="+mn-lt"/>
              </a:rPr>
              <a:t>Augmentation de l'hématocrite</a:t>
            </a:r>
            <a:r>
              <a:rPr lang="fr-FR" sz="2400" dirty="0">
                <a:solidFill>
                  <a:srgbClr val="FF0000"/>
                </a:solidFill>
                <a:latin typeface="+mn-lt"/>
                <a:sym typeface="Wingdings 2" pitchFamily="18" charset="2"/>
              </a:rPr>
              <a:t>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C-</a:t>
            </a:r>
            <a:r>
              <a:rPr lang="fr-FR" sz="2400" dirty="0" err="1">
                <a:solidFill>
                  <a:srgbClr val="FF0000"/>
                </a:solidFill>
                <a:latin typeface="+mn-lt"/>
              </a:rPr>
              <a:t>Hyperosinophilie</a:t>
            </a:r>
            <a:endParaRPr lang="fr-FR" sz="2400" dirty="0">
              <a:solidFill>
                <a:srgbClr val="FF0000"/>
              </a:solidFill>
              <a:latin typeface="+mn-lt"/>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D- Thrombocytose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E- Lymphocytose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49C81CC3-7C5B-3253-A005-5A03D0CC0B6E}"/>
              </a:ext>
            </a:extLst>
          </p:cNvPr>
          <p:cNvSpPr txBox="1">
            <a:spLocks noChangeArrowheads="1"/>
          </p:cNvSpPr>
          <p:nvPr/>
        </p:nvSpPr>
        <p:spPr bwMode="auto">
          <a:xfrm>
            <a:off x="330200" y="1484313"/>
            <a:ext cx="8786813" cy="3540125"/>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Lors d’une  insuffisance surrénalienne aigue  le bilan peut montrer :  </a:t>
            </a:r>
            <a:endParaRPr lang="fr-FR" sz="2800" b="1" dirty="0">
              <a:solidFill>
                <a:srgbClr val="002060"/>
              </a:solidFill>
              <a:effectLst>
                <a:outerShdw blurRad="38100" dist="38100" dir="2700000" algn="tl">
                  <a:srgbClr val="C0C0C0"/>
                </a:outerShdw>
              </a:effectLst>
              <a:latin typeface="+mn-lt"/>
              <a:cs typeface="+mn-cs"/>
            </a:endParaRP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A-Glycémie basse </a:t>
            </a:r>
          </a:p>
          <a:p>
            <a:pPr eaLnBrk="1" fontAlgn="auto" hangingPunct="1">
              <a:spcBef>
                <a:spcPct val="50000"/>
              </a:spcBef>
              <a:spcAft>
                <a:spcPts val="0"/>
              </a:spcAft>
              <a:defRPr/>
            </a:pPr>
            <a:r>
              <a:rPr lang="fr-FR" sz="2400" dirty="0">
                <a:solidFill>
                  <a:srgbClr val="002060"/>
                </a:solidFill>
                <a:latin typeface="+mn-lt"/>
                <a:sym typeface="Wingdings 2" pitchFamily="18" charset="2"/>
              </a:rPr>
              <a:t>        B-Hypercalcémie  </a:t>
            </a:r>
          </a:p>
          <a:p>
            <a:pPr eaLnBrk="1" fontAlgn="auto" hangingPunct="1">
              <a:spcBef>
                <a:spcPct val="50000"/>
              </a:spcBef>
              <a:spcAft>
                <a:spcPts val="0"/>
              </a:spcAft>
              <a:defRPr/>
            </a:pPr>
            <a:r>
              <a:rPr lang="fr-FR" sz="2400" dirty="0">
                <a:solidFill>
                  <a:srgbClr val="002060"/>
                </a:solidFill>
                <a:latin typeface="+mn-lt"/>
                <a:sym typeface="Wingdings 2" pitchFamily="18" charset="2"/>
              </a:rPr>
              <a:t>        C-</a:t>
            </a:r>
            <a:r>
              <a:rPr lang="fr-FR" sz="2400" dirty="0" err="1">
                <a:solidFill>
                  <a:srgbClr val="002060"/>
                </a:solidFill>
                <a:latin typeface="+mn-lt"/>
                <a:sym typeface="Wingdings 2" pitchFamily="18" charset="2"/>
              </a:rPr>
              <a:t>Kaliurèse</a:t>
            </a:r>
            <a:r>
              <a:rPr lang="fr-FR" sz="2400" dirty="0">
                <a:solidFill>
                  <a:srgbClr val="002060"/>
                </a:solidFill>
                <a:latin typeface="+mn-lt"/>
                <a:sym typeface="Wingdings 2" pitchFamily="18" charset="2"/>
              </a:rPr>
              <a:t> élevée </a:t>
            </a:r>
            <a:endParaRPr lang="fr-FR" sz="2400" dirty="0">
              <a:solidFill>
                <a:srgbClr val="002060"/>
              </a:solidFill>
              <a:latin typeface="+mn-lt"/>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D-Elévation de l’uricémie </a:t>
            </a:r>
          </a:p>
          <a:p>
            <a:pPr eaLnBrk="1" fontAlgn="auto" hangingPunct="1">
              <a:spcBef>
                <a:spcPct val="50000"/>
              </a:spcBef>
              <a:spcAft>
                <a:spcPts val="0"/>
              </a:spcAft>
              <a:defRPr/>
            </a:pPr>
            <a:r>
              <a:rPr lang="fr-FR" sz="2400" dirty="0">
                <a:solidFill>
                  <a:srgbClr val="002060"/>
                </a:solidFill>
                <a:latin typeface="+mn-lt"/>
                <a:sym typeface="Wingdings 2" pitchFamily="18" charset="2"/>
              </a:rPr>
              <a:t>        E-Hypochlorémie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E7B9F8DB-F2E8-E669-3A38-158B48A79B49}"/>
              </a:ext>
            </a:extLst>
          </p:cNvPr>
          <p:cNvSpPr txBox="1">
            <a:spLocks noChangeArrowheads="1"/>
          </p:cNvSpPr>
          <p:nvPr/>
        </p:nvSpPr>
        <p:spPr bwMode="auto">
          <a:xfrm>
            <a:off x="330200" y="1484313"/>
            <a:ext cx="8786813" cy="3540125"/>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n-lt"/>
              </a:rPr>
              <a:t>Lors d’une  insuffisance surrénalienne aigue  le bilan peut montrer :  </a:t>
            </a:r>
            <a:endParaRPr lang="fr-FR" sz="2800" b="1" dirty="0">
              <a:solidFill>
                <a:srgbClr val="002060"/>
              </a:solidFill>
              <a:effectLst>
                <a:outerShdw blurRad="38100" dist="38100" dir="2700000" algn="tl">
                  <a:srgbClr val="C0C0C0"/>
                </a:outerShdw>
              </a:effectLst>
              <a:latin typeface="+mn-lt"/>
              <a:cs typeface="+mn-cs"/>
            </a:endParaRP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A-Glycémie basse </a:t>
            </a:r>
          </a:p>
          <a:p>
            <a:pPr eaLnBrk="1" fontAlgn="auto" hangingPunct="1">
              <a:spcBef>
                <a:spcPct val="50000"/>
              </a:spcBef>
              <a:spcAft>
                <a:spcPts val="0"/>
              </a:spcAft>
              <a:defRPr/>
            </a:pPr>
            <a:r>
              <a:rPr lang="fr-FR" sz="2400" dirty="0">
                <a:solidFill>
                  <a:srgbClr val="FF0000"/>
                </a:solidFill>
                <a:latin typeface="+mn-lt"/>
                <a:sym typeface="Wingdings 2" pitchFamily="18" charset="2"/>
              </a:rPr>
              <a:t>        B-Hypercalcémie  </a:t>
            </a:r>
          </a:p>
          <a:p>
            <a:pPr eaLnBrk="1" fontAlgn="auto" hangingPunct="1">
              <a:spcBef>
                <a:spcPct val="50000"/>
              </a:spcBef>
              <a:spcAft>
                <a:spcPts val="0"/>
              </a:spcAft>
              <a:defRPr/>
            </a:pPr>
            <a:r>
              <a:rPr lang="fr-FR" sz="2400" dirty="0">
                <a:solidFill>
                  <a:srgbClr val="002060"/>
                </a:solidFill>
                <a:latin typeface="+mn-lt"/>
                <a:sym typeface="Wingdings 2" pitchFamily="18" charset="2"/>
              </a:rPr>
              <a:t>        C-</a:t>
            </a:r>
            <a:r>
              <a:rPr lang="fr-FR" sz="2400" dirty="0" err="1">
                <a:solidFill>
                  <a:srgbClr val="002060"/>
                </a:solidFill>
                <a:latin typeface="+mn-lt"/>
                <a:sym typeface="Wingdings 2" pitchFamily="18" charset="2"/>
              </a:rPr>
              <a:t>Kaliurèse</a:t>
            </a:r>
            <a:r>
              <a:rPr lang="fr-FR" sz="2400" dirty="0">
                <a:solidFill>
                  <a:srgbClr val="002060"/>
                </a:solidFill>
                <a:latin typeface="+mn-lt"/>
                <a:sym typeface="Wingdings 2" pitchFamily="18" charset="2"/>
              </a:rPr>
              <a:t> élevée </a:t>
            </a:r>
            <a:endParaRPr lang="fr-FR" sz="2400" dirty="0">
              <a:solidFill>
                <a:srgbClr val="002060"/>
              </a:solidFill>
              <a:latin typeface="+mn-lt"/>
            </a:endParaRPr>
          </a:p>
          <a:p>
            <a:pPr eaLnBrk="1" fontAlgn="auto" hangingPunct="1">
              <a:spcBef>
                <a:spcPct val="50000"/>
              </a:spcBef>
              <a:spcAft>
                <a:spcPts val="0"/>
              </a:spcAft>
              <a:defRPr/>
            </a:pPr>
            <a:r>
              <a:rPr lang="fr-FR" sz="2400" dirty="0">
                <a:solidFill>
                  <a:srgbClr val="002060"/>
                </a:solidFill>
                <a:latin typeface="+mn-lt"/>
                <a:sym typeface="Wingdings 2" pitchFamily="18" charset="2"/>
              </a:rPr>
              <a:t>        D-Elévation de l’uricémie </a:t>
            </a:r>
          </a:p>
          <a:p>
            <a:pPr eaLnBrk="1" fontAlgn="auto" hangingPunct="1">
              <a:spcBef>
                <a:spcPct val="50000"/>
              </a:spcBef>
              <a:spcAft>
                <a:spcPts val="0"/>
              </a:spcAft>
              <a:defRPr/>
            </a:pPr>
            <a:r>
              <a:rPr lang="fr-FR" sz="2400" dirty="0">
                <a:solidFill>
                  <a:srgbClr val="002060"/>
                </a:solidFill>
                <a:latin typeface="+mn-lt"/>
                <a:sym typeface="Wingdings 2" pitchFamily="18" charset="2"/>
              </a:rPr>
              <a:t>        </a:t>
            </a:r>
            <a:r>
              <a:rPr lang="fr-FR" sz="2400" dirty="0">
                <a:solidFill>
                  <a:srgbClr val="FF0000"/>
                </a:solidFill>
                <a:latin typeface="+mn-lt"/>
                <a:sym typeface="Wingdings 2" pitchFamily="18" charset="2"/>
              </a:rPr>
              <a:t>E-Hypochlorémie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D0B7A87F-EB6C-9A25-F154-70B645054300}"/>
              </a:ext>
            </a:extLst>
          </p:cNvPr>
          <p:cNvSpPr>
            <a:spLocks noChangeArrowheads="1"/>
          </p:cNvSpPr>
          <p:nvPr/>
        </p:nvSpPr>
        <p:spPr bwMode="auto">
          <a:xfrm>
            <a:off x="539750" y="1268413"/>
            <a:ext cx="7786688" cy="391318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n-lt"/>
              </a:rPr>
              <a:t>Parmi les causes vasculaires d’une insuffisance surrénalienne aigue on trouve :</a:t>
            </a:r>
          </a:p>
          <a:p>
            <a:pPr eaLnBrk="1" hangingPunct="1">
              <a:defRPr/>
            </a:pPr>
            <a:endParaRPr lang="fr-FR" altLang="fr-FR" sz="2400" b="1" dirty="0">
              <a:solidFill>
                <a:srgbClr val="002060"/>
              </a:solidFill>
            </a:endParaRPr>
          </a:p>
          <a:p>
            <a:pPr eaLnBrk="1" hangingPunct="1">
              <a:lnSpc>
                <a:spcPct val="150000"/>
              </a:lnSpc>
              <a:defRPr/>
            </a:pPr>
            <a:r>
              <a:rPr lang="fr-FR" altLang="fr-FR" sz="2400" dirty="0">
                <a:solidFill>
                  <a:srgbClr val="002060"/>
                </a:solidFill>
              </a:rPr>
              <a:t>   </a:t>
            </a:r>
            <a:r>
              <a:rPr lang="fr-FR" altLang="fr-FR" sz="2400" dirty="0">
                <a:solidFill>
                  <a:srgbClr val="002060"/>
                </a:solidFill>
                <a:latin typeface="+mn-lt"/>
              </a:rPr>
              <a:t>A -</a:t>
            </a:r>
            <a:r>
              <a:rPr lang="fr-FR" sz="2400" dirty="0">
                <a:solidFill>
                  <a:srgbClr val="002060"/>
                </a:solidFill>
                <a:latin typeface="+mn-lt"/>
              </a:rPr>
              <a:t> Thrombocytopénie</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B -Traitement par </a:t>
            </a:r>
            <a:r>
              <a:rPr lang="fr-FR" altLang="fr-FR" sz="2400" dirty="0" err="1">
                <a:solidFill>
                  <a:srgbClr val="002060"/>
                </a:solidFill>
                <a:latin typeface="+mn-lt"/>
              </a:rPr>
              <a:t>mitotane</a:t>
            </a:r>
            <a:r>
              <a:rPr lang="fr-FR" altLang="fr-FR" sz="2400" dirty="0">
                <a:solidFill>
                  <a:srgbClr val="002060"/>
                </a:solidFill>
                <a:latin typeface="+mn-lt"/>
              </a:rPr>
              <a:t> </a:t>
            </a:r>
          </a:p>
          <a:p>
            <a:pPr eaLnBrk="1" hangingPunct="1">
              <a:lnSpc>
                <a:spcPct val="150000"/>
              </a:lnSpc>
              <a:defRPr/>
            </a:pPr>
            <a:r>
              <a:rPr lang="fr-FR" altLang="fr-FR" sz="2400" dirty="0">
                <a:solidFill>
                  <a:srgbClr val="002060"/>
                </a:solidFill>
                <a:latin typeface="+mn-lt"/>
              </a:rPr>
              <a:t>    C-</a:t>
            </a:r>
            <a:r>
              <a:rPr lang="fr-FR" sz="2400" dirty="0">
                <a:solidFill>
                  <a:srgbClr val="002060"/>
                </a:solidFill>
                <a:latin typeface="+mn-lt"/>
              </a:rPr>
              <a:t>Thrombose bilatérale des veines surrénaliennes </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D-</a:t>
            </a:r>
            <a:r>
              <a:rPr lang="fr-FR" sz="2400" dirty="0">
                <a:solidFill>
                  <a:srgbClr val="002060"/>
                </a:solidFill>
                <a:latin typeface="+mn-lt"/>
              </a:rPr>
              <a:t>Traitement par rifampicine </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E-Syndrome de </a:t>
            </a:r>
            <a:r>
              <a:rPr lang="fr-FR" altLang="fr-FR" sz="2400" dirty="0" err="1">
                <a:solidFill>
                  <a:srgbClr val="002060"/>
                </a:solidFill>
                <a:latin typeface="+mn-lt"/>
              </a:rPr>
              <a:t>Scheehan</a:t>
            </a:r>
            <a:r>
              <a:rPr lang="fr-FR" altLang="fr-FR" sz="2400" dirty="0">
                <a:solidFill>
                  <a:srgbClr val="002060"/>
                </a:solidFill>
                <a:latin typeface="+mn-lt"/>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65FED1F4-FE2F-E7EF-E344-78202F163269}"/>
              </a:ext>
            </a:extLst>
          </p:cNvPr>
          <p:cNvSpPr>
            <a:spLocks noChangeArrowheads="1"/>
          </p:cNvSpPr>
          <p:nvPr/>
        </p:nvSpPr>
        <p:spPr bwMode="auto">
          <a:xfrm>
            <a:off x="539750" y="1268413"/>
            <a:ext cx="7786688" cy="391318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n-lt"/>
              </a:rPr>
              <a:t>Parmi les causes vasculaires d’une insuffisance surrénalienne aigue on trouve :</a:t>
            </a:r>
          </a:p>
          <a:p>
            <a:pPr eaLnBrk="1" hangingPunct="1">
              <a:defRPr/>
            </a:pPr>
            <a:endParaRPr lang="fr-FR" altLang="fr-FR" sz="2400" b="1" dirty="0">
              <a:solidFill>
                <a:srgbClr val="002060"/>
              </a:solidFill>
            </a:endParaRPr>
          </a:p>
          <a:p>
            <a:pPr eaLnBrk="1" hangingPunct="1">
              <a:lnSpc>
                <a:spcPct val="150000"/>
              </a:lnSpc>
              <a:defRPr/>
            </a:pPr>
            <a:r>
              <a:rPr lang="fr-FR" altLang="fr-FR" sz="2400" dirty="0">
                <a:solidFill>
                  <a:srgbClr val="002060"/>
                </a:solidFill>
              </a:rPr>
              <a:t>   </a:t>
            </a:r>
            <a:r>
              <a:rPr lang="fr-FR" altLang="fr-FR" sz="2400" dirty="0">
                <a:solidFill>
                  <a:srgbClr val="FF0000"/>
                </a:solidFill>
                <a:latin typeface="+mn-lt"/>
              </a:rPr>
              <a:t>A -</a:t>
            </a:r>
            <a:r>
              <a:rPr lang="fr-FR" sz="2400" dirty="0">
                <a:solidFill>
                  <a:srgbClr val="FF0000"/>
                </a:solidFill>
                <a:latin typeface="+mn-lt"/>
              </a:rPr>
              <a:t>Thrombocytopénie</a:t>
            </a:r>
            <a:endParaRPr lang="fr-FR" altLang="fr-FR" sz="2400" dirty="0">
              <a:solidFill>
                <a:srgbClr val="FF0000"/>
              </a:solidFill>
              <a:latin typeface="+mn-lt"/>
            </a:endParaRPr>
          </a:p>
          <a:p>
            <a:pPr eaLnBrk="1" hangingPunct="1">
              <a:lnSpc>
                <a:spcPct val="150000"/>
              </a:lnSpc>
              <a:defRPr/>
            </a:pPr>
            <a:r>
              <a:rPr lang="fr-FR" altLang="fr-FR" sz="2400" dirty="0">
                <a:solidFill>
                  <a:srgbClr val="002060"/>
                </a:solidFill>
                <a:latin typeface="+mn-lt"/>
              </a:rPr>
              <a:t>    B -Traitement par </a:t>
            </a:r>
            <a:r>
              <a:rPr lang="fr-FR" altLang="fr-FR" sz="2400" dirty="0" err="1">
                <a:solidFill>
                  <a:srgbClr val="002060"/>
                </a:solidFill>
                <a:latin typeface="+mn-lt"/>
              </a:rPr>
              <a:t>mitotane</a:t>
            </a:r>
            <a:r>
              <a:rPr lang="fr-FR" altLang="fr-FR" sz="2400" dirty="0">
                <a:solidFill>
                  <a:srgbClr val="002060"/>
                </a:solidFill>
                <a:latin typeface="+mn-lt"/>
              </a:rPr>
              <a:t> </a:t>
            </a:r>
          </a:p>
          <a:p>
            <a:pPr eaLnBrk="1" hangingPunct="1">
              <a:lnSpc>
                <a:spcPct val="150000"/>
              </a:lnSpc>
              <a:defRPr/>
            </a:pPr>
            <a:r>
              <a:rPr lang="fr-FR" altLang="fr-FR" sz="2400" dirty="0">
                <a:solidFill>
                  <a:srgbClr val="002060"/>
                </a:solidFill>
                <a:latin typeface="+mn-lt"/>
              </a:rPr>
              <a:t>    </a:t>
            </a:r>
            <a:r>
              <a:rPr lang="fr-FR" altLang="fr-FR" sz="2400" dirty="0">
                <a:solidFill>
                  <a:srgbClr val="FF0000"/>
                </a:solidFill>
                <a:latin typeface="+mn-lt"/>
              </a:rPr>
              <a:t>C-</a:t>
            </a:r>
            <a:r>
              <a:rPr lang="fr-FR" sz="2400" dirty="0">
                <a:solidFill>
                  <a:srgbClr val="FF0000"/>
                </a:solidFill>
                <a:latin typeface="+mn-lt"/>
              </a:rPr>
              <a:t>Thrombose bilatérale des veines surrénaliennes </a:t>
            </a:r>
            <a:endParaRPr lang="fr-FR" altLang="fr-FR" sz="2400" dirty="0">
              <a:solidFill>
                <a:srgbClr val="FF0000"/>
              </a:solidFill>
              <a:latin typeface="+mn-lt"/>
            </a:endParaRPr>
          </a:p>
          <a:p>
            <a:pPr eaLnBrk="1" hangingPunct="1">
              <a:lnSpc>
                <a:spcPct val="150000"/>
              </a:lnSpc>
              <a:defRPr/>
            </a:pPr>
            <a:r>
              <a:rPr lang="fr-FR" altLang="fr-FR" sz="2400" dirty="0">
                <a:solidFill>
                  <a:srgbClr val="002060"/>
                </a:solidFill>
                <a:latin typeface="+mn-lt"/>
              </a:rPr>
              <a:t>    D-</a:t>
            </a:r>
            <a:r>
              <a:rPr lang="fr-FR" sz="2400" dirty="0">
                <a:solidFill>
                  <a:srgbClr val="002060"/>
                </a:solidFill>
                <a:latin typeface="+mn-lt"/>
              </a:rPr>
              <a:t>Traitement par rifampicine </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a:t>
            </a:r>
            <a:r>
              <a:rPr lang="fr-FR" altLang="fr-FR" sz="2400" dirty="0">
                <a:solidFill>
                  <a:srgbClr val="FF0000"/>
                </a:solidFill>
                <a:latin typeface="+mn-lt"/>
              </a:rPr>
              <a:t>E-Syndrome de </a:t>
            </a:r>
            <a:r>
              <a:rPr lang="fr-FR" altLang="fr-FR" sz="2400" dirty="0" err="1">
                <a:solidFill>
                  <a:srgbClr val="FF0000"/>
                </a:solidFill>
                <a:latin typeface="+mn-lt"/>
              </a:rPr>
              <a:t>Scheehan</a:t>
            </a:r>
            <a:r>
              <a:rPr lang="fr-FR" altLang="fr-FR" sz="2400" dirty="0">
                <a:solidFill>
                  <a:srgbClr val="FF0000"/>
                </a:solidFill>
                <a:latin typeface="+mn-lt"/>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10988B1-147E-00FC-99E1-EBB52C7EF86A}"/>
              </a:ext>
            </a:extLst>
          </p:cNvPr>
          <p:cNvSpPr/>
          <p:nvPr/>
        </p:nvSpPr>
        <p:spPr>
          <a:xfrm>
            <a:off x="428625" y="1000125"/>
            <a:ext cx="7643813" cy="4524375"/>
          </a:xfrm>
          <a:prstGeom prst="rect">
            <a:avLst/>
          </a:prstGeom>
        </p:spPr>
        <p:txBody>
          <a:bodyPr>
            <a:spAutoFit/>
          </a:bodyPr>
          <a:lstStyle/>
          <a:p>
            <a:pPr>
              <a:defRPr/>
            </a:pPr>
            <a:r>
              <a:rPr lang="fr-FR" altLang="fr-FR" sz="2400" b="1" dirty="0">
                <a:solidFill>
                  <a:srgbClr val="002060"/>
                </a:solidFill>
                <a:latin typeface="+mn-lt"/>
              </a:rPr>
              <a:t>Une insuffisance surrénalienne aigue suite à l’</a:t>
            </a:r>
            <a:r>
              <a:rPr lang="fr-FR" altLang="fr-FR" sz="2400" b="1" dirty="0" err="1">
                <a:solidFill>
                  <a:srgbClr val="002060"/>
                </a:solidFill>
                <a:latin typeface="+mn-lt"/>
              </a:rPr>
              <a:t>arret</a:t>
            </a:r>
            <a:r>
              <a:rPr lang="fr-FR" altLang="fr-FR" sz="2400" b="1" dirty="0">
                <a:solidFill>
                  <a:srgbClr val="002060"/>
                </a:solidFill>
                <a:latin typeface="+mn-lt"/>
              </a:rPr>
              <a:t> d’une  corticothérapie est évoquée devant:</a:t>
            </a:r>
          </a:p>
          <a:p>
            <a:pPr>
              <a:defRPr/>
            </a:pPr>
            <a:endParaRPr lang="fr-FR" altLang="fr-FR" sz="2400" b="1" dirty="0">
              <a:solidFill>
                <a:srgbClr val="002060"/>
              </a:solidFill>
              <a:latin typeface="+mn-lt"/>
            </a:endParaRPr>
          </a:p>
          <a:p>
            <a:pPr>
              <a:lnSpc>
                <a:spcPct val="150000"/>
              </a:lnSpc>
              <a:defRPr/>
            </a:pPr>
            <a:r>
              <a:rPr lang="fr-FR" sz="2400" dirty="0">
                <a:solidFill>
                  <a:srgbClr val="002060"/>
                </a:solidFill>
                <a:latin typeface="+mn-lt"/>
              </a:rPr>
              <a:t>A. Fragilité capillaire </a:t>
            </a:r>
          </a:p>
          <a:p>
            <a:pPr>
              <a:lnSpc>
                <a:spcPct val="150000"/>
              </a:lnSpc>
              <a:defRPr/>
            </a:pPr>
            <a:r>
              <a:rPr lang="fr-FR" sz="2400" dirty="0">
                <a:solidFill>
                  <a:srgbClr val="002060"/>
                </a:solidFill>
                <a:latin typeface="+mn-lt"/>
              </a:rPr>
              <a:t>B. Aldostérone bas </a:t>
            </a:r>
          </a:p>
          <a:p>
            <a:pPr>
              <a:lnSpc>
                <a:spcPct val="150000"/>
              </a:lnSpc>
              <a:defRPr/>
            </a:pPr>
            <a:r>
              <a:rPr lang="fr-FR" sz="2400" dirty="0">
                <a:solidFill>
                  <a:srgbClr val="002060"/>
                </a:solidFill>
                <a:latin typeface="+mn-lt"/>
              </a:rPr>
              <a:t>C. Facies </a:t>
            </a:r>
            <a:r>
              <a:rPr lang="fr-FR" sz="2400" dirty="0" err="1">
                <a:solidFill>
                  <a:srgbClr val="002060"/>
                </a:solidFill>
                <a:latin typeface="+mn-lt"/>
              </a:rPr>
              <a:t>cushingoide</a:t>
            </a:r>
            <a:r>
              <a:rPr lang="fr-FR" sz="2400" dirty="0">
                <a:solidFill>
                  <a:srgbClr val="002060"/>
                </a:solidFill>
                <a:latin typeface="+mn-lt"/>
              </a:rPr>
              <a:t> </a:t>
            </a:r>
          </a:p>
          <a:p>
            <a:pPr>
              <a:lnSpc>
                <a:spcPct val="150000"/>
              </a:lnSpc>
              <a:defRPr/>
            </a:pPr>
            <a:r>
              <a:rPr lang="fr-FR" sz="2400" dirty="0">
                <a:solidFill>
                  <a:srgbClr val="002060"/>
                </a:solidFill>
                <a:latin typeface="+mn-lt"/>
              </a:rPr>
              <a:t>D. SDHEA augmenté </a:t>
            </a:r>
          </a:p>
          <a:p>
            <a:pPr>
              <a:lnSpc>
                <a:spcPct val="150000"/>
              </a:lnSpc>
              <a:defRPr/>
            </a:pPr>
            <a:r>
              <a:rPr lang="fr-FR" sz="2400" dirty="0">
                <a:solidFill>
                  <a:srgbClr val="002060"/>
                </a:solidFill>
                <a:latin typeface="+mn-lt"/>
              </a:rPr>
              <a:t>E. ACTH  basse</a:t>
            </a:r>
          </a:p>
          <a:p>
            <a:pPr>
              <a:lnSpc>
                <a:spcPct val="150000"/>
              </a:lnSpc>
              <a:defRPr/>
            </a:pPr>
            <a:endParaRPr lang="fr-FR" sz="2400" dirty="0">
              <a:solidFill>
                <a:srgbClr val="00206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45DFB9-D932-222A-11D2-CC132C503484}"/>
              </a:ext>
            </a:extLst>
          </p:cNvPr>
          <p:cNvSpPr/>
          <p:nvPr/>
        </p:nvSpPr>
        <p:spPr>
          <a:xfrm>
            <a:off x="428625" y="1000125"/>
            <a:ext cx="7643813" cy="4524375"/>
          </a:xfrm>
          <a:prstGeom prst="rect">
            <a:avLst/>
          </a:prstGeom>
        </p:spPr>
        <p:txBody>
          <a:bodyPr>
            <a:spAutoFit/>
          </a:bodyPr>
          <a:lstStyle/>
          <a:p>
            <a:pPr>
              <a:defRPr/>
            </a:pPr>
            <a:r>
              <a:rPr lang="fr-FR" altLang="fr-FR" sz="2400" b="1" dirty="0">
                <a:solidFill>
                  <a:srgbClr val="002060"/>
                </a:solidFill>
                <a:latin typeface="+mn-lt"/>
              </a:rPr>
              <a:t>Une insuffisance surrénalienne aigue suite à l’</a:t>
            </a:r>
            <a:r>
              <a:rPr lang="fr-FR" altLang="fr-FR" sz="2400" b="1" dirty="0" err="1">
                <a:solidFill>
                  <a:srgbClr val="002060"/>
                </a:solidFill>
                <a:latin typeface="+mn-lt"/>
              </a:rPr>
              <a:t>arret</a:t>
            </a:r>
            <a:r>
              <a:rPr lang="fr-FR" altLang="fr-FR" sz="2400" b="1" dirty="0">
                <a:solidFill>
                  <a:srgbClr val="002060"/>
                </a:solidFill>
                <a:latin typeface="+mn-lt"/>
              </a:rPr>
              <a:t> d’une  corticothérapie est évoquée devant:</a:t>
            </a:r>
          </a:p>
          <a:p>
            <a:pPr>
              <a:defRPr/>
            </a:pPr>
            <a:endParaRPr lang="fr-FR" altLang="fr-FR" sz="2400" b="1" dirty="0">
              <a:solidFill>
                <a:srgbClr val="002060"/>
              </a:solidFill>
              <a:latin typeface="+mn-lt"/>
            </a:endParaRPr>
          </a:p>
          <a:p>
            <a:pPr>
              <a:lnSpc>
                <a:spcPct val="150000"/>
              </a:lnSpc>
              <a:defRPr/>
            </a:pPr>
            <a:r>
              <a:rPr lang="fr-FR" sz="2400" dirty="0">
                <a:solidFill>
                  <a:srgbClr val="FF0000"/>
                </a:solidFill>
                <a:latin typeface="+mn-lt"/>
              </a:rPr>
              <a:t>A. Fragilité capillaire </a:t>
            </a:r>
          </a:p>
          <a:p>
            <a:pPr>
              <a:lnSpc>
                <a:spcPct val="150000"/>
              </a:lnSpc>
              <a:defRPr/>
            </a:pPr>
            <a:r>
              <a:rPr lang="fr-FR" sz="2400" dirty="0">
                <a:solidFill>
                  <a:srgbClr val="002060"/>
                </a:solidFill>
                <a:latin typeface="+mn-lt"/>
              </a:rPr>
              <a:t>B. Aldostérone bas </a:t>
            </a:r>
          </a:p>
          <a:p>
            <a:pPr>
              <a:lnSpc>
                <a:spcPct val="150000"/>
              </a:lnSpc>
              <a:defRPr/>
            </a:pPr>
            <a:r>
              <a:rPr lang="fr-FR" sz="2400" dirty="0">
                <a:solidFill>
                  <a:srgbClr val="FF0000"/>
                </a:solidFill>
                <a:latin typeface="+mn-lt"/>
              </a:rPr>
              <a:t>C. Facies </a:t>
            </a:r>
            <a:r>
              <a:rPr lang="fr-FR" sz="2400" dirty="0" err="1">
                <a:solidFill>
                  <a:srgbClr val="FF0000"/>
                </a:solidFill>
                <a:latin typeface="+mn-lt"/>
              </a:rPr>
              <a:t>cushingoide</a:t>
            </a:r>
            <a:r>
              <a:rPr lang="fr-FR" sz="2400" dirty="0">
                <a:solidFill>
                  <a:srgbClr val="FF0000"/>
                </a:solidFill>
                <a:latin typeface="+mn-lt"/>
              </a:rPr>
              <a:t> </a:t>
            </a:r>
          </a:p>
          <a:p>
            <a:pPr>
              <a:lnSpc>
                <a:spcPct val="150000"/>
              </a:lnSpc>
              <a:defRPr/>
            </a:pPr>
            <a:r>
              <a:rPr lang="fr-FR" sz="2400" dirty="0">
                <a:solidFill>
                  <a:srgbClr val="002060"/>
                </a:solidFill>
                <a:latin typeface="+mn-lt"/>
              </a:rPr>
              <a:t>D. SDHEA augmenté </a:t>
            </a:r>
          </a:p>
          <a:p>
            <a:pPr>
              <a:lnSpc>
                <a:spcPct val="150000"/>
              </a:lnSpc>
              <a:defRPr/>
            </a:pPr>
            <a:r>
              <a:rPr lang="fr-FR" sz="2400" dirty="0">
                <a:solidFill>
                  <a:srgbClr val="FF0000"/>
                </a:solidFill>
                <a:latin typeface="+mn-lt"/>
              </a:rPr>
              <a:t>E. ACTH basse</a:t>
            </a:r>
          </a:p>
          <a:p>
            <a:pPr>
              <a:lnSpc>
                <a:spcPct val="150000"/>
              </a:lnSpc>
              <a:defRPr/>
            </a:pPr>
            <a:endParaRPr lang="fr-FR" sz="2400" dirty="0">
              <a:solidFill>
                <a:srgbClr val="00206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6FB0E48-446B-D1C2-4CF8-4B77D82EEEAF}"/>
              </a:ext>
            </a:extLst>
          </p:cNvPr>
          <p:cNvSpPr txBox="1"/>
          <p:nvPr/>
        </p:nvSpPr>
        <p:spPr>
          <a:xfrm>
            <a:off x="503238" y="704850"/>
            <a:ext cx="8137525" cy="5448300"/>
          </a:xfrm>
          <a:prstGeom prst="rect">
            <a:avLst/>
          </a:prstGeom>
          <a:noFill/>
        </p:spPr>
        <p:txBody>
          <a:bodyPr>
            <a:spAutoFit/>
          </a:bodyPr>
          <a:lstStyle/>
          <a:p>
            <a:pPr>
              <a:lnSpc>
                <a:spcPct val="150000"/>
              </a:lnSpc>
              <a:defRPr/>
            </a:pPr>
            <a:r>
              <a:rPr lang="fr-FR" sz="2400" b="1" dirty="0">
                <a:solidFill>
                  <a:srgbClr val="002060"/>
                </a:solidFill>
                <a:latin typeface="+mn-lt"/>
              </a:rPr>
              <a:t>Parmi les anomalies biologiques observées au cours d’une insuffisance surrénalienne aiguë après arrêt d’une corticothérapie:</a:t>
            </a:r>
          </a:p>
          <a:p>
            <a:pPr>
              <a:lnSpc>
                <a:spcPct val="150000"/>
              </a:lnSpc>
              <a:defRPr/>
            </a:pPr>
            <a:endParaRPr lang="fr-FR" sz="2400" b="1" dirty="0">
              <a:solidFill>
                <a:srgbClr val="002060"/>
              </a:solidFill>
              <a:latin typeface="+mn-lt"/>
            </a:endParaRPr>
          </a:p>
          <a:p>
            <a:pPr>
              <a:lnSpc>
                <a:spcPct val="150000"/>
              </a:lnSpc>
              <a:defRPr/>
            </a:pPr>
            <a:r>
              <a:rPr lang="fr-FR" sz="2400" dirty="0">
                <a:solidFill>
                  <a:srgbClr val="002060"/>
                </a:solidFill>
                <a:latin typeface="+mn-lt"/>
              </a:rPr>
              <a:t>       A. Hyponatrémie </a:t>
            </a:r>
          </a:p>
          <a:p>
            <a:pPr>
              <a:lnSpc>
                <a:spcPct val="150000"/>
              </a:lnSpc>
              <a:defRPr/>
            </a:pPr>
            <a:r>
              <a:rPr lang="fr-FR" sz="2400" dirty="0">
                <a:solidFill>
                  <a:srgbClr val="002060"/>
                </a:solidFill>
                <a:latin typeface="+mn-lt"/>
              </a:rPr>
              <a:t>       B. Hypochlorémie </a:t>
            </a:r>
          </a:p>
          <a:p>
            <a:pPr>
              <a:lnSpc>
                <a:spcPct val="150000"/>
              </a:lnSpc>
              <a:defRPr/>
            </a:pPr>
            <a:r>
              <a:rPr lang="fr-FR" sz="2400" dirty="0">
                <a:solidFill>
                  <a:srgbClr val="002060"/>
                </a:solidFill>
                <a:latin typeface="+mn-lt"/>
              </a:rPr>
              <a:t>       C. Hyperkaliémie </a:t>
            </a:r>
          </a:p>
          <a:p>
            <a:pPr>
              <a:lnSpc>
                <a:spcPct val="150000"/>
              </a:lnSpc>
              <a:defRPr/>
            </a:pPr>
            <a:r>
              <a:rPr lang="fr-FR" sz="2400" dirty="0">
                <a:solidFill>
                  <a:srgbClr val="002060"/>
                </a:solidFill>
                <a:latin typeface="+mn-lt"/>
              </a:rPr>
              <a:t>       D. Glycémie basse </a:t>
            </a:r>
          </a:p>
          <a:p>
            <a:pPr>
              <a:lnSpc>
                <a:spcPct val="150000"/>
              </a:lnSpc>
              <a:defRPr/>
            </a:pPr>
            <a:r>
              <a:rPr lang="fr-FR" sz="2400" dirty="0">
                <a:solidFill>
                  <a:srgbClr val="002060"/>
                </a:solidFill>
                <a:latin typeface="+mn-lt"/>
              </a:rPr>
              <a:t>       E. Cortisol  bas</a:t>
            </a:r>
          </a:p>
          <a:p>
            <a:pPr>
              <a:defRPr/>
            </a:pPr>
            <a:endParaRPr lang="fr-FR" sz="2400" b="1" dirty="0">
              <a:solidFill>
                <a:srgbClr val="002060"/>
              </a:solidFill>
              <a:latin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4D7AC59-3196-5814-4B7F-1705544F5465}"/>
              </a:ext>
            </a:extLst>
          </p:cNvPr>
          <p:cNvSpPr txBox="1"/>
          <p:nvPr/>
        </p:nvSpPr>
        <p:spPr>
          <a:xfrm>
            <a:off x="503238" y="704850"/>
            <a:ext cx="8137525" cy="5448300"/>
          </a:xfrm>
          <a:prstGeom prst="rect">
            <a:avLst/>
          </a:prstGeom>
          <a:noFill/>
        </p:spPr>
        <p:txBody>
          <a:bodyPr>
            <a:spAutoFit/>
          </a:bodyPr>
          <a:lstStyle/>
          <a:p>
            <a:pPr>
              <a:lnSpc>
                <a:spcPct val="150000"/>
              </a:lnSpc>
              <a:defRPr/>
            </a:pPr>
            <a:r>
              <a:rPr lang="fr-FR" sz="2400" b="1" dirty="0">
                <a:solidFill>
                  <a:srgbClr val="002060"/>
                </a:solidFill>
                <a:latin typeface="+mn-lt"/>
              </a:rPr>
              <a:t>Parmi les anomalies biologiques observées au cours d’une insuffisance surrénalienne aiguë après arrêt d’une corticothérapie:</a:t>
            </a:r>
          </a:p>
          <a:p>
            <a:pPr>
              <a:lnSpc>
                <a:spcPct val="150000"/>
              </a:lnSpc>
              <a:defRPr/>
            </a:pPr>
            <a:endParaRPr lang="fr-FR" sz="2400" b="1" dirty="0">
              <a:solidFill>
                <a:srgbClr val="002060"/>
              </a:solidFill>
              <a:latin typeface="+mn-lt"/>
            </a:endParaRPr>
          </a:p>
          <a:p>
            <a:pPr>
              <a:lnSpc>
                <a:spcPct val="150000"/>
              </a:lnSpc>
              <a:defRPr/>
            </a:pPr>
            <a:r>
              <a:rPr lang="fr-FR" sz="2400" dirty="0">
                <a:solidFill>
                  <a:srgbClr val="002060"/>
                </a:solidFill>
                <a:latin typeface="+mn-lt"/>
              </a:rPr>
              <a:t>       </a:t>
            </a:r>
            <a:r>
              <a:rPr lang="fr-FR" sz="2400" dirty="0">
                <a:solidFill>
                  <a:srgbClr val="FF0000"/>
                </a:solidFill>
                <a:latin typeface="+mn-lt"/>
              </a:rPr>
              <a:t>A. Hyponatrémie </a:t>
            </a:r>
          </a:p>
          <a:p>
            <a:pPr>
              <a:lnSpc>
                <a:spcPct val="150000"/>
              </a:lnSpc>
              <a:defRPr/>
            </a:pPr>
            <a:r>
              <a:rPr lang="fr-FR" sz="2400" dirty="0">
                <a:solidFill>
                  <a:srgbClr val="002060"/>
                </a:solidFill>
                <a:latin typeface="+mn-lt"/>
              </a:rPr>
              <a:t>       B. Hypochlorémie </a:t>
            </a:r>
          </a:p>
          <a:p>
            <a:pPr>
              <a:lnSpc>
                <a:spcPct val="150000"/>
              </a:lnSpc>
              <a:defRPr/>
            </a:pPr>
            <a:r>
              <a:rPr lang="fr-FR" sz="2400" dirty="0">
                <a:solidFill>
                  <a:srgbClr val="002060"/>
                </a:solidFill>
                <a:latin typeface="+mn-lt"/>
              </a:rPr>
              <a:t>       C. Hyperkaliémie </a:t>
            </a:r>
          </a:p>
          <a:p>
            <a:pPr>
              <a:lnSpc>
                <a:spcPct val="150000"/>
              </a:lnSpc>
              <a:defRPr/>
            </a:pPr>
            <a:r>
              <a:rPr lang="fr-FR" sz="2400" dirty="0">
                <a:solidFill>
                  <a:srgbClr val="002060"/>
                </a:solidFill>
                <a:latin typeface="+mn-lt"/>
              </a:rPr>
              <a:t>       </a:t>
            </a:r>
            <a:r>
              <a:rPr lang="fr-FR" sz="2400" dirty="0">
                <a:solidFill>
                  <a:srgbClr val="FF0000"/>
                </a:solidFill>
                <a:latin typeface="+mn-lt"/>
              </a:rPr>
              <a:t>D. Glycémie basse </a:t>
            </a:r>
          </a:p>
          <a:p>
            <a:pPr>
              <a:lnSpc>
                <a:spcPct val="150000"/>
              </a:lnSpc>
              <a:defRPr/>
            </a:pPr>
            <a:r>
              <a:rPr lang="fr-FR" sz="2400" dirty="0">
                <a:solidFill>
                  <a:srgbClr val="002060"/>
                </a:solidFill>
                <a:latin typeface="+mn-lt"/>
              </a:rPr>
              <a:t>       </a:t>
            </a:r>
            <a:r>
              <a:rPr lang="fr-FR" sz="2400" dirty="0">
                <a:solidFill>
                  <a:srgbClr val="FF0000"/>
                </a:solidFill>
                <a:latin typeface="+mn-lt"/>
              </a:rPr>
              <a:t>E. Cortisol  bas</a:t>
            </a:r>
          </a:p>
          <a:p>
            <a:pPr>
              <a:defRPr/>
            </a:pPr>
            <a:endParaRPr lang="fr-FR" sz="2400" b="1" dirty="0">
              <a:solidFill>
                <a:srgbClr val="002060"/>
              </a:solidFill>
              <a:latin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7EABB8C5-C385-A641-07FC-EB974B98C563}"/>
              </a:ext>
            </a:extLst>
          </p:cNvPr>
          <p:cNvSpPr>
            <a:spLocks noGrp="1"/>
          </p:cNvSpPr>
          <p:nvPr>
            <p:ph type="title"/>
          </p:nvPr>
        </p:nvSpPr>
        <p:spPr>
          <a:xfrm>
            <a:off x="457200" y="692150"/>
            <a:ext cx="8229600" cy="1143000"/>
          </a:xfrm>
        </p:spPr>
        <p:txBody>
          <a:bodyPr/>
          <a:lstStyle/>
          <a:p>
            <a:pPr algn="l">
              <a:defRPr/>
            </a:pPr>
            <a:r>
              <a:rPr lang="fr-FR" altLang="fr-FR" sz="2400" b="1" dirty="0">
                <a:solidFill>
                  <a:srgbClr val="002060"/>
                </a:solidFill>
                <a:latin typeface="+mn-lt"/>
                <a:ea typeface="+mn-ea"/>
                <a:cs typeface="Arial" panose="020B0604020202020204" pitchFamily="34" charset="0"/>
              </a:rPr>
              <a:t>Concernant le bloc en 21 hydroxylase dans sa forme classique :</a:t>
            </a:r>
          </a:p>
        </p:txBody>
      </p:sp>
      <p:sp>
        <p:nvSpPr>
          <p:cNvPr id="26627" name="Espace réservé du contenu 2">
            <a:extLst>
              <a:ext uri="{FF2B5EF4-FFF2-40B4-BE49-F238E27FC236}">
                <a16:creationId xmlns:a16="http://schemas.microsoft.com/office/drawing/2014/main" id="{7DDB283B-1521-6DD0-7F26-FDC32A51648B}"/>
              </a:ext>
            </a:extLst>
          </p:cNvPr>
          <p:cNvSpPr>
            <a:spLocks noGrp="1"/>
          </p:cNvSpPr>
          <p:nvPr>
            <p:ph idx="1"/>
          </p:nvPr>
        </p:nvSpPr>
        <p:spPr>
          <a:xfrm>
            <a:off x="228600" y="2205038"/>
            <a:ext cx="8915400" cy="4525962"/>
          </a:xfrm>
        </p:spPr>
        <p:txBody>
          <a:bodyPr/>
          <a:lstStyle/>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A- </a:t>
            </a:r>
            <a:r>
              <a:rPr lang="fr-FR" sz="2400" dirty="0">
                <a:solidFill>
                  <a:srgbClr val="002060"/>
                </a:solidFill>
                <a:cs typeface="Arial" panose="020B0604020202020204" pitchFamily="34" charset="0"/>
              </a:rPr>
              <a:t>La transmission est autosomique récessive</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B- Il existe une ambiguïté du fœtus masculin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C- </a:t>
            </a:r>
            <a:r>
              <a:rPr lang="fr-FR" sz="2400" dirty="0">
                <a:solidFill>
                  <a:srgbClr val="002060"/>
                </a:solidFill>
                <a:cs typeface="Arial" panose="020B0604020202020204" pitchFamily="34" charset="0"/>
              </a:rPr>
              <a:t>La 17 hydroxy progestérone est élevée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D- L’ACTH est élevée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E-On peut trouver une HTA</a:t>
            </a:r>
            <a:endParaRPr lang="fr-FR" altLang="fr-FR" dirty="0">
              <a:solidFill>
                <a:srgbClr val="050505"/>
              </a:solidFill>
            </a:endParaRPr>
          </a:p>
          <a:p>
            <a:pPr>
              <a:defRPr/>
            </a:pPr>
            <a:endParaRPr lang="fr-FR" altLang="fr-F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a:extLst>
              <a:ext uri="{FF2B5EF4-FFF2-40B4-BE49-F238E27FC236}">
                <a16:creationId xmlns:a16="http://schemas.microsoft.com/office/drawing/2014/main" id="{B78D4D52-B273-531D-9410-C3A1014A5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59" r="3226"/>
          <a:stretch>
            <a:fillRect/>
          </a:stretch>
        </p:blipFill>
        <p:spPr bwMode="auto">
          <a:xfrm>
            <a:off x="0" y="1071563"/>
            <a:ext cx="9144000" cy="475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igne de multiplication 5">
            <a:extLst>
              <a:ext uri="{FF2B5EF4-FFF2-40B4-BE49-F238E27FC236}">
                <a16:creationId xmlns:a16="http://schemas.microsoft.com/office/drawing/2014/main" id="{9A273849-47CF-6EEE-1EE5-277DDC87D815}"/>
              </a:ext>
            </a:extLst>
          </p:cNvPr>
          <p:cNvSpPr/>
          <p:nvPr/>
        </p:nvSpPr>
        <p:spPr bwMode="auto">
          <a:xfrm>
            <a:off x="5795963" y="3294063"/>
            <a:ext cx="360362" cy="444500"/>
          </a:xfrm>
          <a:prstGeom prst="mathMultiply">
            <a:avLst/>
          </a:prstGeom>
          <a:solidFill>
            <a:srgbClr val="FF0000"/>
          </a:solidFill>
          <a:ln w="9525">
            <a:solidFill>
              <a:srgbClr val="FF0000"/>
            </a:solidFill>
            <a:miter lim="800000"/>
            <a:headEnd/>
            <a:tailEnd/>
          </a:ln>
        </p:spPr>
        <p:txBody>
          <a:bodyPr anchor="ctr">
            <a:spAutoFit/>
          </a:bodyPr>
          <a:lstStyle/>
          <a:p>
            <a:pPr marL="457200" indent="-457200" algn="ctr" eaLnBrk="1" hangingPunct="1">
              <a:lnSpc>
                <a:spcPct val="150000"/>
              </a:lnSpc>
              <a:buFontTx/>
              <a:buAutoNum type="alphaUcPeriod"/>
              <a:defRPr/>
            </a:pPr>
            <a:endParaRPr lang="fr-FR" sz="2400" dirty="0">
              <a:solidFill>
                <a:srgbClr val="002060"/>
              </a:solidFill>
            </a:endParaRPr>
          </a:p>
        </p:txBody>
      </p:sp>
      <p:sp>
        <p:nvSpPr>
          <p:cNvPr id="8" name="Signe de multiplication 7">
            <a:extLst>
              <a:ext uri="{FF2B5EF4-FFF2-40B4-BE49-F238E27FC236}">
                <a16:creationId xmlns:a16="http://schemas.microsoft.com/office/drawing/2014/main" id="{DC6342FE-9A2E-50A8-819A-CEF98E68AFC9}"/>
              </a:ext>
            </a:extLst>
          </p:cNvPr>
          <p:cNvSpPr/>
          <p:nvPr/>
        </p:nvSpPr>
        <p:spPr bwMode="auto">
          <a:xfrm>
            <a:off x="3635375" y="3273425"/>
            <a:ext cx="360363" cy="444500"/>
          </a:xfrm>
          <a:prstGeom prst="mathMultiply">
            <a:avLst/>
          </a:prstGeom>
          <a:solidFill>
            <a:srgbClr val="FF0000"/>
          </a:solidFill>
          <a:ln w="9525">
            <a:solidFill>
              <a:srgbClr val="FF0000"/>
            </a:solidFill>
            <a:miter lim="800000"/>
            <a:headEnd/>
            <a:tailEnd/>
          </a:ln>
        </p:spPr>
        <p:txBody>
          <a:bodyPr anchor="ctr">
            <a:spAutoFit/>
          </a:bodyPr>
          <a:lstStyle/>
          <a:p>
            <a:pPr marL="457200" indent="-457200" algn="ctr" eaLnBrk="1" hangingPunct="1">
              <a:lnSpc>
                <a:spcPct val="150000"/>
              </a:lnSpc>
              <a:buFontTx/>
              <a:buAutoNum type="alphaUcPeriod"/>
              <a:defRPr/>
            </a:pPr>
            <a:endParaRPr lang="fr-FR" sz="2400" dirty="0">
              <a:solidFill>
                <a:srgbClr val="002060"/>
              </a:solidFill>
            </a:endParaRPr>
          </a:p>
        </p:txBody>
      </p:sp>
      <p:sp>
        <p:nvSpPr>
          <p:cNvPr id="9" name="Signe de multiplication 8">
            <a:extLst>
              <a:ext uri="{FF2B5EF4-FFF2-40B4-BE49-F238E27FC236}">
                <a16:creationId xmlns:a16="http://schemas.microsoft.com/office/drawing/2014/main" id="{AD5C8943-F490-A4F7-2F2F-EA76B4979749}"/>
              </a:ext>
            </a:extLst>
          </p:cNvPr>
          <p:cNvSpPr/>
          <p:nvPr/>
        </p:nvSpPr>
        <p:spPr bwMode="auto">
          <a:xfrm>
            <a:off x="1116013" y="3228975"/>
            <a:ext cx="360362" cy="444500"/>
          </a:xfrm>
          <a:prstGeom prst="mathMultiply">
            <a:avLst/>
          </a:prstGeom>
          <a:solidFill>
            <a:srgbClr val="FF0000"/>
          </a:solidFill>
          <a:ln w="9525">
            <a:solidFill>
              <a:srgbClr val="FF0000"/>
            </a:solidFill>
            <a:miter lim="800000"/>
            <a:headEnd/>
            <a:tailEnd/>
          </a:ln>
        </p:spPr>
        <p:txBody>
          <a:bodyPr anchor="ctr">
            <a:spAutoFit/>
          </a:bodyPr>
          <a:lstStyle/>
          <a:p>
            <a:pPr marL="457200" indent="-457200" algn="ctr" eaLnBrk="1" hangingPunct="1">
              <a:lnSpc>
                <a:spcPct val="150000"/>
              </a:lnSpc>
              <a:buFontTx/>
              <a:buAutoNum type="alphaUcPeriod"/>
              <a:defRPr/>
            </a:pPr>
            <a:endParaRPr lang="fr-FR" sz="2400" dirty="0">
              <a:solidFill>
                <a:srgbClr val="002060"/>
              </a:solidFill>
            </a:endParaRPr>
          </a:p>
        </p:txBody>
      </p:sp>
      <p:sp>
        <p:nvSpPr>
          <p:cNvPr id="31750" name="ZoneTexte 6">
            <a:extLst>
              <a:ext uri="{FF2B5EF4-FFF2-40B4-BE49-F238E27FC236}">
                <a16:creationId xmlns:a16="http://schemas.microsoft.com/office/drawing/2014/main" id="{F8E39C66-7F0D-9452-2437-7B877584EB94}"/>
              </a:ext>
            </a:extLst>
          </p:cNvPr>
          <p:cNvSpPr txBox="1">
            <a:spLocks noChangeArrowheads="1"/>
          </p:cNvSpPr>
          <p:nvPr/>
        </p:nvSpPr>
        <p:spPr bwMode="auto">
          <a:xfrm>
            <a:off x="2484438" y="620713"/>
            <a:ext cx="1954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1800" b="1">
                <a:latin typeface="Arial" panose="020B0604020202020204" pitchFamily="34" charset="0"/>
              </a:rPr>
              <a:t>Déficit en 21 OH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49E8DB24-3168-4B3B-07E7-66BAC3F5EEA6}"/>
              </a:ext>
            </a:extLst>
          </p:cNvPr>
          <p:cNvSpPr>
            <a:spLocks noGrp="1"/>
          </p:cNvSpPr>
          <p:nvPr>
            <p:ph type="title"/>
          </p:nvPr>
        </p:nvSpPr>
        <p:spPr>
          <a:xfrm>
            <a:off x="457200" y="692150"/>
            <a:ext cx="8229600" cy="1143000"/>
          </a:xfrm>
        </p:spPr>
        <p:txBody>
          <a:bodyPr/>
          <a:lstStyle/>
          <a:p>
            <a:pPr algn="l">
              <a:defRPr/>
            </a:pPr>
            <a:r>
              <a:rPr lang="fr-FR" altLang="fr-FR" sz="2400" b="1" dirty="0">
                <a:solidFill>
                  <a:srgbClr val="002060"/>
                </a:solidFill>
                <a:latin typeface="+mn-lt"/>
                <a:ea typeface="+mn-ea"/>
                <a:cs typeface="Arial" panose="020B0604020202020204" pitchFamily="34" charset="0"/>
              </a:rPr>
              <a:t>Concernant le bloc en 21 hydroxylase dans sa forme classique :</a:t>
            </a:r>
          </a:p>
        </p:txBody>
      </p:sp>
      <p:sp>
        <p:nvSpPr>
          <p:cNvPr id="26627" name="Espace réservé du contenu 2">
            <a:extLst>
              <a:ext uri="{FF2B5EF4-FFF2-40B4-BE49-F238E27FC236}">
                <a16:creationId xmlns:a16="http://schemas.microsoft.com/office/drawing/2014/main" id="{E06C9CED-135D-AC78-7A85-803E4D632BB4}"/>
              </a:ext>
            </a:extLst>
          </p:cNvPr>
          <p:cNvSpPr>
            <a:spLocks noGrp="1"/>
          </p:cNvSpPr>
          <p:nvPr>
            <p:ph idx="1"/>
          </p:nvPr>
        </p:nvSpPr>
        <p:spPr>
          <a:xfrm>
            <a:off x="228600" y="2205038"/>
            <a:ext cx="8915400" cy="4525962"/>
          </a:xfrm>
        </p:spPr>
        <p:txBody>
          <a:bodyPr/>
          <a:lstStyle/>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A- </a:t>
            </a:r>
            <a:r>
              <a:rPr lang="fr-FR" sz="2400" dirty="0">
                <a:solidFill>
                  <a:srgbClr val="002060"/>
                </a:solidFill>
                <a:cs typeface="Arial" panose="020B0604020202020204" pitchFamily="34" charset="0"/>
              </a:rPr>
              <a:t>La transmission est autosomique récessive</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B- Il existe une ambiguïté du fœtus masculin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C- </a:t>
            </a:r>
            <a:r>
              <a:rPr lang="fr-FR" sz="2400" dirty="0">
                <a:solidFill>
                  <a:srgbClr val="002060"/>
                </a:solidFill>
                <a:cs typeface="Arial" panose="020B0604020202020204" pitchFamily="34" charset="0"/>
              </a:rPr>
              <a:t>La 17 hydroxy progestérone est élevée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D- L’ACTH est élevée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E-On peut trouver une HTA</a:t>
            </a:r>
            <a:endParaRPr lang="fr-FR" altLang="fr-FR" dirty="0">
              <a:solidFill>
                <a:srgbClr val="050505"/>
              </a:solidFill>
            </a:endParaRPr>
          </a:p>
          <a:p>
            <a:pPr>
              <a:defRPr/>
            </a:pPr>
            <a:endParaRPr lang="fr-FR" altLang="fr-F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8C4B692C-DFEC-0775-06E4-E05804142E33}"/>
              </a:ext>
            </a:extLst>
          </p:cNvPr>
          <p:cNvSpPr>
            <a:spLocks noGrp="1"/>
          </p:cNvSpPr>
          <p:nvPr>
            <p:ph type="title"/>
          </p:nvPr>
        </p:nvSpPr>
        <p:spPr>
          <a:xfrm>
            <a:off x="457200" y="692150"/>
            <a:ext cx="8229600" cy="1143000"/>
          </a:xfrm>
        </p:spPr>
        <p:txBody>
          <a:bodyPr/>
          <a:lstStyle/>
          <a:p>
            <a:pPr algn="l">
              <a:defRPr/>
            </a:pPr>
            <a:r>
              <a:rPr lang="fr-FR" altLang="fr-FR" sz="2400" b="1" dirty="0">
                <a:solidFill>
                  <a:srgbClr val="002060"/>
                </a:solidFill>
                <a:latin typeface="+mn-lt"/>
                <a:ea typeface="+mn-ea"/>
                <a:cs typeface="Arial" panose="020B0604020202020204" pitchFamily="34" charset="0"/>
              </a:rPr>
              <a:t>Concernant le bloc en 21 hydroxylase dans sa forme classique :</a:t>
            </a:r>
          </a:p>
        </p:txBody>
      </p:sp>
      <p:sp>
        <p:nvSpPr>
          <p:cNvPr id="26627" name="Espace réservé du contenu 2">
            <a:extLst>
              <a:ext uri="{FF2B5EF4-FFF2-40B4-BE49-F238E27FC236}">
                <a16:creationId xmlns:a16="http://schemas.microsoft.com/office/drawing/2014/main" id="{16152BDC-B571-AAA9-8992-11D0C84AAD46}"/>
              </a:ext>
            </a:extLst>
          </p:cNvPr>
          <p:cNvSpPr>
            <a:spLocks noGrp="1"/>
          </p:cNvSpPr>
          <p:nvPr>
            <p:ph idx="1"/>
          </p:nvPr>
        </p:nvSpPr>
        <p:spPr>
          <a:xfrm>
            <a:off x="228600" y="2205038"/>
            <a:ext cx="8915400" cy="4525962"/>
          </a:xfrm>
        </p:spPr>
        <p:txBody>
          <a:bodyPr/>
          <a:lstStyle/>
          <a:p>
            <a:pPr marL="0" indent="0">
              <a:lnSpc>
                <a:spcPct val="150000"/>
              </a:lnSpc>
              <a:buFont typeface="Arial" panose="020B0604020202020204" pitchFamily="34" charset="0"/>
              <a:buNone/>
              <a:defRPr/>
            </a:pPr>
            <a:r>
              <a:rPr lang="fr-FR" altLang="fr-FR" sz="2400" dirty="0">
                <a:solidFill>
                  <a:srgbClr val="FF0000"/>
                </a:solidFill>
                <a:cs typeface="Arial" panose="020B0604020202020204" pitchFamily="34" charset="0"/>
              </a:rPr>
              <a:t>A- </a:t>
            </a:r>
            <a:r>
              <a:rPr lang="fr-FR" sz="2400" dirty="0">
                <a:solidFill>
                  <a:srgbClr val="FF0000"/>
                </a:solidFill>
                <a:cs typeface="Arial" panose="020B0604020202020204" pitchFamily="34" charset="0"/>
              </a:rPr>
              <a:t>La transmission est autosomique récessive</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B- Il existe une ambiguïté du fœtus masculin </a:t>
            </a:r>
          </a:p>
          <a:p>
            <a:pPr marL="0" indent="0">
              <a:lnSpc>
                <a:spcPct val="150000"/>
              </a:lnSpc>
              <a:buFont typeface="Arial" panose="020B0604020202020204" pitchFamily="34" charset="0"/>
              <a:buNone/>
              <a:defRPr/>
            </a:pPr>
            <a:r>
              <a:rPr lang="fr-FR" altLang="fr-FR" sz="2400" dirty="0">
                <a:solidFill>
                  <a:srgbClr val="FF0000"/>
                </a:solidFill>
                <a:cs typeface="Arial" panose="020B0604020202020204" pitchFamily="34" charset="0"/>
              </a:rPr>
              <a:t>C- </a:t>
            </a:r>
            <a:r>
              <a:rPr lang="fr-FR" sz="2400" dirty="0">
                <a:solidFill>
                  <a:srgbClr val="FF0000"/>
                </a:solidFill>
                <a:cs typeface="Arial" panose="020B0604020202020204" pitchFamily="34" charset="0"/>
              </a:rPr>
              <a:t>La 17 hydroxy progestérone est élevée  </a:t>
            </a:r>
          </a:p>
          <a:p>
            <a:pPr marL="0" indent="0">
              <a:lnSpc>
                <a:spcPct val="150000"/>
              </a:lnSpc>
              <a:buFont typeface="Arial" panose="020B0604020202020204" pitchFamily="34" charset="0"/>
              <a:buNone/>
              <a:defRPr/>
            </a:pPr>
            <a:r>
              <a:rPr lang="fr-FR" altLang="fr-FR" sz="2400" dirty="0">
                <a:solidFill>
                  <a:srgbClr val="FF0000"/>
                </a:solidFill>
                <a:cs typeface="Arial" panose="020B0604020202020204" pitchFamily="34" charset="0"/>
              </a:rPr>
              <a:t>D- L’ACTH est élevée </a:t>
            </a:r>
          </a:p>
          <a:p>
            <a:pPr marL="0" indent="0">
              <a:lnSpc>
                <a:spcPct val="150000"/>
              </a:lnSpc>
              <a:buFont typeface="Arial" panose="020B0604020202020204" pitchFamily="34" charset="0"/>
              <a:buNone/>
              <a:defRPr/>
            </a:pPr>
            <a:r>
              <a:rPr lang="fr-FR" altLang="fr-FR" sz="2400" dirty="0">
                <a:solidFill>
                  <a:srgbClr val="002060"/>
                </a:solidFill>
                <a:cs typeface="Arial" panose="020B0604020202020204" pitchFamily="34" charset="0"/>
              </a:rPr>
              <a:t>E-On peut trouver une HTA</a:t>
            </a:r>
            <a:endParaRPr lang="fr-FR" altLang="fr-FR" dirty="0">
              <a:solidFill>
                <a:srgbClr val="050505"/>
              </a:solidFill>
            </a:endParaRPr>
          </a:p>
          <a:p>
            <a:pPr>
              <a:defRPr/>
            </a:pPr>
            <a:endParaRPr lang="fr-FR" altLang="fr-F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4AEE60DE-CF27-7981-9704-3434C870748C}"/>
              </a:ext>
            </a:extLst>
          </p:cNvPr>
          <p:cNvSpPr txBox="1">
            <a:spLocks noChangeArrowheads="1"/>
          </p:cNvSpPr>
          <p:nvPr/>
        </p:nvSpPr>
        <p:spPr bwMode="auto">
          <a:xfrm>
            <a:off x="214313" y="1163638"/>
            <a:ext cx="8786812" cy="3908425"/>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j-lt"/>
              </a:rPr>
              <a:t>L’origine tuberculeuse   d’u</a:t>
            </a:r>
            <a:r>
              <a:rPr lang="fr-FR" sz="2400" b="1" dirty="0">
                <a:solidFill>
                  <a:srgbClr val="002060"/>
                </a:solidFill>
                <a:latin typeface="+mj-lt"/>
                <a:sym typeface="Wingdings 2" pitchFamily="18" charset="2"/>
              </a:rPr>
              <a:t>ne Insuffisance surrénalienne aigue  est évoquée devant</a:t>
            </a:r>
            <a:r>
              <a:rPr lang="fr-FR" sz="2400" b="1" dirty="0">
                <a:solidFill>
                  <a:srgbClr val="002060"/>
                </a:solidFill>
                <a:latin typeface="+mj-lt"/>
              </a:rPr>
              <a:t>  : </a:t>
            </a: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A-Hypersudation nocturne </a:t>
            </a: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B-Mélanodermie </a:t>
            </a: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C-</a:t>
            </a:r>
            <a:r>
              <a:rPr lang="fr-FR" sz="2400" dirty="0">
                <a:solidFill>
                  <a:srgbClr val="002060"/>
                </a:solidFill>
                <a:latin typeface="Calibri" panose="020F0502020204030204" pitchFamily="34" charset="0"/>
                <a:cs typeface="Calibri" panose="020F0502020204030204" pitchFamily="34" charset="0"/>
              </a:rPr>
              <a:t>Contage tuberculeux</a:t>
            </a: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D-Calcification surrénalienne unilatérale </a:t>
            </a: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E-Association à une hypoparathyroïdie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7A687568-5879-E5D2-0945-A614C662E02B}"/>
              </a:ext>
            </a:extLst>
          </p:cNvPr>
          <p:cNvSpPr txBox="1">
            <a:spLocks noChangeArrowheads="1"/>
          </p:cNvSpPr>
          <p:nvPr/>
        </p:nvSpPr>
        <p:spPr bwMode="auto">
          <a:xfrm>
            <a:off x="214313" y="1163638"/>
            <a:ext cx="8786812" cy="3908425"/>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fr-FR" sz="2400" b="1" dirty="0">
                <a:solidFill>
                  <a:srgbClr val="002060"/>
                </a:solidFill>
                <a:latin typeface="+mj-lt"/>
              </a:rPr>
              <a:t>L’origine tuberculeuse   d’u</a:t>
            </a:r>
            <a:r>
              <a:rPr lang="fr-FR" sz="2400" b="1" dirty="0">
                <a:solidFill>
                  <a:srgbClr val="002060"/>
                </a:solidFill>
                <a:latin typeface="+mj-lt"/>
                <a:sym typeface="Wingdings 2" pitchFamily="18" charset="2"/>
              </a:rPr>
              <a:t>ne Insuffisance surrénalienne aigue  est évoquée devant</a:t>
            </a:r>
            <a:r>
              <a:rPr lang="fr-FR" sz="2400" b="1" dirty="0">
                <a:solidFill>
                  <a:srgbClr val="002060"/>
                </a:solidFill>
                <a:latin typeface="+mj-lt"/>
              </a:rPr>
              <a:t>  : </a:t>
            </a:r>
          </a:p>
          <a:p>
            <a:pPr eaLnBrk="1" fontAlgn="auto" hangingPunct="1">
              <a:spcBef>
                <a:spcPct val="50000"/>
              </a:spcBef>
              <a:spcAft>
                <a:spcPts val="0"/>
              </a:spcAft>
              <a:defRPr/>
            </a:pPr>
            <a:endParaRPr lang="fr-FR" sz="800" b="1" dirty="0">
              <a:solidFill>
                <a:srgbClr val="002060"/>
              </a:solidFill>
              <a:effectLst>
                <a:outerShdw blurRad="38100" dist="38100" dir="2700000" algn="tl">
                  <a:srgbClr val="C0C0C0"/>
                </a:outerShdw>
              </a:effectLst>
              <a:latin typeface="Georgia" pitchFamily="18" charset="0"/>
              <a:cs typeface="+mn-cs"/>
            </a:endParaRPr>
          </a:p>
          <a:p>
            <a:pPr eaLnBrk="1" fontAlgn="auto" hangingPunct="1">
              <a:spcBef>
                <a:spcPts val="0"/>
              </a:spcBef>
              <a:spcAft>
                <a:spcPts val="0"/>
              </a:spcAft>
              <a:defRPr/>
            </a:pPr>
            <a:endParaRPr lang="fr-FR" sz="800" dirty="0">
              <a:solidFill>
                <a:srgbClr val="002060"/>
              </a:solidFill>
              <a:sym typeface="Wingdings 2" pitchFamily="18" charset="2"/>
            </a:endParaRP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a:t>
            </a:r>
            <a:r>
              <a:rPr lang="fr-FR" sz="2400" dirty="0">
                <a:solidFill>
                  <a:srgbClr val="FF0000"/>
                </a:solidFill>
                <a:latin typeface="Calibri" panose="020F0502020204030204" pitchFamily="34" charset="0"/>
                <a:cs typeface="Calibri" panose="020F0502020204030204" pitchFamily="34" charset="0"/>
                <a:sym typeface="Wingdings 2" pitchFamily="18" charset="2"/>
              </a:rPr>
              <a:t>A-Hypersudation nocturne </a:t>
            </a: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B-Mélanodermie </a:t>
            </a:r>
          </a:p>
          <a:p>
            <a:pPr eaLnBrk="1" fontAlgn="auto" hangingPunct="1">
              <a:spcBef>
                <a:spcPct val="50000"/>
              </a:spcBef>
              <a:spcAft>
                <a:spcPts val="0"/>
              </a:spcAft>
              <a:defRPr/>
            </a:pPr>
            <a:r>
              <a:rPr lang="fr-FR" sz="2400" dirty="0">
                <a:solidFill>
                  <a:srgbClr val="FF0000"/>
                </a:solidFill>
                <a:latin typeface="Calibri" panose="020F0502020204030204" pitchFamily="34" charset="0"/>
                <a:cs typeface="Calibri" panose="020F0502020204030204" pitchFamily="34" charset="0"/>
                <a:sym typeface="Wingdings 2" pitchFamily="18" charset="2"/>
              </a:rPr>
              <a:t>    C-</a:t>
            </a:r>
            <a:r>
              <a:rPr lang="fr-FR" sz="2400" dirty="0">
                <a:solidFill>
                  <a:srgbClr val="FF0000"/>
                </a:solidFill>
                <a:latin typeface="Calibri" panose="020F0502020204030204" pitchFamily="34" charset="0"/>
                <a:cs typeface="Calibri" panose="020F0502020204030204" pitchFamily="34" charset="0"/>
              </a:rPr>
              <a:t>Contage tuberculeux</a:t>
            </a:r>
          </a:p>
          <a:p>
            <a:pPr eaLnBrk="1" fontAlgn="auto" hangingPunct="1">
              <a:spcBef>
                <a:spcPct val="50000"/>
              </a:spcBef>
              <a:spcAft>
                <a:spcPts val="0"/>
              </a:spcAft>
              <a:defRPr/>
            </a:pPr>
            <a:r>
              <a:rPr lang="fr-FR" sz="2400" dirty="0">
                <a:solidFill>
                  <a:srgbClr val="FF0000"/>
                </a:solidFill>
                <a:latin typeface="Calibri" panose="020F0502020204030204" pitchFamily="34" charset="0"/>
                <a:cs typeface="Calibri" panose="020F0502020204030204" pitchFamily="34" charset="0"/>
                <a:sym typeface="Wingdings 2" pitchFamily="18" charset="2"/>
              </a:rPr>
              <a:t>    D-Calcification surrénalienne unilatérale </a:t>
            </a:r>
          </a:p>
          <a:p>
            <a:pPr eaLnBrk="1" fontAlgn="auto" hangingPunct="1">
              <a:spcBef>
                <a:spcPct val="50000"/>
              </a:spcBef>
              <a:spcAft>
                <a:spcPts val="0"/>
              </a:spcAft>
              <a:defRPr/>
            </a:pPr>
            <a:r>
              <a:rPr lang="fr-FR" sz="2400" dirty="0">
                <a:solidFill>
                  <a:srgbClr val="002060"/>
                </a:solidFill>
                <a:latin typeface="Calibri" panose="020F0502020204030204" pitchFamily="34" charset="0"/>
                <a:cs typeface="Calibri" panose="020F0502020204030204" pitchFamily="34" charset="0"/>
                <a:sym typeface="Wingdings 2" pitchFamily="18" charset="2"/>
              </a:rPr>
              <a:t>    E-Association à une hypoparathyroïdie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069FD3-8565-C9CC-3704-CB10592BB61F}"/>
              </a:ext>
            </a:extLst>
          </p:cNvPr>
          <p:cNvSpPr/>
          <p:nvPr/>
        </p:nvSpPr>
        <p:spPr>
          <a:xfrm>
            <a:off x="395288" y="1196975"/>
            <a:ext cx="8607425" cy="3970338"/>
          </a:xfrm>
          <a:prstGeom prst="rect">
            <a:avLst/>
          </a:prstGeom>
        </p:spPr>
        <p:txBody>
          <a:bodyPr>
            <a:spAutoFit/>
          </a:bodyPr>
          <a:lstStyle/>
          <a:p>
            <a:pPr>
              <a:defRPr/>
            </a:pPr>
            <a:r>
              <a:rPr lang="fr-FR" altLang="fr-FR" sz="2400" b="1" dirty="0">
                <a:solidFill>
                  <a:srgbClr val="002060"/>
                </a:solidFill>
                <a:latin typeface="+mn-lt"/>
              </a:rPr>
              <a:t>Au cours d’une insuffisance corticotrope : </a:t>
            </a:r>
          </a:p>
          <a:p>
            <a:pPr>
              <a:defRPr/>
            </a:pPr>
            <a:endParaRPr lang="fr-FR" altLang="fr-FR" sz="2400" b="1" dirty="0">
              <a:solidFill>
                <a:srgbClr val="002060"/>
              </a:solidFill>
              <a:latin typeface="+mn-lt"/>
            </a:endParaRPr>
          </a:p>
          <a:p>
            <a:pPr>
              <a:lnSpc>
                <a:spcPct val="150000"/>
              </a:lnSpc>
              <a:defRPr/>
            </a:pPr>
            <a:r>
              <a:rPr lang="fr-FR" sz="2400" dirty="0">
                <a:solidFill>
                  <a:srgbClr val="002060"/>
                </a:solidFill>
                <a:latin typeface="+mj-lt"/>
              </a:rPr>
              <a:t>A-L’ACTH est basse </a:t>
            </a:r>
          </a:p>
          <a:p>
            <a:pPr>
              <a:lnSpc>
                <a:spcPct val="150000"/>
              </a:lnSpc>
              <a:defRPr/>
            </a:pPr>
            <a:r>
              <a:rPr lang="fr-FR" sz="2400" dirty="0">
                <a:solidFill>
                  <a:srgbClr val="002060"/>
                </a:solidFill>
                <a:latin typeface="+mj-lt"/>
              </a:rPr>
              <a:t>B- La Symptomatologie clinique est marquée </a:t>
            </a:r>
          </a:p>
          <a:p>
            <a:pPr>
              <a:lnSpc>
                <a:spcPct val="150000"/>
              </a:lnSpc>
              <a:defRPr/>
            </a:pPr>
            <a:r>
              <a:rPr lang="fr-FR" sz="2400" dirty="0">
                <a:solidFill>
                  <a:srgbClr val="002060"/>
                </a:solidFill>
                <a:latin typeface="+mj-lt"/>
              </a:rPr>
              <a:t>C- L’aldostérone plasmatique est diminué</a:t>
            </a:r>
          </a:p>
          <a:p>
            <a:pPr>
              <a:lnSpc>
                <a:spcPct val="150000"/>
              </a:lnSpc>
              <a:defRPr/>
            </a:pPr>
            <a:r>
              <a:rPr lang="fr-FR" sz="2400" dirty="0">
                <a:solidFill>
                  <a:srgbClr val="002060"/>
                </a:solidFill>
                <a:latin typeface="+mj-lt"/>
              </a:rPr>
              <a:t>D- Le </a:t>
            </a:r>
            <a:r>
              <a:rPr lang="en-US" sz="2400" dirty="0">
                <a:solidFill>
                  <a:srgbClr val="002060"/>
                </a:solidFill>
                <a:latin typeface="+mj-lt"/>
              </a:rPr>
              <a:t>test au </a:t>
            </a:r>
            <a:r>
              <a:rPr lang="en-US" sz="2400" dirty="0" err="1">
                <a:solidFill>
                  <a:srgbClr val="002060"/>
                </a:solidFill>
                <a:latin typeface="+mj-lt"/>
              </a:rPr>
              <a:t>synacthene</a:t>
            </a:r>
            <a:r>
              <a:rPr lang="en-US" sz="2400" dirty="0">
                <a:solidFill>
                  <a:srgbClr val="002060"/>
                </a:solidFill>
                <a:latin typeface="+mj-lt"/>
              </a:rPr>
              <a:t> 250 ug </a:t>
            </a:r>
            <a:r>
              <a:rPr lang="en-US" sz="2400" dirty="0" err="1">
                <a:solidFill>
                  <a:srgbClr val="002060"/>
                </a:solidFill>
                <a:latin typeface="+mj-lt"/>
              </a:rPr>
              <a:t>peut</a:t>
            </a:r>
            <a:r>
              <a:rPr lang="en-US" sz="2400" dirty="0">
                <a:solidFill>
                  <a:srgbClr val="002060"/>
                </a:solidFill>
                <a:latin typeface="+mj-lt"/>
              </a:rPr>
              <a:t>  </a:t>
            </a:r>
            <a:r>
              <a:rPr lang="en-US" sz="2400" dirty="0" err="1">
                <a:solidFill>
                  <a:srgbClr val="002060"/>
                </a:solidFill>
                <a:latin typeface="+mj-lt"/>
              </a:rPr>
              <a:t>etre</a:t>
            </a:r>
            <a:r>
              <a:rPr lang="en-US" sz="2400" dirty="0">
                <a:solidFill>
                  <a:srgbClr val="002060"/>
                </a:solidFill>
                <a:latin typeface="+mj-lt"/>
              </a:rPr>
              <a:t> normal</a:t>
            </a:r>
            <a:endParaRPr lang="fr-FR" sz="2400" dirty="0">
              <a:solidFill>
                <a:srgbClr val="002060"/>
              </a:solidFill>
              <a:latin typeface="+mj-lt"/>
            </a:endParaRPr>
          </a:p>
          <a:p>
            <a:pPr>
              <a:lnSpc>
                <a:spcPct val="150000"/>
              </a:lnSpc>
              <a:defRPr/>
            </a:pPr>
            <a:r>
              <a:rPr lang="fr-FR" sz="2400" dirty="0">
                <a:solidFill>
                  <a:srgbClr val="002060"/>
                </a:solidFill>
                <a:latin typeface="+mj-lt"/>
              </a:rPr>
              <a:t>E-L’etiologie peut être infiltrative</a:t>
            </a:r>
          </a:p>
          <a:p>
            <a:pPr>
              <a:defRPr/>
            </a:pPr>
            <a:endParaRPr lang="fr-FR" sz="2400" dirty="0">
              <a:solidFill>
                <a:srgbClr val="00206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5752F5-1551-7435-D6EE-B313CDD51A42}"/>
              </a:ext>
            </a:extLst>
          </p:cNvPr>
          <p:cNvSpPr/>
          <p:nvPr/>
        </p:nvSpPr>
        <p:spPr>
          <a:xfrm>
            <a:off x="395288" y="1196975"/>
            <a:ext cx="8607425" cy="3970338"/>
          </a:xfrm>
          <a:prstGeom prst="rect">
            <a:avLst/>
          </a:prstGeom>
        </p:spPr>
        <p:txBody>
          <a:bodyPr>
            <a:spAutoFit/>
          </a:bodyPr>
          <a:lstStyle/>
          <a:p>
            <a:pPr>
              <a:defRPr/>
            </a:pPr>
            <a:r>
              <a:rPr lang="fr-FR" altLang="fr-FR" sz="2400" b="1" dirty="0">
                <a:solidFill>
                  <a:srgbClr val="002060"/>
                </a:solidFill>
                <a:latin typeface="+mn-lt"/>
              </a:rPr>
              <a:t>Au cours d’une insuffisance corticotrope : </a:t>
            </a:r>
          </a:p>
          <a:p>
            <a:pPr>
              <a:defRPr/>
            </a:pPr>
            <a:endParaRPr lang="fr-FR" altLang="fr-FR" sz="2400" b="1" dirty="0">
              <a:solidFill>
                <a:srgbClr val="002060"/>
              </a:solidFill>
              <a:latin typeface="+mn-lt"/>
            </a:endParaRPr>
          </a:p>
          <a:p>
            <a:pPr>
              <a:lnSpc>
                <a:spcPct val="150000"/>
              </a:lnSpc>
              <a:defRPr/>
            </a:pPr>
            <a:r>
              <a:rPr lang="fr-FR" sz="2400" dirty="0">
                <a:solidFill>
                  <a:srgbClr val="FF0000"/>
                </a:solidFill>
                <a:latin typeface="+mj-lt"/>
              </a:rPr>
              <a:t>A-L’ACTH est basse </a:t>
            </a:r>
          </a:p>
          <a:p>
            <a:pPr>
              <a:lnSpc>
                <a:spcPct val="150000"/>
              </a:lnSpc>
              <a:defRPr/>
            </a:pPr>
            <a:r>
              <a:rPr lang="fr-FR" sz="2400" dirty="0">
                <a:solidFill>
                  <a:srgbClr val="002060"/>
                </a:solidFill>
                <a:latin typeface="+mj-lt"/>
              </a:rPr>
              <a:t>B- La Symptomatologie clinique est marquée </a:t>
            </a:r>
          </a:p>
          <a:p>
            <a:pPr>
              <a:lnSpc>
                <a:spcPct val="150000"/>
              </a:lnSpc>
              <a:defRPr/>
            </a:pPr>
            <a:r>
              <a:rPr lang="fr-FR" sz="2400" dirty="0">
                <a:solidFill>
                  <a:srgbClr val="002060"/>
                </a:solidFill>
                <a:latin typeface="+mj-lt"/>
              </a:rPr>
              <a:t>C- L’aldostérone plasmatique est diminué</a:t>
            </a:r>
          </a:p>
          <a:p>
            <a:pPr>
              <a:lnSpc>
                <a:spcPct val="150000"/>
              </a:lnSpc>
              <a:defRPr/>
            </a:pPr>
            <a:r>
              <a:rPr lang="fr-FR" sz="2400" dirty="0">
                <a:solidFill>
                  <a:srgbClr val="FF0000"/>
                </a:solidFill>
                <a:latin typeface="+mj-lt"/>
              </a:rPr>
              <a:t>D- Le </a:t>
            </a:r>
            <a:r>
              <a:rPr lang="en-US" sz="2400" dirty="0">
                <a:solidFill>
                  <a:srgbClr val="FF0000"/>
                </a:solidFill>
                <a:latin typeface="+mj-lt"/>
              </a:rPr>
              <a:t>test au </a:t>
            </a:r>
            <a:r>
              <a:rPr lang="en-US" sz="2400" dirty="0" err="1">
                <a:solidFill>
                  <a:srgbClr val="FF0000"/>
                </a:solidFill>
                <a:latin typeface="+mj-lt"/>
              </a:rPr>
              <a:t>synacthene</a:t>
            </a:r>
            <a:r>
              <a:rPr lang="en-US" sz="2400" dirty="0">
                <a:solidFill>
                  <a:srgbClr val="FF0000"/>
                </a:solidFill>
                <a:latin typeface="+mj-lt"/>
              </a:rPr>
              <a:t> 250 ug </a:t>
            </a:r>
            <a:r>
              <a:rPr lang="en-US" sz="2400" dirty="0" err="1">
                <a:solidFill>
                  <a:srgbClr val="FF0000"/>
                </a:solidFill>
                <a:latin typeface="+mj-lt"/>
              </a:rPr>
              <a:t>peut</a:t>
            </a:r>
            <a:r>
              <a:rPr lang="en-US" sz="2400" dirty="0">
                <a:solidFill>
                  <a:srgbClr val="FF0000"/>
                </a:solidFill>
                <a:latin typeface="+mj-lt"/>
              </a:rPr>
              <a:t>  </a:t>
            </a:r>
            <a:r>
              <a:rPr lang="en-US" sz="2400" dirty="0" err="1">
                <a:solidFill>
                  <a:srgbClr val="FF0000"/>
                </a:solidFill>
                <a:latin typeface="+mj-lt"/>
              </a:rPr>
              <a:t>etre</a:t>
            </a:r>
            <a:r>
              <a:rPr lang="en-US" sz="2400" dirty="0">
                <a:solidFill>
                  <a:srgbClr val="FF0000"/>
                </a:solidFill>
                <a:latin typeface="+mj-lt"/>
              </a:rPr>
              <a:t> normal</a:t>
            </a:r>
            <a:endParaRPr lang="fr-FR" sz="2400" dirty="0">
              <a:solidFill>
                <a:srgbClr val="FF0000"/>
              </a:solidFill>
              <a:latin typeface="+mj-lt"/>
            </a:endParaRPr>
          </a:p>
          <a:p>
            <a:pPr>
              <a:lnSpc>
                <a:spcPct val="150000"/>
              </a:lnSpc>
              <a:defRPr/>
            </a:pPr>
            <a:r>
              <a:rPr lang="fr-FR" sz="2400" dirty="0">
                <a:solidFill>
                  <a:srgbClr val="FF0000"/>
                </a:solidFill>
                <a:latin typeface="+mj-lt"/>
              </a:rPr>
              <a:t>E- L’</a:t>
            </a:r>
            <a:r>
              <a:rPr lang="fr-FR" sz="2400" dirty="0" err="1">
                <a:solidFill>
                  <a:srgbClr val="FF0000"/>
                </a:solidFill>
                <a:latin typeface="+mj-lt"/>
              </a:rPr>
              <a:t>etiologie</a:t>
            </a:r>
            <a:r>
              <a:rPr lang="fr-FR" sz="2400" dirty="0">
                <a:solidFill>
                  <a:srgbClr val="FF0000"/>
                </a:solidFill>
                <a:latin typeface="+mj-lt"/>
              </a:rPr>
              <a:t> peut être infiltrative</a:t>
            </a:r>
          </a:p>
          <a:p>
            <a:pPr>
              <a:defRPr/>
            </a:pPr>
            <a:endParaRPr lang="fr-FR" sz="2400" dirty="0">
              <a:solidFill>
                <a:srgbClr val="00206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FD0CF6-A42C-8CD6-12D3-ACE1FE73C875}"/>
              </a:ext>
            </a:extLst>
          </p:cNvPr>
          <p:cNvSpPr/>
          <p:nvPr/>
        </p:nvSpPr>
        <p:spPr>
          <a:xfrm>
            <a:off x="395288" y="981075"/>
            <a:ext cx="10429875" cy="4340225"/>
          </a:xfrm>
          <a:prstGeom prst="rect">
            <a:avLst/>
          </a:prstGeom>
        </p:spPr>
        <p:txBody>
          <a:bodyPr>
            <a:spAutoFit/>
          </a:bodyPr>
          <a:lstStyle/>
          <a:p>
            <a:pPr>
              <a:defRPr/>
            </a:pPr>
            <a:r>
              <a:rPr lang="fr-FR" altLang="fr-FR" sz="2400" b="1" dirty="0">
                <a:solidFill>
                  <a:srgbClr val="002060"/>
                </a:solidFill>
                <a:latin typeface="+mn-lt"/>
              </a:rPr>
              <a:t>Une insuffisance surrénalienne aigue d’origine périphérique se </a:t>
            </a:r>
          </a:p>
          <a:p>
            <a:pPr>
              <a:defRPr/>
            </a:pPr>
            <a:r>
              <a:rPr lang="fr-FR" altLang="fr-FR" sz="2400" b="1" dirty="0">
                <a:solidFill>
                  <a:srgbClr val="002060"/>
                </a:solidFill>
                <a:latin typeface="+mn-lt"/>
              </a:rPr>
              <a:t>distingue de l’atteinte centrale par: </a:t>
            </a:r>
          </a:p>
          <a:p>
            <a:pPr>
              <a:defRPr/>
            </a:pPr>
            <a:endParaRPr lang="fr-FR" altLang="fr-FR" sz="2400" b="1" dirty="0">
              <a:solidFill>
                <a:srgbClr val="002060"/>
              </a:solidFill>
              <a:latin typeface="+mn-lt"/>
            </a:endParaRPr>
          </a:p>
          <a:p>
            <a:pPr>
              <a:lnSpc>
                <a:spcPct val="150000"/>
              </a:lnSpc>
              <a:defRPr/>
            </a:pPr>
            <a:r>
              <a:rPr lang="fr-FR" sz="2400" dirty="0">
                <a:solidFill>
                  <a:srgbClr val="002060"/>
                </a:solidFill>
                <a:latin typeface="+mn-lt"/>
              </a:rPr>
              <a:t>A-Présence de taches ardoisées  </a:t>
            </a:r>
          </a:p>
          <a:p>
            <a:pPr>
              <a:lnSpc>
                <a:spcPct val="150000"/>
              </a:lnSpc>
              <a:defRPr/>
            </a:pPr>
            <a:r>
              <a:rPr lang="fr-FR" sz="2400" dirty="0">
                <a:solidFill>
                  <a:srgbClr val="002060"/>
                </a:solidFill>
                <a:latin typeface="+mn-lt"/>
              </a:rPr>
              <a:t>B-Sévérité du tableau clinique </a:t>
            </a:r>
          </a:p>
          <a:p>
            <a:pPr>
              <a:lnSpc>
                <a:spcPct val="150000"/>
              </a:lnSpc>
              <a:defRPr/>
            </a:pPr>
            <a:r>
              <a:rPr lang="fr-FR" sz="2400" dirty="0">
                <a:solidFill>
                  <a:srgbClr val="002060"/>
                </a:solidFill>
                <a:latin typeface="+mn-lt"/>
              </a:rPr>
              <a:t>C- Existence d’une hypocalcémie </a:t>
            </a:r>
          </a:p>
          <a:p>
            <a:pPr>
              <a:lnSpc>
                <a:spcPct val="150000"/>
              </a:lnSpc>
              <a:defRPr/>
            </a:pPr>
            <a:r>
              <a:rPr lang="fr-FR" sz="2400" dirty="0">
                <a:solidFill>
                  <a:srgbClr val="002060"/>
                </a:solidFill>
                <a:latin typeface="+mn-lt"/>
              </a:rPr>
              <a:t>D-Déficit somatotrope associé </a:t>
            </a:r>
          </a:p>
          <a:p>
            <a:pPr>
              <a:lnSpc>
                <a:spcPct val="150000"/>
              </a:lnSpc>
              <a:defRPr/>
            </a:pPr>
            <a:r>
              <a:rPr lang="fr-FR" sz="2400" dirty="0">
                <a:solidFill>
                  <a:srgbClr val="002060"/>
                </a:solidFill>
                <a:latin typeface="+mn-lt"/>
              </a:rPr>
              <a:t>E-Présence d’une Acidose</a:t>
            </a:r>
          </a:p>
          <a:p>
            <a:pPr>
              <a:defRPr/>
            </a:pPr>
            <a:endParaRPr lang="fr-FR" sz="2400" dirty="0">
              <a:solidFill>
                <a:srgbClr val="00206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B56258-01C2-46C8-60F2-9F33D0FE513F}"/>
              </a:ext>
            </a:extLst>
          </p:cNvPr>
          <p:cNvSpPr/>
          <p:nvPr/>
        </p:nvSpPr>
        <p:spPr>
          <a:xfrm>
            <a:off x="395288" y="981075"/>
            <a:ext cx="10429875" cy="4340225"/>
          </a:xfrm>
          <a:prstGeom prst="rect">
            <a:avLst/>
          </a:prstGeom>
        </p:spPr>
        <p:txBody>
          <a:bodyPr>
            <a:spAutoFit/>
          </a:bodyPr>
          <a:lstStyle/>
          <a:p>
            <a:pPr>
              <a:defRPr/>
            </a:pPr>
            <a:r>
              <a:rPr lang="fr-FR" altLang="fr-FR" sz="2400" b="1" dirty="0">
                <a:solidFill>
                  <a:srgbClr val="002060"/>
                </a:solidFill>
                <a:latin typeface="+mn-lt"/>
              </a:rPr>
              <a:t>Une insuffisance surrénalienne aigue d’origine périphérique se </a:t>
            </a:r>
          </a:p>
          <a:p>
            <a:pPr>
              <a:defRPr/>
            </a:pPr>
            <a:r>
              <a:rPr lang="fr-FR" altLang="fr-FR" sz="2400" b="1" dirty="0">
                <a:solidFill>
                  <a:srgbClr val="002060"/>
                </a:solidFill>
                <a:latin typeface="+mn-lt"/>
              </a:rPr>
              <a:t>distingue de l’atteinte centrale par: </a:t>
            </a:r>
          </a:p>
          <a:p>
            <a:pPr>
              <a:defRPr/>
            </a:pPr>
            <a:endParaRPr lang="fr-FR" altLang="fr-FR" sz="2400" b="1" dirty="0">
              <a:solidFill>
                <a:srgbClr val="002060"/>
              </a:solidFill>
              <a:latin typeface="+mn-lt"/>
            </a:endParaRPr>
          </a:p>
          <a:p>
            <a:pPr>
              <a:lnSpc>
                <a:spcPct val="150000"/>
              </a:lnSpc>
              <a:defRPr/>
            </a:pPr>
            <a:r>
              <a:rPr lang="fr-FR" sz="2400" dirty="0">
                <a:solidFill>
                  <a:srgbClr val="FF0000"/>
                </a:solidFill>
                <a:latin typeface="+mn-lt"/>
              </a:rPr>
              <a:t>A-Présence de taches ardoisées  </a:t>
            </a:r>
          </a:p>
          <a:p>
            <a:pPr>
              <a:lnSpc>
                <a:spcPct val="150000"/>
              </a:lnSpc>
              <a:defRPr/>
            </a:pPr>
            <a:r>
              <a:rPr lang="fr-FR" sz="2400" dirty="0">
                <a:solidFill>
                  <a:srgbClr val="FF0000"/>
                </a:solidFill>
                <a:latin typeface="+mn-lt"/>
              </a:rPr>
              <a:t>B-Sévérité du tableau clinique </a:t>
            </a:r>
          </a:p>
          <a:p>
            <a:pPr>
              <a:lnSpc>
                <a:spcPct val="150000"/>
              </a:lnSpc>
              <a:defRPr/>
            </a:pPr>
            <a:r>
              <a:rPr lang="fr-FR" sz="2400" dirty="0">
                <a:solidFill>
                  <a:srgbClr val="002060"/>
                </a:solidFill>
                <a:latin typeface="+mn-lt"/>
              </a:rPr>
              <a:t>C- Existence d’une hypocalcémie </a:t>
            </a:r>
          </a:p>
          <a:p>
            <a:pPr>
              <a:lnSpc>
                <a:spcPct val="150000"/>
              </a:lnSpc>
              <a:defRPr/>
            </a:pPr>
            <a:r>
              <a:rPr lang="fr-FR" sz="2400" dirty="0">
                <a:solidFill>
                  <a:srgbClr val="002060"/>
                </a:solidFill>
                <a:latin typeface="+mn-lt"/>
              </a:rPr>
              <a:t>D-Déficit somatotrope associé </a:t>
            </a:r>
          </a:p>
          <a:p>
            <a:pPr>
              <a:lnSpc>
                <a:spcPct val="150000"/>
              </a:lnSpc>
              <a:defRPr/>
            </a:pPr>
            <a:r>
              <a:rPr lang="fr-FR" sz="2400" dirty="0">
                <a:solidFill>
                  <a:srgbClr val="FF0000"/>
                </a:solidFill>
                <a:latin typeface="+mn-lt"/>
              </a:rPr>
              <a:t>E-Présence d’une Acidose</a:t>
            </a:r>
          </a:p>
          <a:p>
            <a:pPr>
              <a:defRPr/>
            </a:pPr>
            <a:endParaRPr lang="fr-FR" sz="2400" dirty="0">
              <a:solidFill>
                <a:srgbClr val="00206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ZoneTexte 4">
            <a:extLst>
              <a:ext uri="{FF2B5EF4-FFF2-40B4-BE49-F238E27FC236}">
                <a16:creationId xmlns:a16="http://schemas.microsoft.com/office/drawing/2014/main" id="{F9CEA1D8-A348-CCAF-4BFD-A5F0217CFE42}"/>
              </a:ext>
            </a:extLst>
          </p:cNvPr>
          <p:cNvSpPr txBox="1">
            <a:spLocks noChangeArrowheads="1"/>
          </p:cNvSpPr>
          <p:nvPr/>
        </p:nvSpPr>
        <p:spPr bwMode="auto">
          <a:xfrm>
            <a:off x="539750" y="836613"/>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fr-FR" altLang="fr-FR" sz="2400" b="1">
                <a:solidFill>
                  <a:srgbClr val="002060"/>
                </a:solidFill>
              </a:rPr>
              <a:t>L’origine périphérique  d’une insuffisance  surrénalienne aigue est évoquée devant la présence de :</a:t>
            </a:r>
          </a:p>
          <a:p>
            <a:pPr eaLnBrk="1" hangingPunct="1">
              <a:lnSpc>
                <a:spcPct val="150000"/>
              </a:lnSpc>
              <a:spcBef>
                <a:spcPct val="0"/>
              </a:spcBef>
              <a:buFontTx/>
              <a:buNone/>
            </a:pPr>
            <a:endParaRPr lang="fr-FR" altLang="fr-FR" sz="2400" b="1">
              <a:solidFill>
                <a:srgbClr val="002060"/>
              </a:solidFill>
            </a:endParaRPr>
          </a:p>
          <a:p>
            <a:pPr eaLnBrk="1" hangingPunct="1">
              <a:spcBef>
                <a:spcPct val="50000"/>
              </a:spcBef>
              <a:buFontTx/>
              <a:buNone/>
            </a:pPr>
            <a:r>
              <a:rPr lang="fr-FR" altLang="fr-FR" sz="1800">
                <a:latin typeface="Times New Roman" panose="02020603050405020304" pitchFamily="18" charset="0"/>
                <a:cs typeface="Times New Roman" panose="02020603050405020304" pitchFamily="18" charset="0"/>
              </a:rPr>
              <a:t>          </a:t>
            </a:r>
            <a:r>
              <a:rPr lang="fr-FR" altLang="fr-FR" sz="2400">
                <a:solidFill>
                  <a:srgbClr val="002060"/>
                </a:solidFill>
              </a:rPr>
              <a:t>A -Hyponatrémie de dilution</a:t>
            </a:r>
          </a:p>
          <a:p>
            <a:pPr eaLnBrk="1" hangingPunct="1">
              <a:spcBef>
                <a:spcPct val="50000"/>
              </a:spcBef>
              <a:buFontTx/>
              <a:buNone/>
            </a:pPr>
            <a:r>
              <a:rPr lang="fr-FR" altLang="fr-FR" sz="2400">
                <a:solidFill>
                  <a:srgbClr val="002060"/>
                </a:solidFill>
              </a:rPr>
              <a:t>        B -Insuffisance rénale fonctionnelle</a:t>
            </a:r>
          </a:p>
          <a:p>
            <a:pPr eaLnBrk="1" hangingPunct="1">
              <a:spcBef>
                <a:spcPct val="50000"/>
              </a:spcBef>
              <a:buFontTx/>
              <a:buNone/>
            </a:pPr>
            <a:r>
              <a:rPr lang="fr-FR" altLang="fr-FR" sz="2400">
                <a:solidFill>
                  <a:srgbClr val="002060"/>
                </a:solidFill>
              </a:rPr>
              <a:t>        C -Hypochlorémie </a:t>
            </a:r>
          </a:p>
          <a:p>
            <a:pPr eaLnBrk="1" hangingPunct="1">
              <a:spcBef>
                <a:spcPct val="50000"/>
              </a:spcBef>
              <a:buFontTx/>
              <a:buNone/>
            </a:pPr>
            <a:r>
              <a:rPr lang="fr-FR" altLang="fr-FR" sz="2400">
                <a:solidFill>
                  <a:srgbClr val="002060"/>
                </a:solidFill>
              </a:rPr>
              <a:t>         D- Hyperkaliémie</a:t>
            </a:r>
          </a:p>
          <a:p>
            <a:pPr eaLnBrk="1" hangingPunct="1">
              <a:spcBef>
                <a:spcPct val="50000"/>
              </a:spcBef>
              <a:buFontTx/>
              <a:buNone/>
            </a:pPr>
            <a:r>
              <a:rPr lang="fr-FR" altLang="fr-FR" sz="2400">
                <a:solidFill>
                  <a:srgbClr val="002060"/>
                </a:solidFill>
              </a:rPr>
              <a:t>         E –FT4 basse avec TSH normale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ZoneTexte 4">
            <a:extLst>
              <a:ext uri="{FF2B5EF4-FFF2-40B4-BE49-F238E27FC236}">
                <a16:creationId xmlns:a16="http://schemas.microsoft.com/office/drawing/2014/main" id="{5895CA97-CA67-F5A1-6AD6-DD9901CF79A4}"/>
              </a:ext>
            </a:extLst>
          </p:cNvPr>
          <p:cNvSpPr txBox="1">
            <a:spLocks noChangeArrowheads="1"/>
          </p:cNvSpPr>
          <p:nvPr/>
        </p:nvSpPr>
        <p:spPr bwMode="auto">
          <a:xfrm>
            <a:off x="539750" y="836613"/>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fr-FR" altLang="fr-FR" sz="2400" b="1">
                <a:solidFill>
                  <a:srgbClr val="002060"/>
                </a:solidFill>
              </a:rPr>
              <a:t>L’origine périphérique  d’une insuffisance  surrénalienne aigue est évoquée devant la présence de :</a:t>
            </a:r>
          </a:p>
          <a:p>
            <a:pPr eaLnBrk="1" hangingPunct="1">
              <a:lnSpc>
                <a:spcPct val="150000"/>
              </a:lnSpc>
              <a:spcBef>
                <a:spcPct val="0"/>
              </a:spcBef>
              <a:buFontTx/>
              <a:buNone/>
            </a:pPr>
            <a:endParaRPr lang="fr-FR" altLang="fr-FR" sz="2400" b="1">
              <a:solidFill>
                <a:srgbClr val="002060"/>
              </a:solidFill>
            </a:endParaRPr>
          </a:p>
          <a:p>
            <a:pPr eaLnBrk="1" hangingPunct="1">
              <a:spcBef>
                <a:spcPct val="50000"/>
              </a:spcBef>
              <a:buFontTx/>
              <a:buNone/>
            </a:pPr>
            <a:r>
              <a:rPr lang="fr-FR" altLang="fr-FR" sz="1800">
                <a:latin typeface="Times New Roman" panose="02020603050405020304" pitchFamily="18" charset="0"/>
                <a:cs typeface="Times New Roman" panose="02020603050405020304" pitchFamily="18" charset="0"/>
              </a:rPr>
              <a:t>          </a:t>
            </a:r>
            <a:r>
              <a:rPr lang="fr-FR" altLang="fr-FR" sz="2400">
                <a:solidFill>
                  <a:srgbClr val="002060"/>
                </a:solidFill>
              </a:rPr>
              <a:t>A -Hyponatrémie de dilution</a:t>
            </a:r>
          </a:p>
          <a:p>
            <a:pPr eaLnBrk="1" hangingPunct="1">
              <a:spcBef>
                <a:spcPct val="50000"/>
              </a:spcBef>
              <a:buFontTx/>
              <a:buNone/>
            </a:pPr>
            <a:r>
              <a:rPr lang="fr-FR" altLang="fr-FR" sz="2400">
                <a:solidFill>
                  <a:srgbClr val="002060"/>
                </a:solidFill>
              </a:rPr>
              <a:t>        </a:t>
            </a:r>
            <a:r>
              <a:rPr lang="fr-FR" altLang="fr-FR" sz="2400">
                <a:solidFill>
                  <a:srgbClr val="FF0000"/>
                </a:solidFill>
              </a:rPr>
              <a:t>B -Insuffisance rénale fonctionnelle</a:t>
            </a:r>
          </a:p>
          <a:p>
            <a:pPr eaLnBrk="1" hangingPunct="1">
              <a:spcBef>
                <a:spcPct val="50000"/>
              </a:spcBef>
              <a:buFontTx/>
              <a:buNone/>
            </a:pPr>
            <a:r>
              <a:rPr lang="fr-FR" altLang="fr-FR" sz="2400">
                <a:solidFill>
                  <a:srgbClr val="FF0000"/>
                </a:solidFill>
              </a:rPr>
              <a:t>        C -Hypochlorémie </a:t>
            </a:r>
          </a:p>
          <a:p>
            <a:pPr eaLnBrk="1" hangingPunct="1">
              <a:spcBef>
                <a:spcPct val="50000"/>
              </a:spcBef>
              <a:buFontTx/>
              <a:buNone/>
            </a:pPr>
            <a:r>
              <a:rPr lang="fr-FR" altLang="fr-FR" sz="2400">
                <a:solidFill>
                  <a:srgbClr val="FF0000"/>
                </a:solidFill>
              </a:rPr>
              <a:t>         D- Hyperkaliémie</a:t>
            </a:r>
          </a:p>
          <a:p>
            <a:pPr eaLnBrk="1" hangingPunct="1">
              <a:spcBef>
                <a:spcPct val="50000"/>
              </a:spcBef>
              <a:buFontTx/>
              <a:buNone/>
            </a:pPr>
            <a:r>
              <a:rPr lang="fr-FR" altLang="fr-FR" sz="2400">
                <a:solidFill>
                  <a:srgbClr val="002060"/>
                </a:solidFill>
              </a:rPr>
              <a:t>         E –FT4 basse avec TSH normale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Image 4">
            <a:extLst>
              <a:ext uri="{FF2B5EF4-FFF2-40B4-BE49-F238E27FC236}">
                <a16:creationId xmlns:a16="http://schemas.microsoft.com/office/drawing/2014/main" id="{7652C17C-DCA2-70D0-7144-0D87A3526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925513"/>
            <a:ext cx="7061200"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Image 6">
            <a:extLst>
              <a:ext uri="{FF2B5EF4-FFF2-40B4-BE49-F238E27FC236}">
                <a16:creationId xmlns:a16="http://schemas.microsoft.com/office/drawing/2014/main" id="{2412A910-3D82-54D5-A8D5-41490093A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549275"/>
            <a:ext cx="7704138"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90F687FC-93C2-8092-A2AB-78682543686F}"/>
              </a:ext>
            </a:extLst>
          </p:cNvPr>
          <p:cNvSpPr>
            <a:spLocks noChangeArrowheads="1"/>
          </p:cNvSpPr>
          <p:nvPr/>
        </p:nvSpPr>
        <p:spPr bwMode="auto">
          <a:xfrm>
            <a:off x="755650" y="1060450"/>
            <a:ext cx="7848600" cy="5021263"/>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Une insuffisance Corticotrope peut être causée par :</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A. Histiocytose </a:t>
            </a:r>
          </a:p>
          <a:p>
            <a:pPr eaLnBrk="1" hangingPunct="1">
              <a:lnSpc>
                <a:spcPct val="150000"/>
              </a:lnSpc>
              <a:defRPr/>
            </a:pPr>
            <a:r>
              <a:rPr lang="fr-FR" altLang="fr-FR" sz="2400" dirty="0">
                <a:solidFill>
                  <a:srgbClr val="002060"/>
                </a:solidFill>
                <a:latin typeface="+mj-lt"/>
              </a:rPr>
              <a:t>B. Chirurgie d’un adénome corticotrope  </a:t>
            </a:r>
          </a:p>
          <a:p>
            <a:pPr eaLnBrk="1" hangingPunct="1">
              <a:lnSpc>
                <a:spcPct val="150000"/>
              </a:lnSpc>
              <a:defRPr/>
            </a:pPr>
            <a:r>
              <a:rPr lang="fr-FR" altLang="fr-FR" sz="2400" dirty="0">
                <a:solidFill>
                  <a:srgbClr val="002060"/>
                </a:solidFill>
                <a:latin typeface="+mj-lt"/>
              </a:rPr>
              <a:t>C. Macro adénome hypophysaire</a:t>
            </a:r>
          </a:p>
          <a:p>
            <a:pPr eaLnBrk="1" hangingPunct="1">
              <a:lnSpc>
                <a:spcPct val="150000"/>
              </a:lnSpc>
              <a:defRPr/>
            </a:pPr>
            <a:r>
              <a:rPr lang="fr-FR" altLang="fr-FR" sz="2400" dirty="0">
                <a:solidFill>
                  <a:srgbClr val="002060"/>
                </a:solidFill>
                <a:latin typeface="+mj-lt"/>
              </a:rPr>
              <a:t>D. Chirurgie d’une tumeur surrénalienne non sécrétante</a:t>
            </a:r>
          </a:p>
          <a:p>
            <a:pPr eaLnBrk="1" hangingPunct="1">
              <a:lnSpc>
                <a:spcPct val="150000"/>
              </a:lnSpc>
              <a:defRPr/>
            </a:pPr>
            <a:r>
              <a:rPr lang="fr-FR" altLang="fr-FR" sz="2400" dirty="0">
                <a:solidFill>
                  <a:srgbClr val="002060"/>
                </a:solidFill>
                <a:latin typeface="+mj-lt"/>
              </a:rPr>
              <a:t>E. Adrenoleucodystrophie</a:t>
            </a:r>
          </a:p>
          <a:p>
            <a:pPr eaLnBrk="1" hangingPunct="1">
              <a:lnSpc>
                <a:spcPct val="150000"/>
              </a:lnSpc>
              <a:defRPr/>
            </a:pPr>
            <a:endParaRPr lang="fr-FR" altLang="fr-FR" sz="2400" dirty="0">
              <a:solidFill>
                <a:srgbClr val="002060"/>
              </a:solidFill>
              <a:latin typeface="+mj-lt"/>
            </a:endParaRPr>
          </a:p>
          <a:p>
            <a:pPr eaLnBrk="1" hangingPunct="1">
              <a:lnSpc>
                <a:spcPct val="150000"/>
              </a:lnSpc>
              <a:defRPr/>
            </a:pPr>
            <a:endParaRPr lang="fr-FR" altLang="fr-FR" sz="2400" b="1" dirty="0">
              <a:solidFill>
                <a:srgbClr val="002060"/>
              </a:solidFill>
              <a:latin typeface="Calibri" panose="020F050202020403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03990038-F9C8-F674-7D3A-0E60D10380EB}"/>
              </a:ext>
            </a:extLst>
          </p:cNvPr>
          <p:cNvSpPr>
            <a:spLocks noChangeArrowheads="1"/>
          </p:cNvSpPr>
          <p:nvPr/>
        </p:nvSpPr>
        <p:spPr bwMode="auto">
          <a:xfrm>
            <a:off x="755650" y="1060450"/>
            <a:ext cx="7848600" cy="446722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Une insuffisance Corticotrope peut être causée par :</a:t>
            </a:r>
          </a:p>
          <a:p>
            <a:pPr eaLnBrk="1" hangingPunct="1">
              <a:lnSpc>
                <a:spcPct val="150000"/>
              </a:lnSpc>
              <a:defRPr/>
            </a:pPr>
            <a:endParaRPr lang="fr-FR" altLang="fr-FR" sz="2400" b="1" dirty="0">
              <a:solidFill>
                <a:srgbClr val="002060"/>
              </a:solidFill>
              <a:latin typeface="+mn-lt"/>
            </a:endParaRPr>
          </a:p>
          <a:p>
            <a:pPr eaLnBrk="1" hangingPunct="1">
              <a:lnSpc>
                <a:spcPct val="150000"/>
              </a:lnSpc>
              <a:defRPr/>
            </a:pPr>
            <a:r>
              <a:rPr lang="fr-FR" altLang="fr-FR" sz="2400" dirty="0">
                <a:solidFill>
                  <a:srgbClr val="002060"/>
                </a:solidFill>
                <a:latin typeface="+mj-lt"/>
              </a:rPr>
              <a:t>A</a:t>
            </a:r>
            <a:r>
              <a:rPr lang="fr-FR" altLang="fr-FR" sz="2400" dirty="0">
                <a:solidFill>
                  <a:srgbClr val="FF0000"/>
                </a:solidFill>
                <a:latin typeface="+mj-lt"/>
              </a:rPr>
              <a:t>. Histiocytose </a:t>
            </a:r>
          </a:p>
          <a:p>
            <a:pPr eaLnBrk="1" hangingPunct="1">
              <a:lnSpc>
                <a:spcPct val="150000"/>
              </a:lnSpc>
              <a:defRPr/>
            </a:pPr>
            <a:r>
              <a:rPr lang="fr-FR" altLang="fr-FR" sz="2400" dirty="0">
                <a:solidFill>
                  <a:srgbClr val="FF0000"/>
                </a:solidFill>
                <a:latin typeface="+mj-lt"/>
              </a:rPr>
              <a:t>B. Chirurgie d’un adénome corticotrope  </a:t>
            </a:r>
          </a:p>
          <a:p>
            <a:pPr eaLnBrk="1" hangingPunct="1">
              <a:lnSpc>
                <a:spcPct val="150000"/>
              </a:lnSpc>
              <a:defRPr/>
            </a:pPr>
            <a:r>
              <a:rPr lang="fr-FR" altLang="fr-FR" sz="2400" dirty="0">
                <a:solidFill>
                  <a:srgbClr val="FF0000"/>
                </a:solidFill>
                <a:latin typeface="+mj-lt"/>
              </a:rPr>
              <a:t>C. Macro adénome hypophysaire</a:t>
            </a:r>
          </a:p>
          <a:p>
            <a:pPr eaLnBrk="1" hangingPunct="1">
              <a:lnSpc>
                <a:spcPct val="150000"/>
              </a:lnSpc>
              <a:defRPr/>
            </a:pPr>
            <a:r>
              <a:rPr lang="fr-FR" altLang="fr-FR" sz="2400" dirty="0">
                <a:solidFill>
                  <a:srgbClr val="002060"/>
                </a:solidFill>
                <a:latin typeface="+mj-lt"/>
              </a:rPr>
              <a:t>D. Chirurgie d’une tumeur surrénalienne non sécrétante</a:t>
            </a:r>
          </a:p>
          <a:p>
            <a:pPr eaLnBrk="1" hangingPunct="1">
              <a:lnSpc>
                <a:spcPct val="150000"/>
              </a:lnSpc>
              <a:defRPr/>
            </a:pPr>
            <a:r>
              <a:rPr lang="fr-FR" altLang="fr-FR" sz="2400" dirty="0">
                <a:solidFill>
                  <a:srgbClr val="002060"/>
                </a:solidFill>
                <a:latin typeface="+mj-lt"/>
              </a:rPr>
              <a:t>E. Adrenoleucodystrophie</a:t>
            </a:r>
          </a:p>
          <a:p>
            <a:pPr eaLnBrk="1" hangingPunct="1">
              <a:lnSpc>
                <a:spcPct val="150000"/>
              </a:lnSpc>
              <a:defRPr/>
            </a:pPr>
            <a:endParaRPr lang="fr-FR" altLang="fr-FR" sz="2400" b="1" dirty="0">
              <a:solidFill>
                <a:srgbClr val="002060"/>
              </a:solidFill>
              <a:latin typeface="Calibri" panose="020F050202020403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CAE64A4B-AB80-AD42-ED55-3C3DB1A37491}"/>
              </a:ext>
            </a:extLst>
          </p:cNvPr>
          <p:cNvSpPr>
            <a:spLocks noChangeArrowheads="1"/>
          </p:cNvSpPr>
          <p:nvPr/>
        </p:nvSpPr>
        <p:spPr bwMode="auto">
          <a:xfrm>
            <a:off x="677863" y="1196975"/>
            <a:ext cx="7788275" cy="361632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En cas d’ insuffisance corticotrope il est systématique de  </a:t>
            </a:r>
            <a:r>
              <a:rPr lang="fr-FR" altLang="fr-FR" sz="2800" b="1" dirty="0">
                <a:solidFill>
                  <a:srgbClr val="002060"/>
                </a:solidFill>
                <a:latin typeface="Times New Roman" panose="02020603050405020304" pitchFamily="18" charset="0"/>
                <a:cs typeface="Times New Roman" panose="02020603050405020304" pitchFamily="18" charset="0"/>
              </a:rPr>
              <a:t>:</a:t>
            </a:r>
          </a:p>
          <a:p>
            <a:pPr eaLnBrk="1" hangingPunct="1">
              <a:lnSpc>
                <a:spcPct val="150000"/>
              </a:lnSpc>
              <a:defRPr/>
            </a:pPr>
            <a:r>
              <a:rPr lang="fr-FR" altLang="fr-FR" sz="2800" b="1" dirty="0">
                <a:solidFill>
                  <a:srgbClr val="002060"/>
                </a:solidFill>
                <a:latin typeface="Times New Roman" panose="02020603050405020304" pitchFamily="18" charset="0"/>
                <a:cs typeface="Times New Roman" panose="02020603050405020304" pitchFamily="18" charset="0"/>
              </a:rPr>
              <a:t> </a:t>
            </a:r>
            <a:r>
              <a:rPr lang="fr-FR" altLang="fr-FR" sz="2400" dirty="0">
                <a:solidFill>
                  <a:srgbClr val="002060"/>
                </a:solidFill>
                <a:latin typeface="+mj-lt"/>
              </a:rPr>
              <a:t>   A -Faire un bilan de tuberculose </a:t>
            </a:r>
          </a:p>
          <a:p>
            <a:pPr eaLnBrk="1" hangingPunct="1">
              <a:lnSpc>
                <a:spcPct val="150000"/>
              </a:lnSpc>
              <a:defRPr/>
            </a:pPr>
            <a:r>
              <a:rPr lang="fr-FR" altLang="fr-FR" sz="2400" dirty="0">
                <a:solidFill>
                  <a:srgbClr val="002060"/>
                </a:solidFill>
                <a:latin typeface="+mj-lt"/>
              </a:rPr>
              <a:t>    B -Chercher une prise de corticoïdes</a:t>
            </a:r>
          </a:p>
          <a:p>
            <a:pPr eaLnBrk="1" hangingPunct="1">
              <a:lnSpc>
                <a:spcPct val="150000"/>
              </a:lnSpc>
              <a:defRPr/>
            </a:pPr>
            <a:r>
              <a:rPr lang="fr-FR" altLang="fr-FR" sz="2400" dirty="0">
                <a:solidFill>
                  <a:srgbClr val="002060"/>
                </a:solidFill>
                <a:latin typeface="+mj-lt"/>
              </a:rPr>
              <a:t>    C -Doser les gonadotrophines plasmatiques </a:t>
            </a:r>
          </a:p>
          <a:p>
            <a:pPr eaLnBrk="1" hangingPunct="1">
              <a:lnSpc>
                <a:spcPct val="150000"/>
              </a:lnSpc>
              <a:defRPr/>
            </a:pPr>
            <a:r>
              <a:rPr lang="fr-FR" altLang="fr-FR" sz="2400" dirty="0">
                <a:solidFill>
                  <a:srgbClr val="002060"/>
                </a:solidFill>
                <a:latin typeface="+mj-lt"/>
              </a:rPr>
              <a:t>     D -Doser la FT4 et la TSH</a:t>
            </a:r>
          </a:p>
          <a:p>
            <a:pPr eaLnBrk="1" hangingPunct="1">
              <a:lnSpc>
                <a:spcPct val="150000"/>
              </a:lnSpc>
              <a:defRPr/>
            </a:pPr>
            <a:r>
              <a:rPr lang="fr-FR" altLang="fr-FR" sz="2400" dirty="0">
                <a:solidFill>
                  <a:srgbClr val="002060"/>
                </a:solidFill>
                <a:latin typeface="+mj-lt"/>
              </a:rPr>
              <a:t>      E -Demander une échographie surrénalienne </a:t>
            </a:r>
            <a:endParaRPr lang="fr-FR" altLang="fr-F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F82D4BE7-D972-41EF-68E5-46089B788220}"/>
              </a:ext>
            </a:extLst>
          </p:cNvPr>
          <p:cNvSpPr>
            <a:spLocks noChangeArrowheads="1"/>
          </p:cNvSpPr>
          <p:nvPr/>
        </p:nvSpPr>
        <p:spPr bwMode="auto">
          <a:xfrm>
            <a:off x="677863" y="1196975"/>
            <a:ext cx="7788275" cy="361632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En cas d’ insuffisance corticotrope il est systématique de  </a:t>
            </a:r>
            <a:r>
              <a:rPr lang="fr-FR" altLang="fr-FR" sz="2800" b="1" dirty="0">
                <a:solidFill>
                  <a:srgbClr val="002060"/>
                </a:solidFill>
                <a:latin typeface="Times New Roman" panose="02020603050405020304" pitchFamily="18" charset="0"/>
                <a:cs typeface="Times New Roman" panose="02020603050405020304" pitchFamily="18" charset="0"/>
              </a:rPr>
              <a:t>:</a:t>
            </a:r>
          </a:p>
          <a:p>
            <a:pPr eaLnBrk="1" hangingPunct="1">
              <a:lnSpc>
                <a:spcPct val="150000"/>
              </a:lnSpc>
              <a:defRPr/>
            </a:pPr>
            <a:r>
              <a:rPr lang="fr-FR" altLang="fr-FR" sz="2800" b="1" dirty="0">
                <a:solidFill>
                  <a:srgbClr val="002060"/>
                </a:solidFill>
                <a:latin typeface="Times New Roman" panose="02020603050405020304" pitchFamily="18" charset="0"/>
                <a:cs typeface="Times New Roman" panose="02020603050405020304" pitchFamily="18" charset="0"/>
              </a:rPr>
              <a:t> </a:t>
            </a:r>
            <a:r>
              <a:rPr lang="fr-FR" altLang="fr-FR" sz="2400" dirty="0">
                <a:solidFill>
                  <a:srgbClr val="002060"/>
                </a:solidFill>
                <a:latin typeface="+mj-lt"/>
              </a:rPr>
              <a:t>   A -Faire un bilan de tuberculose </a:t>
            </a:r>
          </a:p>
          <a:p>
            <a:pPr eaLnBrk="1" hangingPunct="1">
              <a:lnSpc>
                <a:spcPct val="150000"/>
              </a:lnSpc>
              <a:defRPr/>
            </a:pPr>
            <a:r>
              <a:rPr lang="fr-FR" altLang="fr-FR" sz="2400" dirty="0">
                <a:solidFill>
                  <a:srgbClr val="002060"/>
                </a:solidFill>
                <a:latin typeface="+mj-lt"/>
              </a:rPr>
              <a:t>    </a:t>
            </a:r>
            <a:r>
              <a:rPr lang="fr-FR" altLang="fr-FR" sz="2400" dirty="0">
                <a:solidFill>
                  <a:srgbClr val="FF0000"/>
                </a:solidFill>
                <a:latin typeface="+mj-lt"/>
              </a:rPr>
              <a:t>B -Chercher une prise de corticoïdes</a:t>
            </a:r>
          </a:p>
          <a:p>
            <a:pPr eaLnBrk="1" hangingPunct="1">
              <a:lnSpc>
                <a:spcPct val="150000"/>
              </a:lnSpc>
              <a:defRPr/>
            </a:pPr>
            <a:r>
              <a:rPr lang="fr-FR" altLang="fr-FR" sz="2400" dirty="0">
                <a:solidFill>
                  <a:srgbClr val="FF0000"/>
                </a:solidFill>
                <a:latin typeface="+mj-lt"/>
              </a:rPr>
              <a:t>    C -Doser les gonadotrophines plasmatiques </a:t>
            </a:r>
          </a:p>
          <a:p>
            <a:pPr eaLnBrk="1" hangingPunct="1">
              <a:lnSpc>
                <a:spcPct val="150000"/>
              </a:lnSpc>
              <a:defRPr/>
            </a:pPr>
            <a:r>
              <a:rPr lang="fr-FR" altLang="fr-FR" sz="2400" dirty="0">
                <a:solidFill>
                  <a:srgbClr val="FF0000"/>
                </a:solidFill>
                <a:latin typeface="+mj-lt"/>
              </a:rPr>
              <a:t>     D -Doser la FT4 et la TSH</a:t>
            </a:r>
          </a:p>
          <a:p>
            <a:pPr eaLnBrk="1" hangingPunct="1">
              <a:lnSpc>
                <a:spcPct val="150000"/>
              </a:lnSpc>
              <a:defRPr/>
            </a:pPr>
            <a:r>
              <a:rPr lang="fr-FR" altLang="fr-FR" sz="2400" dirty="0">
                <a:solidFill>
                  <a:srgbClr val="002060"/>
                </a:solidFill>
                <a:latin typeface="+mj-lt"/>
              </a:rPr>
              <a:t>      E -Demander une échographie surrénalienne </a:t>
            </a:r>
            <a:endParaRPr lang="fr-FR" altLang="fr-F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AB7F12-2356-933C-2723-EA87AFCD8883}"/>
              </a:ext>
            </a:extLst>
          </p:cNvPr>
          <p:cNvSpPr/>
          <p:nvPr/>
        </p:nvSpPr>
        <p:spPr>
          <a:xfrm>
            <a:off x="571500" y="681038"/>
            <a:ext cx="7929563" cy="461962"/>
          </a:xfrm>
          <a:prstGeom prst="rect">
            <a:avLst/>
          </a:prstGeom>
        </p:spPr>
        <p:txBody>
          <a:bodyPr>
            <a:spAutoFit/>
          </a:bodyPr>
          <a:lstStyle/>
          <a:p>
            <a:pPr>
              <a:defRPr/>
            </a:pPr>
            <a:r>
              <a:rPr lang="fr-FR" altLang="fr-FR" sz="2400" b="1" dirty="0">
                <a:solidFill>
                  <a:srgbClr val="002060"/>
                </a:solidFill>
                <a:latin typeface="+mn-lt"/>
              </a:rPr>
              <a:t>Au cours de l’insuffisance surrénalienne :</a:t>
            </a:r>
          </a:p>
        </p:txBody>
      </p:sp>
      <p:sp>
        <p:nvSpPr>
          <p:cNvPr id="43011" name="Rectangle 4">
            <a:extLst>
              <a:ext uri="{FF2B5EF4-FFF2-40B4-BE49-F238E27FC236}">
                <a16:creationId xmlns:a16="http://schemas.microsoft.com/office/drawing/2014/main" id="{D2B385E5-0156-BCB5-5129-CB9B4DE9D0EB}"/>
              </a:ext>
            </a:extLst>
          </p:cNvPr>
          <p:cNvSpPr>
            <a:spLocks noChangeArrowheads="1"/>
          </p:cNvSpPr>
          <p:nvPr/>
        </p:nvSpPr>
        <p:spPr bwMode="auto">
          <a:xfrm>
            <a:off x="90488" y="1749425"/>
            <a:ext cx="8963025" cy="33591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FontTx/>
              <a:buNone/>
              <a:defRPr/>
            </a:pPr>
            <a:r>
              <a:rPr lang="fr-FR" altLang="fr-FR" sz="2400" dirty="0">
                <a:solidFill>
                  <a:srgbClr val="002060"/>
                </a:solidFill>
                <a:latin typeface="+mj-lt"/>
              </a:rPr>
              <a:t>A- Une cortisolémie à 8 heures ≤ à 50ug/ml confirme  le diagnostic</a:t>
            </a:r>
          </a:p>
          <a:p>
            <a:pPr>
              <a:lnSpc>
                <a:spcPct val="150000"/>
              </a:lnSpc>
              <a:spcBef>
                <a:spcPct val="0"/>
              </a:spcBef>
              <a:buFontTx/>
              <a:buNone/>
              <a:defRPr/>
            </a:pPr>
            <a:r>
              <a:rPr lang="fr-FR" altLang="fr-FR" sz="2400" dirty="0">
                <a:solidFill>
                  <a:srgbClr val="002060"/>
                </a:solidFill>
                <a:latin typeface="+mj-lt"/>
              </a:rPr>
              <a:t>B- Le recours aux tests dynamiques est systématique </a:t>
            </a:r>
          </a:p>
          <a:p>
            <a:pPr>
              <a:lnSpc>
                <a:spcPct val="150000"/>
              </a:lnSpc>
              <a:spcBef>
                <a:spcPct val="0"/>
              </a:spcBef>
              <a:buFontTx/>
              <a:buNone/>
              <a:defRPr/>
            </a:pPr>
            <a:r>
              <a:rPr lang="fr-FR" altLang="fr-FR" sz="2400" dirty="0">
                <a:solidFill>
                  <a:srgbClr val="002060"/>
                </a:solidFill>
                <a:latin typeface="+mj-lt"/>
              </a:rPr>
              <a:t>C- Le </a:t>
            </a:r>
            <a:r>
              <a:rPr lang="fr-FR" sz="2400" dirty="0">
                <a:solidFill>
                  <a:srgbClr val="002060"/>
                </a:solidFill>
                <a:latin typeface="+mj-lt"/>
              </a:rPr>
              <a:t>test de </a:t>
            </a:r>
            <a:r>
              <a:rPr lang="fr-FR" sz="2400" dirty="0" err="1">
                <a:solidFill>
                  <a:srgbClr val="002060"/>
                </a:solidFill>
                <a:latin typeface="+mj-lt"/>
              </a:rPr>
              <a:t>Synacthène®est</a:t>
            </a:r>
            <a:r>
              <a:rPr lang="fr-FR" sz="2400" dirty="0">
                <a:solidFill>
                  <a:srgbClr val="002060"/>
                </a:solidFill>
                <a:latin typeface="+mj-lt"/>
              </a:rPr>
              <a:t> à éviter en situation d’urgence  </a:t>
            </a:r>
          </a:p>
          <a:p>
            <a:pPr>
              <a:lnSpc>
                <a:spcPct val="150000"/>
              </a:lnSpc>
              <a:spcBef>
                <a:spcPct val="0"/>
              </a:spcBef>
              <a:buFontTx/>
              <a:buNone/>
              <a:defRPr/>
            </a:pPr>
            <a:r>
              <a:rPr lang="fr-FR" sz="2400" dirty="0">
                <a:solidFill>
                  <a:srgbClr val="002060"/>
                </a:solidFill>
                <a:latin typeface="+mj-lt"/>
              </a:rPr>
              <a:t>    hémodynamique </a:t>
            </a:r>
            <a:endParaRPr lang="fr-FR" altLang="fr-FR" sz="2400" dirty="0">
              <a:solidFill>
                <a:srgbClr val="002060"/>
              </a:solidFill>
              <a:latin typeface="+mj-lt"/>
            </a:endParaRPr>
          </a:p>
          <a:p>
            <a:pPr>
              <a:lnSpc>
                <a:spcPct val="150000"/>
              </a:lnSpc>
              <a:spcBef>
                <a:spcPct val="0"/>
              </a:spcBef>
              <a:buFontTx/>
              <a:buNone/>
              <a:defRPr/>
            </a:pPr>
            <a:r>
              <a:rPr lang="fr-FR" altLang="fr-FR" sz="2400" dirty="0">
                <a:solidFill>
                  <a:srgbClr val="002060"/>
                </a:solidFill>
                <a:latin typeface="+mj-lt"/>
              </a:rPr>
              <a:t>D-Le dosage de la rénine  permet de confirmer l’origine périphérique </a:t>
            </a:r>
          </a:p>
          <a:p>
            <a:pPr>
              <a:lnSpc>
                <a:spcPct val="150000"/>
              </a:lnSpc>
              <a:spcBef>
                <a:spcPct val="0"/>
              </a:spcBef>
              <a:buFontTx/>
              <a:buNone/>
              <a:defRPr/>
            </a:pPr>
            <a:r>
              <a:rPr lang="fr-FR" altLang="fr-FR" sz="2400" dirty="0">
                <a:solidFill>
                  <a:srgbClr val="002060"/>
                </a:solidFill>
                <a:latin typeface="+mj-lt"/>
              </a:rPr>
              <a:t>E- L'hypoglycémie insulinique est </a:t>
            </a:r>
            <a:r>
              <a:rPr lang="fr-FR" sz="2400" dirty="0">
                <a:solidFill>
                  <a:srgbClr val="002060"/>
                </a:solidFill>
                <a:latin typeface="+mj-lt"/>
              </a:rPr>
              <a:t>contre indiquée chez les sujets âgés</a:t>
            </a:r>
            <a:endParaRPr lang="fr-FR" altLang="fr-FR" sz="2400" dirty="0">
              <a:solidFill>
                <a:srgbClr val="002060"/>
              </a:solidFill>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0903A7-D7E1-FE89-DB90-4FD0B8CF91BF}"/>
              </a:ext>
            </a:extLst>
          </p:cNvPr>
          <p:cNvSpPr/>
          <p:nvPr/>
        </p:nvSpPr>
        <p:spPr>
          <a:xfrm>
            <a:off x="571500" y="681038"/>
            <a:ext cx="7929563" cy="461962"/>
          </a:xfrm>
          <a:prstGeom prst="rect">
            <a:avLst/>
          </a:prstGeom>
        </p:spPr>
        <p:txBody>
          <a:bodyPr>
            <a:spAutoFit/>
          </a:bodyPr>
          <a:lstStyle/>
          <a:p>
            <a:pPr>
              <a:defRPr/>
            </a:pPr>
            <a:r>
              <a:rPr lang="fr-FR" altLang="fr-FR" sz="2400" b="1" dirty="0">
                <a:solidFill>
                  <a:srgbClr val="002060"/>
                </a:solidFill>
                <a:latin typeface="+mn-lt"/>
              </a:rPr>
              <a:t>Au cours de l’insuffisance surrénalienne :</a:t>
            </a:r>
          </a:p>
        </p:txBody>
      </p:sp>
      <p:sp>
        <p:nvSpPr>
          <p:cNvPr id="43011" name="Rectangle 4">
            <a:extLst>
              <a:ext uri="{FF2B5EF4-FFF2-40B4-BE49-F238E27FC236}">
                <a16:creationId xmlns:a16="http://schemas.microsoft.com/office/drawing/2014/main" id="{C942F2F0-4414-4475-7ED7-7A19044C76AC}"/>
              </a:ext>
            </a:extLst>
          </p:cNvPr>
          <p:cNvSpPr>
            <a:spLocks noChangeArrowheads="1"/>
          </p:cNvSpPr>
          <p:nvPr/>
        </p:nvSpPr>
        <p:spPr bwMode="auto">
          <a:xfrm>
            <a:off x="90488" y="1749425"/>
            <a:ext cx="8963025" cy="33591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FontTx/>
              <a:buNone/>
              <a:defRPr/>
            </a:pPr>
            <a:r>
              <a:rPr lang="fr-FR" altLang="fr-FR" sz="2400" dirty="0">
                <a:solidFill>
                  <a:srgbClr val="FF0000"/>
                </a:solidFill>
                <a:latin typeface="+mj-lt"/>
              </a:rPr>
              <a:t>A- Une cortisolémie à 8 heures ≤ à 50ug/ml confirme  le diagnostic</a:t>
            </a:r>
          </a:p>
          <a:p>
            <a:pPr>
              <a:lnSpc>
                <a:spcPct val="150000"/>
              </a:lnSpc>
              <a:spcBef>
                <a:spcPct val="0"/>
              </a:spcBef>
              <a:buFontTx/>
              <a:buNone/>
              <a:defRPr/>
            </a:pPr>
            <a:r>
              <a:rPr lang="fr-FR" altLang="fr-FR" sz="2400" dirty="0">
                <a:solidFill>
                  <a:srgbClr val="002060"/>
                </a:solidFill>
                <a:latin typeface="+mj-lt"/>
              </a:rPr>
              <a:t>B- Le recours aux tests dynamiques est systématique </a:t>
            </a:r>
          </a:p>
          <a:p>
            <a:pPr>
              <a:lnSpc>
                <a:spcPct val="150000"/>
              </a:lnSpc>
              <a:spcBef>
                <a:spcPct val="0"/>
              </a:spcBef>
              <a:buFontTx/>
              <a:buNone/>
              <a:defRPr/>
            </a:pPr>
            <a:r>
              <a:rPr lang="fr-FR" altLang="fr-FR" sz="2400" dirty="0">
                <a:solidFill>
                  <a:srgbClr val="002060"/>
                </a:solidFill>
                <a:latin typeface="+mj-lt"/>
              </a:rPr>
              <a:t>C- </a:t>
            </a:r>
            <a:r>
              <a:rPr lang="fr-FR" altLang="fr-FR" sz="2400" dirty="0">
                <a:solidFill>
                  <a:srgbClr val="FF0000"/>
                </a:solidFill>
                <a:latin typeface="+mj-lt"/>
              </a:rPr>
              <a:t>Le </a:t>
            </a:r>
            <a:r>
              <a:rPr lang="fr-FR" sz="2400" dirty="0">
                <a:solidFill>
                  <a:srgbClr val="FF0000"/>
                </a:solidFill>
                <a:latin typeface="+mj-lt"/>
              </a:rPr>
              <a:t>test de </a:t>
            </a:r>
            <a:r>
              <a:rPr lang="fr-FR" sz="2400" dirty="0" err="1">
                <a:solidFill>
                  <a:srgbClr val="FF0000"/>
                </a:solidFill>
                <a:latin typeface="+mj-lt"/>
              </a:rPr>
              <a:t>Synacthène®est</a:t>
            </a:r>
            <a:r>
              <a:rPr lang="fr-FR" sz="2400" dirty="0">
                <a:solidFill>
                  <a:srgbClr val="FF0000"/>
                </a:solidFill>
                <a:latin typeface="+mj-lt"/>
              </a:rPr>
              <a:t> à éviter en situation d’urgence  </a:t>
            </a:r>
          </a:p>
          <a:p>
            <a:pPr>
              <a:lnSpc>
                <a:spcPct val="150000"/>
              </a:lnSpc>
              <a:spcBef>
                <a:spcPct val="0"/>
              </a:spcBef>
              <a:buFontTx/>
              <a:buNone/>
              <a:defRPr/>
            </a:pPr>
            <a:r>
              <a:rPr lang="fr-FR" sz="2400" dirty="0">
                <a:solidFill>
                  <a:srgbClr val="FF0000"/>
                </a:solidFill>
                <a:latin typeface="+mj-lt"/>
              </a:rPr>
              <a:t>    hémodynamique </a:t>
            </a:r>
            <a:endParaRPr lang="fr-FR" altLang="fr-FR" sz="2400" dirty="0">
              <a:solidFill>
                <a:srgbClr val="FF0000"/>
              </a:solidFill>
              <a:latin typeface="+mj-lt"/>
            </a:endParaRPr>
          </a:p>
          <a:p>
            <a:pPr>
              <a:lnSpc>
                <a:spcPct val="150000"/>
              </a:lnSpc>
              <a:spcBef>
                <a:spcPct val="0"/>
              </a:spcBef>
              <a:buFontTx/>
              <a:buNone/>
              <a:defRPr/>
            </a:pPr>
            <a:r>
              <a:rPr lang="fr-FR" altLang="fr-FR" sz="2400" dirty="0">
                <a:solidFill>
                  <a:srgbClr val="002060"/>
                </a:solidFill>
                <a:latin typeface="+mj-lt"/>
              </a:rPr>
              <a:t>D-Le dosage de la rénine  permet de confirmer l’origine périphérique </a:t>
            </a:r>
          </a:p>
          <a:p>
            <a:pPr>
              <a:lnSpc>
                <a:spcPct val="150000"/>
              </a:lnSpc>
              <a:spcBef>
                <a:spcPct val="0"/>
              </a:spcBef>
              <a:buFontTx/>
              <a:buNone/>
              <a:defRPr/>
            </a:pPr>
            <a:r>
              <a:rPr lang="fr-FR" altLang="fr-FR" sz="2400" dirty="0">
                <a:solidFill>
                  <a:srgbClr val="002060"/>
                </a:solidFill>
                <a:latin typeface="+mj-lt"/>
              </a:rPr>
              <a:t>E- </a:t>
            </a:r>
            <a:r>
              <a:rPr lang="fr-FR" altLang="fr-FR" sz="2400" dirty="0">
                <a:solidFill>
                  <a:srgbClr val="FF0000"/>
                </a:solidFill>
                <a:latin typeface="+mj-lt"/>
              </a:rPr>
              <a:t>L'hypoglycémie insulinique est </a:t>
            </a:r>
            <a:r>
              <a:rPr lang="fr-FR" sz="2400" dirty="0">
                <a:solidFill>
                  <a:srgbClr val="FF0000"/>
                </a:solidFill>
                <a:latin typeface="+mj-lt"/>
              </a:rPr>
              <a:t>contre indiquée chez les sujets âgés</a:t>
            </a:r>
            <a:endParaRPr lang="fr-FR" altLang="fr-FR" sz="2400" dirty="0">
              <a:solidFill>
                <a:srgbClr val="FF0000"/>
              </a:solidFill>
              <a:latin typeface="+mj-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0F53A153-9320-1046-522B-B95863A8D62A}"/>
              </a:ext>
            </a:extLst>
          </p:cNvPr>
          <p:cNvSpPr txBox="1"/>
          <p:nvPr/>
        </p:nvSpPr>
        <p:spPr>
          <a:xfrm>
            <a:off x="179388" y="476250"/>
            <a:ext cx="8280400" cy="2308225"/>
          </a:xfrm>
          <a:prstGeom prst="rect">
            <a:avLst/>
          </a:prstGeom>
          <a:noFill/>
          <a:ln w="28575">
            <a:solidFill>
              <a:schemeClr val="accent1">
                <a:lumMod val="60000"/>
                <a:lumOff val="40000"/>
              </a:schemeClr>
            </a:solidFill>
          </a:ln>
        </p:spPr>
        <p:txBody>
          <a:bodyPr>
            <a:spAutoFit/>
          </a:bodyPr>
          <a:lstStyle/>
          <a:p>
            <a:pPr eaLnBrk="1" hangingPunct="1">
              <a:defRPr/>
            </a:pPr>
            <a:r>
              <a:rPr lang="fr-FR" sz="2400" dirty="0">
                <a:latin typeface="Calibri" panose="020F0502020204030204" pitchFamily="34" charset="0"/>
                <a:cs typeface="Calibri" panose="020F0502020204030204" pitchFamily="34" charset="0"/>
              </a:rPr>
              <a:t>Le test au </a:t>
            </a:r>
            <a:r>
              <a:rPr lang="fr-FR" sz="2400" dirty="0" err="1">
                <a:latin typeface="Calibri" panose="020F0502020204030204" pitchFamily="34" charset="0"/>
                <a:cs typeface="Calibri" panose="020F0502020204030204" pitchFamily="34" charset="0"/>
              </a:rPr>
              <a:t>Synacthène</a:t>
            </a:r>
            <a:r>
              <a:rPr lang="fr-FR" sz="2400" dirty="0">
                <a:latin typeface="Calibri" panose="020F0502020204030204" pitchFamily="34" charset="0"/>
                <a:cs typeface="Calibri" panose="020F0502020204030204" pitchFamily="34" charset="0"/>
              </a:rPr>
              <a:t> peut être réalisé</a:t>
            </a:r>
          </a:p>
          <a:p>
            <a:pPr marL="342900" indent="-342900" eaLnBrk="1" hangingPunct="1">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       en première intention</a:t>
            </a:r>
          </a:p>
          <a:p>
            <a:pPr marL="342900" indent="-342900" eaLnBrk="1" hangingPunct="1">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       en deuxième intention après la mesure du cortisol basal, lorsque ce dernier ne permet pas d’affirmer ou d’infirmer une insuffisance surrénale</a:t>
            </a:r>
          </a:p>
          <a:p>
            <a:pPr marL="342900" indent="-342900" eaLnBrk="1" hangingPunct="1">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Diagnostic d’IS primaire ou secondaire </a:t>
            </a:r>
          </a:p>
        </p:txBody>
      </p:sp>
      <p:sp>
        <p:nvSpPr>
          <p:cNvPr id="6" name="ZoneTexte 5">
            <a:extLst>
              <a:ext uri="{FF2B5EF4-FFF2-40B4-BE49-F238E27FC236}">
                <a16:creationId xmlns:a16="http://schemas.microsoft.com/office/drawing/2014/main" id="{990B7226-9066-E575-1D93-A4085AE0628A}"/>
              </a:ext>
            </a:extLst>
          </p:cNvPr>
          <p:cNvSpPr txBox="1"/>
          <p:nvPr/>
        </p:nvSpPr>
        <p:spPr>
          <a:xfrm>
            <a:off x="179388" y="3568700"/>
            <a:ext cx="8280400" cy="2308225"/>
          </a:xfrm>
          <a:prstGeom prst="rect">
            <a:avLst/>
          </a:prstGeom>
          <a:noFill/>
          <a:ln w="28575">
            <a:solidFill>
              <a:schemeClr val="accent1">
                <a:lumMod val="60000"/>
                <a:lumOff val="40000"/>
              </a:schemeClr>
            </a:solidFill>
          </a:ln>
        </p:spPr>
        <p:txBody>
          <a:bodyPr>
            <a:spAutoFit/>
          </a:bodyPr>
          <a:lstStyle>
            <a:defPPr>
              <a:defRPr lang="fr-FR"/>
            </a:defPPr>
            <a:lvl1pPr>
              <a:defRPr sz="2400" b="0" i="0" u="none" strike="noStrike" baseline="0">
                <a:latin typeface="Calibri" panose="020F0502020204030204" pitchFamily="34" charset="0"/>
                <a:cs typeface="Calibri" panose="020F0502020204030204" pitchFamily="34" charset="0"/>
              </a:defRPr>
            </a:lvl1pPr>
          </a:lstStyle>
          <a:p>
            <a:pPr eaLnBrk="1" hangingPunct="1">
              <a:defRPr/>
            </a:pPr>
            <a:r>
              <a:rPr lang="fr-FR" dirty="0"/>
              <a:t>Le test au </a:t>
            </a:r>
            <a:r>
              <a:rPr lang="fr-FR" dirty="0" err="1"/>
              <a:t>Synacthène</a:t>
            </a:r>
            <a:r>
              <a:rPr lang="fr-FR" dirty="0"/>
              <a:t> 250 </a:t>
            </a:r>
            <a:r>
              <a:rPr lang="fr-FR" dirty="0" err="1"/>
              <a:t>ug</a:t>
            </a:r>
            <a:r>
              <a:rPr lang="fr-FR" dirty="0"/>
              <a:t> peut être faussement normal dans   </a:t>
            </a:r>
          </a:p>
          <a:p>
            <a:pPr eaLnBrk="1" hangingPunct="1">
              <a:defRPr/>
            </a:pPr>
            <a:r>
              <a:rPr lang="fr-FR" dirty="0"/>
              <a:t>   les situations  </a:t>
            </a:r>
          </a:p>
          <a:p>
            <a:pPr marL="342900" indent="-342900" eaLnBrk="1" hangingPunct="1">
              <a:buFont typeface="Arial" panose="020B0604020202020204" pitchFamily="34" charset="0"/>
              <a:buChar char="•"/>
              <a:defRPr/>
            </a:pPr>
            <a:r>
              <a:rPr lang="fr-FR" dirty="0"/>
              <a:t>      d’insuffisance corticotrope récentes(&lt; 4 semaines après   </a:t>
            </a:r>
          </a:p>
          <a:p>
            <a:pPr eaLnBrk="1" hangingPunct="1">
              <a:defRPr/>
            </a:pPr>
            <a:r>
              <a:rPr lang="fr-FR" dirty="0"/>
              <a:t>            chirurgie hypophysaire, traumatisme crânien)</a:t>
            </a:r>
          </a:p>
          <a:p>
            <a:pPr marL="342900" indent="-342900" eaLnBrk="1" hangingPunct="1">
              <a:buFont typeface="Arial" panose="020B0604020202020204" pitchFamily="34" charset="0"/>
              <a:buChar char="•"/>
              <a:defRPr/>
            </a:pPr>
            <a:r>
              <a:rPr lang="fr-FR" dirty="0"/>
              <a:t>      d’insuffisance corticotrope partielle</a:t>
            </a:r>
          </a:p>
          <a:p>
            <a:pPr eaLnBrk="1" hangingPunct="1">
              <a:defRPr/>
            </a:pPr>
            <a:r>
              <a:rPr lang="fr-FR" dirty="0"/>
              <a:t>   </a:t>
            </a:r>
          </a:p>
        </p:txBody>
      </p:sp>
      <p:sp>
        <p:nvSpPr>
          <p:cNvPr id="50180" name="ZoneTexte 6">
            <a:extLst>
              <a:ext uri="{FF2B5EF4-FFF2-40B4-BE49-F238E27FC236}">
                <a16:creationId xmlns:a16="http://schemas.microsoft.com/office/drawing/2014/main" id="{23697AF8-661C-F547-980E-AD89CA130B43}"/>
              </a:ext>
            </a:extLst>
          </p:cNvPr>
          <p:cNvSpPr txBox="1">
            <a:spLocks noChangeArrowheads="1"/>
          </p:cNvSpPr>
          <p:nvPr/>
        </p:nvSpPr>
        <p:spPr bwMode="auto">
          <a:xfrm>
            <a:off x="2627313" y="6356350"/>
            <a:ext cx="4572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1100">
                <a:latin typeface="HelveticaNeue-Light"/>
              </a:rPr>
              <a:t>MCED n°93 - Avril 2018</a:t>
            </a:r>
            <a:endParaRPr lang="fr-FR" altLang="fr-FR">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ZoneTexte 2">
            <a:extLst>
              <a:ext uri="{FF2B5EF4-FFF2-40B4-BE49-F238E27FC236}">
                <a16:creationId xmlns:a16="http://schemas.microsoft.com/office/drawing/2014/main" id="{90590C26-302B-504F-8CF3-9732E205BF4B}"/>
              </a:ext>
            </a:extLst>
          </p:cNvPr>
          <p:cNvSpPr txBox="1">
            <a:spLocks noChangeArrowheads="1"/>
          </p:cNvSpPr>
          <p:nvPr/>
        </p:nvSpPr>
        <p:spPr bwMode="auto">
          <a:xfrm>
            <a:off x="250825" y="620713"/>
            <a:ext cx="83883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2400"/>
              <a:t>L’hypoglycémie insulinique est le test de référence pour affirmer ou infirmer une insuffisance corticotrope chez l’adulte</a:t>
            </a:r>
          </a:p>
        </p:txBody>
      </p:sp>
      <p:sp>
        <p:nvSpPr>
          <p:cNvPr id="5" name="ZoneTexte 4">
            <a:extLst>
              <a:ext uri="{FF2B5EF4-FFF2-40B4-BE49-F238E27FC236}">
                <a16:creationId xmlns:a16="http://schemas.microsoft.com/office/drawing/2014/main" id="{E40A1C04-CBFD-24B7-18E0-9D6E69C5BE00}"/>
              </a:ext>
            </a:extLst>
          </p:cNvPr>
          <p:cNvSpPr txBox="1"/>
          <p:nvPr/>
        </p:nvSpPr>
        <p:spPr>
          <a:xfrm>
            <a:off x="395288" y="1700213"/>
            <a:ext cx="8388350" cy="1939925"/>
          </a:xfrm>
          <a:prstGeom prst="rect">
            <a:avLst/>
          </a:prstGeom>
          <a:noFill/>
        </p:spPr>
        <p:txBody>
          <a:bodyPr>
            <a:spAutoFit/>
          </a:bodyPr>
          <a:lstStyle/>
          <a:p>
            <a:pPr eaLnBrk="1" hangingPunct="1">
              <a:defRPr/>
            </a:pPr>
            <a:r>
              <a:rPr lang="fr-FR" sz="2400" dirty="0">
                <a:latin typeface="Calibri" panose="020F0502020204030204" pitchFamily="34" charset="0"/>
                <a:cs typeface="Calibri" panose="020F0502020204030204" pitchFamily="34" charset="0"/>
              </a:rPr>
              <a:t>Sa réalisation  est recommandée lorsque</a:t>
            </a:r>
          </a:p>
          <a:p>
            <a:pPr marL="342900" indent="-342900" eaLnBrk="1" hangingPunct="1">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Le test au </a:t>
            </a:r>
            <a:r>
              <a:rPr lang="fr-FR" sz="2400" dirty="0" err="1">
                <a:latin typeface="Calibri" panose="020F0502020204030204" pitchFamily="34" charset="0"/>
                <a:cs typeface="Calibri" panose="020F0502020204030204" pitchFamily="34" charset="0"/>
              </a:rPr>
              <a:t>Synacthène</a:t>
            </a:r>
            <a:r>
              <a:rPr lang="fr-FR" sz="2400" dirty="0">
                <a:latin typeface="Calibri" panose="020F0502020204030204" pitchFamily="34" charset="0"/>
                <a:cs typeface="Calibri" panose="020F0502020204030204" pitchFamily="34" charset="0"/>
              </a:rPr>
              <a:t> est normal mais la clinique est évocatrice</a:t>
            </a:r>
          </a:p>
          <a:p>
            <a:pPr eaLnBrk="1" hangingPunct="1">
              <a:defRPr/>
            </a:pPr>
            <a:r>
              <a:rPr lang="fr-FR" sz="2400" dirty="0">
                <a:latin typeface="Calibri" panose="020F0502020204030204" pitchFamily="34" charset="0"/>
                <a:cs typeface="Calibri" panose="020F0502020204030204" pitchFamily="34" charset="0"/>
              </a:rPr>
              <a:t>   d’insuffisance corticotrope </a:t>
            </a:r>
          </a:p>
          <a:p>
            <a:pPr marL="342900" indent="-342900" eaLnBrk="1" hangingPunct="1">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lorsqu’une exploration conjointe de l’axe somatotrope</a:t>
            </a:r>
          </a:p>
          <a:p>
            <a:pPr eaLnBrk="1" hangingPunct="1">
              <a:defRPr/>
            </a:pPr>
            <a:r>
              <a:rPr lang="fr-FR" sz="2400" dirty="0">
                <a:latin typeface="Calibri" panose="020F0502020204030204" pitchFamily="34" charset="0"/>
                <a:cs typeface="Calibri" panose="020F0502020204030204" pitchFamily="34" charset="0"/>
              </a:rPr>
              <a:t>     est requise</a:t>
            </a:r>
          </a:p>
        </p:txBody>
      </p:sp>
      <p:sp>
        <p:nvSpPr>
          <p:cNvPr id="51204" name="ZoneTexte 6">
            <a:extLst>
              <a:ext uri="{FF2B5EF4-FFF2-40B4-BE49-F238E27FC236}">
                <a16:creationId xmlns:a16="http://schemas.microsoft.com/office/drawing/2014/main" id="{18896E70-13C5-C78B-A6C1-BE8155709489}"/>
              </a:ext>
            </a:extLst>
          </p:cNvPr>
          <p:cNvSpPr txBox="1">
            <a:spLocks noChangeArrowheads="1"/>
          </p:cNvSpPr>
          <p:nvPr/>
        </p:nvSpPr>
        <p:spPr bwMode="auto">
          <a:xfrm>
            <a:off x="2843213" y="5516563"/>
            <a:ext cx="45720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1100">
                <a:latin typeface="HelveticaNeue-Light"/>
              </a:rPr>
              <a:t>MCED n°93 - Avril 2018</a:t>
            </a:r>
            <a:endParaRPr lang="fr-FR" altLang="fr-FR">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B2BD0DA8-565F-4071-0C0E-D5811E262089}"/>
              </a:ext>
            </a:extLst>
          </p:cNvPr>
          <p:cNvSpPr txBox="1"/>
          <p:nvPr/>
        </p:nvSpPr>
        <p:spPr>
          <a:xfrm>
            <a:off x="258763" y="177800"/>
            <a:ext cx="8856662" cy="6683375"/>
          </a:xfrm>
          <a:prstGeom prst="rect">
            <a:avLst/>
          </a:prstGeom>
          <a:noFill/>
        </p:spPr>
        <p:txBody>
          <a:bodyPr>
            <a:spAutoFit/>
          </a:bodyPr>
          <a:lstStyle/>
          <a:p>
            <a:pPr>
              <a:lnSpc>
                <a:spcPct val="150000"/>
              </a:lnSpc>
              <a:defRPr/>
            </a:pPr>
            <a:r>
              <a:rPr lang="fr-FR" sz="2400" b="1" dirty="0">
                <a:solidFill>
                  <a:srgbClr val="002060"/>
                </a:solidFill>
                <a:latin typeface="+mn-lt"/>
              </a:rPr>
              <a:t>un homme de 38 ans est amené aux urgences pour trouble de la conscience et malaise. Il est confus, asthénique, et son entourage signale qu’il vomit depuis 24h et n'a pas pu prendre son traitement.</a:t>
            </a:r>
          </a:p>
          <a:p>
            <a:pPr>
              <a:lnSpc>
                <a:spcPct val="150000"/>
              </a:lnSpc>
              <a:defRPr/>
            </a:pPr>
            <a:r>
              <a:rPr lang="fr-FR" sz="2400" b="1" dirty="0">
                <a:solidFill>
                  <a:srgbClr val="002060"/>
                </a:solidFill>
                <a:latin typeface="+mn-lt"/>
              </a:rPr>
              <a:t>Antécédents :Maladie d’Addison diagnostiquée 2 ans auparavant Sous hydrocortisone 30 mg/j , fludrocortisone 100mg/j  </a:t>
            </a:r>
          </a:p>
          <a:p>
            <a:pPr>
              <a:lnSpc>
                <a:spcPct val="150000"/>
              </a:lnSpc>
              <a:defRPr/>
            </a:pPr>
            <a:r>
              <a:rPr lang="fr-FR" sz="2400" b="1" dirty="0">
                <a:solidFill>
                  <a:srgbClr val="002060"/>
                </a:solidFill>
                <a:latin typeface="+mn-lt"/>
              </a:rPr>
              <a:t>Examen clinique :TA : 75/45 </a:t>
            </a:r>
            <a:r>
              <a:rPr lang="fr-FR" sz="2400" b="1" dirty="0" err="1">
                <a:solidFill>
                  <a:srgbClr val="002060"/>
                </a:solidFill>
                <a:latin typeface="+mn-lt"/>
              </a:rPr>
              <a:t>mmHg</a:t>
            </a:r>
            <a:r>
              <a:rPr lang="fr-FR" sz="2400" b="1" dirty="0">
                <a:solidFill>
                  <a:srgbClr val="002060"/>
                </a:solidFill>
                <a:latin typeface="+mn-lt"/>
              </a:rPr>
              <a:t>  FC : 112 bpm T° : 38,1 °</a:t>
            </a:r>
          </a:p>
          <a:p>
            <a:pPr>
              <a:lnSpc>
                <a:spcPct val="150000"/>
              </a:lnSpc>
              <a:defRPr/>
            </a:pPr>
            <a:r>
              <a:rPr lang="fr-FR" sz="2400" b="1" dirty="0">
                <a:solidFill>
                  <a:srgbClr val="002060"/>
                </a:solidFill>
                <a:latin typeface="+mn-lt"/>
              </a:rPr>
              <a:t>CGCS : 13/15  , Déshydratation globale , hyperpigmentation des zones photo exposées </a:t>
            </a:r>
          </a:p>
          <a:p>
            <a:pPr>
              <a:lnSpc>
                <a:spcPct val="150000"/>
              </a:lnSpc>
              <a:defRPr/>
            </a:pPr>
            <a:r>
              <a:rPr lang="fr-FR" sz="2400" b="1" dirty="0">
                <a:solidFill>
                  <a:srgbClr val="002060"/>
                </a:solidFill>
                <a:latin typeface="+mn-lt"/>
              </a:rPr>
              <a:t>Bilan :Na+	128 </a:t>
            </a:r>
            <a:r>
              <a:rPr lang="fr-FR" sz="2400" b="1" dirty="0" err="1">
                <a:solidFill>
                  <a:srgbClr val="002060"/>
                </a:solidFill>
                <a:latin typeface="+mn-lt"/>
              </a:rPr>
              <a:t>mmol</a:t>
            </a:r>
            <a:r>
              <a:rPr lang="fr-FR" sz="2400" b="1" dirty="0">
                <a:solidFill>
                  <a:srgbClr val="002060"/>
                </a:solidFill>
                <a:latin typeface="+mn-lt"/>
              </a:rPr>
              <a:t>/LK   5,9 </a:t>
            </a:r>
            <a:r>
              <a:rPr lang="fr-FR" sz="2400" b="1" dirty="0" err="1">
                <a:solidFill>
                  <a:srgbClr val="002060"/>
                </a:solidFill>
                <a:latin typeface="+mn-lt"/>
              </a:rPr>
              <a:t>mmol</a:t>
            </a:r>
            <a:r>
              <a:rPr lang="fr-FR" sz="2400" b="1" dirty="0">
                <a:solidFill>
                  <a:srgbClr val="002060"/>
                </a:solidFill>
                <a:latin typeface="+mn-lt"/>
              </a:rPr>
              <a:t>/L      HCO3- 15 </a:t>
            </a:r>
            <a:r>
              <a:rPr lang="fr-FR" sz="2400" b="1" dirty="0" err="1">
                <a:solidFill>
                  <a:srgbClr val="002060"/>
                </a:solidFill>
                <a:latin typeface="+mn-lt"/>
              </a:rPr>
              <a:t>mmOL</a:t>
            </a:r>
            <a:r>
              <a:rPr lang="fr-FR" sz="2400" b="1" dirty="0">
                <a:solidFill>
                  <a:srgbClr val="002060"/>
                </a:solidFill>
                <a:latin typeface="+mn-lt"/>
              </a:rPr>
              <a:t>/L</a:t>
            </a:r>
          </a:p>
          <a:p>
            <a:pPr>
              <a:lnSpc>
                <a:spcPct val="150000"/>
              </a:lnSpc>
              <a:defRPr/>
            </a:pPr>
            <a:r>
              <a:rPr lang="fr-FR" sz="2400" b="1" dirty="0">
                <a:solidFill>
                  <a:srgbClr val="002060"/>
                </a:solidFill>
                <a:latin typeface="+mn-lt"/>
              </a:rPr>
              <a:t>  Glycémie	2,4 </a:t>
            </a:r>
            <a:r>
              <a:rPr lang="fr-FR" sz="2400" b="1" dirty="0" err="1">
                <a:solidFill>
                  <a:srgbClr val="002060"/>
                </a:solidFill>
                <a:latin typeface="+mn-lt"/>
              </a:rPr>
              <a:t>mmol</a:t>
            </a:r>
            <a:r>
              <a:rPr lang="fr-FR" sz="2400" b="1" dirty="0">
                <a:solidFill>
                  <a:srgbClr val="002060"/>
                </a:solidFill>
                <a:latin typeface="+mn-lt"/>
              </a:rPr>
              <a:t>/</a:t>
            </a:r>
          </a:p>
          <a:p>
            <a:pPr>
              <a:lnSpc>
                <a:spcPct val="150000"/>
              </a:lnSpc>
              <a:defRPr/>
            </a:pPr>
            <a:r>
              <a:rPr lang="fr-FR" sz="2400" b="1" dirty="0">
                <a:solidFill>
                  <a:srgbClr val="002060"/>
                </a:solidFill>
                <a:latin typeface="+mn-lt"/>
              </a:rPr>
              <a:t>CRP à 1 </a:t>
            </a:r>
          </a:p>
          <a:p>
            <a:pPr>
              <a:lnSpc>
                <a:spcPct val="150000"/>
              </a:lnSpc>
              <a:defRPr/>
            </a:pPr>
            <a:endParaRPr lang="fr-FR" sz="2400" b="1" dirty="0">
              <a:solidFill>
                <a:srgbClr val="002060"/>
              </a:solidFill>
              <a:latin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3A9F92B-BAA7-0397-35C9-0DA134DAA225}"/>
              </a:ext>
            </a:extLst>
          </p:cNvPr>
          <p:cNvSpPr txBox="1"/>
          <p:nvPr/>
        </p:nvSpPr>
        <p:spPr>
          <a:xfrm>
            <a:off x="468313" y="1268413"/>
            <a:ext cx="8207375" cy="3821112"/>
          </a:xfrm>
          <a:prstGeom prst="rect">
            <a:avLst/>
          </a:prstGeom>
          <a:noFill/>
        </p:spPr>
        <p:txBody>
          <a:bodyPr>
            <a:spAutoFit/>
          </a:bodyPr>
          <a:lstStyle/>
          <a:p>
            <a:pPr>
              <a:defRPr/>
            </a:pPr>
            <a:r>
              <a:rPr lang="fr-FR" altLang="fr-FR" sz="2400" b="1" dirty="0">
                <a:solidFill>
                  <a:srgbClr val="002060"/>
                </a:solidFill>
                <a:latin typeface="+mn-lt"/>
              </a:rPr>
              <a:t>Chez ce patient vous évoquer le diagnostic d’une insuffisance surrénalienne aigue devant:</a:t>
            </a:r>
          </a:p>
          <a:p>
            <a:pPr>
              <a:defRPr/>
            </a:pPr>
            <a:endParaRPr lang="fr-FR" altLang="fr-FR" b="1" dirty="0">
              <a:solidFill>
                <a:srgbClr val="002060"/>
              </a:solidFill>
              <a:latin typeface="+mn-lt"/>
            </a:endParaRPr>
          </a:p>
          <a:p>
            <a:pPr>
              <a:lnSpc>
                <a:spcPct val="150000"/>
              </a:lnSpc>
              <a:defRPr/>
            </a:pPr>
            <a:r>
              <a:rPr lang="fr-FR" altLang="fr-FR" sz="2400" dirty="0">
                <a:solidFill>
                  <a:srgbClr val="002060"/>
                </a:solidFill>
                <a:latin typeface="+mj-lt"/>
              </a:rPr>
              <a:t>A. Antécédents de maladie d’Addison</a:t>
            </a:r>
          </a:p>
          <a:p>
            <a:pPr>
              <a:lnSpc>
                <a:spcPct val="150000"/>
              </a:lnSpc>
              <a:defRPr/>
            </a:pPr>
            <a:r>
              <a:rPr lang="fr-FR" altLang="fr-FR" sz="2400" dirty="0">
                <a:solidFill>
                  <a:srgbClr val="002060"/>
                </a:solidFill>
                <a:latin typeface="+mj-lt"/>
              </a:rPr>
              <a:t>B. Vomissements </a:t>
            </a:r>
          </a:p>
          <a:p>
            <a:pPr>
              <a:lnSpc>
                <a:spcPct val="150000"/>
              </a:lnSpc>
              <a:defRPr/>
            </a:pPr>
            <a:r>
              <a:rPr lang="fr-FR" altLang="fr-FR" sz="2400" dirty="0">
                <a:solidFill>
                  <a:srgbClr val="002060"/>
                </a:solidFill>
                <a:latin typeface="+mj-lt"/>
              </a:rPr>
              <a:t>C. Troubles de la conscience </a:t>
            </a:r>
          </a:p>
          <a:p>
            <a:pPr>
              <a:lnSpc>
                <a:spcPct val="150000"/>
              </a:lnSpc>
              <a:defRPr/>
            </a:pPr>
            <a:r>
              <a:rPr lang="fr-FR" altLang="fr-FR" sz="2400" dirty="0">
                <a:solidFill>
                  <a:srgbClr val="002060"/>
                </a:solidFill>
                <a:latin typeface="+mj-lt"/>
              </a:rPr>
              <a:t>D. </a:t>
            </a:r>
            <a:r>
              <a:rPr lang="fr-FR" sz="2400" dirty="0">
                <a:solidFill>
                  <a:srgbClr val="002060"/>
                </a:solidFill>
                <a:latin typeface="+mj-lt"/>
              </a:rPr>
              <a:t>Hyperpigmentation </a:t>
            </a:r>
            <a:endParaRPr lang="fr-FR" altLang="fr-FR" sz="2400" dirty="0">
              <a:solidFill>
                <a:srgbClr val="002060"/>
              </a:solidFill>
              <a:latin typeface="+mj-lt"/>
            </a:endParaRPr>
          </a:p>
          <a:p>
            <a:pPr>
              <a:lnSpc>
                <a:spcPct val="150000"/>
              </a:lnSpc>
              <a:defRPr/>
            </a:pPr>
            <a:r>
              <a:rPr lang="fr-FR" altLang="fr-FR" sz="2400" dirty="0">
                <a:solidFill>
                  <a:srgbClr val="002060"/>
                </a:solidFill>
                <a:latin typeface="+mj-lt"/>
              </a:rPr>
              <a:t>E. Natrémie augmentée </a:t>
            </a:r>
            <a:endParaRPr lang="fr-FR" b="1" dirty="0">
              <a:solidFill>
                <a:srgbClr val="002060"/>
              </a:solidFill>
              <a:latin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E6DFE79-D2A4-C59A-7D21-518F95468559}"/>
              </a:ext>
            </a:extLst>
          </p:cNvPr>
          <p:cNvSpPr txBox="1"/>
          <p:nvPr/>
        </p:nvSpPr>
        <p:spPr>
          <a:xfrm>
            <a:off x="468313" y="1268413"/>
            <a:ext cx="8207375" cy="3821112"/>
          </a:xfrm>
          <a:prstGeom prst="rect">
            <a:avLst/>
          </a:prstGeom>
          <a:noFill/>
        </p:spPr>
        <p:txBody>
          <a:bodyPr>
            <a:spAutoFit/>
          </a:bodyPr>
          <a:lstStyle/>
          <a:p>
            <a:pPr>
              <a:defRPr/>
            </a:pPr>
            <a:r>
              <a:rPr lang="fr-FR" altLang="fr-FR" sz="2400" b="1" dirty="0">
                <a:solidFill>
                  <a:srgbClr val="002060"/>
                </a:solidFill>
                <a:latin typeface="+mn-lt"/>
              </a:rPr>
              <a:t>Chez ce patient vous évoquer le diagnostic d’une insuffisance surrénalienne aigue devant:</a:t>
            </a:r>
          </a:p>
          <a:p>
            <a:pPr>
              <a:defRPr/>
            </a:pPr>
            <a:endParaRPr lang="fr-FR" altLang="fr-FR" b="1" dirty="0">
              <a:solidFill>
                <a:srgbClr val="002060"/>
              </a:solidFill>
              <a:latin typeface="+mn-lt"/>
            </a:endParaRPr>
          </a:p>
          <a:p>
            <a:pPr>
              <a:lnSpc>
                <a:spcPct val="150000"/>
              </a:lnSpc>
              <a:defRPr/>
            </a:pPr>
            <a:r>
              <a:rPr lang="fr-FR" altLang="fr-FR" sz="2400" dirty="0">
                <a:solidFill>
                  <a:srgbClr val="002060"/>
                </a:solidFill>
                <a:latin typeface="+mj-lt"/>
              </a:rPr>
              <a:t>A</a:t>
            </a:r>
            <a:r>
              <a:rPr lang="fr-FR" altLang="fr-FR" sz="2400" dirty="0">
                <a:solidFill>
                  <a:srgbClr val="FF0000"/>
                </a:solidFill>
                <a:latin typeface="+mj-lt"/>
              </a:rPr>
              <a:t>. Antécédents de maladie d’Addison</a:t>
            </a:r>
          </a:p>
          <a:p>
            <a:pPr>
              <a:lnSpc>
                <a:spcPct val="150000"/>
              </a:lnSpc>
              <a:defRPr/>
            </a:pPr>
            <a:r>
              <a:rPr lang="fr-FR" altLang="fr-FR" sz="2400" dirty="0">
                <a:solidFill>
                  <a:srgbClr val="FF0000"/>
                </a:solidFill>
                <a:latin typeface="+mj-lt"/>
              </a:rPr>
              <a:t>B. Vomissements </a:t>
            </a:r>
          </a:p>
          <a:p>
            <a:pPr>
              <a:lnSpc>
                <a:spcPct val="150000"/>
              </a:lnSpc>
              <a:defRPr/>
            </a:pPr>
            <a:r>
              <a:rPr lang="fr-FR" altLang="fr-FR" sz="2400" dirty="0">
                <a:solidFill>
                  <a:srgbClr val="FF0000"/>
                </a:solidFill>
                <a:latin typeface="+mj-lt"/>
              </a:rPr>
              <a:t>C. Troubles de la conscience </a:t>
            </a:r>
          </a:p>
          <a:p>
            <a:pPr>
              <a:lnSpc>
                <a:spcPct val="150000"/>
              </a:lnSpc>
              <a:defRPr/>
            </a:pPr>
            <a:r>
              <a:rPr lang="fr-FR" altLang="fr-FR" sz="2400" dirty="0">
                <a:solidFill>
                  <a:srgbClr val="002060"/>
                </a:solidFill>
                <a:latin typeface="+mj-lt"/>
              </a:rPr>
              <a:t>D. </a:t>
            </a:r>
            <a:r>
              <a:rPr lang="fr-FR" sz="2400" dirty="0">
                <a:solidFill>
                  <a:srgbClr val="002060"/>
                </a:solidFill>
                <a:latin typeface="+mj-lt"/>
              </a:rPr>
              <a:t>Hyperpigmentation </a:t>
            </a:r>
            <a:endParaRPr lang="fr-FR" altLang="fr-FR" sz="2400" dirty="0">
              <a:solidFill>
                <a:srgbClr val="002060"/>
              </a:solidFill>
              <a:latin typeface="+mj-lt"/>
            </a:endParaRPr>
          </a:p>
          <a:p>
            <a:pPr>
              <a:lnSpc>
                <a:spcPct val="150000"/>
              </a:lnSpc>
              <a:defRPr/>
            </a:pPr>
            <a:r>
              <a:rPr lang="fr-FR" altLang="fr-FR" sz="2400" dirty="0">
                <a:solidFill>
                  <a:srgbClr val="002060"/>
                </a:solidFill>
                <a:latin typeface="+mj-lt"/>
              </a:rPr>
              <a:t>E. Natrémie augmentée </a:t>
            </a:r>
            <a:endParaRPr lang="fr-FR" b="1" dirty="0">
              <a:solidFill>
                <a:srgbClr val="002060"/>
              </a:solidFill>
              <a:latin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ZoneTexte 2">
            <a:extLst>
              <a:ext uri="{FF2B5EF4-FFF2-40B4-BE49-F238E27FC236}">
                <a16:creationId xmlns:a16="http://schemas.microsoft.com/office/drawing/2014/main" id="{857A5BCC-7981-A7C4-9BD7-791A935ED906}"/>
              </a:ext>
            </a:extLst>
          </p:cNvPr>
          <p:cNvSpPr txBox="1">
            <a:spLocks noChangeArrowheads="1"/>
          </p:cNvSpPr>
          <p:nvPr/>
        </p:nvSpPr>
        <p:spPr bwMode="auto">
          <a:xfrm>
            <a:off x="576263" y="2492375"/>
            <a:ext cx="7991475" cy="2805113"/>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50000"/>
              </a:lnSpc>
              <a:defRPr/>
            </a:pPr>
            <a:r>
              <a:rPr lang="fr-FR" altLang="fr-FR" sz="2400" dirty="0">
                <a:solidFill>
                  <a:srgbClr val="002060"/>
                </a:solidFill>
                <a:latin typeface="+mj-lt"/>
              </a:rPr>
              <a:t>A- Est liée au déficit en aldostérone </a:t>
            </a:r>
          </a:p>
          <a:p>
            <a:pPr>
              <a:lnSpc>
                <a:spcPct val="150000"/>
              </a:lnSpc>
              <a:defRPr/>
            </a:pPr>
            <a:r>
              <a:rPr lang="fr-FR" altLang="fr-FR" sz="2400" dirty="0">
                <a:solidFill>
                  <a:srgbClr val="002060"/>
                </a:solidFill>
                <a:latin typeface="+mj-lt"/>
              </a:rPr>
              <a:t>B. Elle s’améliore par l’hydrocortisone injectable </a:t>
            </a:r>
          </a:p>
          <a:p>
            <a:pPr>
              <a:lnSpc>
                <a:spcPct val="150000"/>
              </a:lnSpc>
              <a:defRPr/>
            </a:pPr>
            <a:r>
              <a:rPr lang="fr-FR" altLang="fr-FR" sz="2400" dirty="0">
                <a:solidFill>
                  <a:srgbClr val="002060"/>
                </a:solidFill>
                <a:latin typeface="+mj-lt"/>
              </a:rPr>
              <a:t>C. </a:t>
            </a:r>
            <a:r>
              <a:rPr lang="fr-FR" sz="2400" dirty="0">
                <a:solidFill>
                  <a:srgbClr val="002060"/>
                </a:solidFill>
                <a:latin typeface="+mj-lt"/>
              </a:rPr>
              <a:t>la réhydratation par les solutés salines l’améliore</a:t>
            </a:r>
            <a:endParaRPr lang="fr-FR" altLang="fr-FR" sz="2400" dirty="0">
              <a:solidFill>
                <a:srgbClr val="002060"/>
              </a:solidFill>
              <a:latin typeface="+mj-lt"/>
            </a:endParaRPr>
          </a:p>
          <a:p>
            <a:pPr>
              <a:lnSpc>
                <a:spcPct val="150000"/>
              </a:lnSpc>
              <a:defRPr/>
            </a:pPr>
            <a:r>
              <a:rPr lang="fr-FR" altLang="fr-FR" sz="2400" dirty="0">
                <a:solidFill>
                  <a:srgbClr val="002060"/>
                </a:solidFill>
                <a:latin typeface="+mj-lt"/>
              </a:rPr>
              <a:t>D. Elle est sensible  aux amines vasopressives </a:t>
            </a:r>
          </a:p>
          <a:p>
            <a:pPr>
              <a:lnSpc>
                <a:spcPct val="150000"/>
              </a:lnSpc>
              <a:defRPr/>
            </a:pPr>
            <a:r>
              <a:rPr lang="fr-FR" altLang="fr-FR" sz="2400" dirty="0">
                <a:solidFill>
                  <a:srgbClr val="002060"/>
                </a:solidFill>
                <a:latin typeface="+mj-lt"/>
              </a:rPr>
              <a:t>E. Les minéralocorticoïdes sont indispensables au traitement </a:t>
            </a:r>
          </a:p>
        </p:txBody>
      </p:sp>
      <p:sp>
        <p:nvSpPr>
          <p:cNvPr id="4" name="ZoneTexte 3">
            <a:extLst>
              <a:ext uri="{FF2B5EF4-FFF2-40B4-BE49-F238E27FC236}">
                <a16:creationId xmlns:a16="http://schemas.microsoft.com/office/drawing/2014/main" id="{0CFCBA9B-9D80-0399-59EC-396F25840103}"/>
              </a:ext>
            </a:extLst>
          </p:cNvPr>
          <p:cNvSpPr txBox="1"/>
          <p:nvPr/>
        </p:nvSpPr>
        <p:spPr>
          <a:xfrm>
            <a:off x="566738" y="1144588"/>
            <a:ext cx="7550150" cy="830262"/>
          </a:xfrm>
          <a:prstGeom prst="rect">
            <a:avLst/>
          </a:prstGeom>
          <a:noFill/>
        </p:spPr>
        <p:txBody>
          <a:bodyPr>
            <a:spAutoFit/>
          </a:bodyPr>
          <a:lstStyle/>
          <a:p>
            <a:pPr>
              <a:defRPr/>
            </a:pPr>
            <a:r>
              <a:rPr lang="fr-FR" altLang="fr-FR" sz="2400" b="1" dirty="0">
                <a:solidFill>
                  <a:srgbClr val="002060"/>
                </a:solidFill>
                <a:latin typeface="+mn-lt"/>
              </a:rPr>
              <a:t>Concernant l’hypotension artérielle au cours de l’insuffisance surrénalienne aigue : </a:t>
            </a:r>
            <a:endParaRPr lang="fr-FR" sz="2400" b="1" dirty="0">
              <a:solidFill>
                <a:srgbClr val="002060"/>
              </a:solidFill>
              <a:latin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ZoneTexte 2">
            <a:extLst>
              <a:ext uri="{FF2B5EF4-FFF2-40B4-BE49-F238E27FC236}">
                <a16:creationId xmlns:a16="http://schemas.microsoft.com/office/drawing/2014/main" id="{C530CFFA-33E4-2B4A-B161-1B4C6929D9A2}"/>
              </a:ext>
            </a:extLst>
          </p:cNvPr>
          <p:cNvSpPr txBox="1">
            <a:spLocks noChangeArrowheads="1"/>
          </p:cNvSpPr>
          <p:nvPr/>
        </p:nvSpPr>
        <p:spPr bwMode="auto">
          <a:xfrm>
            <a:off x="576263" y="2492375"/>
            <a:ext cx="7991475" cy="2805113"/>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50000"/>
              </a:lnSpc>
              <a:defRPr/>
            </a:pPr>
            <a:r>
              <a:rPr lang="fr-FR" altLang="fr-FR" sz="2400" dirty="0">
                <a:solidFill>
                  <a:srgbClr val="FF0000"/>
                </a:solidFill>
                <a:latin typeface="+mj-lt"/>
              </a:rPr>
              <a:t>A- Est liée au déficit en aldostérone </a:t>
            </a:r>
          </a:p>
          <a:p>
            <a:pPr>
              <a:lnSpc>
                <a:spcPct val="150000"/>
              </a:lnSpc>
              <a:defRPr/>
            </a:pPr>
            <a:r>
              <a:rPr lang="fr-FR" altLang="fr-FR" sz="2400" dirty="0">
                <a:solidFill>
                  <a:srgbClr val="FF0000"/>
                </a:solidFill>
                <a:latin typeface="+mj-lt"/>
              </a:rPr>
              <a:t>B. Elle s’améliore par l’hydrocortisone injectable </a:t>
            </a:r>
          </a:p>
          <a:p>
            <a:pPr>
              <a:lnSpc>
                <a:spcPct val="150000"/>
              </a:lnSpc>
              <a:defRPr/>
            </a:pPr>
            <a:r>
              <a:rPr lang="fr-FR" altLang="fr-FR" sz="2400" dirty="0">
                <a:solidFill>
                  <a:srgbClr val="FF0000"/>
                </a:solidFill>
                <a:latin typeface="+mj-lt"/>
              </a:rPr>
              <a:t>C. </a:t>
            </a:r>
            <a:r>
              <a:rPr lang="fr-FR" sz="2400" dirty="0">
                <a:solidFill>
                  <a:srgbClr val="FF0000"/>
                </a:solidFill>
                <a:latin typeface="+mj-lt"/>
              </a:rPr>
              <a:t>la réhydratation par les solutés salines l’améliore</a:t>
            </a:r>
            <a:endParaRPr lang="fr-FR" altLang="fr-FR" sz="2400" dirty="0">
              <a:solidFill>
                <a:srgbClr val="FF0000"/>
              </a:solidFill>
              <a:latin typeface="+mj-lt"/>
            </a:endParaRPr>
          </a:p>
          <a:p>
            <a:pPr>
              <a:lnSpc>
                <a:spcPct val="150000"/>
              </a:lnSpc>
              <a:defRPr/>
            </a:pPr>
            <a:r>
              <a:rPr lang="fr-FR" altLang="fr-FR" sz="2400" dirty="0">
                <a:solidFill>
                  <a:srgbClr val="002060"/>
                </a:solidFill>
                <a:latin typeface="+mj-lt"/>
              </a:rPr>
              <a:t>D. Elle est sensible  aux amines vasopressives </a:t>
            </a:r>
          </a:p>
          <a:p>
            <a:pPr>
              <a:lnSpc>
                <a:spcPct val="150000"/>
              </a:lnSpc>
              <a:defRPr/>
            </a:pPr>
            <a:r>
              <a:rPr lang="fr-FR" altLang="fr-FR" sz="2400" dirty="0">
                <a:solidFill>
                  <a:srgbClr val="002060"/>
                </a:solidFill>
                <a:latin typeface="+mj-lt"/>
              </a:rPr>
              <a:t>E. Les minéralocorticoïdes sont indispensables au traitement </a:t>
            </a:r>
          </a:p>
        </p:txBody>
      </p:sp>
      <p:sp>
        <p:nvSpPr>
          <p:cNvPr id="4" name="ZoneTexte 3">
            <a:extLst>
              <a:ext uri="{FF2B5EF4-FFF2-40B4-BE49-F238E27FC236}">
                <a16:creationId xmlns:a16="http://schemas.microsoft.com/office/drawing/2014/main" id="{B212FA67-13EB-F511-612F-CEC503A2AAE9}"/>
              </a:ext>
            </a:extLst>
          </p:cNvPr>
          <p:cNvSpPr txBox="1"/>
          <p:nvPr/>
        </p:nvSpPr>
        <p:spPr>
          <a:xfrm>
            <a:off x="566738" y="1144588"/>
            <a:ext cx="7550150" cy="830262"/>
          </a:xfrm>
          <a:prstGeom prst="rect">
            <a:avLst/>
          </a:prstGeom>
          <a:noFill/>
        </p:spPr>
        <p:txBody>
          <a:bodyPr>
            <a:spAutoFit/>
          </a:bodyPr>
          <a:lstStyle/>
          <a:p>
            <a:pPr>
              <a:defRPr/>
            </a:pPr>
            <a:r>
              <a:rPr lang="fr-FR" altLang="fr-FR" sz="2400" b="1" dirty="0">
                <a:solidFill>
                  <a:srgbClr val="002060"/>
                </a:solidFill>
                <a:latin typeface="+mn-lt"/>
              </a:rPr>
              <a:t>Concernant l’hypotension artérielle au cours de l’insuffisance surrénalienne aigue : </a:t>
            </a:r>
            <a:endParaRPr lang="fr-FR" sz="2400" b="1" dirty="0">
              <a:solidFill>
                <a:srgbClr val="002060"/>
              </a:solidFill>
              <a:latin typeface="+mn-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
            <a:extLst>
              <a:ext uri="{FF2B5EF4-FFF2-40B4-BE49-F238E27FC236}">
                <a16:creationId xmlns:a16="http://schemas.microsoft.com/office/drawing/2014/main" id="{E2102A3E-80A4-5692-96D3-926A90DD459E}"/>
              </a:ext>
            </a:extLst>
          </p:cNvPr>
          <p:cNvSpPr>
            <a:spLocks noChangeArrowheads="1"/>
          </p:cNvSpPr>
          <p:nvPr/>
        </p:nvSpPr>
        <p:spPr bwMode="auto">
          <a:xfrm>
            <a:off x="395288" y="981075"/>
            <a:ext cx="8243887" cy="4456113"/>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La sévérité  de l’ insuffisance surrénalienne aigue chez ce patient est attestée par </a:t>
            </a:r>
            <a:r>
              <a:rPr lang="fr-FR" altLang="fr-FR" sz="2400" b="1" dirty="0">
                <a:solidFill>
                  <a:srgbClr val="002060"/>
                </a:solidFill>
              </a:rPr>
              <a:t>:</a:t>
            </a:r>
          </a:p>
          <a:p>
            <a:pPr eaLnBrk="1" hangingPunct="1">
              <a:lnSpc>
                <a:spcPct val="150000"/>
              </a:lnSpc>
              <a:defRPr/>
            </a:pPr>
            <a:endParaRPr lang="fr-FR" altLang="fr-FR" sz="2400" b="1" dirty="0">
              <a:solidFill>
                <a:srgbClr val="002060"/>
              </a:solidFill>
            </a:endParaRPr>
          </a:p>
          <a:p>
            <a:pPr eaLnBrk="1" hangingPunct="1">
              <a:lnSpc>
                <a:spcPct val="150000"/>
              </a:lnSpc>
              <a:defRPr/>
            </a:pPr>
            <a:r>
              <a:rPr lang="fr-FR" altLang="fr-FR" sz="2400" b="1" dirty="0">
                <a:solidFill>
                  <a:srgbClr val="002060"/>
                </a:solidFill>
              </a:rPr>
              <a:t>    </a:t>
            </a:r>
            <a:r>
              <a:rPr lang="fr-FR" altLang="fr-FR" sz="2400" dirty="0">
                <a:solidFill>
                  <a:srgbClr val="002060"/>
                </a:solidFill>
                <a:latin typeface="+mn-lt"/>
              </a:rPr>
              <a:t>A – L’</a:t>
            </a:r>
            <a:r>
              <a:rPr lang="fr-FR" altLang="fr-FR" sz="2400" dirty="0" err="1">
                <a:solidFill>
                  <a:srgbClr val="002060"/>
                </a:solidFill>
                <a:latin typeface="+mn-lt"/>
              </a:rPr>
              <a:t>hyperthérmie</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B – Confusion </a:t>
            </a:r>
          </a:p>
          <a:p>
            <a:pPr eaLnBrk="1" hangingPunct="1">
              <a:lnSpc>
                <a:spcPct val="150000"/>
              </a:lnSpc>
              <a:defRPr/>
            </a:pPr>
            <a:r>
              <a:rPr lang="fr-FR" altLang="fr-FR" sz="2400" dirty="0">
                <a:solidFill>
                  <a:srgbClr val="002060"/>
                </a:solidFill>
                <a:latin typeface="+mn-lt"/>
              </a:rPr>
              <a:t>    C –Hyponatrémie sévère </a:t>
            </a:r>
          </a:p>
          <a:p>
            <a:pPr eaLnBrk="1" hangingPunct="1">
              <a:lnSpc>
                <a:spcPct val="150000"/>
              </a:lnSpc>
              <a:defRPr/>
            </a:pPr>
            <a:r>
              <a:rPr lang="fr-FR" altLang="fr-FR" sz="2400" dirty="0">
                <a:solidFill>
                  <a:srgbClr val="002060"/>
                </a:solidFill>
                <a:latin typeface="+mn-lt"/>
              </a:rPr>
              <a:t>    D- Hypoglycémie sévère </a:t>
            </a:r>
          </a:p>
          <a:p>
            <a:pPr eaLnBrk="1" hangingPunct="1">
              <a:lnSpc>
                <a:spcPct val="150000"/>
              </a:lnSpc>
              <a:defRPr/>
            </a:pPr>
            <a:r>
              <a:rPr lang="fr-FR" altLang="fr-FR" sz="2400" dirty="0">
                <a:solidFill>
                  <a:srgbClr val="002060"/>
                </a:solidFill>
                <a:latin typeface="+mn-lt"/>
              </a:rPr>
              <a:t>    E- Alcalose métabolique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
            <a:extLst>
              <a:ext uri="{FF2B5EF4-FFF2-40B4-BE49-F238E27FC236}">
                <a16:creationId xmlns:a16="http://schemas.microsoft.com/office/drawing/2014/main" id="{DD32A3B3-794A-777E-DD63-04A227C4B5BA}"/>
              </a:ext>
            </a:extLst>
          </p:cNvPr>
          <p:cNvSpPr>
            <a:spLocks noChangeArrowheads="1"/>
          </p:cNvSpPr>
          <p:nvPr/>
        </p:nvSpPr>
        <p:spPr bwMode="auto">
          <a:xfrm>
            <a:off x="395288" y="981075"/>
            <a:ext cx="8243887" cy="4456113"/>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b="1" dirty="0">
                <a:solidFill>
                  <a:srgbClr val="002060"/>
                </a:solidFill>
                <a:latin typeface="+mn-lt"/>
              </a:rPr>
              <a:t>La sévérité  de l’ insuffisance surrénalienne aigue chez ce patient est attestée par </a:t>
            </a:r>
            <a:r>
              <a:rPr lang="fr-FR" altLang="fr-FR" sz="2400" b="1" dirty="0">
                <a:solidFill>
                  <a:srgbClr val="002060"/>
                </a:solidFill>
              </a:rPr>
              <a:t>:</a:t>
            </a:r>
          </a:p>
          <a:p>
            <a:pPr eaLnBrk="1" hangingPunct="1">
              <a:lnSpc>
                <a:spcPct val="150000"/>
              </a:lnSpc>
              <a:defRPr/>
            </a:pPr>
            <a:endParaRPr lang="fr-FR" altLang="fr-FR" sz="2400" b="1" dirty="0">
              <a:solidFill>
                <a:srgbClr val="002060"/>
              </a:solidFill>
            </a:endParaRPr>
          </a:p>
          <a:p>
            <a:pPr eaLnBrk="1" hangingPunct="1">
              <a:lnSpc>
                <a:spcPct val="150000"/>
              </a:lnSpc>
              <a:defRPr/>
            </a:pPr>
            <a:r>
              <a:rPr lang="fr-FR" altLang="fr-FR" sz="2400" b="1" dirty="0">
                <a:solidFill>
                  <a:srgbClr val="002060"/>
                </a:solidFill>
              </a:rPr>
              <a:t>    </a:t>
            </a:r>
            <a:r>
              <a:rPr lang="fr-FR" altLang="fr-FR" sz="2400" dirty="0">
                <a:solidFill>
                  <a:srgbClr val="FF0000"/>
                </a:solidFill>
                <a:latin typeface="+mn-lt"/>
              </a:rPr>
              <a:t>A – L’</a:t>
            </a:r>
            <a:r>
              <a:rPr lang="fr-FR" altLang="fr-FR" sz="2400" dirty="0" err="1">
                <a:solidFill>
                  <a:srgbClr val="FF0000"/>
                </a:solidFill>
                <a:latin typeface="+mn-lt"/>
              </a:rPr>
              <a:t>hyperthérmie</a:t>
            </a:r>
            <a:endParaRPr lang="fr-FR" altLang="fr-FR" sz="2400" dirty="0">
              <a:solidFill>
                <a:srgbClr val="FF0000"/>
              </a:solidFill>
              <a:latin typeface="+mn-lt"/>
            </a:endParaRPr>
          </a:p>
          <a:p>
            <a:pPr eaLnBrk="1" hangingPunct="1">
              <a:lnSpc>
                <a:spcPct val="150000"/>
              </a:lnSpc>
              <a:defRPr/>
            </a:pPr>
            <a:r>
              <a:rPr lang="fr-FR" altLang="fr-FR" sz="2400" dirty="0">
                <a:solidFill>
                  <a:srgbClr val="FF0000"/>
                </a:solidFill>
                <a:latin typeface="+mn-lt"/>
              </a:rPr>
              <a:t>    B – Confusion </a:t>
            </a:r>
          </a:p>
          <a:p>
            <a:pPr eaLnBrk="1" hangingPunct="1">
              <a:lnSpc>
                <a:spcPct val="150000"/>
              </a:lnSpc>
              <a:defRPr/>
            </a:pPr>
            <a:r>
              <a:rPr lang="fr-FR" altLang="fr-FR" sz="2400" dirty="0">
                <a:solidFill>
                  <a:srgbClr val="002060"/>
                </a:solidFill>
                <a:latin typeface="+mn-lt"/>
              </a:rPr>
              <a:t>    C –Hyponatrémie sévère </a:t>
            </a:r>
          </a:p>
          <a:p>
            <a:pPr eaLnBrk="1" hangingPunct="1">
              <a:lnSpc>
                <a:spcPct val="150000"/>
              </a:lnSpc>
              <a:defRPr/>
            </a:pPr>
            <a:r>
              <a:rPr lang="fr-FR" altLang="fr-FR" sz="2400" dirty="0">
                <a:solidFill>
                  <a:srgbClr val="002060"/>
                </a:solidFill>
                <a:latin typeface="+mn-lt"/>
              </a:rPr>
              <a:t>    </a:t>
            </a:r>
            <a:r>
              <a:rPr lang="fr-FR" altLang="fr-FR" sz="2400" dirty="0">
                <a:solidFill>
                  <a:srgbClr val="FF0000"/>
                </a:solidFill>
                <a:latin typeface="+mn-lt"/>
              </a:rPr>
              <a:t>D- Hypoglycémie sévère </a:t>
            </a:r>
          </a:p>
          <a:p>
            <a:pPr eaLnBrk="1" hangingPunct="1">
              <a:lnSpc>
                <a:spcPct val="150000"/>
              </a:lnSpc>
              <a:defRPr/>
            </a:pPr>
            <a:r>
              <a:rPr lang="fr-FR" altLang="fr-FR" sz="2400" dirty="0">
                <a:solidFill>
                  <a:srgbClr val="002060"/>
                </a:solidFill>
                <a:latin typeface="+mn-lt"/>
              </a:rPr>
              <a:t>    E- Alcalose métabolique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ZoneTexte 2">
            <a:extLst>
              <a:ext uri="{FF2B5EF4-FFF2-40B4-BE49-F238E27FC236}">
                <a16:creationId xmlns:a16="http://schemas.microsoft.com/office/drawing/2014/main" id="{6DC0360B-229E-C061-3AB4-F29B7BDC7301}"/>
              </a:ext>
            </a:extLst>
          </p:cNvPr>
          <p:cNvSpPr txBox="1">
            <a:spLocks noChangeArrowheads="1"/>
          </p:cNvSpPr>
          <p:nvPr/>
        </p:nvSpPr>
        <p:spPr bwMode="auto">
          <a:xfrm>
            <a:off x="1619250" y="900113"/>
            <a:ext cx="5616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a:solidFill>
                  <a:srgbClr val="0070C0"/>
                </a:solidFill>
              </a:rPr>
              <a:t>Éléments de gravité d’une ISA</a:t>
            </a:r>
          </a:p>
        </p:txBody>
      </p:sp>
      <p:sp>
        <p:nvSpPr>
          <p:cNvPr id="5" name="ZoneTexte 4">
            <a:extLst>
              <a:ext uri="{FF2B5EF4-FFF2-40B4-BE49-F238E27FC236}">
                <a16:creationId xmlns:a16="http://schemas.microsoft.com/office/drawing/2014/main" id="{CB6700E3-94C0-DC43-BC33-8DC989240BF5}"/>
              </a:ext>
            </a:extLst>
          </p:cNvPr>
          <p:cNvSpPr txBox="1"/>
          <p:nvPr/>
        </p:nvSpPr>
        <p:spPr>
          <a:xfrm>
            <a:off x="395288" y="1989138"/>
            <a:ext cx="8353425" cy="3784600"/>
          </a:xfrm>
          <a:prstGeom prst="rect">
            <a:avLst/>
          </a:prstGeom>
          <a:noFill/>
          <a:ln w="38100">
            <a:solidFill>
              <a:srgbClr val="FF0000"/>
            </a:solidFill>
          </a:ln>
        </p:spPr>
        <p:txBody>
          <a:bodyPr>
            <a:spAutoFit/>
          </a:bodyPr>
          <a:lstStyle/>
          <a:p>
            <a:pPr marL="285750" indent="-285750" eaLnBrk="1" hangingPunct="1">
              <a:buFont typeface="Arial" panose="020B0604020202020204" pitchFamily="34" charset="0"/>
              <a:buChar char="•"/>
              <a:defRPr/>
            </a:pPr>
            <a:r>
              <a:rPr lang="fr-FR" sz="2400" dirty="0">
                <a:latin typeface="+mj-lt"/>
              </a:rPr>
              <a:t>Collapsus ++++ - </a:t>
            </a:r>
          </a:p>
          <a:p>
            <a:pPr marL="285750" indent="-285750" eaLnBrk="1" hangingPunct="1">
              <a:buFont typeface="Arial" panose="020B0604020202020204" pitchFamily="34" charset="0"/>
              <a:buChar char="•"/>
              <a:defRPr/>
            </a:pPr>
            <a:r>
              <a:rPr lang="fr-FR" sz="2400" dirty="0">
                <a:latin typeface="+mj-lt"/>
              </a:rPr>
              <a:t>Signes d’hypoglycémie, confusion, convulsion</a:t>
            </a:r>
          </a:p>
          <a:p>
            <a:pPr marL="285750" indent="-285750" eaLnBrk="1" hangingPunct="1">
              <a:buFont typeface="Arial" panose="020B0604020202020204" pitchFamily="34" charset="0"/>
              <a:buChar char="•"/>
              <a:defRPr/>
            </a:pPr>
            <a:r>
              <a:rPr lang="fr-FR" sz="2400" dirty="0">
                <a:latin typeface="+mj-lt"/>
              </a:rPr>
              <a:t>Hyperthermie, </a:t>
            </a:r>
          </a:p>
          <a:p>
            <a:pPr marL="285750" indent="-285750" eaLnBrk="1" hangingPunct="1">
              <a:buFont typeface="Arial" panose="020B0604020202020204" pitchFamily="34" charset="0"/>
              <a:buChar char="•"/>
              <a:defRPr/>
            </a:pPr>
            <a:r>
              <a:rPr lang="fr-FR" sz="2400" dirty="0">
                <a:latin typeface="+mj-lt"/>
              </a:rPr>
              <a:t>Troubles de la conscience (adynamie extrême, obnubilation, confusion mentale voire coma) </a:t>
            </a:r>
          </a:p>
          <a:p>
            <a:pPr marL="285750" indent="-285750" eaLnBrk="1" hangingPunct="1">
              <a:buFont typeface="Arial" panose="020B0604020202020204" pitchFamily="34" charset="0"/>
              <a:buChar char="•"/>
              <a:defRPr/>
            </a:pPr>
            <a:r>
              <a:rPr lang="fr-FR" sz="2400" dirty="0">
                <a:latin typeface="+mj-lt"/>
              </a:rPr>
              <a:t>Quadriplégie flasque</a:t>
            </a:r>
          </a:p>
          <a:p>
            <a:pPr marL="285750" indent="-285750" eaLnBrk="1" hangingPunct="1">
              <a:buFont typeface="Arial" panose="020B0604020202020204" pitchFamily="34" charset="0"/>
              <a:buChar char="•"/>
              <a:defRPr/>
            </a:pPr>
            <a:r>
              <a:rPr lang="fr-FR" sz="2400" dirty="0">
                <a:latin typeface="+mj-lt"/>
              </a:rPr>
              <a:t>Forme douloureuse abdominale</a:t>
            </a:r>
          </a:p>
          <a:p>
            <a:pPr marL="285750" indent="-285750" eaLnBrk="1" hangingPunct="1">
              <a:buFont typeface="Arial" panose="020B0604020202020204" pitchFamily="34" charset="0"/>
              <a:buChar char="•"/>
              <a:defRPr/>
            </a:pPr>
            <a:r>
              <a:rPr lang="fr-FR" sz="2400" dirty="0">
                <a:latin typeface="+mj-lt"/>
              </a:rPr>
              <a:t>Hyponatrémie sévère</a:t>
            </a:r>
          </a:p>
          <a:p>
            <a:pPr marL="285750" indent="-285750" eaLnBrk="1" hangingPunct="1">
              <a:buFont typeface="Arial" panose="020B0604020202020204" pitchFamily="34" charset="0"/>
              <a:buChar char="•"/>
              <a:defRPr/>
            </a:pPr>
            <a:r>
              <a:rPr lang="fr-FR" sz="2400" dirty="0">
                <a:latin typeface="+mj-lt"/>
              </a:rPr>
              <a:t>Hypoglycémie grave </a:t>
            </a:r>
          </a:p>
          <a:p>
            <a:pPr marL="285750" indent="-285750" eaLnBrk="1" hangingPunct="1">
              <a:buFont typeface="Arial" panose="020B0604020202020204" pitchFamily="34" charset="0"/>
              <a:buChar char="•"/>
              <a:defRPr/>
            </a:pPr>
            <a:r>
              <a:rPr lang="fr-FR" sz="2400" dirty="0">
                <a:latin typeface="+mj-lt"/>
              </a:rPr>
              <a:t>Acidose </a:t>
            </a:r>
            <a:r>
              <a:rPr lang="fr-FR" sz="2400" dirty="0" err="1">
                <a:latin typeface="+mj-lt"/>
              </a:rPr>
              <a:t>hyperkaliémique</a:t>
            </a:r>
            <a:r>
              <a:rPr lang="fr-FR" sz="2400" dirty="0">
                <a:latin typeface="+mj-lt"/>
              </a:rPr>
              <a:t> avérée</a:t>
            </a:r>
            <a:endParaRPr lang="fr-FR" dirty="0">
              <a:latin typeface="+mj-l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B83FFFA-6B32-1333-CA76-494A9DFD1DB8}"/>
              </a:ext>
            </a:extLst>
          </p:cNvPr>
          <p:cNvSpPr>
            <a:spLocks noChangeArrowheads="1"/>
          </p:cNvSpPr>
          <p:nvPr/>
        </p:nvSpPr>
        <p:spPr bwMode="auto">
          <a:xfrm>
            <a:off x="323850" y="2000250"/>
            <a:ext cx="8640763" cy="32321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fr-FR" altLang="fr-FR" sz="2400" b="1" dirty="0">
              <a:solidFill>
                <a:srgbClr val="002060"/>
              </a:solidFill>
              <a:latin typeface="Calibri" panose="020F0502020204030204" pitchFamily="34" charset="0"/>
            </a:endParaRPr>
          </a:p>
          <a:p>
            <a:pPr eaLnBrk="1" hangingPunct="1">
              <a:lnSpc>
                <a:spcPct val="150000"/>
              </a:lnSpc>
              <a:defRPr/>
            </a:pPr>
            <a:r>
              <a:rPr lang="fr-FR" altLang="fr-FR" sz="2400" dirty="0">
                <a:solidFill>
                  <a:srgbClr val="002060"/>
                </a:solidFill>
                <a:latin typeface="+mn-lt"/>
              </a:rPr>
              <a:t>A - </a:t>
            </a:r>
            <a:r>
              <a:rPr lang="fr-FR" sz="2400" dirty="0">
                <a:solidFill>
                  <a:srgbClr val="002060"/>
                </a:solidFill>
                <a:latin typeface="+mn-lt"/>
              </a:rPr>
              <a:t>Adrénaline en Intraveineux</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B - Hydrocortisone en   intraveineux </a:t>
            </a:r>
          </a:p>
          <a:p>
            <a:pPr eaLnBrk="1" hangingPunct="1">
              <a:lnSpc>
                <a:spcPct val="150000"/>
              </a:lnSpc>
              <a:defRPr/>
            </a:pPr>
            <a:r>
              <a:rPr lang="fr-FR" altLang="fr-FR" sz="2400" dirty="0">
                <a:solidFill>
                  <a:srgbClr val="002060"/>
                </a:solidFill>
                <a:latin typeface="+mn-lt"/>
              </a:rPr>
              <a:t> C -Sérum glucosé </a:t>
            </a:r>
          </a:p>
          <a:p>
            <a:pPr eaLnBrk="1" hangingPunct="1">
              <a:lnSpc>
                <a:spcPct val="150000"/>
              </a:lnSpc>
              <a:defRPr/>
            </a:pPr>
            <a:r>
              <a:rPr lang="fr-FR" altLang="fr-FR" sz="2400" dirty="0">
                <a:solidFill>
                  <a:srgbClr val="002060"/>
                </a:solidFill>
                <a:latin typeface="+mn-lt"/>
              </a:rPr>
              <a:t> D -Sérum physiologique 9‰</a:t>
            </a:r>
          </a:p>
          <a:p>
            <a:pPr eaLnBrk="1" hangingPunct="1">
              <a:lnSpc>
                <a:spcPct val="150000"/>
              </a:lnSpc>
              <a:defRPr/>
            </a:pPr>
            <a:r>
              <a:rPr lang="fr-FR" altLang="fr-FR" sz="2400" dirty="0">
                <a:solidFill>
                  <a:srgbClr val="002060"/>
                </a:solidFill>
                <a:latin typeface="+mn-lt"/>
              </a:rPr>
              <a:t> E -Reprise de la fludrocortisone </a:t>
            </a:r>
          </a:p>
        </p:txBody>
      </p:sp>
      <p:sp>
        <p:nvSpPr>
          <p:cNvPr id="15363" name="Rectangle 3">
            <a:extLst>
              <a:ext uri="{FF2B5EF4-FFF2-40B4-BE49-F238E27FC236}">
                <a16:creationId xmlns:a16="http://schemas.microsoft.com/office/drawing/2014/main" id="{DC0AFDA6-452A-4B41-DA6C-50FF881B0E83}"/>
              </a:ext>
            </a:extLst>
          </p:cNvPr>
          <p:cNvSpPr>
            <a:spLocks noChangeArrowheads="1"/>
          </p:cNvSpPr>
          <p:nvPr/>
        </p:nvSpPr>
        <p:spPr bwMode="auto">
          <a:xfrm>
            <a:off x="785813" y="1374775"/>
            <a:ext cx="8358187" cy="12001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Le traitement de ce patiente nécessite :</a:t>
            </a:r>
          </a:p>
          <a:p>
            <a:pPr eaLnBrk="1" hangingPunct="1">
              <a:defRPr/>
            </a:pPr>
            <a:endParaRPr lang="fr-FR" altLang="fr-FR" sz="2400" b="1" dirty="0">
              <a:solidFill>
                <a:srgbClr val="002060"/>
              </a:solidFill>
              <a:latin typeface="+mj-lt"/>
            </a:endParaRPr>
          </a:p>
          <a:p>
            <a:pPr eaLnBrk="1" hangingPunct="1">
              <a:defRPr/>
            </a:pPr>
            <a:endParaRPr lang="fr-FR" altLang="fr-FR" sz="2400" b="1" dirty="0">
              <a:solidFill>
                <a:srgbClr val="00206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CF7A3E7-C6AE-67E5-C927-39B845008EBD}"/>
              </a:ext>
            </a:extLst>
          </p:cNvPr>
          <p:cNvSpPr>
            <a:spLocks noChangeArrowheads="1"/>
          </p:cNvSpPr>
          <p:nvPr/>
        </p:nvSpPr>
        <p:spPr bwMode="auto">
          <a:xfrm>
            <a:off x="323850" y="2000250"/>
            <a:ext cx="8640763" cy="32321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fr-FR" altLang="fr-FR" sz="2400" b="1" dirty="0">
              <a:solidFill>
                <a:srgbClr val="002060"/>
              </a:solidFill>
              <a:latin typeface="Calibri" panose="020F0502020204030204" pitchFamily="34" charset="0"/>
            </a:endParaRPr>
          </a:p>
          <a:p>
            <a:pPr eaLnBrk="1" hangingPunct="1">
              <a:lnSpc>
                <a:spcPct val="150000"/>
              </a:lnSpc>
              <a:defRPr/>
            </a:pPr>
            <a:r>
              <a:rPr lang="fr-FR" altLang="fr-FR" sz="2400" dirty="0">
                <a:solidFill>
                  <a:srgbClr val="002060"/>
                </a:solidFill>
                <a:latin typeface="+mn-lt"/>
              </a:rPr>
              <a:t>A - </a:t>
            </a:r>
            <a:r>
              <a:rPr lang="fr-FR" sz="2400" dirty="0">
                <a:solidFill>
                  <a:srgbClr val="002060"/>
                </a:solidFill>
                <a:latin typeface="+mn-lt"/>
              </a:rPr>
              <a:t>Adrénaline en Intraveineux</a:t>
            </a:r>
            <a:endParaRPr lang="fr-FR" altLang="fr-FR" sz="2400" dirty="0">
              <a:solidFill>
                <a:srgbClr val="002060"/>
              </a:solidFill>
              <a:latin typeface="+mn-lt"/>
            </a:endParaRPr>
          </a:p>
          <a:p>
            <a:pPr eaLnBrk="1" hangingPunct="1">
              <a:lnSpc>
                <a:spcPct val="150000"/>
              </a:lnSpc>
              <a:defRPr/>
            </a:pPr>
            <a:r>
              <a:rPr lang="fr-FR" altLang="fr-FR" sz="2400" dirty="0">
                <a:solidFill>
                  <a:srgbClr val="FF0000"/>
                </a:solidFill>
                <a:latin typeface="+mn-lt"/>
              </a:rPr>
              <a:t>B - Hydrocortisone en   intraveineux </a:t>
            </a:r>
          </a:p>
          <a:p>
            <a:pPr eaLnBrk="1" hangingPunct="1">
              <a:lnSpc>
                <a:spcPct val="150000"/>
              </a:lnSpc>
              <a:defRPr/>
            </a:pPr>
            <a:r>
              <a:rPr lang="fr-FR" altLang="fr-FR" sz="2400" dirty="0">
                <a:solidFill>
                  <a:srgbClr val="FF0000"/>
                </a:solidFill>
                <a:latin typeface="+mn-lt"/>
              </a:rPr>
              <a:t> C -Sérum glucosé </a:t>
            </a:r>
          </a:p>
          <a:p>
            <a:pPr eaLnBrk="1" hangingPunct="1">
              <a:lnSpc>
                <a:spcPct val="150000"/>
              </a:lnSpc>
              <a:defRPr/>
            </a:pPr>
            <a:r>
              <a:rPr lang="fr-FR" altLang="fr-FR" sz="2400" dirty="0">
                <a:solidFill>
                  <a:srgbClr val="FF0000"/>
                </a:solidFill>
                <a:latin typeface="+mn-lt"/>
              </a:rPr>
              <a:t> D -Sérum physiologique 9‰</a:t>
            </a:r>
          </a:p>
          <a:p>
            <a:pPr eaLnBrk="1" hangingPunct="1">
              <a:lnSpc>
                <a:spcPct val="150000"/>
              </a:lnSpc>
              <a:defRPr/>
            </a:pPr>
            <a:r>
              <a:rPr lang="fr-FR" altLang="fr-FR" sz="2400" dirty="0">
                <a:solidFill>
                  <a:srgbClr val="002060"/>
                </a:solidFill>
                <a:latin typeface="+mn-lt"/>
              </a:rPr>
              <a:t> E -Reprise de la fludrocortisone </a:t>
            </a:r>
          </a:p>
        </p:txBody>
      </p:sp>
      <p:sp>
        <p:nvSpPr>
          <p:cNvPr id="15363" name="Rectangle 3">
            <a:extLst>
              <a:ext uri="{FF2B5EF4-FFF2-40B4-BE49-F238E27FC236}">
                <a16:creationId xmlns:a16="http://schemas.microsoft.com/office/drawing/2014/main" id="{0C5B738F-37F3-4A5F-C490-3E9CE8BA22FC}"/>
              </a:ext>
            </a:extLst>
          </p:cNvPr>
          <p:cNvSpPr>
            <a:spLocks noChangeArrowheads="1"/>
          </p:cNvSpPr>
          <p:nvPr/>
        </p:nvSpPr>
        <p:spPr bwMode="auto">
          <a:xfrm>
            <a:off x="785813" y="1374775"/>
            <a:ext cx="7345362" cy="830263"/>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Le traitement de ce patiente nécessite :</a:t>
            </a:r>
          </a:p>
          <a:p>
            <a:pPr eaLnBrk="1" hangingPunct="1">
              <a:defRPr/>
            </a:pPr>
            <a:endParaRPr lang="fr-FR" altLang="fr-FR" sz="2400" b="1" dirty="0">
              <a:solidFill>
                <a:srgbClr val="00206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7815775-6D2B-E250-E6B3-4667AB54D516}"/>
              </a:ext>
            </a:extLst>
          </p:cNvPr>
          <p:cNvSpPr>
            <a:spLocks noChangeArrowheads="1"/>
          </p:cNvSpPr>
          <p:nvPr/>
        </p:nvSpPr>
        <p:spPr bwMode="auto">
          <a:xfrm>
            <a:off x="250825" y="1844675"/>
            <a:ext cx="8640763" cy="3729038"/>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fr-FR" altLang="fr-FR" sz="2400" b="1" dirty="0">
              <a:solidFill>
                <a:srgbClr val="002060"/>
              </a:solidFill>
              <a:latin typeface="Calibri" panose="020F0502020204030204" pitchFamily="34" charset="0"/>
            </a:endParaRPr>
          </a:p>
          <a:p>
            <a:pPr eaLnBrk="1" hangingPunct="1">
              <a:lnSpc>
                <a:spcPct val="150000"/>
              </a:lnSpc>
              <a:defRPr/>
            </a:pPr>
            <a:r>
              <a:rPr lang="fr-FR" altLang="fr-FR" sz="2400" dirty="0">
                <a:solidFill>
                  <a:srgbClr val="002060"/>
                </a:solidFill>
                <a:latin typeface="+mn-lt"/>
              </a:rPr>
              <a:t>A - </a:t>
            </a:r>
            <a:r>
              <a:rPr lang="fr-FR" sz="2400" dirty="0">
                <a:solidFill>
                  <a:srgbClr val="002060"/>
                </a:solidFill>
                <a:latin typeface="+mn-lt"/>
              </a:rPr>
              <a:t>L’apport en K+ n’est pas systématique au début de la réanimation</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B - Il faut </a:t>
            </a:r>
            <a:r>
              <a:rPr lang="fr-FR" sz="2400" dirty="0">
                <a:solidFill>
                  <a:srgbClr val="002060"/>
                </a:solidFill>
                <a:latin typeface="+mn-lt"/>
              </a:rPr>
              <a:t>Donner du sérum bicarbonaté en cas d’acidose  </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C- La </a:t>
            </a:r>
            <a:r>
              <a:rPr lang="fr-FR" sz="2400" dirty="0">
                <a:solidFill>
                  <a:srgbClr val="002060"/>
                </a:solidFill>
                <a:latin typeface="+mn-lt"/>
              </a:rPr>
              <a:t>Réhydratation intraveineuse est maintenue jusqu’à </a:t>
            </a:r>
          </a:p>
          <a:p>
            <a:pPr eaLnBrk="1" hangingPunct="1">
              <a:lnSpc>
                <a:spcPct val="150000"/>
              </a:lnSpc>
              <a:defRPr/>
            </a:pPr>
            <a:r>
              <a:rPr lang="fr-FR" sz="2400" dirty="0">
                <a:solidFill>
                  <a:srgbClr val="002060"/>
                </a:solidFill>
                <a:latin typeface="+mn-lt"/>
              </a:rPr>
              <a:t>         disparition des troubles digestifs</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D -La </a:t>
            </a:r>
            <a:r>
              <a:rPr lang="fr-FR" sz="2400" dirty="0">
                <a:solidFill>
                  <a:srgbClr val="002060"/>
                </a:solidFill>
                <a:latin typeface="+mn-lt"/>
              </a:rPr>
              <a:t>Réhydratation se fait avec des  solutés  glucosés 10%</a:t>
            </a:r>
          </a:p>
          <a:p>
            <a:pPr eaLnBrk="1" hangingPunct="1">
              <a:lnSpc>
                <a:spcPct val="150000"/>
              </a:lnSpc>
              <a:defRPr/>
            </a:pPr>
            <a:r>
              <a:rPr lang="fr-FR" altLang="fr-FR" sz="2400" dirty="0">
                <a:solidFill>
                  <a:srgbClr val="002060"/>
                </a:solidFill>
                <a:latin typeface="+mn-lt"/>
              </a:rPr>
              <a:t> E – Nécessite un remplissage par </a:t>
            </a:r>
            <a:r>
              <a:rPr lang="fr-FR" sz="2400" dirty="0">
                <a:solidFill>
                  <a:srgbClr val="002060"/>
                </a:solidFill>
                <a:latin typeface="+mn-lt"/>
              </a:rPr>
              <a:t>macromolécules si collapsus </a:t>
            </a:r>
            <a:endParaRPr lang="fr-FR" altLang="fr-FR" sz="2400" dirty="0">
              <a:solidFill>
                <a:srgbClr val="002060"/>
              </a:solidFill>
              <a:latin typeface="+mn-lt"/>
            </a:endParaRPr>
          </a:p>
        </p:txBody>
      </p:sp>
      <p:sp>
        <p:nvSpPr>
          <p:cNvPr id="15363" name="Rectangle 3">
            <a:extLst>
              <a:ext uri="{FF2B5EF4-FFF2-40B4-BE49-F238E27FC236}">
                <a16:creationId xmlns:a16="http://schemas.microsoft.com/office/drawing/2014/main" id="{F61F0BB5-E775-144F-B5CC-3156C65123C2}"/>
              </a:ext>
            </a:extLst>
          </p:cNvPr>
          <p:cNvSpPr>
            <a:spLocks noChangeArrowheads="1"/>
          </p:cNvSpPr>
          <p:nvPr/>
        </p:nvSpPr>
        <p:spPr bwMode="auto">
          <a:xfrm>
            <a:off x="584200" y="841375"/>
            <a:ext cx="8358188" cy="15684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Concernant la réanimation d’un patient ayant une insuffisance surrénalienne aigue :</a:t>
            </a:r>
          </a:p>
          <a:p>
            <a:pPr eaLnBrk="1" hangingPunct="1">
              <a:defRPr/>
            </a:pPr>
            <a:r>
              <a:rPr lang="fr-FR" altLang="fr-FR" sz="2400" b="1" dirty="0">
                <a:solidFill>
                  <a:srgbClr val="002060"/>
                </a:solidFill>
                <a:latin typeface="+mj-lt"/>
              </a:rPr>
              <a:t>:</a:t>
            </a:r>
          </a:p>
          <a:p>
            <a:pPr eaLnBrk="1" hangingPunct="1">
              <a:defRPr/>
            </a:pPr>
            <a:endParaRPr lang="fr-FR" altLang="fr-FR" sz="2400" b="1" dirty="0">
              <a:solidFill>
                <a:srgbClr val="00206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A54FC1D-5A65-7619-2B6F-EA1620215824}"/>
              </a:ext>
            </a:extLst>
          </p:cNvPr>
          <p:cNvSpPr>
            <a:spLocks noChangeArrowheads="1"/>
          </p:cNvSpPr>
          <p:nvPr/>
        </p:nvSpPr>
        <p:spPr bwMode="auto">
          <a:xfrm>
            <a:off x="250825" y="1844675"/>
            <a:ext cx="8640763" cy="3729038"/>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fr-FR" altLang="fr-FR" sz="2400" b="1" dirty="0">
              <a:solidFill>
                <a:srgbClr val="002060"/>
              </a:solidFill>
              <a:latin typeface="Calibri" panose="020F0502020204030204" pitchFamily="34" charset="0"/>
            </a:endParaRPr>
          </a:p>
          <a:p>
            <a:pPr eaLnBrk="1" hangingPunct="1">
              <a:lnSpc>
                <a:spcPct val="150000"/>
              </a:lnSpc>
              <a:defRPr/>
            </a:pPr>
            <a:r>
              <a:rPr lang="fr-FR" altLang="fr-FR" sz="2400" dirty="0">
                <a:solidFill>
                  <a:srgbClr val="FF0000"/>
                </a:solidFill>
                <a:latin typeface="+mn-lt"/>
              </a:rPr>
              <a:t>A - </a:t>
            </a:r>
            <a:r>
              <a:rPr lang="fr-FR" sz="2400" dirty="0">
                <a:solidFill>
                  <a:srgbClr val="FF0000"/>
                </a:solidFill>
                <a:latin typeface="+mn-lt"/>
              </a:rPr>
              <a:t>L’apport en K+ n’est pas systématique au début de la réanimation</a:t>
            </a:r>
            <a:endParaRPr lang="fr-FR" altLang="fr-FR" sz="2400" dirty="0">
              <a:solidFill>
                <a:srgbClr val="FF0000"/>
              </a:solidFill>
              <a:latin typeface="+mn-lt"/>
            </a:endParaRPr>
          </a:p>
          <a:p>
            <a:pPr eaLnBrk="1" hangingPunct="1">
              <a:lnSpc>
                <a:spcPct val="150000"/>
              </a:lnSpc>
              <a:defRPr/>
            </a:pPr>
            <a:r>
              <a:rPr lang="fr-FR" altLang="fr-FR" sz="2400" dirty="0">
                <a:solidFill>
                  <a:srgbClr val="002060"/>
                </a:solidFill>
                <a:latin typeface="+mn-lt"/>
              </a:rPr>
              <a:t>B - Il faut </a:t>
            </a:r>
            <a:r>
              <a:rPr lang="fr-FR" sz="2400" dirty="0">
                <a:solidFill>
                  <a:srgbClr val="002060"/>
                </a:solidFill>
                <a:latin typeface="+mn-lt"/>
              </a:rPr>
              <a:t>Donner du sérum bicarbonaté en cas d’acidose  </a:t>
            </a:r>
            <a:endParaRPr lang="fr-FR" altLang="fr-FR" sz="2400" dirty="0">
              <a:solidFill>
                <a:srgbClr val="002060"/>
              </a:solidFill>
              <a:latin typeface="+mn-lt"/>
            </a:endParaRPr>
          </a:p>
          <a:p>
            <a:pPr eaLnBrk="1" hangingPunct="1">
              <a:lnSpc>
                <a:spcPct val="150000"/>
              </a:lnSpc>
              <a:defRPr/>
            </a:pPr>
            <a:r>
              <a:rPr lang="fr-FR" altLang="fr-FR" sz="2400" dirty="0">
                <a:solidFill>
                  <a:srgbClr val="002060"/>
                </a:solidFill>
                <a:latin typeface="+mn-lt"/>
              </a:rPr>
              <a:t> </a:t>
            </a:r>
            <a:r>
              <a:rPr lang="fr-FR" altLang="fr-FR" sz="2400" dirty="0">
                <a:solidFill>
                  <a:srgbClr val="FF0000"/>
                </a:solidFill>
                <a:latin typeface="+mn-lt"/>
              </a:rPr>
              <a:t>C- La </a:t>
            </a:r>
            <a:r>
              <a:rPr lang="fr-FR" sz="2400" dirty="0">
                <a:solidFill>
                  <a:srgbClr val="FF0000"/>
                </a:solidFill>
                <a:latin typeface="+mn-lt"/>
              </a:rPr>
              <a:t>Réhydratation intraveineuse maintenue jusqu’à </a:t>
            </a:r>
          </a:p>
          <a:p>
            <a:pPr eaLnBrk="1" hangingPunct="1">
              <a:lnSpc>
                <a:spcPct val="150000"/>
              </a:lnSpc>
              <a:defRPr/>
            </a:pPr>
            <a:r>
              <a:rPr lang="fr-FR" sz="2400" dirty="0">
                <a:solidFill>
                  <a:srgbClr val="FF0000"/>
                </a:solidFill>
                <a:latin typeface="+mn-lt"/>
              </a:rPr>
              <a:t>         disparition des troubles digestifs</a:t>
            </a:r>
            <a:endParaRPr lang="fr-FR" altLang="fr-FR" sz="2400" dirty="0">
              <a:solidFill>
                <a:srgbClr val="FF0000"/>
              </a:solidFill>
              <a:latin typeface="+mn-lt"/>
            </a:endParaRPr>
          </a:p>
          <a:p>
            <a:pPr eaLnBrk="1" hangingPunct="1">
              <a:lnSpc>
                <a:spcPct val="150000"/>
              </a:lnSpc>
              <a:defRPr/>
            </a:pPr>
            <a:r>
              <a:rPr lang="fr-FR" altLang="fr-FR" sz="2400" dirty="0">
                <a:solidFill>
                  <a:srgbClr val="002060"/>
                </a:solidFill>
                <a:latin typeface="+mn-lt"/>
              </a:rPr>
              <a:t> D -La </a:t>
            </a:r>
            <a:r>
              <a:rPr lang="fr-FR" sz="2400" dirty="0">
                <a:solidFill>
                  <a:srgbClr val="002060"/>
                </a:solidFill>
                <a:latin typeface="+mn-lt"/>
              </a:rPr>
              <a:t>Réhydratation se fait avec des  solutés  glucosés 10%</a:t>
            </a:r>
          </a:p>
          <a:p>
            <a:pPr eaLnBrk="1" hangingPunct="1">
              <a:lnSpc>
                <a:spcPct val="150000"/>
              </a:lnSpc>
              <a:defRPr/>
            </a:pPr>
            <a:r>
              <a:rPr lang="fr-FR" altLang="fr-FR" sz="2400" dirty="0">
                <a:solidFill>
                  <a:srgbClr val="002060"/>
                </a:solidFill>
                <a:latin typeface="+mn-lt"/>
              </a:rPr>
              <a:t> </a:t>
            </a:r>
            <a:r>
              <a:rPr lang="fr-FR" altLang="fr-FR" sz="2400" dirty="0">
                <a:solidFill>
                  <a:srgbClr val="FF0000"/>
                </a:solidFill>
                <a:latin typeface="+mn-lt"/>
              </a:rPr>
              <a:t>E – Nécessite un remplissage par </a:t>
            </a:r>
            <a:r>
              <a:rPr lang="fr-FR" sz="2400" dirty="0">
                <a:solidFill>
                  <a:srgbClr val="FF0000"/>
                </a:solidFill>
                <a:latin typeface="+mn-lt"/>
              </a:rPr>
              <a:t>macromolécules si collapsus </a:t>
            </a:r>
            <a:endParaRPr lang="fr-FR" altLang="fr-FR" sz="2400" dirty="0">
              <a:solidFill>
                <a:srgbClr val="FF0000"/>
              </a:solidFill>
              <a:latin typeface="+mn-lt"/>
            </a:endParaRPr>
          </a:p>
        </p:txBody>
      </p:sp>
      <p:sp>
        <p:nvSpPr>
          <p:cNvPr id="15363" name="Rectangle 3">
            <a:extLst>
              <a:ext uri="{FF2B5EF4-FFF2-40B4-BE49-F238E27FC236}">
                <a16:creationId xmlns:a16="http://schemas.microsoft.com/office/drawing/2014/main" id="{7F22D47A-77D2-9317-30E7-0387A7434EC1}"/>
              </a:ext>
            </a:extLst>
          </p:cNvPr>
          <p:cNvSpPr>
            <a:spLocks noChangeArrowheads="1"/>
          </p:cNvSpPr>
          <p:nvPr/>
        </p:nvSpPr>
        <p:spPr bwMode="auto">
          <a:xfrm>
            <a:off x="584200" y="841375"/>
            <a:ext cx="8358188" cy="15684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Concernant la réanimation d’un patient ayant une insuffisance surrénalienne aigue :</a:t>
            </a:r>
          </a:p>
          <a:p>
            <a:pPr eaLnBrk="1" hangingPunct="1">
              <a:defRPr/>
            </a:pPr>
            <a:r>
              <a:rPr lang="fr-FR" altLang="fr-FR" sz="2400" b="1" dirty="0">
                <a:solidFill>
                  <a:srgbClr val="002060"/>
                </a:solidFill>
                <a:latin typeface="+mj-lt"/>
              </a:rPr>
              <a:t>:</a:t>
            </a:r>
          </a:p>
          <a:p>
            <a:pPr eaLnBrk="1" hangingPunct="1">
              <a:defRPr/>
            </a:pPr>
            <a:endParaRPr lang="fr-FR" altLang="fr-FR" sz="2400" b="1" dirty="0">
              <a:solidFill>
                <a:srgbClr val="00206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3C36DF7-C9D2-46C8-B512-9365F67F1A08}"/>
              </a:ext>
            </a:extLst>
          </p:cNvPr>
          <p:cNvSpPr txBox="1"/>
          <p:nvPr/>
        </p:nvSpPr>
        <p:spPr>
          <a:xfrm>
            <a:off x="647700" y="879475"/>
            <a:ext cx="7848600" cy="4926013"/>
          </a:xfrm>
          <a:prstGeom prst="rect">
            <a:avLst/>
          </a:prstGeom>
          <a:noFill/>
        </p:spPr>
        <p:txBody>
          <a:bodyPr>
            <a:spAutoFit/>
          </a:bodyPr>
          <a:lstStyle/>
          <a:p>
            <a:pPr eaLnBrk="1" hangingPunct="1">
              <a:defRPr/>
            </a:pPr>
            <a:r>
              <a:rPr lang="fr-FR" sz="2400" b="1" dirty="0">
                <a:solidFill>
                  <a:srgbClr val="002060"/>
                </a:solidFill>
                <a:latin typeface="+mj-lt"/>
              </a:rPr>
              <a:t>Un patient de 35 ans, suivi pour maladie d’Addison, est admis aux urgences pour vomissements, douleurs abdominales, hypotension (TA 85/50), et confusion.</a:t>
            </a:r>
          </a:p>
          <a:p>
            <a:pPr>
              <a:defRPr/>
            </a:pPr>
            <a:endParaRPr lang="fr-FR" dirty="0"/>
          </a:p>
          <a:p>
            <a:pPr>
              <a:defRPr/>
            </a:pPr>
            <a:r>
              <a:rPr lang="fr-FR" dirty="0"/>
              <a:t>       </a:t>
            </a:r>
            <a:r>
              <a:rPr lang="fr-FR" sz="2400" dirty="0">
                <a:solidFill>
                  <a:srgbClr val="002060"/>
                </a:solidFill>
                <a:latin typeface="+mn-lt"/>
              </a:rPr>
              <a:t>La conduite immédiate est :</a:t>
            </a:r>
          </a:p>
          <a:p>
            <a:pPr>
              <a:defRPr/>
            </a:pPr>
            <a:endParaRPr lang="fr-FR" sz="2400" dirty="0">
              <a:solidFill>
                <a:srgbClr val="002060"/>
              </a:solidFill>
              <a:latin typeface="+mn-lt"/>
            </a:endParaRPr>
          </a:p>
          <a:p>
            <a:pPr marL="342900" indent="-342900">
              <a:lnSpc>
                <a:spcPct val="150000"/>
              </a:lnSpc>
              <a:buFontTx/>
              <a:buAutoNum type="alphaUcPeriod"/>
              <a:defRPr/>
            </a:pPr>
            <a:r>
              <a:rPr lang="fr-FR" sz="2400" dirty="0">
                <a:solidFill>
                  <a:srgbClr val="002060"/>
                </a:solidFill>
                <a:latin typeface="+mn-lt"/>
              </a:rPr>
              <a:t>Injection IV de 100 mg d’hydrocortisone</a:t>
            </a:r>
          </a:p>
          <a:p>
            <a:pPr marL="342900" indent="-342900">
              <a:lnSpc>
                <a:spcPct val="150000"/>
              </a:lnSpc>
              <a:buFontTx/>
              <a:buAutoNum type="alphaUcPeriod"/>
              <a:defRPr/>
            </a:pPr>
            <a:r>
              <a:rPr lang="fr-FR" sz="2400" dirty="0" err="1">
                <a:solidFill>
                  <a:srgbClr val="002060"/>
                </a:solidFill>
                <a:latin typeface="+mn-lt"/>
              </a:rPr>
              <a:t>Boli</a:t>
            </a:r>
            <a:r>
              <a:rPr lang="fr-FR" sz="2400" dirty="0">
                <a:solidFill>
                  <a:srgbClr val="002060"/>
                </a:solidFill>
                <a:latin typeface="+mn-lt"/>
              </a:rPr>
              <a:t> de 50 mg toutes les 6h </a:t>
            </a:r>
          </a:p>
          <a:p>
            <a:pPr marL="342900" indent="-342900">
              <a:lnSpc>
                <a:spcPct val="150000"/>
              </a:lnSpc>
              <a:buFontTx/>
              <a:buAutoNum type="alphaUcPeriod"/>
              <a:defRPr/>
            </a:pPr>
            <a:r>
              <a:rPr lang="fr-FR" sz="2400" dirty="0">
                <a:solidFill>
                  <a:srgbClr val="002060"/>
                </a:solidFill>
                <a:latin typeface="+mn-lt"/>
              </a:rPr>
              <a:t> Perfusion continue de 200 mg d’hydrocortisone</a:t>
            </a:r>
          </a:p>
          <a:p>
            <a:pPr marL="342900" indent="-342900">
              <a:lnSpc>
                <a:spcPct val="150000"/>
              </a:lnSpc>
              <a:buFontTx/>
              <a:buAutoNum type="alphaUcPeriod"/>
              <a:defRPr/>
            </a:pPr>
            <a:r>
              <a:rPr lang="fr-FR" sz="2400" dirty="0">
                <a:solidFill>
                  <a:srgbClr val="002060"/>
                </a:solidFill>
                <a:latin typeface="+mn-lt"/>
              </a:rPr>
              <a:t>Attente du résultat du dosage du cortisol plasmatique </a:t>
            </a:r>
          </a:p>
          <a:p>
            <a:pPr marL="342900" indent="-342900">
              <a:lnSpc>
                <a:spcPct val="150000"/>
              </a:lnSpc>
              <a:buFontTx/>
              <a:buAutoNum type="alphaUcPeriod"/>
              <a:defRPr/>
            </a:pPr>
            <a:r>
              <a:rPr lang="fr-FR" sz="2400" dirty="0">
                <a:solidFill>
                  <a:srgbClr val="002060"/>
                </a:solidFill>
                <a:latin typeface="+mn-lt"/>
              </a:rPr>
              <a:t>Hydrocortisone 10 mg per os toutes les 6h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2256322-16BE-523A-F75C-150E04BFE21D}"/>
              </a:ext>
            </a:extLst>
          </p:cNvPr>
          <p:cNvSpPr txBox="1"/>
          <p:nvPr/>
        </p:nvSpPr>
        <p:spPr>
          <a:xfrm>
            <a:off x="647700" y="879475"/>
            <a:ext cx="7848600" cy="4926013"/>
          </a:xfrm>
          <a:prstGeom prst="rect">
            <a:avLst/>
          </a:prstGeom>
          <a:noFill/>
        </p:spPr>
        <p:txBody>
          <a:bodyPr>
            <a:spAutoFit/>
          </a:bodyPr>
          <a:lstStyle/>
          <a:p>
            <a:pPr eaLnBrk="1" hangingPunct="1">
              <a:defRPr/>
            </a:pPr>
            <a:r>
              <a:rPr lang="fr-FR" sz="2400" b="1" dirty="0">
                <a:solidFill>
                  <a:srgbClr val="002060"/>
                </a:solidFill>
                <a:latin typeface="+mj-lt"/>
              </a:rPr>
              <a:t>Un patient de 35 ans, suivi pour maladie d’Addison, est admis aux urgences pour vomissements, douleurs abdominales, hypotension (TA 85/50), et confusion.</a:t>
            </a:r>
          </a:p>
          <a:p>
            <a:pPr>
              <a:defRPr/>
            </a:pPr>
            <a:endParaRPr lang="fr-FR" dirty="0"/>
          </a:p>
          <a:p>
            <a:pPr>
              <a:defRPr/>
            </a:pPr>
            <a:r>
              <a:rPr lang="fr-FR" dirty="0"/>
              <a:t>       </a:t>
            </a:r>
            <a:r>
              <a:rPr lang="fr-FR" sz="2400" dirty="0">
                <a:solidFill>
                  <a:srgbClr val="002060"/>
                </a:solidFill>
                <a:latin typeface="+mn-lt"/>
              </a:rPr>
              <a:t>La conduite immédiate est :</a:t>
            </a:r>
          </a:p>
          <a:p>
            <a:pPr>
              <a:defRPr/>
            </a:pPr>
            <a:endParaRPr lang="fr-FR" sz="2400" dirty="0">
              <a:solidFill>
                <a:srgbClr val="002060"/>
              </a:solidFill>
              <a:latin typeface="+mn-lt"/>
            </a:endParaRPr>
          </a:p>
          <a:p>
            <a:pPr marL="342900" indent="-342900">
              <a:lnSpc>
                <a:spcPct val="150000"/>
              </a:lnSpc>
              <a:buFontTx/>
              <a:buAutoNum type="alphaUcPeriod"/>
              <a:defRPr/>
            </a:pPr>
            <a:r>
              <a:rPr lang="fr-FR" sz="2400" dirty="0">
                <a:solidFill>
                  <a:srgbClr val="FF0000"/>
                </a:solidFill>
                <a:latin typeface="+mn-lt"/>
              </a:rPr>
              <a:t>Injection IV de 100 mg d’hydrocortisone</a:t>
            </a:r>
          </a:p>
          <a:p>
            <a:pPr marL="342900" indent="-342900">
              <a:lnSpc>
                <a:spcPct val="150000"/>
              </a:lnSpc>
              <a:buFontTx/>
              <a:buAutoNum type="alphaUcPeriod"/>
              <a:defRPr/>
            </a:pPr>
            <a:r>
              <a:rPr lang="fr-FR" sz="2400" dirty="0" err="1">
                <a:solidFill>
                  <a:srgbClr val="FF0000"/>
                </a:solidFill>
                <a:latin typeface="+mn-lt"/>
              </a:rPr>
              <a:t>Boli</a:t>
            </a:r>
            <a:r>
              <a:rPr lang="fr-FR" sz="2400" dirty="0">
                <a:solidFill>
                  <a:srgbClr val="FF0000"/>
                </a:solidFill>
                <a:latin typeface="+mn-lt"/>
              </a:rPr>
              <a:t> de 50 mg toutes les 6h </a:t>
            </a:r>
          </a:p>
          <a:p>
            <a:pPr marL="342900" indent="-342900">
              <a:lnSpc>
                <a:spcPct val="150000"/>
              </a:lnSpc>
              <a:buFontTx/>
              <a:buAutoNum type="alphaUcPeriod"/>
              <a:defRPr/>
            </a:pPr>
            <a:r>
              <a:rPr lang="fr-FR" sz="2400" dirty="0">
                <a:solidFill>
                  <a:srgbClr val="FF0000"/>
                </a:solidFill>
                <a:latin typeface="+mn-lt"/>
              </a:rPr>
              <a:t> Perfusion continue de 200 mg d’hydrocortisone</a:t>
            </a:r>
          </a:p>
          <a:p>
            <a:pPr marL="342900" indent="-342900">
              <a:lnSpc>
                <a:spcPct val="150000"/>
              </a:lnSpc>
              <a:buFontTx/>
              <a:buAutoNum type="alphaUcPeriod"/>
              <a:defRPr/>
            </a:pPr>
            <a:r>
              <a:rPr lang="fr-FR" sz="2400" dirty="0">
                <a:solidFill>
                  <a:srgbClr val="002060"/>
                </a:solidFill>
                <a:latin typeface="+mn-lt"/>
              </a:rPr>
              <a:t>Attente du résultat du dosage du cortisol plasmatique </a:t>
            </a:r>
          </a:p>
          <a:p>
            <a:pPr marL="342900" indent="-342900">
              <a:lnSpc>
                <a:spcPct val="150000"/>
              </a:lnSpc>
              <a:buFontTx/>
              <a:buAutoNum type="alphaUcPeriod"/>
              <a:defRPr/>
            </a:pPr>
            <a:r>
              <a:rPr lang="fr-FR" sz="2400" dirty="0">
                <a:solidFill>
                  <a:srgbClr val="002060"/>
                </a:solidFill>
                <a:latin typeface="+mn-lt"/>
              </a:rPr>
              <a:t>Hydrocortisone 10 mg per os toutes les 6h</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5651845-5F8C-8ED7-7B0B-00BCC69A2E44}"/>
              </a:ext>
            </a:extLst>
          </p:cNvPr>
          <p:cNvSpPr txBox="1"/>
          <p:nvPr/>
        </p:nvSpPr>
        <p:spPr>
          <a:xfrm>
            <a:off x="31750" y="1557338"/>
            <a:ext cx="9112250" cy="4467225"/>
          </a:xfrm>
          <a:prstGeom prst="rect">
            <a:avLst/>
          </a:prstGeom>
          <a:noFill/>
        </p:spPr>
        <p:txBody>
          <a:bodyPr>
            <a:spAutoFit/>
          </a:bodyPr>
          <a:lstStyle/>
          <a:p>
            <a:pPr>
              <a:defRPr/>
            </a:pPr>
            <a:r>
              <a:rPr lang="fr-FR" sz="2400" b="1" dirty="0">
                <a:solidFill>
                  <a:srgbClr val="002060"/>
                </a:solidFill>
                <a:latin typeface="+mj-lt"/>
              </a:rPr>
              <a:t>En cas de chirurgie chez un patient connu porteur d’une  insuffisance surrénalienne lente :</a:t>
            </a:r>
          </a:p>
          <a:p>
            <a:pPr>
              <a:defRPr/>
            </a:pPr>
            <a:endParaRPr lang="fr-FR" sz="2400" b="1" dirty="0">
              <a:solidFill>
                <a:srgbClr val="002060"/>
              </a:solidFill>
              <a:latin typeface="+mj-lt"/>
            </a:endParaRPr>
          </a:p>
          <a:p>
            <a:pPr>
              <a:lnSpc>
                <a:spcPct val="150000"/>
              </a:lnSpc>
              <a:defRPr/>
            </a:pPr>
            <a:r>
              <a:rPr lang="fr-FR" dirty="0"/>
              <a:t> </a:t>
            </a:r>
            <a:r>
              <a:rPr lang="fr-FR" sz="2400" dirty="0">
                <a:solidFill>
                  <a:srgbClr val="002060"/>
                </a:solidFill>
                <a:latin typeface="+mn-lt"/>
              </a:rPr>
              <a:t>A. Doubler la dose d’hydrocortisone  la veille de l’intervention</a:t>
            </a:r>
          </a:p>
          <a:p>
            <a:pPr>
              <a:lnSpc>
                <a:spcPct val="150000"/>
              </a:lnSpc>
              <a:defRPr/>
            </a:pPr>
            <a:r>
              <a:rPr lang="fr-FR" sz="2400" dirty="0">
                <a:solidFill>
                  <a:srgbClr val="002060"/>
                </a:solidFill>
                <a:latin typeface="+mn-lt"/>
              </a:rPr>
              <a:t>B. </a:t>
            </a:r>
            <a:r>
              <a:rPr lang="fr-FR" sz="2400" dirty="0" err="1">
                <a:solidFill>
                  <a:srgbClr val="002060"/>
                </a:solidFill>
                <a:latin typeface="+mn-lt"/>
              </a:rPr>
              <a:t>Boli</a:t>
            </a:r>
            <a:r>
              <a:rPr lang="fr-FR" sz="2400" dirty="0">
                <a:solidFill>
                  <a:srgbClr val="002060"/>
                </a:solidFill>
                <a:latin typeface="+mn-lt"/>
              </a:rPr>
              <a:t> de </a:t>
            </a:r>
            <a:r>
              <a:rPr lang="fr-FR" sz="2400" dirty="0"/>
              <a:t>50 </a:t>
            </a:r>
            <a:r>
              <a:rPr lang="fr-FR" sz="2400" dirty="0">
                <a:solidFill>
                  <a:srgbClr val="002060"/>
                </a:solidFill>
                <a:latin typeface="+mn-lt"/>
              </a:rPr>
              <a:t>mg toutes les 6 heures jusqu’à la reprise de l’alimentation</a:t>
            </a:r>
          </a:p>
          <a:p>
            <a:pPr>
              <a:lnSpc>
                <a:spcPct val="150000"/>
              </a:lnSpc>
              <a:defRPr/>
            </a:pPr>
            <a:r>
              <a:rPr lang="fr-FR" sz="2400" dirty="0">
                <a:solidFill>
                  <a:srgbClr val="002060"/>
                </a:solidFill>
                <a:latin typeface="+mn-lt"/>
              </a:rPr>
              <a:t>C. Administrer un bolus d’hydrocortisone IV avant l’induction</a:t>
            </a:r>
          </a:p>
          <a:p>
            <a:pPr>
              <a:lnSpc>
                <a:spcPct val="150000"/>
              </a:lnSpc>
              <a:defRPr/>
            </a:pPr>
            <a:r>
              <a:rPr lang="fr-FR" sz="2400" dirty="0">
                <a:solidFill>
                  <a:srgbClr val="002060"/>
                </a:solidFill>
                <a:latin typeface="+mn-lt"/>
              </a:rPr>
              <a:t>D. Maintenir la fludrocortisone au même dosage</a:t>
            </a:r>
          </a:p>
          <a:p>
            <a:pPr>
              <a:lnSpc>
                <a:spcPct val="150000"/>
              </a:lnSpc>
              <a:defRPr/>
            </a:pPr>
            <a:r>
              <a:rPr lang="fr-FR" sz="2400" dirty="0">
                <a:solidFill>
                  <a:srgbClr val="002060"/>
                </a:solidFill>
                <a:latin typeface="+mn-lt"/>
              </a:rPr>
              <a:t>E. Aucun apport d’hydrocortisone injectable si le patient est  </a:t>
            </a:r>
          </a:p>
          <a:p>
            <a:pPr>
              <a:lnSpc>
                <a:spcPct val="150000"/>
              </a:lnSpc>
              <a:defRPr/>
            </a:pPr>
            <a:r>
              <a:rPr lang="fr-FR" sz="2400" dirty="0">
                <a:solidFill>
                  <a:srgbClr val="002060"/>
                </a:solidFill>
                <a:latin typeface="+mn-lt"/>
              </a:rPr>
              <a:t>    asymptomatique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E17B940-D9BF-FC09-FCB8-F1FDE91D5E36}"/>
              </a:ext>
            </a:extLst>
          </p:cNvPr>
          <p:cNvSpPr txBox="1"/>
          <p:nvPr/>
        </p:nvSpPr>
        <p:spPr>
          <a:xfrm>
            <a:off x="31750" y="1557338"/>
            <a:ext cx="9112250" cy="4467225"/>
          </a:xfrm>
          <a:prstGeom prst="rect">
            <a:avLst/>
          </a:prstGeom>
          <a:noFill/>
        </p:spPr>
        <p:txBody>
          <a:bodyPr>
            <a:spAutoFit/>
          </a:bodyPr>
          <a:lstStyle/>
          <a:p>
            <a:pPr>
              <a:defRPr/>
            </a:pPr>
            <a:r>
              <a:rPr lang="fr-FR" sz="2400" b="1" dirty="0">
                <a:solidFill>
                  <a:srgbClr val="002060"/>
                </a:solidFill>
                <a:latin typeface="+mj-lt"/>
              </a:rPr>
              <a:t>En cas de chirurgie chez un patient connu porteur d’une  insuffisance surrénalienne lente :</a:t>
            </a:r>
          </a:p>
          <a:p>
            <a:pPr>
              <a:defRPr/>
            </a:pPr>
            <a:endParaRPr lang="fr-FR" sz="2400" b="1" dirty="0">
              <a:solidFill>
                <a:srgbClr val="002060"/>
              </a:solidFill>
              <a:latin typeface="+mj-lt"/>
            </a:endParaRPr>
          </a:p>
          <a:p>
            <a:pPr>
              <a:lnSpc>
                <a:spcPct val="150000"/>
              </a:lnSpc>
              <a:defRPr/>
            </a:pPr>
            <a:r>
              <a:rPr lang="fr-FR" dirty="0"/>
              <a:t> </a:t>
            </a:r>
            <a:r>
              <a:rPr lang="fr-FR" sz="2400" dirty="0">
                <a:solidFill>
                  <a:srgbClr val="FF0000"/>
                </a:solidFill>
                <a:latin typeface="+mn-lt"/>
              </a:rPr>
              <a:t>A. Doubler la dose d’hydrocortisone  la veille de l’intervention</a:t>
            </a:r>
          </a:p>
          <a:p>
            <a:pPr>
              <a:lnSpc>
                <a:spcPct val="150000"/>
              </a:lnSpc>
              <a:defRPr/>
            </a:pPr>
            <a:r>
              <a:rPr lang="fr-FR" sz="2400" dirty="0">
                <a:solidFill>
                  <a:srgbClr val="FF0000"/>
                </a:solidFill>
                <a:latin typeface="+mn-lt"/>
              </a:rPr>
              <a:t>B. </a:t>
            </a:r>
            <a:r>
              <a:rPr lang="fr-FR" sz="2400" dirty="0" err="1">
                <a:solidFill>
                  <a:srgbClr val="FF0000"/>
                </a:solidFill>
                <a:latin typeface="+mn-lt"/>
              </a:rPr>
              <a:t>Boli</a:t>
            </a:r>
            <a:r>
              <a:rPr lang="fr-FR" sz="2400" dirty="0">
                <a:solidFill>
                  <a:srgbClr val="FF0000"/>
                </a:solidFill>
                <a:latin typeface="+mn-lt"/>
              </a:rPr>
              <a:t> de </a:t>
            </a:r>
            <a:r>
              <a:rPr lang="fr-FR" sz="2400" dirty="0">
                <a:solidFill>
                  <a:srgbClr val="FF0000"/>
                </a:solidFill>
              </a:rPr>
              <a:t>50 </a:t>
            </a:r>
            <a:r>
              <a:rPr lang="fr-FR" sz="2400" dirty="0">
                <a:solidFill>
                  <a:srgbClr val="FF0000"/>
                </a:solidFill>
                <a:latin typeface="+mn-lt"/>
              </a:rPr>
              <a:t>mg toutes les 6 heures jusqu’à la reprise de l’alimentation</a:t>
            </a:r>
          </a:p>
          <a:p>
            <a:pPr>
              <a:lnSpc>
                <a:spcPct val="150000"/>
              </a:lnSpc>
              <a:defRPr/>
            </a:pPr>
            <a:r>
              <a:rPr lang="fr-FR" sz="2400" dirty="0">
                <a:solidFill>
                  <a:srgbClr val="FF0000"/>
                </a:solidFill>
                <a:latin typeface="+mn-lt"/>
              </a:rPr>
              <a:t>C. Administrer un bolus d’hydrocortisone IV avant l’induction</a:t>
            </a:r>
          </a:p>
          <a:p>
            <a:pPr>
              <a:lnSpc>
                <a:spcPct val="150000"/>
              </a:lnSpc>
              <a:defRPr/>
            </a:pPr>
            <a:r>
              <a:rPr lang="fr-FR" sz="2400" dirty="0">
                <a:solidFill>
                  <a:srgbClr val="002060"/>
                </a:solidFill>
                <a:latin typeface="+mn-lt"/>
              </a:rPr>
              <a:t>D. Maintenir la fludrocortisone au même dosage</a:t>
            </a:r>
          </a:p>
          <a:p>
            <a:pPr>
              <a:lnSpc>
                <a:spcPct val="150000"/>
              </a:lnSpc>
              <a:defRPr/>
            </a:pPr>
            <a:r>
              <a:rPr lang="fr-FR" sz="2400" dirty="0">
                <a:solidFill>
                  <a:srgbClr val="002060"/>
                </a:solidFill>
                <a:latin typeface="+mn-lt"/>
              </a:rPr>
              <a:t>E. Aucun apport d’hydrocortisone injectable si le patient est  </a:t>
            </a:r>
          </a:p>
          <a:p>
            <a:pPr>
              <a:lnSpc>
                <a:spcPct val="150000"/>
              </a:lnSpc>
              <a:defRPr/>
            </a:pPr>
            <a:r>
              <a:rPr lang="fr-FR" sz="2400" dirty="0">
                <a:solidFill>
                  <a:srgbClr val="002060"/>
                </a:solidFill>
                <a:latin typeface="+mn-lt"/>
              </a:rPr>
              <a:t>    asymptomatique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8D1EDD9-A0E2-9468-232B-1114FABEA3F7}"/>
              </a:ext>
            </a:extLst>
          </p:cNvPr>
          <p:cNvSpPr txBox="1"/>
          <p:nvPr/>
        </p:nvSpPr>
        <p:spPr>
          <a:xfrm>
            <a:off x="539750" y="404813"/>
            <a:ext cx="8064500" cy="6129337"/>
          </a:xfrm>
          <a:prstGeom prst="rect">
            <a:avLst/>
          </a:prstGeom>
          <a:noFill/>
        </p:spPr>
        <p:txBody>
          <a:bodyPr>
            <a:spAutoFit/>
          </a:bodyPr>
          <a:lstStyle/>
          <a:p>
            <a:pPr>
              <a:lnSpc>
                <a:spcPct val="150000"/>
              </a:lnSpc>
              <a:defRPr/>
            </a:pPr>
            <a:r>
              <a:rPr lang="fr-FR" sz="2400" b="1" dirty="0">
                <a:solidFill>
                  <a:srgbClr val="002060"/>
                </a:solidFill>
                <a:latin typeface="+mn-lt"/>
              </a:rPr>
              <a:t>Mme L., 32 ans, est amenée aux urgences pour asthénie intense, vomissements, douleurs abdominales, et sensation de malaise. Elle se plaint d’un teint "bronzé" persistant depuis plusieurs mois, malgré une faible exposition au soleil.</a:t>
            </a:r>
          </a:p>
          <a:p>
            <a:pPr>
              <a:lnSpc>
                <a:spcPct val="150000"/>
              </a:lnSpc>
              <a:defRPr/>
            </a:pPr>
            <a:r>
              <a:rPr lang="fr-FR" sz="2400" b="1" dirty="0">
                <a:solidFill>
                  <a:srgbClr val="002060"/>
                </a:solidFill>
                <a:latin typeface="+mn-lt"/>
              </a:rPr>
              <a:t> À l’examen :TA : 90/60 </a:t>
            </a:r>
            <a:r>
              <a:rPr lang="fr-FR" sz="2400" b="1" dirty="0" err="1">
                <a:solidFill>
                  <a:srgbClr val="002060"/>
                </a:solidFill>
                <a:latin typeface="+mn-lt"/>
              </a:rPr>
              <a:t>mmHgFC</a:t>
            </a:r>
            <a:r>
              <a:rPr lang="fr-FR" sz="2400" b="1" dirty="0">
                <a:solidFill>
                  <a:srgbClr val="002060"/>
                </a:solidFill>
                <a:latin typeface="+mn-lt"/>
              </a:rPr>
              <a:t> : 100 bpm Température : 37,5°C Muqueuses un peu sèches </a:t>
            </a:r>
          </a:p>
          <a:p>
            <a:pPr>
              <a:lnSpc>
                <a:spcPct val="150000"/>
              </a:lnSpc>
              <a:defRPr/>
            </a:pPr>
            <a:r>
              <a:rPr lang="fr-FR" sz="2400" b="1" dirty="0">
                <a:solidFill>
                  <a:srgbClr val="002060"/>
                </a:solidFill>
                <a:latin typeface="+mn-lt"/>
              </a:rPr>
              <a:t>Glycémie capillaire : 0,55 g/L     Ionogramme : Na+ : 124 </a:t>
            </a:r>
            <a:r>
              <a:rPr lang="fr-FR" sz="2400" b="1" dirty="0" err="1">
                <a:solidFill>
                  <a:srgbClr val="002060"/>
                </a:solidFill>
                <a:latin typeface="+mn-lt"/>
              </a:rPr>
              <a:t>mmol</a:t>
            </a:r>
            <a:r>
              <a:rPr lang="fr-FR" sz="2400" b="1" dirty="0">
                <a:solidFill>
                  <a:srgbClr val="002060"/>
                </a:solidFill>
                <a:latin typeface="+mn-lt"/>
              </a:rPr>
              <a:t>/L ; K+ : 5,6 </a:t>
            </a:r>
            <a:r>
              <a:rPr lang="fr-FR" sz="2400" b="1" dirty="0" err="1">
                <a:solidFill>
                  <a:srgbClr val="002060"/>
                </a:solidFill>
                <a:latin typeface="+mn-lt"/>
              </a:rPr>
              <a:t>mmol</a:t>
            </a:r>
            <a:r>
              <a:rPr lang="fr-FR" sz="2400" b="1" dirty="0">
                <a:solidFill>
                  <a:srgbClr val="002060"/>
                </a:solidFill>
                <a:latin typeface="+mn-lt"/>
              </a:rPr>
              <a:t>/L</a:t>
            </a:r>
          </a:p>
          <a:p>
            <a:pPr>
              <a:lnSpc>
                <a:spcPct val="150000"/>
              </a:lnSpc>
              <a:defRPr/>
            </a:pPr>
            <a:r>
              <a:rPr lang="fr-FR" sz="2400" b="1" dirty="0">
                <a:solidFill>
                  <a:srgbClr val="002060"/>
                </a:solidFill>
                <a:latin typeface="+mn-lt"/>
              </a:rPr>
              <a:t>Elle a comme antécédent une hypothyroïdie par thyroïdite d’Hashimoto sous </a:t>
            </a:r>
            <a:r>
              <a:rPr lang="fr-FR" sz="2400" b="1" dirty="0" err="1">
                <a:solidFill>
                  <a:srgbClr val="002060"/>
                </a:solidFill>
                <a:latin typeface="+mn-lt"/>
              </a:rPr>
              <a:t>levothyroxine</a:t>
            </a:r>
            <a:r>
              <a:rPr lang="fr-FR" sz="2400" b="1" dirty="0">
                <a:solidFill>
                  <a:srgbClr val="002060"/>
                </a:solidFill>
                <a:latin typeface="+mn-lt"/>
              </a:rPr>
              <a:t> </a:t>
            </a:r>
          </a:p>
          <a:p>
            <a:pPr>
              <a:lnSpc>
                <a:spcPct val="150000"/>
              </a:lnSpc>
              <a:defRPr/>
            </a:pPr>
            <a:r>
              <a:rPr lang="fr-FR" sz="2400" b="1" dirty="0">
                <a:solidFill>
                  <a:srgbClr val="002060"/>
                </a:solidFill>
                <a:latin typeface="+mn-lt"/>
              </a:rPr>
              <a:t>Une insuffisance surrénalienne aigue est suspectée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D08C1030-FBD6-4FD7-15D8-B92267F681E1}"/>
              </a:ext>
            </a:extLst>
          </p:cNvPr>
          <p:cNvSpPr>
            <a:spLocks noChangeArrowheads="1"/>
          </p:cNvSpPr>
          <p:nvPr/>
        </p:nvSpPr>
        <p:spPr bwMode="auto">
          <a:xfrm>
            <a:off x="285750" y="1143000"/>
            <a:ext cx="8286750" cy="3970338"/>
          </a:xfrm>
          <a:prstGeom prst="rect">
            <a:avLst/>
          </a:prstGeom>
          <a:noFill/>
          <a:ln w="9525">
            <a:noFill/>
            <a:miter lim="800000"/>
            <a:headEnd/>
            <a:tailEnd/>
          </a:ln>
        </p:spPr>
        <p:txBody>
          <a:bodyPr>
            <a:spAutoFit/>
          </a:bodyPr>
          <a:lstStyle/>
          <a:p>
            <a:pPr>
              <a:defRPr/>
            </a:pPr>
            <a:r>
              <a:rPr lang="fr-FR" altLang="fr-FR" sz="2400" b="1" dirty="0">
                <a:solidFill>
                  <a:srgbClr val="002060"/>
                </a:solidFill>
                <a:latin typeface="+mn-lt"/>
              </a:rPr>
              <a:t>Le  bilan que vous allez demandez en urgence pour confirmer votre diagnostic est :</a:t>
            </a:r>
          </a:p>
          <a:p>
            <a:pPr>
              <a:defRPr/>
            </a:pPr>
            <a:endParaRPr lang="fr-FR" altLang="fr-FR" sz="2400" b="1" dirty="0">
              <a:solidFill>
                <a:srgbClr val="002060"/>
              </a:solidFill>
              <a:latin typeface="+mn-lt"/>
            </a:endParaRPr>
          </a:p>
          <a:p>
            <a:pPr>
              <a:lnSpc>
                <a:spcPct val="150000"/>
              </a:lnSpc>
              <a:defRPr/>
            </a:pPr>
            <a:r>
              <a:rPr lang="fr-FR" altLang="fr-FR" sz="2400" dirty="0">
                <a:solidFill>
                  <a:srgbClr val="002060"/>
                </a:solidFill>
                <a:latin typeface="+mj-lt"/>
              </a:rPr>
              <a:t>A. Test au </a:t>
            </a:r>
            <a:r>
              <a:rPr lang="fr-FR" altLang="fr-FR" sz="2400" dirty="0" err="1">
                <a:solidFill>
                  <a:srgbClr val="002060"/>
                </a:solidFill>
                <a:latin typeface="+mj-lt"/>
              </a:rPr>
              <a:t>synacthène</a:t>
            </a:r>
            <a:r>
              <a:rPr lang="fr-FR" altLang="fr-FR" sz="2400" dirty="0">
                <a:solidFill>
                  <a:srgbClr val="002060"/>
                </a:solidFill>
                <a:latin typeface="+mj-lt"/>
              </a:rPr>
              <a:t> </a:t>
            </a:r>
          </a:p>
          <a:p>
            <a:pPr>
              <a:lnSpc>
                <a:spcPct val="150000"/>
              </a:lnSpc>
              <a:defRPr/>
            </a:pPr>
            <a:r>
              <a:rPr lang="fr-FR" altLang="fr-FR" sz="2400" dirty="0">
                <a:solidFill>
                  <a:srgbClr val="002060"/>
                </a:solidFill>
                <a:latin typeface="+mj-lt"/>
              </a:rPr>
              <a:t>B. Cortisol plasmatique </a:t>
            </a:r>
          </a:p>
          <a:p>
            <a:pPr>
              <a:lnSpc>
                <a:spcPct val="150000"/>
              </a:lnSpc>
              <a:defRPr/>
            </a:pPr>
            <a:r>
              <a:rPr lang="fr-FR" altLang="fr-FR" sz="2400" dirty="0">
                <a:solidFill>
                  <a:srgbClr val="002060"/>
                </a:solidFill>
                <a:latin typeface="+mj-lt"/>
              </a:rPr>
              <a:t>C. ACTH plasmatique </a:t>
            </a:r>
          </a:p>
          <a:p>
            <a:pPr>
              <a:lnSpc>
                <a:spcPct val="150000"/>
              </a:lnSpc>
              <a:defRPr/>
            </a:pPr>
            <a:r>
              <a:rPr lang="fr-FR" altLang="fr-FR" sz="2400" dirty="0">
                <a:solidFill>
                  <a:srgbClr val="002060"/>
                </a:solidFill>
                <a:latin typeface="+mj-lt"/>
              </a:rPr>
              <a:t>D. Cortisol libre urinaire</a:t>
            </a:r>
          </a:p>
          <a:p>
            <a:pPr>
              <a:lnSpc>
                <a:spcPct val="150000"/>
              </a:lnSpc>
              <a:defRPr/>
            </a:pPr>
            <a:r>
              <a:rPr lang="fr-FR" altLang="fr-FR" sz="2400" dirty="0">
                <a:solidFill>
                  <a:srgbClr val="002060"/>
                </a:solidFill>
                <a:latin typeface="+mj-lt"/>
              </a:rPr>
              <a:t>E. TSH plasmatique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57EAAAB9-4684-5168-CBCE-02B9285BC7EC}"/>
              </a:ext>
            </a:extLst>
          </p:cNvPr>
          <p:cNvSpPr>
            <a:spLocks noChangeArrowheads="1"/>
          </p:cNvSpPr>
          <p:nvPr/>
        </p:nvSpPr>
        <p:spPr bwMode="auto">
          <a:xfrm>
            <a:off x="285750" y="1143000"/>
            <a:ext cx="8286750" cy="3970338"/>
          </a:xfrm>
          <a:prstGeom prst="rect">
            <a:avLst/>
          </a:prstGeom>
          <a:noFill/>
          <a:ln w="9525">
            <a:noFill/>
            <a:miter lim="800000"/>
            <a:headEnd/>
            <a:tailEnd/>
          </a:ln>
        </p:spPr>
        <p:txBody>
          <a:bodyPr>
            <a:spAutoFit/>
          </a:bodyPr>
          <a:lstStyle/>
          <a:p>
            <a:pPr>
              <a:defRPr/>
            </a:pPr>
            <a:r>
              <a:rPr lang="fr-FR" altLang="fr-FR" sz="2400" b="1" dirty="0">
                <a:solidFill>
                  <a:srgbClr val="002060"/>
                </a:solidFill>
                <a:latin typeface="+mn-lt"/>
              </a:rPr>
              <a:t>Le  bilan que vous allez demandez en urgence pour confirmer votre diagnostic est :</a:t>
            </a:r>
          </a:p>
          <a:p>
            <a:pPr>
              <a:defRPr/>
            </a:pPr>
            <a:endParaRPr lang="fr-FR" altLang="fr-FR" sz="2400" b="1" dirty="0">
              <a:solidFill>
                <a:srgbClr val="002060"/>
              </a:solidFill>
              <a:latin typeface="+mn-lt"/>
            </a:endParaRPr>
          </a:p>
          <a:p>
            <a:pPr>
              <a:lnSpc>
                <a:spcPct val="150000"/>
              </a:lnSpc>
              <a:defRPr/>
            </a:pPr>
            <a:r>
              <a:rPr lang="fr-FR" altLang="fr-FR" sz="2400" dirty="0">
                <a:solidFill>
                  <a:srgbClr val="002060"/>
                </a:solidFill>
                <a:latin typeface="+mj-lt"/>
              </a:rPr>
              <a:t>A. Test au </a:t>
            </a:r>
            <a:r>
              <a:rPr lang="fr-FR" altLang="fr-FR" sz="2400" dirty="0" err="1">
                <a:solidFill>
                  <a:srgbClr val="002060"/>
                </a:solidFill>
                <a:latin typeface="+mj-lt"/>
              </a:rPr>
              <a:t>synacthène</a:t>
            </a:r>
            <a:r>
              <a:rPr lang="fr-FR" altLang="fr-FR" sz="2400" dirty="0">
                <a:solidFill>
                  <a:srgbClr val="002060"/>
                </a:solidFill>
                <a:latin typeface="+mj-lt"/>
              </a:rPr>
              <a:t> </a:t>
            </a:r>
          </a:p>
          <a:p>
            <a:pPr>
              <a:lnSpc>
                <a:spcPct val="150000"/>
              </a:lnSpc>
              <a:defRPr/>
            </a:pPr>
            <a:r>
              <a:rPr lang="fr-FR" altLang="fr-FR" sz="2400" dirty="0">
                <a:solidFill>
                  <a:srgbClr val="FF0000"/>
                </a:solidFill>
                <a:latin typeface="+mj-lt"/>
              </a:rPr>
              <a:t>B. Cortisol plasmatique </a:t>
            </a:r>
          </a:p>
          <a:p>
            <a:pPr>
              <a:lnSpc>
                <a:spcPct val="150000"/>
              </a:lnSpc>
              <a:defRPr/>
            </a:pPr>
            <a:r>
              <a:rPr lang="fr-FR" altLang="fr-FR" sz="2400" dirty="0">
                <a:solidFill>
                  <a:srgbClr val="002060"/>
                </a:solidFill>
                <a:latin typeface="+mj-lt"/>
              </a:rPr>
              <a:t>C. ACTH plasmatique </a:t>
            </a:r>
          </a:p>
          <a:p>
            <a:pPr>
              <a:lnSpc>
                <a:spcPct val="150000"/>
              </a:lnSpc>
              <a:defRPr/>
            </a:pPr>
            <a:r>
              <a:rPr lang="fr-FR" altLang="fr-FR" sz="2400" dirty="0">
                <a:solidFill>
                  <a:srgbClr val="002060"/>
                </a:solidFill>
                <a:latin typeface="+mj-lt"/>
              </a:rPr>
              <a:t>D. Cortisol libre urinaire</a:t>
            </a:r>
          </a:p>
          <a:p>
            <a:pPr>
              <a:lnSpc>
                <a:spcPct val="150000"/>
              </a:lnSpc>
              <a:defRPr/>
            </a:pPr>
            <a:r>
              <a:rPr lang="fr-FR" altLang="fr-FR" sz="2400" dirty="0">
                <a:solidFill>
                  <a:srgbClr val="002060"/>
                </a:solidFill>
                <a:latin typeface="+mj-lt"/>
              </a:rPr>
              <a:t>E. TSH plasmatique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Image 4">
            <a:extLst>
              <a:ext uri="{FF2B5EF4-FFF2-40B4-BE49-F238E27FC236}">
                <a16:creationId xmlns:a16="http://schemas.microsoft.com/office/drawing/2014/main" id="{A0A3F381-5CEB-7878-80EF-6E51FE7A05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400050"/>
            <a:ext cx="716915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Rectangle 7">
            <a:extLst>
              <a:ext uri="{FF2B5EF4-FFF2-40B4-BE49-F238E27FC236}">
                <a16:creationId xmlns:a16="http://schemas.microsoft.com/office/drawing/2014/main" id="{1593F7FC-E14F-33A5-A6F5-20CCDD3EE127}"/>
              </a:ext>
            </a:extLst>
          </p:cNvPr>
          <p:cNvSpPr>
            <a:spLocks noChangeArrowheads="1"/>
          </p:cNvSpPr>
          <p:nvPr/>
        </p:nvSpPr>
        <p:spPr bwMode="auto">
          <a:xfrm>
            <a:off x="1403350" y="3789363"/>
            <a:ext cx="6481763"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2708" name="Rectangle 8">
            <a:extLst>
              <a:ext uri="{FF2B5EF4-FFF2-40B4-BE49-F238E27FC236}">
                <a16:creationId xmlns:a16="http://schemas.microsoft.com/office/drawing/2014/main" id="{32743784-16D3-E8E5-F26E-C408897A0D36}"/>
              </a:ext>
            </a:extLst>
          </p:cNvPr>
          <p:cNvSpPr>
            <a:spLocks noChangeArrowheads="1"/>
          </p:cNvSpPr>
          <p:nvPr/>
        </p:nvSpPr>
        <p:spPr bwMode="auto">
          <a:xfrm>
            <a:off x="1382713" y="4703763"/>
            <a:ext cx="6480175"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2709" name="Rectangle 9">
            <a:extLst>
              <a:ext uri="{FF2B5EF4-FFF2-40B4-BE49-F238E27FC236}">
                <a16:creationId xmlns:a16="http://schemas.microsoft.com/office/drawing/2014/main" id="{353FED38-9564-BC56-44C6-14E2AF12FDBC}"/>
              </a:ext>
            </a:extLst>
          </p:cNvPr>
          <p:cNvSpPr>
            <a:spLocks noChangeArrowheads="1"/>
          </p:cNvSpPr>
          <p:nvPr/>
        </p:nvSpPr>
        <p:spPr bwMode="auto">
          <a:xfrm>
            <a:off x="1331913" y="5322888"/>
            <a:ext cx="6480175"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2710" name="ZoneTexte 13">
            <a:extLst>
              <a:ext uri="{FF2B5EF4-FFF2-40B4-BE49-F238E27FC236}">
                <a16:creationId xmlns:a16="http://schemas.microsoft.com/office/drawing/2014/main" id="{773B8FB0-FDD0-7C8C-9877-237E744C7797}"/>
              </a:ext>
            </a:extLst>
          </p:cNvPr>
          <p:cNvSpPr txBox="1">
            <a:spLocks noChangeArrowheads="1"/>
          </p:cNvSpPr>
          <p:nvPr/>
        </p:nvSpPr>
        <p:spPr bwMode="auto">
          <a:xfrm>
            <a:off x="-30163" y="-25400"/>
            <a:ext cx="9426576"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1800"/>
              <a:t>Pour confirmer unes ISA (en urgence) que faut-il demander cortisol seul ou avec ACTH ? </a:t>
            </a:r>
            <a:endParaRPr lang="fr-FR" altLang="fr-FR" sz="1800">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Image 4">
            <a:extLst>
              <a:ext uri="{FF2B5EF4-FFF2-40B4-BE49-F238E27FC236}">
                <a16:creationId xmlns:a16="http://schemas.microsoft.com/office/drawing/2014/main" id="{9A44E4DC-5B54-63EF-9F71-99AFF6B45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400050"/>
            <a:ext cx="716915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Rectangle 1">
            <a:extLst>
              <a:ext uri="{FF2B5EF4-FFF2-40B4-BE49-F238E27FC236}">
                <a16:creationId xmlns:a16="http://schemas.microsoft.com/office/drawing/2014/main" id="{FB851B18-96BE-1011-26E4-7F581A095D9A}"/>
              </a:ext>
            </a:extLst>
          </p:cNvPr>
          <p:cNvSpPr>
            <a:spLocks noChangeArrowheads="1"/>
          </p:cNvSpPr>
          <p:nvPr/>
        </p:nvSpPr>
        <p:spPr bwMode="auto">
          <a:xfrm>
            <a:off x="3132138" y="3789363"/>
            <a:ext cx="467995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3732" name="Rectangle 3">
            <a:extLst>
              <a:ext uri="{FF2B5EF4-FFF2-40B4-BE49-F238E27FC236}">
                <a16:creationId xmlns:a16="http://schemas.microsoft.com/office/drawing/2014/main" id="{29B5BD48-6102-1088-3F2D-C73B1F975170}"/>
              </a:ext>
            </a:extLst>
          </p:cNvPr>
          <p:cNvSpPr>
            <a:spLocks noChangeArrowheads="1"/>
          </p:cNvSpPr>
          <p:nvPr/>
        </p:nvSpPr>
        <p:spPr bwMode="auto">
          <a:xfrm>
            <a:off x="3103563" y="4703763"/>
            <a:ext cx="467995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3733" name="Rectangle 5">
            <a:extLst>
              <a:ext uri="{FF2B5EF4-FFF2-40B4-BE49-F238E27FC236}">
                <a16:creationId xmlns:a16="http://schemas.microsoft.com/office/drawing/2014/main" id="{EA7AF213-8970-9CAB-D713-27ED0B0B2591}"/>
              </a:ext>
            </a:extLst>
          </p:cNvPr>
          <p:cNvSpPr>
            <a:spLocks noChangeArrowheads="1"/>
          </p:cNvSpPr>
          <p:nvPr/>
        </p:nvSpPr>
        <p:spPr bwMode="auto">
          <a:xfrm>
            <a:off x="3132138" y="5300663"/>
            <a:ext cx="467995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Image 4">
            <a:extLst>
              <a:ext uri="{FF2B5EF4-FFF2-40B4-BE49-F238E27FC236}">
                <a16:creationId xmlns:a16="http://schemas.microsoft.com/office/drawing/2014/main" id="{3B19F914-A202-BB81-E136-1BB8CF570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400050"/>
            <a:ext cx="716915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Rectangle 1">
            <a:extLst>
              <a:ext uri="{FF2B5EF4-FFF2-40B4-BE49-F238E27FC236}">
                <a16:creationId xmlns:a16="http://schemas.microsoft.com/office/drawing/2014/main" id="{2B0FBD0C-E61D-DFC3-3370-3C6C5B6325CD}"/>
              </a:ext>
            </a:extLst>
          </p:cNvPr>
          <p:cNvSpPr>
            <a:spLocks noChangeArrowheads="1"/>
          </p:cNvSpPr>
          <p:nvPr/>
        </p:nvSpPr>
        <p:spPr bwMode="auto">
          <a:xfrm>
            <a:off x="6084888" y="3789363"/>
            <a:ext cx="17272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4756" name="Rectangle 3">
            <a:extLst>
              <a:ext uri="{FF2B5EF4-FFF2-40B4-BE49-F238E27FC236}">
                <a16:creationId xmlns:a16="http://schemas.microsoft.com/office/drawing/2014/main" id="{A3C72630-AACB-9D35-2982-63EE17180430}"/>
              </a:ext>
            </a:extLst>
          </p:cNvPr>
          <p:cNvSpPr>
            <a:spLocks noChangeArrowheads="1"/>
          </p:cNvSpPr>
          <p:nvPr/>
        </p:nvSpPr>
        <p:spPr bwMode="auto">
          <a:xfrm>
            <a:off x="6056313" y="4703763"/>
            <a:ext cx="17272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
        <p:nvSpPr>
          <p:cNvPr id="74757" name="Rectangle 5">
            <a:extLst>
              <a:ext uri="{FF2B5EF4-FFF2-40B4-BE49-F238E27FC236}">
                <a16:creationId xmlns:a16="http://schemas.microsoft.com/office/drawing/2014/main" id="{F99F3E91-FAE0-D7E5-6468-FDE4B92265E8}"/>
              </a:ext>
            </a:extLst>
          </p:cNvPr>
          <p:cNvSpPr>
            <a:spLocks noChangeArrowheads="1"/>
          </p:cNvSpPr>
          <p:nvPr/>
        </p:nvSpPr>
        <p:spPr bwMode="auto">
          <a:xfrm>
            <a:off x="6227763" y="5300663"/>
            <a:ext cx="1584325"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Image 4">
            <a:extLst>
              <a:ext uri="{FF2B5EF4-FFF2-40B4-BE49-F238E27FC236}">
                <a16:creationId xmlns:a16="http://schemas.microsoft.com/office/drawing/2014/main" id="{A607FFD4-137F-C954-53BC-9E1B050A6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400050"/>
            <a:ext cx="716915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A8AB06C4-AFD0-055B-63C4-8103A0FCE861}"/>
              </a:ext>
            </a:extLst>
          </p:cNvPr>
          <p:cNvSpPr txBox="1">
            <a:spLocks noChangeArrowheads="1"/>
          </p:cNvSpPr>
          <p:nvPr/>
        </p:nvSpPr>
        <p:spPr bwMode="auto">
          <a:xfrm>
            <a:off x="142875" y="882650"/>
            <a:ext cx="8786813" cy="4283075"/>
          </a:xfrm>
          <a:prstGeom prst="rect">
            <a:avLst/>
          </a:prstGeom>
          <a:noFill/>
          <a:ln w="9525">
            <a:noFill/>
            <a:miter lim="800000"/>
            <a:headEnd/>
            <a:tailEnd/>
          </a:ln>
          <a:effectLst/>
        </p:spPr>
        <p:txBody>
          <a:bodyPr>
            <a:spAutoFit/>
          </a:bodyPr>
          <a:lstStyle/>
          <a:p>
            <a:pPr eaLnBrk="1" hangingPunct="1">
              <a:spcBef>
                <a:spcPct val="50000"/>
              </a:spcBef>
              <a:defRPr/>
            </a:pPr>
            <a:r>
              <a:rPr lang="fr-FR" sz="2400" b="1" dirty="0">
                <a:solidFill>
                  <a:srgbClr val="002060"/>
                </a:solidFill>
                <a:latin typeface="+mj-lt"/>
                <a:sym typeface="Wingdings 2" pitchFamily="18" charset="2"/>
              </a:rPr>
              <a:t>Une insuffisance surrénalienne primaire est retenue , pour rechercher son ’étiologie vous allez demander : </a:t>
            </a:r>
          </a:p>
          <a:p>
            <a:pPr eaLnBrk="1" hangingPunct="1">
              <a:spcBef>
                <a:spcPct val="50000"/>
              </a:spcBef>
              <a:defRPr/>
            </a:pPr>
            <a:endParaRPr lang="fr-FR" sz="2400" b="1" i="1" dirty="0">
              <a:solidFill>
                <a:srgbClr val="002060"/>
              </a:solidFill>
              <a:latin typeface="+mj-lt"/>
              <a:sym typeface="Wingdings 2" pitchFamily="18" charset="2"/>
            </a:endParaRPr>
          </a:p>
          <a:p>
            <a:pPr eaLnBrk="1" hangingPunct="1">
              <a:spcBef>
                <a:spcPct val="50000"/>
              </a:spcBef>
              <a:defRPr/>
            </a:pPr>
            <a:endParaRPr lang="fr-FR" sz="800" dirty="0">
              <a:solidFill>
                <a:srgbClr val="002060"/>
              </a:solidFill>
              <a:sym typeface="Wingdings 2" pitchFamily="18" charset="2"/>
            </a:endParaRPr>
          </a:p>
          <a:p>
            <a:pPr marL="444500" indent="96838" eaLnBrk="1" hangingPunct="1">
              <a:lnSpc>
                <a:spcPct val="150000"/>
              </a:lnSpc>
              <a:defRPr/>
            </a:pPr>
            <a:r>
              <a:rPr lang="fr-FR" sz="2400" dirty="0">
                <a:solidFill>
                  <a:srgbClr val="002060"/>
                </a:solidFill>
                <a:latin typeface="+mn-lt"/>
                <a:sym typeface="Wingdings 2" pitchFamily="18" charset="2"/>
              </a:rPr>
              <a:t>A- ACTH</a:t>
            </a:r>
          </a:p>
          <a:p>
            <a:pPr marL="444500" indent="96838" eaLnBrk="1" hangingPunct="1">
              <a:lnSpc>
                <a:spcPct val="150000"/>
              </a:lnSpc>
              <a:defRPr/>
            </a:pPr>
            <a:r>
              <a:rPr lang="fr-FR" sz="2400" dirty="0">
                <a:solidFill>
                  <a:srgbClr val="002060"/>
                </a:solidFill>
                <a:latin typeface="+mn-lt"/>
                <a:sym typeface="Wingdings 2" pitchFamily="18" charset="2"/>
              </a:rPr>
              <a:t>B- Anticorps anti 21 hydroxylase </a:t>
            </a:r>
          </a:p>
          <a:p>
            <a:pPr marL="444500" indent="96838" eaLnBrk="1" hangingPunct="1">
              <a:lnSpc>
                <a:spcPct val="150000"/>
              </a:lnSpc>
              <a:defRPr/>
            </a:pPr>
            <a:r>
              <a:rPr lang="fr-FR" sz="2400" dirty="0">
                <a:solidFill>
                  <a:srgbClr val="002060"/>
                </a:solidFill>
                <a:latin typeface="+mn-lt"/>
                <a:sym typeface="Wingdings 2" pitchFamily="18" charset="2"/>
              </a:rPr>
              <a:t>C- Typage HLA</a:t>
            </a:r>
          </a:p>
          <a:p>
            <a:pPr marL="444500" indent="96838" eaLnBrk="1" hangingPunct="1">
              <a:lnSpc>
                <a:spcPct val="150000"/>
              </a:lnSpc>
              <a:defRPr/>
            </a:pPr>
            <a:r>
              <a:rPr lang="fr-FR" sz="2400" dirty="0">
                <a:solidFill>
                  <a:srgbClr val="002060"/>
                </a:solidFill>
                <a:latin typeface="+mn-lt"/>
                <a:sym typeface="Wingdings 2" pitchFamily="18" charset="2"/>
              </a:rPr>
              <a:t>D- Dosage de 17 hydroxy progestérone </a:t>
            </a:r>
          </a:p>
          <a:p>
            <a:pPr marL="444500" indent="96838" eaLnBrk="1" hangingPunct="1">
              <a:lnSpc>
                <a:spcPct val="150000"/>
              </a:lnSpc>
              <a:defRPr/>
            </a:pPr>
            <a:r>
              <a:rPr lang="fr-FR" sz="2400" dirty="0">
                <a:solidFill>
                  <a:srgbClr val="002060"/>
                </a:solidFill>
                <a:latin typeface="+mn-lt"/>
                <a:sym typeface="Wingdings 2" pitchFamily="18" charset="2"/>
              </a:rPr>
              <a:t>E- TDM abdominale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14485822-85D2-78CD-2223-998D83B5AE70}"/>
              </a:ext>
            </a:extLst>
          </p:cNvPr>
          <p:cNvSpPr txBox="1">
            <a:spLocks noChangeArrowheads="1"/>
          </p:cNvSpPr>
          <p:nvPr/>
        </p:nvSpPr>
        <p:spPr bwMode="auto">
          <a:xfrm>
            <a:off x="142875" y="882650"/>
            <a:ext cx="8786813" cy="4283075"/>
          </a:xfrm>
          <a:prstGeom prst="rect">
            <a:avLst/>
          </a:prstGeom>
          <a:noFill/>
          <a:ln w="9525">
            <a:noFill/>
            <a:miter lim="800000"/>
            <a:headEnd/>
            <a:tailEnd/>
          </a:ln>
          <a:effectLst/>
        </p:spPr>
        <p:txBody>
          <a:bodyPr>
            <a:spAutoFit/>
          </a:bodyPr>
          <a:lstStyle/>
          <a:p>
            <a:pPr eaLnBrk="1" hangingPunct="1">
              <a:spcBef>
                <a:spcPct val="50000"/>
              </a:spcBef>
              <a:defRPr/>
            </a:pPr>
            <a:r>
              <a:rPr lang="fr-FR" sz="2400" b="1" dirty="0">
                <a:solidFill>
                  <a:srgbClr val="002060"/>
                </a:solidFill>
                <a:latin typeface="+mj-lt"/>
                <a:sym typeface="Wingdings 2" pitchFamily="18" charset="2"/>
              </a:rPr>
              <a:t>Une insuffisance surrénalienne primaire est retenue , pour rechercher son ’étiologie vous allez demander : </a:t>
            </a:r>
          </a:p>
          <a:p>
            <a:pPr eaLnBrk="1" hangingPunct="1">
              <a:spcBef>
                <a:spcPct val="50000"/>
              </a:spcBef>
              <a:defRPr/>
            </a:pPr>
            <a:endParaRPr lang="fr-FR" sz="2400" b="1" i="1" dirty="0">
              <a:solidFill>
                <a:srgbClr val="002060"/>
              </a:solidFill>
              <a:latin typeface="+mj-lt"/>
              <a:sym typeface="Wingdings 2" pitchFamily="18" charset="2"/>
            </a:endParaRPr>
          </a:p>
          <a:p>
            <a:pPr eaLnBrk="1" hangingPunct="1">
              <a:spcBef>
                <a:spcPct val="50000"/>
              </a:spcBef>
              <a:defRPr/>
            </a:pPr>
            <a:endParaRPr lang="fr-FR" sz="800" dirty="0">
              <a:solidFill>
                <a:srgbClr val="002060"/>
              </a:solidFill>
              <a:sym typeface="Wingdings 2" pitchFamily="18" charset="2"/>
            </a:endParaRPr>
          </a:p>
          <a:p>
            <a:pPr marL="444500" indent="96838" eaLnBrk="1" hangingPunct="1">
              <a:lnSpc>
                <a:spcPct val="150000"/>
              </a:lnSpc>
              <a:defRPr/>
            </a:pPr>
            <a:r>
              <a:rPr lang="fr-FR" sz="2400" dirty="0">
                <a:solidFill>
                  <a:srgbClr val="002060"/>
                </a:solidFill>
                <a:latin typeface="+mn-lt"/>
                <a:sym typeface="Wingdings 2" pitchFamily="18" charset="2"/>
              </a:rPr>
              <a:t>A- ACTH</a:t>
            </a:r>
          </a:p>
          <a:p>
            <a:pPr marL="444500" indent="96838" eaLnBrk="1" hangingPunct="1">
              <a:lnSpc>
                <a:spcPct val="150000"/>
              </a:lnSpc>
              <a:defRPr/>
            </a:pPr>
            <a:r>
              <a:rPr lang="fr-FR" sz="2400" dirty="0">
                <a:solidFill>
                  <a:srgbClr val="FF0000"/>
                </a:solidFill>
                <a:latin typeface="+mn-lt"/>
                <a:sym typeface="Wingdings 2" pitchFamily="18" charset="2"/>
              </a:rPr>
              <a:t>B- Anticorps anti 21 hydroxylase </a:t>
            </a:r>
          </a:p>
          <a:p>
            <a:pPr marL="444500" indent="96838" eaLnBrk="1" hangingPunct="1">
              <a:lnSpc>
                <a:spcPct val="150000"/>
              </a:lnSpc>
              <a:defRPr/>
            </a:pPr>
            <a:r>
              <a:rPr lang="fr-FR" sz="2400" dirty="0">
                <a:solidFill>
                  <a:srgbClr val="002060"/>
                </a:solidFill>
                <a:latin typeface="+mn-lt"/>
                <a:sym typeface="Wingdings 2" pitchFamily="18" charset="2"/>
              </a:rPr>
              <a:t>C- Typage HLA</a:t>
            </a:r>
          </a:p>
          <a:p>
            <a:pPr marL="444500" indent="96838" eaLnBrk="1" hangingPunct="1">
              <a:lnSpc>
                <a:spcPct val="150000"/>
              </a:lnSpc>
              <a:defRPr/>
            </a:pPr>
            <a:r>
              <a:rPr lang="fr-FR" sz="2400" dirty="0">
                <a:solidFill>
                  <a:srgbClr val="002060"/>
                </a:solidFill>
                <a:latin typeface="+mn-lt"/>
                <a:sym typeface="Wingdings 2" pitchFamily="18" charset="2"/>
              </a:rPr>
              <a:t>D- Dosage de 17 hydroxy progestérone </a:t>
            </a:r>
          </a:p>
          <a:p>
            <a:pPr marL="444500" indent="96838" eaLnBrk="1" hangingPunct="1">
              <a:lnSpc>
                <a:spcPct val="150000"/>
              </a:lnSpc>
              <a:defRPr/>
            </a:pPr>
            <a:r>
              <a:rPr lang="fr-FR" sz="2400" dirty="0">
                <a:solidFill>
                  <a:srgbClr val="002060"/>
                </a:solidFill>
                <a:latin typeface="+mn-lt"/>
                <a:sym typeface="Wingdings 2" pitchFamily="18" charset="2"/>
              </a:rPr>
              <a:t>E- TDM abdominale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Image 2">
            <a:extLst>
              <a:ext uri="{FF2B5EF4-FFF2-40B4-BE49-F238E27FC236}">
                <a16:creationId xmlns:a16="http://schemas.microsoft.com/office/drawing/2014/main" id="{50EB4F0E-1BE8-CD27-1168-042326F42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125" y="0"/>
            <a:ext cx="73977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C006E205-3F28-D4D4-49DD-8EC33238345F}"/>
              </a:ext>
            </a:extLst>
          </p:cNvPr>
          <p:cNvSpPr>
            <a:spLocks noChangeArrowheads="1"/>
          </p:cNvSpPr>
          <p:nvPr/>
        </p:nvSpPr>
        <p:spPr bwMode="auto">
          <a:xfrm>
            <a:off x="323850" y="1268413"/>
            <a:ext cx="8001000" cy="3821112"/>
          </a:xfrm>
          <a:prstGeom prst="rect">
            <a:avLst/>
          </a:prstGeom>
          <a:noFill/>
          <a:ln w="9525">
            <a:noFill/>
            <a:miter lim="800000"/>
            <a:headEnd/>
            <a:tailEnd/>
          </a:ln>
        </p:spPr>
        <p:txBody>
          <a:bodyPr>
            <a:spAutoFit/>
          </a:bodyPr>
          <a:lstStyle/>
          <a:p>
            <a:pPr>
              <a:defRPr/>
            </a:pPr>
            <a:r>
              <a:rPr lang="fr-FR" altLang="fr-FR" sz="2400" b="1" dirty="0">
                <a:solidFill>
                  <a:srgbClr val="002060"/>
                </a:solidFill>
                <a:latin typeface="+mn-lt"/>
              </a:rPr>
              <a:t>L’étiologie auto-immune de l’insuffisance surrénalienne est suspectée chez cette patiente devant :</a:t>
            </a:r>
          </a:p>
          <a:p>
            <a:pPr>
              <a:defRPr/>
            </a:pPr>
            <a:r>
              <a:rPr lang="fr-FR" dirty="0"/>
              <a:t> </a:t>
            </a:r>
          </a:p>
          <a:p>
            <a:pPr>
              <a:lnSpc>
                <a:spcPct val="150000"/>
              </a:lnSpc>
              <a:defRPr/>
            </a:pPr>
            <a:r>
              <a:rPr lang="fr-FR" altLang="fr-FR" sz="2400" dirty="0">
                <a:solidFill>
                  <a:srgbClr val="002060"/>
                </a:solidFill>
                <a:latin typeface="+mj-lt"/>
              </a:rPr>
              <a:t>A. Sexe féminin </a:t>
            </a:r>
          </a:p>
          <a:p>
            <a:pPr>
              <a:lnSpc>
                <a:spcPct val="150000"/>
              </a:lnSpc>
              <a:defRPr/>
            </a:pPr>
            <a:r>
              <a:rPr lang="fr-FR" altLang="fr-FR" sz="2400" dirty="0">
                <a:solidFill>
                  <a:srgbClr val="002060"/>
                </a:solidFill>
                <a:latin typeface="+mj-lt"/>
              </a:rPr>
              <a:t>B. Age jeune </a:t>
            </a:r>
          </a:p>
          <a:p>
            <a:pPr>
              <a:lnSpc>
                <a:spcPct val="150000"/>
              </a:lnSpc>
              <a:defRPr/>
            </a:pPr>
            <a:r>
              <a:rPr lang="fr-FR" altLang="fr-FR" sz="2400" dirty="0">
                <a:solidFill>
                  <a:srgbClr val="002060"/>
                </a:solidFill>
                <a:latin typeface="+mj-lt"/>
              </a:rPr>
              <a:t>C. Hyperpigmentation cutanéo-muqueuse </a:t>
            </a:r>
          </a:p>
          <a:p>
            <a:pPr>
              <a:lnSpc>
                <a:spcPct val="150000"/>
              </a:lnSpc>
              <a:defRPr/>
            </a:pPr>
            <a:r>
              <a:rPr lang="fr-FR" altLang="fr-FR" sz="2400" dirty="0">
                <a:solidFill>
                  <a:srgbClr val="002060"/>
                </a:solidFill>
                <a:latin typeface="+mj-lt"/>
              </a:rPr>
              <a:t>D. Association d’une thyroïdite de Hashimoto </a:t>
            </a:r>
          </a:p>
          <a:p>
            <a:pPr>
              <a:lnSpc>
                <a:spcPct val="150000"/>
              </a:lnSpc>
              <a:defRPr/>
            </a:pPr>
            <a:r>
              <a:rPr lang="fr-FR" altLang="fr-FR" sz="2400" dirty="0">
                <a:solidFill>
                  <a:srgbClr val="002060"/>
                </a:solidFill>
                <a:latin typeface="+mj-lt"/>
              </a:rPr>
              <a:t>E. Hyperkaliémie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53881704-6AFC-7189-77A8-8F8413B005E6}"/>
              </a:ext>
            </a:extLst>
          </p:cNvPr>
          <p:cNvSpPr>
            <a:spLocks noChangeArrowheads="1"/>
          </p:cNvSpPr>
          <p:nvPr/>
        </p:nvSpPr>
        <p:spPr bwMode="auto">
          <a:xfrm>
            <a:off x="323850" y="1268413"/>
            <a:ext cx="8001000" cy="3821112"/>
          </a:xfrm>
          <a:prstGeom prst="rect">
            <a:avLst/>
          </a:prstGeom>
          <a:noFill/>
          <a:ln w="9525">
            <a:noFill/>
            <a:miter lim="800000"/>
            <a:headEnd/>
            <a:tailEnd/>
          </a:ln>
        </p:spPr>
        <p:txBody>
          <a:bodyPr>
            <a:spAutoFit/>
          </a:bodyPr>
          <a:lstStyle/>
          <a:p>
            <a:pPr>
              <a:defRPr/>
            </a:pPr>
            <a:r>
              <a:rPr lang="fr-FR" altLang="fr-FR" sz="2400" b="1" dirty="0">
                <a:solidFill>
                  <a:srgbClr val="002060"/>
                </a:solidFill>
                <a:latin typeface="+mn-lt"/>
              </a:rPr>
              <a:t>L’étiologie auto-immune de l’insuffisance surrénalienne est suspectée chez cette patiente devant :</a:t>
            </a:r>
          </a:p>
          <a:p>
            <a:pPr>
              <a:defRPr/>
            </a:pPr>
            <a:r>
              <a:rPr lang="fr-FR" dirty="0"/>
              <a:t> </a:t>
            </a:r>
          </a:p>
          <a:p>
            <a:pPr>
              <a:lnSpc>
                <a:spcPct val="150000"/>
              </a:lnSpc>
              <a:defRPr/>
            </a:pPr>
            <a:r>
              <a:rPr lang="fr-FR" altLang="fr-FR" sz="2400" dirty="0">
                <a:solidFill>
                  <a:srgbClr val="FF0000"/>
                </a:solidFill>
                <a:latin typeface="+mj-lt"/>
              </a:rPr>
              <a:t>A. Sexe féminin </a:t>
            </a:r>
          </a:p>
          <a:p>
            <a:pPr>
              <a:lnSpc>
                <a:spcPct val="150000"/>
              </a:lnSpc>
              <a:defRPr/>
            </a:pPr>
            <a:r>
              <a:rPr lang="fr-FR" altLang="fr-FR" sz="2400" dirty="0">
                <a:solidFill>
                  <a:srgbClr val="FF0000"/>
                </a:solidFill>
                <a:latin typeface="+mj-lt"/>
              </a:rPr>
              <a:t>B. Age jeune </a:t>
            </a:r>
          </a:p>
          <a:p>
            <a:pPr>
              <a:lnSpc>
                <a:spcPct val="150000"/>
              </a:lnSpc>
              <a:defRPr/>
            </a:pPr>
            <a:r>
              <a:rPr lang="fr-FR" altLang="fr-FR" sz="2400" dirty="0">
                <a:solidFill>
                  <a:srgbClr val="002060"/>
                </a:solidFill>
                <a:latin typeface="+mj-lt"/>
              </a:rPr>
              <a:t>C. Hyperpigmentation cutanéo-muqueuse </a:t>
            </a:r>
          </a:p>
          <a:p>
            <a:pPr>
              <a:lnSpc>
                <a:spcPct val="150000"/>
              </a:lnSpc>
              <a:defRPr/>
            </a:pPr>
            <a:r>
              <a:rPr lang="fr-FR" altLang="fr-FR" sz="2400" dirty="0">
                <a:solidFill>
                  <a:srgbClr val="FF0000"/>
                </a:solidFill>
                <a:latin typeface="+mj-lt"/>
              </a:rPr>
              <a:t>D. Association d’une thyroïdite de Hashimoto </a:t>
            </a:r>
          </a:p>
          <a:p>
            <a:pPr>
              <a:lnSpc>
                <a:spcPct val="150000"/>
              </a:lnSpc>
              <a:defRPr/>
            </a:pPr>
            <a:r>
              <a:rPr lang="fr-FR" altLang="fr-FR" sz="2400" dirty="0">
                <a:solidFill>
                  <a:srgbClr val="002060"/>
                </a:solidFill>
                <a:latin typeface="+mj-lt"/>
              </a:rPr>
              <a:t>E. Hyperkaliémie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F16EFEEB-CD20-CD38-3F0F-0D9D9A81A872}"/>
              </a:ext>
            </a:extLst>
          </p:cNvPr>
          <p:cNvSpPr>
            <a:spLocks noChangeArrowheads="1"/>
          </p:cNvSpPr>
          <p:nvPr/>
        </p:nvSpPr>
        <p:spPr bwMode="auto">
          <a:xfrm>
            <a:off x="233363" y="1255713"/>
            <a:ext cx="8659812" cy="3532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fr-FR" altLang="fr-FR" sz="2400" b="1" dirty="0">
                <a:solidFill>
                  <a:srgbClr val="002060"/>
                </a:solidFill>
              </a:rPr>
              <a:t> </a:t>
            </a:r>
            <a:r>
              <a:rPr lang="fr-FR" altLang="fr-FR" sz="2400" b="1" dirty="0">
                <a:solidFill>
                  <a:srgbClr val="002060"/>
                </a:solidFill>
                <a:latin typeface="+mn-lt"/>
              </a:rPr>
              <a:t>Le traitement de l'insuffisance surrénale aiguë vise à : </a:t>
            </a:r>
          </a:p>
          <a:p>
            <a:pPr>
              <a:defRPr/>
            </a:pPr>
            <a:endParaRPr lang="fr-FR" altLang="fr-FR" sz="2400" b="1" dirty="0">
              <a:solidFill>
                <a:srgbClr val="002060"/>
              </a:solidFill>
            </a:endParaRPr>
          </a:p>
          <a:p>
            <a:pPr>
              <a:lnSpc>
                <a:spcPct val="150000"/>
              </a:lnSpc>
              <a:defRPr/>
            </a:pPr>
            <a:r>
              <a:rPr lang="fr-FR" altLang="fr-FR" sz="2400" b="1" dirty="0">
                <a:solidFill>
                  <a:srgbClr val="002060"/>
                </a:solidFill>
              </a:rPr>
              <a:t>   </a:t>
            </a:r>
            <a:r>
              <a:rPr lang="fr-FR" altLang="fr-FR" sz="2400" dirty="0">
                <a:solidFill>
                  <a:srgbClr val="002060"/>
                </a:solidFill>
                <a:latin typeface="+mj-lt"/>
              </a:rPr>
              <a:t>A – Corriger l’hypovolémie</a:t>
            </a:r>
          </a:p>
          <a:p>
            <a:pPr>
              <a:lnSpc>
                <a:spcPct val="150000"/>
              </a:lnSpc>
              <a:defRPr/>
            </a:pPr>
            <a:r>
              <a:rPr lang="fr-FR" altLang="fr-FR" sz="2400" dirty="0">
                <a:solidFill>
                  <a:srgbClr val="002060"/>
                </a:solidFill>
                <a:latin typeface="+mj-lt"/>
              </a:rPr>
              <a:t>   B – Substitution hormonale immédiate</a:t>
            </a:r>
          </a:p>
          <a:p>
            <a:pPr>
              <a:lnSpc>
                <a:spcPct val="150000"/>
              </a:lnSpc>
              <a:defRPr/>
            </a:pPr>
            <a:r>
              <a:rPr lang="fr-FR" altLang="fr-FR" sz="2400" dirty="0">
                <a:solidFill>
                  <a:srgbClr val="002060"/>
                </a:solidFill>
                <a:latin typeface="+mj-lt"/>
              </a:rPr>
              <a:t>   C – Traiter un facteur déclenchant </a:t>
            </a:r>
          </a:p>
          <a:p>
            <a:pPr>
              <a:lnSpc>
                <a:spcPct val="150000"/>
              </a:lnSpc>
              <a:defRPr/>
            </a:pPr>
            <a:r>
              <a:rPr lang="fr-FR" altLang="fr-FR" sz="2400" dirty="0">
                <a:solidFill>
                  <a:srgbClr val="002060"/>
                </a:solidFill>
                <a:latin typeface="+mj-lt"/>
              </a:rPr>
              <a:t>   D – Baisser la kaliémie par du </a:t>
            </a:r>
            <a:r>
              <a:rPr lang="fr-FR" altLang="fr-FR" sz="2400" dirty="0" err="1">
                <a:solidFill>
                  <a:srgbClr val="002060"/>
                </a:solidFill>
                <a:latin typeface="+mj-lt"/>
              </a:rPr>
              <a:t>kayexalate</a:t>
            </a:r>
            <a:endParaRPr lang="fr-FR" altLang="fr-FR" sz="2400" dirty="0">
              <a:solidFill>
                <a:srgbClr val="002060"/>
              </a:solidFill>
              <a:latin typeface="+mj-lt"/>
            </a:endParaRPr>
          </a:p>
          <a:p>
            <a:pPr>
              <a:lnSpc>
                <a:spcPct val="150000"/>
              </a:lnSpc>
              <a:defRPr/>
            </a:pPr>
            <a:r>
              <a:rPr lang="fr-FR" altLang="fr-FR" sz="2400" dirty="0">
                <a:solidFill>
                  <a:srgbClr val="002060"/>
                </a:solidFill>
                <a:latin typeface="+mj-lt"/>
              </a:rPr>
              <a:t>   E – Corriger une hypoglycémie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78F15CB6-2CC2-9EA5-0A6F-FCB3D58E723A}"/>
              </a:ext>
            </a:extLst>
          </p:cNvPr>
          <p:cNvSpPr>
            <a:spLocks noChangeArrowheads="1"/>
          </p:cNvSpPr>
          <p:nvPr/>
        </p:nvSpPr>
        <p:spPr bwMode="auto">
          <a:xfrm>
            <a:off x="233363" y="1255713"/>
            <a:ext cx="8659812" cy="3532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fr-FR" altLang="fr-FR" sz="2400" b="1" dirty="0">
                <a:solidFill>
                  <a:srgbClr val="002060"/>
                </a:solidFill>
              </a:rPr>
              <a:t> </a:t>
            </a:r>
            <a:r>
              <a:rPr lang="fr-FR" altLang="fr-FR" sz="2400" b="1" dirty="0">
                <a:solidFill>
                  <a:srgbClr val="002060"/>
                </a:solidFill>
                <a:latin typeface="+mn-lt"/>
              </a:rPr>
              <a:t>Le traitement de l'insuffisance surrénale aiguë vise à : </a:t>
            </a:r>
          </a:p>
          <a:p>
            <a:pPr>
              <a:defRPr/>
            </a:pPr>
            <a:endParaRPr lang="fr-FR" altLang="fr-FR" sz="2400" b="1" dirty="0">
              <a:solidFill>
                <a:srgbClr val="002060"/>
              </a:solidFill>
            </a:endParaRPr>
          </a:p>
          <a:p>
            <a:pPr>
              <a:lnSpc>
                <a:spcPct val="150000"/>
              </a:lnSpc>
              <a:defRPr/>
            </a:pPr>
            <a:r>
              <a:rPr lang="fr-FR" altLang="fr-FR" sz="2400" b="1" dirty="0">
                <a:solidFill>
                  <a:srgbClr val="FF0000"/>
                </a:solidFill>
              </a:rPr>
              <a:t>   </a:t>
            </a:r>
            <a:r>
              <a:rPr lang="fr-FR" altLang="fr-FR" sz="2400" dirty="0">
                <a:solidFill>
                  <a:srgbClr val="FF0000"/>
                </a:solidFill>
                <a:latin typeface="+mj-lt"/>
              </a:rPr>
              <a:t>A – Corriger l’hypovolémie</a:t>
            </a:r>
          </a:p>
          <a:p>
            <a:pPr>
              <a:lnSpc>
                <a:spcPct val="150000"/>
              </a:lnSpc>
              <a:defRPr/>
            </a:pPr>
            <a:r>
              <a:rPr lang="fr-FR" altLang="fr-FR" sz="2400" dirty="0">
                <a:solidFill>
                  <a:srgbClr val="FF0000"/>
                </a:solidFill>
                <a:latin typeface="+mj-lt"/>
              </a:rPr>
              <a:t>   B – Substitution hormonale immédiate</a:t>
            </a:r>
          </a:p>
          <a:p>
            <a:pPr>
              <a:lnSpc>
                <a:spcPct val="150000"/>
              </a:lnSpc>
              <a:defRPr/>
            </a:pPr>
            <a:r>
              <a:rPr lang="fr-FR" altLang="fr-FR" sz="2400" dirty="0">
                <a:solidFill>
                  <a:srgbClr val="FF0000"/>
                </a:solidFill>
                <a:latin typeface="+mj-lt"/>
              </a:rPr>
              <a:t>   C – Traiter un facteur déclenchant </a:t>
            </a:r>
          </a:p>
          <a:p>
            <a:pPr>
              <a:lnSpc>
                <a:spcPct val="150000"/>
              </a:lnSpc>
              <a:defRPr/>
            </a:pPr>
            <a:r>
              <a:rPr lang="fr-FR" altLang="fr-FR" sz="2400" dirty="0">
                <a:solidFill>
                  <a:srgbClr val="002060"/>
                </a:solidFill>
                <a:latin typeface="+mj-lt"/>
              </a:rPr>
              <a:t>   D – Baisser la kaliémie par du </a:t>
            </a:r>
            <a:r>
              <a:rPr lang="fr-FR" altLang="fr-FR" sz="2400" dirty="0" err="1">
                <a:solidFill>
                  <a:srgbClr val="002060"/>
                </a:solidFill>
                <a:latin typeface="+mj-lt"/>
              </a:rPr>
              <a:t>kayexalate</a:t>
            </a:r>
            <a:endParaRPr lang="fr-FR" altLang="fr-FR" sz="2400" dirty="0">
              <a:solidFill>
                <a:srgbClr val="002060"/>
              </a:solidFill>
              <a:latin typeface="+mj-lt"/>
            </a:endParaRPr>
          </a:p>
          <a:p>
            <a:pPr>
              <a:lnSpc>
                <a:spcPct val="150000"/>
              </a:lnSpc>
              <a:defRPr/>
            </a:pPr>
            <a:r>
              <a:rPr lang="fr-FR" altLang="fr-FR" sz="2400" dirty="0">
                <a:solidFill>
                  <a:srgbClr val="002060"/>
                </a:solidFill>
                <a:latin typeface="+mj-lt"/>
              </a:rPr>
              <a:t>   </a:t>
            </a:r>
            <a:r>
              <a:rPr lang="fr-FR" altLang="fr-FR" sz="2400" dirty="0">
                <a:solidFill>
                  <a:srgbClr val="FF0000"/>
                </a:solidFill>
                <a:latin typeface="+mj-lt"/>
              </a:rPr>
              <a:t>E – Corriger une hypoglycémie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3CD4CB1-52E5-8F44-CAA6-B2BFFE04D25F}"/>
              </a:ext>
            </a:extLst>
          </p:cNvPr>
          <p:cNvSpPr txBox="1"/>
          <p:nvPr/>
        </p:nvSpPr>
        <p:spPr>
          <a:xfrm>
            <a:off x="287338" y="474663"/>
            <a:ext cx="8569325" cy="5908675"/>
          </a:xfrm>
          <a:prstGeom prst="rect">
            <a:avLst/>
          </a:prstGeom>
          <a:noFill/>
        </p:spPr>
        <p:txBody>
          <a:bodyPr>
            <a:spAutoFit/>
          </a:bodyPr>
          <a:lstStyle/>
          <a:p>
            <a:pPr>
              <a:lnSpc>
                <a:spcPct val="150000"/>
              </a:lnSpc>
              <a:defRPr/>
            </a:pPr>
            <a:r>
              <a:rPr lang="fr-FR" sz="2400" b="1" dirty="0">
                <a:solidFill>
                  <a:srgbClr val="002060"/>
                </a:solidFill>
                <a:latin typeface="+mn-lt"/>
              </a:rPr>
              <a:t>Un homme de 58 ans consulte pour asthénie sévère, anorexie, nausées, et hypotension apparues depuis quelques jours. </a:t>
            </a:r>
          </a:p>
          <a:p>
            <a:pPr>
              <a:lnSpc>
                <a:spcPct val="150000"/>
              </a:lnSpc>
              <a:defRPr/>
            </a:pPr>
            <a:r>
              <a:rPr lang="fr-FR" sz="2400" b="1" dirty="0">
                <a:solidFill>
                  <a:srgbClr val="002060"/>
                </a:solidFill>
                <a:latin typeface="+mn-lt"/>
              </a:rPr>
              <a:t>Il se plaint également de douleurs musculaires diffuses </a:t>
            </a:r>
          </a:p>
          <a:p>
            <a:pPr>
              <a:lnSpc>
                <a:spcPct val="150000"/>
              </a:lnSpc>
              <a:defRPr/>
            </a:pPr>
            <a:r>
              <a:rPr lang="fr-FR" sz="2400" b="1" dirty="0">
                <a:solidFill>
                  <a:srgbClr val="002060"/>
                </a:solidFill>
                <a:latin typeface="+mn-lt"/>
              </a:rPr>
              <a:t>Dans ses antécédents, on note une périarthrite scapulohumérale traitée par prednisone 40 mg/j le matin pendant 4 mois, arrêtée brutalement il y a 8 jours </a:t>
            </a:r>
          </a:p>
          <a:p>
            <a:pPr>
              <a:lnSpc>
                <a:spcPct val="150000"/>
              </a:lnSpc>
              <a:defRPr/>
            </a:pPr>
            <a:r>
              <a:rPr lang="fr-FR" sz="2400" b="1" dirty="0">
                <a:solidFill>
                  <a:srgbClr val="002060"/>
                </a:solidFill>
                <a:latin typeface="+mn-lt"/>
              </a:rPr>
              <a:t>TA : 90/55 </a:t>
            </a:r>
            <a:r>
              <a:rPr lang="fr-FR" sz="2400" b="1" dirty="0" err="1">
                <a:solidFill>
                  <a:srgbClr val="002060"/>
                </a:solidFill>
                <a:latin typeface="+mn-lt"/>
              </a:rPr>
              <a:t>mmHg</a:t>
            </a:r>
            <a:r>
              <a:rPr lang="fr-FR" sz="2400" b="1" dirty="0">
                <a:solidFill>
                  <a:srgbClr val="002060"/>
                </a:solidFill>
                <a:latin typeface="+mn-lt"/>
              </a:rPr>
              <a:t>    FC : 95 bpm       Pas de mélanodermie</a:t>
            </a:r>
          </a:p>
          <a:p>
            <a:pPr>
              <a:lnSpc>
                <a:spcPct val="150000"/>
              </a:lnSpc>
              <a:defRPr/>
            </a:pPr>
            <a:r>
              <a:rPr lang="fr-FR" sz="2400" b="1" dirty="0">
                <a:solidFill>
                  <a:srgbClr val="002060"/>
                </a:solidFill>
                <a:latin typeface="+mn-lt"/>
              </a:rPr>
              <a:t>Pas de déshydratation clinique</a:t>
            </a:r>
          </a:p>
          <a:p>
            <a:pPr>
              <a:lnSpc>
                <a:spcPct val="150000"/>
              </a:lnSpc>
              <a:defRPr/>
            </a:pPr>
            <a:r>
              <a:rPr lang="fr-FR" sz="2400" b="1" dirty="0">
                <a:solidFill>
                  <a:srgbClr val="002060"/>
                </a:solidFill>
                <a:latin typeface="+mn-lt"/>
              </a:rPr>
              <a:t>Examens biologiques :</a:t>
            </a:r>
          </a:p>
          <a:p>
            <a:pPr>
              <a:lnSpc>
                <a:spcPct val="150000"/>
              </a:lnSpc>
              <a:buFont typeface="Arial" panose="020B0604020202020204" pitchFamily="34" charset="0"/>
              <a:buChar char="•"/>
              <a:defRPr/>
            </a:pPr>
            <a:r>
              <a:rPr lang="fr-FR" sz="2400" b="1" dirty="0">
                <a:solidFill>
                  <a:srgbClr val="002060"/>
                </a:solidFill>
                <a:latin typeface="+mn-lt"/>
              </a:rPr>
              <a:t>Na+ : 132 </a:t>
            </a:r>
            <a:r>
              <a:rPr lang="fr-FR" sz="2400" b="1" dirty="0" err="1">
                <a:solidFill>
                  <a:srgbClr val="002060"/>
                </a:solidFill>
                <a:latin typeface="+mn-lt"/>
              </a:rPr>
              <a:t>mmol</a:t>
            </a:r>
            <a:r>
              <a:rPr lang="fr-FR" sz="2400" b="1" dirty="0">
                <a:solidFill>
                  <a:srgbClr val="002060"/>
                </a:solidFill>
                <a:latin typeface="+mn-lt"/>
              </a:rPr>
              <a:t>/L    K+ : 4,1 </a:t>
            </a:r>
            <a:r>
              <a:rPr lang="fr-FR" sz="2400" b="1" dirty="0" err="1">
                <a:solidFill>
                  <a:srgbClr val="002060"/>
                </a:solidFill>
                <a:latin typeface="+mn-lt"/>
              </a:rPr>
              <a:t>mmol</a:t>
            </a:r>
            <a:r>
              <a:rPr lang="fr-FR" sz="2400" b="1" dirty="0">
                <a:solidFill>
                  <a:srgbClr val="002060"/>
                </a:solidFill>
                <a:latin typeface="+mn-lt"/>
              </a:rPr>
              <a:t>/L      Glycémie : 0,58 g/L</a:t>
            </a:r>
          </a:p>
          <a:p>
            <a:pPr>
              <a:defRPr/>
            </a:pPr>
            <a:endParaRPr lang="fr-FR"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a:extLst>
              <a:ext uri="{FF2B5EF4-FFF2-40B4-BE49-F238E27FC236}">
                <a16:creationId xmlns:a16="http://schemas.microsoft.com/office/drawing/2014/main" id="{2EC5DFA7-5C53-8190-6E9B-29B92D6C9175}"/>
              </a:ext>
            </a:extLst>
          </p:cNvPr>
          <p:cNvSpPr>
            <a:spLocks noChangeArrowheads="1"/>
          </p:cNvSpPr>
          <p:nvPr/>
        </p:nvSpPr>
        <p:spPr bwMode="auto">
          <a:xfrm>
            <a:off x="804863" y="2135188"/>
            <a:ext cx="7534275"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2200" b="1">
                <a:solidFill>
                  <a:srgbClr val="002060"/>
                </a:solidFill>
                <a:latin typeface="Arial" panose="020B0604020202020204" pitchFamily="34" charset="0"/>
              </a:rPr>
              <a:t>     </a:t>
            </a:r>
            <a:endParaRPr lang="fr-FR" altLang="fr-FR" sz="2200"/>
          </a:p>
          <a:p>
            <a:pPr eaLnBrk="1" hangingPunct="1">
              <a:spcBef>
                <a:spcPct val="0"/>
              </a:spcBef>
              <a:buFontTx/>
              <a:buNone/>
            </a:pPr>
            <a:r>
              <a:rPr lang="fr-FR" altLang="fr-FR" sz="2400">
                <a:solidFill>
                  <a:srgbClr val="002060"/>
                </a:solidFill>
                <a:cs typeface="Calibri" panose="020F0502020204030204" pitchFamily="34" charset="0"/>
              </a:rPr>
              <a:t>A- Durée du traitement </a:t>
            </a:r>
          </a:p>
          <a:p>
            <a:pPr eaLnBrk="1" hangingPunct="1">
              <a:lnSpc>
                <a:spcPct val="150000"/>
              </a:lnSpc>
              <a:spcBef>
                <a:spcPct val="0"/>
              </a:spcBef>
              <a:buFontTx/>
              <a:buNone/>
            </a:pPr>
            <a:r>
              <a:rPr lang="fr-FR" altLang="fr-FR" sz="2400">
                <a:solidFill>
                  <a:srgbClr val="002060"/>
                </a:solidFill>
                <a:cs typeface="Calibri" panose="020F0502020204030204" pitchFamily="34" charset="0"/>
              </a:rPr>
              <a:t>B- La prise matinale du traitement </a:t>
            </a:r>
          </a:p>
          <a:p>
            <a:pPr eaLnBrk="1" hangingPunct="1">
              <a:lnSpc>
                <a:spcPct val="150000"/>
              </a:lnSpc>
              <a:spcBef>
                <a:spcPct val="0"/>
              </a:spcBef>
              <a:buFontTx/>
              <a:buNone/>
            </a:pPr>
            <a:r>
              <a:rPr lang="fr-FR" altLang="fr-FR" sz="2400">
                <a:solidFill>
                  <a:srgbClr val="002060"/>
                </a:solidFill>
                <a:cs typeface="Calibri" panose="020F0502020204030204" pitchFamily="34" charset="0"/>
              </a:rPr>
              <a:t>C- Dose supérieure à 7,5mg d’équivalent prednisone</a:t>
            </a:r>
          </a:p>
          <a:p>
            <a:pPr eaLnBrk="1" hangingPunct="1">
              <a:lnSpc>
                <a:spcPct val="150000"/>
              </a:lnSpc>
              <a:spcBef>
                <a:spcPct val="0"/>
              </a:spcBef>
              <a:buFontTx/>
              <a:buNone/>
            </a:pPr>
            <a:r>
              <a:rPr lang="fr-FR" altLang="fr-FR" sz="2400">
                <a:solidFill>
                  <a:srgbClr val="002060"/>
                </a:solidFill>
                <a:cs typeface="Calibri" panose="020F0502020204030204" pitchFamily="34" charset="0"/>
              </a:rPr>
              <a:t>D- Sevrage  brutal du traitement </a:t>
            </a:r>
          </a:p>
          <a:p>
            <a:pPr eaLnBrk="1" hangingPunct="1">
              <a:lnSpc>
                <a:spcPct val="150000"/>
              </a:lnSpc>
              <a:spcBef>
                <a:spcPct val="0"/>
              </a:spcBef>
              <a:buFontTx/>
              <a:buNone/>
            </a:pPr>
            <a:r>
              <a:rPr lang="fr-FR" altLang="fr-FR" sz="2400">
                <a:solidFill>
                  <a:srgbClr val="002060"/>
                </a:solidFill>
                <a:cs typeface="Calibri" panose="020F0502020204030204" pitchFamily="34" charset="0"/>
              </a:rPr>
              <a:t>E- Absence de mélanodermie </a:t>
            </a:r>
          </a:p>
        </p:txBody>
      </p:sp>
      <p:sp>
        <p:nvSpPr>
          <p:cNvPr id="6" name="ZoneTexte 5">
            <a:extLst>
              <a:ext uri="{FF2B5EF4-FFF2-40B4-BE49-F238E27FC236}">
                <a16:creationId xmlns:a16="http://schemas.microsoft.com/office/drawing/2014/main" id="{14B64699-F647-3C9E-4339-E6A7024E606A}"/>
              </a:ext>
            </a:extLst>
          </p:cNvPr>
          <p:cNvSpPr txBox="1"/>
          <p:nvPr/>
        </p:nvSpPr>
        <p:spPr>
          <a:xfrm>
            <a:off x="468313" y="908050"/>
            <a:ext cx="7704137" cy="831850"/>
          </a:xfrm>
          <a:prstGeom prst="rect">
            <a:avLst/>
          </a:prstGeom>
          <a:noFill/>
        </p:spPr>
        <p:txBody>
          <a:bodyPr>
            <a:spAutoFit/>
          </a:bodyPr>
          <a:lstStyle/>
          <a:p>
            <a:pPr>
              <a:defRPr/>
            </a:pPr>
            <a:r>
              <a:rPr lang="fr-FR" sz="2400" b="1" dirty="0">
                <a:solidFill>
                  <a:srgbClr val="002060"/>
                </a:solidFill>
                <a:latin typeface="+mn-lt"/>
              </a:rPr>
              <a:t>Une insuffisance surrénalienne aigue suite  a l’</a:t>
            </a:r>
            <a:r>
              <a:rPr lang="fr-FR" sz="2400" b="1" dirty="0" err="1">
                <a:solidFill>
                  <a:srgbClr val="002060"/>
                </a:solidFill>
                <a:latin typeface="+mn-lt"/>
              </a:rPr>
              <a:t>arret</a:t>
            </a:r>
            <a:r>
              <a:rPr lang="fr-FR" sz="2400" b="1" dirty="0">
                <a:solidFill>
                  <a:srgbClr val="002060"/>
                </a:solidFill>
                <a:latin typeface="+mn-lt"/>
              </a:rPr>
              <a:t> de la corticothérapie est suspectée devant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
            <a:extLst>
              <a:ext uri="{FF2B5EF4-FFF2-40B4-BE49-F238E27FC236}">
                <a16:creationId xmlns:a16="http://schemas.microsoft.com/office/drawing/2014/main" id="{8877A5FB-CA6C-D71E-402B-227F615B7576}"/>
              </a:ext>
            </a:extLst>
          </p:cNvPr>
          <p:cNvSpPr>
            <a:spLocks noChangeArrowheads="1"/>
          </p:cNvSpPr>
          <p:nvPr/>
        </p:nvSpPr>
        <p:spPr bwMode="auto">
          <a:xfrm>
            <a:off x="804863" y="2135188"/>
            <a:ext cx="7534275"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fr-FR" altLang="fr-FR" sz="2200" b="1">
                <a:solidFill>
                  <a:srgbClr val="002060"/>
                </a:solidFill>
                <a:latin typeface="Arial" panose="020B0604020202020204" pitchFamily="34" charset="0"/>
              </a:rPr>
              <a:t>     </a:t>
            </a:r>
            <a:endParaRPr lang="fr-FR" altLang="fr-FR" sz="2200"/>
          </a:p>
          <a:p>
            <a:pPr eaLnBrk="1" hangingPunct="1">
              <a:spcBef>
                <a:spcPct val="0"/>
              </a:spcBef>
              <a:buFontTx/>
              <a:buNone/>
            </a:pPr>
            <a:r>
              <a:rPr lang="fr-FR" altLang="fr-FR" sz="2400">
                <a:solidFill>
                  <a:srgbClr val="FF0000"/>
                </a:solidFill>
                <a:cs typeface="Calibri" panose="020F0502020204030204" pitchFamily="34" charset="0"/>
              </a:rPr>
              <a:t>A- Durée du traitement </a:t>
            </a:r>
          </a:p>
          <a:p>
            <a:pPr eaLnBrk="1" hangingPunct="1">
              <a:lnSpc>
                <a:spcPct val="150000"/>
              </a:lnSpc>
              <a:spcBef>
                <a:spcPct val="0"/>
              </a:spcBef>
              <a:buFontTx/>
              <a:buNone/>
            </a:pPr>
            <a:r>
              <a:rPr lang="fr-FR" altLang="fr-FR" sz="2400">
                <a:solidFill>
                  <a:srgbClr val="002060"/>
                </a:solidFill>
                <a:cs typeface="Calibri" panose="020F0502020204030204" pitchFamily="34" charset="0"/>
              </a:rPr>
              <a:t>B- La prise matinale du traitement </a:t>
            </a:r>
          </a:p>
          <a:p>
            <a:pPr eaLnBrk="1" hangingPunct="1">
              <a:lnSpc>
                <a:spcPct val="150000"/>
              </a:lnSpc>
              <a:spcBef>
                <a:spcPct val="0"/>
              </a:spcBef>
              <a:buFontTx/>
              <a:buNone/>
            </a:pPr>
            <a:r>
              <a:rPr lang="fr-FR" altLang="fr-FR" sz="2400">
                <a:solidFill>
                  <a:srgbClr val="FF0000"/>
                </a:solidFill>
                <a:cs typeface="Calibri" panose="020F0502020204030204" pitchFamily="34" charset="0"/>
              </a:rPr>
              <a:t>C- Dose supérieure à 7,5mg d’équivalent prednisone</a:t>
            </a:r>
          </a:p>
          <a:p>
            <a:pPr eaLnBrk="1" hangingPunct="1">
              <a:lnSpc>
                <a:spcPct val="150000"/>
              </a:lnSpc>
              <a:spcBef>
                <a:spcPct val="0"/>
              </a:spcBef>
              <a:buFontTx/>
              <a:buNone/>
            </a:pPr>
            <a:r>
              <a:rPr lang="fr-FR" altLang="fr-FR" sz="2400">
                <a:solidFill>
                  <a:srgbClr val="FF0000"/>
                </a:solidFill>
                <a:cs typeface="Calibri" panose="020F0502020204030204" pitchFamily="34" charset="0"/>
              </a:rPr>
              <a:t>D- Sevrage  brutal du traitement </a:t>
            </a:r>
          </a:p>
          <a:p>
            <a:pPr eaLnBrk="1" hangingPunct="1">
              <a:lnSpc>
                <a:spcPct val="150000"/>
              </a:lnSpc>
              <a:spcBef>
                <a:spcPct val="0"/>
              </a:spcBef>
              <a:buFontTx/>
              <a:buNone/>
            </a:pPr>
            <a:r>
              <a:rPr lang="fr-FR" altLang="fr-FR" sz="2400">
                <a:solidFill>
                  <a:srgbClr val="002060"/>
                </a:solidFill>
                <a:cs typeface="Calibri" panose="020F0502020204030204" pitchFamily="34" charset="0"/>
              </a:rPr>
              <a:t>E- Absence de mélanodermie </a:t>
            </a:r>
          </a:p>
        </p:txBody>
      </p:sp>
      <p:sp>
        <p:nvSpPr>
          <p:cNvPr id="6" name="ZoneTexte 5">
            <a:extLst>
              <a:ext uri="{FF2B5EF4-FFF2-40B4-BE49-F238E27FC236}">
                <a16:creationId xmlns:a16="http://schemas.microsoft.com/office/drawing/2014/main" id="{D3C08FE0-7DF0-2559-B93E-D886BA7681A1}"/>
              </a:ext>
            </a:extLst>
          </p:cNvPr>
          <p:cNvSpPr txBox="1"/>
          <p:nvPr/>
        </p:nvSpPr>
        <p:spPr>
          <a:xfrm>
            <a:off x="468313" y="908050"/>
            <a:ext cx="7704137" cy="831850"/>
          </a:xfrm>
          <a:prstGeom prst="rect">
            <a:avLst/>
          </a:prstGeom>
          <a:noFill/>
        </p:spPr>
        <p:txBody>
          <a:bodyPr>
            <a:spAutoFit/>
          </a:bodyPr>
          <a:lstStyle/>
          <a:p>
            <a:pPr>
              <a:defRPr/>
            </a:pPr>
            <a:r>
              <a:rPr lang="fr-FR" sz="2400" b="1" dirty="0">
                <a:solidFill>
                  <a:srgbClr val="002060"/>
                </a:solidFill>
                <a:latin typeface="+mn-lt"/>
              </a:rPr>
              <a:t>Une insuffisance surrénalienne aigue suite  a l’</a:t>
            </a:r>
            <a:r>
              <a:rPr lang="fr-FR" sz="2400" b="1" dirty="0" err="1">
                <a:solidFill>
                  <a:srgbClr val="002060"/>
                </a:solidFill>
                <a:latin typeface="+mn-lt"/>
              </a:rPr>
              <a:t>arret</a:t>
            </a:r>
            <a:r>
              <a:rPr lang="fr-FR" sz="2400" b="1" dirty="0">
                <a:solidFill>
                  <a:srgbClr val="002060"/>
                </a:solidFill>
                <a:latin typeface="+mn-lt"/>
              </a:rPr>
              <a:t> de la corticothérapie est suspectée devant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Image 8">
            <a:extLst>
              <a:ext uri="{FF2B5EF4-FFF2-40B4-BE49-F238E27FC236}">
                <a16:creationId xmlns:a16="http://schemas.microsoft.com/office/drawing/2014/main" id="{18EA241D-5678-C515-BCD0-FDCFC0B9E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04813"/>
            <a:ext cx="9144000"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3" name="Image 10">
            <a:extLst>
              <a:ext uri="{FF2B5EF4-FFF2-40B4-BE49-F238E27FC236}">
                <a16:creationId xmlns:a16="http://schemas.microsoft.com/office/drawing/2014/main" id="{BD26FADF-28B7-2312-E8D3-1983DDF66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4295775"/>
            <a:ext cx="37433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66" name="Groupe 4">
            <a:extLst>
              <a:ext uri="{FF2B5EF4-FFF2-40B4-BE49-F238E27FC236}">
                <a16:creationId xmlns:a16="http://schemas.microsoft.com/office/drawing/2014/main" id="{5596FE16-B9F0-3E69-53E1-491EE78EFDB0}"/>
              </a:ext>
            </a:extLst>
          </p:cNvPr>
          <p:cNvGrpSpPr>
            <a:grpSpLocks/>
          </p:cNvGrpSpPr>
          <p:nvPr/>
        </p:nvGrpSpPr>
        <p:grpSpPr bwMode="auto">
          <a:xfrm>
            <a:off x="-1620838" y="549275"/>
            <a:ext cx="9432926" cy="5759450"/>
            <a:chOff x="414336" y="695325"/>
            <a:chExt cx="8440541" cy="5467350"/>
          </a:xfrm>
        </p:grpSpPr>
        <p:pic>
          <p:nvPicPr>
            <p:cNvPr id="88068" name="Image 2">
              <a:extLst>
                <a:ext uri="{FF2B5EF4-FFF2-40B4-BE49-F238E27FC236}">
                  <a16:creationId xmlns:a16="http://schemas.microsoft.com/office/drawing/2014/main" id="{05AB3C4D-3CDB-29EA-B53A-6EF5E6ABB2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695325"/>
              <a:ext cx="8315325" cy="546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Rectangle 3">
              <a:extLst>
                <a:ext uri="{FF2B5EF4-FFF2-40B4-BE49-F238E27FC236}">
                  <a16:creationId xmlns:a16="http://schemas.microsoft.com/office/drawing/2014/main" id="{2A9D6C29-E241-5C02-4B55-5C73F8585F91}"/>
                </a:ext>
              </a:extLst>
            </p:cNvPr>
            <p:cNvSpPr>
              <a:spLocks noChangeArrowheads="1"/>
            </p:cNvSpPr>
            <p:nvPr/>
          </p:nvSpPr>
          <p:spPr bwMode="auto">
            <a:xfrm>
              <a:off x="414336" y="695325"/>
              <a:ext cx="4157663" cy="35283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150000"/>
                </a:lnSpc>
                <a:spcBef>
                  <a:spcPct val="0"/>
                </a:spcBef>
                <a:buFontTx/>
                <a:buAutoNum type="alphaUcPeriod"/>
              </a:pPr>
              <a:endParaRPr lang="fr-FR" altLang="fr-FR" sz="2400">
                <a:solidFill>
                  <a:srgbClr val="002060"/>
                </a:solidFill>
                <a:latin typeface="Arial" panose="020B0604020202020204" pitchFamily="34" charset="0"/>
              </a:endParaRPr>
            </a:p>
          </p:txBody>
        </p:sp>
      </p:grpSp>
      <p:pic>
        <p:nvPicPr>
          <p:cNvPr id="88067" name="Image 6">
            <a:extLst>
              <a:ext uri="{FF2B5EF4-FFF2-40B4-BE49-F238E27FC236}">
                <a16:creationId xmlns:a16="http://schemas.microsoft.com/office/drawing/2014/main" id="{A8098F07-7834-209E-9BA3-1A06945047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6613"/>
            <a:ext cx="46196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0C018CCD-2B18-201C-C315-3DB559C17A03}"/>
              </a:ext>
            </a:extLst>
          </p:cNvPr>
          <p:cNvSpPr txBox="1">
            <a:spLocks noChangeArrowheads="1"/>
          </p:cNvSpPr>
          <p:nvPr/>
        </p:nvSpPr>
        <p:spPr bwMode="auto">
          <a:xfrm>
            <a:off x="142875" y="1089025"/>
            <a:ext cx="8786813" cy="3913188"/>
          </a:xfrm>
          <a:prstGeom prst="rect">
            <a:avLst/>
          </a:prstGeom>
          <a:noFill/>
          <a:ln w="9525">
            <a:noFill/>
            <a:miter lim="800000"/>
            <a:headEnd/>
            <a:tailEnd/>
          </a:ln>
          <a:effectLst/>
        </p:spPr>
        <p:txBody>
          <a:bodyPr>
            <a:spAutoFit/>
          </a:bodyPr>
          <a:lstStyle/>
          <a:p>
            <a:pPr eaLnBrk="1" hangingPunct="1">
              <a:spcBef>
                <a:spcPct val="50000"/>
              </a:spcBef>
              <a:defRPr/>
            </a:pPr>
            <a:r>
              <a:rPr lang="fr-FR" sz="2400" b="1" dirty="0">
                <a:solidFill>
                  <a:srgbClr val="002060"/>
                </a:solidFill>
                <a:latin typeface="+mn-lt"/>
                <a:sym typeface="Wingdings 2" pitchFamily="18" charset="2"/>
              </a:rPr>
              <a:t> Pour confirmer le diagnostic vous allez faire :</a:t>
            </a:r>
          </a:p>
          <a:p>
            <a:pPr eaLnBrk="1" hangingPunct="1">
              <a:spcBef>
                <a:spcPct val="50000"/>
              </a:spcBef>
              <a:defRPr/>
            </a:pPr>
            <a:endParaRPr lang="fr-FR" sz="2400" b="1" i="1" dirty="0">
              <a:solidFill>
                <a:srgbClr val="002060"/>
              </a:solidFill>
              <a:sym typeface="Wingdings 2" pitchFamily="18" charset="2"/>
            </a:endParaRPr>
          </a:p>
          <a:p>
            <a:pPr eaLnBrk="1" hangingPunct="1">
              <a:spcBef>
                <a:spcPct val="50000"/>
              </a:spcBef>
              <a:defRPr/>
            </a:pPr>
            <a:endParaRPr lang="fr-FR" sz="800" dirty="0">
              <a:solidFill>
                <a:srgbClr val="002060"/>
              </a:solidFill>
              <a:sym typeface="Wingdings 2" pitchFamily="18" charset="2"/>
            </a:endParaRPr>
          </a:p>
          <a:p>
            <a:pPr marL="444500" indent="96838" eaLnBrk="1" hangingPunct="1">
              <a:lnSpc>
                <a:spcPct val="150000"/>
              </a:lnSpc>
              <a:defRPr/>
            </a:pPr>
            <a:r>
              <a:rPr lang="fr-FR" sz="2400" dirty="0">
                <a:solidFill>
                  <a:srgbClr val="002060"/>
                </a:solidFill>
                <a:latin typeface="+mn-lt"/>
                <a:sym typeface="Wingdings 2" pitchFamily="18" charset="2"/>
              </a:rPr>
              <a:t>A- Test hypoglycémie insulinique </a:t>
            </a:r>
          </a:p>
          <a:p>
            <a:pPr marL="444500" indent="96838" eaLnBrk="1" hangingPunct="1">
              <a:lnSpc>
                <a:spcPct val="150000"/>
              </a:lnSpc>
              <a:defRPr/>
            </a:pPr>
            <a:r>
              <a:rPr lang="fr-FR" sz="2400" dirty="0">
                <a:solidFill>
                  <a:srgbClr val="002060"/>
                </a:solidFill>
                <a:latin typeface="+mn-lt"/>
                <a:sym typeface="Wingdings 2" pitchFamily="18" charset="2"/>
              </a:rPr>
              <a:t>B- Dosage de l’ aldostérone </a:t>
            </a:r>
          </a:p>
          <a:p>
            <a:pPr marL="444500" indent="96838" eaLnBrk="1" hangingPunct="1">
              <a:lnSpc>
                <a:spcPct val="150000"/>
              </a:lnSpc>
              <a:defRPr/>
            </a:pPr>
            <a:r>
              <a:rPr lang="fr-FR" sz="2400" dirty="0">
                <a:solidFill>
                  <a:srgbClr val="002060"/>
                </a:solidFill>
                <a:latin typeface="+mn-lt"/>
                <a:sym typeface="Wingdings 2" pitchFamily="18" charset="2"/>
              </a:rPr>
              <a:t>C- Test synacthene ordinaire </a:t>
            </a:r>
          </a:p>
          <a:p>
            <a:pPr marL="444500" indent="96838" eaLnBrk="1" hangingPunct="1">
              <a:lnSpc>
                <a:spcPct val="150000"/>
              </a:lnSpc>
              <a:defRPr/>
            </a:pPr>
            <a:r>
              <a:rPr lang="fr-FR" sz="2400" dirty="0">
                <a:solidFill>
                  <a:srgbClr val="002060"/>
                </a:solidFill>
                <a:latin typeface="+mn-lt"/>
                <a:sym typeface="Wingdings 2" pitchFamily="18" charset="2"/>
              </a:rPr>
              <a:t>D- Dosage de l’ACTH </a:t>
            </a:r>
          </a:p>
          <a:p>
            <a:pPr marL="444500" indent="96838" eaLnBrk="1" hangingPunct="1">
              <a:lnSpc>
                <a:spcPct val="150000"/>
              </a:lnSpc>
              <a:defRPr/>
            </a:pPr>
            <a:r>
              <a:rPr lang="fr-FR" sz="2400" dirty="0">
                <a:solidFill>
                  <a:srgbClr val="002060"/>
                </a:solidFill>
                <a:latin typeface="+mn-lt"/>
                <a:sym typeface="Wingdings 2" pitchFamily="18" charset="2"/>
              </a:rPr>
              <a:t>E- Dosage cortisol</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a:extLst>
              <a:ext uri="{FF2B5EF4-FFF2-40B4-BE49-F238E27FC236}">
                <a16:creationId xmlns:a16="http://schemas.microsoft.com/office/drawing/2014/main" id="{56C9F7F5-8BD6-20C0-C6A1-4083139DDE38}"/>
              </a:ext>
            </a:extLst>
          </p:cNvPr>
          <p:cNvSpPr txBox="1">
            <a:spLocks noChangeArrowheads="1"/>
          </p:cNvSpPr>
          <p:nvPr/>
        </p:nvSpPr>
        <p:spPr bwMode="auto">
          <a:xfrm>
            <a:off x="142875" y="1089025"/>
            <a:ext cx="8786813" cy="3913188"/>
          </a:xfrm>
          <a:prstGeom prst="rect">
            <a:avLst/>
          </a:prstGeom>
          <a:noFill/>
          <a:ln w="9525">
            <a:noFill/>
            <a:miter lim="800000"/>
            <a:headEnd/>
            <a:tailEnd/>
          </a:ln>
          <a:effectLst/>
        </p:spPr>
        <p:txBody>
          <a:bodyPr>
            <a:spAutoFit/>
          </a:bodyPr>
          <a:lstStyle/>
          <a:p>
            <a:pPr eaLnBrk="1" hangingPunct="1">
              <a:spcBef>
                <a:spcPct val="50000"/>
              </a:spcBef>
              <a:defRPr/>
            </a:pPr>
            <a:r>
              <a:rPr lang="fr-FR" sz="2400" b="1" dirty="0">
                <a:solidFill>
                  <a:srgbClr val="002060"/>
                </a:solidFill>
                <a:latin typeface="+mn-lt"/>
                <a:sym typeface="Wingdings 2" pitchFamily="18" charset="2"/>
              </a:rPr>
              <a:t> Pour confirmer le diagnostic vous allez demander :</a:t>
            </a:r>
          </a:p>
          <a:p>
            <a:pPr eaLnBrk="1" hangingPunct="1">
              <a:spcBef>
                <a:spcPct val="50000"/>
              </a:spcBef>
              <a:defRPr/>
            </a:pPr>
            <a:endParaRPr lang="fr-FR" sz="2400" b="1" i="1" dirty="0">
              <a:solidFill>
                <a:srgbClr val="002060"/>
              </a:solidFill>
              <a:sym typeface="Wingdings 2" pitchFamily="18" charset="2"/>
            </a:endParaRPr>
          </a:p>
          <a:p>
            <a:pPr eaLnBrk="1" hangingPunct="1">
              <a:spcBef>
                <a:spcPct val="50000"/>
              </a:spcBef>
              <a:defRPr/>
            </a:pPr>
            <a:endParaRPr lang="fr-FR" sz="800" dirty="0">
              <a:solidFill>
                <a:srgbClr val="002060"/>
              </a:solidFill>
              <a:sym typeface="Wingdings 2" pitchFamily="18" charset="2"/>
            </a:endParaRPr>
          </a:p>
          <a:p>
            <a:pPr marL="444500" indent="96838" eaLnBrk="1" hangingPunct="1">
              <a:lnSpc>
                <a:spcPct val="150000"/>
              </a:lnSpc>
              <a:defRPr/>
            </a:pPr>
            <a:r>
              <a:rPr lang="fr-FR" sz="2400" dirty="0">
                <a:solidFill>
                  <a:srgbClr val="002060"/>
                </a:solidFill>
                <a:latin typeface="+mn-lt"/>
                <a:sym typeface="Wingdings 2" pitchFamily="18" charset="2"/>
              </a:rPr>
              <a:t>A- Test hypoglycémie insulinique </a:t>
            </a:r>
          </a:p>
          <a:p>
            <a:pPr marL="444500" indent="96838" eaLnBrk="1" hangingPunct="1">
              <a:lnSpc>
                <a:spcPct val="150000"/>
              </a:lnSpc>
              <a:defRPr/>
            </a:pPr>
            <a:r>
              <a:rPr lang="fr-FR" sz="2400" dirty="0">
                <a:solidFill>
                  <a:srgbClr val="002060"/>
                </a:solidFill>
                <a:latin typeface="+mn-lt"/>
                <a:sym typeface="Wingdings 2" pitchFamily="18" charset="2"/>
              </a:rPr>
              <a:t>B- Dosage de l’ aldostérone </a:t>
            </a:r>
          </a:p>
          <a:p>
            <a:pPr marL="444500" indent="96838" eaLnBrk="1" hangingPunct="1">
              <a:lnSpc>
                <a:spcPct val="150000"/>
              </a:lnSpc>
              <a:defRPr/>
            </a:pPr>
            <a:r>
              <a:rPr lang="fr-FR" sz="2400" dirty="0">
                <a:solidFill>
                  <a:srgbClr val="002060"/>
                </a:solidFill>
                <a:latin typeface="+mn-lt"/>
                <a:sym typeface="Wingdings 2" pitchFamily="18" charset="2"/>
              </a:rPr>
              <a:t>C- Test synacthene ordinaire </a:t>
            </a:r>
          </a:p>
          <a:p>
            <a:pPr marL="444500" indent="96838" eaLnBrk="1" hangingPunct="1">
              <a:lnSpc>
                <a:spcPct val="150000"/>
              </a:lnSpc>
              <a:defRPr/>
            </a:pPr>
            <a:r>
              <a:rPr lang="fr-FR" sz="2400" dirty="0">
                <a:solidFill>
                  <a:srgbClr val="002060"/>
                </a:solidFill>
                <a:latin typeface="+mn-lt"/>
                <a:sym typeface="Wingdings 2" pitchFamily="18" charset="2"/>
              </a:rPr>
              <a:t>D- Dosage du cortisol libre urinaire </a:t>
            </a:r>
          </a:p>
          <a:p>
            <a:pPr marL="444500" indent="96838" eaLnBrk="1" hangingPunct="1">
              <a:lnSpc>
                <a:spcPct val="150000"/>
              </a:lnSpc>
              <a:defRPr/>
            </a:pPr>
            <a:r>
              <a:rPr lang="fr-FR" sz="2400" dirty="0">
                <a:solidFill>
                  <a:srgbClr val="FF0000"/>
                </a:solidFill>
                <a:latin typeface="+mn-lt"/>
                <a:sym typeface="Wingdings 2" pitchFamily="18" charset="2"/>
              </a:rPr>
              <a:t>E- Dosage cortisol</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E11E1172-F8A6-2AC6-87C7-D5C1262F5FF7}"/>
              </a:ext>
            </a:extLst>
          </p:cNvPr>
          <p:cNvSpPr>
            <a:spLocks noChangeArrowheads="1"/>
          </p:cNvSpPr>
          <p:nvPr/>
        </p:nvSpPr>
        <p:spPr bwMode="auto">
          <a:xfrm>
            <a:off x="323850" y="2000250"/>
            <a:ext cx="8640763" cy="32321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endParaRPr lang="fr-FR" altLang="fr-FR" sz="2400" b="1" dirty="0">
              <a:solidFill>
                <a:srgbClr val="002060"/>
              </a:solidFill>
            </a:endParaRPr>
          </a:p>
          <a:p>
            <a:pPr eaLnBrk="1" hangingPunct="1">
              <a:lnSpc>
                <a:spcPct val="150000"/>
              </a:lnSpc>
              <a:spcBef>
                <a:spcPct val="0"/>
              </a:spcBef>
              <a:buFontTx/>
              <a:buNone/>
              <a:defRPr/>
            </a:pPr>
            <a:r>
              <a:rPr lang="fr-FR" altLang="fr-FR" sz="2400" dirty="0">
                <a:solidFill>
                  <a:srgbClr val="002060"/>
                </a:solidFill>
                <a:latin typeface="+mj-lt"/>
              </a:rPr>
              <a:t>A – Préconiser un régime sans sel </a:t>
            </a:r>
          </a:p>
          <a:p>
            <a:pPr eaLnBrk="1" hangingPunct="1">
              <a:lnSpc>
                <a:spcPct val="150000"/>
              </a:lnSpc>
              <a:spcBef>
                <a:spcPct val="0"/>
              </a:spcBef>
              <a:buFontTx/>
              <a:buNone/>
              <a:defRPr/>
            </a:pPr>
            <a:r>
              <a:rPr lang="fr-FR" altLang="fr-FR" sz="2400" dirty="0">
                <a:solidFill>
                  <a:srgbClr val="002060"/>
                </a:solidFill>
                <a:latin typeface="+mj-lt"/>
              </a:rPr>
              <a:t>B – Faire un test au </a:t>
            </a:r>
            <a:r>
              <a:rPr lang="fr-FR" altLang="fr-FR" sz="2400" dirty="0" err="1">
                <a:solidFill>
                  <a:srgbClr val="002060"/>
                </a:solidFill>
                <a:latin typeface="+mj-lt"/>
              </a:rPr>
              <a:t>synachtene</a:t>
            </a:r>
            <a:endParaRPr lang="fr-FR" altLang="fr-FR" sz="2400" dirty="0">
              <a:solidFill>
                <a:srgbClr val="002060"/>
              </a:solidFill>
              <a:latin typeface="+mj-lt"/>
            </a:endParaRPr>
          </a:p>
          <a:p>
            <a:pPr eaLnBrk="1" hangingPunct="1">
              <a:lnSpc>
                <a:spcPct val="150000"/>
              </a:lnSpc>
              <a:spcBef>
                <a:spcPct val="0"/>
              </a:spcBef>
              <a:buFontTx/>
              <a:buNone/>
              <a:defRPr/>
            </a:pPr>
            <a:r>
              <a:rPr lang="fr-FR" altLang="fr-FR" sz="2400" dirty="0">
                <a:solidFill>
                  <a:srgbClr val="002060"/>
                </a:solidFill>
                <a:latin typeface="+mj-lt"/>
              </a:rPr>
              <a:t> C – Mettre de l’hydrocortisone per os </a:t>
            </a:r>
          </a:p>
          <a:p>
            <a:pPr eaLnBrk="1" hangingPunct="1">
              <a:lnSpc>
                <a:spcPct val="150000"/>
              </a:lnSpc>
              <a:spcBef>
                <a:spcPct val="0"/>
              </a:spcBef>
              <a:buFontTx/>
              <a:buNone/>
              <a:defRPr/>
            </a:pPr>
            <a:r>
              <a:rPr lang="fr-FR" altLang="fr-FR" sz="2400" dirty="0">
                <a:solidFill>
                  <a:srgbClr val="002060"/>
                </a:solidFill>
                <a:latin typeface="+mj-lt"/>
              </a:rPr>
              <a:t> D –Prescrire la fludrocortisone </a:t>
            </a:r>
          </a:p>
          <a:p>
            <a:pPr eaLnBrk="1" hangingPunct="1">
              <a:lnSpc>
                <a:spcPct val="150000"/>
              </a:lnSpc>
              <a:spcBef>
                <a:spcPct val="0"/>
              </a:spcBef>
              <a:buFontTx/>
              <a:buNone/>
              <a:defRPr/>
            </a:pPr>
            <a:r>
              <a:rPr lang="fr-FR" altLang="fr-FR" sz="2400" dirty="0">
                <a:solidFill>
                  <a:srgbClr val="002060"/>
                </a:solidFill>
                <a:latin typeface="+mj-lt"/>
              </a:rPr>
              <a:t> E-Refaire la cortisolémie après quelques semaines </a:t>
            </a:r>
          </a:p>
        </p:txBody>
      </p:sp>
      <p:sp>
        <p:nvSpPr>
          <p:cNvPr id="15363" name="Rectangle 3">
            <a:extLst>
              <a:ext uri="{FF2B5EF4-FFF2-40B4-BE49-F238E27FC236}">
                <a16:creationId xmlns:a16="http://schemas.microsoft.com/office/drawing/2014/main" id="{920FDEA3-2244-42DC-0A65-C0510882B795}"/>
              </a:ext>
            </a:extLst>
          </p:cNvPr>
          <p:cNvSpPr>
            <a:spLocks noChangeArrowheads="1"/>
          </p:cNvSpPr>
          <p:nvPr/>
        </p:nvSpPr>
        <p:spPr bwMode="auto">
          <a:xfrm>
            <a:off x="319088" y="549275"/>
            <a:ext cx="8358187" cy="15684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Une  cortisolémie faite chez une patiente ayant une maladie de </a:t>
            </a:r>
            <a:r>
              <a:rPr lang="fr-FR" altLang="fr-FR" sz="2400" b="1" dirty="0" err="1">
                <a:solidFill>
                  <a:srgbClr val="002060"/>
                </a:solidFill>
                <a:latin typeface="+mj-lt"/>
              </a:rPr>
              <a:t>crohn</a:t>
            </a:r>
            <a:r>
              <a:rPr lang="fr-FR" altLang="fr-FR" sz="2400" b="1" dirty="0">
                <a:solidFill>
                  <a:srgbClr val="002060"/>
                </a:solidFill>
                <a:latin typeface="+mj-lt"/>
              </a:rPr>
              <a:t> traitée par prednisone dégraissée jusqu’ a 5mg revient  à 80ng/ml vous allez :</a:t>
            </a:r>
          </a:p>
          <a:p>
            <a:pPr eaLnBrk="1" hangingPunct="1">
              <a:defRPr/>
            </a:pPr>
            <a:endParaRPr lang="fr-FR" altLang="fr-FR" sz="2400" b="1" dirty="0">
              <a:solidFill>
                <a:srgbClr val="00206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7C6271C-9322-E0A0-5551-613E05BA49C0}"/>
              </a:ext>
            </a:extLst>
          </p:cNvPr>
          <p:cNvSpPr>
            <a:spLocks noChangeArrowheads="1"/>
          </p:cNvSpPr>
          <p:nvPr/>
        </p:nvSpPr>
        <p:spPr bwMode="auto">
          <a:xfrm>
            <a:off x="323850" y="2000250"/>
            <a:ext cx="8640763" cy="32321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endParaRPr lang="fr-FR" altLang="fr-FR" sz="2400" b="1" dirty="0">
              <a:solidFill>
                <a:srgbClr val="002060"/>
              </a:solidFill>
            </a:endParaRPr>
          </a:p>
          <a:p>
            <a:pPr eaLnBrk="1" hangingPunct="1">
              <a:lnSpc>
                <a:spcPct val="150000"/>
              </a:lnSpc>
              <a:spcBef>
                <a:spcPct val="0"/>
              </a:spcBef>
              <a:buFontTx/>
              <a:buNone/>
              <a:defRPr/>
            </a:pPr>
            <a:r>
              <a:rPr lang="fr-FR" altLang="fr-FR" sz="2400" dirty="0">
                <a:solidFill>
                  <a:srgbClr val="002060"/>
                </a:solidFill>
                <a:latin typeface="+mj-lt"/>
              </a:rPr>
              <a:t>A – Préconiser un régime sans sel </a:t>
            </a:r>
          </a:p>
          <a:p>
            <a:pPr eaLnBrk="1" hangingPunct="1">
              <a:lnSpc>
                <a:spcPct val="150000"/>
              </a:lnSpc>
              <a:spcBef>
                <a:spcPct val="0"/>
              </a:spcBef>
              <a:buFontTx/>
              <a:buNone/>
              <a:defRPr/>
            </a:pPr>
            <a:r>
              <a:rPr lang="fr-FR" altLang="fr-FR" sz="2400" dirty="0">
                <a:solidFill>
                  <a:srgbClr val="FF0000"/>
                </a:solidFill>
                <a:latin typeface="+mj-lt"/>
              </a:rPr>
              <a:t>B – Faire un test au </a:t>
            </a:r>
            <a:r>
              <a:rPr lang="fr-FR" altLang="fr-FR" sz="2400" dirty="0" err="1">
                <a:solidFill>
                  <a:srgbClr val="FF0000"/>
                </a:solidFill>
                <a:latin typeface="+mj-lt"/>
              </a:rPr>
              <a:t>synachtene</a:t>
            </a:r>
            <a:endParaRPr lang="fr-FR" altLang="fr-FR" sz="2400" dirty="0">
              <a:solidFill>
                <a:srgbClr val="FF0000"/>
              </a:solidFill>
              <a:latin typeface="+mj-lt"/>
            </a:endParaRPr>
          </a:p>
          <a:p>
            <a:pPr eaLnBrk="1" hangingPunct="1">
              <a:lnSpc>
                <a:spcPct val="150000"/>
              </a:lnSpc>
              <a:spcBef>
                <a:spcPct val="0"/>
              </a:spcBef>
              <a:buFontTx/>
              <a:buNone/>
              <a:defRPr/>
            </a:pPr>
            <a:r>
              <a:rPr lang="fr-FR" altLang="fr-FR" sz="2400" dirty="0">
                <a:solidFill>
                  <a:srgbClr val="002060"/>
                </a:solidFill>
                <a:latin typeface="+mj-lt"/>
              </a:rPr>
              <a:t> </a:t>
            </a:r>
            <a:r>
              <a:rPr lang="fr-FR" altLang="fr-FR" sz="2400" dirty="0">
                <a:solidFill>
                  <a:srgbClr val="FF0000"/>
                </a:solidFill>
                <a:latin typeface="+mj-lt"/>
              </a:rPr>
              <a:t>C – Mettre de l’hydrocortisone per os </a:t>
            </a:r>
          </a:p>
          <a:p>
            <a:pPr eaLnBrk="1" hangingPunct="1">
              <a:lnSpc>
                <a:spcPct val="150000"/>
              </a:lnSpc>
              <a:spcBef>
                <a:spcPct val="0"/>
              </a:spcBef>
              <a:buFontTx/>
              <a:buNone/>
              <a:defRPr/>
            </a:pPr>
            <a:r>
              <a:rPr lang="fr-FR" altLang="fr-FR" sz="2400" dirty="0">
                <a:solidFill>
                  <a:srgbClr val="002060"/>
                </a:solidFill>
                <a:latin typeface="+mj-lt"/>
              </a:rPr>
              <a:t> D –Prescrire la fludrocortisone </a:t>
            </a:r>
          </a:p>
          <a:p>
            <a:pPr eaLnBrk="1" hangingPunct="1">
              <a:lnSpc>
                <a:spcPct val="150000"/>
              </a:lnSpc>
              <a:spcBef>
                <a:spcPct val="0"/>
              </a:spcBef>
              <a:buFontTx/>
              <a:buNone/>
              <a:defRPr/>
            </a:pPr>
            <a:r>
              <a:rPr lang="fr-FR" altLang="fr-FR" sz="2400" dirty="0">
                <a:solidFill>
                  <a:srgbClr val="002060"/>
                </a:solidFill>
                <a:latin typeface="+mj-lt"/>
              </a:rPr>
              <a:t> </a:t>
            </a:r>
            <a:r>
              <a:rPr lang="fr-FR" altLang="fr-FR" sz="2400" dirty="0">
                <a:solidFill>
                  <a:srgbClr val="FF0000"/>
                </a:solidFill>
                <a:latin typeface="+mj-lt"/>
              </a:rPr>
              <a:t>E-Refaire la cortisolémie après quelques semaines </a:t>
            </a:r>
          </a:p>
        </p:txBody>
      </p:sp>
      <p:sp>
        <p:nvSpPr>
          <p:cNvPr id="15363" name="Rectangle 3">
            <a:extLst>
              <a:ext uri="{FF2B5EF4-FFF2-40B4-BE49-F238E27FC236}">
                <a16:creationId xmlns:a16="http://schemas.microsoft.com/office/drawing/2014/main" id="{A3DDC586-6C17-1DB6-CAE5-C3B898145D2D}"/>
              </a:ext>
            </a:extLst>
          </p:cNvPr>
          <p:cNvSpPr>
            <a:spLocks noChangeArrowheads="1"/>
          </p:cNvSpPr>
          <p:nvPr/>
        </p:nvSpPr>
        <p:spPr bwMode="auto">
          <a:xfrm>
            <a:off x="319088" y="549275"/>
            <a:ext cx="8358187" cy="156845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Une  cortisolémie faite chez une patiente ayant une maladie de </a:t>
            </a:r>
            <a:r>
              <a:rPr lang="fr-FR" altLang="fr-FR" sz="2400" b="1" dirty="0" err="1">
                <a:solidFill>
                  <a:srgbClr val="002060"/>
                </a:solidFill>
                <a:latin typeface="+mj-lt"/>
              </a:rPr>
              <a:t>crohn</a:t>
            </a:r>
            <a:r>
              <a:rPr lang="fr-FR" altLang="fr-FR" sz="2400" b="1" dirty="0">
                <a:solidFill>
                  <a:srgbClr val="002060"/>
                </a:solidFill>
                <a:latin typeface="+mj-lt"/>
              </a:rPr>
              <a:t> traitée par prednisone dégraissée jusqu’ a 5mg revient  à 80ng/ml vous allez :</a:t>
            </a:r>
          </a:p>
          <a:p>
            <a:pPr eaLnBrk="1" hangingPunct="1">
              <a:defRPr/>
            </a:pPr>
            <a:endParaRPr lang="fr-FR" altLang="fr-FR" sz="2400" b="1" dirty="0">
              <a:solidFill>
                <a:srgbClr val="002060"/>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0D4037-6518-DABD-CCF3-5E4EED53AC06}"/>
              </a:ext>
            </a:extLst>
          </p:cNvPr>
          <p:cNvSpPr>
            <a:spLocks noChangeArrowheads="1"/>
          </p:cNvSpPr>
          <p:nvPr/>
        </p:nvSpPr>
        <p:spPr bwMode="auto">
          <a:xfrm>
            <a:off x="395288" y="1052513"/>
            <a:ext cx="8353425" cy="4467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fr-FR" altLang="fr-FR" sz="2400" b="1" dirty="0">
                <a:solidFill>
                  <a:srgbClr val="002060"/>
                </a:solidFill>
                <a:latin typeface="+mn-lt"/>
              </a:rPr>
              <a:t>Parmi les mesures éducatives  d’un patient ayant une insuffisance surrénalienne lente </a:t>
            </a:r>
            <a:r>
              <a:rPr lang="fr-FR" altLang="fr-FR" sz="2400" b="1" dirty="0">
                <a:solidFill>
                  <a:srgbClr val="002060"/>
                </a:solidFill>
              </a:rPr>
              <a:t>:</a:t>
            </a:r>
          </a:p>
          <a:p>
            <a:pPr>
              <a:defRPr/>
            </a:pPr>
            <a:endParaRPr lang="fr-FR" altLang="fr-FR" sz="2400" b="1" dirty="0">
              <a:solidFill>
                <a:srgbClr val="002060"/>
              </a:solidFill>
            </a:endParaRPr>
          </a:p>
          <a:p>
            <a:pPr>
              <a:lnSpc>
                <a:spcPct val="150000"/>
              </a:lnSpc>
              <a:defRPr/>
            </a:pPr>
            <a:r>
              <a:rPr lang="fr-FR" altLang="fr-FR" sz="2400" dirty="0">
                <a:solidFill>
                  <a:srgbClr val="002060"/>
                </a:solidFill>
                <a:latin typeface="+mn-lt"/>
              </a:rPr>
              <a:t>A - Multiplier les doses d'hydrocortisone par 2 à 3  </a:t>
            </a:r>
          </a:p>
          <a:p>
            <a:pPr>
              <a:lnSpc>
                <a:spcPct val="150000"/>
              </a:lnSpc>
              <a:defRPr/>
            </a:pPr>
            <a:r>
              <a:rPr lang="fr-FR" altLang="fr-FR" sz="2400" dirty="0">
                <a:solidFill>
                  <a:srgbClr val="002060"/>
                </a:solidFill>
                <a:latin typeface="+mn-lt"/>
              </a:rPr>
              <a:t>     en  cas d'infection</a:t>
            </a:r>
          </a:p>
          <a:p>
            <a:pPr>
              <a:lnSpc>
                <a:spcPct val="150000"/>
              </a:lnSpc>
              <a:defRPr/>
            </a:pPr>
            <a:r>
              <a:rPr lang="fr-FR" altLang="fr-FR" sz="2400" dirty="0">
                <a:solidFill>
                  <a:srgbClr val="002060"/>
                </a:solidFill>
                <a:latin typeface="+mn-lt"/>
              </a:rPr>
              <a:t>B - Suivre un régime sans Résidu </a:t>
            </a:r>
          </a:p>
          <a:p>
            <a:pPr>
              <a:lnSpc>
                <a:spcPct val="150000"/>
              </a:lnSpc>
              <a:defRPr/>
            </a:pPr>
            <a:r>
              <a:rPr lang="fr-FR" altLang="fr-FR" sz="2400" dirty="0">
                <a:solidFill>
                  <a:srgbClr val="002060"/>
                </a:solidFill>
                <a:latin typeface="+mn-lt"/>
              </a:rPr>
              <a:t>C - Ne jamais interrompre son traitement</a:t>
            </a:r>
          </a:p>
          <a:p>
            <a:pPr>
              <a:lnSpc>
                <a:spcPct val="150000"/>
              </a:lnSpc>
              <a:defRPr/>
            </a:pPr>
            <a:r>
              <a:rPr lang="fr-FR" altLang="fr-FR" sz="2400" dirty="0">
                <a:solidFill>
                  <a:srgbClr val="002060"/>
                </a:solidFill>
                <a:latin typeface="+mn-lt"/>
              </a:rPr>
              <a:t> D - Avoir une carte d'</a:t>
            </a:r>
            <a:r>
              <a:rPr lang="fr-FR" altLang="fr-FR" sz="2400" dirty="0" err="1">
                <a:solidFill>
                  <a:srgbClr val="002060"/>
                </a:solidFill>
                <a:latin typeface="+mn-lt"/>
              </a:rPr>
              <a:t>addisonien</a:t>
            </a:r>
            <a:r>
              <a:rPr lang="fr-FR" altLang="fr-FR" sz="2400" dirty="0">
                <a:solidFill>
                  <a:srgbClr val="002060"/>
                </a:solidFill>
                <a:latin typeface="+mn-lt"/>
              </a:rPr>
              <a:t> </a:t>
            </a:r>
          </a:p>
          <a:p>
            <a:pPr>
              <a:lnSpc>
                <a:spcPct val="150000"/>
              </a:lnSpc>
              <a:defRPr/>
            </a:pPr>
            <a:r>
              <a:rPr lang="fr-FR" altLang="fr-FR" sz="2400" dirty="0">
                <a:solidFill>
                  <a:srgbClr val="002060"/>
                </a:solidFill>
                <a:latin typeface="+mn-lt"/>
              </a:rPr>
              <a:t>E - Avoir au réfrigérateur de l’hydrocortisone  injectable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3D7757-F816-A331-607A-3C0DCDC35138}"/>
              </a:ext>
            </a:extLst>
          </p:cNvPr>
          <p:cNvSpPr>
            <a:spLocks noChangeArrowheads="1"/>
          </p:cNvSpPr>
          <p:nvPr/>
        </p:nvSpPr>
        <p:spPr bwMode="auto">
          <a:xfrm>
            <a:off x="395288" y="1052513"/>
            <a:ext cx="8353425" cy="4467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fr-FR" altLang="fr-FR" sz="2400" b="1" dirty="0">
                <a:solidFill>
                  <a:srgbClr val="002060"/>
                </a:solidFill>
                <a:latin typeface="+mn-lt"/>
              </a:rPr>
              <a:t>Parmi les mesures éducatives  d’un patient ayant une insuffisance surrénalienne lente </a:t>
            </a:r>
            <a:r>
              <a:rPr lang="fr-FR" altLang="fr-FR" sz="2400" b="1" dirty="0">
                <a:solidFill>
                  <a:srgbClr val="002060"/>
                </a:solidFill>
              </a:rPr>
              <a:t>:</a:t>
            </a:r>
          </a:p>
          <a:p>
            <a:pPr>
              <a:defRPr/>
            </a:pPr>
            <a:endParaRPr lang="fr-FR" altLang="fr-FR" sz="2400" b="1" dirty="0">
              <a:solidFill>
                <a:srgbClr val="002060"/>
              </a:solidFill>
            </a:endParaRPr>
          </a:p>
          <a:p>
            <a:pPr>
              <a:lnSpc>
                <a:spcPct val="150000"/>
              </a:lnSpc>
              <a:defRPr/>
            </a:pPr>
            <a:r>
              <a:rPr lang="fr-FR" altLang="fr-FR" sz="2400" dirty="0">
                <a:solidFill>
                  <a:srgbClr val="FF0000"/>
                </a:solidFill>
                <a:latin typeface="+mn-lt"/>
              </a:rPr>
              <a:t>A - Multiplier les doses d'hydrocortisone par 2 à 3  </a:t>
            </a:r>
          </a:p>
          <a:p>
            <a:pPr>
              <a:lnSpc>
                <a:spcPct val="150000"/>
              </a:lnSpc>
              <a:defRPr/>
            </a:pPr>
            <a:r>
              <a:rPr lang="fr-FR" altLang="fr-FR" sz="2400" dirty="0">
                <a:solidFill>
                  <a:srgbClr val="FF0000"/>
                </a:solidFill>
                <a:latin typeface="+mn-lt"/>
              </a:rPr>
              <a:t>     en  cas d'infection</a:t>
            </a:r>
          </a:p>
          <a:p>
            <a:pPr>
              <a:lnSpc>
                <a:spcPct val="150000"/>
              </a:lnSpc>
              <a:defRPr/>
            </a:pPr>
            <a:r>
              <a:rPr lang="fr-FR" altLang="fr-FR" sz="2400" dirty="0">
                <a:solidFill>
                  <a:srgbClr val="002060"/>
                </a:solidFill>
                <a:latin typeface="+mn-lt"/>
              </a:rPr>
              <a:t>B - Suivre un régime sans Résidu </a:t>
            </a:r>
          </a:p>
          <a:p>
            <a:pPr>
              <a:lnSpc>
                <a:spcPct val="150000"/>
              </a:lnSpc>
              <a:defRPr/>
            </a:pPr>
            <a:r>
              <a:rPr lang="fr-FR" altLang="fr-FR" sz="2400" dirty="0">
                <a:solidFill>
                  <a:srgbClr val="FF0000"/>
                </a:solidFill>
                <a:latin typeface="+mn-lt"/>
              </a:rPr>
              <a:t>C - Ne jamais interrompre son traitement</a:t>
            </a:r>
          </a:p>
          <a:p>
            <a:pPr>
              <a:lnSpc>
                <a:spcPct val="150000"/>
              </a:lnSpc>
              <a:defRPr/>
            </a:pPr>
            <a:r>
              <a:rPr lang="fr-FR" altLang="fr-FR" sz="2400" dirty="0">
                <a:solidFill>
                  <a:srgbClr val="FF0000"/>
                </a:solidFill>
                <a:latin typeface="+mn-lt"/>
              </a:rPr>
              <a:t> D - Avoir une carte d'</a:t>
            </a:r>
            <a:r>
              <a:rPr lang="fr-FR" altLang="fr-FR" sz="2400" dirty="0" err="1">
                <a:solidFill>
                  <a:srgbClr val="FF0000"/>
                </a:solidFill>
                <a:latin typeface="+mn-lt"/>
              </a:rPr>
              <a:t>addisonien</a:t>
            </a:r>
            <a:r>
              <a:rPr lang="fr-FR" altLang="fr-FR" sz="2400" dirty="0">
                <a:solidFill>
                  <a:srgbClr val="FF0000"/>
                </a:solidFill>
                <a:latin typeface="+mn-lt"/>
              </a:rPr>
              <a:t> </a:t>
            </a:r>
          </a:p>
          <a:p>
            <a:pPr>
              <a:lnSpc>
                <a:spcPct val="150000"/>
              </a:lnSpc>
              <a:defRPr/>
            </a:pPr>
            <a:r>
              <a:rPr lang="fr-FR" altLang="fr-FR" sz="2400" dirty="0">
                <a:solidFill>
                  <a:srgbClr val="FF0000"/>
                </a:solidFill>
                <a:latin typeface="+mn-lt"/>
              </a:rPr>
              <a:t>E - Avoir au réfrigérateur de l’hydrocortisone  injectable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5BC5446-7284-DA12-218A-776E409DDB3B}"/>
              </a:ext>
            </a:extLst>
          </p:cNvPr>
          <p:cNvSpPr>
            <a:spLocks noChangeArrowheads="1"/>
          </p:cNvSpPr>
          <p:nvPr/>
        </p:nvSpPr>
        <p:spPr bwMode="auto">
          <a:xfrm>
            <a:off x="395288" y="1230313"/>
            <a:ext cx="8353425" cy="1477962"/>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n-lt"/>
              </a:rPr>
              <a:t>Chez un insuffisant surrénalien connu , les besoins en hydrocortisone peuvent êtres augmentés  en cas de traitement par  :</a:t>
            </a:r>
          </a:p>
          <a:p>
            <a:pPr eaLnBrk="1" hangingPunct="1">
              <a:defRPr/>
            </a:pPr>
            <a:endParaRPr lang="fr-FR" altLang="fr-FR" dirty="0">
              <a:latin typeface="+mn-lt"/>
            </a:endParaRPr>
          </a:p>
        </p:txBody>
      </p:sp>
      <p:sp>
        <p:nvSpPr>
          <p:cNvPr id="35843" name="Rectangle 3">
            <a:extLst>
              <a:ext uri="{FF2B5EF4-FFF2-40B4-BE49-F238E27FC236}">
                <a16:creationId xmlns:a16="http://schemas.microsoft.com/office/drawing/2014/main" id="{723CC0F6-FC26-F21D-2315-559BF3A38250}"/>
              </a:ext>
            </a:extLst>
          </p:cNvPr>
          <p:cNvSpPr>
            <a:spLocks noChangeArrowheads="1"/>
          </p:cNvSpPr>
          <p:nvPr/>
        </p:nvSpPr>
        <p:spPr bwMode="auto">
          <a:xfrm>
            <a:off x="741363" y="2492375"/>
            <a:ext cx="7991475" cy="279400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dirty="0">
                <a:solidFill>
                  <a:srgbClr val="002060"/>
                </a:solidFill>
                <a:latin typeface="+mn-lt"/>
              </a:rPr>
              <a:t>A - Gardénal</a:t>
            </a:r>
          </a:p>
          <a:p>
            <a:pPr eaLnBrk="1" hangingPunct="1">
              <a:lnSpc>
                <a:spcPct val="150000"/>
              </a:lnSpc>
              <a:defRPr/>
            </a:pPr>
            <a:r>
              <a:rPr lang="fr-FR" altLang="fr-FR" sz="2400" dirty="0">
                <a:solidFill>
                  <a:srgbClr val="002060"/>
                </a:solidFill>
                <a:latin typeface="+mn-lt"/>
              </a:rPr>
              <a:t>B – Antihypertenseurs centraux</a:t>
            </a:r>
          </a:p>
          <a:p>
            <a:pPr eaLnBrk="1" hangingPunct="1">
              <a:lnSpc>
                <a:spcPct val="150000"/>
              </a:lnSpc>
              <a:defRPr/>
            </a:pPr>
            <a:r>
              <a:rPr lang="fr-FR" altLang="fr-FR" sz="2400" dirty="0">
                <a:solidFill>
                  <a:srgbClr val="002060"/>
                </a:solidFill>
                <a:latin typeface="+mn-lt"/>
              </a:rPr>
              <a:t>C -</a:t>
            </a:r>
            <a:r>
              <a:rPr lang="fr-FR" altLang="fr-FR" sz="2400" dirty="0" err="1">
                <a:solidFill>
                  <a:srgbClr val="002060"/>
                </a:solidFill>
                <a:latin typeface="+mn-lt"/>
              </a:rPr>
              <a:t>Ethambutol</a:t>
            </a:r>
            <a:r>
              <a:rPr lang="fr-FR" altLang="fr-FR" sz="2400" dirty="0">
                <a:solidFill>
                  <a:srgbClr val="002060"/>
                </a:solidFill>
                <a:latin typeface="+mn-lt"/>
              </a:rPr>
              <a:t> </a:t>
            </a:r>
          </a:p>
          <a:p>
            <a:pPr eaLnBrk="1" hangingPunct="1">
              <a:lnSpc>
                <a:spcPct val="150000"/>
              </a:lnSpc>
              <a:defRPr/>
            </a:pPr>
            <a:r>
              <a:rPr lang="fr-FR" altLang="fr-FR" sz="2400" dirty="0">
                <a:solidFill>
                  <a:srgbClr val="002060"/>
                </a:solidFill>
                <a:latin typeface="+mn-lt"/>
              </a:rPr>
              <a:t>D – </a:t>
            </a:r>
            <a:r>
              <a:rPr lang="fr-FR" altLang="fr-FR" sz="2400" dirty="0" err="1">
                <a:solidFill>
                  <a:srgbClr val="002060"/>
                </a:solidFill>
                <a:latin typeface="+mn-lt"/>
              </a:rPr>
              <a:t>Phénytoines</a:t>
            </a:r>
            <a:r>
              <a:rPr lang="fr-FR" altLang="fr-FR" sz="2400" dirty="0">
                <a:solidFill>
                  <a:srgbClr val="002060"/>
                </a:solidFill>
                <a:latin typeface="+mn-lt"/>
              </a:rPr>
              <a:t> </a:t>
            </a:r>
          </a:p>
          <a:p>
            <a:pPr eaLnBrk="1" hangingPunct="1">
              <a:lnSpc>
                <a:spcPct val="150000"/>
              </a:lnSpc>
              <a:defRPr/>
            </a:pPr>
            <a:r>
              <a:rPr lang="fr-FR" altLang="fr-FR" sz="2400" dirty="0">
                <a:solidFill>
                  <a:srgbClr val="002060"/>
                </a:solidFill>
                <a:latin typeface="+mn-lt"/>
              </a:rPr>
              <a:t>E – </a:t>
            </a:r>
            <a:r>
              <a:rPr lang="fr-FR" altLang="fr-FR" sz="2400" dirty="0" err="1">
                <a:solidFill>
                  <a:srgbClr val="002060"/>
                </a:solidFill>
                <a:latin typeface="+mn-lt"/>
              </a:rPr>
              <a:t>Rifampycine</a:t>
            </a:r>
            <a:r>
              <a:rPr lang="fr-FR" altLang="fr-FR" sz="2400" dirty="0">
                <a:solidFill>
                  <a:srgbClr val="002060"/>
                </a:solidFill>
                <a:latin typeface="+mn-lt"/>
              </a:rPr>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BEABD07-D3EA-CF97-2DCA-6A8E939814A2}"/>
              </a:ext>
            </a:extLst>
          </p:cNvPr>
          <p:cNvSpPr>
            <a:spLocks noChangeArrowheads="1"/>
          </p:cNvSpPr>
          <p:nvPr/>
        </p:nvSpPr>
        <p:spPr bwMode="auto">
          <a:xfrm>
            <a:off x="395288" y="1230313"/>
            <a:ext cx="8353425" cy="1477962"/>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n-lt"/>
              </a:rPr>
              <a:t>Chez un insuffisant surrénalien connu , les besoins en hydrocortisone peuvent êtres augmentés  en cas de traitement par  :</a:t>
            </a:r>
          </a:p>
          <a:p>
            <a:pPr eaLnBrk="1" hangingPunct="1">
              <a:defRPr/>
            </a:pPr>
            <a:endParaRPr lang="fr-FR" altLang="fr-FR" dirty="0">
              <a:latin typeface="+mn-lt"/>
            </a:endParaRPr>
          </a:p>
        </p:txBody>
      </p:sp>
      <p:sp>
        <p:nvSpPr>
          <p:cNvPr id="35843" name="Rectangle 3">
            <a:extLst>
              <a:ext uri="{FF2B5EF4-FFF2-40B4-BE49-F238E27FC236}">
                <a16:creationId xmlns:a16="http://schemas.microsoft.com/office/drawing/2014/main" id="{659CC770-FC6F-76D9-002C-8090F9961AE0}"/>
              </a:ext>
            </a:extLst>
          </p:cNvPr>
          <p:cNvSpPr>
            <a:spLocks noChangeArrowheads="1"/>
          </p:cNvSpPr>
          <p:nvPr/>
        </p:nvSpPr>
        <p:spPr bwMode="auto">
          <a:xfrm>
            <a:off x="741363" y="2492375"/>
            <a:ext cx="7991475" cy="279400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dirty="0">
                <a:solidFill>
                  <a:srgbClr val="FF0000"/>
                </a:solidFill>
                <a:latin typeface="+mn-lt"/>
              </a:rPr>
              <a:t>A - Gardénal</a:t>
            </a:r>
          </a:p>
          <a:p>
            <a:pPr eaLnBrk="1" hangingPunct="1">
              <a:lnSpc>
                <a:spcPct val="150000"/>
              </a:lnSpc>
              <a:defRPr/>
            </a:pPr>
            <a:r>
              <a:rPr lang="fr-FR" altLang="fr-FR" sz="2400" dirty="0">
                <a:solidFill>
                  <a:srgbClr val="002060"/>
                </a:solidFill>
                <a:latin typeface="+mn-lt"/>
              </a:rPr>
              <a:t>B - Antihypertenseurs centraux</a:t>
            </a:r>
          </a:p>
          <a:p>
            <a:pPr eaLnBrk="1" hangingPunct="1">
              <a:lnSpc>
                <a:spcPct val="150000"/>
              </a:lnSpc>
              <a:defRPr/>
            </a:pPr>
            <a:r>
              <a:rPr lang="fr-FR" altLang="fr-FR" sz="2400" dirty="0">
                <a:solidFill>
                  <a:srgbClr val="002060"/>
                </a:solidFill>
                <a:latin typeface="+mn-lt"/>
              </a:rPr>
              <a:t>C -</a:t>
            </a:r>
            <a:r>
              <a:rPr lang="fr-FR" altLang="fr-FR" sz="2400" dirty="0" err="1">
                <a:solidFill>
                  <a:srgbClr val="002060"/>
                </a:solidFill>
                <a:latin typeface="+mn-lt"/>
              </a:rPr>
              <a:t>Ethambutol</a:t>
            </a:r>
            <a:r>
              <a:rPr lang="fr-FR" altLang="fr-FR" sz="2400" dirty="0">
                <a:solidFill>
                  <a:srgbClr val="002060"/>
                </a:solidFill>
                <a:latin typeface="+mn-lt"/>
              </a:rPr>
              <a:t> </a:t>
            </a:r>
          </a:p>
          <a:p>
            <a:pPr eaLnBrk="1" hangingPunct="1">
              <a:lnSpc>
                <a:spcPct val="150000"/>
              </a:lnSpc>
              <a:defRPr/>
            </a:pPr>
            <a:r>
              <a:rPr lang="fr-FR" altLang="fr-FR" sz="2400" dirty="0">
                <a:solidFill>
                  <a:srgbClr val="FF0000"/>
                </a:solidFill>
                <a:latin typeface="+mn-lt"/>
              </a:rPr>
              <a:t>D – </a:t>
            </a:r>
            <a:r>
              <a:rPr lang="fr-FR" altLang="fr-FR" sz="2400" dirty="0" err="1">
                <a:solidFill>
                  <a:srgbClr val="FF0000"/>
                </a:solidFill>
                <a:latin typeface="+mn-lt"/>
              </a:rPr>
              <a:t>Phénytoines</a:t>
            </a:r>
            <a:r>
              <a:rPr lang="fr-FR" altLang="fr-FR" sz="2400" dirty="0">
                <a:solidFill>
                  <a:srgbClr val="FF0000"/>
                </a:solidFill>
                <a:latin typeface="+mn-lt"/>
              </a:rPr>
              <a:t> </a:t>
            </a:r>
          </a:p>
          <a:p>
            <a:pPr eaLnBrk="1" hangingPunct="1">
              <a:lnSpc>
                <a:spcPct val="150000"/>
              </a:lnSpc>
              <a:defRPr/>
            </a:pPr>
            <a:r>
              <a:rPr lang="fr-FR" altLang="fr-FR" sz="2400" dirty="0">
                <a:solidFill>
                  <a:srgbClr val="FF0000"/>
                </a:solidFill>
                <a:latin typeface="+mn-lt"/>
              </a:rPr>
              <a:t>E – </a:t>
            </a:r>
            <a:r>
              <a:rPr lang="fr-FR" altLang="fr-FR" sz="2400" dirty="0" err="1">
                <a:solidFill>
                  <a:srgbClr val="FF0000"/>
                </a:solidFill>
                <a:latin typeface="+mn-lt"/>
              </a:rPr>
              <a:t>Rifampycine</a:t>
            </a:r>
            <a:r>
              <a:rPr lang="fr-FR" altLang="fr-FR" sz="2400" dirty="0">
                <a:solidFill>
                  <a:srgbClr val="FF0000"/>
                </a:solidFill>
                <a:latin typeface="+mn-lt"/>
              </a:rPr>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35EA23A-AAB6-E53C-D738-21EF6C97A6E9}"/>
              </a:ext>
            </a:extLst>
          </p:cNvPr>
          <p:cNvSpPr>
            <a:spLocks noChangeArrowheads="1"/>
          </p:cNvSpPr>
          <p:nvPr/>
        </p:nvSpPr>
        <p:spPr bwMode="auto">
          <a:xfrm>
            <a:off x="395288" y="1230313"/>
            <a:ext cx="8353425" cy="830262"/>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Chez un insuffisant surrénalien connu ,l’ajustement des doses d’hydrocortisone orale  est nécessaire en cas de </a:t>
            </a:r>
            <a:r>
              <a:rPr lang="fr-FR" altLang="fr-FR" sz="2400" b="1" dirty="0">
                <a:solidFill>
                  <a:srgbClr val="002060"/>
                </a:solidFill>
              </a:rPr>
              <a:t>:</a:t>
            </a:r>
            <a:endParaRPr lang="fr-FR" altLang="fr-FR" dirty="0">
              <a:solidFill>
                <a:srgbClr val="002060"/>
              </a:solidFill>
            </a:endParaRPr>
          </a:p>
        </p:txBody>
      </p:sp>
      <p:sp>
        <p:nvSpPr>
          <p:cNvPr id="28675" name="Rectangle 3">
            <a:extLst>
              <a:ext uri="{FF2B5EF4-FFF2-40B4-BE49-F238E27FC236}">
                <a16:creationId xmlns:a16="http://schemas.microsoft.com/office/drawing/2014/main" id="{E227B309-E7D9-7BFE-7F0F-630C2D9A2780}"/>
              </a:ext>
            </a:extLst>
          </p:cNvPr>
          <p:cNvSpPr>
            <a:spLocks noChangeArrowheads="1"/>
          </p:cNvSpPr>
          <p:nvPr/>
        </p:nvSpPr>
        <p:spPr bwMode="auto">
          <a:xfrm>
            <a:off x="541338" y="2324100"/>
            <a:ext cx="7991475" cy="2862263"/>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dirty="0">
                <a:solidFill>
                  <a:srgbClr val="002060"/>
                </a:solidFill>
                <a:latin typeface="+mj-lt"/>
              </a:rPr>
              <a:t>   A-Traitement par laxatif </a:t>
            </a:r>
          </a:p>
          <a:p>
            <a:pPr eaLnBrk="1" hangingPunct="1">
              <a:lnSpc>
                <a:spcPct val="150000"/>
              </a:lnSpc>
              <a:defRPr/>
            </a:pPr>
            <a:r>
              <a:rPr lang="fr-FR" altLang="fr-FR" sz="2400" dirty="0">
                <a:solidFill>
                  <a:srgbClr val="002060"/>
                </a:solidFill>
                <a:latin typeface="+mj-lt"/>
              </a:rPr>
              <a:t>   B -Jeun du mois de ramadan </a:t>
            </a:r>
          </a:p>
          <a:p>
            <a:pPr eaLnBrk="1" hangingPunct="1">
              <a:lnSpc>
                <a:spcPct val="150000"/>
              </a:lnSpc>
              <a:defRPr/>
            </a:pPr>
            <a:r>
              <a:rPr lang="fr-FR" altLang="fr-FR" sz="2400" dirty="0">
                <a:solidFill>
                  <a:srgbClr val="002060"/>
                </a:solidFill>
                <a:latin typeface="+mj-lt"/>
              </a:rPr>
              <a:t>   C -Période de grande chaleur</a:t>
            </a:r>
          </a:p>
          <a:p>
            <a:pPr eaLnBrk="1" hangingPunct="1">
              <a:lnSpc>
                <a:spcPct val="150000"/>
              </a:lnSpc>
              <a:defRPr/>
            </a:pPr>
            <a:r>
              <a:rPr lang="fr-FR" altLang="fr-FR" sz="2400" dirty="0">
                <a:solidFill>
                  <a:srgbClr val="002060"/>
                </a:solidFill>
                <a:latin typeface="+mj-lt"/>
              </a:rPr>
              <a:t>   D-Période d’examen  </a:t>
            </a:r>
          </a:p>
          <a:p>
            <a:pPr eaLnBrk="1" hangingPunct="1">
              <a:lnSpc>
                <a:spcPct val="150000"/>
              </a:lnSpc>
              <a:defRPr/>
            </a:pPr>
            <a:r>
              <a:rPr lang="fr-FR" altLang="fr-FR" sz="2400" dirty="0">
                <a:solidFill>
                  <a:srgbClr val="002060"/>
                </a:solidFill>
                <a:latin typeface="+mj-lt"/>
              </a:rPr>
              <a:t>   E -Grossesse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F8E36BA-52BF-D0D4-86BE-36271667ECB4}"/>
              </a:ext>
            </a:extLst>
          </p:cNvPr>
          <p:cNvSpPr>
            <a:spLocks noChangeArrowheads="1"/>
          </p:cNvSpPr>
          <p:nvPr/>
        </p:nvSpPr>
        <p:spPr bwMode="auto">
          <a:xfrm>
            <a:off x="395288" y="1230313"/>
            <a:ext cx="8353425" cy="830262"/>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fr-FR" altLang="fr-FR" sz="2400" b="1" dirty="0">
                <a:solidFill>
                  <a:srgbClr val="002060"/>
                </a:solidFill>
                <a:latin typeface="+mj-lt"/>
              </a:rPr>
              <a:t>Chez un insuffisant surrénalien connu ,l’ajustement des doses d’hydrocortisone orale  est nécessaire en cas de </a:t>
            </a:r>
            <a:r>
              <a:rPr lang="fr-FR" altLang="fr-FR" sz="2400" b="1" dirty="0">
                <a:solidFill>
                  <a:srgbClr val="002060"/>
                </a:solidFill>
              </a:rPr>
              <a:t>:</a:t>
            </a:r>
            <a:endParaRPr lang="fr-FR" altLang="fr-FR" dirty="0">
              <a:solidFill>
                <a:srgbClr val="002060"/>
              </a:solidFill>
            </a:endParaRPr>
          </a:p>
        </p:txBody>
      </p:sp>
      <p:sp>
        <p:nvSpPr>
          <p:cNvPr id="28675" name="Rectangle 3">
            <a:extLst>
              <a:ext uri="{FF2B5EF4-FFF2-40B4-BE49-F238E27FC236}">
                <a16:creationId xmlns:a16="http://schemas.microsoft.com/office/drawing/2014/main" id="{A600FA44-6F9A-27A2-DE66-8E3EA63425C7}"/>
              </a:ext>
            </a:extLst>
          </p:cNvPr>
          <p:cNvSpPr>
            <a:spLocks noChangeArrowheads="1"/>
          </p:cNvSpPr>
          <p:nvPr/>
        </p:nvSpPr>
        <p:spPr bwMode="auto">
          <a:xfrm>
            <a:off x="541338" y="2324100"/>
            <a:ext cx="7991475" cy="2862263"/>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defRPr/>
            </a:pPr>
            <a:r>
              <a:rPr lang="fr-FR" altLang="fr-FR" sz="2400" dirty="0">
                <a:solidFill>
                  <a:srgbClr val="002060"/>
                </a:solidFill>
                <a:latin typeface="+mj-lt"/>
              </a:rPr>
              <a:t>   A-Traitement par laxatif </a:t>
            </a:r>
          </a:p>
          <a:p>
            <a:pPr eaLnBrk="1" hangingPunct="1">
              <a:lnSpc>
                <a:spcPct val="150000"/>
              </a:lnSpc>
              <a:defRPr/>
            </a:pPr>
            <a:r>
              <a:rPr lang="fr-FR" altLang="fr-FR" sz="2400" dirty="0">
                <a:solidFill>
                  <a:srgbClr val="002060"/>
                </a:solidFill>
                <a:latin typeface="+mj-lt"/>
              </a:rPr>
              <a:t>   B -Jeun du mois de ramadan </a:t>
            </a:r>
          </a:p>
          <a:p>
            <a:pPr eaLnBrk="1" hangingPunct="1">
              <a:lnSpc>
                <a:spcPct val="150000"/>
              </a:lnSpc>
              <a:defRPr/>
            </a:pPr>
            <a:r>
              <a:rPr lang="fr-FR" altLang="fr-FR" sz="2400" dirty="0">
                <a:solidFill>
                  <a:srgbClr val="FF0000"/>
                </a:solidFill>
                <a:latin typeface="+mj-lt"/>
              </a:rPr>
              <a:t>   C -Période de grande chaleur</a:t>
            </a:r>
          </a:p>
          <a:p>
            <a:pPr eaLnBrk="1" hangingPunct="1">
              <a:lnSpc>
                <a:spcPct val="150000"/>
              </a:lnSpc>
              <a:defRPr/>
            </a:pPr>
            <a:r>
              <a:rPr lang="fr-FR" altLang="fr-FR" sz="2400" dirty="0">
                <a:solidFill>
                  <a:srgbClr val="FF0000"/>
                </a:solidFill>
                <a:latin typeface="+mj-lt"/>
              </a:rPr>
              <a:t>   D-Période d’examen  </a:t>
            </a:r>
          </a:p>
          <a:p>
            <a:pPr eaLnBrk="1" hangingPunct="1">
              <a:lnSpc>
                <a:spcPct val="150000"/>
              </a:lnSpc>
              <a:defRPr/>
            </a:pPr>
            <a:r>
              <a:rPr lang="fr-FR" altLang="fr-FR" sz="2400" dirty="0">
                <a:solidFill>
                  <a:srgbClr val="FF0000"/>
                </a:solidFill>
                <a:latin typeface="+mj-lt"/>
              </a:rPr>
              <a:t>   E -Grossesse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D89E-5157-D115-6145-07B7AA09613D}"/>
              </a:ext>
            </a:extLst>
          </p:cNvPr>
          <p:cNvSpPr txBox="1"/>
          <p:nvPr/>
        </p:nvSpPr>
        <p:spPr>
          <a:xfrm>
            <a:off x="468313" y="1268413"/>
            <a:ext cx="8207375" cy="3913187"/>
          </a:xfrm>
          <a:prstGeom prst="rect">
            <a:avLst/>
          </a:prstGeom>
          <a:noFill/>
        </p:spPr>
        <p:txBody>
          <a:bodyPr>
            <a:spAutoFit/>
          </a:bodyPr>
          <a:lstStyle/>
          <a:p>
            <a:pPr>
              <a:defRPr/>
            </a:pPr>
            <a:r>
              <a:rPr lang="fr-FR" sz="2400" b="1" dirty="0">
                <a:solidFill>
                  <a:srgbClr val="002060"/>
                </a:solidFill>
                <a:latin typeface="+mj-lt"/>
              </a:rPr>
              <a:t>Une adaptation posologique de la corticothérapie substitutive chez un patient insuffisant surrénalien connu est indiquée si :</a:t>
            </a:r>
          </a:p>
          <a:p>
            <a:pPr>
              <a:defRPr/>
            </a:pPr>
            <a:endParaRPr lang="fr-FR" sz="2400" b="1" dirty="0">
              <a:solidFill>
                <a:srgbClr val="002060"/>
              </a:solidFill>
              <a:latin typeface="+mj-lt"/>
            </a:endParaRPr>
          </a:p>
          <a:p>
            <a:pPr marL="342900" indent="-342900">
              <a:lnSpc>
                <a:spcPct val="150000"/>
              </a:lnSpc>
              <a:buFontTx/>
              <a:buAutoNum type="alphaUcPeriod"/>
              <a:defRPr/>
            </a:pPr>
            <a:r>
              <a:rPr lang="fr-FR" sz="2400" dirty="0">
                <a:solidFill>
                  <a:srgbClr val="002060"/>
                </a:solidFill>
                <a:latin typeface="+mj-lt"/>
              </a:rPr>
              <a:t>Infections bactériennes fébriles</a:t>
            </a:r>
          </a:p>
          <a:p>
            <a:pPr marL="342900" indent="-342900">
              <a:lnSpc>
                <a:spcPct val="150000"/>
              </a:lnSpc>
              <a:buFontTx/>
              <a:buAutoNum type="alphaUcPeriod"/>
              <a:defRPr/>
            </a:pPr>
            <a:r>
              <a:rPr lang="fr-FR" sz="2400" dirty="0">
                <a:solidFill>
                  <a:srgbClr val="002060"/>
                </a:solidFill>
                <a:latin typeface="+mj-lt"/>
              </a:rPr>
              <a:t> Examen d’imagerie avec injection de produit de contraste</a:t>
            </a:r>
          </a:p>
          <a:p>
            <a:pPr marL="342900" indent="-342900">
              <a:lnSpc>
                <a:spcPct val="150000"/>
              </a:lnSpc>
              <a:buFontTx/>
              <a:buAutoNum type="alphaUcPeriod"/>
              <a:defRPr/>
            </a:pPr>
            <a:r>
              <a:rPr lang="fr-FR" sz="2400" dirty="0">
                <a:solidFill>
                  <a:srgbClr val="002060"/>
                </a:solidFill>
                <a:latin typeface="+mj-lt"/>
              </a:rPr>
              <a:t> Traumatisme crânien </a:t>
            </a:r>
          </a:p>
          <a:p>
            <a:pPr marL="342900" indent="-342900">
              <a:lnSpc>
                <a:spcPct val="150000"/>
              </a:lnSpc>
              <a:buFontTx/>
              <a:buAutoNum type="alphaUcPeriod"/>
              <a:defRPr/>
            </a:pPr>
            <a:r>
              <a:rPr lang="fr-FR" sz="2400" dirty="0">
                <a:solidFill>
                  <a:srgbClr val="002060"/>
                </a:solidFill>
                <a:latin typeface="+mj-lt"/>
              </a:rPr>
              <a:t> Intervention chirurgicale sous anesthésie générale</a:t>
            </a:r>
          </a:p>
          <a:p>
            <a:pPr marL="342900" indent="-342900">
              <a:lnSpc>
                <a:spcPct val="150000"/>
              </a:lnSpc>
              <a:buFontTx/>
              <a:buAutoNum type="alphaUcPeriod"/>
              <a:defRPr/>
            </a:pPr>
            <a:r>
              <a:rPr lang="fr-FR" sz="2400" dirty="0">
                <a:solidFill>
                  <a:srgbClr val="002060"/>
                </a:solidFill>
                <a:latin typeface="+mj-lt"/>
              </a:rPr>
              <a:t> Vaccination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A971732-11D4-8AF9-9BE2-1F814C569010}"/>
              </a:ext>
            </a:extLst>
          </p:cNvPr>
          <p:cNvSpPr txBox="1"/>
          <p:nvPr/>
        </p:nvSpPr>
        <p:spPr>
          <a:xfrm>
            <a:off x="468313" y="1268413"/>
            <a:ext cx="8207375" cy="3913187"/>
          </a:xfrm>
          <a:prstGeom prst="rect">
            <a:avLst/>
          </a:prstGeom>
          <a:noFill/>
        </p:spPr>
        <p:txBody>
          <a:bodyPr>
            <a:spAutoFit/>
          </a:bodyPr>
          <a:lstStyle/>
          <a:p>
            <a:pPr>
              <a:defRPr/>
            </a:pPr>
            <a:r>
              <a:rPr lang="fr-FR" sz="2400" b="1" dirty="0">
                <a:solidFill>
                  <a:srgbClr val="002060"/>
                </a:solidFill>
                <a:latin typeface="+mj-lt"/>
              </a:rPr>
              <a:t>Une adaptation posologique de la corticothérapie substitutive chez un patient insuffisant surrénalien connu est indiquée si :</a:t>
            </a:r>
          </a:p>
          <a:p>
            <a:pPr>
              <a:defRPr/>
            </a:pPr>
            <a:endParaRPr lang="fr-FR" sz="2400" b="1" dirty="0">
              <a:solidFill>
                <a:srgbClr val="002060"/>
              </a:solidFill>
              <a:latin typeface="+mj-lt"/>
            </a:endParaRPr>
          </a:p>
          <a:p>
            <a:pPr marL="342900" indent="-342900">
              <a:lnSpc>
                <a:spcPct val="150000"/>
              </a:lnSpc>
              <a:buFontTx/>
              <a:buAutoNum type="alphaUcPeriod"/>
              <a:defRPr/>
            </a:pPr>
            <a:r>
              <a:rPr lang="fr-FR" sz="2400" dirty="0">
                <a:solidFill>
                  <a:srgbClr val="FF0000"/>
                </a:solidFill>
                <a:latin typeface="+mj-lt"/>
              </a:rPr>
              <a:t>Infections bactériennes fébriles</a:t>
            </a:r>
          </a:p>
          <a:p>
            <a:pPr marL="342900" indent="-342900">
              <a:lnSpc>
                <a:spcPct val="150000"/>
              </a:lnSpc>
              <a:buFontTx/>
              <a:buAutoNum type="alphaUcPeriod"/>
              <a:defRPr/>
            </a:pPr>
            <a:r>
              <a:rPr lang="fr-FR" sz="2400" dirty="0">
                <a:solidFill>
                  <a:srgbClr val="002060"/>
                </a:solidFill>
                <a:latin typeface="+mj-lt"/>
              </a:rPr>
              <a:t> Examen d’imagerie avec injection de produit de contraste</a:t>
            </a:r>
          </a:p>
          <a:p>
            <a:pPr marL="342900" indent="-342900">
              <a:lnSpc>
                <a:spcPct val="150000"/>
              </a:lnSpc>
              <a:buFontTx/>
              <a:buAutoNum type="alphaUcPeriod"/>
              <a:defRPr/>
            </a:pPr>
            <a:r>
              <a:rPr lang="fr-FR" sz="2400" dirty="0">
                <a:solidFill>
                  <a:srgbClr val="002060"/>
                </a:solidFill>
                <a:latin typeface="+mj-lt"/>
              </a:rPr>
              <a:t> </a:t>
            </a:r>
            <a:r>
              <a:rPr lang="fr-FR" sz="2400" dirty="0">
                <a:solidFill>
                  <a:srgbClr val="FF0000"/>
                </a:solidFill>
                <a:latin typeface="+mj-lt"/>
              </a:rPr>
              <a:t>Traumatisme crânien </a:t>
            </a:r>
          </a:p>
          <a:p>
            <a:pPr marL="342900" indent="-342900">
              <a:lnSpc>
                <a:spcPct val="150000"/>
              </a:lnSpc>
              <a:buFontTx/>
              <a:buAutoNum type="alphaUcPeriod"/>
              <a:defRPr/>
            </a:pPr>
            <a:r>
              <a:rPr lang="fr-FR" sz="2400" dirty="0">
                <a:solidFill>
                  <a:srgbClr val="002060"/>
                </a:solidFill>
                <a:latin typeface="+mj-lt"/>
              </a:rPr>
              <a:t> </a:t>
            </a:r>
            <a:r>
              <a:rPr lang="fr-FR" sz="2400" dirty="0">
                <a:solidFill>
                  <a:srgbClr val="FF0000"/>
                </a:solidFill>
                <a:latin typeface="+mj-lt"/>
              </a:rPr>
              <a:t>Intervention chirurgicale sous anesthésie générale</a:t>
            </a:r>
          </a:p>
          <a:p>
            <a:pPr marL="342900" indent="-342900">
              <a:lnSpc>
                <a:spcPct val="150000"/>
              </a:lnSpc>
              <a:buFontTx/>
              <a:buAutoNum type="alphaUcPeriod"/>
              <a:defRPr/>
            </a:pPr>
            <a:r>
              <a:rPr lang="fr-FR" sz="2400" dirty="0">
                <a:solidFill>
                  <a:srgbClr val="002060"/>
                </a:solidFill>
                <a:latin typeface="+mj-lt"/>
              </a:rPr>
              <a:t> Vaccination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
            <a:extLst>
              <a:ext uri="{FF2B5EF4-FFF2-40B4-BE49-F238E27FC236}">
                <a16:creationId xmlns:a16="http://schemas.microsoft.com/office/drawing/2014/main" id="{91D7D1FA-1992-BFB7-8C59-38C8F2506420}"/>
              </a:ext>
            </a:extLst>
          </p:cNvPr>
          <p:cNvSpPr>
            <a:spLocks noChangeArrowheads="1"/>
          </p:cNvSpPr>
          <p:nvPr/>
        </p:nvSpPr>
        <p:spPr bwMode="auto">
          <a:xfrm>
            <a:off x="428625" y="768350"/>
            <a:ext cx="8358188" cy="830263"/>
          </a:xfrm>
          <a:prstGeom prst="rect">
            <a:avLst/>
          </a:prstGeom>
          <a:noFill/>
          <a:ln>
            <a:noFill/>
          </a:ln>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fr-FR" altLang="fr-FR" sz="2400" b="1" dirty="0">
                <a:solidFill>
                  <a:srgbClr val="002060"/>
                </a:solidFill>
                <a:latin typeface="+mn-lt"/>
              </a:rPr>
              <a:t>Au cours d’une grossesse chez une jeune ayant une maladie d’</a:t>
            </a:r>
            <a:r>
              <a:rPr lang="fr-FR" altLang="fr-FR" sz="2400" b="1" dirty="0" err="1">
                <a:solidFill>
                  <a:srgbClr val="002060"/>
                </a:solidFill>
                <a:latin typeface="+mn-lt"/>
              </a:rPr>
              <a:t>Adisson</a:t>
            </a:r>
            <a:r>
              <a:rPr lang="fr-FR" altLang="fr-FR" sz="2400" b="1" dirty="0">
                <a:solidFill>
                  <a:srgbClr val="002060"/>
                </a:solidFill>
                <a:latin typeface="+mn-lt"/>
              </a:rPr>
              <a:t> :</a:t>
            </a:r>
          </a:p>
        </p:txBody>
      </p:sp>
      <p:sp>
        <p:nvSpPr>
          <p:cNvPr id="138243" name="Rectangle 2">
            <a:extLst>
              <a:ext uri="{FF2B5EF4-FFF2-40B4-BE49-F238E27FC236}">
                <a16:creationId xmlns:a16="http://schemas.microsoft.com/office/drawing/2014/main" id="{B3E2CB24-F9E6-48AB-3BC3-BF57DA470AB7}"/>
              </a:ext>
            </a:extLst>
          </p:cNvPr>
          <p:cNvSpPr>
            <a:spLocks noChangeArrowheads="1"/>
          </p:cNvSpPr>
          <p:nvPr/>
        </p:nvSpPr>
        <p:spPr bwMode="auto">
          <a:xfrm>
            <a:off x="249238" y="1844675"/>
            <a:ext cx="8645525" cy="4467225"/>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defRPr/>
            </a:pPr>
            <a:r>
              <a:rPr lang="fr-FR" altLang="fr-FR" sz="2400" dirty="0">
                <a:solidFill>
                  <a:srgbClr val="002060"/>
                </a:solidFill>
                <a:latin typeface="+mj-lt"/>
              </a:rPr>
              <a:t>A- L’ hydrocortisone injectable doit être utilisée en cas de  </a:t>
            </a:r>
          </a:p>
          <a:p>
            <a:pPr eaLnBrk="1" hangingPunct="1">
              <a:lnSpc>
                <a:spcPct val="150000"/>
              </a:lnSpc>
              <a:spcBef>
                <a:spcPct val="0"/>
              </a:spcBef>
              <a:buFontTx/>
              <a:buNone/>
              <a:defRPr/>
            </a:pPr>
            <a:r>
              <a:rPr lang="fr-FR" altLang="fr-FR" sz="2400" dirty="0">
                <a:solidFill>
                  <a:srgbClr val="002060"/>
                </a:solidFill>
                <a:latin typeface="+mj-lt"/>
              </a:rPr>
              <a:t>     vomissement incoercibles </a:t>
            </a:r>
          </a:p>
          <a:p>
            <a:pPr eaLnBrk="1" hangingPunct="1">
              <a:lnSpc>
                <a:spcPct val="150000"/>
              </a:lnSpc>
              <a:spcBef>
                <a:spcPct val="0"/>
              </a:spcBef>
              <a:buFontTx/>
              <a:buNone/>
              <a:defRPr/>
            </a:pPr>
            <a:r>
              <a:rPr lang="fr-FR" altLang="fr-FR" sz="2400" dirty="0">
                <a:solidFill>
                  <a:srgbClr val="002060"/>
                </a:solidFill>
                <a:latin typeface="+mj-lt"/>
              </a:rPr>
              <a:t>B- La dose d’hydrocortisone doit être augmentée de 30 % au cours  </a:t>
            </a:r>
          </a:p>
          <a:p>
            <a:pPr eaLnBrk="1" hangingPunct="1">
              <a:lnSpc>
                <a:spcPct val="150000"/>
              </a:lnSpc>
              <a:spcBef>
                <a:spcPct val="0"/>
              </a:spcBef>
              <a:buFontTx/>
              <a:buNone/>
              <a:defRPr/>
            </a:pPr>
            <a:r>
              <a:rPr lang="fr-FR" altLang="fr-FR" sz="2400" dirty="0">
                <a:solidFill>
                  <a:srgbClr val="002060"/>
                </a:solidFill>
                <a:latin typeface="+mj-lt"/>
              </a:rPr>
              <a:t>     du troisième trimestre</a:t>
            </a:r>
          </a:p>
          <a:p>
            <a:pPr eaLnBrk="1" hangingPunct="1">
              <a:lnSpc>
                <a:spcPct val="150000"/>
              </a:lnSpc>
              <a:spcBef>
                <a:spcPct val="0"/>
              </a:spcBef>
              <a:buFontTx/>
              <a:buNone/>
              <a:defRPr/>
            </a:pPr>
            <a:r>
              <a:rPr lang="fr-FR" altLang="fr-FR" sz="2400" dirty="0">
                <a:solidFill>
                  <a:srgbClr val="002060"/>
                </a:solidFill>
                <a:latin typeface="+mj-lt"/>
              </a:rPr>
              <a:t>C- L’accouchement doit être fait par césarienne </a:t>
            </a:r>
          </a:p>
          <a:p>
            <a:pPr eaLnBrk="1" hangingPunct="1">
              <a:lnSpc>
                <a:spcPct val="150000"/>
              </a:lnSpc>
              <a:spcBef>
                <a:spcPct val="0"/>
              </a:spcBef>
              <a:buFontTx/>
              <a:buNone/>
              <a:defRPr/>
            </a:pPr>
            <a:r>
              <a:rPr lang="fr-FR" altLang="fr-FR" sz="2400" dirty="0">
                <a:solidFill>
                  <a:srgbClr val="002060"/>
                </a:solidFill>
                <a:latin typeface="+mj-lt"/>
              </a:rPr>
              <a:t>D- L’ hydrocortisone injectable doit être utilisée au moment du  </a:t>
            </a:r>
          </a:p>
          <a:p>
            <a:pPr eaLnBrk="1" hangingPunct="1">
              <a:lnSpc>
                <a:spcPct val="150000"/>
              </a:lnSpc>
              <a:spcBef>
                <a:spcPct val="0"/>
              </a:spcBef>
              <a:buFontTx/>
              <a:buNone/>
              <a:defRPr/>
            </a:pPr>
            <a:r>
              <a:rPr lang="fr-FR" altLang="fr-FR" sz="2400" dirty="0">
                <a:solidFill>
                  <a:srgbClr val="002060"/>
                </a:solidFill>
                <a:latin typeface="+mj-lt"/>
              </a:rPr>
              <a:t>     travail</a:t>
            </a:r>
          </a:p>
          <a:p>
            <a:pPr eaLnBrk="1" hangingPunct="1">
              <a:lnSpc>
                <a:spcPct val="150000"/>
              </a:lnSpc>
              <a:spcBef>
                <a:spcPct val="0"/>
              </a:spcBef>
              <a:buFont typeface="Arial" panose="020B0604020202020204" pitchFamily="34" charset="0"/>
              <a:buNone/>
              <a:defRPr/>
            </a:pPr>
            <a:r>
              <a:rPr lang="fr-FR" altLang="fr-FR" sz="2400" dirty="0" err="1">
                <a:solidFill>
                  <a:srgbClr val="002060"/>
                </a:solidFill>
                <a:latin typeface="+mj-lt"/>
              </a:rPr>
              <a:t>E-La</a:t>
            </a:r>
            <a:r>
              <a:rPr lang="fr-FR" altLang="fr-FR" sz="2400" dirty="0">
                <a:solidFill>
                  <a:srgbClr val="002060"/>
                </a:solidFill>
                <a:latin typeface="+mj-lt"/>
              </a:rPr>
              <a:t> dose de fludrocortisone doit être augmentée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
            <a:extLst>
              <a:ext uri="{FF2B5EF4-FFF2-40B4-BE49-F238E27FC236}">
                <a16:creationId xmlns:a16="http://schemas.microsoft.com/office/drawing/2014/main" id="{AD4C16B3-8222-D9C6-6465-AB2686F0BD7D}"/>
              </a:ext>
            </a:extLst>
          </p:cNvPr>
          <p:cNvSpPr>
            <a:spLocks noChangeArrowheads="1"/>
          </p:cNvSpPr>
          <p:nvPr/>
        </p:nvSpPr>
        <p:spPr bwMode="auto">
          <a:xfrm>
            <a:off x="428625" y="768350"/>
            <a:ext cx="8358188" cy="830263"/>
          </a:xfrm>
          <a:prstGeom prst="rect">
            <a:avLst/>
          </a:prstGeom>
          <a:noFill/>
          <a:ln>
            <a:noFill/>
          </a:ln>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fr-FR" altLang="fr-FR" sz="2400" b="1" dirty="0">
                <a:solidFill>
                  <a:srgbClr val="002060"/>
                </a:solidFill>
                <a:latin typeface="+mn-lt"/>
              </a:rPr>
              <a:t>Au cours d’une grossesse chez une jeune ayant une maladie d’</a:t>
            </a:r>
            <a:r>
              <a:rPr lang="fr-FR" altLang="fr-FR" sz="2400" b="1" dirty="0" err="1">
                <a:solidFill>
                  <a:srgbClr val="002060"/>
                </a:solidFill>
                <a:latin typeface="+mn-lt"/>
              </a:rPr>
              <a:t>Adisson</a:t>
            </a:r>
            <a:r>
              <a:rPr lang="fr-FR" altLang="fr-FR" sz="2400" b="1" dirty="0">
                <a:solidFill>
                  <a:srgbClr val="002060"/>
                </a:solidFill>
                <a:latin typeface="+mn-lt"/>
              </a:rPr>
              <a:t> :</a:t>
            </a:r>
          </a:p>
        </p:txBody>
      </p:sp>
      <p:sp>
        <p:nvSpPr>
          <p:cNvPr id="138243" name="Rectangle 2">
            <a:extLst>
              <a:ext uri="{FF2B5EF4-FFF2-40B4-BE49-F238E27FC236}">
                <a16:creationId xmlns:a16="http://schemas.microsoft.com/office/drawing/2014/main" id="{34522AED-2256-ED72-5657-16F66AD63E6F}"/>
              </a:ext>
            </a:extLst>
          </p:cNvPr>
          <p:cNvSpPr>
            <a:spLocks noChangeArrowheads="1"/>
          </p:cNvSpPr>
          <p:nvPr/>
        </p:nvSpPr>
        <p:spPr bwMode="auto">
          <a:xfrm>
            <a:off x="249238" y="1844675"/>
            <a:ext cx="8645525" cy="4467225"/>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defRPr/>
            </a:pPr>
            <a:r>
              <a:rPr lang="fr-FR" altLang="fr-FR" sz="2400" dirty="0">
                <a:solidFill>
                  <a:srgbClr val="FF0000"/>
                </a:solidFill>
                <a:latin typeface="+mj-lt"/>
              </a:rPr>
              <a:t>A- L’ hydrocortisone injectable doit être utilisée en cas de  </a:t>
            </a:r>
          </a:p>
          <a:p>
            <a:pPr eaLnBrk="1" hangingPunct="1">
              <a:lnSpc>
                <a:spcPct val="150000"/>
              </a:lnSpc>
              <a:spcBef>
                <a:spcPct val="0"/>
              </a:spcBef>
              <a:buFontTx/>
              <a:buNone/>
              <a:defRPr/>
            </a:pPr>
            <a:r>
              <a:rPr lang="fr-FR" altLang="fr-FR" sz="2400" dirty="0">
                <a:solidFill>
                  <a:srgbClr val="FF0000"/>
                </a:solidFill>
                <a:latin typeface="+mj-lt"/>
              </a:rPr>
              <a:t>     vomissement incoercibles </a:t>
            </a:r>
          </a:p>
          <a:p>
            <a:pPr eaLnBrk="1" hangingPunct="1">
              <a:lnSpc>
                <a:spcPct val="150000"/>
              </a:lnSpc>
              <a:spcBef>
                <a:spcPct val="0"/>
              </a:spcBef>
              <a:buFontTx/>
              <a:buNone/>
              <a:defRPr/>
            </a:pPr>
            <a:r>
              <a:rPr lang="fr-FR" altLang="fr-FR" sz="2400" dirty="0">
                <a:solidFill>
                  <a:srgbClr val="002060"/>
                </a:solidFill>
                <a:latin typeface="+mj-lt"/>
              </a:rPr>
              <a:t>B- La dose d’hydrocortisone doit être augmentée de 30 % au cours  </a:t>
            </a:r>
          </a:p>
          <a:p>
            <a:pPr eaLnBrk="1" hangingPunct="1">
              <a:lnSpc>
                <a:spcPct val="150000"/>
              </a:lnSpc>
              <a:spcBef>
                <a:spcPct val="0"/>
              </a:spcBef>
              <a:buFontTx/>
              <a:buNone/>
              <a:defRPr/>
            </a:pPr>
            <a:r>
              <a:rPr lang="fr-FR" altLang="fr-FR" sz="2400" dirty="0">
                <a:solidFill>
                  <a:srgbClr val="002060"/>
                </a:solidFill>
                <a:latin typeface="+mj-lt"/>
              </a:rPr>
              <a:t>     du troisième trimestre</a:t>
            </a:r>
          </a:p>
          <a:p>
            <a:pPr eaLnBrk="1" hangingPunct="1">
              <a:lnSpc>
                <a:spcPct val="150000"/>
              </a:lnSpc>
              <a:spcBef>
                <a:spcPct val="0"/>
              </a:spcBef>
              <a:buFontTx/>
              <a:buNone/>
              <a:defRPr/>
            </a:pPr>
            <a:r>
              <a:rPr lang="fr-FR" altLang="fr-FR" sz="2400" dirty="0">
                <a:solidFill>
                  <a:srgbClr val="002060"/>
                </a:solidFill>
                <a:latin typeface="+mj-lt"/>
              </a:rPr>
              <a:t>C- L’accouchement doit être fait par césarienne </a:t>
            </a:r>
          </a:p>
          <a:p>
            <a:pPr eaLnBrk="1" hangingPunct="1">
              <a:lnSpc>
                <a:spcPct val="150000"/>
              </a:lnSpc>
              <a:spcBef>
                <a:spcPct val="0"/>
              </a:spcBef>
              <a:buFontTx/>
              <a:buNone/>
              <a:defRPr/>
            </a:pPr>
            <a:r>
              <a:rPr lang="fr-FR" altLang="fr-FR" sz="2400" dirty="0">
                <a:solidFill>
                  <a:srgbClr val="FF0000"/>
                </a:solidFill>
                <a:latin typeface="+mj-lt"/>
              </a:rPr>
              <a:t>D- L’ hydrocortisone injectable doit être utilisée au moment du  </a:t>
            </a:r>
          </a:p>
          <a:p>
            <a:pPr eaLnBrk="1" hangingPunct="1">
              <a:lnSpc>
                <a:spcPct val="150000"/>
              </a:lnSpc>
              <a:spcBef>
                <a:spcPct val="0"/>
              </a:spcBef>
              <a:buFontTx/>
              <a:buNone/>
              <a:defRPr/>
            </a:pPr>
            <a:r>
              <a:rPr lang="fr-FR" altLang="fr-FR" sz="2400" dirty="0">
                <a:solidFill>
                  <a:srgbClr val="FF0000"/>
                </a:solidFill>
                <a:latin typeface="+mj-lt"/>
              </a:rPr>
              <a:t>     travail</a:t>
            </a:r>
          </a:p>
          <a:p>
            <a:pPr eaLnBrk="1" hangingPunct="1">
              <a:lnSpc>
                <a:spcPct val="150000"/>
              </a:lnSpc>
              <a:spcBef>
                <a:spcPct val="0"/>
              </a:spcBef>
              <a:buFont typeface="Arial" panose="020B0604020202020204" pitchFamily="34" charset="0"/>
              <a:buNone/>
              <a:defRPr/>
            </a:pPr>
            <a:r>
              <a:rPr lang="fr-FR" altLang="fr-FR" sz="2400" dirty="0" err="1">
                <a:solidFill>
                  <a:srgbClr val="002060"/>
                </a:solidFill>
                <a:latin typeface="+mj-lt"/>
              </a:rPr>
              <a:t>E-La</a:t>
            </a:r>
            <a:r>
              <a:rPr lang="fr-FR" altLang="fr-FR" sz="2400" dirty="0">
                <a:solidFill>
                  <a:srgbClr val="002060"/>
                </a:solidFill>
                <a:latin typeface="+mj-lt"/>
              </a:rPr>
              <a:t> dose de fludrocortisone doit être augmentée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ZoneTexte 1">
            <a:extLst>
              <a:ext uri="{FF2B5EF4-FFF2-40B4-BE49-F238E27FC236}">
                <a16:creationId xmlns:a16="http://schemas.microsoft.com/office/drawing/2014/main" id="{3B2D9FEC-7894-E193-CED0-05E8ABD952AC}"/>
              </a:ext>
            </a:extLst>
          </p:cNvPr>
          <p:cNvSpPr txBox="1">
            <a:spLocks noChangeArrowheads="1"/>
          </p:cNvSpPr>
          <p:nvPr/>
        </p:nvSpPr>
        <p:spPr bwMode="auto">
          <a:xfrm>
            <a:off x="1619250" y="2465388"/>
            <a:ext cx="6461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fr-FR" altLang="fr-FR" sz="6000" b="1">
                <a:solidFill>
                  <a:srgbClr val="FF0000"/>
                </a:solidFill>
                <a:latin typeface="Verdana" panose="020B0604030504040204" pitchFamily="34" charset="0"/>
              </a:rPr>
              <a:t>Bonne chance </a:t>
            </a: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headEnd/>
          <a:tailEnd/>
        </a:ln>
      </a:spPr>
      <a:bodyPr>
        <a:spAutoFit/>
      </a:bodyPr>
      <a:lstStyle>
        <a:defPPr marL="457200" indent="-457200">
          <a:lnSpc>
            <a:spcPct val="150000"/>
          </a:lnSpc>
          <a:buAutoNum type="alphaUcPeriod"/>
          <a:defRPr sz="2400" dirty="0" smtClean="0">
            <a:solidFill>
              <a:srgbClr val="002060"/>
            </a:solidFill>
          </a:defRPr>
        </a:defPPr>
      </a:lstStyle>
    </a:sp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4695669</TotalTime>
  <Words>4010</Words>
  <Application>Microsoft Office PowerPoint</Application>
  <PresentationFormat>Affichage à l'écran (4:3)</PresentationFormat>
  <Paragraphs>649</Paragraphs>
  <Slides>98</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98</vt:i4>
      </vt:variant>
    </vt:vector>
  </HeadingPairs>
  <TitlesOfParts>
    <vt:vector size="107" baseType="lpstr">
      <vt:lpstr>Arial</vt:lpstr>
      <vt:lpstr>Calibri</vt:lpstr>
      <vt:lpstr>Verdana</vt:lpstr>
      <vt:lpstr>Comic Sans MS</vt:lpstr>
      <vt:lpstr>Georgia</vt:lpstr>
      <vt:lpstr>Wingdings 2</vt:lpstr>
      <vt:lpstr>Times New Roman</vt:lpstr>
      <vt:lpstr>HelveticaNeue-Light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Concernant le bloc en 21 hydroxylase dans sa forme classique :</vt:lpstr>
      <vt:lpstr>Présentation PowerPoint</vt:lpstr>
      <vt:lpstr>Concernant le bloc en 21 hydroxylase dans sa forme classique :</vt:lpstr>
      <vt:lpstr>Concernant le bloc en 21 hydroxylase dans sa forme classique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versus</dc:creator>
  <cp:lastModifiedBy>zied.kammoun</cp:lastModifiedBy>
  <cp:revision>621</cp:revision>
  <dcterms:created xsi:type="dcterms:W3CDTF">2020-10-31T08:57:01Z</dcterms:created>
  <dcterms:modified xsi:type="dcterms:W3CDTF">2025-10-27T13:51:11Z</dcterms:modified>
</cp:coreProperties>
</file>
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504" r:id="rId13"/>
    <p:sldId id="505" r:id="rId14"/>
    <p:sldId id="506" r:id="rId15"/>
    <p:sldId id="507" r:id="rId16"/>
    <p:sldId id="508" r:id="rId17"/>
    <p:sldId id="395" r:id="rId18"/>
    <p:sldId id="509" r:id="rId19"/>
    <p:sldId id="501" r:id="rId20"/>
    <p:sldId id="512" r:id="rId21"/>
    <p:sldId id="510" r:id="rId22"/>
    <p:sldId id="511" r:id="rId23"/>
    <p:sldId id="513" r:id="rId24"/>
    <p:sldId id="514" r:id="rId25"/>
    <p:sldId id="515" r:id="rId26"/>
    <p:sldId id="517" r:id="rId27"/>
    <p:sldId id="518" r:id="rId28"/>
    <p:sldId id="519" r:id="rId29"/>
    <p:sldId id="520" r:id="rId30"/>
    <p:sldId id="390" r:id="rId31"/>
    <p:sldId id="521" r:id="rId32"/>
    <p:sldId id="502" r:id="rId33"/>
    <p:sldId id="391" r:id="rId34"/>
    <p:sldId id="522" r:id="rId35"/>
    <p:sldId id="523" r:id="rId36"/>
    <p:sldId id="524" r:id="rId37"/>
    <p:sldId id="516" r:id="rId38"/>
    <p:sldId id="525" r:id="rId39"/>
    <p:sldId id="526" r:id="rId40"/>
    <p:sldId id="527" r:id="rId41"/>
    <p:sldId id="528" r:id="rId42"/>
    <p:sldId id="529" r:id="rId43"/>
    <p:sldId id="530" r:id="rId44"/>
    <p:sldId id="531" r:id="rId45"/>
    <p:sldId id="317" r:id="rId46"/>
    <p:sldId id="318" r:id="rId47"/>
    <p:sldId id="532" r:id="rId48"/>
    <p:sldId id="533" r:id="rId49"/>
    <p:sldId id="536" r:id="rId50"/>
    <p:sldId id="435" r:id="rId51"/>
    <p:sldId id="534" r:id="rId52"/>
    <p:sldId id="436" r:id="rId53"/>
    <p:sldId id="537" r:id="rId54"/>
    <p:sldId id="538" r:id="rId55"/>
    <p:sldId id="539" r:id="rId56"/>
    <p:sldId id="540" r:id="rId57"/>
    <p:sldId id="553" r:id="rId58"/>
    <p:sldId id="541" r:id="rId59"/>
    <p:sldId id="542" r:id="rId60"/>
    <p:sldId id="543" r:id="rId61"/>
    <p:sldId id="544" r:id="rId62"/>
    <p:sldId id="546" r:id="rId63"/>
    <p:sldId id="547" r:id="rId64"/>
    <p:sldId id="545" r:id="rId65"/>
    <p:sldId id="548" r:id="rId66"/>
    <p:sldId id="549" r:id="rId67"/>
    <p:sldId id="550" r:id="rId68"/>
    <p:sldId id="551" r:id="rId69"/>
    <p:sldId id="552" r:id="rId7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" Type="http://schemas.openxmlformats.org/officeDocument/2006/relationships/slide" Target="slides/slide3.xml"/><Relationship Id="rId71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CC7A7C-0E6B-495A-8D9A-60016E0A6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6DA09F-5CEA-403E-8BDD-B226DCB7E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D9386E-EC64-4F80-A0FA-7D731195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B5FCA2-FF02-4006-B159-902515A8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836B80-2CDF-43B0-8219-7F547C30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33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E94E7D-0DEC-4BBC-AD15-BBFE3E42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7D3F3B-0CF5-405C-BB3C-791F3FEC7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EC7432-619D-4FD5-A3DB-CE94D1F7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D9CAFD-1F51-4778-835E-8B7F9AC1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26F963-E8D3-4336-94CC-55D7B22F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4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BC51D-61EE-4128-9775-3E4C54D1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627207-FB1C-4590-891C-AC8B84216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09C208-FFF1-43BB-879F-87839C61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5419E1-041F-41DB-8133-76C6AF39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289C27-D021-4287-B98C-0DCC68E1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460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4B814A-6D66-42E9-8132-8F789265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2317CC-3CD1-4619-9DF9-F34DEDAB1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107591-6546-4D85-86EF-2C7E43160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9E655A-898A-4DB2-82AC-50A3AA7F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1DDD4F-93A9-4944-AF04-E3D1044D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60019F-BFA3-4E47-9913-2CC89C99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56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AEB73-72FF-45F3-9C00-3A43B95A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A50424-45C1-4C97-BED8-EE8C210D6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732CB6-E11F-43ED-9A3E-964849AE2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FE9579-E846-428F-9EBC-DFA9D0DE6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6FAD45-AAB1-44E5-A306-79F1C5276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EF2F51-05B6-4BFA-A293-78440190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B00B0A-9FE1-4156-9A54-F800AB8A8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2BC6C8-76A4-4E56-B1C0-84D705B1F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16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70CEB2-A567-4689-9E7C-77E5C533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2F9748-AD4C-4DC2-977F-0C2705EA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05CDA7-D4B1-4826-B0C4-196F1E19E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85F6A75-3DDA-411D-AA2F-26182ACE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96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3750424-263B-4E7B-9292-4E56EBE5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8FE025A-EF35-4351-8023-49B2D758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4D8899-7B30-45EB-987E-25956619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225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C1EF18-0E1A-440F-A3B3-30239755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B6A1B9-AEF8-464B-9BCD-F0BF4DAC8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C705AD-50C5-4B7C-8BB5-09D32F257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0598F-4584-4898-ABC2-F7EA34B7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21FD92-104E-489E-ACBF-92C24821E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629F8C-5EC1-49B7-87FB-E420AB4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13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8F627A-8F84-411E-92AF-DC34BD146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7606488-4CF9-4BA6-9C0E-60BB540B6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B2FDBB-0D17-4790-A905-D46787A3B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DFA5E8-51A0-408A-AA79-1739B645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AF9549-D2BD-4669-BF2E-B22D7CFB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3EDB78-6C8B-4911-99B2-55B9BE61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80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4D6FCA-6B06-4277-B91A-2AF4BDFA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EB954E-29E8-45E1-A496-E34AB0996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B42D52-DB03-4B67-A287-E844A9D5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E6E412-45E4-4DFA-A6E3-A16EDC4E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7D85E8-F639-45C7-AB7D-F4CE27F4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24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1E7F591-D597-4FB3-9DE0-F8AC6D484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A77FBB-F5B5-42F5-BB16-AEB57FAFD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33A486-646E-409A-9CE1-E02AACC1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C7B885-AF39-46B2-936A-53E3DDA7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EC4D84-F118-4BAD-B551-BB919736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876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903B5-198C-4861-8319-951576A9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E2E9A93-81DA-45F0-8AAF-623E8EB8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10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B526FC6-4904-4E1C-8C43-135AFB0E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2869" y="2220686"/>
            <a:ext cx="7610620" cy="37621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5964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re. Contenu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35200" y="457200"/>
            <a:ext cx="9347200" cy="12954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235200" y="1981200"/>
            <a:ext cx="4572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010400" y="1981200"/>
            <a:ext cx="4572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D976D-4ACF-4893-B828-70363ED74A5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86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1A76F85-8F9B-4358-A343-F526520B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99ED05-2849-4159-A4A4-0DBDD624A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C35CB3-E9F8-41EE-8E33-CA073C527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FD3B7-89C2-46B6-B45B-1B9DA7CE4CC4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5C35AA-6A54-49AC-9BDA-126099F2F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A68B1A-7491-4BED-9887-80B919435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EBCF1-5063-4EB7-90F1-659BA909D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01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jcem.endojournals.org/content/vol89/issue6/images/large/zeg0060405570002.jpeg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://jcem.endojournals.org/content/vol89/issue6/images/large/zeg0060405570001.jpeg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B6F24B4-70AE-459A-AFB0-AF3A02AEF513}"/>
              </a:ext>
            </a:extLst>
          </p:cNvPr>
          <p:cNvSpPr txBox="1"/>
          <p:nvPr/>
        </p:nvSpPr>
        <p:spPr>
          <a:xfrm>
            <a:off x="1277470" y="1935690"/>
            <a:ext cx="9637059" cy="241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90000"/>
              </a:lnSpc>
              <a:buFont typeface="+mj-lt"/>
              <a:buAutoNum type="arabicPeriod"/>
            </a:pPr>
            <a:r>
              <a:rPr lang="fr-FR" sz="2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 PCSK :</a:t>
            </a:r>
          </a:p>
          <a:p>
            <a:pPr lvl="0" rtl="0">
              <a:lnSpc>
                <a:spcPct val="90000"/>
              </a:lnSpc>
            </a:pPr>
            <a:endParaRPr lang="fr-FR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A- sont des convertases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B- se lient au récepteur des apoprotéines B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C- favorisent l’expression des récepteurs des LDL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D- peuvent être stimulés par les médicaments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peuvent être la cible des mutations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6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B6F24B4-70AE-459A-AFB0-AF3A02AEF513}"/>
              </a:ext>
            </a:extLst>
          </p:cNvPr>
          <p:cNvSpPr txBox="1"/>
          <p:nvPr/>
        </p:nvSpPr>
        <p:spPr>
          <a:xfrm>
            <a:off x="1277470" y="1935690"/>
            <a:ext cx="9637059" cy="241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90000"/>
              </a:lnSpc>
              <a:buFont typeface="+mj-lt"/>
              <a:buAutoNum type="arabicPeriod"/>
            </a:pPr>
            <a:r>
              <a:rPr lang="fr-FR" sz="2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 PCSK :</a:t>
            </a:r>
          </a:p>
          <a:p>
            <a:pPr lvl="0" rtl="0">
              <a:lnSpc>
                <a:spcPct val="90000"/>
              </a:lnSpc>
            </a:pPr>
            <a:endParaRPr lang="fr-FR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A- sont des convertases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B- se lient au récepteur des apoprotéines B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C- favorisent l’expression des récepteurs des LDL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D- peuvent être stimulés par les médicaments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peuvent être la cible des mutations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5AE5DDC-8B4D-4D9B-8B20-646FDB981FD6}"/>
              </a:ext>
            </a:extLst>
          </p:cNvPr>
          <p:cNvSpPr txBox="1"/>
          <p:nvPr/>
        </p:nvSpPr>
        <p:spPr>
          <a:xfrm>
            <a:off x="4939913" y="4903695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rgbClr val="FF0000"/>
                </a:solidFill>
              </a:rPr>
              <a:t>A B E</a:t>
            </a:r>
          </a:p>
        </p:txBody>
      </p:sp>
    </p:spTree>
    <p:extLst>
      <p:ext uri="{BB962C8B-B14F-4D97-AF65-F5344CB8AC3E}">
        <p14:creationId xmlns:p14="http://schemas.microsoft.com/office/powerpoint/2010/main" val="230418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F8B471-A603-46D2-BED3-410A14298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rtl="0">
              <a:lnSpc>
                <a:spcPct val="90000"/>
              </a:lnSpc>
              <a:buNone/>
            </a:pPr>
            <a:r>
              <a:rPr lang="fr-FR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2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métabolisme du cholestérol dépend de:</a:t>
            </a:r>
            <a:endParaRPr lang="fr-FR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A- insuline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B- cortisol 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C- thyroxine 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D- GH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</a:t>
            </a:r>
            <a:r>
              <a:rPr lang="fr-FR" sz="32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oestrogènes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246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F8B471-A603-46D2-BED3-410A14298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7010"/>
          </a:xfrm>
        </p:spPr>
        <p:txBody>
          <a:bodyPr>
            <a:normAutofit lnSpcReduction="10000"/>
          </a:bodyPr>
          <a:lstStyle/>
          <a:p>
            <a:pPr marL="0" lvl="0" indent="0" rtl="0">
              <a:lnSpc>
                <a:spcPct val="90000"/>
              </a:lnSpc>
              <a:buNone/>
            </a:pPr>
            <a:r>
              <a:rPr lang="fr-FR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2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métabolisme du cholestérol dépend de:</a:t>
            </a:r>
            <a:endParaRPr lang="fr-FR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A- insuline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B- cortisol 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C- thyroxine 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D- GH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</a:t>
            </a:r>
            <a:r>
              <a:rPr lang="fr-FR" sz="32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oestrogènes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9891B02-6E58-4069-BF05-7C63DDF4FF1B}"/>
              </a:ext>
            </a:extLst>
          </p:cNvPr>
          <p:cNvSpPr txBox="1"/>
          <p:nvPr/>
        </p:nvSpPr>
        <p:spPr>
          <a:xfrm>
            <a:off x="4052047" y="5773271"/>
            <a:ext cx="42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A B C E</a:t>
            </a:r>
          </a:p>
        </p:txBody>
      </p:sp>
    </p:spTree>
    <p:extLst>
      <p:ext uri="{BB962C8B-B14F-4D97-AF65-F5344CB8AC3E}">
        <p14:creationId xmlns:p14="http://schemas.microsoft.com/office/powerpoint/2010/main" val="263496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17645B-2C17-4CE6-B15A-C42F7EA10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8120"/>
            <a:ext cx="10515600" cy="4351338"/>
          </a:xfrm>
        </p:spPr>
        <p:txBody>
          <a:bodyPr>
            <a:normAutofit/>
          </a:bodyPr>
          <a:lstStyle/>
          <a:p>
            <a:pPr marL="0" lvl="0" indent="0" rtl="0">
              <a:lnSpc>
                <a:spcPct val="90000"/>
              </a:lnSpc>
              <a:buNone/>
            </a:pPr>
            <a:r>
              <a:rPr lang="fr-FR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Le syndrome métabolique comporte une élévation de:</a:t>
            </a:r>
            <a:endParaRPr lang="fr-FR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A- TG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B- HDL-</a:t>
            </a:r>
            <a:r>
              <a:rPr lang="en-US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cholestérol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C- LDL-</a:t>
            </a:r>
            <a:r>
              <a:rPr lang="en-US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cholestérol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D- pression artérielle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fr-FR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tour de taille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511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17645B-2C17-4CE6-B15A-C42F7EA10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8120"/>
            <a:ext cx="10515600" cy="4351338"/>
          </a:xfrm>
        </p:spPr>
        <p:txBody>
          <a:bodyPr>
            <a:normAutofit/>
          </a:bodyPr>
          <a:lstStyle/>
          <a:p>
            <a:pPr marL="0" lvl="0" indent="0" rtl="0">
              <a:lnSpc>
                <a:spcPct val="90000"/>
              </a:lnSpc>
              <a:buNone/>
            </a:pPr>
            <a:r>
              <a:rPr lang="fr-FR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Le syndrome métabolique comporte une élévation de:</a:t>
            </a:r>
            <a:endParaRPr lang="fr-FR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A- TG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B- HDL-</a:t>
            </a:r>
            <a:r>
              <a:rPr lang="en-US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cholestérol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C- LDL-</a:t>
            </a:r>
            <a:r>
              <a:rPr lang="en-US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cholestérol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D- pression artérielle</a:t>
            </a:r>
            <a:endParaRPr lang="fr-F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fr-FR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tour de taille 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6BA502A-DD05-4E0D-AEC1-977FC1C421A2}"/>
              </a:ext>
            </a:extLst>
          </p:cNvPr>
          <p:cNvSpPr txBox="1"/>
          <p:nvPr/>
        </p:nvSpPr>
        <p:spPr>
          <a:xfrm flipH="1">
            <a:off x="4196379" y="4069976"/>
            <a:ext cx="3513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ADE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52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9AEEF-2166-4BC5-8FDE-DB999C2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636" y="507813"/>
            <a:ext cx="10515600" cy="4351338"/>
          </a:xfrm>
        </p:spPr>
        <p:txBody>
          <a:bodyPr/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Les LDL s’incrustent dans la plaque vasculaire en cas de: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oxydation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estérification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taille petite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densité élevée</a:t>
            </a:r>
          </a:p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récepteur Apo B fonctionnel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941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9AEEF-2166-4BC5-8FDE-DB999C2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636" y="507813"/>
            <a:ext cx="10515600" cy="4351338"/>
          </a:xfrm>
        </p:spPr>
        <p:txBody>
          <a:bodyPr/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Les LDL s’incrustent dans la plaque vasculaire en cas de: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oxydation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estérification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taille petite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densité élevée</a:t>
            </a:r>
          </a:p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récepteur Apo B fonctionnel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8DEF7C-0A99-47F4-8446-C1055D7DB4C4}"/>
              </a:ext>
            </a:extLst>
          </p:cNvPr>
          <p:cNvSpPr txBox="1"/>
          <p:nvPr/>
        </p:nvSpPr>
        <p:spPr>
          <a:xfrm>
            <a:off x="3514165" y="5325035"/>
            <a:ext cx="4347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A C D</a:t>
            </a:r>
          </a:p>
        </p:txBody>
      </p:sp>
    </p:spTree>
    <p:extLst>
      <p:ext uri="{BB962C8B-B14F-4D97-AF65-F5344CB8AC3E}">
        <p14:creationId xmlns:p14="http://schemas.microsoft.com/office/powerpoint/2010/main" val="392851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1747" y="753267"/>
            <a:ext cx="2880320" cy="24482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30642" y="764711"/>
            <a:ext cx="2880320" cy="2448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Ellipse 4"/>
          <p:cNvSpPr/>
          <p:nvPr/>
        </p:nvSpPr>
        <p:spPr>
          <a:xfrm>
            <a:off x="3485019" y="1548510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340188" y="2014951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3750306" y="223188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4930070" y="2172961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722004" y="141278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3845059" y="822558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02448" y="1366879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3304999" y="80613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362588" y="80613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424500" y="221853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3176031" y="2198762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5324325" y="153982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4817245" y="781662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Ellipse 17"/>
          <p:cNvSpPr/>
          <p:nvPr/>
        </p:nvSpPr>
        <p:spPr>
          <a:xfrm>
            <a:off x="6697157" y="859337"/>
            <a:ext cx="1145453" cy="125655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8070802" y="866040"/>
            <a:ext cx="1319912" cy="106516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7661843" y="1944781"/>
            <a:ext cx="1260803" cy="115026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3176720" y="3430864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Syndrome métabolique 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6901379" y="3344493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Hypercholestérolémie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Génétique </a:t>
            </a:r>
          </a:p>
        </p:txBody>
      </p:sp>
      <p:pic>
        <p:nvPicPr>
          <p:cNvPr id="23" name="Picture 4"/>
          <p:cNvPicPr>
            <a:picLocks noRot="1"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4023084"/>
            <a:ext cx="3672408" cy="2753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ZoneTexte 23"/>
          <p:cNvSpPr txBox="1"/>
          <p:nvPr/>
        </p:nvSpPr>
        <p:spPr>
          <a:xfrm>
            <a:off x="2279577" y="5085184"/>
            <a:ext cx="4180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Anomalies qualitatives </a:t>
            </a:r>
          </a:p>
        </p:txBody>
      </p:sp>
      <p:sp>
        <p:nvSpPr>
          <p:cNvPr id="25" name="Titre 24"/>
          <p:cNvSpPr>
            <a:spLocks noGrp="1"/>
          </p:cNvSpPr>
          <p:nvPr>
            <p:ph type="title"/>
          </p:nvPr>
        </p:nvSpPr>
        <p:spPr>
          <a:xfrm>
            <a:off x="1902617" y="84848"/>
            <a:ext cx="8229600" cy="591401"/>
          </a:xfrm>
        </p:spPr>
        <p:txBody>
          <a:bodyPr>
            <a:noAutofit/>
          </a:bodyPr>
          <a:lstStyle/>
          <a:p>
            <a:r>
              <a:rPr lang="fr-FR" sz="3600" b="1" dirty="0"/>
              <a:t>Taille et densité des LDL </a:t>
            </a:r>
          </a:p>
        </p:txBody>
      </p:sp>
    </p:spTree>
    <p:extLst>
      <p:ext uri="{BB962C8B-B14F-4D97-AF65-F5344CB8AC3E}">
        <p14:creationId xmlns:p14="http://schemas.microsoft.com/office/powerpoint/2010/main" val="376337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559232A-37D4-4A45-80D6-4C3228370FFA}"/>
              </a:ext>
            </a:extLst>
          </p:cNvPr>
          <p:cNvSpPr txBox="1"/>
          <p:nvPr/>
        </p:nvSpPr>
        <p:spPr>
          <a:xfrm>
            <a:off x="788893" y="828150"/>
            <a:ext cx="9816353" cy="3340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Les dépôts d’esters de cholestérol peuvent se déposer dans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les parois vasculaires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les articulations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les tendons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les paupières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le foie</a:t>
            </a:r>
          </a:p>
        </p:txBody>
      </p:sp>
    </p:spTree>
    <p:extLst>
      <p:ext uri="{BB962C8B-B14F-4D97-AF65-F5344CB8AC3E}">
        <p14:creationId xmlns:p14="http://schemas.microsoft.com/office/powerpoint/2010/main" val="35328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559232A-37D4-4A45-80D6-4C3228370FFA}"/>
              </a:ext>
            </a:extLst>
          </p:cNvPr>
          <p:cNvSpPr txBox="1"/>
          <p:nvPr/>
        </p:nvSpPr>
        <p:spPr>
          <a:xfrm>
            <a:off x="788893" y="828150"/>
            <a:ext cx="9816353" cy="3340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Les dépôts d’esters de cholestérol peuvent se déposer dans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les parois vasculaires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les articulations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les tendons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les paupières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le foie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61D492-DD1F-4B33-8213-2817C8DC55AE}"/>
              </a:ext>
            </a:extLst>
          </p:cNvPr>
          <p:cNvSpPr txBox="1"/>
          <p:nvPr/>
        </p:nvSpPr>
        <p:spPr>
          <a:xfrm flipH="1">
            <a:off x="4537037" y="5038165"/>
            <a:ext cx="4015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A B C D</a:t>
            </a:r>
          </a:p>
        </p:txBody>
      </p:sp>
    </p:spTree>
    <p:extLst>
      <p:ext uri="{BB962C8B-B14F-4D97-AF65-F5344CB8AC3E}">
        <p14:creationId xmlns:p14="http://schemas.microsoft.com/office/powerpoint/2010/main" val="340000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261CBED-56DC-40CD-925A-25FA316D404F}"/>
              </a:ext>
            </a:extLst>
          </p:cNvPr>
          <p:cNvSpPr txBox="1"/>
          <p:nvPr/>
        </p:nvSpPr>
        <p:spPr>
          <a:xfrm>
            <a:off x="1461247" y="819185"/>
            <a:ext cx="10560424" cy="3340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6.L’hyperlipoprotéinémie la plus rare est le type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I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II a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II b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III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IV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9A84F8-62C1-4B6A-B8E4-C3A470100108}"/>
              </a:ext>
            </a:extLst>
          </p:cNvPr>
          <p:cNvSpPr txBox="1"/>
          <p:nvPr/>
        </p:nvSpPr>
        <p:spPr>
          <a:xfrm>
            <a:off x="5576047" y="4742329"/>
            <a:ext cx="986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9633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261CBED-56DC-40CD-925A-25FA316D404F}"/>
              </a:ext>
            </a:extLst>
          </p:cNvPr>
          <p:cNvSpPr txBox="1"/>
          <p:nvPr/>
        </p:nvSpPr>
        <p:spPr>
          <a:xfrm>
            <a:off x="1461247" y="819185"/>
            <a:ext cx="10560424" cy="3340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6.L’hyperlipoprotéinémie la plus rare est le type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I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II a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II b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III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IV</a:t>
            </a:r>
          </a:p>
        </p:txBody>
      </p:sp>
    </p:spTree>
    <p:extLst>
      <p:ext uri="{BB962C8B-B14F-4D97-AF65-F5344CB8AC3E}">
        <p14:creationId xmlns:p14="http://schemas.microsoft.com/office/powerpoint/2010/main" val="79206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8- Le syndrome métabolique entraîne:</a:t>
            </a:r>
          </a:p>
          <a:p>
            <a:pPr marL="0" indent="0">
              <a:buNone/>
            </a:pPr>
            <a:r>
              <a:rPr lang="fr-FR" b="1" dirty="0"/>
              <a:t>A- une hyperproduction de VLDL</a:t>
            </a:r>
          </a:p>
          <a:p>
            <a:pPr marL="0" indent="0">
              <a:buNone/>
            </a:pPr>
            <a:r>
              <a:rPr lang="fr-FR" b="1" dirty="0"/>
              <a:t>B- des lipoprotéines de grande taille</a:t>
            </a:r>
          </a:p>
          <a:p>
            <a:pPr marL="0" indent="0">
              <a:buNone/>
            </a:pPr>
            <a:r>
              <a:rPr lang="fr-FR" b="1" dirty="0"/>
              <a:t>C- des lipoprotéines de densité élevée</a:t>
            </a:r>
          </a:p>
          <a:p>
            <a:pPr marL="0" indent="0">
              <a:buNone/>
            </a:pPr>
            <a:r>
              <a:rPr lang="fr-FR" b="1" dirty="0"/>
              <a:t>D- des lipoprotéines oxydées</a:t>
            </a:r>
          </a:p>
          <a:p>
            <a:pPr marL="0" indent="0">
              <a:buNone/>
            </a:pPr>
            <a:r>
              <a:rPr lang="fr-FR" b="1" dirty="0"/>
              <a:t>E- un HDL-cholestérol bas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9748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8- Le syndrome métabolique entraîne:</a:t>
            </a:r>
          </a:p>
          <a:p>
            <a:pPr marL="0" indent="0">
              <a:buNone/>
            </a:pPr>
            <a:r>
              <a:rPr lang="fr-FR" b="1" dirty="0"/>
              <a:t>A- une hyperproduction de VLDL</a:t>
            </a:r>
          </a:p>
          <a:p>
            <a:pPr marL="0" indent="0">
              <a:buNone/>
            </a:pPr>
            <a:r>
              <a:rPr lang="fr-FR" b="1" dirty="0"/>
              <a:t>B- des lipoprotéines de grande taille</a:t>
            </a:r>
          </a:p>
          <a:p>
            <a:pPr marL="0" indent="0">
              <a:buNone/>
            </a:pPr>
            <a:r>
              <a:rPr lang="fr-FR" b="1" dirty="0"/>
              <a:t>C- des lipoprotéines de densité élevée</a:t>
            </a:r>
          </a:p>
          <a:p>
            <a:pPr marL="0" indent="0">
              <a:buNone/>
            </a:pPr>
            <a:r>
              <a:rPr lang="fr-FR" b="1" dirty="0"/>
              <a:t>D- des lipoprotéines oxydées</a:t>
            </a:r>
          </a:p>
          <a:p>
            <a:pPr marL="0" indent="0">
              <a:buNone/>
            </a:pPr>
            <a:r>
              <a:rPr lang="fr-FR" b="1" dirty="0"/>
              <a:t>E- un HDL-cholestérol bas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A-C-D-E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9238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0"/>
            <a:ext cx="7793038" cy="1143000"/>
          </a:xfrm>
        </p:spPr>
        <p:txBody>
          <a:bodyPr/>
          <a:lstStyle/>
          <a:p>
            <a:pPr eaLnBrk="1" hangingPunct="1"/>
            <a:r>
              <a:rPr lang="fr-FR" altLang="fr-FR" b="1" dirty="0"/>
              <a:t>SPM - Troubles lipidiques</a:t>
            </a:r>
          </a:p>
        </p:txBody>
      </p:sp>
      <p:sp>
        <p:nvSpPr>
          <p:cNvPr id="11269" name="Text Box 7"/>
          <p:cNvSpPr>
            <a:spLocks noGrp="1" noChangeArrowheads="1"/>
          </p:cNvSpPr>
          <p:nvPr>
            <p:ph sz="quarter" idx="1"/>
          </p:nvPr>
        </p:nvSpPr>
        <p:spPr>
          <a:xfrm>
            <a:off x="3792538" y="1773239"/>
            <a:ext cx="3243262" cy="43973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fr-FR" altLang="fr-FR" sz="2400" b="1">
                <a:solidFill>
                  <a:srgbClr val="D51A15"/>
                </a:solidFill>
              </a:rPr>
              <a:t>Hyper Is</a:t>
            </a:r>
          </a:p>
        </p:txBody>
      </p:sp>
      <p:pic>
        <p:nvPicPr>
          <p:cNvPr id="180232" name="Picture 8" descr=" ">
            <a:hlinkClick r:id="rId2"/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69088" y="1828801"/>
            <a:ext cx="3810000" cy="3622675"/>
          </a:xfrm>
        </p:spPr>
      </p:pic>
      <p:pic>
        <p:nvPicPr>
          <p:cNvPr id="11267" name="Picture 3" descr=" 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700214"/>
            <a:ext cx="3962400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3000375" y="1125539"/>
            <a:ext cx="2895600" cy="46672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/>
              <a:t>insulinorésistance</a:t>
            </a:r>
          </a:p>
        </p:txBody>
      </p:sp>
      <p:sp>
        <p:nvSpPr>
          <p:cNvPr id="180233" name="Line 9"/>
          <p:cNvSpPr>
            <a:spLocks noChangeShapeType="1"/>
          </p:cNvSpPr>
          <p:nvPr/>
        </p:nvSpPr>
        <p:spPr bwMode="auto">
          <a:xfrm flipH="1">
            <a:off x="7239000" y="5638800"/>
            <a:ext cx="1752600" cy="0"/>
          </a:xfrm>
          <a:prstGeom prst="line">
            <a:avLst/>
          </a:prstGeom>
          <a:noFill/>
          <a:ln w="57150">
            <a:solidFill>
              <a:srgbClr val="D51A1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34" name="Line 10"/>
          <p:cNvSpPr>
            <a:spLocks noChangeShapeType="1"/>
          </p:cNvSpPr>
          <p:nvPr/>
        </p:nvSpPr>
        <p:spPr bwMode="auto">
          <a:xfrm flipV="1">
            <a:off x="7239000" y="4648200"/>
            <a:ext cx="0" cy="990600"/>
          </a:xfrm>
          <a:prstGeom prst="line">
            <a:avLst/>
          </a:prstGeom>
          <a:noFill/>
          <a:ln w="76200">
            <a:solidFill>
              <a:srgbClr val="D51A1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35" name="Line 11"/>
          <p:cNvSpPr>
            <a:spLocks noChangeShapeType="1"/>
          </p:cNvSpPr>
          <p:nvPr/>
        </p:nvSpPr>
        <p:spPr bwMode="auto">
          <a:xfrm flipV="1">
            <a:off x="8991600" y="5410200"/>
            <a:ext cx="228600" cy="228600"/>
          </a:xfrm>
          <a:prstGeom prst="line">
            <a:avLst/>
          </a:prstGeom>
          <a:noFill/>
          <a:ln w="38100">
            <a:solidFill>
              <a:srgbClr val="D51A1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36" name="Text Box 12"/>
          <p:cNvSpPr txBox="1">
            <a:spLocks noChangeArrowheads="1"/>
          </p:cNvSpPr>
          <p:nvPr/>
        </p:nvSpPr>
        <p:spPr bwMode="auto">
          <a:xfrm>
            <a:off x="6248400" y="43434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>
                <a:solidFill>
                  <a:srgbClr val="D51A15"/>
                </a:solidFill>
              </a:rPr>
              <a:t>cholestérol</a:t>
            </a:r>
          </a:p>
        </p:txBody>
      </p:sp>
      <p:sp>
        <p:nvSpPr>
          <p:cNvPr id="180237" name="Text Box 13"/>
          <p:cNvSpPr txBox="1">
            <a:spLocks noChangeArrowheads="1"/>
          </p:cNvSpPr>
          <p:nvPr/>
        </p:nvSpPr>
        <p:spPr bwMode="auto">
          <a:xfrm>
            <a:off x="8915400" y="563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>
                <a:solidFill>
                  <a:srgbClr val="D51A15"/>
                </a:solidFill>
              </a:rPr>
              <a:t>TG</a:t>
            </a:r>
          </a:p>
        </p:txBody>
      </p:sp>
      <p:sp>
        <p:nvSpPr>
          <p:cNvPr id="180238" name="Text Box 14"/>
          <p:cNvSpPr txBox="1">
            <a:spLocks noChangeArrowheads="1"/>
          </p:cNvSpPr>
          <p:nvPr/>
        </p:nvSpPr>
        <p:spPr bwMode="auto">
          <a:xfrm>
            <a:off x="1600200" y="5867401"/>
            <a:ext cx="90678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fr-FR" altLang="fr-FR" sz="2400" b="1"/>
              <a:t>              LDL petits denses       	appauvrissement	     		 riches en cholestérol	       	en HDL-C</a:t>
            </a:r>
          </a:p>
        </p:txBody>
      </p:sp>
      <p:sp>
        <p:nvSpPr>
          <p:cNvPr id="11277" name="Line 15"/>
          <p:cNvSpPr>
            <a:spLocks noChangeShapeType="1"/>
          </p:cNvSpPr>
          <p:nvPr/>
        </p:nvSpPr>
        <p:spPr bwMode="auto">
          <a:xfrm>
            <a:off x="4151313" y="2276475"/>
            <a:ext cx="0" cy="381000"/>
          </a:xfrm>
          <a:prstGeom prst="line">
            <a:avLst/>
          </a:prstGeom>
          <a:noFill/>
          <a:ln w="57150">
            <a:solidFill>
              <a:srgbClr val="D51A1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1278" name="Text Box 16"/>
          <p:cNvSpPr txBox="1">
            <a:spLocks noChangeArrowheads="1"/>
          </p:cNvSpPr>
          <p:nvPr/>
        </p:nvSpPr>
        <p:spPr bwMode="auto">
          <a:xfrm>
            <a:off x="4872038" y="263683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 dirty="0">
                <a:solidFill>
                  <a:srgbClr val="D51A15"/>
                </a:solidFill>
              </a:rPr>
              <a:t>LPL</a:t>
            </a:r>
          </a:p>
        </p:txBody>
      </p:sp>
      <p:sp>
        <p:nvSpPr>
          <p:cNvPr id="11279" name="Line 17"/>
          <p:cNvSpPr>
            <a:spLocks noChangeShapeType="1"/>
          </p:cNvSpPr>
          <p:nvPr/>
        </p:nvSpPr>
        <p:spPr bwMode="auto">
          <a:xfrm>
            <a:off x="5375275" y="1700214"/>
            <a:ext cx="0" cy="865187"/>
          </a:xfrm>
          <a:prstGeom prst="line">
            <a:avLst/>
          </a:prstGeom>
          <a:noFill/>
          <a:ln w="76200">
            <a:solidFill>
              <a:srgbClr val="FF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42" name="Line 18"/>
          <p:cNvSpPr>
            <a:spLocks noChangeShapeType="1"/>
          </p:cNvSpPr>
          <p:nvPr/>
        </p:nvSpPr>
        <p:spPr bwMode="auto">
          <a:xfrm flipH="1">
            <a:off x="4224338" y="3500439"/>
            <a:ext cx="792162" cy="1081087"/>
          </a:xfrm>
          <a:prstGeom prst="line">
            <a:avLst/>
          </a:prstGeom>
          <a:noFill/>
          <a:ln w="762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630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3" grpId="0" animBg="1"/>
      <p:bldP spid="180234" grpId="0" animBg="1"/>
      <p:bldP spid="180235" grpId="0" animBg="1"/>
      <p:bldP spid="180236" grpId="0"/>
      <p:bldP spid="180237" grpId="0"/>
      <p:bldP spid="180238" grpId="0"/>
      <p:bldP spid="1802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6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05532"/>
              </p:ext>
            </p:extLst>
          </p:nvPr>
        </p:nvGraphicFramePr>
        <p:xfrm>
          <a:off x="1483659" y="0"/>
          <a:ext cx="10044954" cy="6720070"/>
        </p:xfrm>
        <a:graphic>
          <a:graphicData uri="http://schemas.openxmlformats.org/drawingml/2006/table">
            <a:tbl>
              <a:tblPr/>
              <a:tblGrid>
                <a:gridCol w="1610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7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8535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Clinical</a:t>
                      </a: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measures</a:t>
                      </a:r>
                      <a:endParaRPr kumimoji="0" 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AHA/NHLBI :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any</a:t>
                      </a: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3 of the </a:t>
                      </a:r>
                      <a:r>
                        <a:rPr kumimoji="0" lang="fr-F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following</a:t>
                      </a: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5 </a:t>
                      </a:r>
                      <a:r>
                        <a:rPr kumimoji="0" lang="fr-F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features</a:t>
                      </a:r>
                      <a:endParaRPr kumimoji="0" 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IDF 2005</a:t>
                      </a:r>
                    </a:p>
                  </a:txBody>
                  <a:tcPr marT="45724" marB="45724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82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62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Waist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circum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ference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 102 cm in men or    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88 cm in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women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(non-Asian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origin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);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 90 cm in men or    80 cm in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women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both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East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Asians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and South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Asians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94 cm in men or 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80 cm in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women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(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Europids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,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Sub-Saharan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Africans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and Middle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Eastern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);  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90 cm in men or 80 cm in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women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(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both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East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Asians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and South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Asians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; South and Central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Americans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);    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85 cm in men or  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90 cm in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women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(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Japanese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+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any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2 of the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following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: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27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Triglycerides (fasting)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150 mg/dl or on drug therapy for high triglycerides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≥ 150 mg/dl or on drug therapy for high triglycerides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23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HDL-C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&lt;40 mg/dl in men or &lt;50 mg/dl in women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or on drug therapy for low HDL-C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&lt;40 mg/dl in men or &lt;50 mg/dl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 women or on drug therapy for low HDL-C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471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Blood pressure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130 mm Hg systolic or 85 mm Hg diastolic or on drug therapy for hypertension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 130 mm Hg systolic or    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85 mm Hg diastolic or on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drug therapy for hypertension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627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Glucose (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fasting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 100 mg/dl or drug therapy  for elevated glucose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 100 mg/dl (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includes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2804" name="Picture 36" descr="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4213" y="2593975"/>
            <a:ext cx="762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05" name="Picture 37" descr="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47775" y="2593975"/>
            <a:ext cx="762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06" name="Picture 38" descr="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5400" y="3143250"/>
            <a:ext cx="762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07" name="Picture 39" descr="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4213" y="3778250"/>
            <a:ext cx="762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08" name="Picture 40" descr="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4213" y="4506913"/>
            <a:ext cx="762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09" name="Picture 41" descr="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2475" y="4506913"/>
            <a:ext cx="762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10" name="Picture 42" descr="≥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4213" y="4872038"/>
            <a:ext cx="762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71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036223A-F84B-4827-983B-ABC2561E641D}"/>
              </a:ext>
            </a:extLst>
          </p:cNvPr>
          <p:cNvSpPr txBox="1"/>
          <p:nvPr/>
        </p:nvSpPr>
        <p:spPr>
          <a:xfrm>
            <a:off x="555812" y="1060146"/>
            <a:ext cx="10945906" cy="4877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8 .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sérum trouble à jeun est rencontré au cours de l’</a:t>
            </a:r>
            <a:r>
              <a:rPr lang="fr-FR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	I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	IIA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	IIB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	III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	IV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29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036223A-F84B-4827-983B-ABC2561E641D}"/>
              </a:ext>
            </a:extLst>
          </p:cNvPr>
          <p:cNvSpPr txBox="1"/>
          <p:nvPr/>
        </p:nvSpPr>
        <p:spPr>
          <a:xfrm>
            <a:off x="555812" y="1060146"/>
            <a:ext cx="10945906" cy="5612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8 .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sérum trouble à jeun est rencontré au cours de l’</a:t>
            </a:r>
            <a:r>
              <a:rPr lang="fr-FR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	I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	IIA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	IIB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	III</a:t>
            </a: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	IV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4000" b="1" dirty="0">
                <a:solidFill>
                  <a:srgbClr val="FF0000"/>
                </a:solidFill>
              </a:rPr>
              <a:t>Rép: A-C-D-E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05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BFF2CA-084F-4E07-A05E-A4575066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42C2E2-3FB2-4009-819C-21211FBA51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DA5EA9-6838-4C8D-9BE6-7668EAA730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B6AFBB-3B37-4E87-AFF5-D0087C8F6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61" y="1377109"/>
            <a:ext cx="11325278" cy="45092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9E28F4-D512-4CA2-9DF0-3300EDD8DCB8}"/>
              </a:ext>
            </a:extLst>
          </p:cNvPr>
          <p:cNvSpPr/>
          <p:nvPr/>
        </p:nvSpPr>
        <p:spPr>
          <a:xfrm>
            <a:off x="5701553" y="3316046"/>
            <a:ext cx="9861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9A015-6D6D-43C2-98C2-2042ADD38E5D}"/>
              </a:ext>
            </a:extLst>
          </p:cNvPr>
          <p:cNvSpPr/>
          <p:nvPr/>
        </p:nvSpPr>
        <p:spPr>
          <a:xfrm>
            <a:off x="5889812" y="3316046"/>
            <a:ext cx="5585012" cy="7001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69E05-21E0-4493-8ED3-A0E3551AA153}"/>
              </a:ext>
            </a:extLst>
          </p:cNvPr>
          <p:cNvSpPr/>
          <p:nvPr/>
        </p:nvSpPr>
        <p:spPr>
          <a:xfrm>
            <a:off x="6096000" y="3254188"/>
            <a:ext cx="45719" cy="61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AE1BE2-0DD0-4B49-8C3F-ED3717E2CFA5}"/>
              </a:ext>
            </a:extLst>
          </p:cNvPr>
          <p:cNvSpPr/>
          <p:nvPr/>
        </p:nvSpPr>
        <p:spPr>
          <a:xfrm>
            <a:off x="3953436" y="4950631"/>
            <a:ext cx="5585012" cy="7001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627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A35A5E81-D330-49DE-9B60-0280DAC0F185}"/>
              </a:ext>
            </a:extLst>
          </p:cNvPr>
          <p:cNvSpPr txBox="1"/>
          <p:nvPr/>
        </p:nvSpPr>
        <p:spPr>
          <a:xfrm>
            <a:off x="770965" y="1177773"/>
            <a:ext cx="8435788" cy="442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 . L’hypercholestérolémie familiale: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A- est transmise selon la loi mendélienne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B- entraîne un sérum à jeun clair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C- peut être due à 3 mutations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D- élève les VLDL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E- est traitée par les statines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b="1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94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A35A5E81-D330-49DE-9B60-0280DAC0F185}"/>
              </a:ext>
            </a:extLst>
          </p:cNvPr>
          <p:cNvSpPr txBox="1"/>
          <p:nvPr/>
        </p:nvSpPr>
        <p:spPr>
          <a:xfrm>
            <a:off x="770965" y="1177773"/>
            <a:ext cx="8435788" cy="442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 . L’hypercholestérolémie familiale: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A- est transmise selon la loi mendélienne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B- entraîne un sérum à jeun clair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C- peut être due à 3 mutations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D- élève les VLDL</a:t>
            </a:r>
            <a:endParaRPr lang="fr-F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E- est traitée par les statines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b="1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B C E</a:t>
            </a:r>
            <a:endParaRPr lang="fr-FR" sz="28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99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6835" y="71400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fr-FR" b="1" dirty="0"/>
              <a:t>10- Chez un patient âgé de 32 ans qui présente à la suite d’un IDM une hypercholestérolémie avec une hypertriglycéridémie, un sérum trouble à jeun, une bande large à l’électrophorèse des lipoprotéines englobant les béta et les pré béta, vous retenez une </a:t>
            </a:r>
            <a:r>
              <a:rPr lang="fr-FR" b="1" dirty="0" err="1"/>
              <a:t>hyperlipoprotéinémie</a:t>
            </a:r>
            <a:r>
              <a:rPr lang="fr-FR" b="1" dirty="0"/>
              <a:t> de type :</a:t>
            </a:r>
          </a:p>
          <a:p>
            <a:pPr marL="0" indent="0">
              <a:buNone/>
            </a:pPr>
            <a:r>
              <a:rPr lang="fr-FR" b="1" dirty="0"/>
              <a:t>A- I</a:t>
            </a:r>
          </a:p>
          <a:p>
            <a:pPr marL="0" indent="0">
              <a:buNone/>
            </a:pPr>
            <a:r>
              <a:rPr lang="fr-FR" b="1" dirty="0"/>
              <a:t>B- II a</a:t>
            </a:r>
          </a:p>
          <a:p>
            <a:pPr marL="0" indent="0">
              <a:buNone/>
            </a:pPr>
            <a:r>
              <a:rPr lang="fr-FR" b="1" dirty="0"/>
              <a:t>C- II b</a:t>
            </a:r>
          </a:p>
          <a:p>
            <a:pPr marL="0" indent="0">
              <a:buNone/>
            </a:pPr>
            <a:r>
              <a:rPr lang="fr-FR" b="1" dirty="0"/>
              <a:t>D- III</a:t>
            </a:r>
          </a:p>
          <a:p>
            <a:pPr marL="0" indent="0">
              <a:buNone/>
            </a:pPr>
            <a:r>
              <a:rPr lang="fr-FR" b="1" dirty="0"/>
              <a:t>E- IV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8552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6835" y="714002"/>
            <a:ext cx="10515600" cy="531028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fr-FR" b="1" dirty="0"/>
              <a:t>10- Chez un patient âgé de 32 ans qui présente à la suite d’un IDM une hypercholestérolémie avec une hypertriglycéridémie, un sérum trouble à jeun, une bande large à l’électrophorèse des lipoprotéines englobant les béta et les pré béta, vous retenez une </a:t>
            </a:r>
            <a:r>
              <a:rPr lang="fr-FR" b="1" dirty="0" err="1"/>
              <a:t>hyperlipoprotéinémie</a:t>
            </a:r>
            <a:r>
              <a:rPr lang="fr-FR" b="1" dirty="0"/>
              <a:t> de type :</a:t>
            </a:r>
          </a:p>
          <a:p>
            <a:pPr marL="0" indent="0">
              <a:buNone/>
            </a:pPr>
            <a:r>
              <a:rPr lang="fr-FR" b="1" dirty="0"/>
              <a:t>A- I</a:t>
            </a:r>
          </a:p>
          <a:p>
            <a:pPr marL="0" indent="0">
              <a:buNone/>
            </a:pPr>
            <a:r>
              <a:rPr lang="fr-FR" b="1" dirty="0"/>
              <a:t>B- II a</a:t>
            </a:r>
          </a:p>
          <a:p>
            <a:pPr marL="0" indent="0">
              <a:buNone/>
            </a:pPr>
            <a:r>
              <a:rPr lang="fr-FR" b="1" dirty="0"/>
              <a:t>C- II b</a:t>
            </a:r>
          </a:p>
          <a:p>
            <a:pPr marL="0" indent="0">
              <a:buNone/>
            </a:pPr>
            <a:r>
              <a:rPr lang="fr-FR" b="1" dirty="0"/>
              <a:t>D- III</a:t>
            </a:r>
          </a:p>
          <a:p>
            <a:pPr marL="0" indent="0">
              <a:buNone/>
            </a:pPr>
            <a:r>
              <a:rPr lang="fr-FR" b="1" dirty="0"/>
              <a:t>E- IV</a:t>
            </a:r>
          </a:p>
          <a:p>
            <a:pPr marL="0" indent="0">
              <a:buNone/>
            </a:pPr>
            <a:r>
              <a:rPr lang="fr-FR" b="1" dirty="0"/>
              <a:t> 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D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57723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fr-FR" altLang="fr-FR" b="1"/>
              <a:t>Dys-</a:t>
            </a:r>
            <a:r>
              <a:rPr lang="el-GR" altLang="fr-FR" b="1"/>
              <a:t>β</a:t>
            </a:r>
            <a:r>
              <a:rPr lang="fr-FR" altLang="fr-FR" b="1"/>
              <a:t> lipoprotéinémie</a:t>
            </a:r>
            <a:endParaRPr lang="el-GR" altLang="fr-FR" b="1"/>
          </a:p>
        </p:txBody>
      </p:sp>
      <p:pic>
        <p:nvPicPr>
          <p:cNvPr id="58373" name="Picture 5" descr="p15_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11900" y="1916113"/>
            <a:ext cx="3733800" cy="3459162"/>
          </a:xfrm>
          <a:noFill/>
        </p:spPr>
      </p:pic>
      <p:sp>
        <p:nvSpPr>
          <p:cNvPr id="5837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26142" y="1844675"/>
            <a:ext cx="5441298" cy="4464050"/>
          </a:xfrm>
        </p:spPr>
        <p:txBody>
          <a:bodyPr/>
          <a:lstStyle/>
          <a:p>
            <a:pPr eaLnBrk="1" hangingPunct="1"/>
            <a:r>
              <a:rPr lang="fr-FR" altLang="fr-FR" sz="2400" b="1" dirty="0"/>
              <a:t>Décrite en 1967</a:t>
            </a:r>
          </a:p>
          <a:p>
            <a:pPr eaLnBrk="1" hangingPunct="1"/>
            <a:r>
              <a:rPr lang="fr-FR" altLang="fr-FR" sz="2400" b="1" dirty="0"/>
              <a:t>1 / 10.000</a:t>
            </a:r>
          </a:p>
          <a:p>
            <a:pPr eaLnBrk="1" hangingPunct="1"/>
            <a:r>
              <a:rPr lang="fr-FR" altLang="fr-FR" sz="2400" b="1" dirty="0"/>
              <a:t>Xanthomatose tubéreuse + cutanés</a:t>
            </a:r>
          </a:p>
          <a:p>
            <a:pPr eaLnBrk="1" hangingPunct="1"/>
            <a:r>
              <a:rPr lang="fr-FR" altLang="fr-FR" sz="2400" b="1" dirty="0"/>
              <a:t>CT et TG élevés</a:t>
            </a:r>
          </a:p>
          <a:p>
            <a:pPr eaLnBrk="1" hangingPunct="1"/>
            <a:r>
              <a:rPr lang="fr-FR" altLang="fr-FR" sz="2400" b="1" dirty="0"/>
              <a:t>Mutation gène </a:t>
            </a:r>
            <a:r>
              <a:rPr lang="fr-FR" altLang="fr-FR" sz="2400" b="1" dirty="0" err="1"/>
              <a:t>apoE</a:t>
            </a:r>
            <a:r>
              <a:rPr lang="fr-FR" altLang="fr-FR" sz="2400" b="1" dirty="0"/>
              <a:t>: Homozygotie E2/E2: 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fr-FR" sz="2400" b="1" dirty="0"/>
              <a:t>	non reconnaissance des IDL par leur récepteur hépatique</a:t>
            </a:r>
          </a:p>
        </p:txBody>
      </p:sp>
    </p:spTree>
    <p:extLst>
      <p:ext uri="{BB962C8B-B14F-4D97-AF65-F5344CB8AC3E}">
        <p14:creationId xmlns:p14="http://schemas.microsoft.com/office/powerpoint/2010/main" val="127318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fr-FR" altLang="fr-FR" sz="3400" b="1"/>
              <a:t>Dys-bêta lipoprotéinémie</a:t>
            </a:r>
            <a:r>
              <a:rPr lang="fr-FR" altLang="fr-FR" sz="4300" b="1"/>
              <a:t/>
            </a:r>
            <a:br>
              <a:rPr lang="fr-FR" altLang="fr-FR" sz="4300" b="1"/>
            </a:br>
            <a:r>
              <a:rPr lang="fr-FR" altLang="fr-FR" sz="4300" b="1"/>
              <a:t> </a:t>
            </a:r>
            <a:r>
              <a:rPr lang="fr-FR" altLang="fr-FR" sz="2600" b="1"/>
              <a:t>=broad bêta lipoprotéine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674939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fr-FR" altLang="fr-FR" sz="3200" b="1">
              <a:solidFill>
                <a:srgbClr val="FF6600"/>
              </a:solidFill>
            </a:endParaRPr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2438400" y="2819400"/>
            <a:ext cx="7391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2438400" y="3657600"/>
            <a:ext cx="7467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918" name="AutoShape 6" descr="blanc)"/>
          <p:cNvSpPr>
            <a:spLocks noChangeArrowheads="1"/>
          </p:cNvSpPr>
          <p:nvPr/>
        </p:nvSpPr>
        <p:spPr bwMode="auto">
          <a:xfrm>
            <a:off x="2514600" y="2590800"/>
            <a:ext cx="304800" cy="1143000"/>
          </a:xfrm>
          <a:prstGeom prst="flowChartTerminator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5105400" y="2667000"/>
            <a:ext cx="228600" cy="1066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8920" name="AutoShape 8"/>
          <p:cNvSpPr>
            <a:spLocks noChangeArrowheads="1"/>
          </p:cNvSpPr>
          <p:nvPr/>
        </p:nvSpPr>
        <p:spPr bwMode="auto">
          <a:xfrm>
            <a:off x="8839200" y="2667000"/>
            <a:ext cx="304800" cy="11430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2362200" y="3886200"/>
            <a:ext cx="739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3200" b="1" dirty="0">
                <a:sym typeface="Symbol" pitchFamily="18" charset="2"/>
              </a:rPr>
              <a:t>	</a:t>
            </a:r>
            <a:r>
              <a:rPr lang="fr-FR" altLang="fr-FR" sz="3200" b="1" dirty="0">
                <a:solidFill>
                  <a:srgbClr val="FFFF00"/>
                </a:solidFill>
                <a:sym typeface="Symbol" pitchFamily="18" charset="2"/>
              </a:rPr>
              <a:t>	</a:t>
            </a:r>
            <a:r>
              <a:rPr lang="fr-FR" altLang="fr-FR" sz="3200" b="1" dirty="0">
                <a:solidFill>
                  <a:srgbClr val="FF0000"/>
                </a:solidFill>
                <a:sym typeface="Symbol" pitchFamily="18" charset="2"/>
              </a:rPr>
              <a:t>     </a:t>
            </a:r>
            <a:r>
              <a:rPr lang="fr-FR" altLang="fr-FR" sz="3200" b="1" dirty="0">
                <a:solidFill>
                  <a:srgbClr val="FF0000"/>
                </a:solidFill>
              </a:rPr>
              <a:t>        pré</a:t>
            </a:r>
            <a:r>
              <a:rPr lang="fr-FR" altLang="fr-FR" sz="3200" b="1" dirty="0">
                <a:solidFill>
                  <a:srgbClr val="FF0000"/>
                </a:solidFill>
                <a:sym typeface="Symbol" pitchFamily="18" charset="2"/>
              </a:rPr>
              <a:t></a:t>
            </a:r>
            <a:r>
              <a:rPr lang="fr-FR" altLang="fr-FR" sz="3200" b="1" dirty="0">
                <a:solidFill>
                  <a:srgbClr val="FF0000"/>
                </a:solidFill>
              </a:rPr>
              <a:t> 			</a:t>
            </a:r>
            <a:r>
              <a:rPr lang="fr-FR" altLang="fr-FR" sz="3200" b="1" dirty="0">
                <a:solidFill>
                  <a:srgbClr val="FF0000"/>
                </a:solidFill>
                <a:sym typeface="Symbol" pitchFamily="18" charset="2"/>
              </a:rPr>
              <a:t></a:t>
            </a:r>
          </a:p>
        </p:txBody>
      </p:sp>
      <p:sp>
        <p:nvSpPr>
          <p:cNvPr id="38922" name="AutoShape 10"/>
          <p:cNvSpPr>
            <a:spLocks noChangeArrowheads="1"/>
          </p:cNvSpPr>
          <p:nvPr/>
        </p:nvSpPr>
        <p:spPr bwMode="auto">
          <a:xfrm>
            <a:off x="5943600" y="2667000"/>
            <a:ext cx="228600" cy="1066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2133600" y="464820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3200" b="1">
                <a:solidFill>
                  <a:schemeClr val="tx2"/>
                </a:solidFill>
              </a:rPr>
              <a:t>CM		  LDL	  VLDL		HDL</a:t>
            </a:r>
          </a:p>
        </p:txBody>
      </p:sp>
      <p:sp>
        <p:nvSpPr>
          <p:cNvPr id="39948" name="AutoShape 12"/>
          <p:cNvSpPr>
            <a:spLocks noChangeArrowheads="1"/>
          </p:cNvSpPr>
          <p:nvPr/>
        </p:nvSpPr>
        <p:spPr bwMode="auto">
          <a:xfrm>
            <a:off x="4953000" y="2590800"/>
            <a:ext cx="1219200" cy="1143000"/>
          </a:xfrm>
          <a:prstGeom prst="flowChartTerminator">
            <a:avLst/>
          </a:prstGeom>
          <a:solidFill>
            <a:srgbClr val="99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8925" name="Rectangle 13"/>
          <p:cNvSpPr>
            <a:spLocks noChangeArrowheads="1"/>
          </p:cNvSpPr>
          <p:nvPr/>
        </p:nvSpPr>
        <p:spPr bwMode="auto">
          <a:xfrm>
            <a:off x="3352800" y="5832475"/>
            <a:ext cx="64341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fr-FR" altLang="fr-FR" sz="2800" b="1">
                <a:solidFill>
                  <a:schemeClr val="tx2"/>
                </a:solidFill>
              </a:rPr>
              <a:t>Électrophorèse: bande béta large</a:t>
            </a:r>
          </a:p>
        </p:txBody>
      </p:sp>
    </p:spTree>
    <p:extLst>
      <p:ext uri="{BB962C8B-B14F-4D97-AF65-F5344CB8AC3E}">
        <p14:creationId xmlns:p14="http://schemas.microsoft.com/office/powerpoint/2010/main" val="279858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11- Une baisse du HDL-cholestérol peut être entraînée par:</a:t>
            </a:r>
          </a:p>
          <a:p>
            <a:pPr marL="0" indent="0">
              <a:buNone/>
            </a:pPr>
            <a:r>
              <a:rPr lang="fr-FR" b="1" dirty="0"/>
              <a:t>A- une résistance à l’insuline</a:t>
            </a:r>
          </a:p>
          <a:p>
            <a:pPr marL="0" indent="0">
              <a:buNone/>
            </a:pPr>
            <a:r>
              <a:rPr lang="fr-FR" b="1" dirty="0"/>
              <a:t>B- le tabagisme</a:t>
            </a:r>
          </a:p>
          <a:p>
            <a:pPr marL="0" indent="0">
              <a:buNone/>
            </a:pPr>
            <a:r>
              <a:rPr lang="fr-FR" b="1" dirty="0"/>
              <a:t>C- le déficit en LCAT</a:t>
            </a:r>
          </a:p>
          <a:p>
            <a:pPr marL="0" indent="0">
              <a:buNone/>
            </a:pPr>
            <a:r>
              <a:rPr lang="fr-FR" b="1" dirty="0"/>
              <a:t>D- le déficit en PCSK-9</a:t>
            </a:r>
          </a:p>
          <a:p>
            <a:pPr marL="0" indent="0">
              <a:buNone/>
            </a:pPr>
            <a:r>
              <a:rPr lang="fr-FR" b="1" dirty="0"/>
              <a:t>E- l’hypothyroïdie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37005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11- Une baisse du HDL-cholestérol peut être entraînée par:</a:t>
            </a:r>
          </a:p>
          <a:p>
            <a:pPr marL="0" indent="0">
              <a:buNone/>
            </a:pPr>
            <a:r>
              <a:rPr lang="fr-FR" b="1" dirty="0"/>
              <a:t>A- une résistance à l’insuline</a:t>
            </a:r>
          </a:p>
          <a:p>
            <a:pPr marL="0" indent="0">
              <a:buNone/>
            </a:pPr>
            <a:r>
              <a:rPr lang="fr-FR" b="1" dirty="0"/>
              <a:t>B- le tabagisme</a:t>
            </a:r>
          </a:p>
          <a:p>
            <a:pPr marL="0" indent="0">
              <a:buNone/>
            </a:pPr>
            <a:r>
              <a:rPr lang="fr-FR" b="1" dirty="0"/>
              <a:t>C- le déficit en LCAT</a:t>
            </a:r>
          </a:p>
          <a:p>
            <a:pPr marL="0" indent="0">
              <a:buNone/>
            </a:pPr>
            <a:r>
              <a:rPr lang="fr-FR" b="1" dirty="0"/>
              <a:t>D- le déficit en PCSK-9</a:t>
            </a:r>
          </a:p>
          <a:p>
            <a:pPr marL="0" indent="0">
              <a:buNone/>
            </a:pPr>
            <a:r>
              <a:rPr lang="fr-FR" b="1" dirty="0"/>
              <a:t>E- l’hypothyroïdie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A-B-C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3959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Hypo-HDL-cholestérolémie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0,35 (H) et 0,4 (F)</a:t>
            </a:r>
          </a:p>
          <a:p>
            <a:r>
              <a:rPr lang="fr-FR" b="1" dirty="0"/>
              <a:t>Secondaires : SM et tabac</a:t>
            </a:r>
          </a:p>
          <a:p>
            <a:r>
              <a:rPr lang="fr-FR" b="1" dirty="0"/>
              <a:t>Maladie de </a:t>
            </a:r>
            <a:r>
              <a:rPr lang="fr-FR" b="1" dirty="0" err="1"/>
              <a:t>Tangier</a:t>
            </a:r>
            <a:r>
              <a:rPr lang="fr-FR" b="1" dirty="0"/>
              <a:t> : mutation ABCA-1</a:t>
            </a:r>
          </a:p>
          <a:p>
            <a:pPr lvl="1"/>
            <a:r>
              <a:rPr lang="fr-FR" b="1" dirty="0"/>
              <a:t>Absence complète de HDL-C</a:t>
            </a:r>
          </a:p>
          <a:p>
            <a:pPr lvl="1"/>
            <a:r>
              <a:rPr lang="fr-FR" b="1" dirty="0"/>
              <a:t>HSM + hypertrophie ganglionnaire amygdales</a:t>
            </a:r>
          </a:p>
          <a:p>
            <a:pPr lvl="1"/>
            <a:r>
              <a:rPr lang="fr-FR" b="1" dirty="0"/>
              <a:t>Neuropathie </a:t>
            </a:r>
            <a:r>
              <a:rPr lang="fr-FR" b="1" dirty="0" err="1"/>
              <a:t>péripihérique</a:t>
            </a:r>
            <a:endParaRPr lang="fr-FR" b="1" dirty="0"/>
          </a:p>
          <a:p>
            <a:pPr lvl="1"/>
            <a:r>
              <a:rPr lang="fr-FR" b="1" dirty="0"/>
              <a:t>Risque vasculaire</a:t>
            </a:r>
          </a:p>
          <a:p>
            <a:r>
              <a:rPr lang="fr-FR" b="1" dirty="0"/>
              <a:t>Déficit en LCAT: </a:t>
            </a:r>
            <a:r>
              <a:rPr lang="fr-FR" b="1" dirty="0" err="1"/>
              <a:t>fish</a:t>
            </a:r>
            <a:r>
              <a:rPr lang="fr-FR" b="1" dirty="0"/>
              <a:t> </a:t>
            </a:r>
            <a:r>
              <a:rPr lang="fr-FR" b="1" dirty="0" err="1"/>
              <a:t>eye</a:t>
            </a:r>
            <a:r>
              <a:rPr lang="fr-FR" b="1" dirty="0"/>
              <a:t> </a:t>
            </a:r>
            <a:r>
              <a:rPr lang="fr-FR" b="1" dirty="0" err="1"/>
              <a:t>disease</a:t>
            </a:r>
            <a:endParaRPr lang="fr-FR" b="1" dirty="0"/>
          </a:p>
          <a:p>
            <a:pPr lvl="1"/>
            <a:r>
              <a:rPr lang="fr-FR" b="1" dirty="0"/>
              <a:t>Opacités cornéennes – anémie – Pu - IRC</a:t>
            </a:r>
          </a:p>
          <a:p>
            <a:pPr lvl="1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7390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12- L’évaluation du risque vasculaire tient compte de:</a:t>
            </a:r>
          </a:p>
          <a:p>
            <a:pPr marL="0" indent="0">
              <a:buNone/>
            </a:pPr>
            <a:r>
              <a:rPr lang="fr-FR" b="1" dirty="0"/>
              <a:t>A- l’état hépatique</a:t>
            </a:r>
          </a:p>
          <a:p>
            <a:pPr marL="0" indent="0">
              <a:buNone/>
            </a:pPr>
            <a:r>
              <a:rPr lang="fr-FR" b="1" dirty="0"/>
              <a:t>B- l’état diabétique</a:t>
            </a:r>
          </a:p>
          <a:p>
            <a:pPr marL="0" indent="0">
              <a:buNone/>
            </a:pPr>
            <a:r>
              <a:rPr lang="fr-FR" b="1" dirty="0"/>
              <a:t>C- de la prise d’alcool</a:t>
            </a:r>
          </a:p>
          <a:p>
            <a:pPr marL="0" indent="0">
              <a:buNone/>
            </a:pPr>
            <a:r>
              <a:rPr lang="fr-FR" b="1" dirty="0"/>
              <a:t>D- la fonction rénale</a:t>
            </a:r>
          </a:p>
          <a:p>
            <a:pPr marL="0" indent="0">
              <a:buNone/>
            </a:pPr>
            <a:r>
              <a:rPr lang="fr-FR" b="1" dirty="0"/>
              <a:t>E- l’état cardiaque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8045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12- L’évaluation du risque vasculaire tient compte de:</a:t>
            </a:r>
          </a:p>
          <a:p>
            <a:pPr marL="0" indent="0">
              <a:buNone/>
            </a:pPr>
            <a:r>
              <a:rPr lang="fr-FR" b="1" dirty="0"/>
              <a:t>A- l’état hépatique</a:t>
            </a:r>
          </a:p>
          <a:p>
            <a:pPr marL="0" indent="0">
              <a:buNone/>
            </a:pPr>
            <a:r>
              <a:rPr lang="fr-FR" b="1" dirty="0"/>
              <a:t>B- l’état diabétique</a:t>
            </a:r>
          </a:p>
          <a:p>
            <a:pPr marL="0" indent="0">
              <a:buNone/>
            </a:pPr>
            <a:r>
              <a:rPr lang="fr-FR" b="1" dirty="0"/>
              <a:t>C- de la prise d’alcool</a:t>
            </a:r>
          </a:p>
          <a:p>
            <a:pPr marL="0" indent="0">
              <a:buNone/>
            </a:pPr>
            <a:r>
              <a:rPr lang="fr-FR" b="1" dirty="0"/>
              <a:t>D- la fonction rénale</a:t>
            </a:r>
          </a:p>
          <a:p>
            <a:pPr marL="0" indent="0">
              <a:buNone/>
            </a:pPr>
            <a:r>
              <a:rPr lang="fr-FR" b="1" dirty="0"/>
              <a:t>E- l’état cardiaque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B-D-E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8211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 Stratification du risque vasculaire  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Maladie cardio-vasculaire avérée</a:t>
            </a:r>
          </a:p>
          <a:p>
            <a:pPr lvl="1"/>
            <a:r>
              <a:rPr lang="fr-FR" b="1" dirty="0"/>
              <a:t>IDM, AVC, artérite, IC, TR, BAV</a:t>
            </a:r>
          </a:p>
          <a:p>
            <a:pPr lvl="1">
              <a:buNone/>
            </a:pPr>
            <a:endParaRPr lang="fr-FR" b="1" dirty="0"/>
          </a:p>
          <a:p>
            <a:r>
              <a:rPr lang="fr-FR" b="1" dirty="0"/>
              <a:t>Insuffisance rénale </a:t>
            </a:r>
          </a:p>
          <a:p>
            <a:pPr marL="0" indent="0">
              <a:buNone/>
            </a:pPr>
            <a:endParaRPr lang="fr-FR" b="1" dirty="0"/>
          </a:p>
          <a:p>
            <a:r>
              <a:rPr lang="fr-FR" b="1" dirty="0"/>
              <a:t>DT2						</a:t>
            </a:r>
          </a:p>
          <a:p>
            <a:endParaRPr lang="fr-FR" b="1" dirty="0"/>
          </a:p>
          <a:p>
            <a:r>
              <a:rPr lang="fr-FR" b="1" dirty="0"/>
              <a:t>Score selon FRV: âge &gt; 40, tabac, HTA, obésité, LDL-C</a:t>
            </a:r>
          </a:p>
          <a:p>
            <a:endParaRPr lang="fr-F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4970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4A592F1-4DDE-4BF2-8B83-2A8437FD8DD6}"/>
              </a:ext>
            </a:extLst>
          </p:cNvPr>
          <p:cNvSpPr txBox="1"/>
          <p:nvPr/>
        </p:nvSpPr>
        <p:spPr>
          <a:xfrm>
            <a:off x="484094" y="577138"/>
            <a:ext cx="11358282" cy="3878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 . Un risque vasculaire élevé correspond à: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une microalbuminurie isolée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une hypercholestérolémie familiale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un diabète avec une atteinte de 3 organes cibles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un diabète de type 1 âgé de plus de 40 ans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des antécédents d’IDM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6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4A592F1-4DDE-4BF2-8B83-2A8437FD8DD6}"/>
              </a:ext>
            </a:extLst>
          </p:cNvPr>
          <p:cNvSpPr txBox="1"/>
          <p:nvPr/>
        </p:nvSpPr>
        <p:spPr>
          <a:xfrm>
            <a:off x="484094" y="577138"/>
            <a:ext cx="11358282" cy="495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 . Un risque vasculaire élevé correspond à: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une microalbuminurie isolée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une hypercholestérolémie </a:t>
            </a:r>
            <a:r>
              <a:rPr lang="fr-FR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familiale</a:t>
            </a:r>
            <a:endParaRPr lang="fr-FR" sz="2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un diabète avec une atteinte de 3 organes cibles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un diabète </a:t>
            </a:r>
            <a:r>
              <a:rPr lang="fr-FR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type 1 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plus de 40 ans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des antécédents d’IDM    </a:t>
            </a:r>
            <a:endParaRPr lang="fr-FR" sz="2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Rép: A-B 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fr-FR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77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1BD3B5A-A465-4305-BD86-69A08BCD63D6}"/>
              </a:ext>
            </a:extLst>
          </p:cNvPr>
          <p:cNvSpPr txBox="1"/>
          <p:nvPr/>
        </p:nvSpPr>
        <p:spPr>
          <a:xfrm>
            <a:off x="1129553" y="1090499"/>
            <a:ext cx="7915835" cy="3772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16. Les fibrates sont indiqués en cas de: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I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IV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V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II a</a:t>
            </a:r>
          </a:p>
          <a:p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le risque résiduel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15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1BD3B5A-A465-4305-BD86-69A08BCD63D6}"/>
              </a:ext>
            </a:extLst>
          </p:cNvPr>
          <p:cNvSpPr txBox="1"/>
          <p:nvPr/>
        </p:nvSpPr>
        <p:spPr>
          <a:xfrm>
            <a:off x="1129553" y="1090499"/>
            <a:ext cx="7915835" cy="4203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16. Les fibrates sont indiqués en cas de: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I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IV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V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hyperlipoprotéinémie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type II a</a:t>
            </a:r>
          </a:p>
          <a:p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le risque résiduel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Rép: BCE</a:t>
            </a:r>
          </a:p>
        </p:txBody>
      </p:sp>
    </p:spTree>
    <p:extLst>
      <p:ext uri="{BB962C8B-B14F-4D97-AF65-F5344CB8AC3E}">
        <p14:creationId xmlns:p14="http://schemas.microsoft.com/office/powerpoint/2010/main" val="300776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2F1039E-A253-4E3C-B27A-E41C8B43BEBD}"/>
              </a:ext>
            </a:extLst>
          </p:cNvPr>
          <p:cNvSpPr txBox="1"/>
          <p:nvPr/>
        </p:nvSpPr>
        <p:spPr>
          <a:xfrm>
            <a:off x="663388" y="738502"/>
            <a:ext cx="8229600" cy="446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17. Le risque musculaire des statines est majoré par: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l’âge avancé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l’hypothyroïdie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l’association aux fibrates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le diabète déséquilibré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l’association à l’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ézétimibe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Rép: A B C </a:t>
            </a:r>
          </a:p>
        </p:txBody>
      </p:sp>
    </p:spTree>
    <p:extLst>
      <p:ext uri="{BB962C8B-B14F-4D97-AF65-F5344CB8AC3E}">
        <p14:creationId xmlns:p14="http://schemas.microsoft.com/office/powerpoint/2010/main" val="23590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96177-2A04-4E53-9DE8-57298BC8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Cas clinique 1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1408F-8769-4C6A-B2B5-797B22BC4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8735" y="986118"/>
            <a:ext cx="10914529" cy="1921622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patient âgé de 16 ans, consulte pour des xanthomes cutanés.</a:t>
            </a: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 exploration montre un cholestérol total à 12 g/l, un HDL-cholestérol à 0,6 g/l et des triglycérides à 1,4 g/l.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5A5D40-A4D2-49F3-97B6-4A6D413C4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942" y="2650378"/>
            <a:ext cx="10703858" cy="3768351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18. Cet état métabolique doit faire rechercher :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un diabète sucré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une hypothyroïdie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un hypercorticisme métabolique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un syndrome néphrotique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une cholestase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340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96177-2A04-4E53-9DE8-57298BC8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Cas clinique 1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1408F-8769-4C6A-B2B5-797B22BC4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8735" y="986118"/>
            <a:ext cx="10914529" cy="1921622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patient âgé de 16 ans, consulte pour des xanthomes cutanés.</a:t>
            </a: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 exploration montre un cholestérol total à 12 g/l, un HDL-cholestérol à 0,6 g/l et des triglycérides à 1,4 g/l.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5A5D40-A4D2-49F3-97B6-4A6D413C4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942" y="2650378"/>
            <a:ext cx="10703858" cy="3768351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18. Cet état métabolique doit faire rechercher :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un diabète sucré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une hypothyroïdie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un hypercorticisme métabolique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un syndrome néphrotique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une cholestase                                                             </a:t>
            </a:r>
            <a:r>
              <a:rPr lang="fr-FR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Rép: B </a:t>
            </a:r>
            <a:r>
              <a:rPr lang="fr-FR" b="1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59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fr-FR" altLang="fr-FR" b="1"/>
              <a:t>Hyperlipoprotéinémies secondaires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fr-FR" altLang="fr-FR" b="1" dirty="0"/>
              <a:t>Hypothyroïdie (</a:t>
            </a:r>
            <a:r>
              <a:rPr lang="fr-FR" altLang="fr-FR" b="1" dirty="0" err="1"/>
              <a:t>IIa-IIb</a:t>
            </a:r>
            <a:r>
              <a:rPr lang="fr-FR" altLang="fr-FR" b="1" dirty="0"/>
              <a:t>) 		TSH</a:t>
            </a:r>
          </a:p>
          <a:p>
            <a:pPr eaLnBrk="1" hangingPunct="1">
              <a:lnSpc>
                <a:spcPct val="90000"/>
              </a:lnSpc>
            </a:pPr>
            <a:endParaRPr lang="fr-FR" altLang="fr-FR" b="1" dirty="0"/>
          </a:p>
          <a:p>
            <a:pPr eaLnBrk="1" hangingPunct="1">
              <a:lnSpc>
                <a:spcPct val="90000"/>
              </a:lnSpc>
            </a:pPr>
            <a:r>
              <a:rPr lang="fr-FR" altLang="fr-FR" b="1" dirty="0"/>
              <a:t>Affections rénales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b="1" dirty="0"/>
              <a:t>Syndrome néphrotique (</a:t>
            </a:r>
            <a:r>
              <a:rPr lang="fr-FR" altLang="fr-FR" b="1" dirty="0" err="1"/>
              <a:t>IIa-IIb</a:t>
            </a:r>
            <a:r>
              <a:rPr lang="fr-FR" altLang="fr-FR" b="1" dirty="0"/>
              <a:t>) 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b="1" dirty="0"/>
              <a:t>Insuffisance rénale chronique (IV)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b="1" dirty="0"/>
              <a:t>Transplantation (</a:t>
            </a:r>
            <a:r>
              <a:rPr lang="fr-FR" altLang="fr-FR" b="1" dirty="0" err="1"/>
              <a:t>IIa-IIb</a:t>
            </a:r>
            <a:r>
              <a:rPr lang="fr-FR" altLang="fr-FR" b="1" dirty="0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fr-FR" altLang="fr-FR" b="1" dirty="0"/>
          </a:p>
          <a:p>
            <a:pPr eaLnBrk="1" hangingPunct="1">
              <a:lnSpc>
                <a:spcPct val="90000"/>
              </a:lnSpc>
            </a:pPr>
            <a:r>
              <a:rPr lang="fr-FR" altLang="fr-FR" b="1" dirty="0" err="1"/>
              <a:t>Hépatopathies</a:t>
            </a:r>
            <a:endParaRPr lang="fr-FR" altLang="fr-FR" b="1" dirty="0"/>
          </a:p>
          <a:p>
            <a:pPr lvl="1" eaLnBrk="1" hangingPunct="1">
              <a:lnSpc>
                <a:spcPct val="90000"/>
              </a:lnSpc>
            </a:pPr>
            <a:r>
              <a:rPr lang="fr-FR" altLang="fr-FR" b="1" dirty="0"/>
              <a:t>Cholestase	</a:t>
            </a:r>
            <a:r>
              <a:rPr lang="fr-FR" altLang="fr-FR" b="1" dirty="0" err="1"/>
              <a:t>Lp</a:t>
            </a:r>
            <a:r>
              <a:rPr lang="fr-FR" altLang="fr-FR" b="1" dirty="0"/>
              <a:t>(x)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b="1" dirty="0"/>
              <a:t>Hépatites aigues (IV-</a:t>
            </a:r>
            <a:r>
              <a:rPr lang="fr-FR" altLang="fr-FR" b="1" dirty="0" err="1"/>
              <a:t>IIb</a:t>
            </a:r>
            <a:r>
              <a:rPr lang="fr-FR" altLang="fr-FR" b="1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b="1" dirty="0"/>
              <a:t>Cirrhoses (IV-</a:t>
            </a:r>
            <a:r>
              <a:rPr lang="fr-FR" altLang="fr-FR" b="1" dirty="0" err="1"/>
              <a:t>IIb</a:t>
            </a:r>
            <a:r>
              <a:rPr lang="fr-FR" altLang="fr-F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411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Cas clinique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Cette exploration est négative. L’interrogatoire trouve la présence des mêmes troubles chez ses 2 parents consanguins.</a:t>
            </a:r>
          </a:p>
          <a:p>
            <a:pPr marL="0" indent="0">
              <a:buNone/>
            </a:pPr>
            <a:r>
              <a:rPr lang="fr-FR" b="1" dirty="0"/>
              <a:t>19- Vous évoquez une mutation du gène de:</a:t>
            </a:r>
            <a:br>
              <a:rPr lang="fr-FR" b="1" dirty="0"/>
            </a:br>
            <a:r>
              <a:rPr lang="fr-FR" b="1" dirty="0"/>
              <a:t>A- la lipoprotéine lipase</a:t>
            </a:r>
          </a:p>
          <a:p>
            <a:pPr marL="0" indent="0">
              <a:buNone/>
            </a:pPr>
            <a:r>
              <a:rPr lang="fr-FR" b="1" dirty="0"/>
              <a:t>B- la LCAT</a:t>
            </a:r>
          </a:p>
          <a:p>
            <a:pPr marL="0" indent="0">
              <a:buNone/>
            </a:pPr>
            <a:r>
              <a:rPr lang="fr-FR" b="1" dirty="0"/>
              <a:t>C- PCSK-9</a:t>
            </a:r>
          </a:p>
          <a:p>
            <a:pPr marL="0" indent="0">
              <a:buNone/>
            </a:pPr>
            <a:r>
              <a:rPr lang="fr-FR" b="1" dirty="0"/>
              <a:t>D- récepteur apoprotéine B</a:t>
            </a:r>
          </a:p>
          <a:p>
            <a:pPr marL="0" indent="0">
              <a:buNone/>
            </a:pPr>
            <a:r>
              <a:rPr lang="fr-FR" b="1" dirty="0"/>
              <a:t>E- HMG </a:t>
            </a:r>
            <a:r>
              <a:rPr lang="fr-FR" b="1" dirty="0" err="1"/>
              <a:t>CoA</a:t>
            </a:r>
            <a:r>
              <a:rPr lang="fr-FR" b="1" dirty="0"/>
              <a:t> réductase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1596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Cas clinique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Cette exploration est négative. L’interrogatoire trouve la présence des mêmes troubles chez ses 2 parents consanguins.</a:t>
            </a:r>
          </a:p>
          <a:p>
            <a:pPr marL="0" indent="0">
              <a:buNone/>
            </a:pPr>
            <a:r>
              <a:rPr lang="fr-FR" b="1" dirty="0"/>
              <a:t>19- Vous évoquez une mutation du gène de:</a:t>
            </a:r>
            <a:br>
              <a:rPr lang="fr-FR" b="1" dirty="0"/>
            </a:br>
            <a:r>
              <a:rPr lang="fr-FR" b="1" dirty="0"/>
              <a:t>A- la lipoprotéine lipase</a:t>
            </a:r>
          </a:p>
          <a:p>
            <a:pPr marL="0" indent="0">
              <a:buNone/>
            </a:pPr>
            <a:r>
              <a:rPr lang="fr-FR" b="1" dirty="0"/>
              <a:t>B- la LCAT</a:t>
            </a:r>
          </a:p>
          <a:p>
            <a:pPr marL="0" indent="0">
              <a:buNone/>
            </a:pPr>
            <a:r>
              <a:rPr lang="fr-FR" b="1" dirty="0"/>
              <a:t>C- PCSK-9</a:t>
            </a:r>
          </a:p>
          <a:p>
            <a:pPr marL="0" indent="0">
              <a:buNone/>
            </a:pPr>
            <a:r>
              <a:rPr lang="fr-FR" b="1" dirty="0"/>
              <a:t>D- récepteur apoprotéine B</a:t>
            </a:r>
          </a:p>
          <a:p>
            <a:pPr marL="0" indent="0">
              <a:buNone/>
            </a:pPr>
            <a:r>
              <a:rPr lang="fr-FR" b="1" dirty="0"/>
              <a:t>E- HMG </a:t>
            </a:r>
            <a:r>
              <a:rPr lang="fr-FR" b="1" dirty="0" err="1"/>
              <a:t>CoA</a:t>
            </a:r>
            <a:r>
              <a:rPr lang="fr-FR" b="1" dirty="0"/>
              <a:t> réductase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C-D</a:t>
            </a:r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85743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Cas clinique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20- On pourra traiter ce patient par:</a:t>
            </a:r>
          </a:p>
          <a:p>
            <a:pPr marL="0" indent="0">
              <a:buNone/>
            </a:pPr>
            <a:r>
              <a:rPr lang="fr-FR" b="1" dirty="0"/>
              <a:t>A- plasmaphérèse</a:t>
            </a:r>
          </a:p>
          <a:p>
            <a:pPr marL="0" indent="0">
              <a:buNone/>
            </a:pPr>
            <a:r>
              <a:rPr lang="fr-FR" b="1" dirty="0"/>
              <a:t>B- statines </a:t>
            </a:r>
          </a:p>
          <a:p>
            <a:pPr marL="0" indent="0">
              <a:buNone/>
            </a:pPr>
            <a:r>
              <a:rPr lang="fr-FR" b="1" dirty="0"/>
              <a:t>C- </a:t>
            </a:r>
            <a:r>
              <a:rPr lang="fr-FR" b="1" dirty="0" err="1"/>
              <a:t>fibrates</a:t>
            </a:r>
            <a:endParaRPr lang="fr-FR" b="1" dirty="0"/>
          </a:p>
          <a:p>
            <a:pPr marL="0" indent="0">
              <a:buNone/>
            </a:pPr>
            <a:r>
              <a:rPr lang="fr-FR" b="1" dirty="0"/>
              <a:t>D- metformine </a:t>
            </a:r>
          </a:p>
          <a:p>
            <a:pPr marL="0" indent="0">
              <a:buNone/>
            </a:pPr>
            <a:r>
              <a:rPr lang="fr-FR" b="1" dirty="0"/>
              <a:t>E- oméga-3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Rép: A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49363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Cas clinique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20- On pourra traiter ce patient par:</a:t>
            </a:r>
          </a:p>
          <a:p>
            <a:pPr marL="0" indent="0">
              <a:buNone/>
            </a:pPr>
            <a:r>
              <a:rPr lang="fr-FR" b="1" dirty="0"/>
              <a:t>A- plasmaphérèse</a:t>
            </a:r>
          </a:p>
          <a:p>
            <a:pPr marL="0" indent="0">
              <a:buNone/>
            </a:pPr>
            <a:r>
              <a:rPr lang="fr-FR" b="1" dirty="0"/>
              <a:t>B- statines </a:t>
            </a:r>
          </a:p>
          <a:p>
            <a:pPr marL="0" indent="0">
              <a:buNone/>
            </a:pPr>
            <a:r>
              <a:rPr lang="fr-FR" b="1" dirty="0"/>
              <a:t>C- </a:t>
            </a:r>
            <a:r>
              <a:rPr lang="fr-FR" b="1" dirty="0" err="1"/>
              <a:t>fibrates</a:t>
            </a:r>
            <a:endParaRPr lang="fr-FR" b="1" dirty="0"/>
          </a:p>
          <a:p>
            <a:pPr marL="0" indent="0">
              <a:buNone/>
            </a:pPr>
            <a:r>
              <a:rPr lang="fr-FR" b="1" dirty="0"/>
              <a:t>D- metformine </a:t>
            </a:r>
          </a:p>
          <a:p>
            <a:pPr marL="0" indent="0">
              <a:buNone/>
            </a:pPr>
            <a:r>
              <a:rPr lang="fr-FR" b="1" dirty="0"/>
              <a:t>E- oméga-3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04797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Cas clinique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20- On pourra traiter ce patient par:</a:t>
            </a:r>
          </a:p>
          <a:p>
            <a:pPr marL="0" indent="0">
              <a:buNone/>
            </a:pPr>
            <a:r>
              <a:rPr lang="fr-FR" b="1" dirty="0"/>
              <a:t>A- plasmaphérèse</a:t>
            </a:r>
          </a:p>
          <a:p>
            <a:pPr marL="0" indent="0">
              <a:buNone/>
            </a:pPr>
            <a:r>
              <a:rPr lang="fr-FR" b="1" dirty="0"/>
              <a:t>B- statines </a:t>
            </a:r>
          </a:p>
          <a:p>
            <a:pPr marL="0" indent="0">
              <a:buNone/>
            </a:pPr>
            <a:r>
              <a:rPr lang="fr-FR" b="1" dirty="0"/>
              <a:t>C- </a:t>
            </a:r>
            <a:r>
              <a:rPr lang="fr-FR" b="1" dirty="0" err="1"/>
              <a:t>fibrates</a:t>
            </a:r>
            <a:endParaRPr lang="fr-FR" b="1" dirty="0"/>
          </a:p>
          <a:p>
            <a:pPr marL="0" indent="0">
              <a:buNone/>
            </a:pPr>
            <a:r>
              <a:rPr lang="fr-FR" b="1" dirty="0"/>
              <a:t>D- metformine </a:t>
            </a:r>
          </a:p>
          <a:p>
            <a:pPr marL="0" indent="0">
              <a:buNone/>
            </a:pPr>
            <a:r>
              <a:rPr lang="fr-FR" b="1" dirty="0"/>
              <a:t>E- oméga-3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B A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3617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3484" y="500062"/>
            <a:ext cx="10515600" cy="1325563"/>
          </a:xfrm>
        </p:spPr>
        <p:txBody>
          <a:bodyPr/>
          <a:lstStyle/>
          <a:p>
            <a:pPr algn="ctr"/>
            <a:r>
              <a:rPr lang="fr-FR" b="1" dirty="0"/>
              <a:t>Cas clinique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Un patient diabétique âgé de 56 ans , Non tabagique , est traité par ADO depuis 3 ans.</a:t>
            </a:r>
          </a:p>
          <a:p>
            <a:pPr marL="0" indent="0">
              <a:buNone/>
            </a:pPr>
            <a:r>
              <a:rPr lang="fr-FR" b="1" dirty="0"/>
              <a:t>Son exploration montre: IMC: 35; TA: 150/100 </a:t>
            </a:r>
            <a:r>
              <a:rPr lang="fr-FR" b="1" dirty="0" err="1"/>
              <a:t>mmHg</a:t>
            </a:r>
            <a:r>
              <a:rPr lang="fr-FR" b="1" dirty="0"/>
              <a:t>; fond d’œil normal; micro-albuminurie: 70 mg/j; clearance de la créatinine: 75 ml/mn; ECG normal; cholestérol total: 2,5 g/l; HDL-cholestérol: 0,3 g/l; triglycérides: 5 g/l</a:t>
            </a:r>
          </a:p>
          <a:p>
            <a:pPr marL="0" indent="0">
              <a:buNone/>
            </a:pPr>
            <a:r>
              <a:rPr lang="fr-FR" b="1" dirty="0"/>
              <a:t>21- Son taux de LDL-cholestérol est:</a:t>
            </a:r>
          </a:p>
          <a:p>
            <a:pPr marL="0" indent="0">
              <a:buNone/>
            </a:pPr>
            <a:r>
              <a:rPr lang="fr-FR" b="1" dirty="0"/>
              <a:t>A- 1,5 g/l</a:t>
            </a:r>
          </a:p>
          <a:p>
            <a:pPr marL="0" indent="0">
              <a:buNone/>
            </a:pPr>
            <a:r>
              <a:rPr lang="fr-FR" b="1" dirty="0"/>
              <a:t>B- 1,7 g/l</a:t>
            </a:r>
          </a:p>
          <a:p>
            <a:pPr marL="0" indent="0">
              <a:buNone/>
            </a:pPr>
            <a:r>
              <a:rPr lang="fr-FR" b="1" dirty="0"/>
              <a:t>C- 1,9 g/l</a:t>
            </a:r>
          </a:p>
          <a:p>
            <a:pPr marL="0" indent="0">
              <a:buNone/>
            </a:pPr>
            <a:r>
              <a:rPr lang="fr-FR" b="1" dirty="0"/>
              <a:t>D- 2,1 g/l</a:t>
            </a:r>
          </a:p>
          <a:p>
            <a:pPr marL="0" indent="0">
              <a:buNone/>
            </a:pPr>
            <a:r>
              <a:rPr lang="fr-FR" b="1" dirty="0"/>
              <a:t>E- 2,3 g/l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0092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3484" y="500062"/>
            <a:ext cx="10515600" cy="1325563"/>
          </a:xfrm>
        </p:spPr>
        <p:txBody>
          <a:bodyPr/>
          <a:lstStyle/>
          <a:p>
            <a:pPr algn="ctr"/>
            <a:r>
              <a:rPr lang="fr-FR" b="1" dirty="0"/>
              <a:t>Cas clinique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/>
              <a:t>Un patient diabétique âgé de 56 ans est traité par ADO depuis 3 ans.</a:t>
            </a:r>
          </a:p>
          <a:p>
            <a:pPr marL="0" indent="0">
              <a:buNone/>
            </a:pPr>
            <a:r>
              <a:rPr lang="fr-FR" b="1" dirty="0"/>
              <a:t>Son exploration montre: IMC: 35; TA: 150/100 </a:t>
            </a:r>
            <a:r>
              <a:rPr lang="fr-FR" b="1" dirty="0" err="1"/>
              <a:t>mmHg</a:t>
            </a:r>
            <a:r>
              <a:rPr lang="fr-FR" b="1" dirty="0"/>
              <a:t>; fond d’œil normal; micro-albuminurie: 70 mg/j; clearance de la créatinine: 75 ml/mn; ECG normal; cholestérol total: 2,5 g/l; HDL-cholestérol: 0,3 g/l; triglycérides: 5 g/l</a:t>
            </a:r>
          </a:p>
          <a:p>
            <a:pPr marL="0" indent="0">
              <a:buNone/>
            </a:pPr>
            <a:r>
              <a:rPr lang="fr-FR" b="1" dirty="0"/>
              <a:t>21. Son taux de LDL-cholestérol est:</a:t>
            </a:r>
          </a:p>
          <a:p>
            <a:pPr marL="0" indent="0">
              <a:buNone/>
            </a:pPr>
            <a:r>
              <a:rPr lang="fr-FR" b="1" dirty="0"/>
              <a:t>A- 1,5 g/l</a:t>
            </a:r>
          </a:p>
          <a:p>
            <a:pPr marL="0" indent="0">
              <a:buNone/>
            </a:pPr>
            <a:r>
              <a:rPr lang="fr-FR" b="1" dirty="0"/>
              <a:t>B- 1,7 g/l</a:t>
            </a:r>
          </a:p>
          <a:p>
            <a:pPr marL="0" indent="0">
              <a:buNone/>
            </a:pPr>
            <a:r>
              <a:rPr lang="fr-FR" b="1" dirty="0"/>
              <a:t>C- 1,9 g/l</a:t>
            </a:r>
          </a:p>
          <a:p>
            <a:pPr marL="0" indent="0">
              <a:buNone/>
            </a:pPr>
            <a:r>
              <a:rPr lang="fr-FR" b="1" dirty="0"/>
              <a:t>D- 2,1 g/l</a:t>
            </a:r>
          </a:p>
          <a:p>
            <a:pPr marL="0" indent="0">
              <a:buNone/>
            </a:pPr>
            <a:r>
              <a:rPr lang="fr-FR" b="1" dirty="0"/>
              <a:t>E- 2,3 g/l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C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23460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fr-FR" altLang="fr-FR" b="1"/>
              <a:t>Calcul du LDL-C par la formule de FRIEDEWALD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08214" y="1981200"/>
            <a:ext cx="8002587" cy="4114800"/>
          </a:xfrm>
        </p:spPr>
        <p:txBody>
          <a:bodyPr/>
          <a:lstStyle/>
          <a:p>
            <a:pPr algn="ctr" eaLnBrk="1" hangingPunct="1"/>
            <a:endParaRPr lang="fr-FR" altLang="fr-FR" b="1" dirty="0">
              <a:solidFill>
                <a:srgbClr val="FFFF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fr-FR" b="1" dirty="0">
                <a:cs typeface="Times New Roman" pitchFamily="18" charset="0"/>
              </a:rPr>
              <a:t>LDL-C = CT - (C.HDL + TG/2,2)</a:t>
            </a:r>
            <a:r>
              <a:rPr lang="fr-FR" altLang="fr-FR" b="1" dirty="0"/>
              <a:t> 	TG &lt; 5 </a:t>
            </a:r>
            <a:r>
              <a:rPr lang="fr-FR" altLang="fr-FR" b="1" dirty="0" err="1"/>
              <a:t>mMol</a:t>
            </a:r>
            <a:r>
              <a:rPr lang="fr-FR" altLang="fr-FR" b="1" dirty="0"/>
              <a:t>/l</a:t>
            </a:r>
          </a:p>
          <a:p>
            <a:pPr eaLnBrk="1" hangingPunct="1">
              <a:buFont typeface="Wingdings" pitchFamily="2" charset="2"/>
              <a:buNone/>
            </a:pPr>
            <a:endParaRPr lang="fr-FR" altLang="fr-FR" b="1" dirty="0"/>
          </a:p>
          <a:p>
            <a:pPr algn="ctr" eaLnBrk="1" hangingPunct="1">
              <a:buFont typeface="Wingdings" pitchFamily="2" charset="2"/>
              <a:buNone/>
            </a:pPr>
            <a:endParaRPr lang="fr-FR" altLang="fr-FR" b="1" dirty="0"/>
          </a:p>
          <a:p>
            <a:pPr eaLnBrk="1" hangingPunct="1">
              <a:buFont typeface="Wingdings" pitchFamily="2" charset="2"/>
              <a:buNone/>
            </a:pPr>
            <a:r>
              <a:rPr lang="fr-FR" altLang="fr-FR" b="1" dirty="0">
                <a:cs typeface="Times New Roman" pitchFamily="18" charset="0"/>
              </a:rPr>
              <a:t>LDL-C = CT - (C.HDL + TG/5)</a:t>
            </a:r>
            <a:r>
              <a:rPr lang="fr-FR" altLang="fr-FR" b="1" dirty="0"/>
              <a:t>  	TG &lt; 4 g/l</a:t>
            </a:r>
          </a:p>
          <a:p>
            <a:pPr eaLnBrk="1" hangingPunct="1">
              <a:buFont typeface="Wingdings" pitchFamily="2" charset="2"/>
              <a:buNone/>
            </a:pPr>
            <a:endParaRPr lang="fr-FR" altLang="fr-FR" b="1" dirty="0"/>
          </a:p>
          <a:p>
            <a:pPr eaLnBrk="1" hangingPunct="1">
              <a:buFont typeface="Wingdings" pitchFamily="2" charset="2"/>
              <a:buNone/>
            </a:pPr>
            <a:endParaRPr lang="fr-FR" altLang="fr-FR" b="1" dirty="0"/>
          </a:p>
          <a:p>
            <a:pPr eaLnBrk="1" hangingPunct="1">
              <a:buFont typeface="Wingdings" pitchFamily="2" charset="2"/>
              <a:buNone/>
            </a:pPr>
            <a:r>
              <a:rPr lang="fr-FR" altLang="fr-FR" b="1" dirty="0"/>
              <a:t>Non HDL-C = CT – HDL-C = LDL-C + 0,3 g/l</a:t>
            </a:r>
          </a:p>
          <a:p>
            <a:pPr eaLnBrk="1" hangingPunct="1"/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12766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Cas clinique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22- Son risque vasculaire est:</a:t>
            </a:r>
          </a:p>
          <a:p>
            <a:pPr marL="0" indent="0">
              <a:buNone/>
            </a:pPr>
            <a:r>
              <a:rPr lang="fr-FR" b="1" dirty="0"/>
              <a:t>A- très élevé par cardiopathie avérée</a:t>
            </a:r>
          </a:p>
          <a:p>
            <a:pPr marL="0" indent="0">
              <a:buNone/>
            </a:pPr>
            <a:r>
              <a:rPr lang="fr-FR" b="1" dirty="0"/>
              <a:t>B- très élevé sans cardiopathie avérée</a:t>
            </a:r>
          </a:p>
          <a:p>
            <a:pPr marL="0" indent="0">
              <a:buNone/>
            </a:pPr>
            <a:r>
              <a:rPr lang="fr-FR" b="1" dirty="0"/>
              <a:t>C- élevé </a:t>
            </a:r>
          </a:p>
          <a:p>
            <a:pPr marL="0" indent="0">
              <a:buNone/>
            </a:pPr>
            <a:r>
              <a:rPr lang="fr-FR" b="1" dirty="0"/>
              <a:t>D- modéré</a:t>
            </a:r>
          </a:p>
          <a:p>
            <a:pPr marL="0" indent="0">
              <a:buNone/>
            </a:pPr>
            <a:r>
              <a:rPr lang="fr-FR" b="1" dirty="0"/>
              <a:t>E- faible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 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9940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22CCA19-13F5-4331-8985-093407DF51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427" t="15686" r="24559" b="17647"/>
          <a:stretch/>
        </p:blipFill>
        <p:spPr>
          <a:xfrm>
            <a:off x="2196353" y="268023"/>
            <a:ext cx="7404846" cy="645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5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Cas clinique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22- Son risque vasculaire est:</a:t>
            </a:r>
          </a:p>
          <a:p>
            <a:pPr marL="0" indent="0">
              <a:buNone/>
            </a:pPr>
            <a:r>
              <a:rPr lang="fr-FR" b="1" dirty="0"/>
              <a:t>A- très élevé par cardiopathie avérée</a:t>
            </a:r>
          </a:p>
          <a:p>
            <a:pPr marL="0" indent="0">
              <a:buNone/>
            </a:pPr>
            <a:r>
              <a:rPr lang="fr-FR" b="1" dirty="0"/>
              <a:t>B- très élevé sans cardiopathie avérée</a:t>
            </a:r>
          </a:p>
          <a:p>
            <a:pPr marL="0" indent="0">
              <a:buNone/>
            </a:pPr>
            <a:r>
              <a:rPr lang="fr-FR" b="1" dirty="0"/>
              <a:t>C- élevé </a:t>
            </a:r>
          </a:p>
          <a:p>
            <a:pPr marL="0" indent="0">
              <a:buNone/>
            </a:pPr>
            <a:r>
              <a:rPr lang="fr-FR" b="1" dirty="0"/>
              <a:t>D- modéré</a:t>
            </a:r>
          </a:p>
          <a:p>
            <a:pPr marL="0" indent="0">
              <a:buNone/>
            </a:pPr>
            <a:r>
              <a:rPr lang="fr-FR" b="1" dirty="0"/>
              <a:t>E- faible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Rép: B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2692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698B8E-4050-4D4F-888A-A3F65CC66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5" y="651248"/>
            <a:ext cx="10515600" cy="5390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Sous mesures hygiéno-diététiques et 40 mg d’atorvastatine, il présente un IMC à 34; HbA1c: 7%; LDL-cholestérol à 0,6 g/l et des triglycérides à 3,5 g/l, TSH à 1,5 </a:t>
            </a:r>
            <a:r>
              <a:rPr lang="fr-FR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mUI</a:t>
            </a: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/l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22. Son état peut s’améliorer si: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on le fait maigrir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on lui prescrit de la thyroxine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on lui prescrit des fibrates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on augmente la dose d’atorvastatine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on associe de l’</a:t>
            </a:r>
            <a:r>
              <a:rPr lang="fr-FR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ézétimibe</a:t>
            </a:r>
            <a:endParaRPr lang="fr-F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544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698B8E-4050-4D4F-888A-A3F65CC66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5" y="651248"/>
            <a:ext cx="10515600" cy="53909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Sous mesures hygiéno-diététiques et 40 mg d’atorvastatine, il présente un IMC à 34; HbA1c: 7%; LDL-cholestérol à 0,6 g/l et des triglycérides à 3,5 g/l, TSH à 1,5 </a:t>
            </a:r>
            <a:r>
              <a:rPr lang="fr-FR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mUI</a:t>
            </a: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/l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22. Son état peut s’améliorer si: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on le fait maigrir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on lui prescrit de la thyroxine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on lui prescrit des fibrates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on augmente la dose d’atorvastatine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on associe de l’</a:t>
            </a:r>
            <a:r>
              <a:rPr lang="fr-FR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ézétimibe</a:t>
            </a:r>
            <a:endParaRPr lang="fr-F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Rép: A D E</a:t>
            </a:r>
            <a:endParaRPr lang="fr-FR" sz="30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592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9" y="642939"/>
            <a:ext cx="7629525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98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4EDA0D-44F2-4154-837A-C62F0C9B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8593"/>
          </a:xfrm>
        </p:spPr>
        <p:txBody>
          <a:bodyPr>
            <a:normAutofit fontScale="90000"/>
          </a:bodyPr>
          <a:lstStyle/>
          <a:p>
            <a:r>
              <a:rPr lang="fr-FR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Cas clinique 3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A0EAE2-5711-4ADF-BF72-5CB7C1AE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1" y="767789"/>
            <a:ext cx="10515600" cy="544475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patiente âgée de 25 ans, ayant une mère diabétique, ayant mené à terme 2 grossesses avec notion de macrosomie, sous contraception hormonale, présente la situation suivante: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IMC: 32; tour de taille: 93 cm; TA: 130/80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; HbA1c: 6%; cholestérol total: 1,5 g/l; triglycérides: 3,5 g/l, HDL-cholestérol: 0,2 g/l; micro-albuminurie: 20 mg/j; TSH: 2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mUI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25. Cette patiente présente une dyslipidémie de type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A- I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B- II a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C- II b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D- IV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E- V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186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4EDA0D-44F2-4154-837A-C62F0C9B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8593"/>
          </a:xfrm>
        </p:spPr>
        <p:txBody>
          <a:bodyPr>
            <a:normAutofit fontScale="90000"/>
          </a:bodyPr>
          <a:lstStyle/>
          <a:p>
            <a:r>
              <a:rPr lang="fr-FR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Cas clinique 3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A0EAE2-5711-4ADF-BF72-5CB7C1AE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1" y="767789"/>
            <a:ext cx="10515600" cy="590195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patiente âgée de 25 ans, ayant une mère diabétique, ayant mené à terme 2 grossesses avec notion de macrosomie, sous contraception hormonale, présente la situation suivante: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IMC: 32; tour de taille: 93 cm; TA: 130/80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; HbA1c: 6%; cholestérol total: 1,5 g/l; triglycérides: 3,5 g/l, HDL-cholestérol: 0,2 g/l; micro-albuminurie: 20 mg/j; TSH: 2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mUI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25. Cette patiente présente une dyslipidémie de type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A- I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B- II a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C- II b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D- IV</a:t>
            </a: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E- V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Rép: D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256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E8B982-7E6A-4061-AE94-58F5561C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4FC260-9FEF-4665-B5F5-DC3B29CB7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26. Cette dyslipidémie est secondaire à: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hypothyroïdie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diabète sucré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sa contraception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son obésité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sa néphropathie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28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E8B982-7E6A-4061-AE94-58F5561C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4FC260-9FEF-4665-B5F5-DC3B29CB7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26. Cette dyslipidémie est secondaire à: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hypothyroïdie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diabète sucré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sa contraception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son obésité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sa néphropathie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Rép:   C D</a:t>
            </a:r>
            <a:endParaRPr lang="fr-FR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771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650B8-EC44-4485-AF75-6AE83CD1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ECD8E9-6CA1-4F36-B073-CCA744988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27. Cette patiente devra éviter: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les sucres simples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les graisses insaturées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les graisses saturées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les anti oxydants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les fibres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8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650B8-EC44-4485-AF75-6AE83CD1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ECD8E9-6CA1-4F36-B073-CCA744988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27. Cette patiente devra éviter: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les sucres simples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les graisses insaturées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les graisses saturées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les anti oxydants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les fibres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Rép: A C</a:t>
            </a:r>
            <a:endParaRPr lang="fr-FR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6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ECD8E9-6CA1-4F36-B073-CCA74498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660213"/>
            <a:ext cx="10515600" cy="4351338"/>
          </a:xfrm>
        </p:spPr>
        <p:txBody>
          <a:bodyPr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28. Sous ces mesures, elle présente un LDL-cholestérol calculé à 0,8 g/l et des triglycérides à 1,4 g/l. vous décidez de: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prescrire des fibrates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prescrire une statine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prescrire la thyroxine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réaliser un contrôle dans un an</a:t>
            </a:r>
          </a:p>
          <a:p>
            <a:pPr marL="0" indent="0"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prescrire la metformine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93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ECD8E9-6CA1-4F36-B073-CCA74498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660213"/>
            <a:ext cx="10515600" cy="4351338"/>
          </a:xfrm>
        </p:spPr>
        <p:txBody>
          <a:bodyPr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28. Sous ces mesures, elle présente un LDL-cholestérol calculé à 0,8 g/l et des triglycérides à 1,4 g/l. vous décidez de: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prescrire des fibrates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prescrire une statine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prescrire la thyroxine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réaliser un contrôle dans un an</a:t>
            </a:r>
          </a:p>
          <a:p>
            <a:pPr marL="0" indent="0"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prescrire la metformine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Rép: D</a:t>
            </a:r>
          </a:p>
        </p:txBody>
      </p:sp>
    </p:spTree>
    <p:extLst>
      <p:ext uri="{BB962C8B-B14F-4D97-AF65-F5344CB8AC3E}">
        <p14:creationId xmlns:p14="http://schemas.microsoft.com/office/powerpoint/2010/main" val="52734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C2F46D-FF5F-45B5-A4E9-A1ACCFDD0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7" y="277906"/>
            <a:ext cx="10515600" cy="6167718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 clinique 4</a:t>
            </a:r>
            <a:endParaRPr lang="fr-F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patiente âgée de 20 ans, présente la situation métabolique suivante: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IMC: 24; TA: 110/70 </a:t>
            </a:r>
            <a:r>
              <a:rPr lang="fr-FR" sz="5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mmHg</a:t>
            </a:r>
            <a:r>
              <a:rPr lang="fr-FR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cholestérol total: 1,5 g/l; triglycérides: 11 g/l et HDL-cholestérol: 0,5 g/l; aspect du sérum à jeun lactescent avec un surnageant à l’épreuve de décantation.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29. Cette patiente présente une dyslipidémie de type 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I</a:t>
            </a:r>
            <a:endParaRPr lang="fr-FR" sz="5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II a</a:t>
            </a:r>
            <a:endParaRPr lang="fr-FR" sz="5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II b</a:t>
            </a:r>
            <a:endParaRPr lang="fr-FR" sz="5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III</a:t>
            </a:r>
            <a:endParaRPr lang="fr-FR" sz="5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– IV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782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C49FAB-CB17-4679-9720-A0901FD1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53" y="489883"/>
            <a:ext cx="10515600" cy="4351338"/>
          </a:xfrm>
        </p:spPr>
        <p:txBody>
          <a:bodyPr/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30. Cette dyslipidémie est en rapport avec une mutation du gène de: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A- apoprotéine B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B- PCSK-9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 apoprotéine 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D- lipoprotéine lipase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 récepteur apoprotéine B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349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B97EC6-7B9C-4E4A-8A2D-E9A96F465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011" y="6064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lvl="0" indent="0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31.Cette patient court un risque de survenue de: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A- diabète pancréatique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B- IDM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C- AVC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D- pancréatite aigue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E- xanthome éruptif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FR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Rép: A D E</a:t>
            </a:r>
            <a:endParaRPr lang="fr-FR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830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800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19D6219DFF11409B81878E865E76A6" ma:contentTypeVersion="7" ma:contentTypeDescription="Create a new document." ma:contentTypeScope="" ma:versionID="ecbf51c31649051807618a45526b5d3e">
  <xsd:schema xmlns:xsd="http://www.w3.org/2001/XMLSchema" xmlns:xs="http://www.w3.org/2001/XMLSchema" xmlns:p="http://schemas.microsoft.com/office/2006/metadata/properties" xmlns:ns3="06b2c99d-0c53-48fd-b4f9-7254277202d8" targetNamespace="http://schemas.microsoft.com/office/2006/metadata/properties" ma:root="true" ma:fieldsID="9138f55d6c1c96021e56b52a01e0e488" ns3:_="">
    <xsd:import namespace="06b2c99d-0c53-48fd-b4f9-7254277202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2c99d-0c53-48fd-b4f9-7254277202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51A847-0C2F-4910-AC86-A876084177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D76310-EE61-4CA6-A6A4-5D067351B985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06b2c99d-0c53-48fd-b4f9-7254277202d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8AE5407-E9B2-4F9A-A2FC-84C368F0DB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2c99d-0c53-48fd-b4f9-7254277202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2411</Words>
  <Application>Microsoft Office PowerPoint</Application>
  <PresentationFormat>Grand écran</PresentationFormat>
  <Paragraphs>509</Paragraphs>
  <Slides>66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Symbol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Taille et densité des LDL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SPM - Troubles lipidiques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Dys-β lipoprotéinémie</vt:lpstr>
      <vt:lpstr>Dys-bêta lipoprotéinémie  =broad bêta lipoprotéine</vt:lpstr>
      <vt:lpstr>Présentation PowerPoint</vt:lpstr>
      <vt:lpstr>Présentation PowerPoint</vt:lpstr>
      <vt:lpstr>Hypo-HDL-cholestérolémie</vt:lpstr>
      <vt:lpstr>Présentation PowerPoint</vt:lpstr>
      <vt:lpstr>Présentation PowerPoint</vt:lpstr>
      <vt:lpstr> Stratification du risque vasculaire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Cas clinique 1 : </vt:lpstr>
      <vt:lpstr>Cas clinique 1 : </vt:lpstr>
      <vt:lpstr>Hyperlipoprotéinémies secondaires</vt:lpstr>
      <vt:lpstr>Cas clinique 1</vt:lpstr>
      <vt:lpstr>Cas clinique 1</vt:lpstr>
      <vt:lpstr>Cas clinique 1</vt:lpstr>
      <vt:lpstr>Cas clinique 1</vt:lpstr>
      <vt:lpstr>Cas clinique 1</vt:lpstr>
      <vt:lpstr>Cas clinique 2</vt:lpstr>
      <vt:lpstr>Cas clinique 2</vt:lpstr>
      <vt:lpstr>Calcul du LDL-C par la formule de FRIEDEWALD</vt:lpstr>
      <vt:lpstr>Cas clinique 2</vt:lpstr>
      <vt:lpstr>Présentation PowerPoint</vt:lpstr>
      <vt:lpstr>Cas clinique 2</vt:lpstr>
      <vt:lpstr>Présentation PowerPoint</vt:lpstr>
      <vt:lpstr>Présentation PowerPoint</vt:lpstr>
      <vt:lpstr>Présentation PowerPoint</vt:lpstr>
      <vt:lpstr>Cas clinique 3 </vt:lpstr>
      <vt:lpstr>Cas clinique 3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wided.debbabi</dc:creator>
  <cp:lastModifiedBy>Pc</cp:lastModifiedBy>
  <cp:revision>14</cp:revision>
  <dcterms:created xsi:type="dcterms:W3CDTF">2025-07-24T10:58:05Z</dcterms:created>
  <dcterms:modified xsi:type="dcterms:W3CDTF">2025-07-24T17:30:52Z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0x0101004F19D6219DFF11409B81878E865E76A6</vt:lpwstr>
  </property>
</Properties>
</file>
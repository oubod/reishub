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7" r:id="rId11"/>
    <p:sldId id="265" r:id="rId12"/>
    <p:sldId id="270" r:id="rId13"/>
    <p:sldId id="271" r:id="rId14"/>
    <p:sldId id="272" r:id="rId15"/>
    <p:sldId id="273" r:id="rId16"/>
    <p:sldId id="274" r:id="rId17"/>
    <p:sldId id="275" r:id="rId18"/>
    <p:sldId id="276" r:id="rId19"/>
    <p:sldId id="277" r:id="rId20"/>
    <p:sldId id="281" r:id="rId21"/>
    <p:sldId id="278" r:id="rId22"/>
    <p:sldId id="279" r:id="rId23"/>
    <p:sldId id="280" r:id="rId24"/>
    <p:sldId id="282" r:id="rId25"/>
    <p:sldId id="283" r:id="rId26"/>
    <p:sldId id="284" r:id="rId27"/>
    <p:sldId id="285" r:id="rId28"/>
    <p:sldId id="286" r:id="rId29"/>
    <p:sldId id="287" r:id="rId30"/>
    <p:sldId id="308" r:id="rId31"/>
    <p:sldId id="288" r:id="rId32"/>
    <p:sldId id="289" r:id="rId33"/>
    <p:sldId id="290" r:id="rId34"/>
    <p:sldId id="291" r:id="rId35"/>
    <p:sldId id="293" r:id="rId36"/>
    <p:sldId id="292" r:id="rId37"/>
    <p:sldId id="294" r:id="rId38"/>
    <p:sldId id="295" r:id="rId39"/>
    <p:sldId id="296" r:id="rId40"/>
    <p:sldId id="297" r:id="rId41"/>
    <p:sldId id="298" r:id="rId42"/>
    <p:sldId id="300" r:id="rId43"/>
    <p:sldId id="301" r:id="rId44"/>
    <p:sldId id="302" r:id="rId45"/>
    <p:sldId id="303" r:id="rId46"/>
    <p:sldId id="304" r:id="rId47"/>
    <p:sldId id="305" r:id="rId48"/>
    <p:sldId id="306" r:id="rId49"/>
    <p:sldId id="307" r:id="rId50"/>
  </p:sldIdLst>
  <p:sldSz cx="12192000" cy="6858000"/>
  <p:notesSz cx="6858000" cy="9144000"/>
  <p:custDataLst>
    <p:tags r:id="rId51"/>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1" autoAdjust="0"/>
    <p:restoredTop sz="94660"/>
  </p:normalViewPr>
  <p:slideViewPr>
    <p:cSldViewPr snapToGrid="0" showGuides="1">
      <p:cViewPr varScale="1">
        <p:scale>
          <a:sx n="45" d="100"/>
          <a:sy n="45" d="100"/>
        </p:scale>
        <p:origin x="43" y="9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fr-FR"/>
              <a:t>Modifiez le style du titre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lvl1pPr algn="l">
              <a:defRPr/>
            </a:lvl1pPr>
          </a:lstStyle>
          <a:p>
            <a:fld id="{A811C945-32B3-4997-9A1C-4E1892B528E7}" type="datetimeFigureOut">
              <a:rPr lang="fr-FR" smtClean="0"/>
              <a:t>07/09/2025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343280C-782D-4C0E-BC38-57492CA16D4F}" type="slidenum">
              <a:rPr lang="fr-FR" smtClean="0"/>
              <a:t>‹N°›</a:t>
            </a:fld>
            <a:endParaRPr lang="fr-F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3468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811C945-32B3-4997-9A1C-4E1892B528E7}" type="datetimeFigureOut">
              <a:rPr lang="fr-FR" smtClean="0"/>
              <a:t>07/09/2025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343280C-782D-4C0E-BC38-57492CA16D4F}" type="slidenum">
              <a:rPr lang="fr-FR" smtClean="0"/>
              <a:t>‹N°›</a:t>
            </a:fld>
            <a:endParaRPr lang="fr-FR"/>
          </a:p>
        </p:txBody>
      </p:sp>
    </p:spTree>
    <p:extLst>
      <p:ext uri="{BB962C8B-B14F-4D97-AF65-F5344CB8AC3E}">
        <p14:creationId xmlns:p14="http://schemas.microsoft.com/office/powerpoint/2010/main" val="506704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fr-FR"/>
              <a:t>Modifiez le style du titre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A811C945-32B3-4997-9A1C-4E1892B528E7}" type="datetimeFigureOut">
              <a:rPr lang="fr-FR" smtClean="0"/>
              <a:t>07/09/2025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343280C-782D-4C0E-BC38-57492CA16D4F}" type="slidenum">
              <a:rPr lang="fr-FR" smtClean="0"/>
              <a:t>‹N°›</a:t>
            </a:fld>
            <a:endParaRPr lang="fr-F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1721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fr-FR"/>
              <a:t>Modifiez le style du titre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811C945-32B3-4997-9A1C-4E1892B528E7}" type="datetimeFigureOut">
              <a:rPr lang="fr-FR" smtClean="0"/>
              <a:t>07/09/2025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343280C-782D-4C0E-BC38-57492CA16D4F}" type="slidenum">
              <a:rPr lang="fr-FR" smtClean="0"/>
              <a:t>‹N°›</a:t>
            </a:fld>
            <a:endParaRPr lang="fr-FR"/>
          </a:p>
        </p:txBody>
      </p:sp>
    </p:spTree>
    <p:extLst>
      <p:ext uri="{BB962C8B-B14F-4D97-AF65-F5344CB8AC3E}">
        <p14:creationId xmlns:p14="http://schemas.microsoft.com/office/powerpoint/2010/main" val="1783386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1024128" y="2967788"/>
            <a:ext cx="4754880" cy="334157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fr-FR"/>
              <a:t>Modifiez les styles du texte du masque</a:t>
            </a:r>
          </a:p>
        </p:txBody>
      </p:sp>
      <p:sp>
        <p:nvSpPr>
          <p:cNvPr id="6" name="Content Placeholder 5"/>
          <p:cNvSpPr>
            <a:spLocks noGrp="1"/>
          </p:cNvSpPr>
          <p:nvPr>
            <p:ph sz="quarter" idx="4"/>
          </p:nvPr>
        </p:nvSpPr>
        <p:spPr>
          <a:xfrm>
            <a:off x="5990888" y="2967788"/>
            <a:ext cx="4754880" cy="334157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A811C945-32B3-4997-9A1C-4E1892B528E7}" type="datetimeFigureOut">
              <a:rPr lang="fr-FR" smtClean="0"/>
              <a:t>07/09/2025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B343280C-782D-4C0E-BC38-57492CA16D4F}" type="slidenum">
              <a:rPr lang="fr-FR" smtClean="0"/>
              <a:t>‹N°›</a:t>
            </a:fld>
            <a:endParaRPr lang="fr-FR"/>
          </a:p>
        </p:txBody>
      </p:sp>
    </p:spTree>
    <p:extLst>
      <p:ext uri="{BB962C8B-B14F-4D97-AF65-F5344CB8AC3E}">
        <p14:creationId xmlns:p14="http://schemas.microsoft.com/office/powerpoint/2010/main" val="560189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A811C945-32B3-4997-9A1C-4E1892B528E7}" type="datetimeFigureOut">
              <a:rPr lang="fr-FR" smtClean="0"/>
              <a:t>07/09/2025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343280C-782D-4C0E-BC38-57492CA16D4F}" type="slidenum">
              <a:rPr lang="fr-FR" smtClean="0"/>
              <a:t>‹N°›</a:t>
            </a:fld>
            <a:endParaRPr lang="fr-FR"/>
          </a:p>
        </p:txBody>
      </p:sp>
    </p:spTree>
    <p:extLst>
      <p:ext uri="{BB962C8B-B14F-4D97-AF65-F5344CB8AC3E}">
        <p14:creationId xmlns:p14="http://schemas.microsoft.com/office/powerpoint/2010/main" val="280843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11C945-32B3-4997-9A1C-4E1892B528E7}" type="datetimeFigureOut">
              <a:rPr lang="fr-FR" smtClean="0"/>
              <a:t>07/09/2025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B343280C-782D-4C0E-BC38-57492CA16D4F}" type="slidenum">
              <a:rPr lang="fr-FR" smtClean="0"/>
              <a:t>‹N°›</a:t>
            </a:fld>
            <a:endParaRPr lang="fr-FR"/>
          </a:p>
        </p:txBody>
      </p:sp>
    </p:spTree>
    <p:extLst>
      <p:ext uri="{BB962C8B-B14F-4D97-AF65-F5344CB8AC3E}">
        <p14:creationId xmlns:p14="http://schemas.microsoft.com/office/powerpoint/2010/main" val="4270525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fr-FR"/>
              <a:t>Modifiez le style du titre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A811C945-32B3-4997-9A1C-4E1892B528E7}" type="datetimeFigureOut">
              <a:rPr lang="fr-FR" smtClean="0"/>
              <a:t>07/09/2025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343280C-782D-4C0E-BC38-57492CA16D4F}" type="slidenum">
              <a:rPr lang="fr-FR" smtClean="0"/>
              <a:t>‹N°›</a:t>
            </a:fld>
            <a:endParaRPr lang="fr-FR"/>
          </a:p>
        </p:txBody>
      </p:sp>
    </p:spTree>
    <p:extLst>
      <p:ext uri="{BB962C8B-B14F-4D97-AF65-F5344CB8AC3E}">
        <p14:creationId xmlns:p14="http://schemas.microsoft.com/office/powerpoint/2010/main" val="3479751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A811C945-32B3-4997-9A1C-4E1892B528E7}" type="datetimeFigureOut">
              <a:rPr lang="fr-FR" smtClean="0"/>
              <a:t>07/09/2025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343280C-782D-4C0E-BC38-57492CA16D4F}" type="slidenum">
              <a:rPr lang="fr-FR" smtClean="0"/>
              <a:t>‹N°›</a:t>
            </a:fld>
            <a:endParaRPr lang="fr-F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8732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811C945-32B3-4997-9A1C-4E1892B528E7}" type="datetimeFigureOut">
              <a:rPr lang="fr-FR" smtClean="0"/>
              <a:t>07/09/2025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343280C-782D-4C0E-BC38-57492CA16D4F}" type="slidenum">
              <a:rPr lang="fr-FR" smtClean="0"/>
              <a:t>‹N°›</a:t>
            </a:fld>
            <a:endParaRPr lang="fr-FR"/>
          </a:p>
        </p:txBody>
      </p:sp>
    </p:spTree>
    <p:extLst>
      <p:ext uri="{BB962C8B-B14F-4D97-AF65-F5344CB8AC3E}">
        <p14:creationId xmlns:p14="http://schemas.microsoft.com/office/powerpoint/2010/main" val="2388014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fr-FR"/>
              <a:t>Modifiez le style du titre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811C945-32B3-4997-9A1C-4E1892B528E7}" type="datetimeFigureOut">
              <a:rPr lang="fr-FR" smtClean="0"/>
              <a:t>07/09/2025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343280C-782D-4C0E-BC38-57492CA16D4F}" type="slidenum">
              <a:rPr lang="fr-FR" smtClean="0"/>
              <a:t>‹N°›</a:t>
            </a:fld>
            <a:endParaRPr lang="fr-F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8884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811C945-32B3-4997-9A1C-4E1892B528E7}" type="datetimeFigureOut">
              <a:rPr lang="fr-FR" smtClean="0"/>
              <a:t>07/09/2025</a:t>
            </a:fld>
            <a:endParaRPr lang="fr-F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fr-F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343280C-782D-4C0E-BC38-57492CA16D4F}" type="slidenum">
              <a:rPr lang="fr-FR" smtClean="0"/>
              <a:t>‹N°›</a:t>
            </a:fld>
            <a:endParaRPr lang="fr-FR"/>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53808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913021"/>
            <a:ext cx="9144000" cy="902368"/>
          </a:xfrm>
          <a:solidFill>
            <a:schemeClr val="accent2">
              <a:lumMod val="20000"/>
              <a:lumOff val="80000"/>
            </a:schemeClr>
          </a:solidFill>
        </p:spPr>
        <p:txBody>
          <a:bodyPr>
            <a:normAutofit/>
          </a:bodyPr>
          <a:lstStyle/>
          <a:p>
            <a:r>
              <a:rPr lang="fr-FR" b="1" dirty="0"/>
              <a:t>Evaluation : cours œdème</a:t>
            </a:r>
            <a:endParaRPr lang="fr-FR" dirty="0"/>
          </a:p>
        </p:txBody>
      </p:sp>
      <p:sp>
        <p:nvSpPr>
          <p:cNvPr id="4" name="Sous-titre 2"/>
          <p:cNvSpPr>
            <a:spLocks noGrp="1"/>
          </p:cNvSpPr>
          <p:nvPr>
            <p:ph type="subTitle" idx="1"/>
          </p:nvPr>
        </p:nvSpPr>
        <p:spPr>
          <a:xfrm>
            <a:off x="0" y="4827790"/>
            <a:ext cx="8710862" cy="1463040"/>
          </a:xfrm>
        </p:spPr>
        <p:txBody>
          <a:bodyPr>
            <a:noAutofit/>
          </a:bodyPr>
          <a:lstStyle/>
          <a:p>
            <a:pPr algn="ctr"/>
            <a:r>
              <a:rPr lang="fr-FR" sz="3200" b="1" dirty="0"/>
              <a:t>Cycle de préparation du concours de Résidanat</a:t>
            </a:r>
          </a:p>
          <a:p>
            <a:pPr algn="ctr"/>
            <a:r>
              <a:rPr lang="fr-FR" sz="3200" b="1" dirty="0"/>
              <a:t>Sujet :55  </a:t>
            </a:r>
          </a:p>
          <a:p>
            <a:pPr algn="ctr"/>
            <a:r>
              <a:rPr lang="fr-FR" sz="3200" b="1" dirty="0"/>
              <a:t>Session 2024-2025</a:t>
            </a:r>
          </a:p>
        </p:txBody>
      </p:sp>
      <p:sp>
        <p:nvSpPr>
          <p:cNvPr id="5" name="Éclair 4" desc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Éclair 5" desc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40507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noGrp="1"/>
          </p:cNvSpPr>
          <p:nvPr>
            <p:ph idx="1"/>
          </p:nvPr>
        </p:nvSpPr>
        <p:spPr>
          <a:xfrm>
            <a:off x="939907" y="2286000"/>
            <a:ext cx="10935261" cy="2177716"/>
          </a:xfrm>
          <a:prstGeom prst="rect">
            <a:avLst/>
          </a:prstGeom>
        </p:spPr>
        <p:txBody>
          <a:bodyPr vert="horz" lIns="91440" tIns="45720" rIns="91440" bIns="45720" rtlCol="0" anchor="ctr">
            <a:normAutofit fontScale="97500"/>
          </a:bodyPr>
          <a:lstStyle>
            <a:lvl1pPr algn="r" defTabSz="914400" rtl="0" eaLnBrk="1" latinLnBrk="0" hangingPunct="1">
              <a:lnSpc>
                <a:spcPct val="80000"/>
              </a:lnSpc>
              <a:spcBef>
                <a:spcPct val="0"/>
              </a:spcBef>
              <a:buNone/>
              <a:defRPr sz="5000" kern="1200" cap="all" spc="200" baseline="0">
                <a:solidFill>
                  <a:schemeClr val="tx1">
                    <a:lumMod val="95000"/>
                    <a:lumOff val="5000"/>
                  </a:schemeClr>
                </a:solidFill>
                <a:latin typeface="+mj-lt"/>
                <a:ea typeface="+mj-ea"/>
                <a:cs typeface="+mj-cs"/>
              </a:defRPr>
            </a:lvl1pPr>
          </a:lstStyle>
          <a:p>
            <a:pPr algn="ctr"/>
            <a:r>
              <a:rPr lang="fr-FR" b="1" dirty="0">
                <a:solidFill>
                  <a:srgbClr val="002060"/>
                </a:solidFill>
              </a:rPr>
              <a:t>Objectif n°1: Expliquer les mécanismes physiopathologiques des œdèmes</a:t>
            </a:r>
          </a:p>
        </p:txBody>
      </p:sp>
    </p:spTree>
    <p:extLst>
      <p:ext uri="{BB962C8B-B14F-4D97-AF65-F5344CB8AC3E}">
        <p14:creationId xmlns:p14="http://schemas.microsoft.com/office/powerpoint/2010/main" val="2108665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4444" y="208867"/>
            <a:ext cx="9720072" cy="1499616"/>
          </a:xfrm>
        </p:spPr>
        <p:txBody>
          <a:bodyPr/>
          <a:lstStyle/>
          <a:p>
            <a:r>
              <a:rPr lang="fr-FR" dirty="0"/>
              <a:t>QCM1:</a:t>
            </a:r>
          </a:p>
        </p:txBody>
      </p:sp>
      <p:sp>
        <p:nvSpPr>
          <p:cNvPr id="3" name="Espace réservé du contenu 2"/>
          <p:cNvSpPr>
            <a:spLocks noGrp="1"/>
          </p:cNvSpPr>
          <p:nvPr>
            <p:ph idx="1"/>
          </p:nvPr>
        </p:nvSpPr>
        <p:spPr>
          <a:xfrm>
            <a:off x="1420448" y="1708483"/>
            <a:ext cx="9168064" cy="4824663"/>
          </a:xfrm>
        </p:spPr>
        <p:txBody>
          <a:bodyPr>
            <a:normAutofit/>
          </a:bodyPr>
          <a:lstStyle/>
          <a:p>
            <a:pPr algn="just">
              <a:buNone/>
            </a:pPr>
            <a:r>
              <a:rPr lang="fr-FR" sz="2400" b="1" dirty="0">
                <a:solidFill>
                  <a:srgbClr val="002060"/>
                </a:solidFill>
              </a:rPr>
              <a:t>L’œdème est défini par une rétention  hydro sodée au niveau interstitiel de plus de :</a:t>
            </a:r>
          </a:p>
          <a:p>
            <a:pPr>
              <a:buNone/>
            </a:pPr>
            <a:endParaRPr lang="fr-FR" sz="2400" dirty="0"/>
          </a:p>
          <a:p>
            <a:pPr>
              <a:buNone/>
            </a:pPr>
            <a:r>
              <a:rPr lang="fr-FR" sz="2400" dirty="0">
                <a:solidFill>
                  <a:srgbClr val="FF0000"/>
                </a:solidFill>
              </a:rPr>
              <a:t>A - 30%</a:t>
            </a:r>
          </a:p>
          <a:p>
            <a:pPr>
              <a:buNone/>
            </a:pPr>
            <a:r>
              <a:rPr lang="fr-FR" sz="2400" dirty="0"/>
              <a:t>B - 20%</a:t>
            </a:r>
          </a:p>
          <a:p>
            <a:pPr>
              <a:buNone/>
            </a:pPr>
            <a:r>
              <a:rPr lang="fr-FR" sz="2400" dirty="0"/>
              <a:t>C -50%</a:t>
            </a:r>
          </a:p>
          <a:p>
            <a:pPr>
              <a:buNone/>
            </a:pPr>
            <a:r>
              <a:rPr lang="fr-FR" sz="2400" dirty="0"/>
              <a:t>D - 10%</a:t>
            </a:r>
          </a:p>
          <a:p>
            <a:pPr>
              <a:buNone/>
            </a:pPr>
            <a:r>
              <a:rPr lang="fr-FR" sz="2400" dirty="0"/>
              <a:t>E - 5%</a:t>
            </a:r>
          </a:p>
          <a:p>
            <a:pPr>
              <a:buNone/>
            </a:pPr>
            <a:endParaRPr lang="fr-FR" sz="2400" dirty="0"/>
          </a:p>
          <a:p>
            <a:endParaRPr lang="fr-FR" dirty="0"/>
          </a:p>
        </p:txBody>
      </p:sp>
    </p:spTree>
    <p:extLst>
      <p:ext uri="{BB962C8B-B14F-4D97-AF65-F5344CB8AC3E}">
        <p14:creationId xmlns:p14="http://schemas.microsoft.com/office/powerpoint/2010/main" val="2404492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QCM2:</a:t>
            </a:r>
          </a:p>
        </p:txBody>
      </p:sp>
      <p:sp>
        <p:nvSpPr>
          <p:cNvPr id="3" name="Espace réservé du contenu 2"/>
          <p:cNvSpPr>
            <a:spLocks noGrp="1"/>
          </p:cNvSpPr>
          <p:nvPr>
            <p:ph idx="1"/>
          </p:nvPr>
        </p:nvSpPr>
        <p:spPr>
          <a:xfrm>
            <a:off x="1264759" y="1937085"/>
            <a:ext cx="9720073" cy="4528686"/>
          </a:xfrm>
        </p:spPr>
        <p:txBody>
          <a:bodyPr/>
          <a:lstStyle/>
          <a:p>
            <a:r>
              <a:rPr lang="fr-FR" sz="2400" b="1" dirty="0">
                <a:solidFill>
                  <a:srgbClr val="002060"/>
                </a:solidFill>
              </a:rPr>
              <a:t>L’œdème est défini  par :</a:t>
            </a:r>
          </a:p>
          <a:p>
            <a:r>
              <a:rPr lang="fr-FR" sz="2400" dirty="0"/>
              <a:t>A- Une augmentation du volume du liquide intracellulaire</a:t>
            </a:r>
          </a:p>
          <a:p>
            <a:r>
              <a:rPr lang="fr-FR" sz="2400" dirty="0"/>
              <a:t>B- Une augmentation du volume du liquide plasmatique</a:t>
            </a:r>
          </a:p>
          <a:p>
            <a:r>
              <a:rPr lang="fr-FR" sz="2400" dirty="0">
                <a:solidFill>
                  <a:srgbClr val="FF0000"/>
                </a:solidFill>
              </a:rPr>
              <a:t>C- Une augmentation du volume du liquide interstitiel </a:t>
            </a:r>
          </a:p>
          <a:p>
            <a:r>
              <a:rPr lang="fr-FR" sz="2400" dirty="0"/>
              <a:t>D- Une augmentation du débit cardiaque</a:t>
            </a:r>
          </a:p>
          <a:p>
            <a:r>
              <a:rPr lang="fr-FR" sz="2400" dirty="0">
                <a:solidFill>
                  <a:srgbClr val="FF0000"/>
                </a:solidFill>
              </a:rPr>
              <a:t>E- Une rétention hydrosodée</a:t>
            </a:r>
          </a:p>
          <a:p>
            <a:endParaRPr lang="fr-FR" dirty="0"/>
          </a:p>
        </p:txBody>
      </p:sp>
    </p:spTree>
    <p:extLst>
      <p:ext uri="{BB962C8B-B14F-4D97-AF65-F5344CB8AC3E}">
        <p14:creationId xmlns:p14="http://schemas.microsoft.com/office/powerpoint/2010/main" val="125655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QCM3:</a:t>
            </a:r>
          </a:p>
        </p:txBody>
      </p:sp>
      <p:sp>
        <p:nvSpPr>
          <p:cNvPr id="3" name="Espace réservé du contenu 2"/>
          <p:cNvSpPr>
            <a:spLocks noGrp="1"/>
          </p:cNvSpPr>
          <p:nvPr>
            <p:ph idx="1"/>
          </p:nvPr>
        </p:nvSpPr>
        <p:spPr>
          <a:xfrm>
            <a:off x="1024128" y="1973179"/>
            <a:ext cx="9720073" cy="4463716"/>
          </a:xfrm>
        </p:spPr>
        <p:txBody>
          <a:bodyPr>
            <a:normAutofit/>
          </a:bodyPr>
          <a:lstStyle/>
          <a:p>
            <a:r>
              <a:rPr lang="fr-FR" sz="2400" b="1" dirty="0">
                <a:solidFill>
                  <a:srgbClr val="002060"/>
                </a:solidFill>
              </a:rPr>
              <a:t>Le secteur interstitiel correspond à </a:t>
            </a:r>
            <a:r>
              <a:rPr lang="fr-FR" sz="2400" dirty="0">
                <a:solidFill>
                  <a:srgbClr val="002060"/>
                </a:solidFill>
              </a:rPr>
              <a:t>:</a:t>
            </a:r>
          </a:p>
          <a:p>
            <a:r>
              <a:rPr lang="fr-FR" sz="2400" dirty="0"/>
              <a:t>A- à l’espace intracellulaire</a:t>
            </a:r>
          </a:p>
          <a:p>
            <a:r>
              <a:rPr lang="fr-FR" sz="2400" dirty="0">
                <a:solidFill>
                  <a:srgbClr val="FF0000"/>
                </a:solidFill>
              </a:rPr>
              <a:t>B- au tissu sous cutané</a:t>
            </a:r>
          </a:p>
          <a:p>
            <a:r>
              <a:rPr lang="fr-FR" sz="2400" dirty="0">
                <a:solidFill>
                  <a:srgbClr val="FF0000"/>
                </a:solidFill>
              </a:rPr>
              <a:t>C- à l’espace pleural</a:t>
            </a:r>
          </a:p>
          <a:p>
            <a:r>
              <a:rPr lang="fr-FR" sz="2400" dirty="0"/>
              <a:t>D- au liquide plasmatique</a:t>
            </a:r>
          </a:p>
          <a:p>
            <a:r>
              <a:rPr lang="fr-FR" sz="2400" dirty="0">
                <a:solidFill>
                  <a:srgbClr val="FF0000"/>
                </a:solidFill>
              </a:rPr>
              <a:t>E- au fascias de décollement</a:t>
            </a:r>
          </a:p>
        </p:txBody>
      </p:sp>
    </p:spTree>
    <p:extLst>
      <p:ext uri="{BB962C8B-B14F-4D97-AF65-F5344CB8AC3E}">
        <p14:creationId xmlns:p14="http://schemas.microsoft.com/office/powerpoint/2010/main" val="1131304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QCM4:</a:t>
            </a:r>
          </a:p>
        </p:txBody>
      </p:sp>
      <p:sp>
        <p:nvSpPr>
          <p:cNvPr id="3" name="Espace réservé du contenu 2"/>
          <p:cNvSpPr>
            <a:spLocks noGrp="1"/>
          </p:cNvSpPr>
          <p:nvPr>
            <p:ph idx="1"/>
          </p:nvPr>
        </p:nvSpPr>
        <p:spPr>
          <a:xfrm>
            <a:off x="1180538" y="2084832"/>
            <a:ext cx="9720073" cy="4023360"/>
          </a:xfrm>
        </p:spPr>
        <p:txBody>
          <a:bodyPr/>
          <a:lstStyle/>
          <a:p>
            <a:pPr algn="just">
              <a:buNone/>
            </a:pPr>
            <a:r>
              <a:rPr lang="fr-FR" sz="2400" b="1" dirty="0">
                <a:solidFill>
                  <a:srgbClr val="002060"/>
                </a:solidFill>
              </a:rPr>
              <a:t>Lesquels parmi ces mécanismes sont à l’origine d’un œdème généralisé: </a:t>
            </a:r>
          </a:p>
          <a:p>
            <a:pPr>
              <a:buNone/>
            </a:pPr>
            <a:r>
              <a:rPr lang="fr-FR" sz="2400" dirty="0">
                <a:solidFill>
                  <a:srgbClr val="FF0000"/>
                </a:solidFill>
              </a:rPr>
              <a:t>A -  une</a:t>
            </a:r>
            <a:r>
              <a:rPr lang="fr-FR" sz="2400" b="1" dirty="0">
                <a:solidFill>
                  <a:srgbClr val="FF0000"/>
                </a:solidFill>
              </a:rPr>
              <a:t> </a:t>
            </a:r>
            <a:r>
              <a:rPr lang="fr-FR" sz="2400" dirty="0">
                <a:solidFill>
                  <a:srgbClr val="FF0000"/>
                </a:solidFill>
              </a:rPr>
              <a:t>augmentation de la pression hydrostatique capillaire</a:t>
            </a:r>
          </a:p>
          <a:p>
            <a:pPr>
              <a:buNone/>
            </a:pPr>
            <a:r>
              <a:rPr lang="fr-FR" sz="2400" dirty="0"/>
              <a:t>B -  une diminution  de la pression hydrostatique interstitielle</a:t>
            </a:r>
          </a:p>
          <a:p>
            <a:pPr>
              <a:buNone/>
            </a:pPr>
            <a:r>
              <a:rPr lang="fr-FR" sz="2400" dirty="0"/>
              <a:t>C -  une augmentation de la perméabilité capillaire</a:t>
            </a:r>
          </a:p>
          <a:p>
            <a:pPr>
              <a:buNone/>
            </a:pPr>
            <a:r>
              <a:rPr lang="fr-FR" sz="2400" dirty="0">
                <a:solidFill>
                  <a:srgbClr val="FF0000"/>
                </a:solidFill>
              </a:rPr>
              <a:t>D -  une saturation du drainage lymphatique</a:t>
            </a:r>
          </a:p>
          <a:p>
            <a:pPr>
              <a:buNone/>
            </a:pPr>
            <a:r>
              <a:rPr lang="fr-FR" sz="2400" dirty="0">
                <a:solidFill>
                  <a:srgbClr val="FF0000"/>
                </a:solidFill>
              </a:rPr>
              <a:t>E -  une  rétention de sodium et d’eau par les reins</a:t>
            </a:r>
          </a:p>
          <a:p>
            <a:pPr>
              <a:buNone/>
            </a:pPr>
            <a:endParaRPr lang="fr-FR" sz="2400" dirty="0"/>
          </a:p>
          <a:p>
            <a:endParaRPr lang="fr-FR" dirty="0"/>
          </a:p>
        </p:txBody>
      </p:sp>
    </p:spTree>
    <p:extLst>
      <p:ext uri="{BB962C8B-B14F-4D97-AF65-F5344CB8AC3E}">
        <p14:creationId xmlns:p14="http://schemas.microsoft.com/office/powerpoint/2010/main" val="3506466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QCM5:</a:t>
            </a:r>
          </a:p>
        </p:txBody>
      </p:sp>
      <p:sp>
        <p:nvSpPr>
          <p:cNvPr id="3" name="Espace réservé du contenu 2"/>
          <p:cNvSpPr>
            <a:spLocks noGrp="1"/>
          </p:cNvSpPr>
          <p:nvPr>
            <p:ph idx="1"/>
          </p:nvPr>
        </p:nvSpPr>
        <p:spPr/>
        <p:txBody>
          <a:bodyPr/>
          <a:lstStyle/>
          <a:p>
            <a:r>
              <a:rPr lang="fr-FR" b="1" dirty="0">
                <a:solidFill>
                  <a:srgbClr val="002060"/>
                </a:solidFill>
              </a:rPr>
              <a:t>Les œdèmes au cours de l’insuffisance cardiaque sont secondaires à:</a:t>
            </a:r>
          </a:p>
          <a:p>
            <a:r>
              <a:rPr lang="fr-FR" dirty="0">
                <a:solidFill>
                  <a:srgbClr val="FF0000"/>
                </a:solidFill>
              </a:rPr>
              <a:t>A- une augmentation de la pression hydrostatique capillaire</a:t>
            </a:r>
          </a:p>
          <a:p>
            <a:r>
              <a:rPr lang="fr-FR" dirty="0"/>
              <a:t>B- une rétention d’eau et de sodium indépendante du système rénine angiotensine</a:t>
            </a:r>
          </a:p>
          <a:p>
            <a:r>
              <a:rPr lang="fr-FR" dirty="0"/>
              <a:t>C- une baisse de la pression oncotique</a:t>
            </a:r>
          </a:p>
          <a:p>
            <a:r>
              <a:rPr lang="fr-FR" dirty="0"/>
              <a:t>D- une hyperperméabilité capillaire</a:t>
            </a:r>
          </a:p>
          <a:p>
            <a:r>
              <a:rPr lang="fr-FR" dirty="0"/>
              <a:t>E- une saturation du système lymphatique</a:t>
            </a:r>
          </a:p>
        </p:txBody>
      </p:sp>
    </p:spTree>
    <p:extLst>
      <p:ext uri="{BB962C8B-B14F-4D97-AF65-F5344CB8AC3E}">
        <p14:creationId xmlns:p14="http://schemas.microsoft.com/office/powerpoint/2010/main" val="1872649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qcm6:</a:t>
            </a:r>
          </a:p>
        </p:txBody>
      </p:sp>
      <p:sp>
        <p:nvSpPr>
          <p:cNvPr id="3" name="Espace réservé du contenu 2"/>
          <p:cNvSpPr>
            <a:spLocks noGrp="1"/>
          </p:cNvSpPr>
          <p:nvPr>
            <p:ph idx="1"/>
          </p:nvPr>
        </p:nvSpPr>
        <p:spPr>
          <a:xfrm>
            <a:off x="1024128" y="1852863"/>
            <a:ext cx="9720073" cy="4456497"/>
          </a:xfrm>
        </p:spPr>
        <p:txBody>
          <a:bodyPr>
            <a:normAutofit/>
          </a:bodyPr>
          <a:lstStyle/>
          <a:p>
            <a:pPr algn="just">
              <a:buNone/>
            </a:pPr>
            <a:r>
              <a:rPr lang="fr-FR" sz="2400" b="1" dirty="0">
                <a:solidFill>
                  <a:srgbClr val="002060"/>
                </a:solidFill>
              </a:rPr>
              <a:t>Le principal mécanisme physiopathologique de l’œdème de stase est:</a:t>
            </a:r>
          </a:p>
          <a:p>
            <a:pPr>
              <a:buNone/>
            </a:pPr>
            <a:r>
              <a:rPr lang="fr-FR" sz="2400" dirty="0"/>
              <a:t>A- Une hyperperméabilité capillaire</a:t>
            </a:r>
          </a:p>
          <a:p>
            <a:pPr>
              <a:buNone/>
            </a:pPr>
            <a:r>
              <a:rPr lang="fr-FR" sz="2400" dirty="0"/>
              <a:t>B- Une diminution de la pression oncotique</a:t>
            </a:r>
          </a:p>
          <a:p>
            <a:pPr>
              <a:buNone/>
            </a:pPr>
            <a:r>
              <a:rPr lang="fr-FR" sz="2400" dirty="0">
                <a:solidFill>
                  <a:srgbClr val="FF0000"/>
                </a:solidFill>
              </a:rPr>
              <a:t>C- une augmentation de la pression hydrostatique au pole veineux</a:t>
            </a:r>
          </a:p>
          <a:p>
            <a:pPr>
              <a:buNone/>
            </a:pPr>
            <a:r>
              <a:rPr lang="fr-FR" sz="2400" dirty="0"/>
              <a:t>D – Une augmentation de la pression hydrostatique interstitielle</a:t>
            </a:r>
          </a:p>
          <a:p>
            <a:pPr>
              <a:buNone/>
            </a:pPr>
            <a:r>
              <a:rPr lang="fr-FR" sz="2400" dirty="0"/>
              <a:t>E – une diminution du drainage lymphatique</a:t>
            </a:r>
          </a:p>
        </p:txBody>
      </p:sp>
    </p:spTree>
    <p:extLst>
      <p:ext uri="{BB962C8B-B14F-4D97-AF65-F5344CB8AC3E}">
        <p14:creationId xmlns:p14="http://schemas.microsoft.com/office/powerpoint/2010/main" val="3153091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qcm7:</a:t>
            </a:r>
          </a:p>
        </p:txBody>
      </p:sp>
      <p:sp>
        <p:nvSpPr>
          <p:cNvPr id="3" name="Espace réservé du contenu 2"/>
          <p:cNvSpPr>
            <a:spLocks noGrp="1"/>
          </p:cNvSpPr>
          <p:nvPr>
            <p:ph idx="1"/>
          </p:nvPr>
        </p:nvSpPr>
        <p:spPr/>
        <p:txBody>
          <a:bodyPr/>
          <a:lstStyle/>
          <a:p>
            <a:r>
              <a:rPr lang="fr-FR" b="1" dirty="0">
                <a:solidFill>
                  <a:srgbClr val="002060"/>
                </a:solidFill>
              </a:rPr>
              <a:t>Une augmentation de la pression hydrostatique capillaire est observée au cours:</a:t>
            </a:r>
          </a:p>
          <a:p>
            <a:pPr>
              <a:buNone/>
            </a:pPr>
            <a:r>
              <a:rPr lang="fr-FR" sz="2400" b="1" dirty="0"/>
              <a:t>A –  </a:t>
            </a:r>
            <a:r>
              <a:rPr lang="fr-FR" sz="2400" dirty="0"/>
              <a:t>une dénutrition</a:t>
            </a:r>
          </a:p>
          <a:p>
            <a:pPr>
              <a:buNone/>
            </a:pPr>
            <a:r>
              <a:rPr lang="fr-FR" sz="2400" b="1" dirty="0">
                <a:solidFill>
                  <a:srgbClr val="FF0000"/>
                </a:solidFill>
              </a:rPr>
              <a:t>B –</a:t>
            </a:r>
            <a:r>
              <a:rPr lang="fr-FR" sz="2400" dirty="0">
                <a:solidFill>
                  <a:srgbClr val="FF0000"/>
                </a:solidFill>
              </a:rPr>
              <a:t> une insuffisance cardiaque congestive</a:t>
            </a:r>
          </a:p>
          <a:p>
            <a:pPr>
              <a:buNone/>
            </a:pPr>
            <a:r>
              <a:rPr lang="fr-FR" sz="2400" b="1" dirty="0">
                <a:solidFill>
                  <a:srgbClr val="FF0000"/>
                </a:solidFill>
              </a:rPr>
              <a:t>C -  </a:t>
            </a:r>
            <a:r>
              <a:rPr lang="fr-FR" sz="2400" dirty="0">
                <a:solidFill>
                  <a:srgbClr val="FF0000"/>
                </a:solidFill>
              </a:rPr>
              <a:t>une péricardite constrictive</a:t>
            </a:r>
          </a:p>
          <a:p>
            <a:pPr>
              <a:buNone/>
            </a:pPr>
            <a:r>
              <a:rPr lang="fr-FR" sz="2400" b="1" dirty="0"/>
              <a:t>D-  </a:t>
            </a:r>
            <a:r>
              <a:rPr lang="fr-FR" sz="2400" dirty="0"/>
              <a:t>une entéropathie exsudative</a:t>
            </a:r>
          </a:p>
          <a:p>
            <a:pPr>
              <a:buNone/>
            </a:pPr>
            <a:r>
              <a:rPr lang="fr-FR" sz="2400" b="1" dirty="0"/>
              <a:t>E –  </a:t>
            </a:r>
            <a:r>
              <a:rPr lang="fr-FR" sz="2400" dirty="0"/>
              <a:t>un syndrome néphrotique</a:t>
            </a:r>
          </a:p>
        </p:txBody>
      </p:sp>
    </p:spTree>
    <p:extLst>
      <p:ext uri="{BB962C8B-B14F-4D97-AF65-F5344CB8AC3E}">
        <p14:creationId xmlns:p14="http://schemas.microsoft.com/office/powerpoint/2010/main" val="1899375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qcm8:</a:t>
            </a:r>
          </a:p>
        </p:txBody>
      </p:sp>
      <p:sp>
        <p:nvSpPr>
          <p:cNvPr id="3" name="Espace réservé du contenu 2"/>
          <p:cNvSpPr>
            <a:spLocks noGrp="1"/>
          </p:cNvSpPr>
          <p:nvPr>
            <p:ph idx="1"/>
          </p:nvPr>
        </p:nvSpPr>
        <p:spPr/>
        <p:txBody>
          <a:bodyPr/>
          <a:lstStyle/>
          <a:p>
            <a:r>
              <a:rPr lang="fr-FR" b="1" dirty="0">
                <a:solidFill>
                  <a:srgbClr val="002060"/>
                </a:solidFill>
              </a:rPr>
              <a:t>L’œdème au cours du syndrome néphrotique est secondaire à:</a:t>
            </a:r>
          </a:p>
          <a:p>
            <a:pPr>
              <a:buNone/>
            </a:pPr>
            <a:r>
              <a:rPr lang="fr-FR" sz="2400" dirty="0">
                <a:solidFill>
                  <a:srgbClr val="FF0000"/>
                </a:solidFill>
              </a:rPr>
              <a:t>A –  un hyepraldostéronisme secondaire   </a:t>
            </a:r>
          </a:p>
          <a:p>
            <a:pPr>
              <a:buNone/>
            </a:pPr>
            <a:r>
              <a:rPr lang="fr-FR" sz="2400" dirty="0">
                <a:solidFill>
                  <a:srgbClr val="FF0000"/>
                </a:solidFill>
              </a:rPr>
              <a:t>B –  une hyper réabsorption tubulaire de sodium</a:t>
            </a:r>
          </a:p>
          <a:p>
            <a:pPr>
              <a:buNone/>
            </a:pPr>
            <a:r>
              <a:rPr lang="fr-FR" sz="2400" dirty="0"/>
              <a:t>C -   une augmentation de la pression oncotique</a:t>
            </a:r>
          </a:p>
          <a:p>
            <a:pPr>
              <a:buNone/>
            </a:pPr>
            <a:r>
              <a:rPr lang="fr-FR" sz="2400" dirty="0"/>
              <a:t>D -  une inhibition de l’hormone ADH</a:t>
            </a:r>
          </a:p>
          <a:p>
            <a:r>
              <a:rPr lang="fr-FR" sz="2400" dirty="0">
                <a:solidFill>
                  <a:srgbClr val="FF0000"/>
                </a:solidFill>
              </a:rPr>
              <a:t>E –  une inhibition de facteur atrial </a:t>
            </a:r>
            <a:r>
              <a:rPr lang="fr-FR" sz="2400" dirty="0" err="1">
                <a:solidFill>
                  <a:srgbClr val="FF0000"/>
                </a:solidFill>
              </a:rPr>
              <a:t>natriurétique</a:t>
            </a:r>
            <a:endParaRPr lang="fr-FR" sz="2400" dirty="0">
              <a:solidFill>
                <a:srgbClr val="FF0000"/>
              </a:solidFill>
            </a:endParaRPr>
          </a:p>
          <a:p>
            <a:endParaRPr lang="fr-FR" dirty="0"/>
          </a:p>
        </p:txBody>
      </p:sp>
    </p:spTree>
    <p:extLst>
      <p:ext uri="{BB962C8B-B14F-4D97-AF65-F5344CB8AC3E}">
        <p14:creationId xmlns:p14="http://schemas.microsoft.com/office/powerpoint/2010/main" val="3023098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4444" y="3027626"/>
            <a:ext cx="9720072" cy="1499616"/>
          </a:xfrm>
        </p:spPr>
        <p:txBody>
          <a:bodyPr>
            <a:normAutofit fontScale="90000"/>
          </a:bodyPr>
          <a:lstStyle/>
          <a:p>
            <a:pPr algn="ctr"/>
            <a:r>
              <a:rPr lang="fr-FR" b="1" dirty="0">
                <a:solidFill>
                  <a:srgbClr val="002060"/>
                </a:solidFill>
              </a:rPr>
              <a:t>Objectif N°2: Distinguer les œdèmes à partir de leur caractéristiques cliniques</a:t>
            </a:r>
            <a:endParaRPr lang="fr-FR" dirty="0"/>
          </a:p>
        </p:txBody>
      </p:sp>
    </p:spTree>
    <p:extLst>
      <p:ext uri="{BB962C8B-B14F-4D97-AF65-F5344CB8AC3E}">
        <p14:creationId xmlns:p14="http://schemas.microsoft.com/office/powerpoint/2010/main" val="3100574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QCM9:</a:t>
            </a:r>
          </a:p>
        </p:txBody>
      </p:sp>
      <p:sp>
        <p:nvSpPr>
          <p:cNvPr id="3" name="Espace réservé du contenu 2"/>
          <p:cNvSpPr>
            <a:spLocks noGrp="1"/>
          </p:cNvSpPr>
          <p:nvPr>
            <p:ph idx="1"/>
          </p:nvPr>
        </p:nvSpPr>
        <p:spPr/>
        <p:txBody>
          <a:bodyPr/>
          <a:lstStyle/>
          <a:p>
            <a:r>
              <a:rPr lang="fr-FR" b="1" dirty="0">
                <a:solidFill>
                  <a:srgbClr val="002060"/>
                </a:solidFill>
              </a:rPr>
              <a:t>Les œdèmes au cours de l’insuffisance cardiaque sont </a:t>
            </a:r>
            <a:r>
              <a:rPr lang="fr-FR" b="1" dirty="0"/>
              <a:t>:</a:t>
            </a:r>
          </a:p>
          <a:p>
            <a:r>
              <a:rPr lang="fr-FR" dirty="0">
                <a:solidFill>
                  <a:srgbClr val="FF0000"/>
                </a:solidFill>
              </a:rPr>
              <a:t>A- blancs</a:t>
            </a:r>
          </a:p>
          <a:p>
            <a:r>
              <a:rPr lang="fr-FR" dirty="0">
                <a:solidFill>
                  <a:srgbClr val="FF0000"/>
                </a:solidFill>
              </a:rPr>
              <a:t>B- prenant le godet</a:t>
            </a:r>
          </a:p>
          <a:p>
            <a:r>
              <a:rPr lang="fr-FR" dirty="0">
                <a:solidFill>
                  <a:srgbClr val="FF0000"/>
                </a:solidFill>
              </a:rPr>
              <a:t>C- ferme</a:t>
            </a:r>
          </a:p>
          <a:p>
            <a:r>
              <a:rPr lang="fr-FR" dirty="0"/>
              <a:t>D- non déclives</a:t>
            </a:r>
          </a:p>
          <a:p>
            <a:r>
              <a:rPr lang="fr-FR" dirty="0"/>
              <a:t>E- inflammatoires</a:t>
            </a:r>
          </a:p>
          <a:p>
            <a:endParaRPr lang="fr-FR" dirty="0"/>
          </a:p>
        </p:txBody>
      </p:sp>
    </p:spTree>
    <p:extLst>
      <p:ext uri="{BB962C8B-B14F-4D97-AF65-F5344CB8AC3E}">
        <p14:creationId xmlns:p14="http://schemas.microsoft.com/office/powerpoint/2010/main" val="3257270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QCM10:</a:t>
            </a:r>
          </a:p>
        </p:txBody>
      </p:sp>
      <p:sp>
        <p:nvSpPr>
          <p:cNvPr id="3" name="Espace réservé du contenu 2"/>
          <p:cNvSpPr>
            <a:spLocks noGrp="1"/>
          </p:cNvSpPr>
          <p:nvPr>
            <p:ph idx="1"/>
          </p:nvPr>
        </p:nvSpPr>
        <p:spPr>
          <a:xfrm>
            <a:off x="1204602" y="1925052"/>
            <a:ext cx="9720073" cy="4023360"/>
          </a:xfrm>
        </p:spPr>
        <p:txBody>
          <a:bodyPr/>
          <a:lstStyle/>
          <a:p>
            <a:pPr>
              <a:buNone/>
            </a:pPr>
            <a:r>
              <a:rPr lang="fr-FR" b="1" dirty="0">
                <a:solidFill>
                  <a:srgbClr val="002060"/>
                </a:solidFill>
              </a:rPr>
              <a:t>Les caractéristiques du lymphœdème primitif sont:</a:t>
            </a:r>
          </a:p>
          <a:p>
            <a:pPr>
              <a:buNone/>
            </a:pPr>
            <a:r>
              <a:rPr lang="fr-FR" dirty="0">
                <a:solidFill>
                  <a:srgbClr val="FF0000"/>
                </a:solidFill>
              </a:rPr>
              <a:t>A- Début pubertaire</a:t>
            </a:r>
          </a:p>
          <a:p>
            <a:pPr>
              <a:buNone/>
            </a:pPr>
            <a:r>
              <a:rPr lang="fr-FR" dirty="0"/>
              <a:t>B- Une prédominance masculine</a:t>
            </a:r>
          </a:p>
          <a:p>
            <a:pPr>
              <a:buNone/>
            </a:pPr>
            <a:r>
              <a:rPr lang="fr-FR" dirty="0"/>
              <a:t>C- Une extension centrifuge</a:t>
            </a:r>
          </a:p>
          <a:p>
            <a:pPr>
              <a:buNone/>
            </a:pPr>
            <a:r>
              <a:rPr lang="fr-FR" dirty="0">
                <a:solidFill>
                  <a:srgbClr val="FF0000"/>
                </a:solidFill>
              </a:rPr>
              <a:t>D- Peut évoluer vers une sclérose </a:t>
            </a:r>
          </a:p>
          <a:p>
            <a:pPr>
              <a:buNone/>
            </a:pPr>
            <a:r>
              <a:rPr lang="fr-FR" dirty="0">
                <a:solidFill>
                  <a:srgbClr val="FF0000"/>
                </a:solidFill>
              </a:rPr>
              <a:t>E- aggravé par les traumatismes</a:t>
            </a:r>
          </a:p>
          <a:p>
            <a:endParaRPr lang="fr-FR" dirty="0"/>
          </a:p>
        </p:txBody>
      </p:sp>
    </p:spTree>
    <p:extLst>
      <p:ext uri="{BB962C8B-B14F-4D97-AF65-F5344CB8AC3E}">
        <p14:creationId xmlns:p14="http://schemas.microsoft.com/office/powerpoint/2010/main" val="4057050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QCM11:</a:t>
            </a:r>
          </a:p>
        </p:txBody>
      </p:sp>
      <p:sp>
        <p:nvSpPr>
          <p:cNvPr id="3" name="Espace réservé du contenu 2"/>
          <p:cNvSpPr>
            <a:spLocks noGrp="1"/>
          </p:cNvSpPr>
          <p:nvPr>
            <p:ph idx="1"/>
          </p:nvPr>
        </p:nvSpPr>
        <p:spPr/>
        <p:txBody>
          <a:bodyPr/>
          <a:lstStyle/>
          <a:p>
            <a:pPr algn="just">
              <a:buNone/>
            </a:pPr>
            <a:r>
              <a:rPr lang="fr-FR" b="1" dirty="0">
                <a:solidFill>
                  <a:srgbClr val="002060"/>
                </a:solidFill>
              </a:rPr>
              <a:t>Les caractéristiques sémiologiques de l’œdème d’origine lymphatique sont:</a:t>
            </a:r>
          </a:p>
          <a:p>
            <a:pPr>
              <a:buNone/>
            </a:pPr>
            <a:r>
              <a:rPr lang="fr-FR" dirty="0"/>
              <a:t>A- Le caractère mou</a:t>
            </a:r>
          </a:p>
          <a:p>
            <a:pPr>
              <a:buNone/>
            </a:pPr>
            <a:r>
              <a:rPr lang="fr-FR" dirty="0"/>
              <a:t>B-  La présence  de signes inflammatoires associés</a:t>
            </a:r>
          </a:p>
          <a:p>
            <a:pPr>
              <a:buNone/>
            </a:pPr>
            <a:r>
              <a:rPr lang="fr-FR" dirty="0">
                <a:solidFill>
                  <a:srgbClr val="FF0000"/>
                </a:solidFill>
              </a:rPr>
              <a:t>C- évolution centrifuge </a:t>
            </a:r>
          </a:p>
          <a:p>
            <a:pPr>
              <a:buNone/>
            </a:pPr>
            <a:r>
              <a:rPr lang="fr-FR" dirty="0">
                <a:solidFill>
                  <a:srgbClr val="FF0000"/>
                </a:solidFill>
              </a:rPr>
              <a:t>D- un aspect luisant de la peau en regard</a:t>
            </a:r>
          </a:p>
          <a:p>
            <a:pPr>
              <a:buNone/>
            </a:pPr>
            <a:r>
              <a:rPr lang="fr-FR" dirty="0">
                <a:solidFill>
                  <a:srgbClr val="FF0000"/>
                </a:solidFill>
              </a:rPr>
              <a:t>E- indolore</a:t>
            </a:r>
          </a:p>
          <a:p>
            <a:endParaRPr lang="fr-FR" dirty="0"/>
          </a:p>
        </p:txBody>
      </p:sp>
    </p:spTree>
    <p:extLst>
      <p:ext uri="{BB962C8B-B14F-4D97-AF65-F5344CB8AC3E}">
        <p14:creationId xmlns:p14="http://schemas.microsoft.com/office/powerpoint/2010/main" val="48342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QCM12:</a:t>
            </a:r>
          </a:p>
        </p:txBody>
      </p:sp>
      <p:sp>
        <p:nvSpPr>
          <p:cNvPr id="3" name="Espace réservé du contenu 2"/>
          <p:cNvSpPr>
            <a:spLocks noGrp="1"/>
          </p:cNvSpPr>
          <p:nvPr>
            <p:ph idx="1"/>
          </p:nvPr>
        </p:nvSpPr>
        <p:spPr/>
        <p:txBody>
          <a:bodyPr/>
          <a:lstStyle/>
          <a:p>
            <a:r>
              <a:rPr lang="fr-FR" b="1" dirty="0">
                <a:solidFill>
                  <a:srgbClr val="002060"/>
                </a:solidFill>
              </a:rPr>
              <a:t>Les caractéristiques cliniques de l’œdème de bleu de Charcot sont:</a:t>
            </a:r>
          </a:p>
          <a:p>
            <a:r>
              <a:rPr lang="fr-FR" dirty="0">
                <a:solidFill>
                  <a:srgbClr val="FF0000"/>
                </a:solidFill>
              </a:rPr>
              <a:t>A- Le caractère localisé</a:t>
            </a:r>
          </a:p>
          <a:p>
            <a:r>
              <a:rPr lang="fr-FR" dirty="0">
                <a:solidFill>
                  <a:srgbClr val="FF0000"/>
                </a:solidFill>
              </a:rPr>
              <a:t>B- L’existence d’une marque de striction</a:t>
            </a:r>
          </a:p>
          <a:p>
            <a:r>
              <a:rPr lang="fr-FR" dirty="0">
                <a:solidFill>
                  <a:srgbClr val="FF0000"/>
                </a:solidFill>
              </a:rPr>
              <a:t>C- Un profil de pathomimie du patient</a:t>
            </a:r>
          </a:p>
          <a:p>
            <a:r>
              <a:rPr lang="fr-FR" dirty="0"/>
              <a:t>D- Un contexte de revascularisation chirurgicale</a:t>
            </a:r>
          </a:p>
          <a:p>
            <a:r>
              <a:rPr lang="fr-FR" dirty="0"/>
              <a:t>E- Un aspect blanc</a:t>
            </a:r>
          </a:p>
          <a:p>
            <a:endParaRPr lang="fr-FR" dirty="0"/>
          </a:p>
        </p:txBody>
      </p:sp>
    </p:spTree>
    <p:extLst>
      <p:ext uri="{BB962C8B-B14F-4D97-AF65-F5344CB8AC3E}">
        <p14:creationId xmlns:p14="http://schemas.microsoft.com/office/powerpoint/2010/main" val="1335858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qcm13:</a:t>
            </a:r>
          </a:p>
        </p:txBody>
      </p:sp>
      <p:sp>
        <p:nvSpPr>
          <p:cNvPr id="3" name="Espace réservé du contenu 2"/>
          <p:cNvSpPr>
            <a:spLocks noGrp="1"/>
          </p:cNvSpPr>
          <p:nvPr>
            <p:ph idx="1"/>
          </p:nvPr>
        </p:nvSpPr>
        <p:spPr/>
        <p:txBody>
          <a:bodyPr/>
          <a:lstStyle/>
          <a:p>
            <a:pPr algn="just">
              <a:buNone/>
            </a:pPr>
            <a:r>
              <a:rPr lang="fr-FR" b="1" dirty="0">
                <a:solidFill>
                  <a:srgbClr val="002060"/>
                </a:solidFill>
              </a:rPr>
              <a:t>Une femme âgée de 35 ans qui consulte pour un œdème des membres inférieurs prenant le godet évoluant depuis un mois. Le premier examen à visée étiologique à réaliser est:</a:t>
            </a:r>
          </a:p>
          <a:p>
            <a:pPr>
              <a:buNone/>
            </a:pPr>
            <a:r>
              <a:rPr lang="fr-FR" dirty="0"/>
              <a:t>A- Une NFS</a:t>
            </a:r>
          </a:p>
          <a:p>
            <a:pPr>
              <a:buNone/>
            </a:pPr>
            <a:r>
              <a:rPr lang="fr-FR" dirty="0"/>
              <a:t>B- Un ionogramme sanguin</a:t>
            </a:r>
          </a:p>
          <a:p>
            <a:pPr>
              <a:buNone/>
            </a:pPr>
            <a:r>
              <a:rPr lang="fr-FR" dirty="0"/>
              <a:t>C- Une protidémie</a:t>
            </a:r>
          </a:p>
          <a:p>
            <a:pPr>
              <a:buNone/>
            </a:pPr>
            <a:r>
              <a:rPr lang="fr-FR" dirty="0"/>
              <a:t>D- Un ECG</a:t>
            </a:r>
          </a:p>
          <a:p>
            <a:pPr>
              <a:buNone/>
            </a:pPr>
            <a:r>
              <a:rPr lang="fr-FR" dirty="0">
                <a:solidFill>
                  <a:srgbClr val="FF0000"/>
                </a:solidFill>
              </a:rPr>
              <a:t>E- Une bandelette urinaire</a:t>
            </a:r>
          </a:p>
          <a:p>
            <a:endParaRPr lang="fr-FR" dirty="0"/>
          </a:p>
        </p:txBody>
      </p:sp>
    </p:spTree>
    <p:extLst>
      <p:ext uri="{BB962C8B-B14F-4D97-AF65-F5344CB8AC3E}">
        <p14:creationId xmlns:p14="http://schemas.microsoft.com/office/powerpoint/2010/main" val="363411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QCM14:</a:t>
            </a:r>
          </a:p>
        </p:txBody>
      </p:sp>
      <p:sp>
        <p:nvSpPr>
          <p:cNvPr id="3" name="Espace réservé du contenu 2"/>
          <p:cNvSpPr>
            <a:spLocks noGrp="1"/>
          </p:cNvSpPr>
          <p:nvPr>
            <p:ph idx="1"/>
          </p:nvPr>
        </p:nvSpPr>
        <p:spPr>
          <a:xfrm>
            <a:off x="1024128" y="1961147"/>
            <a:ext cx="10153209" cy="4348213"/>
          </a:xfrm>
        </p:spPr>
        <p:txBody>
          <a:bodyPr>
            <a:normAutofit/>
          </a:bodyPr>
          <a:lstStyle/>
          <a:p>
            <a:pPr>
              <a:buNone/>
            </a:pPr>
            <a:endParaRPr lang="fr-FR" sz="2600" dirty="0"/>
          </a:p>
          <a:p>
            <a:pPr>
              <a:buNone/>
            </a:pPr>
            <a:r>
              <a:rPr lang="fr-FR" sz="2600" b="1" dirty="0">
                <a:solidFill>
                  <a:srgbClr val="002060"/>
                </a:solidFill>
              </a:rPr>
              <a:t>Les caractéristiques sémiologiques  de l’ angioedème  histaminique sont:</a:t>
            </a:r>
            <a:endParaRPr lang="fr-FR" sz="2600" dirty="0"/>
          </a:p>
          <a:p>
            <a:pPr>
              <a:buNone/>
            </a:pPr>
            <a:r>
              <a:rPr lang="fr-FR" sz="2600" dirty="0"/>
              <a:t>A- une durée prolongée </a:t>
            </a:r>
          </a:p>
          <a:p>
            <a:pPr>
              <a:buNone/>
            </a:pPr>
            <a:r>
              <a:rPr lang="fr-FR" sz="2600" dirty="0"/>
              <a:t>B- une fréquence des crises abdominales</a:t>
            </a:r>
          </a:p>
          <a:p>
            <a:pPr>
              <a:buNone/>
            </a:pPr>
            <a:r>
              <a:rPr lang="fr-FR" sz="2600" dirty="0">
                <a:solidFill>
                  <a:srgbClr val="FF0000"/>
                </a:solidFill>
              </a:rPr>
              <a:t>C- une efficacité des anti histaminiques</a:t>
            </a:r>
          </a:p>
          <a:p>
            <a:pPr>
              <a:buNone/>
            </a:pPr>
            <a:r>
              <a:rPr lang="fr-FR" sz="2600" dirty="0"/>
              <a:t>D-  favorisé par la prise des IEC</a:t>
            </a:r>
          </a:p>
          <a:p>
            <a:pPr>
              <a:buNone/>
            </a:pPr>
            <a:r>
              <a:rPr lang="fr-FR" sz="2600" dirty="0">
                <a:solidFill>
                  <a:srgbClr val="FF0000"/>
                </a:solidFill>
              </a:rPr>
              <a:t>E- La présence de l’urticaire</a:t>
            </a:r>
          </a:p>
          <a:p>
            <a:endParaRPr lang="fr-FR" dirty="0"/>
          </a:p>
        </p:txBody>
      </p:sp>
    </p:spTree>
    <p:extLst>
      <p:ext uri="{BB962C8B-B14F-4D97-AF65-F5344CB8AC3E}">
        <p14:creationId xmlns:p14="http://schemas.microsoft.com/office/powerpoint/2010/main" val="2071340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QCM15:</a:t>
            </a:r>
          </a:p>
        </p:txBody>
      </p:sp>
      <p:sp>
        <p:nvSpPr>
          <p:cNvPr id="3" name="Espace réservé du contenu 2"/>
          <p:cNvSpPr>
            <a:spLocks noGrp="1"/>
          </p:cNvSpPr>
          <p:nvPr>
            <p:ph idx="1"/>
          </p:nvPr>
        </p:nvSpPr>
        <p:spPr/>
        <p:txBody>
          <a:bodyPr/>
          <a:lstStyle/>
          <a:p>
            <a:pPr algn="just">
              <a:buNone/>
            </a:pPr>
            <a:r>
              <a:rPr lang="fr-FR" b="1" dirty="0">
                <a:solidFill>
                  <a:srgbClr val="002060"/>
                </a:solidFill>
              </a:rPr>
              <a:t>Les œdèmes par perméabilité capillaire sont:</a:t>
            </a:r>
          </a:p>
          <a:p>
            <a:pPr>
              <a:buNone/>
            </a:pPr>
            <a:r>
              <a:rPr lang="fr-FR" dirty="0">
                <a:solidFill>
                  <a:srgbClr val="FF0000"/>
                </a:solidFill>
              </a:rPr>
              <a:t>A-  localisés</a:t>
            </a:r>
          </a:p>
          <a:p>
            <a:pPr>
              <a:buNone/>
            </a:pPr>
            <a:r>
              <a:rPr lang="fr-FR" dirty="0"/>
              <a:t>B-  d’installation chronique</a:t>
            </a:r>
          </a:p>
          <a:p>
            <a:pPr>
              <a:buNone/>
            </a:pPr>
            <a:r>
              <a:rPr lang="fr-FR" dirty="0"/>
              <a:t>C- sans signes de gravité  </a:t>
            </a:r>
          </a:p>
          <a:p>
            <a:pPr>
              <a:buNone/>
            </a:pPr>
            <a:r>
              <a:rPr lang="fr-FR" dirty="0">
                <a:solidFill>
                  <a:srgbClr val="FF0000"/>
                </a:solidFill>
              </a:rPr>
              <a:t>D- d’aspect parfois blancs</a:t>
            </a:r>
          </a:p>
          <a:p>
            <a:pPr>
              <a:buNone/>
            </a:pPr>
            <a:r>
              <a:rPr lang="fr-FR" dirty="0">
                <a:solidFill>
                  <a:srgbClr val="FF0000"/>
                </a:solidFill>
              </a:rPr>
              <a:t>E- indolores</a:t>
            </a:r>
          </a:p>
          <a:p>
            <a:endParaRPr lang="fr-FR" dirty="0"/>
          </a:p>
        </p:txBody>
      </p:sp>
    </p:spTree>
    <p:extLst>
      <p:ext uri="{BB962C8B-B14F-4D97-AF65-F5344CB8AC3E}">
        <p14:creationId xmlns:p14="http://schemas.microsoft.com/office/powerpoint/2010/main" val="2419373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QCM16:</a:t>
            </a:r>
          </a:p>
        </p:txBody>
      </p:sp>
      <p:sp>
        <p:nvSpPr>
          <p:cNvPr id="3" name="Espace réservé du contenu 2"/>
          <p:cNvSpPr>
            <a:spLocks noGrp="1"/>
          </p:cNvSpPr>
          <p:nvPr>
            <p:ph idx="1"/>
          </p:nvPr>
        </p:nvSpPr>
        <p:spPr/>
        <p:txBody>
          <a:bodyPr/>
          <a:lstStyle/>
          <a:p>
            <a:r>
              <a:rPr lang="fr-FR" b="1" dirty="0">
                <a:solidFill>
                  <a:srgbClr val="002060"/>
                </a:solidFill>
              </a:rPr>
              <a:t>Les caractéristiques de l’œdème d’origine digestive sont:</a:t>
            </a:r>
          </a:p>
          <a:p>
            <a:r>
              <a:rPr lang="fr-FR" dirty="0"/>
              <a:t>A- Aspect inflammatoire</a:t>
            </a:r>
          </a:p>
          <a:p>
            <a:r>
              <a:rPr lang="fr-FR" dirty="0">
                <a:solidFill>
                  <a:srgbClr val="FF0000"/>
                </a:solidFill>
              </a:rPr>
              <a:t>B- Le caractère mou</a:t>
            </a:r>
          </a:p>
          <a:p>
            <a:r>
              <a:rPr lang="fr-FR" dirty="0">
                <a:solidFill>
                  <a:srgbClr val="FF0000"/>
                </a:solidFill>
              </a:rPr>
              <a:t>C- prend le godet</a:t>
            </a:r>
          </a:p>
          <a:p>
            <a:r>
              <a:rPr lang="fr-FR" dirty="0"/>
              <a:t>D- le type élastique</a:t>
            </a:r>
          </a:p>
          <a:p>
            <a:r>
              <a:rPr lang="fr-FR" dirty="0"/>
              <a:t>E- Aspect dur</a:t>
            </a:r>
          </a:p>
        </p:txBody>
      </p:sp>
    </p:spTree>
    <p:extLst>
      <p:ext uri="{BB962C8B-B14F-4D97-AF65-F5344CB8AC3E}">
        <p14:creationId xmlns:p14="http://schemas.microsoft.com/office/powerpoint/2010/main" val="313348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28664" y="2835122"/>
            <a:ext cx="9720072" cy="1499616"/>
          </a:xfrm>
        </p:spPr>
        <p:txBody>
          <a:bodyPr>
            <a:normAutofit/>
          </a:bodyPr>
          <a:lstStyle/>
          <a:p>
            <a:pPr algn="ctr"/>
            <a:r>
              <a:rPr lang="fr-FR" sz="3600" b="1" dirty="0">
                <a:solidFill>
                  <a:srgbClr val="002060"/>
                </a:solidFill>
              </a:rPr>
              <a:t>OBECTIF3: établir le diagnostic étiologique des différents types d’œdème à partir des données cliniques et para cliniques</a:t>
            </a:r>
            <a:endParaRPr lang="fr-FR" sz="3600" dirty="0"/>
          </a:p>
        </p:txBody>
      </p:sp>
    </p:spTree>
    <p:extLst>
      <p:ext uri="{BB962C8B-B14F-4D97-AF65-F5344CB8AC3E}">
        <p14:creationId xmlns:p14="http://schemas.microsoft.com/office/powerpoint/2010/main" val="3033189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br>
              <a:rPr lang="fr-FR" b="1" dirty="0">
                <a:solidFill>
                  <a:srgbClr val="002060"/>
                </a:solidFill>
              </a:rPr>
            </a:br>
            <a:endParaRPr lang="fr-FR" dirty="0"/>
          </a:p>
        </p:txBody>
      </p:sp>
      <p:sp>
        <p:nvSpPr>
          <p:cNvPr id="3" name="Espace réservé du contenu 2"/>
          <p:cNvSpPr>
            <a:spLocks noGrp="1"/>
          </p:cNvSpPr>
          <p:nvPr>
            <p:ph idx="1"/>
          </p:nvPr>
        </p:nvSpPr>
        <p:spPr/>
        <p:txBody>
          <a:bodyPr/>
          <a:lstStyle/>
          <a:p>
            <a:r>
              <a:rPr lang="fr-FR" b="1" dirty="0">
                <a:solidFill>
                  <a:srgbClr val="002060"/>
                </a:solidFill>
              </a:rPr>
              <a:t>Les causes iatrogènes de l’œdème généralisé sont:</a:t>
            </a:r>
          </a:p>
          <a:p>
            <a:pPr>
              <a:buNone/>
            </a:pPr>
            <a:r>
              <a:rPr lang="fr-FR" sz="2400" dirty="0"/>
              <a:t>A- Les Inhibiteurs de l’enzyme de conversion</a:t>
            </a:r>
          </a:p>
          <a:p>
            <a:pPr>
              <a:buNone/>
            </a:pPr>
            <a:r>
              <a:rPr lang="fr-FR" sz="2400" dirty="0">
                <a:solidFill>
                  <a:srgbClr val="FF0000"/>
                </a:solidFill>
              </a:rPr>
              <a:t>B- La nifédipine</a:t>
            </a:r>
          </a:p>
          <a:p>
            <a:pPr>
              <a:buNone/>
            </a:pPr>
            <a:r>
              <a:rPr lang="fr-FR" sz="2400" dirty="0">
                <a:solidFill>
                  <a:srgbClr val="FF0000"/>
                </a:solidFill>
              </a:rPr>
              <a:t>C- La ciclosporine</a:t>
            </a:r>
          </a:p>
          <a:p>
            <a:pPr>
              <a:buNone/>
            </a:pPr>
            <a:r>
              <a:rPr lang="fr-FR" sz="2400" dirty="0"/>
              <a:t>D- Les bétabloquants </a:t>
            </a:r>
          </a:p>
          <a:p>
            <a:pPr>
              <a:buNone/>
            </a:pPr>
            <a:r>
              <a:rPr lang="fr-FR" sz="2400" dirty="0"/>
              <a:t>E- La paracétamol</a:t>
            </a:r>
          </a:p>
          <a:p>
            <a:endParaRPr lang="fr-FR" dirty="0"/>
          </a:p>
        </p:txBody>
      </p:sp>
      <p:sp>
        <p:nvSpPr>
          <p:cNvPr id="5" name="Titre 1"/>
          <p:cNvSpPr txBox="1">
            <a:spLocks/>
          </p:cNvSpPr>
          <p:nvPr/>
        </p:nvSpPr>
        <p:spPr>
          <a:xfrm>
            <a:off x="1176528" y="737616"/>
            <a:ext cx="9720072" cy="149961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fr-FR" dirty="0"/>
              <a:t>QCM17:</a:t>
            </a:r>
          </a:p>
        </p:txBody>
      </p:sp>
    </p:spTree>
    <p:extLst>
      <p:ext uri="{BB962C8B-B14F-4D97-AF65-F5344CB8AC3E}">
        <p14:creationId xmlns:p14="http://schemas.microsoft.com/office/powerpoint/2010/main" val="413558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QCM18:</a:t>
            </a:r>
            <a:br>
              <a:rPr lang="fr-FR" dirty="0"/>
            </a:br>
            <a:endParaRPr lang="fr-FR" dirty="0"/>
          </a:p>
        </p:txBody>
      </p:sp>
      <p:sp>
        <p:nvSpPr>
          <p:cNvPr id="3" name="Espace réservé du contenu 2"/>
          <p:cNvSpPr>
            <a:spLocks noGrp="1"/>
          </p:cNvSpPr>
          <p:nvPr>
            <p:ph idx="1"/>
          </p:nvPr>
        </p:nvSpPr>
        <p:spPr>
          <a:xfrm>
            <a:off x="1024128" y="1913021"/>
            <a:ext cx="9720073" cy="4396339"/>
          </a:xfrm>
        </p:spPr>
        <p:txBody>
          <a:bodyPr/>
          <a:lstStyle/>
          <a:p>
            <a:r>
              <a:rPr lang="fr-FR" b="1" dirty="0">
                <a:solidFill>
                  <a:srgbClr val="002060"/>
                </a:solidFill>
              </a:rPr>
              <a:t>Les mécanismes de l’œdème post opératoires sont:</a:t>
            </a:r>
          </a:p>
          <a:p>
            <a:pPr marL="0" indent="0">
              <a:buNone/>
            </a:pPr>
            <a:r>
              <a:rPr lang="fr-FR" dirty="0">
                <a:solidFill>
                  <a:srgbClr val="FF0000"/>
                </a:solidFill>
              </a:rPr>
              <a:t>A- un trouble de la perméabilité capillaire</a:t>
            </a:r>
          </a:p>
          <a:p>
            <a:pPr marL="0" indent="0">
              <a:buNone/>
            </a:pPr>
            <a:r>
              <a:rPr lang="fr-FR" dirty="0"/>
              <a:t>B- une hypo albuminémie sévère </a:t>
            </a:r>
          </a:p>
          <a:p>
            <a:pPr marL="0" indent="0">
              <a:buNone/>
            </a:pPr>
            <a:r>
              <a:rPr lang="fr-FR" dirty="0">
                <a:solidFill>
                  <a:srgbClr val="FF0000"/>
                </a:solidFill>
              </a:rPr>
              <a:t>C- une agression lymphatique</a:t>
            </a:r>
          </a:p>
          <a:p>
            <a:pPr marL="0" indent="0">
              <a:buNone/>
            </a:pPr>
            <a:r>
              <a:rPr lang="fr-FR" dirty="0">
                <a:solidFill>
                  <a:srgbClr val="FF0000"/>
                </a:solidFill>
              </a:rPr>
              <a:t>D- une agression veineuse </a:t>
            </a:r>
          </a:p>
          <a:p>
            <a:pPr marL="0" indent="0">
              <a:buNone/>
            </a:pPr>
            <a:r>
              <a:rPr lang="fr-FR" dirty="0"/>
              <a:t>E- une rupture de kyste de Becker </a:t>
            </a:r>
          </a:p>
          <a:p>
            <a:pPr marL="0" indent="0">
              <a:buNone/>
            </a:pPr>
            <a:endParaRPr lang="fr-FR" dirty="0"/>
          </a:p>
          <a:p>
            <a:endParaRPr lang="fr-FR" dirty="0"/>
          </a:p>
        </p:txBody>
      </p:sp>
    </p:spTree>
    <p:extLst>
      <p:ext uri="{BB962C8B-B14F-4D97-AF65-F5344CB8AC3E}">
        <p14:creationId xmlns:p14="http://schemas.microsoft.com/office/powerpoint/2010/main" val="1808385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QCM19:</a:t>
            </a:r>
          </a:p>
        </p:txBody>
      </p:sp>
      <p:sp>
        <p:nvSpPr>
          <p:cNvPr id="3" name="Espace réservé du contenu 2"/>
          <p:cNvSpPr>
            <a:spLocks noGrp="1"/>
          </p:cNvSpPr>
          <p:nvPr>
            <p:ph idx="1"/>
          </p:nvPr>
        </p:nvSpPr>
        <p:spPr>
          <a:xfrm>
            <a:off x="1120380" y="1925053"/>
            <a:ext cx="9720073" cy="4023360"/>
          </a:xfrm>
        </p:spPr>
        <p:txBody>
          <a:bodyPr/>
          <a:lstStyle/>
          <a:p>
            <a:pPr algn="just">
              <a:buNone/>
            </a:pPr>
            <a:r>
              <a:rPr lang="fr-FR" b="1" dirty="0">
                <a:solidFill>
                  <a:srgbClr val="002060"/>
                </a:solidFill>
              </a:rPr>
              <a:t>Parmi ces causes lesquelles sont responsable d’un œdème par hyperperméabilité capillaire:</a:t>
            </a:r>
          </a:p>
          <a:p>
            <a:pPr>
              <a:buNone/>
            </a:pPr>
            <a:r>
              <a:rPr lang="fr-FR" dirty="0"/>
              <a:t>A- la péricardite constrictive</a:t>
            </a:r>
          </a:p>
          <a:p>
            <a:pPr>
              <a:buNone/>
            </a:pPr>
            <a:r>
              <a:rPr lang="fr-FR" dirty="0"/>
              <a:t>D- </a:t>
            </a:r>
            <a:r>
              <a:rPr lang="fr-FR" dirty="0" err="1"/>
              <a:t>Eryhtemalgie</a:t>
            </a:r>
            <a:r>
              <a:rPr lang="fr-FR" dirty="0" err="1">
                <a:solidFill>
                  <a:srgbClr val="FF0000"/>
                </a:solidFill>
              </a:rPr>
              <a:t>B</a:t>
            </a:r>
            <a:r>
              <a:rPr lang="fr-FR" dirty="0">
                <a:solidFill>
                  <a:srgbClr val="FF0000"/>
                </a:solidFill>
              </a:rPr>
              <a:t>-œdème angioneurotique</a:t>
            </a:r>
          </a:p>
          <a:p>
            <a:pPr>
              <a:buNone/>
            </a:pPr>
            <a:r>
              <a:rPr lang="fr-FR" dirty="0">
                <a:solidFill>
                  <a:srgbClr val="FF0000"/>
                </a:solidFill>
              </a:rPr>
              <a:t>C- œdème de Quincke</a:t>
            </a:r>
          </a:p>
          <a:p>
            <a:pPr>
              <a:buNone/>
            </a:pPr>
            <a:endParaRPr lang="fr-FR" dirty="0"/>
          </a:p>
          <a:p>
            <a:pPr>
              <a:buNone/>
            </a:pPr>
            <a:r>
              <a:rPr lang="fr-FR" dirty="0"/>
              <a:t>E- lymphœdème </a:t>
            </a:r>
          </a:p>
          <a:p>
            <a:endParaRPr lang="fr-FR" dirty="0"/>
          </a:p>
        </p:txBody>
      </p:sp>
    </p:spTree>
    <p:extLst>
      <p:ext uri="{BB962C8B-B14F-4D97-AF65-F5344CB8AC3E}">
        <p14:creationId xmlns:p14="http://schemas.microsoft.com/office/powerpoint/2010/main" val="2186936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QCM20:</a:t>
            </a:r>
          </a:p>
        </p:txBody>
      </p:sp>
      <p:sp>
        <p:nvSpPr>
          <p:cNvPr id="3" name="Espace réservé du contenu 2"/>
          <p:cNvSpPr>
            <a:spLocks noGrp="1"/>
          </p:cNvSpPr>
          <p:nvPr>
            <p:ph idx="1"/>
          </p:nvPr>
        </p:nvSpPr>
        <p:spPr/>
        <p:txBody>
          <a:bodyPr/>
          <a:lstStyle/>
          <a:p>
            <a:pPr>
              <a:buNone/>
            </a:pPr>
            <a:r>
              <a:rPr lang="fr-FR" b="1" dirty="0">
                <a:solidFill>
                  <a:srgbClr val="002060"/>
                </a:solidFill>
              </a:rPr>
              <a:t>Devant un œdème aigu d’un membre inférieur chez un homme de 45 ans  sont évoqués:</a:t>
            </a:r>
            <a:endParaRPr lang="fr-FR" dirty="0"/>
          </a:p>
          <a:p>
            <a:pPr>
              <a:buNone/>
            </a:pPr>
            <a:r>
              <a:rPr lang="fr-FR" dirty="0">
                <a:solidFill>
                  <a:srgbClr val="FF0000"/>
                </a:solidFill>
              </a:rPr>
              <a:t>A- une thrombose veineuse du membre inférieur</a:t>
            </a:r>
          </a:p>
          <a:p>
            <a:pPr>
              <a:buNone/>
            </a:pPr>
            <a:r>
              <a:rPr lang="fr-FR" dirty="0">
                <a:solidFill>
                  <a:srgbClr val="FF0000"/>
                </a:solidFill>
              </a:rPr>
              <a:t>B- Un érysipèle</a:t>
            </a:r>
          </a:p>
          <a:p>
            <a:pPr>
              <a:buNone/>
            </a:pPr>
            <a:r>
              <a:rPr lang="fr-FR" dirty="0">
                <a:solidFill>
                  <a:srgbClr val="FF0000"/>
                </a:solidFill>
              </a:rPr>
              <a:t>C- Une rupture d’un kyste poplité</a:t>
            </a:r>
          </a:p>
          <a:p>
            <a:pPr>
              <a:buNone/>
            </a:pPr>
            <a:r>
              <a:rPr lang="fr-FR" dirty="0"/>
              <a:t>D- Un </a:t>
            </a:r>
            <a:r>
              <a:rPr lang="fr-FR" dirty="0" err="1"/>
              <a:t>lymphoedème</a:t>
            </a:r>
            <a:endParaRPr lang="fr-FR" dirty="0"/>
          </a:p>
          <a:p>
            <a:pPr>
              <a:buNone/>
            </a:pPr>
            <a:r>
              <a:rPr lang="fr-FR" dirty="0"/>
              <a:t>E- Un myxœdème</a:t>
            </a:r>
          </a:p>
          <a:p>
            <a:endParaRPr lang="fr-FR" dirty="0"/>
          </a:p>
        </p:txBody>
      </p:sp>
    </p:spTree>
    <p:extLst>
      <p:ext uri="{BB962C8B-B14F-4D97-AF65-F5344CB8AC3E}">
        <p14:creationId xmlns:p14="http://schemas.microsoft.com/office/powerpoint/2010/main" val="2641106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QCM21:</a:t>
            </a:r>
          </a:p>
        </p:txBody>
      </p:sp>
      <p:sp>
        <p:nvSpPr>
          <p:cNvPr id="3" name="Espace réservé du contenu 2"/>
          <p:cNvSpPr>
            <a:spLocks noGrp="1"/>
          </p:cNvSpPr>
          <p:nvPr>
            <p:ph idx="1"/>
          </p:nvPr>
        </p:nvSpPr>
        <p:spPr/>
        <p:txBody>
          <a:bodyPr/>
          <a:lstStyle/>
          <a:p>
            <a:r>
              <a:rPr lang="fr-FR" b="1" dirty="0">
                <a:solidFill>
                  <a:srgbClr val="002060"/>
                </a:solidFill>
              </a:rPr>
              <a:t>L’insuffisance  veineuse chronique: </a:t>
            </a:r>
          </a:p>
          <a:p>
            <a:pPr marL="0" indent="0" algn="just">
              <a:buNone/>
            </a:pPr>
            <a:r>
              <a:rPr lang="fr-FR" dirty="0">
                <a:solidFill>
                  <a:srgbClr val="FF0000"/>
                </a:solidFill>
              </a:rPr>
              <a:t>A- est secondaire à un dysfonctionnement du système veineux superficiel </a:t>
            </a:r>
          </a:p>
          <a:p>
            <a:pPr marL="0" indent="0" algn="just">
              <a:buNone/>
            </a:pPr>
            <a:r>
              <a:rPr lang="fr-FR" dirty="0">
                <a:solidFill>
                  <a:srgbClr val="FF0000"/>
                </a:solidFill>
              </a:rPr>
              <a:t>B- l’œdème est secondaire à une hyperpression hydrostatique au pole veineux </a:t>
            </a:r>
          </a:p>
          <a:p>
            <a:pPr marL="0" indent="0">
              <a:buNone/>
            </a:pPr>
            <a:r>
              <a:rPr lang="fr-FR" dirty="0"/>
              <a:t>C- est toujours bilatérale </a:t>
            </a:r>
          </a:p>
          <a:p>
            <a:pPr marL="0" indent="0">
              <a:buNone/>
            </a:pPr>
            <a:r>
              <a:rPr lang="fr-FR" dirty="0">
                <a:solidFill>
                  <a:srgbClr val="FF0000"/>
                </a:solidFill>
              </a:rPr>
              <a:t>D- peut se compliquer d’atrophie cutané</a:t>
            </a:r>
          </a:p>
          <a:p>
            <a:pPr marL="0" indent="0">
              <a:buNone/>
            </a:pPr>
            <a:r>
              <a:rPr lang="fr-FR" dirty="0"/>
              <a:t>E-  est plus fréquente chez le sujet jeune</a:t>
            </a:r>
          </a:p>
          <a:p>
            <a:endParaRPr lang="fr-FR" dirty="0"/>
          </a:p>
        </p:txBody>
      </p:sp>
    </p:spTree>
    <p:extLst>
      <p:ext uri="{BB962C8B-B14F-4D97-AF65-F5344CB8AC3E}">
        <p14:creationId xmlns:p14="http://schemas.microsoft.com/office/powerpoint/2010/main" val="2702667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QCM22:</a:t>
            </a:r>
          </a:p>
        </p:txBody>
      </p:sp>
      <p:sp>
        <p:nvSpPr>
          <p:cNvPr id="3" name="Espace réservé du contenu 2"/>
          <p:cNvSpPr>
            <a:spLocks noGrp="1"/>
          </p:cNvSpPr>
          <p:nvPr>
            <p:ph idx="1"/>
          </p:nvPr>
        </p:nvSpPr>
        <p:spPr/>
        <p:txBody>
          <a:bodyPr/>
          <a:lstStyle/>
          <a:p>
            <a:pPr algn="just"/>
            <a:r>
              <a:rPr lang="fr-FR" b="1" dirty="0">
                <a:solidFill>
                  <a:srgbClr val="002060"/>
                </a:solidFill>
              </a:rPr>
              <a:t>Parmi ces causes lesquelles sont responsables d’un œdème vasomoteur par anomalies de la microcirculation:</a:t>
            </a:r>
          </a:p>
          <a:p>
            <a:pPr marL="0" indent="0">
              <a:buNone/>
            </a:pPr>
            <a:r>
              <a:rPr lang="fr-FR" dirty="0"/>
              <a:t>A- insuffisance cardiaque</a:t>
            </a:r>
          </a:p>
          <a:p>
            <a:pPr marL="0" indent="0">
              <a:buNone/>
            </a:pPr>
            <a:r>
              <a:rPr lang="fr-FR" dirty="0"/>
              <a:t>B- œdème </a:t>
            </a:r>
            <a:r>
              <a:rPr lang="fr-FR" dirty="0" err="1"/>
              <a:t>bradydkinique</a:t>
            </a:r>
            <a:endParaRPr lang="fr-FR" dirty="0"/>
          </a:p>
          <a:p>
            <a:pPr marL="0" indent="0">
              <a:buNone/>
            </a:pPr>
            <a:r>
              <a:rPr lang="fr-FR" dirty="0">
                <a:solidFill>
                  <a:srgbClr val="FF0000"/>
                </a:solidFill>
              </a:rPr>
              <a:t>C- algodystrophie</a:t>
            </a:r>
          </a:p>
          <a:p>
            <a:pPr marL="0" indent="0">
              <a:buNone/>
            </a:pPr>
            <a:r>
              <a:rPr lang="fr-FR" dirty="0">
                <a:solidFill>
                  <a:srgbClr val="FF0000"/>
                </a:solidFill>
              </a:rPr>
              <a:t>D- </a:t>
            </a:r>
            <a:r>
              <a:rPr lang="fr-FR" dirty="0" err="1">
                <a:solidFill>
                  <a:srgbClr val="FF0000"/>
                </a:solidFill>
              </a:rPr>
              <a:t>erythèmalgie</a:t>
            </a:r>
            <a:endParaRPr lang="fr-FR" dirty="0">
              <a:solidFill>
                <a:srgbClr val="FF0000"/>
              </a:solidFill>
            </a:endParaRPr>
          </a:p>
          <a:p>
            <a:pPr marL="0" indent="0">
              <a:buNone/>
            </a:pPr>
            <a:r>
              <a:rPr lang="fr-FR" dirty="0">
                <a:solidFill>
                  <a:srgbClr val="FF0000"/>
                </a:solidFill>
              </a:rPr>
              <a:t>E- phénomène de Raynaud </a:t>
            </a:r>
          </a:p>
          <a:p>
            <a:endParaRPr lang="fr-FR" dirty="0"/>
          </a:p>
        </p:txBody>
      </p:sp>
    </p:spTree>
    <p:extLst>
      <p:ext uri="{BB962C8B-B14F-4D97-AF65-F5344CB8AC3E}">
        <p14:creationId xmlns:p14="http://schemas.microsoft.com/office/powerpoint/2010/main" val="3796522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QCM23:</a:t>
            </a:r>
          </a:p>
        </p:txBody>
      </p:sp>
      <p:sp>
        <p:nvSpPr>
          <p:cNvPr id="3" name="Espace réservé du contenu 2"/>
          <p:cNvSpPr>
            <a:spLocks noGrp="1"/>
          </p:cNvSpPr>
          <p:nvPr>
            <p:ph idx="1"/>
          </p:nvPr>
        </p:nvSpPr>
        <p:spPr/>
        <p:txBody>
          <a:bodyPr/>
          <a:lstStyle/>
          <a:p>
            <a:r>
              <a:rPr lang="fr-FR" b="1" dirty="0">
                <a:solidFill>
                  <a:srgbClr val="002060"/>
                </a:solidFill>
              </a:rPr>
              <a:t>L’œdème idiopathique: </a:t>
            </a:r>
          </a:p>
          <a:p>
            <a:r>
              <a:rPr lang="fr-FR" dirty="0">
                <a:solidFill>
                  <a:srgbClr val="FF0000"/>
                </a:solidFill>
              </a:rPr>
              <a:t>A- survient chez les femmes </a:t>
            </a:r>
          </a:p>
          <a:p>
            <a:r>
              <a:rPr lang="fr-FR" dirty="0"/>
              <a:t>B- non lié au cycle menstruel</a:t>
            </a:r>
          </a:p>
          <a:p>
            <a:r>
              <a:rPr lang="fr-FR" dirty="0"/>
              <a:t>C- entraine une prise importante de poids</a:t>
            </a:r>
          </a:p>
          <a:p>
            <a:r>
              <a:rPr lang="fr-FR" dirty="0">
                <a:solidFill>
                  <a:srgbClr val="FF0000"/>
                </a:solidFill>
              </a:rPr>
              <a:t>D- est du à une rétention hydro sodée</a:t>
            </a:r>
          </a:p>
          <a:p>
            <a:r>
              <a:rPr lang="fr-FR" dirty="0"/>
              <a:t>E- sont secondaire à une carence </a:t>
            </a:r>
            <a:r>
              <a:rPr lang="fr-FR" dirty="0" err="1"/>
              <a:t>oesrtogénique</a:t>
            </a:r>
            <a:endParaRPr lang="fr-FR" dirty="0"/>
          </a:p>
          <a:p>
            <a:endParaRPr lang="fr-FR" dirty="0"/>
          </a:p>
        </p:txBody>
      </p:sp>
    </p:spTree>
    <p:extLst>
      <p:ext uri="{BB962C8B-B14F-4D97-AF65-F5344CB8AC3E}">
        <p14:creationId xmlns:p14="http://schemas.microsoft.com/office/powerpoint/2010/main" val="2522667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QCM24:</a:t>
            </a:r>
          </a:p>
        </p:txBody>
      </p:sp>
      <p:sp>
        <p:nvSpPr>
          <p:cNvPr id="3" name="Espace réservé du contenu 2"/>
          <p:cNvSpPr>
            <a:spLocks noGrp="1"/>
          </p:cNvSpPr>
          <p:nvPr>
            <p:ph idx="1"/>
          </p:nvPr>
        </p:nvSpPr>
        <p:spPr/>
        <p:txBody>
          <a:bodyPr/>
          <a:lstStyle/>
          <a:p>
            <a:pPr>
              <a:buNone/>
            </a:pPr>
            <a:r>
              <a:rPr lang="fr-FR" b="1" dirty="0">
                <a:solidFill>
                  <a:srgbClr val="002060"/>
                </a:solidFill>
              </a:rPr>
              <a:t>Les causes d’œdème généralisé par une rétention </a:t>
            </a:r>
            <a:r>
              <a:rPr lang="fr-FR" b="1" dirty="0" err="1">
                <a:solidFill>
                  <a:srgbClr val="002060"/>
                </a:solidFill>
              </a:rPr>
              <a:t>hydrososée</a:t>
            </a:r>
            <a:r>
              <a:rPr lang="fr-FR" b="1" dirty="0">
                <a:solidFill>
                  <a:srgbClr val="002060"/>
                </a:solidFill>
              </a:rPr>
              <a:t> sont:</a:t>
            </a:r>
          </a:p>
          <a:p>
            <a:pPr>
              <a:buNone/>
            </a:pPr>
            <a:r>
              <a:rPr lang="fr-FR" dirty="0">
                <a:solidFill>
                  <a:srgbClr val="FF0000"/>
                </a:solidFill>
              </a:rPr>
              <a:t>A- Insuffisance rénale</a:t>
            </a:r>
          </a:p>
          <a:p>
            <a:pPr>
              <a:buNone/>
            </a:pPr>
            <a:r>
              <a:rPr lang="fr-FR" dirty="0"/>
              <a:t>B- inhibiteurs calciques</a:t>
            </a:r>
          </a:p>
          <a:p>
            <a:pPr>
              <a:buNone/>
            </a:pPr>
            <a:r>
              <a:rPr lang="fr-FR" dirty="0">
                <a:solidFill>
                  <a:srgbClr val="FF0000"/>
                </a:solidFill>
              </a:rPr>
              <a:t>C- AINS</a:t>
            </a:r>
          </a:p>
          <a:p>
            <a:pPr>
              <a:buNone/>
            </a:pPr>
            <a:r>
              <a:rPr lang="fr-FR" dirty="0"/>
              <a:t>D-œdème de Quincke</a:t>
            </a:r>
          </a:p>
          <a:p>
            <a:pPr>
              <a:buNone/>
            </a:pPr>
            <a:r>
              <a:rPr lang="fr-FR" dirty="0"/>
              <a:t>E- thrombophlébite</a:t>
            </a:r>
          </a:p>
          <a:p>
            <a:endParaRPr lang="fr-FR" dirty="0"/>
          </a:p>
        </p:txBody>
      </p:sp>
    </p:spTree>
    <p:extLst>
      <p:ext uri="{BB962C8B-B14F-4D97-AF65-F5344CB8AC3E}">
        <p14:creationId xmlns:p14="http://schemas.microsoft.com/office/powerpoint/2010/main" val="451141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QCM25:</a:t>
            </a:r>
          </a:p>
        </p:txBody>
      </p:sp>
      <p:sp>
        <p:nvSpPr>
          <p:cNvPr id="3" name="Espace réservé du contenu 2"/>
          <p:cNvSpPr>
            <a:spLocks noGrp="1"/>
          </p:cNvSpPr>
          <p:nvPr>
            <p:ph idx="1"/>
          </p:nvPr>
        </p:nvSpPr>
        <p:spPr/>
        <p:txBody>
          <a:bodyPr/>
          <a:lstStyle/>
          <a:p>
            <a:r>
              <a:rPr lang="fr-FR" b="1" dirty="0">
                <a:solidFill>
                  <a:srgbClr val="002060"/>
                </a:solidFill>
              </a:rPr>
              <a:t>Le(s) cause(s) d’ œdème bilatéral des membres inférieurs ne gardant pas le godet chez un une femme de 50 ans évoluant depuis 3 mois sont :</a:t>
            </a:r>
          </a:p>
          <a:p>
            <a:r>
              <a:rPr lang="fr-FR" dirty="0"/>
              <a:t>A- Une cirrhose hépatique</a:t>
            </a:r>
          </a:p>
          <a:p>
            <a:r>
              <a:rPr lang="fr-FR" dirty="0">
                <a:solidFill>
                  <a:srgbClr val="FF0000"/>
                </a:solidFill>
              </a:rPr>
              <a:t>B- Une hypothyroïdie</a:t>
            </a:r>
          </a:p>
          <a:p>
            <a:r>
              <a:rPr lang="fr-FR" dirty="0"/>
              <a:t>C- Une thrombose veineuse  </a:t>
            </a:r>
          </a:p>
          <a:p>
            <a:r>
              <a:rPr lang="fr-FR" dirty="0"/>
              <a:t>D- Un syndrome néphrotique</a:t>
            </a:r>
          </a:p>
          <a:p>
            <a:r>
              <a:rPr lang="fr-FR" dirty="0">
                <a:solidFill>
                  <a:srgbClr val="FF0000"/>
                </a:solidFill>
              </a:rPr>
              <a:t>E- Un lymphœdème</a:t>
            </a:r>
          </a:p>
          <a:p>
            <a:endParaRPr lang="fr-FR" dirty="0"/>
          </a:p>
        </p:txBody>
      </p:sp>
    </p:spTree>
    <p:extLst>
      <p:ext uri="{BB962C8B-B14F-4D97-AF65-F5344CB8AC3E}">
        <p14:creationId xmlns:p14="http://schemas.microsoft.com/office/powerpoint/2010/main" val="9042976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qcm26:</a:t>
            </a:r>
          </a:p>
        </p:txBody>
      </p:sp>
      <p:sp>
        <p:nvSpPr>
          <p:cNvPr id="4" name="Espace réservé du contenu 2"/>
          <p:cNvSpPr>
            <a:spLocks noGrp="1"/>
          </p:cNvSpPr>
          <p:nvPr>
            <p:ph idx="1"/>
          </p:nvPr>
        </p:nvSpPr>
        <p:spPr/>
        <p:txBody>
          <a:bodyPr/>
          <a:lstStyle/>
          <a:p>
            <a:pPr>
              <a:buNone/>
            </a:pPr>
            <a:r>
              <a:rPr lang="fr-FR" b="1" dirty="0">
                <a:solidFill>
                  <a:srgbClr val="002060"/>
                </a:solidFill>
              </a:rPr>
              <a:t>Les signes de gravité de l’œdème généralisé sont</a:t>
            </a:r>
            <a:r>
              <a:rPr lang="fr-FR" b="1" dirty="0"/>
              <a:t>:</a:t>
            </a:r>
          </a:p>
          <a:p>
            <a:pPr>
              <a:buNone/>
            </a:pPr>
            <a:endParaRPr lang="fr-FR" b="1" dirty="0"/>
          </a:p>
        </p:txBody>
      </p:sp>
      <p:sp>
        <p:nvSpPr>
          <p:cNvPr id="5" name="Rectangle 4"/>
          <p:cNvSpPr/>
          <p:nvPr/>
        </p:nvSpPr>
        <p:spPr>
          <a:xfrm>
            <a:off x="1155037" y="3251239"/>
            <a:ext cx="7072362" cy="2492990"/>
          </a:xfrm>
          <a:prstGeom prst="rect">
            <a:avLst/>
          </a:prstGeom>
        </p:spPr>
        <p:txBody>
          <a:bodyPr wrap="square">
            <a:spAutoFit/>
          </a:bodyPr>
          <a:lstStyle/>
          <a:p>
            <a:pPr>
              <a:buNone/>
            </a:pPr>
            <a:r>
              <a:rPr lang="fr-FR" sz="2600" dirty="0">
                <a:solidFill>
                  <a:srgbClr val="FF0000"/>
                </a:solidFill>
              </a:rPr>
              <a:t>A –  un essoufflement  </a:t>
            </a:r>
          </a:p>
          <a:p>
            <a:pPr>
              <a:buNone/>
            </a:pPr>
            <a:r>
              <a:rPr lang="fr-FR" sz="2600" dirty="0">
                <a:solidFill>
                  <a:srgbClr val="FF0000"/>
                </a:solidFill>
              </a:rPr>
              <a:t>B –  une obnubilation</a:t>
            </a:r>
          </a:p>
          <a:p>
            <a:pPr>
              <a:buNone/>
            </a:pPr>
            <a:r>
              <a:rPr lang="fr-FR" sz="2600" dirty="0">
                <a:solidFill>
                  <a:srgbClr val="FF0000"/>
                </a:solidFill>
              </a:rPr>
              <a:t>C -   une dyspnée inspiratoire</a:t>
            </a:r>
          </a:p>
          <a:p>
            <a:pPr>
              <a:buNone/>
            </a:pPr>
            <a:r>
              <a:rPr lang="fr-FR" sz="2600" dirty="0"/>
              <a:t>D-  un œdème de la face</a:t>
            </a:r>
          </a:p>
          <a:p>
            <a:r>
              <a:rPr lang="fr-FR" sz="2600" dirty="0">
                <a:solidFill>
                  <a:srgbClr val="FF0000"/>
                </a:solidFill>
              </a:rPr>
              <a:t>E –  la présence de râles crépitants</a:t>
            </a:r>
          </a:p>
          <a:p>
            <a:endParaRPr lang="fr-FR" sz="2600" dirty="0"/>
          </a:p>
        </p:txBody>
      </p:sp>
    </p:spTree>
    <p:extLst>
      <p:ext uri="{BB962C8B-B14F-4D97-AF65-F5344CB8AC3E}">
        <p14:creationId xmlns:p14="http://schemas.microsoft.com/office/powerpoint/2010/main" val="3462626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Cas clinique n°1:</a:t>
            </a:r>
          </a:p>
        </p:txBody>
      </p:sp>
      <p:sp>
        <p:nvSpPr>
          <p:cNvPr id="3" name="Espace réservé du contenu 2"/>
          <p:cNvSpPr>
            <a:spLocks noGrp="1"/>
          </p:cNvSpPr>
          <p:nvPr>
            <p:ph idx="1"/>
          </p:nvPr>
        </p:nvSpPr>
        <p:spPr/>
        <p:txBody>
          <a:bodyPr/>
          <a:lstStyle/>
          <a:p>
            <a:pPr algn="just">
              <a:buFont typeface="Wingdings" panose="05000000000000000000" pitchFamily="2" charset="2"/>
              <a:buChar char="§"/>
            </a:pPr>
            <a:r>
              <a:rPr lang="fr-FR" sz="3200" dirty="0"/>
              <a:t> Un homme de 70 ans consulte aux  urgences pour une dyspnée d’aggravation progressive devenant au moindre effort ainsi que pour l’apparition d’œdèmes des membres inférieurs et une prise de poids récente de 4 kg. </a:t>
            </a:r>
          </a:p>
          <a:p>
            <a:pPr algn="just">
              <a:buFont typeface="Wingdings" panose="05000000000000000000" pitchFamily="2" charset="2"/>
              <a:buChar char="§"/>
            </a:pPr>
            <a:r>
              <a:rPr lang="fr-FR" sz="3200" dirty="0"/>
              <a:t> Le patient n’a pas d’antécédent particulier hormis une appendicectomie, un glaucome traité par un collyre prostaglandine (</a:t>
            </a:r>
            <a:r>
              <a:rPr lang="fr-FR" sz="3200" dirty="0" err="1"/>
              <a:t>Xalatan</a:t>
            </a:r>
            <a:r>
              <a:rPr lang="fr-FR" sz="3200" dirty="0"/>
              <a:t>®) et un tabagisme estimé à 30 paquets-années non sevré.</a:t>
            </a:r>
          </a:p>
          <a:p>
            <a:endParaRPr lang="fr-FR" dirty="0"/>
          </a:p>
        </p:txBody>
      </p:sp>
    </p:spTree>
    <p:extLst>
      <p:ext uri="{BB962C8B-B14F-4D97-AF65-F5344CB8AC3E}">
        <p14:creationId xmlns:p14="http://schemas.microsoft.com/office/powerpoint/2010/main" val="6920017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Cas clinique n°1:</a:t>
            </a:r>
          </a:p>
        </p:txBody>
      </p:sp>
      <p:sp>
        <p:nvSpPr>
          <p:cNvPr id="3" name="Espace réservé du contenu 2"/>
          <p:cNvSpPr>
            <a:spLocks noGrp="1"/>
          </p:cNvSpPr>
          <p:nvPr>
            <p:ph idx="1"/>
          </p:nvPr>
        </p:nvSpPr>
        <p:spPr/>
        <p:txBody>
          <a:bodyPr/>
          <a:lstStyle/>
          <a:p>
            <a:r>
              <a:rPr lang="fr-FR" sz="2800" dirty="0"/>
              <a:t> </a:t>
            </a:r>
            <a:r>
              <a:rPr lang="fr-FR" sz="2800" b="1" dirty="0"/>
              <a:t>A l’examen clinique</a:t>
            </a:r>
            <a:endParaRPr lang="fr-FR" sz="2800" dirty="0"/>
          </a:p>
          <a:p>
            <a:pPr>
              <a:buFont typeface="Wingdings" panose="05000000000000000000" pitchFamily="2" charset="2"/>
              <a:buChar char="§"/>
            </a:pPr>
            <a:r>
              <a:rPr lang="fr-FR" sz="2800" dirty="0"/>
              <a:t> la tension artérielle à 110/67 mm Hg, la fréquence respiratoire à 17/min. l’auscultation cardiaque retrouve un souffle holosystolique de pointe </a:t>
            </a:r>
          </a:p>
          <a:p>
            <a:pPr>
              <a:buFont typeface="Wingdings" panose="05000000000000000000" pitchFamily="2" charset="2"/>
              <a:buChar char="§"/>
            </a:pPr>
            <a:r>
              <a:rPr lang="fr-FR" sz="2800" dirty="0"/>
              <a:t> L’auscultation pulmonaire retrouve des râles crépitants bilatéraux. </a:t>
            </a:r>
          </a:p>
          <a:p>
            <a:pPr>
              <a:buFont typeface="Wingdings" panose="05000000000000000000" pitchFamily="2" charset="2"/>
              <a:buChar char="§"/>
            </a:pPr>
            <a:r>
              <a:rPr lang="fr-FR" sz="2800" dirty="0"/>
              <a:t> Il existe une turgescence jugulaire avec reflux hépato jugulaire. </a:t>
            </a:r>
          </a:p>
          <a:p>
            <a:pPr>
              <a:buFont typeface="Wingdings" panose="05000000000000000000" pitchFamily="2" charset="2"/>
              <a:buChar char="§"/>
            </a:pPr>
            <a:r>
              <a:rPr lang="fr-FR" sz="2800" dirty="0"/>
              <a:t> ECG : un axe droit avec une tachycardie sinusale</a:t>
            </a:r>
          </a:p>
          <a:p>
            <a:endParaRPr lang="fr-FR" dirty="0"/>
          </a:p>
        </p:txBody>
      </p:sp>
    </p:spTree>
    <p:extLst>
      <p:ext uri="{BB962C8B-B14F-4D97-AF65-F5344CB8AC3E}">
        <p14:creationId xmlns:p14="http://schemas.microsoft.com/office/powerpoint/2010/main" val="2310479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Q1:</a:t>
            </a:r>
          </a:p>
        </p:txBody>
      </p:sp>
      <p:sp>
        <p:nvSpPr>
          <p:cNvPr id="3" name="Espace réservé du contenu 2"/>
          <p:cNvSpPr>
            <a:spLocks noGrp="1"/>
          </p:cNvSpPr>
          <p:nvPr>
            <p:ph sz="quarter" idx="1"/>
          </p:nvPr>
        </p:nvSpPr>
        <p:spPr>
          <a:xfrm>
            <a:off x="1397107" y="1995162"/>
            <a:ext cx="9186672" cy="3624274"/>
          </a:xfrm>
        </p:spPr>
        <p:txBody>
          <a:bodyPr>
            <a:normAutofit lnSpcReduction="10000"/>
          </a:bodyPr>
          <a:lstStyle/>
          <a:p>
            <a:pPr>
              <a:buNone/>
            </a:pPr>
            <a:r>
              <a:rPr lang="fr-FR" sz="2800" b="1" dirty="0"/>
              <a:t>Quel (s) type d’œdème présente ce malade:</a:t>
            </a:r>
          </a:p>
          <a:p>
            <a:endParaRPr lang="fr-FR" sz="2800" dirty="0"/>
          </a:p>
          <a:p>
            <a:pPr>
              <a:buNone/>
            </a:pPr>
            <a:r>
              <a:rPr lang="fr-FR" sz="2800" dirty="0">
                <a:solidFill>
                  <a:srgbClr val="FF0000"/>
                </a:solidFill>
              </a:rPr>
              <a:t>A- un œdème généralisé </a:t>
            </a:r>
          </a:p>
          <a:p>
            <a:pPr>
              <a:buNone/>
            </a:pPr>
            <a:r>
              <a:rPr lang="fr-FR" sz="2800" dirty="0"/>
              <a:t>B- un anasarque</a:t>
            </a:r>
          </a:p>
          <a:p>
            <a:pPr>
              <a:buNone/>
            </a:pPr>
            <a:r>
              <a:rPr lang="fr-FR" sz="2800" dirty="0"/>
              <a:t>C-une pleurésie</a:t>
            </a:r>
          </a:p>
          <a:p>
            <a:pPr>
              <a:buNone/>
            </a:pPr>
            <a:r>
              <a:rPr lang="fr-FR" sz="2800" dirty="0"/>
              <a:t>D-une péricardite</a:t>
            </a:r>
          </a:p>
          <a:p>
            <a:pPr>
              <a:buNone/>
            </a:pPr>
            <a:r>
              <a:rPr lang="fr-FR" sz="2800" dirty="0"/>
              <a:t>E- une ascite</a:t>
            </a:r>
          </a:p>
          <a:p>
            <a:endParaRPr lang="fr-FR" dirty="0"/>
          </a:p>
        </p:txBody>
      </p:sp>
    </p:spTree>
    <p:extLst>
      <p:ext uri="{BB962C8B-B14F-4D97-AF65-F5344CB8AC3E}">
        <p14:creationId xmlns:p14="http://schemas.microsoft.com/office/powerpoint/2010/main" val="3125625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Q2:</a:t>
            </a:r>
          </a:p>
        </p:txBody>
      </p:sp>
      <p:sp>
        <p:nvSpPr>
          <p:cNvPr id="3" name="Espace réservé du contenu 2"/>
          <p:cNvSpPr>
            <a:spLocks noGrp="1"/>
          </p:cNvSpPr>
          <p:nvPr>
            <p:ph sz="quarter" idx="1"/>
          </p:nvPr>
        </p:nvSpPr>
        <p:spPr>
          <a:xfrm>
            <a:off x="1762735" y="1799461"/>
            <a:ext cx="8242857" cy="4572000"/>
          </a:xfrm>
        </p:spPr>
        <p:txBody>
          <a:bodyPr>
            <a:normAutofit/>
          </a:bodyPr>
          <a:lstStyle/>
          <a:p>
            <a:pPr>
              <a:buNone/>
            </a:pPr>
            <a:r>
              <a:rPr lang="fr-FR" sz="2800" b="1" dirty="0"/>
              <a:t>Les élément(s)  de gravité de cet œdème chez ce patient:</a:t>
            </a:r>
          </a:p>
          <a:p>
            <a:pPr>
              <a:buNone/>
            </a:pPr>
            <a:r>
              <a:rPr lang="fr-FR" sz="2800" dirty="0">
                <a:solidFill>
                  <a:srgbClr val="FF0000"/>
                </a:solidFill>
              </a:rPr>
              <a:t>A- dyspnée</a:t>
            </a:r>
          </a:p>
          <a:p>
            <a:pPr>
              <a:buNone/>
            </a:pPr>
            <a:r>
              <a:rPr lang="fr-FR" sz="2800" dirty="0"/>
              <a:t>B- fièvre</a:t>
            </a:r>
          </a:p>
          <a:p>
            <a:pPr>
              <a:buNone/>
            </a:pPr>
            <a:r>
              <a:rPr lang="fr-FR" sz="2800" dirty="0"/>
              <a:t>C- âge </a:t>
            </a:r>
          </a:p>
          <a:p>
            <a:pPr>
              <a:buNone/>
            </a:pPr>
            <a:r>
              <a:rPr lang="fr-FR" sz="2800" dirty="0"/>
              <a:t>D- œdème laryngé</a:t>
            </a:r>
          </a:p>
          <a:p>
            <a:pPr>
              <a:buNone/>
            </a:pPr>
            <a:r>
              <a:rPr lang="fr-FR" sz="2800" dirty="0"/>
              <a:t>E- TVJ</a:t>
            </a:r>
          </a:p>
        </p:txBody>
      </p:sp>
    </p:spTree>
    <p:extLst>
      <p:ext uri="{BB962C8B-B14F-4D97-AF65-F5344CB8AC3E}">
        <p14:creationId xmlns:p14="http://schemas.microsoft.com/office/powerpoint/2010/main" val="35845537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Q3:</a:t>
            </a:r>
          </a:p>
        </p:txBody>
      </p:sp>
      <p:sp>
        <p:nvSpPr>
          <p:cNvPr id="3" name="Espace réservé du contenu 2"/>
          <p:cNvSpPr>
            <a:spLocks noGrp="1"/>
          </p:cNvSpPr>
          <p:nvPr>
            <p:ph sz="quarter" idx="1"/>
          </p:nvPr>
        </p:nvSpPr>
        <p:spPr>
          <a:xfrm>
            <a:off x="1024128" y="1961147"/>
            <a:ext cx="9720073" cy="4348213"/>
          </a:xfrm>
        </p:spPr>
        <p:txBody>
          <a:bodyPr>
            <a:normAutofit/>
          </a:bodyPr>
          <a:lstStyle/>
          <a:p>
            <a:pPr>
              <a:buNone/>
            </a:pPr>
            <a:r>
              <a:rPr lang="fr-FR" sz="2400" b="1" dirty="0"/>
              <a:t>Quelles sont les explorations nécessaires chez ce patient pour établir le diagnostic étiologique de cet œdème:</a:t>
            </a:r>
          </a:p>
          <a:p>
            <a:pPr>
              <a:buNone/>
            </a:pPr>
            <a:r>
              <a:rPr lang="fr-FR" sz="2400" dirty="0">
                <a:solidFill>
                  <a:srgbClr val="FF0000"/>
                </a:solidFill>
              </a:rPr>
              <a:t>A- Une échographie cardiaque</a:t>
            </a:r>
          </a:p>
          <a:p>
            <a:pPr>
              <a:buNone/>
            </a:pPr>
            <a:r>
              <a:rPr lang="fr-FR" sz="2400" dirty="0">
                <a:solidFill>
                  <a:srgbClr val="FF0000"/>
                </a:solidFill>
              </a:rPr>
              <a:t>B- Une bandelette urinaire</a:t>
            </a:r>
          </a:p>
          <a:p>
            <a:pPr>
              <a:buNone/>
            </a:pPr>
            <a:r>
              <a:rPr lang="fr-FR" sz="2400" dirty="0"/>
              <a:t>C- Un coroscanner</a:t>
            </a:r>
          </a:p>
          <a:p>
            <a:pPr>
              <a:buNone/>
            </a:pPr>
            <a:r>
              <a:rPr lang="fr-FR" sz="2400" dirty="0"/>
              <a:t>D- Un scanner thoracique</a:t>
            </a:r>
          </a:p>
          <a:p>
            <a:pPr>
              <a:buNone/>
            </a:pPr>
            <a:r>
              <a:rPr lang="fr-FR" sz="2400" dirty="0"/>
              <a:t>E- un ionogramme sanguin</a:t>
            </a:r>
          </a:p>
        </p:txBody>
      </p:sp>
    </p:spTree>
    <p:extLst>
      <p:ext uri="{BB962C8B-B14F-4D97-AF65-F5344CB8AC3E}">
        <p14:creationId xmlns:p14="http://schemas.microsoft.com/office/powerpoint/2010/main" val="3943078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Q4:</a:t>
            </a:r>
          </a:p>
        </p:txBody>
      </p:sp>
      <p:sp>
        <p:nvSpPr>
          <p:cNvPr id="3" name="Espace réservé du contenu 2"/>
          <p:cNvSpPr>
            <a:spLocks noGrp="1"/>
          </p:cNvSpPr>
          <p:nvPr>
            <p:ph sz="quarter" idx="1"/>
          </p:nvPr>
        </p:nvSpPr>
        <p:spPr/>
        <p:txBody>
          <a:bodyPr>
            <a:noAutofit/>
          </a:bodyPr>
          <a:lstStyle/>
          <a:p>
            <a:pPr>
              <a:buNone/>
            </a:pPr>
            <a:r>
              <a:rPr lang="fr-FR" sz="2400" b="1" dirty="0"/>
              <a:t>Le mécanisme physiopathologique de cet œdème est :</a:t>
            </a:r>
          </a:p>
          <a:p>
            <a:pPr>
              <a:buNone/>
            </a:pPr>
            <a:endParaRPr lang="fr-FR" sz="2400" b="1" dirty="0"/>
          </a:p>
          <a:p>
            <a:pPr>
              <a:buNone/>
            </a:pPr>
            <a:r>
              <a:rPr lang="fr-FR" sz="2400" dirty="0">
                <a:solidFill>
                  <a:srgbClr val="FF0000"/>
                </a:solidFill>
              </a:rPr>
              <a:t>A- Une augmentation de la pression hydrostatique</a:t>
            </a:r>
          </a:p>
          <a:p>
            <a:pPr>
              <a:buNone/>
            </a:pPr>
            <a:r>
              <a:rPr lang="fr-FR" sz="2400" dirty="0"/>
              <a:t>B- Une hyperperméabilité capillaire </a:t>
            </a:r>
          </a:p>
          <a:p>
            <a:pPr>
              <a:buNone/>
            </a:pPr>
            <a:r>
              <a:rPr lang="fr-FR" sz="2400" dirty="0"/>
              <a:t>C- Un obstacle au drainage lymphatique</a:t>
            </a:r>
          </a:p>
          <a:p>
            <a:pPr>
              <a:buNone/>
            </a:pPr>
            <a:r>
              <a:rPr lang="fr-FR" sz="2400" dirty="0"/>
              <a:t>D- Une diminution de la pression oncotique</a:t>
            </a:r>
          </a:p>
          <a:p>
            <a:pPr>
              <a:buNone/>
            </a:pPr>
            <a:r>
              <a:rPr lang="fr-FR" sz="2400" dirty="0"/>
              <a:t>E- une vasodilatation capillaire</a:t>
            </a:r>
          </a:p>
        </p:txBody>
      </p:sp>
    </p:spTree>
    <p:extLst>
      <p:ext uri="{BB962C8B-B14F-4D97-AF65-F5344CB8AC3E}">
        <p14:creationId xmlns:p14="http://schemas.microsoft.com/office/powerpoint/2010/main" val="600070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Cas clinique n°2:</a:t>
            </a:r>
          </a:p>
        </p:txBody>
      </p:sp>
      <p:sp>
        <p:nvSpPr>
          <p:cNvPr id="3" name="Espace réservé du contenu 2"/>
          <p:cNvSpPr>
            <a:spLocks noGrp="1"/>
          </p:cNvSpPr>
          <p:nvPr>
            <p:ph sz="quarter" idx="1"/>
          </p:nvPr>
        </p:nvSpPr>
        <p:spPr/>
        <p:txBody>
          <a:bodyPr>
            <a:normAutofit/>
          </a:bodyPr>
          <a:lstStyle/>
          <a:p>
            <a:pPr>
              <a:buFont typeface="Wingdings" panose="05000000000000000000" pitchFamily="2" charset="2"/>
              <a:buChar char="§"/>
            </a:pPr>
            <a:r>
              <a:rPr lang="fr-FR" sz="2800" dirty="0"/>
              <a:t> Un jeune de 10 ans présente, 15 jours après une angine, une hématurie macroscopique.</a:t>
            </a:r>
          </a:p>
          <a:p>
            <a:pPr>
              <a:buFont typeface="Wingdings" panose="05000000000000000000" pitchFamily="2" charset="2"/>
              <a:buChar char="§"/>
            </a:pPr>
            <a:r>
              <a:rPr lang="fr-FR" sz="2800" dirty="0"/>
              <a:t>  A l’Examen physique : Présence d’œdèmes des membres inférieurs Pression artérielle : 160/100 mmHg </a:t>
            </a:r>
          </a:p>
          <a:p>
            <a:pPr>
              <a:buFont typeface="Wingdings" panose="05000000000000000000" pitchFamily="2" charset="2"/>
              <a:buChar char="§"/>
            </a:pPr>
            <a:r>
              <a:rPr lang="fr-FR" sz="2800" dirty="0"/>
              <a:t> Protéinurie à 2 croix, hématurie à 3 croix à l’examen des urines à la bandelette réactive </a:t>
            </a:r>
          </a:p>
          <a:p>
            <a:pPr>
              <a:buFont typeface="Wingdings" panose="05000000000000000000" pitchFamily="2" charset="2"/>
              <a:buChar char="§"/>
            </a:pPr>
            <a:r>
              <a:rPr lang="fr-FR" sz="2800" dirty="0"/>
              <a:t> A la biologie : Créatininémie 160µmol/l</a:t>
            </a:r>
          </a:p>
        </p:txBody>
      </p:sp>
    </p:spTree>
    <p:extLst>
      <p:ext uri="{BB962C8B-B14F-4D97-AF65-F5344CB8AC3E}">
        <p14:creationId xmlns:p14="http://schemas.microsoft.com/office/powerpoint/2010/main" val="20750268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800" dirty="0"/>
              <a:t>Q1:</a:t>
            </a:r>
          </a:p>
        </p:txBody>
      </p:sp>
      <p:sp>
        <p:nvSpPr>
          <p:cNvPr id="3" name="Espace réservé du contenu 2"/>
          <p:cNvSpPr>
            <a:spLocks noGrp="1"/>
          </p:cNvSpPr>
          <p:nvPr>
            <p:ph sz="quarter" idx="1"/>
          </p:nvPr>
        </p:nvSpPr>
        <p:spPr>
          <a:xfrm>
            <a:off x="1197239" y="1713787"/>
            <a:ext cx="9720073" cy="4023360"/>
          </a:xfrm>
        </p:spPr>
        <p:txBody>
          <a:bodyPr>
            <a:normAutofit/>
          </a:bodyPr>
          <a:lstStyle/>
          <a:p>
            <a:pPr>
              <a:buNone/>
            </a:pPr>
            <a:r>
              <a:rPr lang="fr-FR" sz="2800" b="1" dirty="0"/>
              <a:t>Le mécanisme responsable de l’œdème chez cette patiente est:</a:t>
            </a:r>
          </a:p>
          <a:p>
            <a:pPr>
              <a:buNone/>
            </a:pPr>
            <a:r>
              <a:rPr lang="fr-FR" sz="2800" dirty="0">
                <a:solidFill>
                  <a:srgbClr val="FF0000"/>
                </a:solidFill>
              </a:rPr>
              <a:t>A- rétention hydrosodée</a:t>
            </a:r>
          </a:p>
          <a:p>
            <a:pPr>
              <a:buNone/>
            </a:pPr>
            <a:r>
              <a:rPr lang="fr-FR" sz="2800" dirty="0"/>
              <a:t>B- une augmentation de la pression hydrostatique au pole artériolaire</a:t>
            </a:r>
          </a:p>
          <a:p>
            <a:pPr>
              <a:buNone/>
            </a:pPr>
            <a:r>
              <a:rPr lang="fr-FR" sz="2800" dirty="0"/>
              <a:t>C- une diminution de la résorption lymphatique</a:t>
            </a:r>
          </a:p>
          <a:p>
            <a:pPr>
              <a:buNone/>
            </a:pPr>
            <a:r>
              <a:rPr lang="fr-FR" sz="2800" dirty="0"/>
              <a:t>D- une réabsorption sodium au tube distale dépendante de SRAA</a:t>
            </a:r>
          </a:p>
          <a:p>
            <a:pPr>
              <a:buNone/>
            </a:pPr>
            <a:r>
              <a:rPr lang="fr-FR" sz="2800" dirty="0"/>
              <a:t>E- Un défaut de synthèse de l’albumine</a:t>
            </a:r>
          </a:p>
        </p:txBody>
      </p:sp>
    </p:spTree>
    <p:extLst>
      <p:ext uri="{BB962C8B-B14F-4D97-AF65-F5344CB8AC3E}">
        <p14:creationId xmlns:p14="http://schemas.microsoft.com/office/powerpoint/2010/main" val="2297706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Q2:</a:t>
            </a:r>
          </a:p>
        </p:txBody>
      </p:sp>
      <p:sp>
        <p:nvSpPr>
          <p:cNvPr id="3" name="Espace réservé du contenu 2"/>
          <p:cNvSpPr>
            <a:spLocks noGrp="1"/>
          </p:cNvSpPr>
          <p:nvPr>
            <p:ph sz="quarter" idx="1"/>
          </p:nvPr>
        </p:nvSpPr>
        <p:spPr>
          <a:xfrm>
            <a:off x="1608943" y="1730597"/>
            <a:ext cx="8550442" cy="4338654"/>
          </a:xfrm>
        </p:spPr>
        <p:txBody>
          <a:bodyPr>
            <a:normAutofit/>
          </a:bodyPr>
          <a:lstStyle/>
          <a:p>
            <a:pPr>
              <a:buNone/>
            </a:pPr>
            <a:r>
              <a:rPr lang="fr-FR" sz="2800" b="1" dirty="0"/>
              <a:t>Les caractéristiques de l’œdème chez cette patiente seront</a:t>
            </a:r>
            <a:r>
              <a:rPr lang="fr-FR" sz="2800" dirty="0"/>
              <a:t>:</a:t>
            </a:r>
          </a:p>
          <a:p>
            <a:pPr>
              <a:buNone/>
            </a:pPr>
            <a:endParaRPr lang="fr-FR" sz="2800" dirty="0"/>
          </a:p>
          <a:p>
            <a:pPr>
              <a:buNone/>
            </a:pPr>
            <a:r>
              <a:rPr lang="fr-FR" sz="2800" dirty="0">
                <a:solidFill>
                  <a:srgbClr val="FF0000"/>
                </a:solidFill>
              </a:rPr>
              <a:t>A- mou</a:t>
            </a:r>
          </a:p>
          <a:p>
            <a:pPr>
              <a:buNone/>
            </a:pPr>
            <a:r>
              <a:rPr lang="fr-FR" sz="2800" dirty="0"/>
              <a:t>B- élastique</a:t>
            </a:r>
          </a:p>
          <a:p>
            <a:pPr>
              <a:buNone/>
            </a:pPr>
            <a:r>
              <a:rPr lang="fr-FR" sz="2800" dirty="0">
                <a:solidFill>
                  <a:srgbClr val="FF0000"/>
                </a:solidFill>
              </a:rPr>
              <a:t>C-blanc</a:t>
            </a:r>
          </a:p>
          <a:p>
            <a:pPr>
              <a:buNone/>
            </a:pPr>
            <a:r>
              <a:rPr lang="fr-FR" sz="2800" dirty="0"/>
              <a:t>D- ne prenant pas le godet </a:t>
            </a:r>
          </a:p>
          <a:p>
            <a:pPr>
              <a:buNone/>
            </a:pPr>
            <a:r>
              <a:rPr lang="fr-FR" sz="2800" dirty="0">
                <a:solidFill>
                  <a:srgbClr val="FF0000"/>
                </a:solidFill>
              </a:rPr>
              <a:t>E- généralisée</a:t>
            </a:r>
          </a:p>
        </p:txBody>
      </p:sp>
    </p:spTree>
    <p:extLst>
      <p:ext uri="{BB962C8B-B14F-4D97-AF65-F5344CB8AC3E}">
        <p14:creationId xmlns:p14="http://schemas.microsoft.com/office/powerpoint/2010/main" val="25227589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Q3:</a:t>
            </a:r>
          </a:p>
        </p:txBody>
      </p:sp>
      <p:sp>
        <p:nvSpPr>
          <p:cNvPr id="3" name="Espace réservé du contenu 2"/>
          <p:cNvSpPr>
            <a:spLocks noGrp="1"/>
          </p:cNvSpPr>
          <p:nvPr>
            <p:ph sz="quarter" idx="1"/>
          </p:nvPr>
        </p:nvSpPr>
        <p:spPr>
          <a:xfrm>
            <a:off x="1144444" y="1953266"/>
            <a:ext cx="9720073" cy="4023360"/>
          </a:xfrm>
        </p:spPr>
        <p:txBody>
          <a:bodyPr>
            <a:normAutofit/>
          </a:bodyPr>
          <a:lstStyle/>
          <a:p>
            <a:pPr>
              <a:buNone/>
            </a:pPr>
            <a:r>
              <a:rPr lang="fr-FR" sz="2400" b="1" dirty="0"/>
              <a:t>Le diagnostic étiologique  le plus probable est:</a:t>
            </a:r>
          </a:p>
          <a:p>
            <a:pPr>
              <a:buNone/>
            </a:pPr>
            <a:r>
              <a:rPr lang="fr-FR" sz="2400" dirty="0"/>
              <a:t> </a:t>
            </a:r>
          </a:p>
          <a:p>
            <a:pPr>
              <a:buNone/>
            </a:pPr>
            <a:r>
              <a:rPr lang="fr-FR" sz="2400" dirty="0"/>
              <a:t> A. Une glomérulonéphrite mésangiale à dépôts d’IgA</a:t>
            </a:r>
          </a:p>
          <a:p>
            <a:pPr>
              <a:buNone/>
            </a:pPr>
            <a:r>
              <a:rPr lang="fr-FR" sz="2400" dirty="0"/>
              <a:t> B. Une infection urinaire </a:t>
            </a:r>
          </a:p>
          <a:p>
            <a:pPr>
              <a:buNone/>
            </a:pPr>
            <a:r>
              <a:rPr lang="fr-FR" sz="2400" dirty="0"/>
              <a:t> C. Un reflux vésico-urétéral</a:t>
            </a:r>
          </a:p>
          <a:p>
            <a:pPr>
              <a:buNone/>
            </a:pPr>
            <a:r>
              <a:rPr lang="fr-FR" sz="2400" dirty="0">
                <a:solidFill>
                  <a:srgbClr val="FF0000"/>
                </a:solidFill>
              </a:rPr>
              <a:t> D. Une glomérulonéphrite aigue post-streptococcique </a:t>
            </a:r>
          </a:p>
          <a:p>
            <a:pPr>
              <a:buNone/>
            </a:pPr>
            <a:r>
              <a:rPr lang="fr-FR" sz="2400" dirty="0"/>
              <a:t> E. Une glomérulonéphrite membrano-proliférative</a:t>
            </a:r>
          </a:p>
        </p:txBody>
      </p:sp>
    </p:spTree>
    <p:extLst>
      <p:ext uri="{BB962C8B-B14F-4D97-AF65-F5344CB8AC3E}">
        <p14:creationId xmlns:p14="http://schemas.microsoft.com/office/powerpoint/2010/main" val="4487123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Cas clinique n°3:</a:t>
            </a:r>
          </a:p>
        </p:txBody>
      </p:sp>
      <p:sp>
        <p:nvSpPr>
          <p:cNvPr id="3" name="Espace réservé du contenu 2"/>
          <p:cNvSpPr>
            <a:spLocks noGrp="1"/>
          </p:cNvSpPr>
          <p:nvPr>
            <p:ph sz="quarter" idx="1"/>
          </p:nvPr>
        </p:nvSpPr>
        <p:spPr>
          <a:xfrm>
            <a:off x="1024128" y="2084832"/>
            <a:ext cx="10141177" cy="4023360"/>
          </a:xfrm>
        </p:spPr>
        <p:txBody>
          <a:bodyPr>
            <a:normAutofit/>
          </a:bodyPr>
          <a:lstStyle/>
          <a:p>
            <a:pPr algn="just">
              <a:buFont typeface="Wingdings" panose="05000000000000000000" pitchFamily="2" charset="2"/>
              <a:buChar char="§"/>
            </a:pPr>
            <a:r>
              <a:rPr lang="fr-FR" sz="3200" dirty="0"/>
              <a:t> un homme 26 ans, chez qui apparaissait une phlyctène purulente de la pointe du nez 12heures après une piqûre d’insecte. Après manipulation, il développait un œdème et érythème du visage.</a:t>
            </a:r>
          </a:p>
          <a:p>
            <a:pPr algn="just">
              <a:buFont typeface="Wingdings" panose="05000000000000000000" pitchFamily="2" charset="2"/>
              <a:buChar char="§"/>
            </a:pPr>
            <a:r>
              <a:rPr lang="fr-FR" sz="3200" dirty="0"/>
              <a:t>  L’examen trouvait une fièvre à 41°C, un important œdème inflammatoire </a:t>
            </a:r>
            <a:r>
              <a:rPr lang="fr-FR" sz="3200" dirty="0" err="1"/>
              <a:t>centro</a:t>
            </a:r>
            <a:r>
              <a:rPr lang="fr-FR" sz="3200" dirty="0"/>
              <a:t>-facial et un placard érythémateux mal limité, chaud, douloureux surmonté de croûtes s’étendant aux paupières et front. </a:t>
            </a:r>
          </a:p>
        </p:txBody>
      </p:sp>
    </p:spTree>
    <p:extLst>
      <p:ext uri="{BB962C8B-B14F-4D97-AF65-F5344CB8AC3E}">
        <p14:creationId xmlns:p14="http://schemas.microsoft.com/office/powerpoint/2010/main" val="19357443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Q1:</a:t>
            </a:r>
          </a:p>
        </p:txBody>
      </p:sp>
      <p:sp>
        <p:nvSpPr>
          <p:cNvPr id="3" name="Espace réservé du contenu 2"/>
          <p:cNvSpPr>
            <a:spLocks noGrp="1"/>
          </p:cNvSpPr>
          <p:nvPr>
            <p:ph sz="quarter" idx="1"/>
          </p:nvPr>
        </p:nvSpPr>
        <p:spPr>
          <a:xfrm>
            <a:off x="2089484" y="1712495"/>
            <a:ext cx="7772400" cy="3481398"/>
          </a:xfrm>
        </p:spPr>
        <p:txBody>
          <a:bodyPr>
            <a:noAutofit/>
          </a:bodyPr>
          <a:lstStyle/>
          <a:p>
            <a:pPr>
              <a:buNone/>
            </a:pPr>
            <a:r>
              <a:rPr lang="fr-FR" sz="2800" b="1" dirty="0"/>
              <a:t>Les éléments de sévérité de cet œdème sont:</a:t>
            </a:r>
          </a:p>
          <a:p>
            <a:pPr>
              <a:buNone/>
            </a:pPr>
            <a:endParaRPr lang="fr-FR" sz="2800" dirty="0"/>
          </a:p>
          <a:p>
            <a:pPr>
              <a:buNone/>
            </a:pPr>
            <a:r>
              <a:rPr lang="fr-FR" sz="2800" dirty="0"/>
              <a:t>A- Le caractère localisé</a:t>
            </a:r>
          </a:p>
          <a:p>
            <a:pPr>
              <a:buNone/>
            </a:pPr>
            <a:r>
              <a:rPr lang="fr-FR" sz="2800" dirty="0"/>
              <a:t>B- Le type inflammatoire </a:t>
            </a:r>
          </a:p>
          <a:p>
            <a:pPr>
              <a:buNone/>
            </a:pPr>
            <a:r>
              <a:rPr lang="fr-FR" sz="2800" dirty="0">
                <a:solidFill>
                  <a:srgbClr val="FF0000"/>
                </a:solidFill>
              </a:rPr>
              <a:t>C- La fièvre</a:t>
            </a:r>
          </a:p>
          <a:p>
            <a:pPr>
              <a:buNone/>
            </a:pPr>
            <a:r>
              <a:rPr lang="fr-FR" sz="2800" dirty="0"/>
              <a:t>D- L’ âge </a:t>
            </a:r>
          </a:p>
          <a:p>
            <a:pPr>
              <a:buNone/>
            </a:pPr>
            <a:r>
              <a:rPr lang="fr-FR" sz="2800" dirty="0"/>
              <a:t>E- le siège </a:t>
            </a:r>
          </a:p>
        </p:txBody>
      </p:sp>
    </p:spTree>
    <p:extLst>
      <p:ext uri="{BB962C8B-B14F-4D97-AF65-F5344CB8AC3E}">
        <p14:creationId xmlns:p14="http://schemas.microsoft.com/office/powerpoint/2010/main" val="24834685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Q2:</a:t>
            </a:r>
          </a:p>
        </p:txBody>
      </p:sp>
      <p:sp>
        <p:nvSpPr>
          <p:cNvPr id="3" name="Espace réservé du contenu 2"/>
          <p:cNvSpPr>
            <a:spLocks noGrp="1"/>
          </p:cNvSpPr>
          <p:nvPr>
            <p:ph sz="quarter" idx="1"/>
          </p:nvPr>
        </p:nvSpPr>
        <p:spPr>
          <a:xfrm>
            <a:off x="1414558" y="1857686"/>
            <a:ext cx="9720073" cy="4023360"/>
          </a:xfrm>
        </p:spPr>
        <p:txBody>
          <a:bodyPr>
            <a:normAutofit/>
          </a:bodyPr>
          <a:lstStyle/>
          <a:p>
            <a:pPr>
              <a:buNone/>
            </a:pPr>
            <a:endParaRPr lang="fr-FR" sz="2800" b="1" dirty="0"/>
          </a:p>
          <a:p>
            <a:pPr>
              <a:buNone/>
            </a:pPr>
            <a:r>
              <a:rPr lang="fr-FR" sz="2800" b="1" dirty="0"/>
              <a:t>Le diagnostic le plus probable est:</a:t>
            </a:r>
          </a:p>
          <a:p>
            <a:pPr>
              <a:buNone/>
            </a:pPr>
            <a:r>
              <a:rPr lang="fr-FR" sz="2800" dirty="0">
                <a:solidFill>
                  <a:srgbClr val="FF0000"/>
                </a:solidFill>
              </a:rPr>
              <a:t>A- Une staphylococcie de la face</a:t>
            </a:r>
          </a:p>
          <a:p>
            <a:pPr>
              <a:buNone/>
            </a:pPr>
            <a:r>
              <a:rPr lang="fr-FR" sz="2800" dirty="0"/>
              <a:t>B-  une éthmoidite aigue</a:t>
            </a:r>
          </a:p>
          <a:p>
            <a:pPr>
              <a:buNone/>
            </a:pPr>
            <a:r>
              <a:rPr lang="fr-FR" sz="2800" dirty="0"/>
              <a:t>C- un œdème angioneurotique</a:t>
            </a:r>
          </a:p>
          <a:p>
            <a:pPr>
              <a:buNone/>
            </a:pPr>
            <a:r>
              <a:rPr lang="fr-FR" sz="2800" dirty="0"/>
              <a:t>D- un lupus systémique</a:t>
            </a:r>
          </a:p>
          <a:p>
            <a:pPr>
              <a:buNone/>
            </a:pPr>
            <a:r>
              <a:rPr lang="fr-FR" sz="2800" dirty="0"/>
              <a:t>E- une dermatomyosite</a:t>
            </a:r>
          </a:p>
        </p:txBody>
      </p:sp>
    </p:spTree>
    <p:extLst>
      <p:ext uri="{BB962C8B-B14F-4D97-AF65-F5344CB8AC3E}">
        <p14:creationId xmlns:p14="http://schemas.microsoft.com/office/powerpoint/2010/main" val="6810061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Q3:</a:t>
            </a:r>
          </a:p>
        </p:txBody>
      </p:sp>
      <p:sp>
        <p:nvSpPr>
          <p:cNvPr id="3" name="Espace réservé du contenu 2"/>
          <p:cNvSpPr>
            <a:spLocks noGrp="1"/>
          </p:cNvSpPr>
          <p:nvPr>
            <p:ph sz="quarter" idx="1"/>
          </p:nvPr>
        </p:nvSpPr>
        <p:spPr>
          <a:xfrm>
            <a:off x="1048191" y="1875887"/>
            <a:ext cx="9720073" cy="4023360"/>
          </a:xfrm>
        </p:spPr>
        <p:txBody>
          <a:bodyPr>
            <a:normAutofit/>
          </a:bodyPr>
          <a:lstStyle/>
          <a:p>
            <a:pPr>
              <a:buNone/>
            </a:pPr>
            <a:r>
              <a:rPr lang="fr-FR" sz="2800" b="1" dirty="0"/>
              <a:t>Votre attitude thérapeutique est:</a:t>
            </a:r>
          </a:p>
          <a:p>
            <a:pPr>
              <a:buNone/>
            </a:pPr>
            <a:endParaRPr lang="fr-FR" sz="2800" dirty="0"/>
          </a:p>
          <a:p>
            <a:pPr>
              <a:buNone/>
            </a:pPr>
            <a:r>
              <a:rPr lang="fr-FR" sz="2800" dirty="0">
                <a:solidFill>
                  <a:srgbClr val="FF0000"/>
                </a:solidFill>
              </a:rPr>
              <a:t>A- Une antibiothérapie urgente</a:t>
            </a:r>
          </a:p>
          <a:p>
            <a:pPr>
              <a:buNone/>
            </a:pPr>
            <a:r>
              <a:rPr lang="fr-FR" sz="2800" dirty="0">
                <a:solidFill>
                  <a:srgbClr val="FF0000"/>
                </a:solidFill>
              </a:rPr>
              <a:t>B- Une hospitalisation</a:t>
            </a:r>
          </a:p>
          <a:p>
            <a:pPr>
              <a:buNone/>
            </a:pPr>
            <a:r>
              <a:rPr lang="fr-FR" sz="2800" dirty="0"/>
              <a:t>C- Un diurétique</a:t>
            </a:r>
          </a:p>
          <a:p>
            <a:pPr>
              <a:buNone/>
            </a:pPr>
            <a:r>
              <a:rPr lang="fr-FR" sz="2800" dirty="0"/>
              <a:t>D- Un AINS</a:t>
            </a:r>
          </a:p>
          <a:p>
            <a:pPr>
              <a:buNone/>
            </a:pPr>
            <a:r>
              <a:rPr lang="fr-FR" sz="2800" dirty="0"/>
              <a:t>E- Un anti histaminique</a:t>
            </a:r>
          </a:p>
        </p:txBody>
      </p:sp>
    </p:spTree>
    <p:extLst>
      <p:ext uri="{BB962C8B-B14F-4D97-AF65-F5344CB8AC3E}">
        <p14:creationId xmlns:p14="http://schemas.microsoft.com/office/powerpoint/2010/main" val="6721871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Cas clinique n°4:</a:t>
            </a:r>
          </a:p>
        </p:txBody>
      </p:sp>
      <p:sp>
        <p:nvSpPr>
          <p:cNvPr id="3" name="Espace réservé du contenu 2"/>
          <p:cNvSpPr>
            <a:spLocks noGrp="1"/>
          </p:cNvSpPr>
          <p:nvPr>
            <p:ph sz="quarter" idx="1"/>
          </p:nvPr>
        </p:nvSpPr>
        <p:spPr/>
        <p:txBody>
          <a:bodyPr>
            <a:normAutofit/>
          </a:bodyPr>
          <a:lstStyle/>
          <a:p>
            <a:pPr algn="just"/>
            <a:r>
              <a:rPr lang="fr-FR" dirty="0"/>
              <a:t>Un  jeune femme de 25 ans, vient vous voir en urgence pour un volumineux œdème de la lèvre supérieure apparu une heure auparavant. </a:t>
            </a:r>
          </a:p>
          <a:p>
            <a:pPr algn="just"/>
            <a:r>
              <a:rPr lang="fr-FR" dirty="0"/>
              <a:t>Vous apprenez que l'apparition de cet œdème fait suite à la prise de 2 comprimés d'ampicilline pris pour un mal de gorge.</a:t>
            </a:r>
          </a:p>
          <a:p>
            <a:pPr algn="just"/>
            <a:r>
              <a:rPr lang="fr-FR" dirty="0"/>
              <a:t> A l'examen, il n'y a pas de gêne respiratoire ni de dysphagie. Par contre, vous trouvez des lésions papuleuses et érythémateuses, arrondies et entourées d'un halo blanc, de la racine des cuisses, des avant-bras et sur le tronc.</a:t>
            </a:r>
          </a:p>
          <a:p>
            <a:pPr algn="just"/>
            <a:r>
              <a:rPr lang="fr-FR" dirty="0"/>
              <a:t> C'est le premier épisode de ce genre.</a:t>
            </a:r>
          </a:p>
        </p:txBody>
      </p:sp>
    </p:spTree>
    <p:extLst>
      <p:ext uri="{BB962C8B-B14F-4D97-AF65-F5344CB8AC3E}">
        <p14:creationId xmlns:p14="http://schemas.microsoft.com/office/powerpoint/2010/main" val="12032425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Q1:</a:t>
            </a:r>
          </a:p>
        </p:txBody>
      </p:sp>
      <p:sp>
        <p:nvSpPr>
          <p:cNvPr id="3" name="Espace réservé du contenu 2"/>
          <p:cNvSpPr>
            <a:spLocks noGrp="1"/>
          </p:cNvSpPr>
          <p:nvPr>
            <p:ph sz="quarter" idx="1"/>
          </p:nvPr>
        </p:nvSpPr>
        <p:spPr/>
        <p:txBody>
          <a:bodyPr/>
          <a:lstStyle/>
          <a:p>
            <a:pPr>
              <a:buNone/>
            </a:pPr>
            <a:r>
              <a:rPr lang="fr-FR" b="1" dirty="0"/>
              <a:t>L’œdème chez ce malade est:</a:t>
            </a:r>
          </a:p>
          <a:p>
            <a:pPr>
              <a:buNone/>
            </a:pPr>
            <a:endParaRPr lang="fr-FR" dirty="0"/>
          </a:p>
          <a:p>
            <a:pPr>
              <a:buNone/>
            </a:pPr>
            <a:r>
              <a:rPr lang="fr-FR" dirty="0"/>
              <a:t>A- Localisé</a:t>
            </a:r>
          </a:p>
          <a:p>
            <a:pPr>
              <a:buNone/>
            </a:pPr>
            <a:r>
              <a:rPr lang="fr-FR" dirty="0">
                <a:solidFill>
                  <a:srgbClr val="FF0000"/>
                </a:solidFill>
              </a:rPr>
              <a:t>B- est de type histaminique</a:t>
            </a:r>
          </a:p>
          <a:p>
            <a:pPr>
              <a:buNone/>
            </a:pPr>
            <a:r>
              <a:rPr lang="fr-FR" dirty="0"/>
              <a:t>C- douloureux</a:t>
            </a:r>
          </a:p>
          <a:p>
            <a:pPr>
              <a:buNone/>
            </a:pPr>
            <a:r>
              <a:rPr lang="fr-FR" dirty="0"/>
              <a:t>D- inflammatoire</a:t>
            </a:r>
          </a:p>
          <a:p>
            <a:pPr>
              <a:buNone/>
            </a:pPr>
            <a:r>
              <a:rPr lang="fr-FR" dirty="0"/>
              <a:t>E- est héréditaire</a:t>
            </a:r>
          </a:p>
        </p:txBody>
      </p:sp>
    </p:spTree>
    <p:extLst>
      <p:ext uri="{BB962C8B-B14F-4D97-AF65-F5344CB8AC3E}">
        <p14:creationId xmlns:p14="http://schemas.microsoft.com/office/powerpoint/2010/main" val="32157304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Q2:</a:t>
            </a:r>
          </a:p>
        </p:txBody>
      </p:sp>
      <p:sp>
        <p:nvSpPr>
          <p:cNvPr id="3" name="Espace réservé du contenu 2"/>
          <p:cNvSpPr>
            <a:spLocks noGrp="1"/>
          </p:cNvSpPr>
          <p:nvPr>
            <p:ph sz="quarter" idx="1"/>
          </p:nvPr>
        </p:nvSpPr>
        <p:spPr/>
        <p:txBody>
          <a:bodyPr/>
          <a:lstStyle/>
          <a:p>
            <a:pPr>
              <a:buNone/>
            </a:pPr>
            <a:r>
              <a:rPr lang="fr-FR" b="1" dirty="0"/>
              <a:t>Le mécanisme de cet œdème est </a:t>
            </a:r>
          </a:p>
          <a:p>
            <a:pPr>
              <a:buNone/>
            </a:pPr>
            <a:endParaRPr lang="fr-FR" dirty="0"/>
          </a:p>
          <a:p>
            <a:pPr>
              <a:buNone/>
            </a:pPr>
            <a:r>
              <a:rPr lang="fr-FR" dirty="0">
                <a:solidFill>
                  <a:srgbClr val="FF0000"/>
                </a:solidFill>
              </a:rPr>
              <a:t>A- une hyperperméabilité capillaire liée à l’histamine</a:t>
            </a:r>
          </a:p>
          <a:p>
            <a:pPr>
              <a:buNone/>
            </a:pPr>
            <a:r>
              <a:rPr lang="fr-FR" dirty="0"/>
              <a:t>B- une hyperperméabilité capillaire liée à la bradykinine</a:t>
            </a:r>
          </a:p>
          <a:p>
            <a:pPr>
              <a:buNone/>
            </a:pPr>
            <a:r>
              <a:rPr lang="fr-FR" dirty="0"/>
              <a:t>C- une insuffisance lutéale</a:t>
            </a:r>
          </a:p>
          <a:p>
            <a:pPr>
              <a:buNone/>
            </a:pPr>
            <a:r>
              <a:rPr lang="fr-FR" dirty="0"/>
              <a:t>D- une rétention hydro sodée</a:t>
            </a:r>
          </a:p>
          <a:p>
            <a:pPr>
              <a:buNone/>
            </a:pPr>
            <a:r>
              <a:rPr lang="fr-FR" dirty="0"/>
              <a:t>E- une angiodysplasie veineuse</a:t>
            </a:r>
          </a:p>
        </p:txBody>
      </p:sp>
    </p:spTree>
    <p:extLst>
      <p:ext uri="{BB962C8B-B14F-4D97-AF65-F5344CB8AC3E}">
        <p14:creationId xmlns:p14="http://schemas.microsoft.com/office/powerpoint/2010/main" val="10433049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Q3:</a:t>
            </a:r>
          </a:p>
        </p:txBody>
      </p:sp>
      <p:sp>
        <p:nvSpPr>
          <p:cNvPr id="3" name="Espace réservé du contenu 2"/>
          <p:cNvSpPr>
            <a:spLocks noGrp="1"/>
          </p:cNvSpPr>
          <p:nvPr>
            <p:ph sz="quarter" idx="1"/>
          </p:nvPr>
        </p:nvSpPr>
        <p:spPr/>
        <p:txBody>
          <a:bodyPr/>
          <a:lstStyle/>
          <a:p>
            <a:pPr>
              <a:buNone/>
            </a:pPr>
            <a:r>
              <a:rPr lang="fr-FR" b="1" dirty="0"/>
              <a:t>Les risques encourus chez cette patiente sont:</a:t>
            </a:r>
          </a:p>
          <a:p>
            <a:pPr>
              <a:buNone/>
            </a:pPr>
            <a:endParaRPr lang="fr-FR" b="1" dirty="0"/>
          </a:p>
          <a:p>
            <a:pPr>
              <a:buNone/>
            </a:pPr>
            <a:r>
              <a:rPr lang="fr-FR" dirty="0">
                <a:solidFill>
                  <a:srgbClr val="FF0000"/>
                </a:solidFill>
              </a:rPr>
              <a:t>A- une détresse respiratoire</a:t>
            </a:r>
          </a:p>
          <a:p>
            <a:pPr>
              <a:buNone/>
            </a:pPr>
            <a:r>
              <a:rPr lang="fr-FR" dirty="0">
                <a:solidFill>
                  <a:srgbClr val="FF0000"/>
                </a:solidFill>
              </a:rPr>
              <a:t>B- un choc vasoplégique</a:t>
            </a:r>
          </a:p>
          <a:p>
            <a:pPr>
              <a:buNone/>
            </a:pPr>
            <a:r>
              <a:rPr lang="fr-FR" dirty="0">
                <a:solidFill>
                  <a:srgbClr val="FF0000"/>
                </a:solidFill>
              </a:rPr>
              <a:t>C- un œdème de Quincke</a:t>
            </a:r>
          </a:p>
          <a:p>
            <a:pPr>
              <a:buNone/>
            </a:pPr>
            <a:r>
              <a:rPr lang="fr-FR" dirty="0"/>
              <a:t>D- une hémopathie maligne</a:t>
            </a:r>
          </a:p>
          <a:p>
            <a:pPr>
              <a:buNone/>
            </a:pPr>
            <a:r>
              <a:rPr lang="fr-FR" dirty="0"/>
              <a:t>E- une crise de douleur abdominale</a:t>
            </a:r>
          </a:p>
        </p:txBody>
      </p:sp>
    </p:spTree>
    <p:extLst>
      <p:ext uri="{BB962C8B-B14F-4D97-AF65-F5344CB8AC3E}">
        <p14:creationId xmlns:p14="http://schemas.microsoft.com/office/powerpoint/2010/main" val="8283312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Q4:</a:t>
            </a:r>
          </a:p>
        </p:txBody>
      </p:sp>
      <p:sp>
        <p:nvSpPr>
          <p:cNvPr id="3" name="Espace réservé du contenu 2"/>
          <p:cNvSpPr>
            <a:spLocks noGrp="1"/>
          </p:cNvSpPr>
          <p:nvPr>
            <p:ph sz="quarter" idx="1"/>
          </p:nvPr>
        </p:nvSpPr>
        <p:spPr>
          <a:xfrm>
            <a:off x="2238348" y="1714488"/>
            <a:ext cx="7772400" cy="4572000"/>
          </a:xfrm>
        </p:spPr>
        <p:txBody>
          <a:bodyPr/>
          <a:lstStyle/>
          <a:p>
            <a:pPr>
              <a:buNone/>
            </a:pPr>
            <a:r>
              <a:rPr lang="fr-FR" b="1" dirty="0"/>
              <a:t>Quelle sera votre conduite thérapeutique:</a:t>
            </a:r>
          </a:p>
          <a:p>
            <a:pPr>
              <a:buNone/>
            </a:pPr>
            <a:endParaRPr lang="fr-FR" dirty="0"/>
          </a:p>
          <a:p>
            <a:pPr>
              <a:buNone/>
            </a:pPr>
            <a:r>
              <a:rPr lang="fr-FR" dirty="0">
                <a:solidFill>
                  <a:srgbClr val="FF0000"/>
                </a:solidFill>
              </a:rPr>
              <a:t>A- Un anti- histaminique</a:t>
            </a:r>
          </a:p>
          <a:p>
            <a:pPr>
              <a:buNone/>
            </a:pPr>
            <a:r>
              <a:rPr lang="fr-FR" dirty="0"/>
              <a:t>B- un AINS</a:t>
            </a:r>
          </a:p>
          <a:p>
            <a:pPr>
              <a:buNone/>
            </a:pPr>
            <a:r>
              <a:rPr lang="fr-FR" dirty="0">
                <a:solidFill>
                  <a:srgbClr val="FF0000"/>
                </a:solidFill>
              </a:rPr>
              <a:t>C- Une éviction des betalactamines</a:t>
            </a:r>
          </a:p>
          <a:p>
            <a:pPr>
              <a:buNone/>
            </a:pPr>
            <a:r>
              <a:rPr lang="fr-FR" dirty="0"/>
              <a:t>D- un immunosuppresseur</a:t>
            </a:r>
          </a:p>
          <a:p>
            <a:pPr>
              <a:buNone/>
            </a:pPr>
            <a:r>
              <a:rPr lang="fr-FR" dirty="0"/>
              <a:t>E- une corticothérapie</a:t>
            </a:r>
          </a:p>
        </p:txBody>
      </p:sp>
    </p:spTree>
    <p:extLst>
      <p:ext uri="{BB962C8B-B14F-4D97-AF65-F5344CB8AC3E}">
        <p14:creationId xmlns:p14="http://schemas.microsoft.com/office/powerpoint/2010/main" val="8995349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a4236f98-72ce-408a-b440-d766b09a2fc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égral">
  <a:themeElements>
    <a:clrScheme name="Inté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é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é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1757</TotalTime>
  <Words>1883</Words>
  <Application>Microsoft Office PowerPoint</Application>
  <PresentationFormat>Grand écran</PresentationFormat>
  <Paragraphs>323</Paragraphs>
  <Slides>49</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49</vt:i4>
      </vt:variant>
    </vt:vector>
  </HeadingPairs>
  <TitlesOfParts>
    <vt:vector size="54" baseType="lpstr">
      <vt:lpstr>Tw Cen MT</vt:lpstr>
      <vt:lpstr>Tw Cen MT Condensed</vt:lpstr>
      <vt:lpstr>Wingdings</vt:lpstr>
      <vt:lpstr>Wingdings 3</vt:lpstr>
      <vt:lpstr>Intégral</vt:lpstr>
      <vt:lpstr>Evaluation : cours œdème</vt:lpstr>
      <vt:lpstr>Présentation PowerPoint</vt:lpstr>
      <vt:lpstr>QCM1:</vt:lpstr>
      <vt:lpstr>QCM2:</vt:lpstr>
      <vt:lpstr>QCM3:</vt:lpstr>
      <vt:lpstr>QCM4:</vt:lpstr>
      <vt:lpstr>QCM5:</vt:lpstr>
      <vt:lpstr>qcm6:</vt:lpstr>
      <vt:lpstr>qcm7:</vt:lpstr>
      <vt:lpstr>qcm8:</vt:lpstr>
      <vt:lpstr>Objectif N°2: Distinguer les œdèmes à partir de leur caractéristiques cliniques</vt:lpstr>
      <vt:lpstr>QCM9:</vt:lpstr>
      <vt:lpstr>QCM10:</vt:lpstr>
      <vt:lpstr>QCM11:</vt:lpstr>
      <vt:lpstr>QCM12:</vt:lpstr>
      <vt:lpstr>qcm13:</vt:lpstr>
      <vt:lpstr>QCM14:</vt:lpstr>
      <vt:lpstr>QCM15:</vt:lpstr>
      <vt:lpstr>QCM16:</vt:lpstr>
      <vt:lpstr>OBECTIF3: établir le diagnostic étiologique des différents types d’œdème à partir des données cliniques et para cliniques</vt:lpstr>
      <vt:lpstr> </vt:lpstr>
      <vt:lpstr>QCM18: </vt:lpstr>
      <vt:lpstr>QCM19:</vt:lpstr>
      <vt:lpstr>QCM20:</vt:lpstr>
      <vt:lpstr>QCM21:</vt:lpstr>
      <vt:lpstr>QCM22:</vt:lpstr>
      <vt:lpstr>QCM23:</vt:lpstr>
      <vt:lpstr>QCM24:</vt:lpstr>
      <vt:lpstr>QCM25:</vt:lpstr>
      <vt:lpstr>qcm26:</vt:lpstr>
      <vt:lpstr>Cas clinique n°1:</vt:lpstr>
      <vt:lpstr>Cas clinique n°1:</vt:lpstr>
      <vt:lpstr>Q1:</vt:lpstr>
      <vt:lpstr>Q2:</vt:lpstr>
      <vt:lpstr>Q3:</vt:lpstr>
      <vt:lpstr>Q4:</vt:lpstr>
      <vt:lpstr>Cas clinique n°2:</vt:lpstr>
      <vt:lpstr>Q1:</vt:lpstr>
      <vt:lpstr>Q2:</vt:lpstr>
      <vt:lpstr>Q3:</vt:lpstr>
      <vt:lpstr>Cas clinique n°3:</vt:lpstr>
      <vt:lpstr>Q1:</vt:lpstr>
      <vt:lpstr>Q2:</vt:lpstr>
      <vt:lpstr>Q3:</vt:lpstr>
      <vt:lpstr>Cas clinique n°4:</vt:lpstr>
      <vt:lpstr>Q1:</vt:lpstr>
      <vt:lpstr>Q2:</vt:lpstr>
      <vt:lpstr>Q3:</vt:lpstr>
      <vt:lpstr>Q4:</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 cours œdème</dc:title>
  <dc:creator>Lenovo</dc:creator>
  <cp:lastModifiedBy>zied.kammoun</cp:lastModifiedBy>
  <cp:revision>47</cp:revision>
  <dcterms:created xsi:type="dcterms:W3CDTF">2025-08-31T16:44:44Z</dcterms:created>
  <dcterms:modified xsi:type="dcterms:W3CDTF">2025-09-07T21:01:36Z</dcterms:modified>
</cp:coreProperties>
</file>
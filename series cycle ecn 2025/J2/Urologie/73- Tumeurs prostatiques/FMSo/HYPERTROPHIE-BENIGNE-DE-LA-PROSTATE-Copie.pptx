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71"/>
  </p:notesMasterIdLst>
  <p:sldIdLst>
    <p:sldId id="256" r:id="rId4"/>
    <p:sldId id="258" r:id="rId5"/>
    <p:sldId id="259" r:id="rId6"/>
    <p:sldId id="257" r:id="rId7"/>
    <p:sldId id="260" r:id="rId8"/>
    <p:sldId id="261" r:id="rId9"/>
    <p:sldId id="262" r:id="rId10"/>
    <p:sldId id="263" r:id="rId11"/>
    <p:sldId id="322" r:id="rId12"/>
    <p:sldId id="265" r:id="rId13"/>
    <p:sldId id="264" r:id="rId14"/>
    <p:sldId id="266" r:id="rId15"/>
    <p:sldId id="323" r:id="rId16"/>
    <p:sldId id="267" r:id="rId17"/>
    <p:sldId id="268" r:id="rId18"/>
    <p:sldId id="269" r:id="rId19"/>
    <p:sldId id="271" r:id="rId20"/>
    <p:sldId id="270" r:id="rId21"/>
    <p:sldId id="273" r:id="rId22"/>
    <p:sldId id="272" r:id="rId23"/>
    <p:sldId id="274" r:id="rId24"/>
    <p:sldId id="275" r:id="rId25"/>
    <p:sldId id="276" r:id="rId26"/>
    <p:sldId id="278" r:id="rId27"/>
    <p:sldId id="277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315" r:id="rId37"/>
    <p:sldId id="287" r:id="rId38"/>
    <p:sldId id="324" r:id="rId39"/>
    <p:sldId id="288" r:id="rId40"/>
    <p:sldId id="289" r:id="rId41"/>
    <p:sldId id="290" r:id="rId42"/>
    <p:sldId id="292" r:id="rId43"/>
    <p:sldId id="313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7" r:id="rId65"/>
    <p:sldId id="316" r:id="rId66"/>
    <p:sldId id="318" r:id="rId67"/>
    <p:sldId id="319" r:id="rId68"/>
    <p:sldId id="320" r:id="rId69"/>
    <p:sldId id="321" r:id="rId7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4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ED5C9-4DC9-4C76-BA92-79D4CE96407B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01D41-A082-4453-8561-999F0B662E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15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ge74a934a11_0_4:notes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58;ge74a934a11_0_4:notes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898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Hyperplasie : augmentation du nombre des</a:t>
            </a:r>
            <a:r>
              <a:rPr lang="fr-FR" baseline="0" dirty="0" smtClean="0"/>
              <a:t> cellules</a:t>
            </a:r>
            <a:endParaRPr lang="fr-FR" dirty="0" smtClean="0"/>
          </a:p>
          <a:p>
            <a:r>
              <a:rPr lang="fr-FR" dirty="0" smtClean="0"/>
              <a:t>Hypertrophie : augmentation de</a:t>
            </a:r>
            <a:r>
              <a:rPr lang="fr-FR" baseline="0" dirty="0" smtClean="0"/>
              <a:t> la taille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E01D41-A082-4453-8561-999F0B662ED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726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97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0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77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01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46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61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79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09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00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7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042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8635A28-F1D1-4797-A35A-7E22224876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348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1">
            <a:spLocks noGrp="1"/>
          </p:cNvSpPr>
          <p:nvPr>
            <p:ph type="ctrTitle"/>
          </p:nvPr>
        </p:nvSpPr>
        <p:spPr>
          <a:xfrm>
            <a:off x="415612" y="992770"/>
            <a:ext cx="11360797" cy="2736799"/>
          </a:xfrm>
        </p:spPr>
        <p:txBody>
          <a:bodyPr anchor="b" anchorCtr="1"/>
          <a:lstStyle>
            <a:lvl1pPr algn="ctr">
              <a:defRPr sz="6933"/>
            </a:lvl1pPr>
          </a:lstStyle>
          <a:p>
            <a:pPr lvl="0"/>
            <a:endParaRPr lang="fr-FR"/>
          </a:p>
        </p:txBody>
      </p:sp>
      <p:sp>
        <p:nvSpPr>
          <p:cNvPr id="3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7"/>
            <a:ext cx="11360797" cy="1056801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3733"/>
            </a:lvl1pPr>
          </a:lstStyle>
          <a:p>
            <a:pPr lvl="0"/>
            <a:endParaRPr lang="fr-FR"/>
          </a:p>
        </p:txBody>
      </p:sp>
      <p:sp>
        <p:nvSpPr>
          <p:cNvPr id="4" name="Google Shape;12;p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731EDAA7-DA01-4EE1-B7C9-D2688F98180A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51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8635A28-F1D1-4797-A35A-7E22224876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70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18;p4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19;p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F2210668-0F2A-47AB-ADB6-4240F464C23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48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4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3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5" name="Google Shape;24;p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BA8684D3-AC56-44E5-B611-BE036CD3221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981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7;p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AA3C5E0-9F65-429E-A487-2D946D8A3A9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2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/>
          <p:cNvSpPr txBox="1">
            <a:spLocks noGrp="1"/>
          </p:cNvSpPr>
          <p:nvPr>
            <p:ph type="title"/>
          </p:nvPr>
        </p:nvSpPr>
        <p:spPr>
          <a:xfrm>
            <a:off x="415601" y="740797"/>
            <a:ext cx="3744004" cy="1007595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fr-FR"/>
          </a:p>
        </p:txBody>
      </p:sp>
      <p:sp>
        <p:nvSpPr>
          <p:cNvPr id="3" name="Google Shape;30;p7"/>
          <p:cNvSpPr txBox="1">
            <a:spLocks noGrp="1"/>
          </p:cNvSpPr>
          <p:nvPr>
            <p:ph type="body" idx="4294967295"/>
          </p:nvPr>
        </p:nvSpPr>
        <p:spPr>
          <a:xfrm>
            <a:off x="415601" y="1852805"/>
            <a:ext cx="3744004" cy="4239195"/>
          </a:xfrm>
        </p:spPr>
        <p:txBody>
          <a:bodyPr/>
          <a:lstStyle>
            <a:lvl1pPr indent="-406385">
              <a:buSzPts val="1200"/>
              <a:defRPr sz="1600"/>
            </a:lvl1pPr>
          </a:lstStyle>
          <a:p>
            <a:pPr lvl="0"/>
            <a:endParaRPr lang="fr-FR"/>
          </a:p>
        </p:txBody>
      </p:sp>
      <p:sp>
        <p:nvSpPr>
          <p:cNvPr id="4" name="Google Shape;31;p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8ACB4ADA-3E79-4894-8E62-8410DECB09D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414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/>
          <p:cNvSpPr txBox="1">
            <a:spLocks noGrp="1"/>
          </p:cNvSpPr>
          <p:nvPr>
            <p:ph type="title"/>
          </p:nvPr>
        </p:nvSpPr>
        <p:spPr>
          <a:xfrm>
            <a:off x="653662" y="600199"/>
            <a:ext cx="8490399" cy="5454396"/>
          </a:xfrm>
        </p:spPr>
        <p:txBody>
          <a:bodyPr anchor="ctr"/>
          <a:lstStyle>
            <a:lvl1pPr>
              <a:defRPr sz="6400"/>
            </a:lvl1pPr>
          </a:lstStyle>
          <a:p>
            <a:pPr lvl="0"/>
            <a:endParaRPr lang="fr-FR"/>
          </a:p>
        </p:txBody>
      </p:sp>
      <p:sp>
        <p:nvSpPr>
          <p:cNvPr id="3" name="Google Shape;34;p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DE0BE18-193F-48F6-93CA-15042FD74E3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08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/>
          <p:nvPr/>
        </p:nvSpPr>
        <p:spPr>
          <a:xfrm>
            <a:off x="6096000" y="-170"/>
            <a:ext cx="6096000" cy="6857999"/>
          </a:xfrm>
          <a:prstGeom prst="rect">
            <a:avLst/>
          </a:prstGeom>
          <a:solidFill>
            <a:srgbClr val="EEEEEE"/>
          </a:solidFill>
          <a:ln cap="flat">
            <a:noFill/>
            <a:prstDash val="solid"/>
          </a:ln>
        </p:spPr>
        <p:txBody>
          <a:bodyPr vert="horz" wrap="square" lIns="121895" tIns="121895" rIns="121895" bIns="121895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67" kern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37;p9"/>
          <p:cNvSpPr txBox="1">
            <a:spLocks noGrp="1"/>
          </p:cNvSpPr>
          <p:nvPr>
            <p:ph type="title"/>
          </p:nvPr>
        </p:nvSpPr>
        <p:spPr>
          <a:xfrm>
            <a:off x="353996" y="1644238"/>
            <a:ext cx="5393593" cy="1976396"/>
          </a:xfrm>
        </p:spPr>
        <p:txBody>
          <a:bodyPr anchor="b" anchorCtr="1"/>
          <a:lstStyle>
            <a:lvl1pPr algn="ctr">
              <a:defRPr sz="5600"/>
            </a:lvl1pPr>
          </a:lstStyle>
          <a:p>
            <a:pPr lvl="0"/>
            <a:endParaRPr lang="fr-FR"/>
          </a:p>
        </p:txBody>
      </p:sp>
      <p:sp>
        <p:nvSpPr>
          <p:cNvPr id="4" name="Google Shape;38;p9"/>
          <p:cNvSpPr txBox="1">
            <a:spLocks noGrp="1"/>
          </p:cNvSpPr>
          <p:nvPr>
            <p:ph type="subTitle" idx="4294967295"/>
          </p:nvPr>
        </p:nvSpPr>
        <p:spPr>
          <a:xfrm>
            <a:off x="353996" y="3737432"/>
            <a:ext cx="5393593" cy="1646797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800"/>
            </a:lvl1pPr>
          </a:lstStyle>
          <a:p>
            <a:pPr lvl="0"/>
            <a:endParaRPr lang="fr-FR"/>
          </a:p>
        </p:txBody>
      </p:sp>
      <p:sp>
        <p:nvSpPr>
          <p:cNvPr id="5" name="Google Shape;39;p9"/>
          <p:cNvSpPr txBox="1">
            <a:spLocks noGrp="1"/>
          </p:cNvSpPr>
          <p:nvPr>
            <p:ph type="body" idx="4294967295"/>
          </p:nvPr>
        </p:nvSpPr>
        <p:spPr>
          <a:xfrm>
            <a:off x="6585996" y="965435"/>
            <a:ext cx="5115995" cy="4926799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AC18E2C-5BDD-4786-9C28-8F20F6CD511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358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/>
          <p:cNvSpPr txBox="1">
            <a:spLocks noGrp="1"/>
          </p:cNvSpPr>
          <p:nvPr>
            <p:ph type="body" idx="4294967295"/>
          </p:nvPr>
        </p:nvSpPr>
        <p:spPr>
          <a:xfrm>
            <a:off x="415600" y="5640763"/>
            <a:ext cx="7998403" cy="806805"/>
          </a:xfrm>
        </p:spPr>
        <p:txBody>
          <a:bodyPr anchor="ctr"/>
          <a:lstStyle>
            <a:lvl1pPr indent="-304792">
              <a:lnSpc>
                <a:spcPct val="100000"/>
              </a:lnSpc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43;p10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B9B588AC-0BD0-4895-9931-94B1D8140D2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37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/>
          <p:cNvSpPr txBox="1">
            <a:spLocks noGrp="1"/>
          </p:cNvSpPr>
          <p:nvPr>
            <p:ph type="title"/>
          </p:nvPr>
        </p:nvSpPr>
        <p:spPr>
          <a:xfrm>
            <a:off x="415600" y="1474829"/>
            <a:ext cx="11360797" cy="2618000"/>
          </a:xfrm>
        </p:spPr>
        <p:txBody>
          <a:bodyPr anchor="b" anchorCtr="1"/>
          <a:lstStyle>
            <a:lvl1pPr algn="ctr">
              <a:defRPr sz="16000"/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46;p11"/>
          <p:cNvSpPr txBox="1">
            <a:spLocks noGrp="1"/>
          </p:cNvSpPr>
          <p:nvPr>
            <p:ph type="body" idx="4294967295"/>
          </p:nvPr>
        </p:nvSpPr>
        <p:spPr>
          <a:xfrm>
            <a:off x="415600" y="4202972"/>
            <a:ext cx="11360797" cy="1734397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47;p1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849566A-8594-4E09-9B0E-6B33AE6CB033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88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6F5619B-6FE7-4142-9F40-1A087AACC9D6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15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1">
            <a:spLocks noGrp="1"/>
          </p:cNvSpPr>
          <p:nvPr>
            <p:ph type="ctrTitle"/>
          </p:nvPr>
        </p:nvSpPr>
        <p:spPr>
          <a:xfrm>
            <a:off x="415612" y="992770"/>
            <a:ext cx="11360797" cy="2736799"/>
          </a:xfrm>
        </p:spPr>
        <p:txBody>
          <a:bodyPr anchor="b" anchorCtr="1"/>
          <a:lstStyle>
            <a:lvl1pPr algn="ctr">
              <a:defRPr sz="6933"/>
            </a:lvl1pPr>
          </a:lstStyle>
          <a:p>
            <a:pPr lvl="0"/>
            <a:endParaRPr lang="fr-FR"/>
          </a:p>
        </p:txBody>
      </p:sp>
      <p:sp>
        <p:nvSpPr>
          <p:cNvPr id="3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7"/>
            <a:ext cx="11360797" cy="1056801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3733"/>
            </a:lvl1pPr>
          </a:lstStyle>
          <a:p>
            <a:pPr lvl="0"/>
            <a:endParaRPr lang="fr-FR"/>
          </a:p>
        </p:txBody>
      </p:sp>
      <p:sp>
        <p:nvSpPr>
          <p:cNvPr id="4" name="Google Shape;12;p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731EDAA7-DA01-4EE1-B7C9-D2688F98180A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36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8635A28-F1D1-4797-A35A-7E22224876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54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18;p4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19;p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F2210668-0F2A-47AB-ADB6-4240F464C23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144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4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3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5" name="Google Shape;24;p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BA8684D3-AC56-44E5-B611-BE036CD3221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87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7;p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AA3C5E0-9F65-429E-A487-2D946D8A3A9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833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/>
          <p:cNvSpPr txBox="1">
            <a:spLocks noGrp="1"/>
          </p:cNvSpPr>
          <p:nvPr>
            <p:ph type="title"/>
          </p:nvPr>
        </p:nvSpPr>
        <p:spPr>
          <a:xfrm>
            <a:off x="415601" y="740797"/>
            <a:ext cx="3744004" cy="1007595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fr-FR"/>
          </a:p>
        </p:txBody>
      </p:sp>
      <p:sp>
        <p:nvSpPr>
          <p:cNvPr id="3" name="Google Shape;30;p7"/>
          <p:cNvSpPr txBox="1">
            <a:spLocks noGrp="1"/>
          </p:cNvSpPr>
          <p:nvPr>
            <p:ph type="body" idx="4294967295"/>
          </p:nvPr>
        </p:nvSpPr>
        <p:spPr>
          <a:xfrm>
            <a:off x="415601" y="1852805"/>
            <a:ext cx="3744004" cy="4239195"/>
          </a:xfrm>
        </p:spPr>
        <p:txBody>
          <a:bodyPr/>
          <a:lstStyle>
            <a:lvl1pPr indent="-406385">
              <a:buSzPts val="1200"/>
              <a:defRPr sz="1600"/>
            </a:lvl1pPr>
          </a:lstStyle>
          <a:p>
            <a:pPr lvl="0"/>
            <a:endParaRPr lang="fr-FR"/>
          </a:p>
        </p:txBody>
      </p:sp>
      <p:sp>
        <p:nvSpPr>
          <p:cNvPr id="4" name="Google Shape;31;p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8ACB4ADA-3E79-4894-8E62-8410DECB09D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963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/>
          <p:cNvSpPr txBox="1">
            <a:spLocks noGrp="1"/>
          </p:cNvSpPr>
          <p:nvPr>
            <p:ph type="title"/>
          </p:nvPr>
        </p:nvSpPr>
        <p:spPr>
          <a:xfrm>
            <a:off x="653662" y="600199"/>
            <a:ext cx="8490399" cy="5454396"/>
          </a:xfrm>
        </p:spPr>
        <p:txBody>
          <a:bodyPr anchor="ctr"/>
          <a:lstStyle>
            <a:lvl1pPr>
              <a:defRPr sz="6400"/>
            </a:lvl1pPr>
          </a:lstStyle>
          <a:p>
            <a:pPr lvl="0"/>
            <a:endParaRPr lang="fr-FR"/>
          </a:p>
        </p:txBody>
      </p:sp>
      <p:sp>
        <p:nvSpPr>
          <p:cNvPr id="3" name="Google Shape;34;p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DE0BE18-193F-48F6-93CA-15042FD74E3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156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/>
          <p:nvPr/>
        </p:nvSpPr>
        <p:spPr>
          <a:xfrm>
            <a:off x="6096000" y="-170"/>
            <a:ext cx="6096000" cy="6857999"/>
          </a:xfrm>
          <a:prstGeom prst="rect">
            <a:avLst/>
          </a:prstGeom>
          <a:solidFill>
            <a:srgbClr val="EEEEEE"/>
          </a:solidFill>
          <a:ln cap="flat">
            <a:noFill/>
            <a:prstDash val="solid"/>
          </a:ln>
        </p:spPr>
        <p:txBody>
          <a:bodyPr vert="horz" wrap="square" lIns="121895" tIns="121895" rIns="121895" bIns="121895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67" kern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37;p9"/>
          <p:cNvSpPr txBox="1">
            <a:spLocks noGrp="1"/>
          </p:cNvSpPr>
          <p:nvPr>
            <p:ph type="title"/>
          </p:nvPr>
        </p:nvSpPr>
        <p:spPr>
          <a:xfrm>
            <a:off x="353996" y="1644238"/>
            <a:ext cx="5393593" cy="1976396"/>
          </a:xfrm>
        </p:spPr>
        <p:txBody>
          <a:bodyPr anchor="b" anchorCtr="1"/>
          <a:lstStyle>
            <a:lvl1pPr algn="ctr">
              <a:defRPr sz="5600"/>
            </a:lvl1pPr>
          </a:lstStyle>
          <a:p>
            <a:pPr lvl="0"/>
            <a:endParaRPr lang="fr-FR"/>
          </a:p>
        </p:txBody>
      </p:sp>
      <p:sp>
        <p:nvSpPr>
          <p:cNvPr id="4" name="Google Shape;38;p9"/>
          <p:cNvSpPr txBox="1">
            <a:spLocks noGrp="1"/>
          </p:cNvSpPr>
          <p:nvPr>
            <p:ph type="subTitle" idx="4294967295"/>
          </p:nvPr>
        </p:nvSpPr>
        <p:spPr>
          <a:xfrm>
            <a:off x="353996" y="3737432"/>
            <a:ext cx="5393593" cy="1646797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800"/>
            </a:lvl1pPr>
          </a:lstStyle>
          <a:p>
            <a:pPr lvl="0"/>
            <a:endParaRPr lang="fr-FR"/>
          </a:p>
        </p:txBody>
      </p:sp>
      <p:sp>
        <p:nvSpPr>
          <p:cNvPr id="5" name="Google Shape;39;p9"/>
          <p:cNvSpPr txBox="1">
            <a:spLocks noGrp="1"/>
          </p:cNvSpPr>
          <p:nvPr>
            <p:ph type="body" idx="4294967295"/>
          </p:nvPr>
        </p:nvSpPr>
        <p:spPr>
          <a:xfrm>
            <a:off x="6585996" y="965435"/>
            <a:ext cx="5115995" cy="4926799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AC18E2C-5BDD-4786-9C28-8F20F6CD511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117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/>
          <p:cNvSpPr txBox="1">
            <a:spLocks noGrp="1"/>
          </p:cNvSpPr>
          <p:nvPr>
            <p:ph type="body" idx="4294967295"/>
          </p:nvPr>
        </p:nvSpPr>
        <p:spPr>
          <a:xfrm>
            <a:off x="415600" y="5640763"/>
            <a:ext cx="7998403" cy="806805"/>
          </a:xfrm>
        </p:spPr>
        <p:txBody>
          <a:bodyPr anchor="ctr"/>
          <a:lstStyle>
            <a:lvl1pPr indent="-304792">
              <a:lnSpc>
                <a:spcPct val="100000"/>
              </a:lnSpc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43;p10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B9B588AC-0BD0-4895-9931-94B1D8140D2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588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/>
          <p:cNvSpPr txBox="1">
            <a:spLocks noGrp="1"/>
          </p:cNvSpPr>
          <p:nvPr>
            <p:ph type="title"/>
          </p:nvPr>
        </p:nvSpPr>
        <p:spPr>
          <a:xfrm>
            <a:off x="415600" y="1474829"/>
            <a:ext cx="11360797" cy="2618000"/>
          </a:xfrm>
        </p:spPr>
        <p:txBody>
          <a:bodyPr anchor="b" anchorCtr="1"/>
          <a:lstStyle>
            <a:lvl1pPr algn="ctr">
              <a:defRPr sz="16000"/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46;p11"/>
          <p:cNvSpPr txBox="1">
            <a:spLocks noGrp="1"/>
          </p:cNvSpPr>
          <p:nvPr>
            <p:ph type="body" idx="4294967295"/>
          </p:nvPr>
        </p:nvSpPr>
        <p:spPr>
          <a:xfrm>
            <a:off x="415600" y="4202972"/>
            <a:ext cx="11360797" cy="1734397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47;p1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849566A-8594-4E09-9B0E-6B33AE6CB033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216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6F5619B-6FE7-4142-9F40-1A087AACC9D6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21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E93FC-283E-45D5-B454-27BC3C392C94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CD35E-A9F4-4C0D-B414-91C7B9E4B5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73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73"/>
            <a:ext cx="11360797" cy="763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endParaRPr lang="fr-FR"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11360797" cy="45551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Google Shape;8;p1"/>
          <p:cNvSpPr txBox="1">
            <a:spLocks noGrp="1"/>
          </p:cNvSpPr>
          <p:nvPr>
            <p:ph type="sldNum" sz="quarter" idx="4"/>
          </p:nvPr>
        </p:nvSpPr>
        <p:spPr>
          <a:xfrm>
            <a:off x="11296607" y="6217627"/>
            <a:ext cx="731605" cy="5248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333" b="0" i="0" u="none" strike="noStrike" kern="0" cap="none" spc="0" baseline="0">
                <a:solidFill>
                  <a:srgbClr val="595959"/>
                </a:solidFill>
                <a:uFillTx/>
                <a:latin typeface="Arial"/>
                <a:ea typeface="Arial"/>
                <a:cs typeface="Arial"/>
              </a:defRPr>
            </a:lvl1pPr>
          </a:lstStyle>
          <a:p>
            <a:fld id="{94DA9C7C-2B34-46B7-80FC-F65DD45591F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946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l" defTabSz="121917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733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609585" marR="0" lvl="0" indent="-457189" algn="l" defTabSz="121917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lang="fr-FR" sz="2400" b="0" i="0" u="none" strike="noStrike" kern="0" cap="none" spc="0" baseline="0">
          <a:solidFill>
            <a:srgbClr val="595959"/>
          </a:solidFill>
          <a:uFillTx/>
          <a:latin typeface="Arial"/>
          <a:ea typeface="Arial"/>
          <a:cs typeface="Arial"/>
        </a:defRPr>
      </a:lvl1pPr>
      <a:lvl2pPr marL="914377" marR="0" lvl="1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32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523962" marR="0" lvl="2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667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2133547" marR="0" lvl="3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743131" marR="0" lvl="4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73"/>
            <a:ext cx="11360797" cy="763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endParaRPr lang="fr-FR"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11360797" cy="45551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Google Shape;8;p1"/>
          <p:cNvSpPr txBox="1">
            <a:spLocks noGrp="1"/>
          </p:cNvSpPr>
          <p:nvPr>
            <p:ph type="sldNum" sz="quarter" idx="4"/>
          </p:nvPr>
        </p:nvSpPr>
        <p:spPr>
          <a:xfrm>
            <a:off x="11296607" y="6217627"/>
            <a:ext cx="731605" cy="5248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333" b="0" i="0" u="none" strike="noStrike" kern="0" cap="none" spc="0" baseline="0">
                <a:solidFill>
                  <a:srgbClr val="595959"/>
                </a:solidFill>
                <a:uFillTx/>
                <a:latin typeface="Arial"/>
                <a:ea typeface="Arial"/>
                <a:cs typeface="Arial"/>
              </a:defRPr>
            </a:lvl1pPr>
          </a:lstStyle>
          <a:p>
            <a:fld id="{94DA9C7C-2B34-46B7-80FC-F65DD45591F1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56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l" defTabSz="121917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733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609585" marR="0" lvl="0" indent="-457189" algn="l" defTabSz="121917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lang="fr-FR" sz="2400" b="0" i="0" u="none" strike="noStrike" kern="0" cap="none" spc="0" baseline="0">
          <a:solidFill>
            <a:srgbClr val="595959"/>
          </a:solidFill>
          <a:uFillTx/>
          <a:latin typeface="Arial"/>
          <a:ea typeface="Arial"/>
          <a:cs typeface="Arial"/>
        </a:defRPr>
      </a:lvl1pPr>
      <a:lvl2pPr marL="914377" marR="0" lvl="1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32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523962" marR="0" lvl="2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667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2133547" marR="0" lvl="3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743131" marR="0" lvl="4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40388" y="1104181"/>
            <a:ext cx="9144000" cy="2009955"/>
          </a:xfrm>
        </p:spPr>
        <p:txBody>
          <a:bodyPr>
            <a:normAutofit/>
          </a:bodyPr>
          <a:lstStyle/>
          <a:p>
            <a:r>
              <a:rPr lang="fr-FR" sz="360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HYPERTROPHIE BENIGNE DE LA PROSTATE</a:t>
            </a:r>
            <a:endParaRPr lang="fr-FR" sz="200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Google Shape;55;p13"/>
          <p:cNvSpPr txBox="1"/>
          <p:nvPr/>
        </p:nvSpPr>
        <p:spPr>
          <a:xfrm>
            <a:off x="3005901" y="4931508"/>
            <a:ext cx="5945099" cy="990481"/>
          </a:xfrm>
          <a:prstGeom prst="rect">
            <a:avLst/>
          </a:prstGeom>
          <a:solidFill>
            <a:srgbClr val="EEEEEE"/>
          </a:solidFill>
          <a:ln cap="flat">
            <a:noFill/>
          </a:ln>
        </p:spPr>
        <p:txBody>
          <a:bodyPr vert="horz" wrap="square" lIns="91421" tIns="91421" rIns="91421" bIns="91421" anchor="t" anchorCtr="1" compatLnSpc="1">
            <a:normAutofit/>
          </a:bodyPr>
          <a:lstStyle/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b="1" kern="0" dirty="0" smtClean="0">
              <a:solidFill>
                <a:srgbClr val="DA0002"/>
              </a:solidFill>
              <a:latin typeface="Arial"/>
              <a:ea typeface="Arial"/>
              <a:cs typeface="Arial"/>
            </a:endParaRP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kern="0" dirty="0" err="1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Pr</a:t>
            </a: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2000" b="1" kern="0" dirty="0">
                <a:solidFill>
                  <a:srgbClr val="DA0002"/>
                </a:solidFill>
                <a:latin typeface="Arial"/>
                <a:ea typeface="Arial"/>
                <a:cs typeface="Arial"/>
              </a:rPr>
              <a:t>Wissem HMIDA</a:t>
            </a: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b="1" kern="0" dirty="0">
              <a:solidFill>
                <a:srgbClr val="DA0002"/>
              </a:solidFill>
              <a:latin typeface="Arial"/>
              <a:ea typeface="Arial"/>
              <a:cs typeface="Arial"/>
            </a:endParaRP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kern="0" dirty="0" err="1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Pr</a:t>
            </a: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2000" b="1" kern="0" dirty="0" err="1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Ag</a:t>
            </a: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 Mouna </a:t>
            </a:r>
            <a:r>
              <a:rPr lang="de-DE" sz="2000" b="1" kern="0" dirty="0">
                <a:solidFill>
                  <a:srgbClr val="DA0002"/>
                </a:solidFill>
                <a:latin typeface="Arial"/>
                <a:ea typeface="Arial"/>
                <a:cs typeface="Arial"/>
              </a:rPr>
              <a:t>BEN </a:t>
            </a: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OTHMEN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824131" y="3878782"/>
            <a:ext cx="5934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RESIDANAT 2024</a:t>
            </a:r>
            <a:endParaRPr lang="fr-FR" sz="2400" dirty="0"/>
          </a:p>
        </p:txBody>
      </p:sp>
      <p:pic>
        <p:nvPicPr>
          <p:cNvPr id="6" name="Google Shape;181;p29" descr="http://www.prostateplus.com/images/prostate-gland.gif"/>
          <p:cNvPicPr preferRelativeResize="0"/>
          <p:nvPr/>
        </p:nvPicPr>
        <p:blipFill rotWithShape="1">
          <a:blip r:embed="rId2">
            <a:alphaModFix/>
          </a:blip>
          <a:srcRect l="53148" b="15002"/>
          <a:stretch/>
        </p:blipFill>
        <p:spPr>
          <a:xfrm>
            <a:off x="10087678" y="4606505"/>
            <a:ext cx="1074904" cy="1112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79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0;p1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3449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n°1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12679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Décrire l'anatomie de la loge prostatique (anatomie zonale, drainage lymphatique et rapports</a:t>
            </a:r>
          </a:p>
        </p:txBody>
      </p:sp>
    </p:spTree>
    <p:extLst>
      <p:ext uri="{BB962C8B-B14F-4D97-AF65-F5344CB8AC3E}">
        <p14:creationId xmlns:p14="http://schemas.microsoft.com/office/powerpoint/2010/main" val="67859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24619"/>
            <a:ext cx="10515600" cy="966069"/>
          </a:xfrm>
        </p:spPr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3333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zone centrale </a:t>
            </a:r>
            <a:endParaRPr lang="fr-FR" sz="2800" dirty="0">
              <a:solidFill>
                <a:srgbClr val="3333FF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825625"/>
            <a:ext cx="11195650" cy="4351338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 à la face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postérieure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prostate et à l’apex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le siège de prédilection du développement du cancer de la prostate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15-20% du volume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accessible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TR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Responsable de la formation du lobe médian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17430" y="375112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7430" y="467560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8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zone de transition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Constituée par 2 lobes agencés au tour de l’urètre prostatique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avec la zone des glandes péri-urétrales le compartiment interne de la prostate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au TR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le siège préférentiel du développement d’HBP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30% du volume prostatique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7430" y="206245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7429" y="287902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7431" y="44327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8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Selon le modèle de Mc Neal</a:t>
            </a:r>
            <a:r>
              <a:rPr lang="fr-FR" sz="2800" b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fr-FR" sz="2800" b="1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zones suivantes, peuvent être le siège d’une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HBP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périphérique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centrale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fibro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-musculaire antérieure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de transition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glandes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péri-uréthrales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0110" y="441319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90110" y="52311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0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zone des glandes périuréthrales (ZPU)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Appartient au compartiment interne de la prostate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à l’origine de 2 lobes latéraux de l’HBP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moins de 1% du volume prostatique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peut pas subir des modifications pathologiques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à l’origine du lobe médian</a:t>
            </a:r>
          </a:p>
        </p:txBody>
      </p:sp>
      <p:sp>
        <p:nvSpPr>
          <p:cNvPr id="4" name="Ellipse 3"/>
          <p:cNvSpPr/>
          <p:nvPr/>
        </p:nvSpPr>
        <p:spPr>
          <a:xfrm>
            <a:off x="690110" y="20307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92466" y="360353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22963" y="521814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7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6252" cy="1325563"/>
          </a:xfrm>
        </p:spPr>
        <p:txBody>
          <a:bodyPr>
            <a:normAutofit fontScale="90000"/>
          </a:bodyPr>
          <a:lstStyle/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Selon l’anatomie zonale de Mac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NEAL, 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siège de prédilection de l’hypertrophie bénigne de la prostate est </a:t>
            </a:r>
            <a:b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b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5109" y="1714847"/>
            <a:ext cx="11066253" cy="4920232"/>
          </a:xfrm>
        </p:spPr>
        <p:txBody>
          <a:bodyPr>
            <a:normAutofit fontScale="92500"/>
          </a:bodyPr>
          <a:lstStyle/>
          <a:p>
            <a:pPr marL="342900" lvl="0" indent="-342900">
              <a:lnSpc>
                <a:spcPct val="2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zone centrale</a:t>
            </a:r>
          </a:p>
          <a:p>
            <a:pPr marL="342900" lvl="0" indent="-342900">
              <a:lnSpc>
                <a:spcPct val="2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zone de transition 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Zone périphérique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Zone </a:t>
            </a:r>
            <a:r>
              <a:rPr lang="fr-FR" sz="24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fibro</a:t>
            </a: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-musculaire </a:t>
            </a: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antérieure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des glandes péri 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urétrales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18755" y="304871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69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5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lobe </a:t>
            </a:r>
            <a:r>
              <a:rPr lang="de-DE" sz="25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médian</a:t>
            </a:r>
            <a:endParaRPr lang="fr-FR" sz="25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6217" y="1763102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voit dans 20 % des cas</a:t>
            </a:r>
          </a:p>
          <a:p>
            <a:pPr marL="514350" lvl="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particulièrement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dysectasiant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(obstructif)</a:t>
            </a:r>
          </a:p>
          <a:p>
            <a:pPr marL="514350" lvl="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une indication au traitement chirurgical</a:t>
            </a:r>
          </a:p>
          <a:p>
            <a:pPr marL="514350" lvl="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développe à partir de la zone des glandes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périurethrales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 facteur d'échec du traitement médical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6770" y="280437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06771" y="433432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22964" y="522438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9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n°2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Décrire les particularités épidémiologiques de l'hypertrophie bénigne de la prostate</a:t>
            </a:r>
          </a:p>
        </p:txBody>
      </p:sp>
    </p:spTree>
    <p:extLst>
      <p:ext uri="{BB962C8B-B14F-4D97-AF65-F5344CB8AC3E}">
        <p14:creationId xmlns:p14="http://schemas.microsoft.com/office/powerpoint/2010/main" val="341427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L’hypertrophie bénigne de la prostate 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la pathologie la plus fréquente du sujet adulte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responsable de la plupart des SBAU chez l’homme âgé de plus de 50 ans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Evolue vers un cancer de la prostate si elle n’est pas traitée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maladie progressive dans le temps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la première cause d’hospitalisation en Urologie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0110" y="20307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34533" y="28271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34531" y="447850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90110" y="523593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94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L’Hypertrophie bénigne de la prostate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825625"/>
            <a:ext cx="11204275" cy="4351338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définie comme une prolifération bénigne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épithéliale et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stromale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la prostate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hypertrophie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adénomyofibromateuse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bénigne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Macroscopique, se voit chez environ 50% des hommes de plus de 50 ans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 des symptômes sévères quand elle est volumineuse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se voir à partir de l’âge de 30 ans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90789" y="390166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63898" y="212670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28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L'étiopathogénie de </a:t>
            </a:r>
            <a:r>
              <a:rPr lang="de-DE" sz="28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l’HBP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07333" y="185251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Multifactorielle</a:t>
            </a:r>
          </a:p>
          <a:p>
            <a:pPr marL="51435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deux principaux facteurs de risque de l'HBP sont l'âge et le statut hormonal du patient</a:t>
            </a:r>
          </a:p>
          <a:p>
            <a:pPr marL="51435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caractère héréditaire de certaines HBP (Hérédité autosomique dominante) est établi</a:t>
            </a:r>
          </a:p>
          <a:p>
            <a:pPr marL="51435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Syndrome métabolique/obésité sont de plus en plus incriminés</a:t>
            </a:r>
          </a:p>
          <a:p>
            <a:pPr marL="514350" indent="-514350">
              <a:lnSpc>
                <a:spcPct val="20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origine ethnique est incriminée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4933" y="276845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54933" y="202894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54931" y="48718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54932" y="404019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78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les facteurs suivants, les quels sont les plus incriminés dans la genèse de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l’HBP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3089" y="1998153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Œstrogènes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de croissance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Obésité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Androgènes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82125" y="357068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82124" y="50787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3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physiopathologie de l’obstruction lors d’une </a:t>
            </a:r>
            <a:r>
              <a:rPr lang="fr-FR" sz="3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HBP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5726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expliquée uniquement par une composante mécanique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sous la dépendance des androgènes dans la composante dynamique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NANC dont le médiateur est le NO joue un rôle dans la composante dynamique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 chronique joue un rôle dans la stimulation des facteurs de croissance et donc la prolifération des FML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la même physiopathologie que la DE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87236" y="339815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87234" y="476688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7235" y="613560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84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L’hypertrophie bénigne de la prostate est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01329"/>
            <a:ext cx="10515600" cy="4632385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maladie progressive dans le temps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pathologie bénigne cliniquement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Altère de façon significative la qualité de vie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facteur indépendant de la DE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le 2ème poste de dépense dans les pays développés</a:t>
            </a:r>
          </a:p>
        </p:txBody>
      </p:sp>
      <p:sp>
        <p:nvSpPr>
          <p:cNvPr id="4" name="Ellipse 3"/>
          <p:cNvSpPr/>
          <p:nvPr/>
        </p:nvSpPr>
        <p:spPr>
          <a:xfrm>
            <a:off x="717684" y="218884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7276" y="365092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77275" y="441128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48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n°3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Décrire les aspects anatomopathologiques des tumeurs bénignes de la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prostate</a:t>
            </a:r>
            <a:endParaRPr lang="fr-FR" sz="2000" kern="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0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Sur le plan histologique, l’HBP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constitué par 2 lobes périphériques et 1 lobe médian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constitué par une prolifération nodulaire uniforme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formé par une répartition variable des contingents glandulaires et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fibromusculaires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une lésion précancéreuse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un plan de clivage entre l’adénome et le tissu prostatique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709518" y="339815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36915" y="49077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0" dirty="0" smtClean="0">
                <a:effectLst/>
              </a:rPr>
              <a:t>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962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n°4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Expliquer les conséquences physiopathologiques secondaires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à l'existence </a:t>
            </a: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d'une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hypertrophie bénigne </a:t>
            </a: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de la prostate</a:t>
            </a:r>
          </a:p>
        </p:txBody>
      </p:sp>
    </p:spTree>
    <p:extLst>
      <p:ext uri="{BB962C8B-B14F-4D97-AF65-F5344CB8AC3E}">
        <p14:creationId xmlns:p14="http://schemas.microsoft.com/office/powerpoint/2010/main" val="425896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composante </a:t>
            </a:r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dynamique de </a:t>
            </a:r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l’obstruction est générée par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77454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compression de l’urètre par les lobes latéraux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du nombre des récepteurs alpha au niveau du col de la vessie et du stroma prostatique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Effet clapet du lobe médian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du nombre des récepteurs alpha au niveau </a:t>
            </a:r>
            <a:r>
              <a:rPr lang="fr-FR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capsule prostatique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chronique de la vessie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63592" y="267117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2909" y="479079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77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</a:t>
            </a:r>
            <a:r>
              <a:rPr lang="fr-FR" sz="4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phase de dysurie compensée 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la 2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 de l’obstruction prostatique</a:t>
            </a:r>
          </a:p>
          <a:p>
            <a:pPr marL="514350" indent="-514350">
              <a:lnSpc>
                <a:spcPct val="18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 stade, on voit apparaître un RPM </a:t>
            </a:r>
          </a:p>
          <a:p>
            <a:pPr marL="514350" indent="-514350">
              <a:lnSpc>
                <a:spcPct val="18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caractérisée par la présence de signes de lutte au niveau de la vessie</a:t>
            </a:r>
          </a:p>
          <a:p>
            <a:pPr marL="514350" indent="-514350">
              <a:lnSpc>
                <a:spcPct val="18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caractérisée par l’apparition de contractions désinhibés de la vessie</a:t>
            </a:r>
          </a:p>
          <a:p>
            <a:pPr marL="514350" indent="-514350">
              <a:lnSpc>
                <a:spcPct val="180000"/>
              </a:lnSpc>
              <a:buClr>
                <a:srgbClr val="000000"/>
              </a:buClr>
              <a:buSzPts val="1800"/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caractérisée par l’apparition des SBAU de la phase de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remplissage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6356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46804" y="421069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06356" y="494366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85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7815" y="330619"/>
            <a:ext cx="10515600" cy="1325563"/>
          </a:xfrm>
        </p:spPr>
        <p:txBody>
          <a:bodyPr>
            <a:noAutofit/>
          </a:bodyPr>
          <a:lstStyle/>
          <a:p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phase de rétention vésicale incomplète est caractérisée par 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82482"/>
            <a:ext cx="10515600" cy="4339087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du tonus vésical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d’un RPM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d’une insuffisance rénale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de mictions par poussées abdominales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Miction par regorgement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5727" y="313296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5727" y="458377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47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</a:t>
            </a:r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phase de distension vésicale de l’obstruction prostatique est caractérisée par </a:t>
            </a:r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1212" y="1834252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RPM important dépassant la capacité vésicale fonctionnelle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de tonus vésical (vessie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acontractile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symptômes de la phase mictionnelle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L’apparition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mictions par regorgement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L’apparition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dilatation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urétéro-pyélocalicielle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bilatérale symétrique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15342" y="19876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536994" y="418250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536994" y="267975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11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970251"/>
            <a:ext cx="11360797" cy="1122395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n°5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88359" y="3483424"/>
            <a:ext cx="11119469" cy="14602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Réunir les éléments cliniques et paracliniques, permettant le diagnostic d'une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hypertrophie bénigne </a:t>
            </a: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de la prostate..</a:t>
            </a:r>
            <a:b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</a:br>
            <a:endParaRPr lang="fr-FR" sz="2000" kern="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80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les symptômes suivants les quels sont de la phase mictionnelle</a:t>
            </a:r>
            <a:endParaRPr lang="fr-FR" sz="3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Miction par poussée abdominale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Pollakiurie diurne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 faible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Miction en 2 temps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Gouttes retardataires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15342" y="19876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81478" y="33822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9376" y="41931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79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Tous les symptômes suivants sont des SBAU de la phase de remplissage sauf :</a:t>
            </a:r>
            <a:endParaRPr lang="fr-FR" sz="3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Dysurie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Pollakiurie nocturne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Urgenturies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Miction par poussées abdominales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Allongement du temps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mictionnel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15342" y="19876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15342" y="417592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15342" y="492627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15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pollakiurie nocturne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définie par un nombre de miction &gt;1 fois/ nuit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symptôme de la phase post-mictionnelle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précédée par une pollakiurie diurne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symptôme qui altère la qualité de vie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secondaire à des contractions désinhibées du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détrusor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84353" y="19876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20038" y="411503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4353" y="496722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56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08804" y="391004"/>
            <a:ext cx="10515600" cy="1325563"/>
          </a:xfrm>
        </p:spPr>
        <p:txBody>
          <a:bodyPr>
            <a:normAutofit/>
          </a:bodyPr>
          <a:lstStyle/>
          <a:p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caractéristiques cliniques d’une HBP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6423" y="1833440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Prostate augmentée de taille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Suffisent à elles seule de confirmer le diagnostic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Effacement du sillon médian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Consistance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Prostate homogène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84353" y="19876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3134" y="270611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69733" y="347685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69732" y="496418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56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diagnostic de l’hypertrophie bénigne de la prostate repose sur 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33483"/>
            <a:ext cx="10515600" cy="4192888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Echographie prostatique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endo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-rectale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de l’interrogatoire et du TR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score IPSS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Débimétrie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Etude urodynamique</a:t>
            </a:r>
          </a:p>
        </p:txBody>
      </p:sp>
      <p:sp>
        <p:nvSpPr>
          <p:cNvPr id="4" name="Ellipse 3"/>
          <p:cNvSpPr/>
          <p:nvPr/>
        </p:nvSpPr>
        <p:spPr>
          <a:xfrm>
            <a:off x="657027" y="27653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49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</a:t>
            </a:r>
            <a:r>
              <a:rPr lang="fr-FR" sz="3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propositions suivantes relatives au score IPSS quelles sont les propositions correctes</a:t>
            </a:r>
            <a:endParaRPr lang="fr-FR" sz="3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7659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est peu symptomatique si le score est compris entre 0 et 7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est modérément symptomatique si le score IPSS est &gt;19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IPSS est utilisé dans la décision thérapeutique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IPSS comprend 7 questions relatives à la symptomatologie présentée par le malade les 3 mois passés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IPSS est utilisé pour quantifier d'une façon objective les SBAU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60621" y="204532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43992" y="35029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43991" y="554935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62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</a:t>
            </a: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sont les examens à demander dans le cadre du bilan initial chez un homme de 76 ans consultant pour dysurie et une hématurie initiale et qui présente à l’examen clinique une prostate non suspecte ?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93044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ECBU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Débitmétrie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Urétrocystoscopie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Dosage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PSA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Mesure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résidu post-mictionnel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21006" y="220518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42691" y="513189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21006" y="296985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7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Quelles sont les caractéristiques d’une courbe de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débimétrie </a:t>
            </a: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au cours d’une HBP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?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débit maximal entre 20 et 30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courbe aplatie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débit maximal inférieur à 10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courbe en cloche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temps de miction &gt; 40 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21005" y="267273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21004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21003" y="493869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4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Dans le cadre d’HBP, L’echographie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vésico-prostatique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confirmer le diagnostic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examen optionnel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rechercher une complication de l’HBP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recommandée avant la chirurgie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Permet de calculer le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721005" y="267273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47583" y="346133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721005" y="409753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747583" y="486959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80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970251"/>
            <a:ext cx="11360797" cy="1122395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n°6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53853" y="3466171"/>
            <a:ext cx="11119469" cy="3724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Reconnaître les complications d'une hypertrophie bénigne de la prostate</a:t>
            </a:r>
          </a:p>
        </p:txBody>
      </p:sp>
    </p:spTree>
    <p:extLst>
      <p:ext uri="{BB962C8B-B14F-4D97-AF65-F5344CB8AC3E}">
        <p14:creationId xmlns:p14="http://schemas.microsoft.com/office/powerpoint/2010/main" val="63327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complications mécaniques de l’HBP sont 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41035" y="1825625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complète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Distension urinaire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Prostatite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vésical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5028" y="203787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95027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2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</a:t>
            </a: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complications suivantes de l’HBP, indiquez celle la plus fréquente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15272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</a:t>
            </a:r>
          </a:p>
          <a:p>
            <a:pPr marL="514350" indent="-514350">
              <a:lnSpc>
                <a:spcPct val="18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complète</a:t>
            </a:r>
          </a:p>
          <a:p>
            <a:pPr marL="514350" indent="-514350">
              <a:lnSpc>
                <a:spcPct val="18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Distension urinaire</a:t>
            </a:r>
          </a:p>
          <a:p>
            <a:pPr marL="514350" indent="-514350">
              <a:lnSpc>
                <a:spcPct val="18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vésical</a:t>
            </a:r>
          </a:p>
          <a:p>
            <a:pPr marL="514350" indent="-514350">
              <a:lnSpc>
                <a:spcPct val="18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Prostatite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729007" y="275198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61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9604"/>
          </a:xfrm>
        </p:spPr>
        <p:txBody>
          <a:bodyPr/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calcul de la vessie lors d’une HBP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une indication au traitement médical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à une mauvaise vidange vésicale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être traité au même temps que l’adénome de la prostate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Peut-être à l’origine des infections urinaires à répétitions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Peut-être à l’origine d’une hématurie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4395" y="272884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29007" y="343330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29007" y="42139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29007" y="497539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89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distension urinaire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la complication la plus grave de l’HBP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engager le pronostic vital du patient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à l’origine d’une insuffisance rénale irréversible d’emblée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Entraine une dilatation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pyélocalicielle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bilatérale et symétrique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Nécessite un drainage des urines en urgence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1255" y="210885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51255" y="27771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51255" y="489806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77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L’hématurie lors d’une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HBP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de chronologie terminale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due le plus souvent à une rupture des varices du col vésical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Souvent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faible abondance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due à un calcul vésical ou une infection urinaire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indication absolue à la chirurgie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1255" y="27771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29409" y="346441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51255" y="422909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71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 premier épisode de rétention vésicale complète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le plus souvent transitoire dans l’évolution de l’HBP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inaugurer une HBP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une indication absolue à un traitement chirurgical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une indication à un drainage des urines en urgence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Peut-être déclenché par une exposition prolongée au froid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4849" y="193132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46865" y="267228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70624" y="417445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35283" y="491542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09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970251"/>
            <a:ext cx="11360797" cy="1122395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n°7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88359" y="3483424"/>
            <a:ext cx="11119469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Décrire les différentes modalités thérapeutiques d'une hypertrophie bénigne de la prostate ainsi que leurs indications et leurs complications</a:t>
            </a:r>
          </a:p>
        </p:txBody>
      </p:sp>
    </p:spTree>
    <p:extLst>
      <p:ext uri="{BB962C8B-B14F-4D97-AF65-F5344CB8AC3E}">
        <p14:creationId xmlns:p14="http://schemas.microsoft.com/office/powerpoint/2010/main" val="313799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éléments suivants constituent une indication absolue à la chirurgie lors d’une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HBP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96561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 la vessie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Premier épisode de rétention vésicale complète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IPSS à 20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Distension urinaire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volume prostatique à 120 g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4849" y="234539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23860" y="452499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05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Quelles règles hygiéno-diététiques peuvent être instaurées dans le cadre d’une HBP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?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10297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des apports hydriques le soir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Eviter la caféine et l’alcool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d’une constipation associée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Réduire la consommation des épices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Maintenir une activité sportive régulière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20226" y="299020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0162" y="369320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0162" y="442158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54849" y="513172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76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alpha-bloquants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Constituent le traitement médical de première intention de l’HBP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Modifient le poids prostatique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Agissement sur la composante dynamique de l’obstruction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Entrainent une diminution du taux de PSA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Peuvent être à l’origine d’une hypotension orthostatique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23820" y="209333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822305" y="337551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23820" y="495961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les effets secondaires suivants lesquels peuvent être engendrés par les alpha-bloquants 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89527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Céphalées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Myalgies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Baisse de la libido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Gynécomastie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Ejaculation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rétrograde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31087" y="218506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67672" y="512380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78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inhibiteurs de la 5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alpha-réductase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50783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Diminuent le poids prostatique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Augmentent le taux de PSA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 un délai d’action long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indiqués quand volume prostatique est &lt; 40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 pour effet secondaire une Gynécomastie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2701" y="204207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2701" y="342612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72701" y="484387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04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phytothérapie dans le traitement de l’HBP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94364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indiquée seule chez les patients présentant des SBAU sévères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Agit sur la composante dynamique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associés aux alpha-bloquants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Agit sur la congestion prostatique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caractérisée par l’absence d’effets secondaires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6329" y="337958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05331" y="418192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05330" y="491364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46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IPDE 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77325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Agissent sur la composante dynamique et mécanique de l’obstruction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contre-indiqués en association aux alpha-bloquants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utilisés de façon quotidienne et à faible dose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 des céphalées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 comme médiateur le NO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34680" y="19133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83484" y="34526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83485" y="483954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44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Une HBP de 120 g compliquée de lithiase vésicale de 3cm est traitée par 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Alpha-bloquants-phytothérapie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Résection endoscopique de prostate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Incision cervicoprostatique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Adénomectomie Trans vésicale et ablation du calcul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Résection endoscopique de prostate et une taille vésicale pour ablation du calcul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17" y="41993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44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complications de la résection endoscopique de la prostate sont </a:t>
            </a:r>
            <a:r>
              <a:rPr lang="fr-FR" sz="3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2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TURP syndrome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Hémorragie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Anéjaculation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Dysfonction érectile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Ejaculation rétrograde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34374" y="197634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2316" y="276233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808054" y="490596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18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Quelles sont parmi les propositions suivantes la ou les situation(s) qui constitue(nt) une indication à un traitement chirurgical d’une hypertrophie bénigne de la prostate (HBP)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55021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calcul de la vessie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SBAU non améliorés sous traitement médical bien conduit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épisode rétention vésicale complète malgré la prise des alpha-bloquants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épisode d’hématurie initiale de faible abondance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 d’un lobe médian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16" y="212781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2316" y="288009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22545" y="359077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07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 homme de 60 ans qui présente des SBAU modérés associées à une dysfonction érectile peut être traitée par 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06780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bloquants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Inhibiteurs de la 5 alpha-réductase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phytothérapie- Inhibiteurs de la 5 alpha-réductase 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phytothérapie- alpha-bloquants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IPDE 5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16" y="225337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31803" y="503683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5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971" y="3252158"/>
            <a:ext cx="10515600" cy="1129162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rgbClr val="3333FF"/>
                </a:solidFill>
                <a:latin typeface="Arial Black" panose="020B0A04020102020204" pitchFamily="34" charset="0"/>
                <a:ea typeface="Calibri" panose="020F0502020204030204" pitchFamily="34" charset="0"/>
              </a:rPr>
              <a:t>CAS CLINIQUE</a:t>
            </a:r>
          </a:p>
        </p:txBody>
      </p:sp>
    </p:spTree>
    <p:extLst>
      <p:ext uri="{BB962C8B-B14F-4D97-AF65-F5344CB8AC3E}">
        <p14:creationId xmlns:p14="http://schemas.microsoft.com/office/powerpoint/2010/main" val="365420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Cas clinique n°1</a:t>
            </a:r>
            <a:endParaRPr lang="fr-FR" sz="360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45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Monsieur X., 73 ans, ACFA sous </a:t>
            </a:r>
            <a:r>
              <a:rPr lang="fr-FR" dirty="0" err="1"/>
              <a:t>sintrom</a:t>
            </a:r>
            <a:r>
              <a:rPr lang="fr-FR" dirty="0"/>
              <a:t> consulte pour: mictions gouttes à gouttes, dysurie, pollakiurie diurne et nocturne, fuites urinaires </a:t>
            </a:r>
            <a:r>
              <a:rPr lang="fr-FR" dirty="0" smtClean="0"/>
              <a:t>invalidantes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Examen physique : BEG, TR: grosse prostate non suspecte. Matité </a:t>
            </a:r>
            <a:r>
              <a:rPr lang="fr-FR" dirty="0" err="1"/>
              <a:t>suspubienne</a:t>
            </a:r>
            <a:r>
              <a:rPr lang="fr-FR" dirty="0"/>
              <a:t> non douloureuse. Bilan : créatinine normale</a:t>
            </a:r>
          </a:p>
          <a:p>
            <a:pPr>
              <a:lnSpc>
                <a:spcPct val="150000"/>
              </a:lnSpc>
            </a:pPr>
            <a:r>
              <a:rPr lang="fr-FR" dirty="0"/>
              <a:t>Echographie : reins non dilatés, vessie de grande capacité avec RPM à 450 ml, prostate= 52 g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418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stade de la maladie chez ce patient est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65240"/>
            <a:ext cx="10515600" cy="4351338"/>
          </a:xfrm>
        </p:spPr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de vessie de lutte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de distension vésicale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distension urinaire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de rétention vésicale incomplète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de dysurie décompensée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83562" y="26731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57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 urgence, ce patient doit avoir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adénomectomie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transvésicale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ponction sus pubienne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sonde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transurétrale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anti-inflammatoire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α bloquant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6309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9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99700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Si un traitement adéquat ne serait pas proposé au patient. Quelle serait l’étape évolutive suivante de sa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maladie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distension vésicale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distension urinaire sans insuffisance rénale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distension urinaire avec insuffisance rénale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rétention vésicale complète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anurie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83562" y="275046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10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traitement de choix après préparation du patient serait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α bloquant  et phytothérapie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résection endoscopique de l’adénome de la prostate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adénomectomie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-vésicale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prostatectomie radicale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hormonothérapie</a:t>
            </a:r>
          </a:p>
        </p:txBody>
      </p:sp>
      <p:sp>
        <p:nvSpPr>
          <p:cNvPr id="4" name="Ellipse 3"/>
          <p:cNvSpPr/>
          <p:nvPr/>
        </p:nvSpPr>
        <p:spPr>
          <a:xfrm>
            <a:off x="666309" y="275909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4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supposer que ce patient ait bénéficié de ce traitement de choix, quelle serait la complication qu’il faudra craindre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particulièrement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urinaire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Hémorragie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pariétale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Fistule urinaire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Pyélonéphrite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0814" y="277634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665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 serait la conséquence sur la fonction sexuelle et /ou sur la fertilité d’une chirurgie prostatique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32317"/>
            <a:ext cx="10515600" cy="424464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Éjaculation précoce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Éjaculation sèche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Anéjaculation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Dysfonction érectile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Ejaculation rétrograde </a:t>
            </a:r>
          </a:p>
        </p:txBody>
      </p:sp>
      <p:sp>
        <p:nvSpPr>
          <p:cNvPr id="4" name="Ellipse 3"/>
          <p:cNvSpPr/>
          <p:nvPr/>
        </p:nvSpPr>
        <p:spPr>
          <a:xfrm>
            <a:off x="674935" y="495019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2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Après 6 ans et devant la récidive d’une dysurie chez ce patient on doit penser à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repousse adénomateuse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vessie neurogène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tumeur vésicale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sténose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uréthrale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sclérose de la loge </a:t>
            </a:r>
          </a:p>
        </p:txBody>
      </p:sp>
      <p:sp>
        <p:nvSpPr>
          <p:cNvPr id="4" name="Ellipse 3"/>
          <p:cNvSpPr/>
          <p:nvPr/>
        </p:nvSpPr>
        <p:spPr>
          <a:xfrm>
            <a:off x="726694" y="202584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8078" y="416650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78077" y="498727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13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rgbClr val="3333FF"/>
                </a:solidFill>
                <a:latin typeface="Arial Black" panose="020B0A04020102020204" pitchFamily="34" charset="0"/>
              </a:rPr>
              <a:t>Cas clinique n°2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Vous </a:t>
            </a:r>
            <a:r>
              <a:rPr lang="fr-FR" dirty="0" smtClean="0"/>
              <a:t>avez été appelés </a:t>
            </a:r>
            <a:r>
              <a:rPr lang="fr-FR" dirty="0"/>
              <a:t>par le service des urgences pour un Patient qui présente une rétention vésicale complète. Il s’agit d’un Patient âgé de 64 ans, hypertendu sous </a:t>
            </a:r>
            <a:r>
              <a:rPr lang="fr-FR" dirty="0" smtClean="0"/>
              <a:t>traitement, </a:t>
            </a:r>
            <a:r>
              <a:rPr lang="fr-FR" dirty="0"/>
              <a:t>qui se plaint de symptômes du bas appareil urinaire a type de nycturie, dysurie et mictions par poussées abdominales depuis quelques mois négligé par le patient. </a:t>
            </a:r>
            <a:endParaRPr lang="fr-FR" dirty="0" smtClean="0"/>
          </a:p>
          <a:p>
            <a:pPr>
              <a:lnSpc>
                <a:spcPct val="150000"/>
              </a:lnSpc>
            </a:pPr>
            <a:r>
              <a:rPr lang="fr-FR" dirty="0" smtClean="0"/>
              <a:t>A </a:t>
            </a:r>
            <a:r>
              <a:rPr lang="fr-FR" dirty="0"/>
              <a:t>l’examen, patient en BEG, Globe vésical douloureux, TR : petite prostate </a:t>
            </a:r>
            <a:r>
              <a:rPr lang="fr-FR" dirty="0" smtClean="0"/>
              <a:t>souple.</a:t>
            </a:r>
          </a:p>
          <a:p>
            <a:pPr>
              <a:lnSpc>
                <a:spcPct val="150000"/>
              </a:lnSpc>
            </a:pPr>
            <a:r>
              <a:rPr lang="fr-FR" dirty="0"/>
              <a:t>Vous avez décidé de drainer les urines par une sonde transuréthrale qui a ramené d’emblée 400 ml.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078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 est le diagnostic le plus probable chez ce patient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Distension vésicale chronique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Anurie obstructive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Distension urinaire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complète inaugurale d’une HBP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chronique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6308" y="418820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32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Après 2 heures, vous </a:t>
            </a: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avez été appelés </a:t>
            </a:r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de nouveau par le médecin des urgences pour la constatation d’une hématurie macroscopique chez ce patient</a:t>
            </a:r>
            <a:b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 </a:t>
            </a:r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est l’origine le plus probable de cette </a:t>
            </a: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hématurie ?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10297"/>
            <a:ext cx="10515600" cy="4351338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Rupture des varices du col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Prise des anticoagulants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 à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vacuo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 d’origine néphrologique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Sondage traumatique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9440" y="371374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52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Après prise en charge de l’hématurie, quelle votre conduite à tenir </a:t>
            </a: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ultérieure ?</a:t>
            </a:r>
            <a:endParaRPr lang="fr-FR" sz="24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le patient sous inhibiteurs de la 5 alpha réductase et tenter de sevrer la sonde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Opérer le patient d’emblée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le patient sous traitement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alphabloquant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tenter de sevrer la sonde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une ponction sus pubienne 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le patient sous association thérapeutique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4934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6497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Le patient vous consulte après 2 mois </a:t>
            </a: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pour </a:t>
            </a:r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2 ème épisode de rétention vésicale complète sous traitement. Il a fait une échographie rénale et vésicale qui a montré une prostate de 45 g, vessie à paroi épaissie, </a:t>
            </a: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voies </a:t>
            </a:r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excrétrices </a:t>
            </a: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fines. </a:t>
            </a:r>
            <a:r>
              <a:rPr lang="fr-FR" sz="2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fr-FR" sz="22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fr-FR" sz="27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fr-FR" sz="27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fr-FR" sz="27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</a:t>
            </a:r>
            <a:r>
              <a:rPr lang="fr-FR" sz="27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sont les propositions </a:t>
            </a:r>
            <a:r>
              <a:rPr lang="fr-FR" sz="27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thérapeutiques ?</a:t>
            </a:r>
            <a:r>
              <a:rPr lang="fr-FR" dirty="0" smtClean="0">
                <a:effectLst/>
              </a:rPr>
              <a:t/>
            </a:r>
            <a:br>
              <a:rPr lang="fr-FR" dirty="0" smtClean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73857"/>
            <a:ext cx="10515600" cy="400310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fr-FR" dirty="0" smtClean="0"/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Associer des inhibiteurs de la 5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alpha-réductase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alpha-bloquant 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Opérer le patient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Associer des IPDE 5 aux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alpha-bloquants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Tenter un deuxième sevrage de la sonde</a:t>
            </a:r>
          </a:p>
          <a:p>
            <a:pPr marL="514350" lvl="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Associer une phytothérapie aux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alpha-bloquants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4934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49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Si vous allez opérer le patient, quels sont les complications </a:t>
            </a: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immédiates à </a:t>
            </a:r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craindre chez ce </a:t>
            </a:r>
            <a:r>
              <a:rPr lang="fr-FR" sz="24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patient</a:t>
            </a:r>
            <a:endParaRPr lang="fr-FR" sz="24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Hémorragie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Ejaculation rétrograde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Anéjaculation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TURP syndrome</a:t>
            </a:r>
          </a:p>
          <a:p>
            <a:pPr marL="514350" indent="-514350">
              <a:lnSpc>
                <a:spcPct val="18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Repousse adénomateuse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4934" y="202584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61198" y="41259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44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2444</Words>
  <Application>Microsoft Office PowerPoint</Application>
  <PresentationFormat>Grand écran</PresentationFormat>
  <Paragraphs>364</Paragraphs>
  <Slides>67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67</vt:i4>
      </vt:variant>
    </vt:vector>
  </HeadingPairs>
  <TitlesOfParts>
    <vt:vector size="75" baseType="lpstr">
      <vt:lpstr>Arial</vt:lpstr>
      <vt:lpstr>Arial Black</vt:lpstr>
      <vt:lpstr>Calibri</vt:lpstr>
      <vt:lpstr>Calibri Light</vt:lpstr>
      <vt:lpstr>Times New Roman</vt:lpstr>
      <vt:lpstr>Thème Office</vt:lpstr>
      <vt:lpstr>Simple Light</vt:lpstr>
      <vt:lpstr>1_Simple Light</vt:lpstr>
      <vt:lpstr>HYPERTROPHIE BENIGNE DE LA PROSTATE</vt:lpstr>
      <vt:lpstr>Présentation PowerPoint</vt:lpstr>
      <vt:lpstr>Objectif n°1</vt:lpstr>
      <vt:lpstr>La zone centrale </vt:lpstr>
      <vt:lpstr>La zone de transition</vt:lpstr>
      <vt:lpstr>Selon le modèle de Mc Neal, les zones suivantes, peuvent être le siège d’une HBP</vt:lpstr>
      <vt:lpstr>La zone des glandes périuréthrales (ZPU)</vt:lpstr>
      <vt:lpstr>Selon l’anatomie zonale de Mac NEAL, le siège de prédilection de l’hypertrophie bénigne de la prostate est    </vt:lpstr>
      <vt:lpstr>Le lobe médian</vt:lpstr>
      <vt:lpstr>Objectif n°2</vt:lpstr>
      <vt:lpstr>L’hypertrophie bénigne de la prostate :</vt:lpstr>
      <vt:lpstr>L’Hypertrophie bénigne de la prostate</vt:lpstr>
      <vt:lpstr>L'étiopathogénie de l’HBP</vt:lpstr>
      <vt:lpstr>Parmi les facteurs suivants, les quels sont les plus incriminés dans la genèse de l’HBP</vt:lpstr>
      <vt:lpstr>La physiopathologie de l’obstruction lors d’une HBP</vt:lpstr>
      <vt:lpstr>L’hypertrophie bénigne de la prostate est :</vt:lpstr>
      <vt:lpstr>Objectif n°3</vt:lpstr>
      <vt:lpstr>Sur le plan histologique, l’HBP </vt:lpstr>
      <vt:lpstr>Objectif n°4</vt:lpstr>
      <vt:lpstr>La composante dynamique de l’obstruction est générée par </vt:lpstr>
      <vt:lpstr>La phase de dysurie compensée  </vt:lpstr>
      <vt:lpstr>La phase de rétention vésicale incomplète est caractérisée par : </vt:lpstr>
      <vt:lpstr>La phase de distension vésicale de l’obstruction prostatique est caractérisée par  :</vt:lpstr>
      <vt:lpstr>Objectif n°5</vt:lpstr>
      <vt:lpstr>Parmi les symptômes suivants les quels sont de la phase mictionnelle</vt:lpstr>
      <vt:lpstr>Tous les symptômes suivants sont des SBAU de la phase de remplissage sauf :</vt:lpstr>
      <vt:lpstr>La pollakiurie nocturne</vt:lpstr>
      <vt:lpstr>Les caractéristiques cliniques d’une HBP :</vt:lpstr>
      <vt:lpstr>Le diagnostic de l’hypertrophie bénigne de la prostate repose sur : </vt:lpstr>
      <vt:lpstr>Parmi les propositions suivantes relatives au score IPSS quelles sont les propositions correctes</vt:lpstr>
      <vt:lpstr>Quels sont les examens à demander dans le cadre du bilan initial chez un homme de 76 ans consultant pour dysurie et une hématurie initiale et qui présente à l’examen clinique une prostate non suspecte ?</vt:lpstr>
      <vt:lpstr>Quelles sont les caractéristiques d’une courbe de débimétrie au cours d’une HBP ?</vt:lpstr>
      <vt:lpstr>Dans le cadre d’HBP, L’echographie vésico-prostatique</vt:lpstr>
      <vt:lpstr>Objectif n°6</vt:lpstr>
      <vt:lpstr>Les complications mécaniques de l’HBP sont :</vt:lpstr>
      <vt:lpstr>Parmi les complications suivantes de l’HBP, indiquez celle la plus fréquente</vt:lpstr>
      <vt:lpstr>Le calcul de la vessie lors d’une HBP </vt:lpstr>
      <vt:lpstr>La distension urinaire</vt:lpstr>
      <vt:lpstr>L’hématurie lors d’une HBP</vt:lpstr>
      <vt:lpstr>Un premier épisode de rétention vésicale complète </vt:lpstr>
      <vt:lpstr>Objectif n°7</vt:lpstr>
      <vt:lpstr>Les éléments suivants constituent une indication absolue à la chirurgie lors d’une HBP</vt:lpstr>
      <vt:lpstr>Quelles règles hygiéno-diététiques peuvent être instaurées dans le cadre d’une HBP ?</vt:lpstr>
      <vt:lpstr>Les alpha-bloquants</vt:lpstr>
      <vt:lpstr>Parmi les effets secondaires suivants lesquels peuvent être engendrés par les alpha-bloquants :</vt:lpstr>
      <vt:lpstr>Les inhibiteurs de la 5 alpha-réductase</vt:lpstr>
      <vt:lpstr>La phytothérapie dans le traitement de l’HBP</vt:lpstr>
      <vt:lpstr>Les IPDE 5</vt:lpstr>
      <vt:lpstr>Une HBP de 120 g compliquée de lithiase vésicale de 3cm est traitée par :</vt:lpstr>
      <vt:lpstr>Les complications de la résection endoscopique de la prostate sont :</vt:lpstr>
      <vt:lpstr>Quelles sont parmi les propositions suivantes la ou les situation(s) qui constitue(nt) une indication à un traitement chirurgical d’une hypertrophie bénigne de la prostate (HBP) :</vt:lpstr>
      <vt:lpstr>Un homme de 60 ans qui présente des SBAU modérés associées à une dysfonction érectile peut être traitée par :</vt:lpstr>
      <vt:lpstr>CAS CLINIQUE</vt:lpstr>
      <vt:lpstr>Cas clinique n°1</vt:lpstr>
      <vt:lpstr>Le stade de la maladie chez ce patient est :</vt:lpstr>
      <vt:lpstr>En urgence, ce patient doit avoir :</vt:lpstr>
      <vt:lpstr>Si un traitement adéquat ne serait pas proposé au patient. Quelle serait l’étape évolutive suivante de sa maladie</vt:lpstr>
      <vt:lpstr>Le traitement de choix après préparation du patient serait :</vt:lpstr>
      <vt:lpstr>A supposer que ce patient ait bénéficié de ce traitement de choix, quelle serait la complication qu’il faudra craindre particulièrement</vt:lpstr>
      <vt:lpstr>Quelle serait la conséquence sur la fonction sexuelle et /ou sur la fertilité d’une chirurgie prostatique  </vt:lpstr>
      <vt:lpstr>Après 6 ans et devant la récidive d’une dysurie chez ce patient on doit penser à :</vt:lpstr>
      <vt:lpstr>Cas clinique n°2</vt:lpstr>
      <vt:lpstr>Quel est le diagnostic le plus probable chez ce patient</vt:lpstr>
      <vt:lpstr>Après 2 heures, vous avez été appelés de nouveau par le médecin des urgences pour la constatation d’une hématurie macroscopique chez ce patient  Quel est l’origine le plus probable de cette hématurie ?</vt:lpstr>
      <vt:lpstr>Après prise en charge de l’hématurie, quelle votre conduite à tenir ultérieure ?</vt:lpstr>
      <vt:lpstr>Le patient vous consulte après 2 mois pour 2 ème épisode de rétention vésicale complète sous traitement. Il a fait une échographie rénale et vésicale qui a montré une prostate de 45 g, vessie à paroi épaissie, voies excrétrices  fines.   Quels sont les propositions thérapeutiques ? </vt:lpstr>
      <vt:lpstr>Si vous allez opérer le patient, quels sont les complications immédiates à craindre chez ce patient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HYPERTROPHIE BENIGNE DE LA PROSTATE</dc:title>
  <dc:creator>Compte Microsoft</dc:creator>
  <cp:lastModifiedBy>Compte Microsoft</cp:lastModifiedBy>
  <cp:revision>75</cp:revision>
  <dcterms:created xsi:type="dcterms:W3CDTF">2024-07-27T16:58:00Z</dcterms:created>
  <dcterms:modified xsi:type="dcterms:W3CDTF">2025-09-18T19:46:47Z</dcterms:modified>
</cp:coreProperties>
</file>